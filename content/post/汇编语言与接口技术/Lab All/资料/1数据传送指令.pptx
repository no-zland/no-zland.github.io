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9" r:id="rId4"/>
    <p:sldId id="260" r:id="rId6"/>
    <p:sldId id="261" r:id="rId7"/>
    <p:sldId id="262" r:id="rId8"/>
    <p:sldId id="263" r:id="rId9"/>
    <p:sldId id="34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309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</p:sldIdLst>
  <p:sldSz cx="9144000" cy="6858000" type="screen4x3"/>
  <p:notesSz cx="6858000" cy="9144000"/>
  <p:custDataLst>
    <p:tags r:id="rId60"/>
  </p:custDataLst>
  <p:defaultTextStyle>
    <a:defPPr>
      <a:defRPr lang="zh-CN"/>
    </a:defPPr>
    <a:lvl1pPr marL="0" lvl="0" indent="0" algn="just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2800" b="1" i="1" u="none" kern="1200" baseline="0">
        <a:solidFill>
          <a:srgbClr val="0000FF"/>
        </a:solidFill>
        <a:latin typeface="Arial" panose="020B0604020202020204" pitchFamily="34" charset="0"/>
        <a:ea typeface="楷体" panose="02010609060101010101" pitchFamily="49" charset="-122"/>
        <a:cs typeface="+mn-cs"/>
      </a:defRPr>
    </a:lvl1pPr>
    <a:lvl2pPr marL="457200" lvl="1" indent="0" algn="just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2800" b="1" i="1" u="none" kern="1200" baseline="0">
        <a:solidFill>
          <a:srgbClr val="0000FF"/>
        </a:solidFill>
        <a:latin typeface="Arial" panose="020B0604020202020204" pitchFamily="34" charset="0"/>
        <a:ea typeface="楷体" panose="02010609060101010101" pitchFamily="49" charset="-122"/>
        <a:cs typeface="+mn-cs"/>
      </a:defRPr>
    </a:lvl2pPr>
    <a:lvl3pPr marL="914400" lvl="2" indent="0" algn="just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2800" b="1" i="1" u="none" kern="1200" baseline="0">
        <a:solidFill>
          <a:srgbClr val="0000FF"/>
        </a:solidFill>
        <a:latin typeface="Arial" panose="020B0604020202020204" pitchFamily="34" charset="0"/>
        <a:ea typeface="楷体" panose="02010609060101010101" pitchFamily="49" charset="-122"/>
        <a:cs typeface="+mn-cs"/>
      </a:defRPr>
    </a:lvl3pPr>
    <a:lvl4pPr marL="1371600" lvl="3" indent="0" algn="just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2800" b="1" i="1" u="none" kern="1200" baseline="0">
        <a:solidFill>
          <a:srgbClr val="0000FF"/>
        </a:solidFill>
        <a:latin typeface="Arial" panose="020B0604020202020204" pitchFamily="34" charset="0"/>
        <a:ea typeface="楷体" panose="02010609060101010101" pitchFamily="49" charset="-122"/>
        <a:cs typeface="+mn-cs"/>
      </a:defRPr>
    </a:lvl4pPr>
    <a:lvl5pPr marL="1828800" lvl="4" indent="0" algn="just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2800" b="1" i="1" u="none" kern="1200" baseline="0">
        <a:solidFill>
          <a:srgbClr val="0000FF"/>
        </a:solidFill>
        <a:latin typeface="Arial" panose="020B0604020202020204" pitchFamily="34" charset="0"/>
        <a:ea typeface="楷体" panose="02010609060101010101" pitchFamily="49" charset="-122"/>
        <a:cs typeface="+mn-cs"/>
      </a:defRPr>
    </a:lvl5pPr>
    <a:lvl6pPr marL="2286000" lvl="5" indent="0" algn="just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2800" b="1" i="1" u="none" kern="1200" baseline="0">
        <a:solidFill>
          <a:srgbClr val="0000FF"/>
        </a:solidFill>
        <a:latin typeface="Arial" panose="020B0604020202020204" pitchFamily="34" charset="0"/>
        <a:ea typeface="楷体" panose="02010609060101010101" pitchFamily="49" charset="-122"/>
        <a:cs typeface="+mn-cs"/>
      </a:defRPr>
    </a:lvl6pPr>
    <a:lvl7pPr marL="2743200" lvl="6" indent="0" algn="just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2800" b="1" i="1" u="none" kern="1200" baseline="0">
        <a:solidFill>
          <a:srgbClr val="0000FF"/>
        </a:solidFill>
        <a:latin typeface="Arial" panose="020B0604020202020204" pitchFamily="34" charset="0"/>
        <a:ea typeface="楷体" panose="02010609060101010101" pitchFamily="49" charset="-122"/>
        <a:cs typeface="+mn-cs"/>
      </a:defRPr>
    </a:lvl7pPr>
    <a:lvl8pPr marL="3200400" lvl="7" indent="0" algn="just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2800" b="1" i="1" u="none" kern="1200" baseline="0">
        <a:solidFill>
          <a:srgbClr val="0000FF"/>
        </a:solidFill>
        <a:latin typeface="Arial" panose="020B0604020202020204" pitchFamily="34" charset="0"/>
        <a:ea typeface="楷体" panose="02010609060101010101" pitchFamily="49" charset="-122"/>
        <a:cs typeface="+mn-cs"/>
      </a:defRPr>
    </a:lvl8pPr>
    <a:lvl9pPr marL="3657600" lvl="8" indent="0" algn="just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2800" b="1" i="1" u="none" kern="1200" baseline="0">
        <a:solidFill>
          <a:srgbClr val="0000FF"/>
        </a:solidFill>
        <a:latin typeface="Arial" panose="020B0604020202020204" pitchFamily="34" charset="0"/>
        <a:ea typeface="楷体" panose="02010609060101010101" pitchFamily="49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000FF"/>
    <a:srgbClr val="CCECFF"/>
    <a:srgbClr val="FF00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0353"/>
    <p:restoredTop sz="94671"/>
  </p:normalViewPr>
  <p:slideViewPr>
    <p:cSldViewPr showGuides="1">
      <p:cViewPr varScale="1">
        <p:scale>
          <a:sx n="73" d="100"/>
          <a:sy n="73" d="100"/>
        </p:scale>
        <p:origin x="-1092" y="-102"/>
      </p:cViewPr>
      <p:guideLst>
        <p:guide orient="horz" pos="2142"/>
        <p:guide pos="289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75" d="100"/>
        <a:sy n="75" d="100"/>
      </p:scale>
      <p:origin x="0" y="183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0" Type="http://schemas.openxmlformats.org/officeDocument/2006/relationships/tags" Target="tags/tag1.xml"/><Relationship Id="rId6" Type="http://schemas.openxmlformats.org/officeDocument/2006/relationships/slide" Target="slides/slide3.xml"/><Relationship Id="rId59" Type="http://schemas.openxmlformats.org/officeDocument/2006/relationships/tableStyles" Target="tableStyles.xml"/><Relationship Id="rId58" Type="http://schemas.openxmlformats.org/officeDocument/2006/relationships/viewProps" Target="viewProps.xml"/><Relationship Id="rId57" Type="http://schemas.openxmlformats.org/officeDocument/2006/relationships/presProps" Target="presProps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290" name="页眉占位符 12289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endParaRPr lang="zh-CN" altLang="en-US" sz="1200" b="0" i="0" dirty="0"/>
          </a:p>
        </p:txBody>
      </p:sp>
      <p:sp>
        <p:nvSpPr>
          <p:cNvPr id="12291" name="日期占位符 1229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/>
            <a:endParaRPr lang="zh-CN" altLang="en-US" sz="1200" b="0" i="0" dirty="0"/>
          </a:p>
        </p:txBody>
      </p:sp>
      <p:sp>
        <p:nvSpPr>
          <p:cNvPr id="12292" name="幻灯片图像占位符 12291"/>
          <p:cNvSpPr>
            <a:spLocks noRo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2293" name="文本占位符 12292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2294" name="页脚占位符 12293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endParaRPr lang="zh-CN" altLang="en-US" sz="1200" b="0" i="0" dirty="0"/>
          </a:p>
        </p:txBody>
      </p:sp>
      <p:sp>
        <p:nvSpPr>
          <p:cNvPr id="12295" name="灯片编号占位符 12294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b="0" i="0" dirty="0"/>
            </a:fld>
            <a:endParaRPr lang="zh-CN" altLang="en-US" sz="1200" b="0" i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lvl="0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2"/>
          </p:nvPr>
        </p:nvSpPr>
        <p:spPr/>
        <p:txBody>
          <a:bodyPr/>
          <a:p>
            <a:pPr lvl="0" algn="r"/>
            <a:fld id="{9A0DB2DC-4C9A-4742-B13C-FB6460FD3503}" type="slidenum">
              <a:rPr lang="zh-CN" altLang="en-US" sz="1200" b="0" i="0" dirty="0"/>
            </a:fld>
            <a:endParaRPr lang="zh-CN" altLang="en-US" sz="1200" b="0" i="0" dirty="0"/>
          </a:p>
        </p:txBody>
      </p:sp>
      <p:sp>
        <p:nvSpPr>
          <p:cNvPr id="13314" name="幻灯片图像占位符 13313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3315" name="文本占位符 13314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2"/>
          </p:nvPr>
        </p:nvSpPr>
        <p:spPr/>
        <p:txBody>
          <a:bodyPr/>
          <a:p>
            <a:pPr lvl="0" algn="r"/>
            <a:fld id="{9A0DB2DC-4C9A-4742-B13C-FB6460FD3503}" type="slidenum">
              <a:rPr lang="zh-CN" altLang="en-US" sz="1200" b="0" i="0" dirty="0"/>
            </a:fld>
            <a:endParaRPr lang="zh-CN" altLang="en-US" sz="1200" b="0" i="0" dirty="0"/>
          </a:p>
        </p:txBody>
      </p:sp>
      <p:sp>
        <p:nvSpPr>
          <p:cNvPr id="19458" name="幻灯片图像占位符 19457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9459" name="文本占位符 19458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p>
            <a:pPr lvl="0"/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直接连接符 8193"/>
          <p:cNvSpPr/>
          <p:nvPr/>
        </p:nvSpPr>
        <p:spPr>
          <a:xfrm>
            <a:off x="7315200" y="1066800"/>
            <a:ext cx="0" cy="449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95" name="标题 8194"/>
          <p:cNvSpPr>
            <a:spLocks noGrp="1"/>
          </p:cNvSpPr>
          <p:nvPr>
            <p:ph type="ctrTitle"/>
          </p:nvPr>
        </p:nvSpPr>
        <p:spPr>
          <a:xfrm>
            <a:off x="315913" y="466725"/>
            <a:ext cx="6781800" cy="2133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lvl="0" algn="r">
              <a:buClrTx/>
              <a:buSzTx/>
              <a:buFontTx/>
              <a:defRPr sz="480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196" name="副标题 8195"/>
          <p:cNvSpPr>
            <a:spLocks noGrp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0" lvl="0" indent="0" algn="r">
              <a:buClr>
                <a:schemeClr val="tx2"/>
              </a:buClr>
              <a:buSzPct val="70000"/>
              <a:buFont typeface="Wingdings" panose="05000000000000000000" pitchFamily="2" charset="2"/>
              <a:buNone/>
              <a:defRPr sz="3200"/>
            </a:lvl1pPr>
            <a:lvl2pPr marL="344805" lvl="1" indent="0" algn="ctr">
              <a:buClr>
                <a:schemeClr val="accent2"/>
              </a:buClr>
              <a:buSzPct val="70000"/>
              <a:buFont typeface="Wingdings" panose="05000000000000000000" pitchFamily="2" charset="2"/>
              <a:buNone/>
              <a:defRPr sz="3200"/>
            </a:lvl2pPr>
            <a:lvl3pPr marL="694055" lvl="2" indent="0" algn="ctr"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defRPr sz="3200"/>
            </a:lvl3pPr>
            <a:lvl4pPr marL="989330" lvl="3" indent="0" algn="ctr"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 sz="3200"/>
            </a:lvl4pPr>
            <a:lvl5pPr marL="1282700" lvl="4" indent="0" algn="ctr">
              <a:buClr>
                <a:schemeClr val="folHlink"/>
              </a:buClr>
              <a:buSzPct val="80000"/>
              <a:buFont typeface="Wingdings" panose="05000000000000000000" pitchFamily="2" charset="2"/>
              <a:buNone/>
              <a:defRPr sz="3200"/>
            </a:lvl5pPr>
          </a:lstStyle>
          <a:p>
            <a:pPr lvl="0"/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8197" name="日期占位符 8196"/>
          <p:cNvSpPr>
            <a:spLocks noGrp="1"/>
          </p:cNvSpPr>
          <p:nvPr>
            <p:ph type="dt" sz="half" idx="2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>
              <a:defRPr sz="1000" b="0" i="0"/>
            </a:lvl1pPr>
          </a:lstStyle>
          <a:p>
            <a:pPr>
              <a:spcBef>
                <a:spcPct val="0"/>
              </a:spcBef>
            </a:pPr>
            <a:fld id="{BB962C8B-B14F-4D97-AF65-F5344CB8AC3E}" type="datetime1"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8" name="页脚占位符 8197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ctr">
              <a:defRPr sz="1000" b="0" i="0"/>
            </a:lvl1pPr>
          </a:lstStyle>
          <a:p>
            <a:pPr>
              <a:spcBef>
                <a:spcPct val="0"/>
              </a:spcBef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9" name="灯片编号占位符 8198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r">
              <a:defRPr sz="1000" b="0" i="0"/>
            </a:lvl1pPr>
          </a:lstStyle>
          <a:p>
            <a:pPr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8200" name="组合 8199"/>
          <p:cNvGrpSpPr/>
          <p:nvPr/>
        </p:nvGrpSpPr>
        <p:grpSpPr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8201" name="椭圆 8200"/>
            <p:cNvSpPr/>
            <p:nvPr/>
          </p:nvSpPr>
          <p:spPr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02" name="椭圆 8201"/>
            <p:cNvSpPr/>
            <p:nvPr/>
          </p:nvSpPr>
          <p:spPr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03" name="椭圆 8202"/>
            <p:cNvSpPr/>
            <p:nvPr/>
          </p:nvSpPr>
          <p:spPr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04" name="椭圆 8203"/>
            <p:cNvSpPr/>
            <p:nvPr/>
          </p:nvSpPr>
          <p:spPr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05" name="椭圆 8204"/>
            <p:cNvSpPr/>
            <p:nvPr/>
          </p:nvSpPr>
          <p:spPr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06" name="椭圆 8205"/>
            <p:cNvSpPr/>
            <p:nvPr/>
          </p:nvSpPr>
          <p:spPr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07" name="椭圆 8206"/>
            <p:cNvSpPr/>
            <p:nvPr/>
          </p:nvSpPr>
          <p:spPr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08" name="椭圆 8207"/>
            <p:cNvSpPr/>
            <p:nvPr/>
          </p:nvSpPr>
          <p:spPr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09" name="椭圆 8208"/>
            <p:cNvSpPr/>
            <p:nvPr/>
          </p:nvSpPr>
          <p:spPr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10" name="椭圆 8209"/>
            <p:cNvSpPr/>
            <p:nvPr/>
          </p:nvSpPr>
          <p:spPr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11" name="椭圆 8210"/>
            <p:cNvSpPr/>
            <p:nvPr/>
          </p:nvSpPr>
          <p:spPr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12" name="椭圆 8211"/>
            <p:cNvSpPr/>
            <p:nvPr/>
          </p:nvSpPr>
          <p:spPr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13" name="椭圆 8212"/>
            <p:cNvSpPr/>
            <p:nvPr/>
          </p:nvSpPr>
          <p:spPr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14" name="椭圆 8213"/>
            <p:cNvSpPr/>
            <p:nvPr/>
          </p:nvSpPr>
          <p:spPr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15" name="椭圆 8214"/>
            <p:cNvSpPr/>
            <p:nvPr/>
          </p:nvSpPr>
          <p:spPr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16" name="椭圆 8215"/>
            <p:cNvSpPr/>
            <p:nvPr/>
          </p:nvSpPr>
          <p:spPr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17" name="椭圆 8216"/>
            <p:cNvSpPr/>
            <p:nvPr/>
          </p:nvSpPr>
          <p:spPr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18" name="椭圆 8217"/>
            <p:cNvSpPr/>
            <p:nvPr/>
          </p:nvSpPr>
          <p:spPr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19" name="椭圆 8218"/>
            <p:cNvSpPr/>
            <p:nvPr/>
          </p:nvSpPr>
          <p:spPr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20" name="椭圆 8219"/>
            <p:cNvSpPr/>
            <p:nvPr/>
          </p:nvSpPr>
          <p:spPr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21" name="椭圆 8220"/>
            <p:cNvSpPr/>
            <p:nvPr/>
          </p:nvSpPr>
          <p:spPr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22" name="椭圆 8221"/>
            <p:cNvSpPr/>
            <p:nvPr/>
          </p:nvSpPr>
          <p:spPr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23" name="椭圆 8222"/>
            <p:cNvSpPr/>
            <p:nvPr/>
          </p:nvSpPr>
          <p:spPr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24" name="椭圆 8223"/>
            <p:cNvSpPr/>
            <p:nvPr/>
          </p:nvSpPr>
          <p:spPr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25" name="椭圆 8224"/>
            <p:cNvSpPr/>
            <p:nvPr/>
          </p:nvSpPr>
          <p:spPr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26" name="椭圆 8225"/>
            <p:cNvSpPr/>
            <p:nvPr/>
          </p:nvSpPr>
          <p:spPr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27" name="椭圆 8226"/>
            <p:cNvSpPr/>
            <p:nvPr/>
          </p:nvSpPr>
          <p:spPr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28" name="椭圆 8227"/>
            <p:cNvSpPr/>
            <p:nvPr/>
          </p:nvSpPr>
          <p:spPr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29" name="椭圆 8228"/>
            <p:cNvSpPr/>
            <p:nvPr/>
          </p:nvSpPr>
          <p:spPr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30" name="椭圆 8229"/>
            <p:cNvSpPr/>
            <p:nvPr/>
          </p:nvSpPr>
          <p:spPr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31" name="椭圆 8230"/>
            <p:cNvSpPr/>
            <p:nvPr/>
          </p:nvSpPr>
          <p:spPr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8232" name="直接连接符 8231"/>
          <p:cNvSpPr/>
          <p:nvPr/>
        </p:nvSpPr>
        <p:spPr>
          <a:xfrm>
            <a:off x="304800" y="2819400"/>
            <a:ext cx="8229600" cy="0"/>
          </a:xfrm>
          <a:prstGeom prst="line">
            <a:avLst/>
          </a:prstGeom>
          <a:ln w="63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spcBef>
                <a:spcPct val="0"/>
              </a:spcBef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spcBef>
                <a:spcPct val="0"/>
              </a:spcBef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spcBef>
                <a:spcPct val="0"/>
              </a:spcBef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spcBef>
                <a:spcPct val="0"/>
              </a:spcBef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2504" cy="44116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719263"/>
            <a:ext cx="4032504" cy="44116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spcBef>
                <a:spcPct val="0"/>
              </a:spcBef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spcBef>
                <a:spcPct val="0"/>
              </a:spcBef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spcBef>
                <a:spcPct val="0"/>
              </a:spcBef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spcBef>
                <a:spcPct val="0"/>
              </a:spcBef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spcBef>
                <a:spcPct val="0"/>
              </a:spcBef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spcBef>
                <a:spcPct val="0"/>
              </a:spcBef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spcBef>
                <a:spcPct val="0"/>
              </a:spcBef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spcBef>
                <a:spcPct val="0"/>
              </a:spcBef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spcBef>
                <a:spcPct val="0"/>
              </a:spcBef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spcBef>
                <a:spcPct val="0"/>
              </a:spcBef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spcBef>
                <a:spcPct val="0"/>
              </a:spcBef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spcBef>
                <a:spcPct val="0"/>
              </a:spcBef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spcBef>
                <a:spcPct val="0"/>
              </a:spcBef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spcBef>
                <a:spcPct val="0"/>
              </a:spcBef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52930" cy="600868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spcBef>
                <a:spcPct val="0"/>
              </a:spcBef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spcBef>
                <a:spcPct val="0"/>
              </a:spcBef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直接连接符 7169"/>
          <p:cNvSpPr/>
          <p:nvPr/>
        </p:nvSpPr>
        <p:spPr>
          <a:xfrm>
            <a:off x="7962900" y="152400"/>
            <a:ext cx="0" cy="1524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71" name="标题 7170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172" name="文本占位符 7171"/>
          <p:cNvSpPr>
            <a:spLocks noGrp="1"/>
          </p:cNvSpPr>
          <p:nvPr>
            <p:ph type="body" idx="1"/>
          </p:nvPr>
        </p:nvSpPr>
        <p:spPr>
          <a:xfrm>
            <a:off x="457200" y="1719263"/>
            <a:ext cx="8229600" cy="44116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173" name="日期占位符 7172"/>
          <p:cNvSpPr>
            <a:spLocks noGrp="1"/>
          </p:cNvSpPr>
          <p:nvPr>
            <p:ph type="dt" sz="half" idx="2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l">
              <a:defRPr sz="1000" b="0" i="0"/>
            </a:lvl1pPr>
          </a:lstStyle>
          <a:p>
            <a:pPr lvl="0">
              <a:spcBef>
                <a:spcPct val="0"/>
              </a:spcBef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4" name="页脚占位符 7173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000" b="0" i="0"/>
            </a:lvl1pPr>
          </a:lstStyle>
          <a:p>
            <a:pPr lvl="0">
              <a:spcBef>
                <a:spcPct val="0"/>
              </a:spcBef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5" name="灯片编号占位符 7174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000" b="0" i="0"/>
            </a:lvl1pPr>
          </a:lstStyle>
          <a:p>
            <a:pPr lvl="0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7176" name="组合 7175"/>
          <p:cNvGrpSpPr/>
          <p:nvPr/>
        </p:nvGrpSpPr>
        <p:grpSpPr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7177" name="椭圆 7176"/>
            <p:cNvSpPr/>
            <p:nvPr/>
          </p:nvSpPr>
          <p:spPr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78" name="椭圆 7177"/>
            <p:cNvSpPr/>
            <p:nvPr/>
          </p:nvSpPr>
          <p:spPr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79" name="椭圆 7178"/>
            <p:cNvSpPr/>
            <p:nvPr/>
          </p:nvSpPr>
          <p:spPr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80" name="椭圆 7179"/>
            <p:cNvSpPr/>
            <p:nvPr/>
          </p:nvSpPr>
          <p:spPr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81" name="椭圆 7180"/>
            <p:cNvSpPr/>
            <p:nvPr/>
          </p:nvSpPr>
          <p:spPr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82" name="椭圆 7181"/>
            <p:cNvSpPr/>
            <p:nvPr/>
          </p:nvSpPr>
          <p:spPr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83" name="椭圆 7182"/>
            <p:cNvSpPr/>
            <p:nvPr/>
          </p:nvSpPr>
          <p:spPr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84" name="椭圆 7183"/>
            <p:cNvSpPr/>
            <p:nvPr/>
          </p:nvSpPr>
          <p:spPr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85" name="椭圆 7184"/>
            <p:cNvSpPr/>
            <p:nvPr/>
          </p:nvSpPr>
          <p:spPr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86" name="椭圆 7185"/>
            <p:cNvSpPr/>
            <p:nvPr/>
          </p:nvSpPr>
          <p:spPr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87" name="椭圆 7186"/>
            <p:cNvSpPr/>
            <p:nvPr/>
          </p:nvSpPr>
          <p:spPr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88" name="椭圆 7187"/>
            <p:cNvSpPr/>
            <p:nvPr/>
          </p:nvSpPr>
          <p:spPr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89" name="椭圆 7188"/>
            <p:cNvSpPr/>
            <p:nvPr/>
          </p:nvSpPr>
          <p:spPr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90" name="椭圆 7189"/>
            <p:cNvSpPr/>
            <p:nvPr/>
          </p:nvSpPr>
          <p:spPr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91" name="椭圆 7190"/>
            <p:cNvSpPr/>
            <p:nvPr/>
          </p:nvSpPr>
          <p:spPr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92" name="椭圆 7191"/>
            <p:cNvSpPr/>
            <p:nvPr/>
          </p:nvSpPr>
          <p:spPr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93" name="椭圆 7192"/>
            <p:cNvSpPr/>
            <p:nvPr/>
          </p:nvSpPr>
          <p:spPr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94" name="椭圆 7193"/>
            <p:cNvSpPr/>
            <p:nvPr/>
          </p:nvSpPr>
          <p:spPr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95" name="椭圆 7194"/>
            <p:cNvSpPr/>
            <p:nvPr/>
          </p:nvSpPr>
          <p:spPr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96" name="椭圆 7195"/>
            <p:cNvSpPr/>
            <p:nvPr/>
          </p:nvSpPr>
          <p:spPr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97" name="椭圆 7196"/>
            <p:cNvSpPr/>
            <p:nvPr/>
          </p:nvSpPr>
          <p:spPr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98" name="椭圆 7197"/>
            <p:cNvSpPr/>
            <p:nvPr/>
          </p:nvSpPr>
          <p:spPr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99" name="椭圆 7198"/>
            <p:cNvSpPr/>
            <p:nvPr/>
          </p:nvSpPr>
          <p:spPr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200" name="椭圆 7199"/>
            <p:cNvSpPr/>
            <p:nvPr/>
          </p:nvSpPr>
          <p:spPr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201" name="椭圆 7200"/>
            <p:cNvSpPr/>
            <p:nvPr/>
          </p:nvSpPr>
          <p:spPr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202" name="椭圆 7201"/>
            <p:cNvSpPr/>
            <p:nvPr/>
          </p:nvSpPr>
          <p:spPr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203" name="椭圆 7202"/>
            <p:cNvSpPr/>
            <p:nvPr/>
          </p:nvSpPr>
          <p:spPr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204" name="椭圆 7203"/>
            <p:cNvSpPr/>
            <p:nvPr/>
          </p:nvSpPr>
          <p:spPr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205" name="椭圆 7204"/>
            <p:cNvSpPr/>
            <p:nvPr/>
          </p:nvSpPr>
          <p:spPr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206" name="椭圆 7205"/>
            <p:cNvSpPr/>
            <p:nvPr/>
          </p:nvSpPr>
          <p:spPr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207" name="椭圆 7206"/>
            <p:cNvSpPr/>
            <p:nvPr/>
          </p:nvSpPr>
          <p:spPr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3900" b="1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92150" lvl="1" indent="-347345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87425" lvl="2" indent="-29337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81430" lvl="3" indent="-2921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598930" lvl="4" indent="-31623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just" defTabSz="914400" rtl="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800" b="1" i="1" u="none" kern="1200" baseline="0">
          <a:solidFill>
            <a:srgbClr val="0000FF"/>
          </a:solidFill>
          <a:latin typeface="Arial" panose="020B0604020202020204" pitchFamily="34" charset="0"/>
          <a:ea typeface="楷体" panose="02010609060101010101" pitchFamily="49" charset="-122"/>
          <a:cs typeface="+mn-cs"/>
        </a:defRPr>
      </a:lvl2pPr>
      <a:lvl3pPr marL="914400" lvl="2" indent="0" algn="just" defTabSz="914400" rtl="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800" b="1" i="1" u="none" kern="1200" baseline="0">
          <a:solidFill>
            <a:srgbClr val="0000FF"/>
          </a:solidFill>
          <a:latin typeface="Arial" panose="020B0604020202020204" pitchFamily="34" charset="0"/>
          <a:ea typeface="楷体" panose="02010609060101010101" pitchFamily="49" charset="-122"/>
          <a:cs typeface="+mn-cs"/>
        </a:defRPr>
      </a:lvl3pPr>
      <a:lvl4pPr marL="1371600" lvl="3" indent="0" algn="just" defTabSz="914400" rtl="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800" b="1" i="1" u="none" kern="1200" baseline="0">
          <a:solidFill>
            <a:srgbClr val="0000FF"/>
          </a:solidFill>
          <a:latin typeface="Arial" panose="020B0604020202020204" pitchFamily="34" charset="0"/>
          <a:ea typeface="楷体" panose="02010609060101010101" pitchFamily="49" charset="-122"/>
          <a:cs typeface="+mn-cs"/>
        </a:defRPr>
      </a:lvl4pPr>
      <a:lvl5pPr marL="1828800" lvl="4" indent="0" algn="just" defTabSz="914400" rtl="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800" b="1" i="1" u="none" kern="1200" baseline="0">
          <a:solidFill>
            <a:srgbClr val="0000FF"/>
          </a:solidFill>
          <a:latin typeface="Arial" panose="020B0604020202020204" pitchFamily="34" charset="0"/>
          <a:ea typeface="楷体" panose="02010609060101010101" pitchFamily="49" charset="-122"/>
          <a:cs typeface="+mn-cs"/>
        </a:defRPr>
      </a:lvl5pPr>
      <a:lvl6pPr marL="2286000" lvl="5" indent="0" algn="just" defTabSz="914400" rtl="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800" b="1" i="1" u="none" kern="1200" baseline="0">
          <a:solidFill>
            <a:srgbClr val="0000FF"/>
          </a:solidFill>
          <a:latin typeface="Arial" panose="020B0604020202020204" pitchFamily="34" charset="0"/>
          <a:ea typeface="楷体" panose="02010609060101010101" pitchFamily="49" charset="-122"/>
          <a:cs typeface="+mn-cs"/>
        </a:defRPr>
      </a:lvl6pPr>
      <a:lvl7pPr marL="2743200" lvl="6" indent="0" algn="just" defTabSz="914400" rtl="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800" b="1" i="1" u="none" kern="1200" baseline="0">
          <a:solidFill>
            <a:srgbClr val="0000FF"/>
          </a:solidFill>
          <a:latin typeface="Arial" panose="020B0604020202020204" pitchFamily="34" charset="0"/>
          <a:ea typeface="楷体" panose="02010609060101010101" pitchFamily="49" charset="-122"/>
          <a:cs typeface="+mn-cs"/>
        </a:defRPr>
      </a:lvl7pPr>
      <a:lvl8pPr marL="3200400" lvl="7" indent="0" algn="just" defTabSz="914400" rtl="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800" b="1" i="1" u="none" kern="1200" baseline="0">
          <a:solidFill>
            <a:srgbClr val="0000FF"/>
          </a:solidFill>
          <a:latin typeface="Arial" panose="020B0604020202020204" pitchFamily="34" charset="0"/>
          <a:ea typeface="楷体" panose="02010609060101010101" pitchFamily="49" charset="-122"/>
          <a:cs typeface="+mn-cs"/>
        </a:defRPr>
      </a:lvl8pPr>
      <a:lvl9pPr marL="3657600" lvl="8" indent="0" algn="just" defTabSz="914400" rtl="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800" b="1" i="1" u="none" kern="1200" baseline="0">
          <a:solidFill>
            <a:srgbClr val="0000FF"/>
          </a:solidFill>
          <a:latin typeface="Arial" panose="020B0604020202020204" pitchFamily="34" charset="0"/>
          <a:ea typeface="楷体" panose="02010609060101010101" pitchFamily="49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" Target="slide15.xml"/><Relationship Id="rId8" Type="http://schemas.openxmlformats.org/officeDocument/2006/relationships/slide" Target="slide38.xml"/><Relationship Id="rId7" Type="http://schemas.openxmlformats.org/officeDocument/2006/relationships/slide" Target="slide14.xml"/><Relationship Id="rId6" Type="http://schemas.openxmlformats.org/officeDocument/2006/relationships/slide" Target="slide33.xml"/><Relationship Id="rId5" Type="http://schemas.openxmlformats.org/officeDocument/2006/relationships/slide" Target="slide13.xml"/><Relationship Id="rId4" Type="http://schemas.openxmlformats.org/officeDocument/2006/relationships/slide" Target="slide27.xml"/><Relationship Id="rId3" Type="http://schemas.openxmlformats.org/officeDocument/2006/relationships/slide" Target="slide12.xml"/><Relationship Id="rId2" Type="http://schemas.openxmlformats.org/officeDocument/2006/relationships/image" Target="../media/image2.jpeg"/><Relationship Id="rId10" Type="http://schemas.openxmlformats.org/officeDocument/2006/relationships/slideLayout" Target="../slideLayouts/slideLayout2.xml"/><Relationship Id="rId1" Type="http://schemas.openxmlformats.org/officeDocument/2006/relationships/slide" Target="slide25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slide" Target="slide11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1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slide" Target="slide11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slide" Target="slide11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slide" Target="slide20.xml"/><Relationship Id="rId2" Type="http://schemas.openxmlformats.org/officeDocument/2006/relationships/slide" Target="slide19.xml"/><Relationship Id="rId1" Type="http://schemas.openxmlformats.org/officeDocument/2006/relationships/slide" Target="slide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23.xml"/><Relationship Id="rId1" Type="http://schemas.openxmlformats.org/officeDocument/2006/relationships/slide" Target="slide2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2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2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标题 6145"/>
          <p:cNvSpPr>
            <a:spLocks noGrp="1"/>
          </p:cNvSpPr>
          <p:nvPr>
            <p:ph type="ctrTitle"/>
          </p:nvPr>
        </p:nvSpPr>
        <p:spPr>
          <a:xfrm>
            <a:off x="228600" y="609600"/>
            <a:ext cx="6923088" cy="2133600"/>
          </a:xfrm>
        </p:spPr>
        <p:txBody>
          <a:bodyPr anchor="b" anchorCtr="0"/>
          <a:p>
            <a:pPr defTabSz="914400">
              <a:buSzTx/>
              <a:buFontTx/>
              <a:buNone/>
            </a:pPr>
            <a:r>
              <a:rPr lang="zh-CN" altLang="en-US" kern="1200" baseline="0" dirty="0">
                <a:latin typeface="Arial" panose="020B0604020202020204" pitchFamily="34" charset="0"/>
                <a:ea typeface="宋体" panose="02010600030101010101" pitchFamily="2" charset="-122"/>
              </a:rPr>
              <a:t>重点：  </a:t>
            </a:r>
            <a:r>
              <a:rPr lang="en-US" altLang="zh-CN" kern="1200" baseline="0">
                <a:latin typeface="Arial" panose="020B0604020202020204" pitchFamily="34" charset="0"/>
                <a:ea typeface="宋体" panose="02010600030101010101" pitchFamily="2" charset="-122"/>
              </a:rPr>
              <a:t>8086</a:t>
            </a:r>
            <a:r>
              <a:rPr lang="zh-CN" altLang="en-US" kern="1200" baseline="0" dirty="0">
                <a:latin typeface="Arial" panose="020B0604020202020204" pitchFamily="34" charset="0"/>
                <a:ea typeface="宋体" panose="02010600030101010101" pitchFamily="2" charset="-122"/>
              </a:rPr>
              <a:t>的指令系统</a:t>
            </a:r>
            <a:endParaRPr lang="zh-CN" altLang="en-US" kern="1200" baseline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7" name="副标题 6146"/>
          <p:cNvSpPr>
            <a:spLocks noGrp="1"/>
          </p:cNvSpPr>
          <p:nvPr>
            <p:ph type="subTitle" idx="1"/>
          </p:nvPr>
        </p:nvSpPr>
        <p:spPr/>
        <p:txBody>
          <a:bodyPr anchor="t" anchorCtr="0"/>
          <a:p>
            <a:pPr defTabSz="914400">
              <a:buSzPct val="70000"/>
            </a:pPr>
            <a:endParaRPr lang="zh-CN" kern="1200" baseline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7" name="标题 11266"/>
          <p:cNvSpPr>
            <a:spLocks noGrp="1"/>
          </p:cNvSpPr>
          <p:nvPr>
            <p:ph type="ctrTitle"/>
          </p:nvPr>
        </p:nvSpPr>
        <p:spPr>
          <a:xfrm>
            <a:off x="533400" y="914400"/>
            <a:ext cx="2971800" cy="685800"/>
          </a:xfrm>
        </p:spPr>
        <p:txBody>
          <a:bodyPr anchor="b" anchorCtr="0"/>
          <a:p>
            <a:pPr defTabSz="914400">
              <a:buSzTx/>
              <a:buFontTx/>
              <a:buNone/>
            </a:pPr>
            <a:r>
              <a:rPr lang="zh-CN" altLang="en-US" sz="5400" kern="1200" baseline="0" dirty="0">
                <a:latin typeface="Arial" panose="020B0604020202020204" pitchFamily="34" charset="0"/>
                <a:ea typeface="宋体" panose="02010600030101010101" pitchFamily="2" charset="-122"/>
              </a:rPr>
              <a:t>教学重点</a:t>
            </a:r>
            <a:endParaRPr lang="zh-CN" altLang="en-US" sz="5400" kern="1200" baseline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268" name="副标题 11267"/>
          <p:cNvSpPr>
            <a:spLocks noGrp="1"/>
          </p:cNvSpPr>
          <p:nvPr>
            <p:ph type="subTitle" idx="1"/>
          </p:nvPr>
        </p:nvSpPr>
        <p:spPr>
          <a:xfrm>
            <a:off x="609600" y="2133600"/>
            <a:ext cx="6202363" cy="4184650"/>
          </a:xfrm>
        </p:spPr>
        <p:txBody>
          <a:bodyPr anchor="t" anchorCtr="0"/>
          <a:p>
            <a:pPr algn="just" defTabSz="914400">
              <a:lnSpc>
                <a:spcPct val="120000"/>
              </a:lnSpc>
              <a:buSzPct val="70000"/>
            </a:pPr>
            <a:r>
              <a:rPr lang="zh-CN" altLang="en-US" b="1" kern="1200" baseline="0" dirty="0">
                <a:latin typeface="Arial" panose="020B0604020202020204" pitchFamily="34" charset="0"/>
                <a:ea typeface="楷体" panose="02010609060101010101" pitchFamily="49" charset="-122"/>
              </a:rPr>
              <a:t>重点掌握常用指令功能及应用</a:t>
            </a:r>
            <a:r>
              <a:rPr lang="en-US" altLang="zh-CN" b="1" kern="1200" baseline="0">
                <a:latin typeface="Arial" panose="020B0604020202020204" pitchFamily="34" charset="0"/>
                <a:ea typeface="楷体" panose="02010609060101010101" pitchFamily="49" charset="-122"/>
              </a:rPr>
              <a:t>:</a:t>
            </a:r>
            <a:endParaRPr lang="en-US" altLang="zh-CN" b="1" kern="1200" baseline="0">
              <a:latin typeface="Arial" panose="020B0604020202020204" pitchFamily="34" charset="0"/>
              <a:ea typeface="楷体" panose="02010609060101010101" pitchFamily="49" charset="-122"/>
            </a:endParaRPr>
          </a:p>
          <a:p>
            <a:pPr algn="just" defTabSz="914400">
              <a:lnSpc>
                <a:spcPct val="110000"/>
              </a:lnSpc>
              <a:buSzTx/>
              <a:buFont typeface="Wingdings" panose="05000000000000000000" pitchFamily="2" charset="2"/>
              <a:buChar char="ü"/>
            </a:pPr>
            <a:r>
              <a:rPr lang="zh-CN" altLang="en-US" sz="2800" b="1" kern="1200" baseline="0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" panose="02010609060101010101" pitchFamily="49" charset="-122"/>
              </a:rPr>
              <a:t>常用传送指令</a:t>
            </a:r>
            <a:endParaRPr lang="zh-CN" altLang="en-US" sz="2800" b="1" kern="1200" baseline="0">
              <a:solidFill>
                <a:srgbClr val="000099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楷体" panose="02010609060101010101" pitchFamily="49" charset="-122"/>
            </a:endParaRPr>
          </a:p>
          <a:p>
            <a:pPr algn="just" defTabSz="914400">
              <a:lnSpc>
                <a:spcPct val="110000"/>
              </a:lnSpc>
              <a:buSzTx/>
              <a:buFont typeface="Wingdings" panose="05000000000000000000" pitchFamily="2" charset="2"/>
              <a:buChar char="ü"/>
            </a:pPr>
            <a:r>
              <a:rPr lang="zh-CN" altLang="en-US" sz="2800" b="1" kern="1200" baseline="0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" panose="02010609060101010101" pitchFamily="49" charset="-122"/>
              </a:rPr>
              <a:t>加减法指令</a:t>
            </a:r>
            <a:endParaRPr lang="zh-CN" altLang="en-US" sz="2800" b="1" kern="1200" baseline="0" dirty="0">
              <a:solidFill>
                <a:srgbClr val="000099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楷体" panose="02010609060101010101" pitchFamily="49" charset="-122"/>
            </a:endParaRPr>
          </a:p>
          <a:p>
            <a:pPr algn="just" defTabSz="914400">
              <a:lnSpc>
                <a:spcPct val="110000"/>
              </a:lnSpc>
              <a:buSzTx/>
              <a:buFont typeface="Wingdings" panose="05000000000000000000" pitchFamily="2" charset="2"/>
              <a:buChar char="ü"/>
            </a:pPr>
            <a:r>
              <a:rPr lang="zh-CN" altLang="en-US" sz="2800" b="1" kern="1200" baseline="0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" panose="02010609060101010101" pitchFamily="49" charset="-122"/>
              </a:rPr>
              <a:t>逻辑运算和移位指令</a:t>
            </a:r>
            <a:endParaRPr lang="zh-CN" altLang="en-US" sz="2800" b="1" kern="1200" baseline="0" dirty="0">
              <a:solidFill>
                <a:srgbClr val="000099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楷体" panose="02010609060101010101" pitchFamily="49" charset="-122"/>
            </a:endParaRPr>
          </a:p>
          <a:p>
            <a:pPr algn="just" defTabSz="914400">
              <a:lnSpc>
                <a:spcPct val="110000"/>
              </a:lnSpc>
              <a:buSzTx/>
              <a:buFont typeface="Wingdings" panose="05000000000000000000" pitchFamily="2" charset="2"/>
              <a:buChar char="ü"/>
            </a:pPr>
            <a:r>
              <a:rPr lang="zh-CN" altLang="en-US" sz="2800" b="1" kern="1200" baseline="0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" panose="02010609060101010101" pitchFamily="49" charset="-122"/>
              </a:rPr>
              <a:t>控制转移指令</a:t>
            </a:r>
            <a:endParaRPr lang="zh-CN" altLang="en-US" sz="2800" b="1" kern="1200" baseline="0" dirty="0">
              <a:solidFill>
                <a:srgbClr val="000099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楷体" panose="02010609060101010101" pitchFamily="49" charset="-122"/>
            </a:endParaRPr>
          </a:p>
          <a:p>
            <a:pPr algn="just" defTabSz="914400">
              <a:lnSpc>
                <a:spcPct val="110000"/>
              </a:lnSpc>
              <a:buSzTx/>
              <a:buFont typeface="Wingdings" panose="05000000000000000000" pitchFamily="2" charset="2"/>
              <a:buChar char="ü"/>
            </a:pPr>
            <a:r>
              <a:rPr lang="zh-CN" altLang="en-US" sz="2800" b="1" kern="1200" baseline="0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" panose="02010609060101010101" pitchFamily="49" charset="-122"/>
              </a:rPr>
              <a:t>字符（串）输入输出功能调用</a:t>
            </a:r>
            <a:endParaRPr lang="zh-CN" altLang="en-US" sz="2800" b="1" kern="1200" baseline="0" dirty="0">
              <a:solidFill>
                <a:srgbClr val="000099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4337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什么是指令系统</a:t>
            </a:r>
            <a:r>
              <a:rPr lang="en-US" altLang="zh-CN"/>
              <a:t>?</a:t>
            </a:r>
            <a:endParaRPr lang="en-US" altLang="zh-CN"/>
          </a:p>
        </p:txBody>
      </p:sp>
      <p:sp>
        <p:nvSpPr>
          <p:cNvPr id="14339" name="文本占位符 14338"/>
          <p:cNvSpPr>
            <a:spLocks noGrp="1"/>
          </p:cNvSpPr>
          <p:nvPr>
            <p:ph type="body" idx="1"/>
          </p:nvPr>
        </p:nvSpPr>
        <p:spPr>
          <a:xfrm>
            <a:off x="304800" y="1719263"/>
            <a:ext cx="7696200" cy="4757737"/>
          </a:xfrm>
        </p:spPr>
        <p:txBody>
          <a:bodyPr/>
          <a:p>
            <a:pPr marL="0" indent="0" algn="just">
              <a:lnSpc>
                <a:spcPct val="110000"/>
              </a:lnSpc>
              <a:buSzTx/>
              <a:buFont typeface="Wingdings" panose="05000000000000000000" pitchFamily="2" charset="2"/>
              <a:buChar char="ü"/>
            </a:pPr>
            <a:r>
              <a:rPr lang="zh-CN" altLang="en-US" sz="2800" b="1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" panose="02010609060101010101" pitchFamily="49" charset="-122"/>
              </a:rPr>
              <a:t>计算机的指令系统就是指该计算机能够执行的全部指令的集合</a:t>
            </a:r>
            <a:endParaRPr lang="zh-CN" altLang="en-US" sz="2800" b="1" dirty="0">
              <a:solidFill>
                <a:srgbClr val="000099"/>
              </a:solidFill>
              <a:effectLst>
                <a:outerShdw blurRad="38100" dist="38100" dir="2700000">
                  <a:srgbClr val="C0C0C0"/>
                </a:outerShdw>
              </a:effectLst>
              <a:ea typeface="楷体" panose="02010609060101010101" pitchFamily="49" charset="-122"/>
            </a:endParaRPr>
          </a:p>
          <a:p>
            <a:pPr marL="0" indent="0" algn="just">
              <a:lnSpc>
                <a:spcPct val="110000"/>
              </a:lnSpc>
              <a:buSzTx/>
              <a:buFont typeface="Wingdings" panose="05000000000000000000" pitchFamily="2" charset="2"/>
              <a:buChar char="ü"/>
            </a:pPr>
            <a:r>
              <a:rPr lang="zh-CN" altLang="en-US" sz="2800" b="1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" panose="02010609060101010101" pitchFamily="49" charset="-122"/>
              </a:rPr>
              <a:t>每种计算机都有它支持的指令集合</a:t>
            </a:r>
            <a:r>
              <a:rPr lang="zh-CN" altLang="zh-CN" sz="2800" b="1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" panose="02010609060101010101" pitchFamily="49" charset="-122"/>
              </a:rPr>
              <a:t> </a:t>
            </a:r>
            <a:endParaRPr lang="zh-CN" altLang="zh-CN" sz="2800" b="1" dirty="0">
              <a:solidFill>
                <a:srgbClr val="000099"/>
              </a:solidFill>
              <a:effectLst>
                <a:outerShdw blurRad="38100" dist="38100" dir="2700000">
                  <a:srgbClr val="C0C0C0"/>
                </a:outerShdw>
              </a:effectLst>
              <a:ea typeface="楷体" panose="02010609060101010101" pitchFamily="49" charset="-122"/>
            </a:endParaRPr>
          </a:p>
          <a:p>
            <a:pPr marL="0" indent="0" algn="just">
              <a:lnSpc>
                <a:spcPct val="110000"/>
              </a:lnSpc>
              <a:buSzTx/>
              <a:buFont typeface="Wingdings" panose="05000000000000000000" pitchFamily="2" charset="2"/>
              <a:buChar char="ü"/>
            </a:pPr>
            <a:r>
              <a:rPr lang="en-US" altLang="zh-CN" sz="2800" b="1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" panose="02010609060101010101" pitchFamily="49" charset="-122"/>
              </a:rPr>
              <a:t>16</a:t>
            </a:r>
            <a:r>
              <a:rPr lang="zh-CN" altLang="en-US" sz="2800" b="1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" panose="02010609060101010101" pitchFamily="49" charset="-122"/>
              </a:rPr>
              <a:t>位</a:t>
            </a:r>
            <a:r>
              <a:rPr lang="en-US" altLang="zh-CN" sz="2800" b="1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" panose="02010609060101010101" pitchFamily="49" charset="-122"/>
              </a:rPr>
              <a:t>8086</a:t>
            </a:r>
            <a:r>
              <a:rPr lang="zh-CN" altLang="en-US" sz="2800" b="1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" panose="02010609060101010101" pitchFamily="49" charset="-122"/>
              </a:rPr>
              <a:t>指令系统是</a:t>
            </a:r>
            <a:r>
              <a:rPr lang="en-US" altLang="zh-CN" sz="2800" b="1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" panose="02010609060101010101" pitchFamily="49" charset="-122"/>
              </a:rPr>
              <a:t>Intel 80x86</a:t>
            </a:r>
            <a:r>
              <a:rPr lang="zh-CN" altLang="en-US" sz="2800" b="1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" panose="02010609060101010101" pitchFamily="49" charset="-122"/>
              </a:rPr>
              <a:t>系列微处理器指令系统的基础</a:t>
            </a:r>
            <a:endParaRPr lang="zh-CN" altLang="en-US" sz="2800" b="1" dirty="0">
              <a:solidFill>
                <a:srgbClr val="000099"/>
              </a:solidFill>
              <a:effectLst>
                <a:outerShdw blurRad="38100" dist="38100" dir="2700000">
                  <a:srgbClr val="C0C0C0"/>
                </a:outerShdw>
              </a:effectLst>
              <a:ea typeface="楷体" panose="02010609060101010101" pitchFamily="49" charset="-122"/>
            </a:endParaRPr>
          </a:p>
          <a:p>
            <a:pPr marL="0" indent="0" algn="just">
              <a:lnSpc>
                <a:spcPct val="110000"/>
              </a:lnSpc>
              <a:buSzTx/>
              <a:buFont typeface="Wingdings" panose="05000000000000000000" pitchFamily="2" charset="2"/>
              <a:buChar char="ü"/>
            </a:pPr>
            <a:r>
              <a:rPr lang="en-US" altLang="zh-CN" sz="2800" b="1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" panose="02010609060101010101" pitchFamily="49" charset="-122"/>
              </a:rPr>
              <a:t>Intel 80x86</a:t>
            </a:r>
            <a:r>
              <a:rPr lang="zh-CN" altLang="en-US" sz="2800" b="1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" panose="02010609060101010101" pitchFamily="49" charset="-122"/>
              </a:rPr>
              <a:t>系列微处理器指令系统：</a:t>
            </a:r>
            <a:endParaRPr lang="zh-CN" altLang="en-US" sz="2800" b="1" dirty="0">
              <a:solidFill>
                <a:srgbClr val="000099"/>
              </a:solidFill>
              <a:effectLst>
                <a:outerShdw blurRad="38100" dist="38100" dir="2700000">
                  <a:srgbClr val="C0C0C0"/>
                </a:outerShdw>
              </a:effectLst>
              <a:ea typeface="楷体" panose="02010609060101010101" pitchFamily="49" charset="-122"/>
            </a:endParaRPr>
          </a:p>
          <a:p>
            <a:pPr marL="344805" lvl="1" indent="0" algn="just">
              <a:lnSpc>
                <a:spcPct val="110000"/>
              </a:lnSpc>
              <a:buClr>
                <a:schemeClr val="tx2"/>
              </a:buClr>
              <a:buSzTx/>
              <a:buFont typeface="Wingdings" panose="05000000000000000000" pitchFamily="2" charset="2"/>
              <a:buChar char="ü"/>
            </a:pPr>
            <a:r>
              <a:rPr lang="zh-CN" altLang="en-US" sz="2500" b="1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" panose="02010609060101010101" pitchFamily="49" charset="-122"/>
              </a:rPr>
              <a:t>整数指令</a:t>
            </a:r>
            <a:endParaRPr lang="zh-CN" altLang="en-US" sz="2500" b="1" dirty="0">
              <a:solidFill>
                <a:srgbClr val="000099"/>
              </a:solidFill>
              <a:effectLst>
                <a:outerShdw blurRad="38100" dist="38100" dir="2700000">
                  <a:srgbClr val="C0C0C0"/>
                </a:outerShdw>
              </a:effectLst>
              <a:ea typeface="楷体" panose="02010609060101010101" pitchFamily="49" charset="-122"/>
            </a:endParaRPr>
          </a:p>
          <a:p>
            <a:pPr marL="344805" lvl="1" indent="0" algn="just">
              <a:lnSpc>
                <a:spcPct val="110000"/>
              </a:lnSpc>
              <a:buClr>
                <a:schemeClr val="tx2"/>
              </a:buClr>
              <a:buSzTx/>
              <a:buFont typeface="Wingdings" panose="05000000000000000000" pitchFamily="2" charset="2"/>
              <a:buChar char="ü"/>
            </a:pPr>
            <a:r>
              <a:rPr lang="zh-CN" altLang="en-US" sz="2500" b="1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" panose="02010609060101010101" pitchFamily="49" charset="-122"/>
              </a:rPr>
              <a:t>浮点指令</a:t>
            </a:r>
            <a:endParaRPr lang="zh-CN" altLang="en-US" sz="2500" b="1" dirty="0">
              <a:solidFill>
                <a:srgbClr val="000099"/>
              </a:solidFill>
              <a:effectLst>
                <a:outerShdw blurRad="38100" dist="38100" dir="2700000">
                  <a:srgbClr val="C0C0C0"/>
                </a:outerShdw>
              </a:effectLst>
              <a:ea typeface="楷体" panose="02010609060101010101" pitchFamily="49" charset="-122"/>
            </a:endParaRPr>
          </a:p>
          <a:p>
            <a:pPr marL="344805" lvl="1" indent="0" algn="just">
              <a:lnSpc>
                <a:spcPct val="110000"/>
              </a:lnSpc>
              <a:buClr>
                <a:schemeClr val="tx2"/>
              </a:buClr>
              <a:buSzTx/>
              <a:buFont typeface="Wingdings" panose="05000000000000000000" pitchFamily="2" charset="2"/>
              <a:buChar char="ü"/>
            </a:pPr>
            <a:r>
              <a:rPr lang="zh-CN" altLang="en-US" sz="2500" b="1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" panose="02010609060101010101" pitchFamily="49" charset="-122"/>
              </a:rPr>
              <a:t>多媒体指令</a:t>
            </a:r>
            <a:endParaRPr lang="zh-CN" altLang="en-US" sz="2500" b="1" dirty="0">
              <a:solidFill>
                <a:srgbClr val="000099"/>
              </a:solidFill>
              <a:effectLst>
                <a:outerShdw blurRad="38100" dist="38100" dir="2700000">
                  <a:srgbClr val="C0C0C0"/>
                </a:outerShdw>
              </a:effectLst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>
    <p:blinds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标题 15361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en-US" altLang="zh-CN"/>
              <a:t>8086</a:t>
            </a:r>
            <a:r>
              <a:rPr lang="zh-CN" altLang="en-US" dirty="0"/>
              <a:t>指令系统概述</a:t>
            </a:r>
            <a:endParaRPr lang="zh-CN" altLang="en-US" dirty="0"/>
          </a:p>
        </p:txBody>
      </p:sp>
      <p:sp>
        <p:nvSpPr>
          <p:cNvPr id="15363" name="文本占位符 15362"/>
          <p:cNvSpPr>
            <a:spLocks noGrp="1"/>
          </p:cNvSpPr>
          <p:nvPr>
            <p:ph type="body" idx="1"/>
          </p:nvPr>
        </p:nvSpPr>
        <p:spPr>
          <a:xfrm>
            <a:off x="457200" y="1719263"/>
            <a:ext cx="8016875" cy="4833937"/>
          </a:xfrm>
        </p:spPr>
        <p:txBody>
          <a:bodyPr/>
          <a:p>
            <a:pPr marL="0" indent="0" algn="just">
              <a:lnSpc>
                <a:spcPct val="110000"/>
              </a:lnSpc>
              <a:buSzTx/>
              <a:buFont typeface="Wingdings" panose="05000000000000000000" pitchFamily="2" charset="2"/>
              <a:buChar char="ü"/>
            </a:pPr>
            <a:r>
              <a:rPr lang="en-US" altLang="zh-CN" sz="2800" b="1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" panose="02010609060101010101" pitchFamily="49" charset="-122"/>
              </a:rPr>
              <a:t>Intel 8086</a:t>
            </a:r>
            <a:r>
              <a:rPr lang="zh-CN" altLang="en-US" sz="2800" b="1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" panose="02010609060101010101" pitchFamily="49" charset="-122"/>
              </a:rPr>
              <a:t>指令系统共有</a:t>
            </a:r>
            <a:r>
              <a:rPr lang="en-US" altLang="zh-CN" sz="2800" b="1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" panose="02010609060101010101" pitchFamily="49" charset="-122"/>
              </a:rPr>
              <a:t>117</a:t>
            </a:r>
            <a:r>
              <a:rPr lang="zh-CN" altLang="en-US" sz="2800" b="1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" panose="02010609060101010101" pitchFamily="49" charset="-122"/>
              </a:rPr>
              <a:t>条基本指令</a:t>
            </a:r>
            <a:endParaRPr lang="zh-CN" altLang="en-US" sz="2800" b="1" dirty="0">
              <a:solidFill>
                <a:srgbClr val="000099"/>
              </a:solidFill>
              <a:effectLst>
                <a:outerShdw blurRad="38100" dist="38100" dir="2700000">
                  <a:srgbClr val="C0C0C0"/>
                </a:outerShdw>
              </a:effectLst>
              <a:ea typeface="楷体" panose="02010609060101010101" pitchFamily="49" charset="-122"/>
            </a:endParaRPr>
          </a:p>
          <a:p>
            <a:pPr marL="0" indent="0" algn="just">
              <a:lnSpc>
                <a:spcPct val="110000"/>
              </a:lnSpc>
              <a:buSzTx/>
              <a:buFont typeface="Wingdings" panose="05000000000000000000" pitchFamily="2" charset="2"/>
              <a:buChar char="ü"/>
            </a:pPr>
            <a:r>
              <a:rPr lang="zh-CN" altLang="en-US" sz="2800" b="1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" panose="02010609060101010101" pitchFamily="49" charset="-122"/>
              </a:rPr>
              <a:t>可分成</a:t>
            </a:r>
            <a:r>
              <a:rPr lang="en-US" altLang="zh-CN" sz="2800" b="1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" panose="02010609060101010101" pitchFamily="49" charset="-122"/>
              </a:rPr>
              <a:t>6</a:t>
            </a:r>
            <a:r>
              <a:rPr lang="zh-CN" altLang="en-US" sz="2800" b="1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" panose="02010609060101010101" pitchFamily="49" charset="-122"/>
              </a:rPr>
              <a:t>个功能组</a:t>
            </a:r>
            <a:endParaRPr lang="zh-CN" altLang="en-US" sz="2800" b="1" dirty="0">
              <a:solidFill>
                <a:srgbClr val="000099"/>
              </a:solidFill>
              <a:effectLst>
                <a:outerShdw blurRad="38100" dist="38100" dir="2700000">
                  <a:srgbClr val="C0C0C0"/>
                </a:outerShdw>
              </a:effectLst>
              <a:ea typeface="楷体" panose="02010609060101010101" pitchFamily="49" charset="-122"/>
            </a:endParaRPr>
          </a:p>
          <a:p>
            <a:pPr marL="344805" lvl="1" indent="0" algn="just">
              <a:lnSpc>
                <a:spcPct val="110000"/>
              </a:lnSpc>
              <a:buClr>
                <a:schemeClr val="tx2"/>
              </a:buClr>
              <a:buSzTx/>
              <a:buFont typeface="Wingdings" panose="05000000000000000000" pitchFamily="2" charset="2"/>
              <a:buChar char="ü"/>
            </a:pPr>
            <a:r>
              <a:rPr lang="en-US" altLang="zh-CN" sz="2800" b="1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" panose="02010609060101010101" pitchFamily="49" charset="-122"/>
              </a:rPr>
              <a:t>① </a:t>
            </a:r>
            <a:r>
              <a:rPr lang="zh-CN" altLang="en-US" sz="2800" b="1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" panose="02010609060101010101" pitchFamily="49" charset="-122"/>
              </a:rPr>
              <a:t>数据传送类指令</a:t>
            </a:r>
            <a:endParaRPr lang="zh-CN" altLang="en-US" sz="2800" b="1" dirty="0">
              <a:solidFill>
                <a:srgbClr val="000099"/>
              </a:solidFill>
              <a:effectLst>
                <a:outerShdw blurRad="38100" dist="38100" dir="2700000">
                  <a:srgbClr val="C0C0C0"/>
                </a:outerShdw>
              </a:effectLst>
              <a:ea typeface="楷体" panose="02010609060101010101" pitchFamily="49" charset="-122"/>
            </a:endParaRPr>
          </a:p>
          <a:p>
            <a:pPr marL="344805" lvl="1" indent="0" algn="just">
              <a:lnSpc>
                <a:spcPct val="110000"/>
              </a:lnSpc>
              <a:buClr>
                <a:schemeClr val="tx2"/>
              </a:buClr>
              <a:buSzTx/>
              <a:buFont typeface="Wingdings" panose="05000000000000000000" pitchFamily="2" charset="2"/>
              <a:buChar char="ü"/>
            </a:pPr>
            <a:r>
              <a:rPr lang="en-US" altLang="zh-CN" sz="2800" b="1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" panose="02010609060101010101" pitchFamily="49" charset="-122"/>
              </a:rPr>
              <a:t>② </a:t>
            </a:r>
            <a:r>
              <a:rPr lang="zh-CN" altLang="en-US" sz="2800" b="1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" panose="02010609060101010101" pitchFamily="49" charset="-122"/>
              </a:rPr>
              <a:t>算术运算类指令</a:t>
            </a:r>
            <a:endParaRPr lang="zh-CN" altLang="en-US" sz="2800" b="1" dirty="0">
              <a:solidFill>
                <a:srgbClr val="000099"/>
              </a:solidFill>
              <a:effectLst>
                <a:outerShdw blurRad="38100" dist="38100" dir="2700000">
                  <a:srgbClr val="C0C0C0"/>
                </a:outerShdw>
              </a:effectLst>
              <a:ea typeface="楷体" panose="02010609060101010101" pitchFamily="49" charset="-122"/>
            </a:endParaRPr>
          </a:p>
          <a:p>
            <a:pPr marL="344805" lvl="1" indent="0" algn="just">
              <a:lnSpc>
                <a:spcPct val="110000"/>
              </a:lnSpc>
              <a:buClr>
                <a:schemeClr val="tx2"/>
              </a:buClr>
              <a:buSzTx/>
              <a:buFont typeface="Wingdings" panose="05000000000000000000" pitchFamily="2" charset="2"/>
              <a:buChar char="ü"/>
            </a:pPr>
            <a:r>
              <a:rPr lang="en-US" altLang="zh-CN" sz="2800" b="1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" panose="02010609060101010101" pitchFamily="49" charset="-122"/>
              </a:rPr>
              <a:t>③ </a:t>
            </a:r>
            <a:r>
              <a:rPr lang="zh-CN" altLang="en-US" sz="2800" b="1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" panose="02010609060101010101" pitchFamily="49" charset="-122"/>
              </a:rPr>
              <a:t>位操作类指令</a:t>
            </a:r>
            <a:endParaRPr lang="zh-CN" altLang="en-US" sz="2800" b="1" dirty="0">
              <a:solidFill>
                <a:srgbClr val="000099"/>
              </a:solidFill>
              <a:effectLst>
                <a:outerShdw blurRad="38100" dist="38100" dir="2700000">
                  <a:srgbClr val="C0C0C0"/>
                </a:outerShdw>
              </a:effectLst>
              <a:ea typeface="楷体" panose="02010609060101010101" pitchFamily="49" charset="-122"/>
            </a:endParaRPr>
          </a:p>
          <a:p>
            <a:pPr marL="344805" lvl="1" indent="0" algn="just">
              <a:lnSpc>
                <a:spcPct val="110000"/>
              </a:lnSpc>
              <a:buClr>
                <a:schemeClr val="tx2"/>
              </a:buClr>
              <a:buSzTx/>
              <a:buFont typeface="Wingdings" panose="05000000000000000000" pitchFamily="2" charset="2"/>
              <a:buChar char="ü"/>
            </a:pPr>
            <a:r>
              <a:rPr lang="en-US" altLang="zh-CN" sz="2800" b="1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" panose="02010609060101010101" pitchFamily="49" charset="-122"/>
              </a:rPr>
              <a:t>④ </a:t>
            </a:r>
            <a:r>
              <a:rPr lang="zh-CN" altLang="en-US" sz="2800" b="1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" panose="02010609060101010101" pitchFamily="49" charset="-122"/>
              </a:rPr>
              <a:t>串操作类指令</a:t>
            </a:r>
            <a:endParaRPr lang="zh-CN" altLang="en-US" sz="2800" b="1" dirty="0">
              <a:solidFill>
                <a:srgbClr val="000099"/>
              </a:solidFill>
              <a:effectLst>
                <a:outerShdw blurRad="38100" dist="38100" dir="2700000">
                  <a:srgbClr val="C0C0C0"/>
                </a:outerShdw>
              </a:effectLst>
              <a:ea typeface="楷体" panose="02010609060101010101" pitchFamily="49" charset="-122"/>
            </a:endParaRPr>
          </a:p>
          <a:p>
            <a:pPr marL="344805" lvl="1" indent="0" algn="just">
              <a:lnSpc>
                <a:spcPct val="110000"/>
              </a:lnSpc>
              <a:buClr>
                <a:schemeClr val="tx2"/>
              </a:buClr>
              <a:buSzTx/>
              <a:buFont typeface="Wingdings" panose="05000000000000000000" pitchFamily="2" charset="2"/>
              <a:buChar char="ü"/>
            </a:pPr>
            <a:r>
              <a:rPr lang="en-US" altLang="zh-CN" sz="2800" b="1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" panose="02010609060101010101" pitchFamily="49" charset="-122"/>
              </a:rPr>
              <a:t>⑤ </a:t>
            </a:r>
            <a:r>
              <a:rPr lang="zh-CN" altLang="en-US" sz="2800" b="1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" panose="02010609060101010101" pitchFamily="49" charset="-122"/>
              </a:rPr>
              <a:t>控制转移类指令</a:t>
            </a:r>
            <a:endParaRPr lang="zh-CN" altLang="en-US" sz="2800" b="1" dirty="0">
              <a:solidFill>
                <a:srgbClr val="000099"/>
              </a:solidFill>
              <a:effectLst>
                <a:outerShdw blurRad="38100" dist="38100" dir="2700000">
                  <a:srgbClr val="C0C0C0"/>
                </a:outerShdw>
              </a:effectLst>
              <a:ea typeface="楷体" panose="02010609060101010101" pitchFamily="49" charset="-122"/>
            </a:endParaRPr>
          </a:p>
          <a:p>
            <a:pPr marL="344805" lvl="1" indent="0" algn="just">
              <a:lnSpc>
                <a:spcPct val="110000"/>
              </a:lnSpc>
              <a:buClr>
                <a:schemeClr val="tx2"/>
              </a:buClr>
              <a:buSzTx/>
              <a:buFont typeface="Wingdings" panose="05000000000000000000" pitchFamily="2" charset="2"/>
              <a:buChar char="ü"/>
            </a:pPr>
            <a:r>
              <a:rPr lang="en-US" altLang="zh-CN" sz="2800" b="1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" panose="02010609060101010101" pitchFamily="49" charset="-122"/>
              </a:rPr>
              <a:t>⑥ </a:t>
            </a:r>
            <a:r>
              <a:rPr lang="zh-CN" altLang="en-US" sz="2800" b="1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" panose="02010609060101010101" pitchFamily="49" charset="-122"/>
              </a:rPr>
              <a:t>处理机控制类指令</a:t>
            </a:r>
            <a:endParaRPr lang="zh-CN" altLang="en-US" sz="2800" b="1" dirty="0">
              <a:solidFill>
                <a:srgbClr val="000099"/>
              </a:solidFill>
              <a:effectLst>
                <a:outerShdw blurRad="38100" dist="38100" dir="2700000">
                  <a:srgbClr val="C0C0C0"/>
                </a:outerShdw>
              </a:effectLst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>
    <p:split orient="vert" dir="in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6385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u="sng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在学习指令时的注意事项：</a:t>
            </a:r>
            <a:endParaRPr lang="zh-CN" altLang="en-US" u="sng" dirty="0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  <p:sp>
        <p:nvSpPr>
          <p:cNvPr id="16387" name="文本占位符 1638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00600"/>
          </a:xfrm>
        </p:spPr>
        <p:txBody>
          <a:bodyPr/>
          <a:p>
            <a:pPr marL="0" indent="0" algn="just">
              <a:lnSpc>
                <a:spcPct val="110000"/>
              </a:lnSpc>
              <a:buSzTx/>
              <a:buFont typeface="Wingdings" panose="05000000000000000000" pitchFamily="2" charset="2"/>
              <a:buChar char="ü"/>
            </a:pPr>
            <a:r>
              <a:rPr lang="zh-CN" altLang="en-US" sz="2800" b="1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" panose="02010609060101010101" pitchFamily="49" charset="-122"/>
              </a:rPr>
              <a:t>指令的</a:t>
            </a:r>
            <a:r>
              <a:rPr lang="zh-CN" altLang="en-US" sz="2800" b="1" dirty="0">
                <a:solidFill>
                  <a:srgbClr val="0099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" panose="02010609060101010101" pitchFamily="49" charset="-122"/>
              </a:rPr>
              <a:t>功能</a:t>
            </a:r>
            <a:r>
              <a:rPr lang="en-US" altLang="zh-CN" sz="2800" b="1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2800" dirty="0">
                <a:solidFill>
                  <a:srgbClr val="000099"/>
                </a:solidFill>
                <a:ea typeface="楷体" panose="02010609060101010101" pitchFamily="49" charset="-122"/>
              </a:rPr>
              <a:t>该指令能够实现何种操作。通常指令助记符就是指令功能的英文单词或其缩写形式</a:t>
            </a:r>
            <a:endParaRPr lang="zh-CN" altLang="en-US" sz="2800" dirty="0">
              <a:solidFill>
                <a:srgbClr val="000099"/>
              </a:solidFill>
              <a:ea typeface="楷体" panose="02010609060101010101" pitchFamily="49" charset="-122"/>
            </a:endParaRPr>
          </a:p>
          <a:p>
            <a:pPr marL="0" indent="0" algn="just">
              <a:lnSpc>
                <a:spcPct val="110000"/>
              </a:lnSpc>
              <a:buSzTx/>
              <a:buFont typeface="Wingdings" panose="05000000000000000000" pitchFamily="2" charset="2"/>
              <a:buChar char="ü"/>
            </a:pPr>
            <a:r>
              <a:rPr lang="zh-CN" altLang="en-US" sz="2800" b="1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" panose="02010609060101010101" pitchFamily="49" charset="-122"/>
              </a:rPr>
              <a:t>指令支持的</a:t>
            </a:r>
            <a:r>
              <a:rPr lang="zh-CN" altLang="en-US" sz="2800" b="1" dirty="0">
                <a:solidFill>
                  <a:srgbClr val="0099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" panose="02010609060101010101" pitchFamily="49" charset="-122"/>
              </a:rPr>
              <a:t>寻址方式</a:t>
            </a:r>
            <a:r>
              <a:rPr lang="en-US" altLang="zh-CN" sz="2800" b="1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2800" dirty="0">
                <a:solidFill>
                  <a:srgbClr val="000099"/>
                </a:solidFill>
                <a:ea typeface="楷体" panose="02010609060101010101" pitchFamily="49" charset="-122"/>
              </a:rPr>
              <a:t>该指令中的操作数可以采用何种寻址方式</a:t>
            </a:r>
            <a:endParaRPr lang="zh-CN" altLang="en-US" sz="2800" dirty="0">
              <a:solidFill>
                <a:srgbClr val="000099"/>
              </a:solidFill>
              <a:ea typeface="楷体" panose="02010609060101010101" pitchFamily="49" charset="-122"/>
            </a:endParaRPr>
          </a:p>
          <a:p>
            <a:pPr marL="0" indent="0" algn="just">
              <a:lnSpc>
                <a:spcPct val="110000"/>
              </a:lnSpc>
              <a:buSzTx/>
              <a:buFont typeface="Wingdings" panose="05000000000000000000" pitchFamily="2" charset="2"/>
              <a:buChar char="ü"/>
            </a:pPr>
            <a:r>
              <a:rPr lang="zh-CN" altLang="en-US" sz="2800" b="1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" panose="02010609060101010101" pitchFamily="49" charset="-122"/>
              </a:rPr>
              <a:t>指令对</a:t>
            </a:r>
            <a:r>
              <a:rPr lang="zh-CN" altLang="en-US" sz="2800" b="1" dirty="0">
                <a:solidFill>
                  <a:srgbClr val="0099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" panose="02010609060101010101" pitchFamily="49" charset="-122"/>
              </a:rPr>
              <a:t>标志的影响</a:t>
            </a:r>
            <a:r>
              <a:rPr lang="en-US" altLang="zh-CN" sz="2800" b="1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2800" dirty="0">
                <a:solidFill>
                  <a:srgbClr val="000099"/>
                </a:solidFill>
                <a:ea typeface="楷体" panose="02010609060101010101" pitchFamily="49" charset="-122"/>
              </a:rPr>
              <a:t>该指令执行后是否对各个标志位有影响，以及如何影响</a:t>
            </a:r>
            <a:endParaRPr lang="zh-CN" altLang="en-US" sz="2800" dirty="0">
              <a:solidFill>
                <a:srgbClr val="000099"/>
              </a:solidFill>
              <a:ea typeface="楷体" panose="02010609060101010101" pitchFamily="49" charset="-122"/>
            </a:endParaRPr>
          </a:p>
          <a:p>
            <a:pPr marL="0" indent="0" algn="just">
              <a:lnSpc>
                <a:spcPct val="110000"/>
              </a:lnSpc>
              <a:buSzTx/>
              <a:buFont typeface="Wingdings" panose="05000000000000000000" pitchFamily="2" charset="2"/>
              <a:buChar char="ü"/>
            </a:pPr>
            <a:r>
              <a:rPr lang="zh-CN" altLang="en-US" sz="2800" b="1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" panose="02010609060101010101" pitchFamily="49" charset="-122"/>
              </a:rPr>
              <a:t>其他方面</a:t>
            </a:r>
            <a:r>
              <a:rPr lang="en-US" altLang="zh-CN" sz="2800" b="1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2800" dirty="0">
                <a:solidFill>
                  <a:srgbClr val="000099"/>
                </a:solidFill>
                <a:ea typeface="楷体" panose="02010609060101010101" pitchFamily="49" charset="-122"/>
              </a:rPr>
              <a:t>该指令其他需要特别注意的地方，如指令执行时的约定设置、必须预置的参数、隐含使用的寄存器等</a:t>
            </a:r>
            <a:endParaRPr lang="zh-CN" altLang="en-US" sz="2800" dirty="0">
              <a:solidFill>
                <a:srgbClr val="000099"/>
              </a:solidFill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>
    <p:split orient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标题 17409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汇编语言指令格式</a:t>
            </a:r>
            <a:endParaRPr lang="zh-CN" altLang="en-US" dirty="0"/>
          </a:p>
        </p:txBody>
      </p:sp>
      <p:sp>
        <p:nvSpPr>
          <p:cNvPr id="17411" name="文本占位符 17410"/>
          <p:cNvSpPr>
            <a:spLocks noGrp="1"/>
          </p:cNvSpPr>
          <p:nvPr>
            <p:ph type="body" idx="1"/>
          </p:nvPr>
        </p:nvSpPr>
        <p:spPr>
          <a:xfrm>
            <a:off x="468313" y="1447800"/>
            <a:ext cx="7837487" cy="1524000"/>
          </a:xfrm>
        </p:spPr>
        <p:txBody>
          <a:bodyPr/>
          <a:p>
            <a:r>
              <a:rPr lang="zh-CN" altLang="en-US" sz="3800" b="1" i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由</a:t>
            </a:r>
            <a:r>
              <a:rPr lang="en-US" altLang="zh-CN" sz="3800" b="1" i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3800" b="1" i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部分组成：</a:t>
            </a:r>
            <a:endParaRPr lang="zh-CN" altLang="en-US" sz="3800" b="1" i="1" dirty="0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60000"/>
              </a:lnSpc>
              <a:buNone/>
            </a:pPr>
            <a:r>
              <a:rPr lang="zh-CN" altLang="en-US" sz="2500" b="1" dirty="0">
                <a:solidFill>
                  <a:srgbClr val="000099"/>
                </a:solidFill>
                <a:latin typeface="宋体" panose="02010600030101010101" pitchFamily="2" charset="-122"/>
              </a:rPr>
              <a:t>标号： 指令助记符  目的操作数</a:t>
            </a:r>
            <a:r>
              <a:rPr lang="en-US" altLang="zh-CN" sz="2500" b="1">
                <a:solidFill>
                  <a:srgbClr val="000099"/>
                </a:solidFill>
                <a:latin typeface="宋体" panose="02010600030101010101" pitchFamily="2" charset="-122"/>
              </a:rPr>
              <a:t>,</a:t>
            </a:r>
            <a:r>
              <a:rPr lang="zh-CN" altLang="en-US" sz="2500" b="1" dirty="0">
                <a:solidFill>
                  <a:srgbClr val="000099"/>
                </a:solidFill>
                <a:latin typeface="宋体" panose="02010600030101010101" pitchFamily="2" charset="-122"/>
              </a:rPr>
              <a:t>源操作数   ；注释</a:t>
            </a:r>
            <a:endParaRPr lang="zh-CN" altLang="en-US" sz="3400" b="1" dirty="0">
              <a:solidFill>
                <a:srgbClr val="000099"/>
              </a:solidFill>
              <a:latin typeface="宋体" panose="02010600030101010101" pitchFamily="2" charset="-122"/>
            </a:endParaRPr>
          </a:p>
        </p:txBody>
      </p:sp>
      <p:sp>
        <p:nvSpPr>
          <p:cNvPr id="17412" name="横卷形 17411"/>
          <p:cNvSpPr/>
          <p:nvPr/>
        </p:nvSpPr>
        <p:spPr>
          <a:xfrm>
            <a:off x="838200" y="3124200"/>
            <a:ext cx="7620000" cy="990600"/>
          </a:xfrm>
          <a:prstGeom prst="horizontalScroll">
            <a:avLst>
              <a:gd name="adj" fmla="val 12500"/>
            </a:avLst>
          </a:prstGeom>
          <a:gradFill rotWithShape="0">
            <a:gsLst>
              <a:gs pos="0">
                <a:srgbClr val="CCECFF"/>
              </a:gs>
              <a:gs pos="100000">
                <a:schemeClr val="bg1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spcBef>
                <a:spcPct val="0"/>
              </a:spcBef>
              <a:buBlip>
                <a:blip r:embed="rId1"/>
              </a:buBlip>
            </a:pPr>
            <a:r>
              <a:rPr lang="en-US" altLang="zh-CN" sz="3200" i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3200" i="0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标号</a:t>
            </a:r>
            <a:r>
              <a:rPr lang="zh-CN" altLang="en-US" sz="3200" i="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表示该指令在主存中的逻辑地址</a:t>
            </a:r>
            <a:endParaRPr lang="zh-CN" altLang="en-US" sz="3200" i="0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413" name="横卷形 17412"/>
          <p:cNvSpPr/>
          <p:nvPr/>
        </p:nvSpPr>
        <p:spPr>
          <a:xfrm>
            <a:off x="838200" y="3810000"/>
            <a:ext cx="7620000" cy="990600"/>
          </a:xfrm>
          <a:prstGeom prst="horizontalScroll">
            <a:avLst>
              <a:gd name="adj" fmla="val 12500"/>
            </a:avLst>
          </a:prstGeom>
          <a:gradFill rotWithShape="0">
            <a:gsLst>
              <a:gs pos="0">
                <a:srgbClr val="CCEC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spcBef>
                <a:spcPct val="0"/>
              </a:spcBef>
              <a:buBlip>
                <a:blip r:embed="rId1"/>
              </a:buBlip>
            </a:pPr>
            <a:r>
              <a:rPr lang="en-US" altLang="zh-CN" sz="3200" i="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3200" i="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每个</a:t>
            </a:r>
            <a:r>
              <a:rPr lang="zh-CN" altLang="en-US" sz="3200" i="0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指令助记符</a:t>
            </a:r>
            <a:r>
              <a:rPr lang="zh-CN" altLang="en-US" sz="3200" i="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就代表一种指令</a:t>
            </a:r>
            <a:endParaRPr lang="zh-CN" altLang="en-US" sz="3200" i="0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414" name="横卷形 17413"/>
          <p:cNvSpPr/>
          <p:nvPr/>
        </p:nvSpPr>
        <p:spPr>
          <a:xfrm>
            <a:off x="838200" y="4495800"/>
            <a:ext cx="7620000" cy="990600"/>
          </a:xfrm>
          <a:prstGeom prst="horizontalScroll">
            <a:avLst>
              <a:gd name="adj" fmla="val 12500"/>
            </a:avLst>
          </a:prstGeom>
          <a:gradFill rotWithShape="1">
            <a:gsLst>
              <a:gs pos="0">
                <a:srgbClr val="CCEC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spcBef>
                <a:spcPct val="0"/>
              </a:spcBef>
              <a:buBlip>
                <a:blip r:embed="rId1"/>
              </a:buBlip>
            </a:pPr>
            <a:r>
              <a:rPr lang="en-US" altLang="zh-CN" sz="3200" i="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3200" i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目的</a:t>
            </a:r>
            <a:r>
              <a:rPr lang="zh-CN" altLang="en-US" sz="3200" i="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zh-CN" altLang="en-US" sz="3200" i="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源</a:t>
            </a:r>
            <a:r>
              <a:rPr lang="zh-CN" altLang="en-US" sz="3200" i="0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操作数</a:t>
            </a:r>
            <a:r>
              <a:rPr lang="zh-CN" altLang="en-US" sz="3200" i="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表示参与操作的对象</a:t>
            </a:r>
            <a:endParaRPr lang="zh-CN" altLang="en-US" sz="3200" i="0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415" name="横卷形 17414"/>
          <p:cNvSpPr/>
          <p:nvPr/>
        </p:nvSpPr>
        <p:spPr>
          <a:xfrm>
            <a:off x="838200" y="5181600"/>
            <a:ext cx="7620000" cy="990600"/>
          </a:xfrm>
          <a:prstGeom prst="horizontalScroll">
            <a:avLst>
              <a:gd name="adj" fmla="val 12500"/>
            </a:avLst>
          </a:prstGeom>
          <a:gradFill rotWithShape="0">
            <a:gsLst>
              <a:gs pos="0">
                <a:srgbClr val="CCEC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spcBef>
                <a:spcPct val="0"/>
              </a:spcBef>
              <a:buBlip>
                <a:blip r:embed="rId1"/>
              </a:buBlip>
            </a:pPr>
            <a:r>
              <a:rPr lang="en-US" altLang="zh-CN" sz="3200" i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3200" i="0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注释</a:t>
            </a:r>
            <a:r>
              <a:rPr lang="zh-CN" altLang="en-US" sz="3200" i="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是对该指令或程序段功能的说明</a:t>
            </a:r>
            <a:endParaRPr lang="zh-CN" altLang="en-US" sz="3200" i="0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417" name="文本框 17416" descr="画布"/>
          <p:cNvSpPr txBox="1"/>
          <p:nvPr/>
        </p:nvSpPr>
        <p:spPr>
          <a:xfrm>
            <a:off x="5105400" y="533400"/>
            <a:ext cx="2514600" cy="1373188"/>
          </a:xfrm>
          <a:prstGeom prst="rect">
            <a:avLst/>
          </a:prstGeom>
          <a:blipFill rotWithShape="1">
            <a:blip r:embed="rId2"/>
          </a:blipFill>
          <a:ln w="9525">
            <a:noFill/>
          </a:ln>
        </p:spPr>
        <p:txBody>
          <a:bodyPr>
            <a:spAutoFit/>
          </a:bodyPr>
          <a:p>
            <a:pPr>
              <a:buBlip>
                <a:blip r:embed="rId3"/>
              </a:buBlip>
            </a:pP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</a:rPr>
              <a:t>哪些部分必须要有？哪些可有可无？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 animBg="1"/>
      <p:bldP spid="17414" grpId="0" animBg="1"/>
      <p:bldP spid="17415" grpId="0" animBg="1"/>
      <p:bldP spid="174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76200"/>
            <a:ext cx="7543800" cy="666115"/>
          </a:xfrm>
        </p:spPr>
        <p:txBody>
          <a:bodyPr/>
          <a:p>
            <a:r>
              <a:rPr lang="zh-CN" altLang="en-US"/>
              <a:t>后面缩写的说明：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724535"/>
            <a:ext cx="8229600" cy="6030595"/>
          </a:xfrm>
        </p:spPr>
        <p:txBody>
          <a:bodyPr/>
          <a:p>
            <a:r>
              <a:rPr lang="en-US" altLang="zh-CN">
                <a:sym typeface="+mn-ea"/>
              </a:rPr>
              <a:t>dest</a:t>
            </a:r>
            <a:r>
              <a:rPr lang="zh-CN" altLang="en-US">
                <a:sym typeface="+mn-ea"/>
              </a:rPr>
              <a:t>：目的操作数</a:t>
            </a:r>
            <a:endParaRPr lang="zh-CN" altLang="en-US"/>
          </a:p>
          <a:p>
            <a:r>
              <a:rPr lang="en-US" altLang="zh-CN">
                <a:sym typeface="+mn-ea"/>
              </a:rPr>
              <a:t>src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源操作数</a:t>
            </a:r>
            <a:endParaRPr lang="zh-CN" altLang="en-US"/>
          </a:p>
          <a:p>
            <a:r>
              <a:rPr lang="en-US" altLang="zh-CN"/>
              <a:t>i8 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一个</a:t>
            </a:r>
            <a:r>
              <a:rPr lang="en-US" altLang="zh-CN"/>
              <a:t>8</a:t>
            </a:r>
            <a:r>
              <a:rPr lang="zh-CN" altLang="en-US"/>
              <a:t>位立即数</a:t>
            </a:r>
            <a:endParaRPr lang="zh-CN" altLang="en-US"/>
          </a:p>
          <a:p>
            <a:r>
              <a:rPr lang="en-US" altLang="zh-CN"/>
              <a:t>i16</a:t>
            </a:r>
            <a:r>
              <a:rPr lang="zh-CN" altLang="en-US"/>
              <a:t>：</a:t>
            </a:r>
            <a:r>
              <a:rPr lang="en-US" altLang="zh-CN"/>
              <a:t>  </a:t>
            </a:r>
            <a:r>
              <a:rPr lang="zh-CN" altLang="en-US"/>
              <a:t>一个</a:t>
            </a:r>
            <a:r>
              <a:rPr lang="en-US" altLang="zh-CN"/>
              <a:t>16</a:t>
            </a:r>
            <a:r>
              <a:rPr lang="zh-CN" altLang="en-US"/>
              <a:t>位立即数</a:t>
            </a:r>
            <a:endParaRPr lang="zh-CN" altLang="en-US"/>
          </a:p>
          <a:p>
            <a:r>
              <a:rPr lang="en-US" altLang="zh-CN"/>
              <a:t>imm</a:t>
            </a:r>
            <a:r>
              <a:rPr lang="zh-CN" altLang="en-US"/>
              <a:t>：代表立即数</a:t>
            </a:r>
            <a:endParaRPr lang="zh-CN" altLang="en-US"/>
          </a:p>
          <a:p>
            <a:r>
              <a:rPr lang="en-US" altLang="zh-CN"/>
              <a:t>r8</a:t>
            </a:r>
            <a:r>
              <a:rPr lang="zh-CN" altLang="en-US"/>
              <a:t>：</a:t>
            </a:r>
            <a:r>
              <a:rPr lang="en-US" altLang="zh-CN"/>
              <a:t>    </a:t>
            </a:r>
            <a:r>
              <a:rPr lang="zh-CN" altLang="en-US"/>
              <a:t>任意一个</a:t>
            </a:r>
            <a:r>
              <a:rPr lang="en-US" altLang="zh-CN"/>
              <a:t>8</a:t>
            </a:r>
            <a:r>
              <a:rPr lang="zh-CN" altLang="en-US"/>
              <a:t>位通用化寄存器</a:t>
            </a:r>
            <a:endParaRPr lang="zh-CN" altLang="en-US"/>
          </a:p>
          <a:p>
            <a:r>
              <a:rPr lang="en-US" altLang="zh-CN"/>
              <a:t>r16</a:t>
            </a:r>
            <a:r>
              <a:rPr lang="zh-CN" altLang="en-US"/>
              <a:t>：</a:t>
            </a:r>
            <a:r>
              <a:rPr lang="en-US" altLang="zh-CN"/>
              <a:t>  </a:t>
            </a:r>
            <a:r>
              <a:rPr lang="zh-CN" altLang="en-US">
                <a:sym typeface="+mn-ea"/>
              </a:rPr>
              <a:t>任意一个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位通用化寄存器</a:t>
            </a:r>
            <a:endParaRPr lang="zh-CN" altLang="en-US">
              <a:sym typeface="+mn-ea"/>
            </a:endParaRPr>
          </a:p>
          <a:p>
            <a:r>
              <a:rPr lang="en-US" altLang="zh-CN"/>
              <a:t>reg</a:t>
            </a:r>
            <a:r>
              <a:rPr lang="zh-CN" altLang="en-US"/>
              <a:t>：</a:t>
            </a:r>
            <a:r>
              <a:rPr lang="en-US" altLang="zh-CN"/>
              <a:t>  </a:t>
            </a:r>
            <a:r>
              <a:rPr lang="zh-CN" altLang="en-US"/>
              <a:t>代表通用寄存器</a:t>
            </a:r>
            <a:endParaRPr lang="zh-CN" altLang="en-US"/>
          </a:p>
          <a:p>
            <a:r>
              <a:rPr lang="en-US" altLang="zh-CN"/>
              <a:t>seg</a:t>
            </a:r>
            <a:r>
              <a:rPr lang="zh-CN" altLang="en-US"/>
              <a:t>：</a:t>
            </a:r>
            <a:r>
              <a:rPr lang="en-US" altLang="zh-CN"/>
              <a:t> </a:t>
            </a:r>
            <a:r>
              <a:rPr lang="zh-CN" altLang="en-US"/>
              <a:t>代表段寄存器</a:t>
            </a:r>
            <a:endParaRPr lang="zh-CN" altLang="en-US"/>
          </a:p>
          <a:p>
            <a:r>
              <a:rPr lang="en-US" altLang="zh-CN"/>
              <a:t>m8/m16</a:t>
            </a:r>
            <a:r>
              <a:rPr lang="zh-CN" altLang="en-US"/>
              <a:t>：一个</a:t>
            </a:r>
            <a:r>
              <a:rPr lang="en-US" altLang="zh-CN"/>
              <a:t>8</a:t>
            </a:r>
            <a:r>
              <a:rPr lang="zh-CN" altLang="en-US"/>
              <a:t>位或</a:t>
            </a:r>
            <a:r>
              <a:rPr lang="en-US" altLang="zh-CN"/>
              <a:t>16</a:t>
            </a:r>
            <a:r>
              <a:rPr lang="zh-CN" altLang="en-US"/>
              <a:t>位存储器操作数单元</a:t>
            </a:r>
            <a:endParaRPr lang="zh-CN" altLang="en-US"/>
          </a:p>
          <a:p>
            <a:r>
              <a:rPr lang="en-US" altLang="zh-CN"/>
              <a:t>mem</a:t>
            </a:r>
            <a:r>
              <a:rPr lang="zh-CN" altLang="en-US"/>
              <a:t>：代表存储单元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5" name="标题 18434"/>
          <p:cNvSpPr>
            <a:spLocks noGrp="1"/>
          </p:cNvSpPr>
          <p:nvPr>
            <p:ph type="ctrTitle"/>
          </p:nvPr>
        </p:nvSpPr>
        <p:spPr>
          <a:xfrm>
            <a:off x="838200" y="1828800"/>
            <a:ext cx="4343400" cy="685800"/>
          </a:xfrm>
        </p:spPr>
        <p:txBody>
          <a:bodyPr anchor="b" anchorCtr="0"/>
          <a:p>
            <a:pPr defTabSz="914400">
              <a:buSzTx/>
              <a:buFontTx/>
              <a:buNone/>
            </a:pPr>
            <a:r>
              <a:rPr lang="zh-CN" altLang="en-US" b="0" kern="1200" baseline="0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" panose="02010609060101010101" pitchFamily="49" charset="-122"/>
              </a:rPr>
              <a:t>开始逐一介绍：</a:t>
            </a:r>
            <a:endParaRPr lang="zh-CN" altLang="en-US" b="0" kern="1200" baseline="0" dirty="0">
              <a:solidFill>
                <a:srgbClr val="000099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楷体" panose="02010609060101010101" pitchFamily="49" charset="-122"/>
            </a:endParaRPr>
          </a:p>
        </p:txBody>
      </p:sp>
      <p:sp>
        <p:nvSpPr>
          <p:cNvPr id="18436" name="副标题 18435"/>
          <p:cNvSpPr>
            <a:spLocks noGrp="1"/>
          </p:cNvSpPr>
          <p:nvPr>
            <p:ph type="subTitle" idx="1"/>
          </p:nvPr>
        </p:nvSpPr>
        <p:spPr>
          <a:xfrm>
            <a:off x="457200" y="2819400"/>
            <a:ext cx="6172200" cy="2600325"/>
          </a:xfrm>
        </p:spPr>
        <p:txBody>
          <a:bodyPr anchor="t" anchorCtr="0"/>
          <a:p>
            <a:pPr algn="just" defTabSz="914400">
              <a:lnSpc>
                <a:spcPct val="120000"/>
              </a:lnSpc>
              <a:buSzPct val="70000"/>
            </a:pPr>
            <a:r>
              <a:rPr lang="zh-CN" altLang="en-US" b="1" kern="1200" baseline="0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" panose="02010609060101010101" pitchFamily="49" charset="-122"/>
              </a:rPr>
              <a:t>全面而准确地理解每条指令的功能和应用，是编写汇编语言程序的关键</a:t>
            </a:r>
            <a:endParaRPr lang="zh-CN" altLang="en-US" b="1" kern="1200" baseline="0" dirty="0">
              <a:solidFill>
                <a:srgbClr val="000099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楷体" panose="02010609060101010101" pitchFamily="49" charset="-122"/>
            </a:endParaRPr>
          </a:p>
          <a:p>
            <a:pPr algn="just" defTabSz="914400">
              <a:lnSpc>
                <a:spcPct val="120000"/>
              </a:lnSpc>
              <a:buSzPct val="70000"/>
            </a:pPr>
            <a:endParaRPr lang="zh-CN" altLang="en-US" b="1" kern="1200" baseline="0" dirty="0">
              <a:solidFill>
                <a:srgbClr val="000099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楷体" panose="02010609060101010101" pitchFamily="49" charset="-122"/>
            </a:endParaRPr>
          </a:p>
          <a:p>
            <a:pPr algn="just" defTabSz="914400">
              <a:lnSpc>
                <a:spcPct val="120000"/>
              </a:lnSpc>
              <a:buSzPct val="70000"/>
            </a:pPr>
            <a:endParaRPr lang="zh-CN" altLang="en-US" b="1" kern="1200" baseline="0" dirty="0">
              <a:solidFill>
                <a:srgbClr val="000099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标题 20481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en-US" altLang="zh-CN"/>
              <a:t>1.  </a:t>
            </a:r>
            <a:r>
              <a:rPr lang="zh-CN" altLang="en-US" dirty="0"/>
              <a:t>数据传送类指令</a:t>
            </a:r>
            <a:endParaRPr lang="zh-CN" altLang="en-US" dirty="0"/>
          </a:p>
        </p:txBody>
      </p:sp>
      <p:sp>
        <p:nvSpPr>
          <p:cNvPr id="20483" name="文本占位符 20482"/>
          <p:cNvSpPr>
            <a:spLocks noGrp="1"/>
          </p:cNvSpPr>
          <p:nvPr>
            <p:ph type="body" idx="1"/>
          </p:nvPr>
        </p:nvSpPr>
        <p:spPr/>
        <p:txBody>
          <a:bodyPr/>
          <a:p>
            <a:pPr>
              <a:lnSpc>
                <a:spcPct val="90000"/>
              </a:lnSpc>
            </a:pPr>
            <a:r>
              <a:rPr lang="zh-CN" altLang="en-US" sz="2800" b="1" dirty="0">
                <a:solidFill>
                  <a:srgbClr val="000099"/>
                </a:solidFill>
                <a:ea typeface="楷体" panose="02010609060101010101" pitchFamily="49" charset="-122"/>
              </a:rPr>
              <a:t>数据传送是计算机中最基本、最重要的一种操作</a:t>
            </a:r>
            <a:endParaRPr lang="zh-CN" altLang="en-US" sz="2800" b="1" dirty="0">
              <a:solidFill>
                <a:srgbClr val="000099"/>
              </a:solidFill>
              <a:ea typeface="楷体" panose="02010609060101010101" pitchFamily="49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800" b="1" dirty="0">
                <a:solidFill>
                  <a:srgbClr val="000099"/>
                </a:solidFill>
                <a:ea typeface="楷体" panose="02010609060101010101" pitchFamily="49" charset="-122"/>
              </a:rPr>
              <a:t>传送指令也是最常使用的一类指令</a:t>
            </a:r>
            <a:endParaRPr lang="zh-CN" altLang="en-US" sz="2800" b="1" dirty="0">
              <a:solidFill>
                <a:srgbClr val="000099"/>
              </a:solidFill>
              <a:ea typeface="楷体" panose="02010609060101010101" pitchFamily="49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800" b="1" dirty="0">
                <a:solidFill>
                  <a:srgbClr val="000099"/>
                </a:solidFill>
                <a:ea typeface="楷体" panose="02010609060101010101" pitchFamily="49" charset="-122"/>
              </a:rPr>
              <a:t>传送指令把数据从一个位置传送到另一个位置</a:t>
            </a:r>
            <a:endParaRPr lang="zh-CN" altLang="en-US" sz="2800" b="1" dirty="0">
              <a:solidFill>
                <a:srgbClr val="000099"/>
              </a:solidFill>
              <a:ea typeface="楷体" panose="02010609060101010101" pitchFamily="49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800" b="1" dirty="0">
                <a:solidFill>
                  <a:srgbClr val="008000"/>
                </a:solidFill>
                <a:ea typeface="楷体" panose="02010609060101010101" pitchFamily="49" charset="-122"/>
              </a:rPr>
              <a:t>除标志寄存器传送指令外，均不影响标志位</a:t>
            </a:r>
            <a:endParaRPr lang="zh-CN" altLang="en-US" sz="2800" b="1" dirty="0">
              <a:solidFill>
                <a:srgbClr val="008000"/>
              </a:solidFill>
              <a:ea typeface="楷体" panose="02010609060101010101" pitchFamily="49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800" b="1" dirty="0">
                <a:solidFill>
                  <a:srgbClr val="000099"/>
                </a:solidFill>
                <a:ea typeface="楷体" panose="02010609060101010101" pitchFamily="49" charset="-122"/>
              </a:rPr>
              <a:t>重点掌握</a:t>
            </a:r>
            <a:endParaRPr lang="zh-CN" altLang="en-US" sz="2800" b="1" dirty="0">
              <a:solidFill>
                <a:srgbClr val="000099"/>
              </a:solidFill>
              <a:ea typeface="楷体" panose="02010609060101010101" pitchFamily="49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3000" b="1">
                <a:solidFill>
                  <a:srgbClr val="0000FF"/>
                </a:solidFill>
              </a:rPr>
              <a:t>MOV   </a:t>
            </a:r>
            <a:r>
              <a:rPr lang="en-US" altLang="zh-CN" sz="3000" b="1">
                <a:solidFill>
                  <a:srgbClr val="FF0000"/>
                </a:solidFill>
              </a:rPr>
              <a:t>XCHG</a:t>
            </a:r>
            <a:endParaRPr lang="en-US" altLang="zh-CN" sz="3000" b="1">
              <a:solidFill>
                <a:srgbClr val="FF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zh-CN" sz="3000" b="1">
                <a:solidFill>
                  <a:srgbClr val="0000FF"/>
                </a:solidFill>
              </a:rPr>
              <a:t>PUSH   POP</a:t>
            </a:r>
            <a:endParaRPr lang="en-US" altLang="zh-CN" sz="3000" b="1">
              <a:solidFill>
                <a:srgbClr val="0000FF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zh-CN" sz="3000" b="1">
                <a:solidFill>
                  <a:srgbClr val="FF0000"/>
                </a:solidFill>
              </a:rPr>
              <a:t>LEA</a:t>
            </a:r>
            <a:endParaRPr lang="en-US" altLang="zh-CN" sz="30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标题 21505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en-US" altLang="zh-CN"/>
              <a:t>1.1  </a:t>
            </a:r>
            <a:r>
              <a:rPr lang="zh-CN" altLang="en-US" dirty="0"/>
              <a:t>通用数据传送指令</a:t>
            </a:r>
            <a:endParaRPr lang="zh-CN" altLang="en-US" dirty="0"/>
          </a:p>
        </p:txBody>
      </p:sp>
      <p:sp>
        <p:nvSpPr>
          <p:cNvPr id="21507" name="文本占位符 21506"/>
          <p:cNvSpPr>
            <a:spLocks noGrp="1"/>
          </p:cNvSpPr>
          <p:nvPr>
            <p:ph type="body" idx="1"/>
          </p:nvPr>
        </p:nvSpPr>
        <p:spPr>
          <a:xfrm>
            <a:off x="457200" y="1719263"/>
            <a:ext cx="8229600" cy="3487737"/>
          </a:xfrm>
        </p:spPr>
        <p:txBody>
          <a:bodyPr/>
          <a:p>
            <a:pPr marL="0" indent="390525"/>
            <a:r>
              <a:rPr lang="zh-CN" altLang="en-US" sz="3400" b="1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提供方便灵活的通用传送操作</a:t>
            </a:r>
            <a:endParaRPr lang="zh-CN" altLang="en-US" sz="3400" b="1" dirty="0">
              <a:solidFill>
                <a:srgbClr val="000099"/>
              </a:solidFill>
              <a:effectLst>
                <a:outerShdw blurRad="38100" dist="38100" dir="2700000">
                  <a:srgbClr val="C0C0C0"/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390525"/>
            <a:r>
              <a:rPr lang="zh-CN" altLang="en-US" sz="3400" b="1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有</a:t>
            </a:r>
            <a:r>
              <a:rPr lang="en-US" altLang="zh-CN" sz="3400" b="1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3400" b="1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条指令</a:t>
            </a:r>
            <a:endParaRPr lang="zh-CN" altLang="en-US" sz="3400" b="1" dirty="0">
              <a:solidFill>
                <a:srgbClr val="000099"/>
              </a:solidFill>
              <a:effectLst>
                <a:outerShdw blurRad="38100" dist="38100" dir="2700000">
                  <a:srgbClr val="C0C0C0"/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390525">
              <a:lnSpc>
                <a:spcPct val="130000"/>
              </a:lnSpc>
              <a:buNone/>
            </a:pPr>
            <a:r>
              <a:rPr lang="en-US" altLang="zh-CN" b="1">
                <a:solidFill>
                  <a:srgbClr val="0000FF"/>
                </a:solidFill>
              </a:rPr>
              <a:t>MOV</a:t>
            </a:r>
            <a:endParaRPr lang="en-US" altLang="zh-CN" b="1">
              <a:solidFill>
                <a:srgbClr val="0000FF"/>
              </a:solidFill>
            </a:endParaRPr>
          </a:p>
          <a:p>
            <a:pPr marL="0" indent="390525">
              <a:lnSpc>
                <a:spcPct val="130000"/>
              </a:lnSpc>
              <a:buNone/>
            </a:pPr>
            <a:r>
              <a:rPr lang="en-US" altLang="zh-CN" b="1">
                <a:solidFill>
                  <a:srgbClr val="0000FF"/>
                </a:solidFill>
              </a:rPr>
              <a:t>XCHG</a:t>
            </a:r>
            <a:endParaRPr lang="en-US" altLang="zh-CN" b="1">
              <a:solidFill>
                <a:srgbClr val="0000FF"/>
              </a:solidFill>
            </a:endParaRPr>
          </a:p>
          <a:p>
            <a:pPr marL="0" indent="390525">
              <a:lnSpc>
                <a:spcPct val="130000"/>
              </a:lnSpc>
              <a:buNone/>
            </a:pPr>
            <a:r>
              <a:rPr lang="en-US" altLang="zh-CN" b="1">
                <a:solidFill>
                  <a:srgbClr val="0000FF"/>
                </a:solidFill>
              </a:rPr>
              <a:t>XLAT</a:t>
            </a:r>
            <a:endParaRPr lang="en-US" altLang="zh-CN" b="1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 spd="med">
    <p:wheel spokes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标题 22529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en-US" altLang="zh-CN"/>
              <a:t> </a:t>
            </a:r>
            <a:r>
              <a:rPr lang="zh-CN" altLang="en-US" dirty="0"/>
              <a:t>传送指令</a:t>
            </a:r>
            <a:r>
              <a:rPr lang="en-US" altLang="zh-CN"/>
              <a:t>MOV</a:t>
            </a:r>
            <a:r>
              <a:rPr lang="zh-CN" altLang="en-US" sz="3000" b="0" dirty="0">
                <a:solidFill>
                  <a:schemeClr val="tx1"/>
                </a:solidFill>
              </a:rPr>
              <a:t>（</a:t>
            </a:r>
            <a:r>
              <a:rPr lang="en-US" altLang="zh-CN" sz="3000" b="0">
                <a:solidFill>
                  <a:schemeClr val="tx1"/>
                </a:solidFill>
              </a:rPr>
              <a:t>move</a:t>
            </a:r>
            <a:r>
              <a:rPr lang="zh-CN" altLang="en-US" sz="3000" b="0" dirty="0">
                <a:solidFill>
                  <a:schemeClr val="tx1"/>
                </a:solidFill>
              </a:rPr>
              <a:t>）</a:t>
            </a:r>
            <a:endParaRPr lang="zh-CN" altLang="en-US" sz="3000" b="0" dirty="0">
              <a:solidFill>
                <a:schemeClr val="tx1"/>
              </a:solidFill>
            </a:endParaRPr>
          </a:p>
        </p:txBody>
      </p:sp>
      <p:sp>
        <p:nvSpPr>
          <p:cNvPr id="22531" name="文本占位符 22530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8229600" cy="1066800"/>
          </a:xfrm>
        </p:spPr>
        <p:txBody>
          <a:bodyPr/>
          <a:p>
            <a:r>
              <a:rPr lang="zh-CN" altLang="en-US" sz="2600" b="1" dirty="0">
                <a:solidFill>
                  <a:srgbClr val="0000FF"/>
                </a:solidFill>
                <a:ea typeface="楷体" panose="02010609060101010101" pitchFamily="49" charset="-122"/>
              </a:rPr>
              <a:t>把一个字节或字的操作数从源地址传送至目的地址</a:t>
            </a:r>
            <a:endParaRPr lang="zh-CN" altLang="en-US" sz="2600" b="1" dirty="0">
              <a:solidFill>
                <a:srgbClr val="0000FF"/>
              </a:solidFill>
              <a:ea typeface="楷体" panose="02010609060101010101" pitchFamily="49" charset="-122"/>
            </a:endParaRPr>
          </a:p>
        </p:txBody>
      </p:sp>
      <p:sp>
        <p:nvSpPr>
          <p:cNvPr id="22532" name="流程图: 可选过程 22531"/>
          <p:cNvSpPr/>
          <p:nvPr/>
        </p:nvSpPr>
        <p:spPr>
          <a:xfrm>
            <a:off x="1171575" y="2424113"/>
            <a:ext cx="6856413" cy="1309687"/>
          </a:xfrm>
          <a:prstGeom prst="flowChartAlternateProcess">
            <a:avLst/>
          </a:prstGeom>
          <a:gradFill rotWithShape="0">
            <a:gsLst>
              <a:gs pos="0">
                <a:srgbClr val="CCECFF"/>
              </a:gs>
              <a:gs pos="100000">
                <a:srgbClr val="FFFFFF"/>
              </a:gs>
            </a:gsLst>
            <a:lin ang="5400000" scaled="1"/>
            <a:tileRect/>
          </a:gradFill>
          <a:ln w="12700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>
            <a:spAutoFit/>
          </a:bodyPr>
          <a:p>
            <a:pPr algn="l" defTabSz="914400">
              <a:tabLst>
                <a:tab pos="3141980" algn="l"/>
              </a:tabLst>
            </a:pPr>
            <a:r>
              <a:rPr lang="en-US" altLang="zh-CN" sz="3200" i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MOV </a:t>
            </a:r>
            <a:r>
              <a:rPr lang="en-US" altLang="zh-CN" sz="3200" i="0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reg/mem,imm</a:t>
            </a:r>
            <a:endParaRPr lang="en-US" altLang="zh-CN" sz="3200" i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r" defTabSz="914400">
              <a:tabLst>
                <a:tab pos="3141980" algn="l"/>
              </a:tabLst>
            </a:pPr>
            <a:r>
              <a:rPr lang="zh-CN" altLang="en-US" i="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；立即数送寄存器或主存</a:t>
            </a:r>
            <a:endParaRPr lang="zh-CN" altLang="en-US" i="0" dirty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533" name="文本框 22532">
            <a:hlinkClick r:id="rId1" action="ppaction://hlinksldjump"/>
          </p:cNvPr>
          <p:cNvSpPr txBox="1"/>
          <p:nvPr/>
        </p:nvSpPr>
        <p:spPr>
          <a:xfrm>
            <a:off x="6908800" y="2508250"/>
            <a:ext cx="1045845" cy="39878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  <a:effectLst>
            <a:outerShdw dist="35921" dir="2699999" algn="ctr" rotWithShape="0">
              <a:srgbClr val="808080"/>
            </a:outerShdw>
          </a:effectLst>
        </p:spPr>
        <p:txBody>
          <a:bodyPr wrap="none" anchor="t" anchorCtr="0">
            <a:spAutoFit/>
          </a:bodyPr>
          <a:p>
            <a:pPr algn="l">
              <a:spcBef>
                <a:spcPct val="0"/>
              </a:spcBef>
            </a:pPr>
            <a:r>
              <a:rPr lang="zh-CN" altLang="en-US" sz="2000" i="0" dirty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  <a:hlinkClick r:id="rId3" action="ppaction://hlinksldjump"/>
              </a:rPr>
              <a:t>例题</a:t>
            </a:r>
            <a:r>
              <a:rPr lang="en-US" altLang="zh-CN" sz="2000" i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  <a:hlinkClick r:id="rId3" action="ppaction://hlinksldjump"/>
              </a:rPr>
              <a:t>1</a:t>
            </a:r>
            <a:r>
              <a:rPr lang="en-US" altLang="zh-CN" sz="2000" i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  <a:hlinkClick r:id="rId3" action="ppaction://hlinksldjump"/>
              </a:rPr>
              <a:t>.1</a:t>
            </a:r>
            <a:endParaRPr lang="en-US" altLang="zh-CN" sz="2000" i="0">
              <a:solidFill>
                <a:srgbClr val="66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4" name="流程图: 可选过程 22533"/>
          <p:cNvSpPr/>
          <p:nvPr/>
        </p:nvSpPr>
        <p:spPr>
          <a:xfrm>
            <a:off x="1166813" y="3113088"/>
            <a:ext cx="6864350" cy="1408112"/>
          </a:xfrm>
          <a:prstGeom prst="flowChartAlternateProcess">
            <a:avLst/>
          </a:prstGeom>
          <a:gradFill rotWithShape="0">
            <a:gsLst>
              <a:gs pos="0">
                <a:srgbClr val="CCECFF"/>
              </a:gs>
              <a:gs pos="100000">
                <a:srgbClr val="FFFFFF"/>
              </a:gs>
            </a:gsLst>
            <a:lin ang="5400000" scaled="1"/>
            <a:tileRect/>
          </a:gradFill>
          <a:ln w="12700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>
            <a:spAutoFit/>
          </a:bodyPr>
          <a:p>
            <a:pPr algn="l" defTabSz="914400">
              <a:tabLst>
                <a:tab pos="3141980" algn="l"/>
              </a:tabLst>
            </a:pPr>
            <a:r>
              <a:rPr lang="en-US" altLang="zh-CN" sz="3200" i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MOV </a:t>
            </a:r>
            <a:r>
              <a:rPr lang="en-US" altLang="zh-CN" sz="3200" i="0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reg/mem/seg,reg</a:t>
            </a:r>
            <a:endParaRPr lang="en-US" altLang="zh-CN" sz="3200" i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defTabSz="914400">
              <a:tabLst>
                <a:tab pos="3141980" algn="l"/>
              </a:tabLst>
            </a:pPr>
            <a:r>
              <a:rPr lang="zh-CN" altLang="en-US" sz="3200" i="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；寄存器送（段）寄存器或主存</a:t>
            </a:r>
            <a:endParaRPr lang="zh-CN" altLang="en-US" sz="3200" i="0" dirty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535" name="文本框 22534" descr="画布">
            <a:hlinkClick r:id="rId4" action="ppaction://hlinksldjump"/>
          </p:cNvPr>
          <p:cNvSpPr txBox="1"/>
          <p:nvPr/>
        </p:nvSpPr>
        <p:spPr>
          <a:xfrm>
            <a:off x="6908800" y="3201988"/>
            <a:ext cx="1045845" cy="39878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  <a:effectLst>
            <a:outerShdw dist="35921" dir="2699999" algn="ctr" rotWithShape="0">
              <a:srgbClr val="808080"/>
            </a:outerShdw>
          </a:effectLst>
        </p:spPr>
        <p:txBody>
          <a:bodyPr wrap="none" anchor="t" anchorCtr="0">
            <a:spAutoFit/>
          </a:bodyPr>
          <a:p>
            <a:pPr algn="l">
              <a:spcBef>
                <a:spcPct val="0"/>
              </a:spcBef>
            </a:pPr>
            <a:r>
              <a:rPr lang="zh-CN" altLang="en-US" sz="2000" i="0" dirty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  <a:hlinkClick r:id="rId5" action="ppaction://hlinksldjump"/>
              </a:rPr>
              <a:t>例题</a:t>
            </a:r>
            <a:r>
              <a:rPr lang="en-US" altLang="zh-CN" sz="2000" i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  <a:hlinkClick r:id="rId5" action="ppaction://hlinksldjump"/>
              </a:rPr>
              <a:t>1</a:t>
            </a:r>
            <a:r>
              <a:rPr lang="en-US" altLang="zh-CN" sz="2000" i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  <a:hlinkClick r:id="rId5" action="ppaction://hlinksldjump"/>
              </a:rPr>
              <a:t>.2</a:t>
            </a:r>
            <a:endParaRPr lang="en-US" altLang="zh-CN" sz="2000" i="0">
              <a:solidFill>
                <a:srgbClr val="66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6" name="流程图: 可选过程 22535"/>
          <p:cNvSpPr/>
          <p:nvPr/>
        </p:nvSpPr>
        <p:spPr>
          <a:xfrm>
            <a:off x="1143000" y="3810000"/>
            <a:ext cx="6864350" cy="1408113"/>
          </a:xfrm>
          <a:prstGeom prst="flowChartAlternateProcess">
            <a:avLst/>
          </a:prstGeom>
          <a:gradFill rotWithShape="0">
            <a:gsLst>
              <a:gs pos="0">
                <a:srgbClr val="CCECFF"/>
              </a:gs>
              <a:gs pos="100000">
                <a:srgbClr val="FFFFFF"/>
              </a:gs>
            </a:gsLst>
            <a:lin ang="5400000" scaled="1"/>
            <a:tileRect/>
          </a:gradFill>
          <a:ln w="12700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>
            <a:spAutoFit/>
          </a:bodyPr>
          <a:p>
            <a:pPr algn="l" defTabSz="914400">
              <a:tabLst>
                <a:tab pos="3141980" algn="l"/>
              </a:tabLst>
            </a:pPr>
            <a:r>
              <a:rPr lang="en-US" altLang="zh-CN" sz="3200" i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MOV </a:t>
            </a:r>
            <a:r>
              <a:rPr lang="en-US" altLang="zh-CN" sz="3200" i="0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reg/seg,mem</a:t>
            </a:r>
            <a:endParaRPr lang="en-US" altLang="zh-CN" sz="3200" i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defTabSz="914400">
              <a:tabLst>
                <a:tab pos="3141980" algn="l"/>
              </a:tabLst>
            </a:pPr>
            <a:r>
              <a:rPr lang="zh-CN" altLang="en-US" sz="3200" i="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；主存送（段）寄存器</a:t>
            </a:r>
            <a:endParaRPr lang="zh-CN" altLang="en-US" sz="3200" i="0" dirty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537" name="文本框 22536" descr="画布">
            <a:hlinkClick r:id="rId6" action="ppaction://hlinksldjump"/>
          </p:cNvPr>
          <p:cNvSpPr txBox="1"/>
          <p:nvPr/>
        </p:nvSpPr>
        <p:spPr>
          <a:xfrm>
            <a:off x="6908800" y="3903663"/>
            <a:ext cx="1045845" cy="39878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  <a:effectLst>
            <a:outerShdw dist="35921" dir="2699999" algn="ctr" rotWithShape="0">
              <a:srgbClr val="808080"/>
            </a:outerShdw>
          </a:effectLst>
        </p:spPr>
        <p:txBody>
          <a:bodyPr wrap="none" anchor="t" anchorCtr="0">
            <a:spAutoFit/>
          </a:bodyPr>
          <a:p>
            <a:pPr algn="l">
              <a:spcBef>
                <a:spcPct val="0"/>
              </a:spcBef>
            </a:pPr>
            <a:r>
              <a:rPr lang="zh-CN" altLang="en-US" sz="2000" i="0" dirty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  <a:hlinkClick r:id="rId7" action="ppaction://hlinksldjump"/>
              </a:rPr>
              <a:t>例题</a:t>
            </a:r>
            <a:r>
              <a:rPr lang="en-US" altLang="zh-CN" sz="2000" i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  <a:hlinkClick r:id="rId7" action="ppaction://hlinksldjump"/>
              </a:rPr>
              <a:t>1</a:t>
            </a:r>
            <a:r>
              <a:rPr lang="en-US" altLang="zh-CN" sz="2000" i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  <a:hlinkClick r:id="rId7" action="ppaction://hlinksldjump"/>
              </a:rPr>
              <a:t>.3</a:t>
            </a:r>
            <a:endParaRPr lang="en-US" altLang="zh-CN" sz="2000" i="0">
              <a:solidFill>
                <a:srgbClr val="66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8" name="流程图: 可选过程 22537"/>
          <p:cNvSpPr/>
          <p:nvPr/>
        </p:nvSpPr>
        <p:spPr>
          <a:xfrm>
            <a:off x="1166813" y="4500563"/>
            <a:ext cx="6864350" cy="1408112"/>
          </a:xfrm>
          <a:prstGeom prst="flowChartAlternateProcess">
            <a:avLst/>
          </a:prstGeom>
          <a:gradFill rotWithShape="0">
            <a:gsLst>
              <a:gs pos="0">
                <a:srgbClr val="CCECFF"/>
              </a:gs>
              <a:gs pos="100000">
                <a:srgbClr val="FFFFFF"/>
              </a:gs>
            </a:gsLst>
            <a:lin ang="5400000" scaled="1"/>
            <a:tileRect/>
          </a:gradFill>
          <a:ln w="12700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>
            <a:spAutoFit/>
          </a:bodyPr>
          <a:p>
            <a:pPr algn="l" defTabSz="914400">
              <a:tabLst>
                <a:tab pos="3141980" algn="l"/>
              </a:tabLst>
            </a:pPr>
            <a:r>
              <a:rPr lang="en-US" altLang="zh-CN" sz="3200" i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MOV </a:t>
            </a:r>
            <a:r>
              <a:rPr lang="en-US" altLang="zh-CN" sz="3200" i="0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reg/mem,seg</a:t>
            </a:r>
            <a:endParaRPr lang="en-US" altLang="zh-CN" sz="3200" i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defTabSz="914400">
              <a:tabLst>
                <a:tab pos="3141980" algn="l"/>
              </a:tabLst>
            </a:pPr>
            <a:r>
              <a:rPr lang="zh-CN" altLang="en-US" sz="3200" i="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；段寄存器送寄存器或主存</a:t>
            </a:r>
            <a:endParaRPr lang="zh-CN" altLang="en-US" sz="3200" i="0" dirty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539" name="文本框 22538" descr="画布">
            <a:hlinkClick r:id="rId8" action="ppaction://hlinksldjump"/>
          </p:cNvPr>
          <p:cNvSpPr txBox="1"/>
          <p:nvPr/>
        </p:nvSpPr>
        <p:spPr>
          <a:xfrm>
            <a:off x="6908800" y="4589463"/>
            <a:ext cx="1045845" cy="39878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  <a:effectLst>
            <a:outerShdw dist="35921" dir="2699999" algn="ctr" rotWithShape="0">
              <a:srgbClr val="808080"/>
            </a:outerShdw>
          </a:effectLst>
        </p:spPr>
        <p:txBody>
          <a:bodyPr wrap="none" anchor="t" anchorCtr="0">
            <a:spAutoFit/>
          </a:bodyPr>
          <a:p>
            <a:pPr algn="l">
              <a:spcBef>
                <a:spcPct val="0"/>
              </a:spcBef>
            </a:pPr>
            <a:r>
              <a:rPr lang="zh-CN" altLang="en-US" sz="2000" i="0" dirty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  <a:hlinkClick r:id="rId9" action="ppaction://hlinksldjump"/>
              </a:rPr>
              <a:t>例题</a:t>
            </a:r>
            <a:r>
              <a:rPr lang="en-US" altLang="zh-CN" sz="2000" i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  <a:hlinkClick r:id="rId9" action="ppaction://hlinksldjump"/>
              </a:rPr>
              <a:t>1.4</a:t>
            </a:r>
            <a:endParaRPr lang="en-US" altLang="zh-CN" sz="2000" i="0">
              <a:solidFill>
                <a:srgbClr val="66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0" dur="5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2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2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 animBg="1"/>
      <p:bldP spid="22533" grpId="0" bldLvl="0" animBg="1"/>
      <p:bldP spid="22534" grpId="0" animBg="1"/>
      <p:bldP spid="22535" grpId="0" bldLvl="0" animBg="1"/>
      <p:bldP spid="22536" grpId="0" animBg="1"/>
      <p:bldP spid="22537" grpId="0" bldLvl="0" animBg="1"/>
      <p:bldP spid="22538" grpId="0" animBg="1"/>
      <p:bldP spid="22539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60" name="标题 23559"/>
          <p:cNvSpPr>
            <a:spLocks noGrp="1"/>
          </p:cNvSpPr>
          <p:nvPr>
            <p:ph type="title"/>
          </p:nvPr>
        </p:nvSpPr>
        <p:spPr>
          <a:xfrm>
            <a:off x="609600" y="990600"/>
            <a:ext cx="3810000" cy="609600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zh-CN" altLang="en-US" sz="3000" b="0" dirty="0">
                <a:solidFill>
                  <a:schemeClr val="tx1"/>
                </a:solidFill>
              </a:rPr>
              <a:t>例</a:t>
            </a:r>
            <a:r>
              <a:rPr lang="en-US" altLang="zh-CN" sz="3000" b="0">
                <a:solidFill>
                  <a:schemeClr val="tx1"/>
                </a:solidFill>
              </a:rPr>
              <a:t>1</a:t>
            </a:r>
            <a:r>
              <a:rPr lang="en-US" altLang="zh-CN" sz="3000" b="0">
                <a:solidFill>
                  <a:schemeClr val="tx1"/>
                </a:solidFill>
              </a:rPr>
              <a:t>.1</a:t>
            </a:r>
            <a:r>
              <a:rPr lang="zh-CN" altLang="en-US" sz="3000" b="0" dirty="0">
                <a:solidFill>
                  <a:schemeClr val="tx1"/>
                </a:solidFill>
              </a:rPr>
              <a:t>：立即数传送</a:t>
            </a:r>
            <a:endParaRPr lang="zh-CN" altLang="en-US" sz="3000" b="0" dirty="0">
              <a:solidFill>
                <a:schemeClr val="tx1"/>
              </a:solidFill>
            </a:endParaRPr>
          </a:p>
        </p:txBody>
      </p:sp>
      <p:sp>
        <p:nvSpPr>
          <p:cNvPr id="23561" name="文本占位符 23560"/>
          <p:cNvSpPr>
            <a:spLocks noGrp="1"/>
          </p:cNvSpPr>
          <p:nvPr>
            <p:ph type="body" idx="1"/>
          </p:nvPr>
        </p:nvSpPr>
        <p:spPr>
          <a:xfrm>
            <a:off x="152400" y="1828800"/>
            <a:ext cx="8534400" cy="3797300"/>
          </a:xfrm>
          <a:solidFill>
            <a:schemeClr val="bg1"/>
          </a:solidFill>
        </p:spPr>
        <p:txBody>
          <a:bodyPr/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sz="2600" b="1" err="1">
                <a:solidFill>
                  <a:srgbClr val="008000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 b="1">
                <a:solidFill>
                  <a:srgbClr val="008000"/>
                </a:solidFill>
                <a:latin typeface="宋体" panose="02010600030101010101" pitchFamily="2" charset="-122"/>
              </a:rPr>
              <a:t> al,4</a:t>
            </a:r>
            <a:r>
              <a:rPr lang="en-US" altLang="zh-CN" sz="2600" b="1">
                <a:solidFill>
                  <a:schemeClr val="accent2"/>
                </a:solidFill>
                <a:latin typeface="宋体" panose="02010600030101010101" pitchFamily="2" charset="-122"/>
              </a:rPr>
              <a:t>	    </a:t>
            </a:r>
            <a:r>
              <a:rPr lang="zh-CN" altLang="en-US" sz="2600" b="1" dirty="0">
                <a:latin typeface="宋体" panose="02010600030101010101" pitchFamily="2" charset="-122"/>
              </a:rPr>
              <a:t>；</a:t>
            </a:r>
            <a:r>
              <a:rPr lang="en-US" altLang="zh-CN" sz="2600" b="1">
                <a:latin typeface="宋体" panose="02010600030101010101" pitchFamily="2" charset="-122"/>
              </a:rPr>
              <a:t>al←4</a:t>
            </a:r>
            <a:r>
              <a:rPr lang="zh-CN" altLang="en-US" sz="2600" b="1" dirty="0">
                <a:latin typeface="宋体" panose="02010600030101010101" pitchFamily="2" charset="-122"/>
              </a:rPr>
              <a:t>，字节传送</a:t>
            </a:r>
            <a:endParaRPr lang="zh-CN" altLang="en-US" sz="2600" b="1" dirty="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sz="2600" b="1" err="1">
                <a:solidFill>
                  <a:srgbClr val="008000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 b="1">
                <a:solidFill>
                  <a:srgbClr val="008000"/>
                </a:solidFill>
                <a:latin typeface="宋体" panose="02010600030101010101" pitchFamily="2" charset="-122"/>
              </a:rPr>
              <a:t> cx,</a:t>
            </a:r>
            <a:r>
              <a:rPr lang="en-US" altLang="zh-CN" sz="2600" b="1">
                <a:solidFill>
                  <a:srgbClr val="0000FF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600" b="1">
                <a:solidFill>
                  <a:srgbClr val="008000"/>
                </a:solidFill>
                <a:latin typeface="宋体" panose="02010600030101010101" pitchFamily="2" charset="-122"/>
              </a:rPr>
              <a:t>ffh</a:t>
            </a:r>
            <a:r>
              <a:rPr lang="en-US" altLang="zh-CN" sz="2600" b="1">
                <a:solidFill>
                  <a:schemeClr val="accent2"/>
                </a:solidFill>
                <a:latin typeface="宋体" panose="02010600030101010101" pitchFamily="2" charset="-122"/>
              </a:rPr>
              <a:t>	    </a:t>
            </a:r>
            <a:r>
              <a:rPr lang="zh-CN" altLang="en-US" sz="2600" b="1" dirty="0">
                <a:latin typeface="宋体" panose="02010600030101010101" pitchFamily="2" charset="-122"/>
              </a:rPr>
              <a:t>；</a:t>
            </a:r>
            <a:r>
              <a:rPr lang="en-US" altLang="zh-CN" sz="2600" b="1">
                <a:latin typeface="宋体" panose="02010600030101010101" pitchFamily="2" charset="-122"/>
              </a:rPr>
              <a:t>cx←00ffh</a:t>
            </a:r>
            <a:r>
              <a:rPr lang="zh-CN" altLang="en-US" sz="2600" b="1" dirty="0">
                <a:latin typeface="宋体" panose="02010600030101010101" pitchFamily="2" charset="-122"/>
              </a:rPr>
              <a:t>，字传送</a:t>
            </a:r>
            <a:endParaRPr lang="zh-CN" altLang="en-US" sz="2600" b="1" dirty="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sz="2600" b="1" err="1">
                <a:solidFill>
                  <a:srgbClr val="008000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 b="1">
                <a:solidFill>
                  <a:srgbClr val="008000"/>
                </a:solidFill>
                <a:latin typeface="宋体" panose="02010600030101010101" pitchFamily="2" charset="-122"/>
              </a:rPr>
              <a:t> si,200h</a:t>
            </a:r>
            <a:r>
              <a:rPr lang="en-US" altLang="zh-CN" sz="2600" b="1">
                <a:solidFill>
                  <a:schemeClr val="accent2"/>
                </a:solidFill>
                <a:latin typeface="宋体" panose="02010600030101010101" pitchFamily="2" charset="-122"/>
              </a:rPr>
              <a:t>	    </a:t>
            </a:r>
            <a:r>
              <a:rPr lang="zh-CN" altLang="en-US" sz="2600" b="1" dirty="0">
                <a:latin typeface="宋体" panose="02010600030101010101" pitchFamily="2" charset="-122"/>
              </a:rPr>
              <a:t>；</a:t>
            </a:r>
            <a:r>
              <a:rPr lang="en-US" altLang="zh-CN" sz="2600" b="1">
                <a:latin typeface="宋体" panose="02010600030101010101" pitchFamily="2" charset="-122"/>
              </a:rPr>
              <a:t>si←0200h</a:t>
            </a:r>
            <a:r>
              <a:rPr lang="zh-CN" altLang="en-US" sz="2600" b="1" dirty="0">
                <a:latin typeface="宋体" panose="02010600030101010101" pitchFamily="2" charset="-122"/>
              </a:rPr>
              <a:t>，字传送</a:t>
            </a:r>
            <a:endParaRPr lang="zh-CN" altLang="en-US" sz="2600" b="1" dirty="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sz="2600" b="1" err="1">
                <a:solidFill>
                  <a:srgbClr val="008000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 b="1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600" b="1">
                <a:solidFill>
                  <a:schemeClr val="tx2"/>
                </a:solidFill>
                <a:latin typeface="宋体" panose="02010600030101010101" pitchFamily="2" charset="-122"/>
              </a:rPr>
              <a:t>byte </a:t>
            </a:r>
            <a:r>
              <a:rPr lang="en-US" altLang="zh-CN" sz="2600" b="1" err="1">
                <a:solidFill>
                  <a:schemeClr val="tx2"/>
                </a:solidFill>
                <a:latin typeface="宋体" panose="02010600030101010101" pitchFamily="2" charset="-122"/>
              </a:rPr>
              <a:t>ptr</a:t>
            </a:r>
            <a:r>
              <a:rPr lang="en-US" altLang="zh-CN" sz="2600" b="1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600" b="1">
                <a:solidFill>
                  <a:srgbClr val="008000"/>
                </a:solidFill>
                <a:latin typeface="宋体" panose="02010600030101010101" pitchFamily="2" charset="-122"/>
              </a:rPr>
              <a:t>[si],</a:t>
            </a:r>
            <a:r>
              <a:rPr lang="en-US" altLang="zh-CN" sz="2600" b="1">
                <a:solidFill>
                  <a:schemeClr val="tx2"/>
                </a:solidFill>
                <a:latin typeface="宋体" panose="02010600030101010101" pitchFamily="2" charset="-122"/>
              </a:rPr>
              <a:t>0ah </a:t>
            </a:r>
            <a:r>
              <a:rPr lang="zh-CN" altLang="en-US" sz="2600" b="1" dirty="0">
                <a:latin typeface="宋体" panose="02010600030101010101" pitchFamily="2" charset="-122"/>
              </a:rPr>
              <a:t>；</a:t>
            </a:r>
            <a:r>
              <a:rPr lang="en-US" altLang="zh-CN" sz="2600" b="1">
                <a:latin typeface="宋体" panose="02010600030101010101" pitchFamily="2" charset="-122"/>
              </a:rPr>
              <a:t>byte </a:t>
            </a:r>
            <a:r>
              <a:rPr lang="en-US" altLang="zh-CN" sz="2600" b="1" err="1">
                <a:latin typeface="宋体" panose="02010600030101010101" pitchFamily="2" charset="-122"/>
              </a:rPr>
              <a:t>ptr</a:t>
            </a:r>
            <a:r>
              <a:rPr lang="en-US" altLang="zh-CN" sz="2600" b="1">
                <a:latin typeface="宋体" panose="02010600030101010101" pitchFamily="2" charset="-122"/>
              </a:rPr>
              <a:t> </a:t>
            </a:r>
            <a:r>
              <a:rPr lang="zh-CN" altLang="en-US" sz="2600" b="1" dirty="0">
                <a:latin typeface="宋体" panose="02010600030101010101" pitchFamily="2" charset="-122"/>
              </a:rPr>
              <a:t>说明是字节操作</a:t>
            </a:r>
            <a:endParaRPr lang="zh-CN" altLang="en-US" sz="2600" b="1" dirty="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sz="2600" b="1" err="1">
                <a:solidFill>
                  <a:srgbClr val="008000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 b="1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600" b="1">
                <a:solidFill>
                  <a:schemeClr val="tx2"/>
                </a:solidFill>
                <a:latin typeface="宋体" panose="02010600030101010101" pitchFamily="2" charset="-122"/>
              </a:rPr>
              <a:t>word </a:t>
            </a:r>
            <a:r>
              <a:rPr lang="en-US" altLang="zh-CN" sz="2600" b="1" err="1">
                <a:solidFill>
                  <a:schemeClr val="tx2"/>
                </a:solidFill>
                <a:latin typeface="宋体" panose="02010600030101010101" pitchFamily="2" charset="-122"/>
              </a:rPr>
              <a:t>ptr</a:t>
            </a:r>
            <a:r>
              <a:rPr lang="en-US" altLang="zh-CN" sz="2600" b="1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600" b="1">
                <a:solidFill>
                  <a:srgbClr val="008000"/>
                </a:solidFill>
                <a:latin typeface="宋体" panose="02010600030101010101" pitchFamily="2" charset="-122"/>
              </a:rPr>
              <a:t>[si+2],</a:t>
            </a:r>
            <a:r>
              <a:rPr lang="en-US" altLang="zh-CN" sz="2600" b="1">
                <a:solidFill>
                  <a:schemeClr val="tx2"/>
                </a:solidFill>
                <a:latin typeface="宋体" panose="02010600030101010101" pitchFamily="2" charset="-122"/>
              </a:rPr>
              <a:t>0bh </a:t>
            </a:r>
            <a:r>
              <a:rPr lang="zh-CN" altLang="en-US" sz="2600" b="1" dirty="0">
                <a:latin typeface="宋体" panose="02010600030101010101" pitchFamily="2" charset="-122"/>
              </a:rPr>
              <a:t>；</a:t>
            </a:r>
            <a:r>
              <a:rPr lang="en-US" altLang="zh-CN" sz="2600" b="1">
                <a:latin typeface="宋体" panose="02010600030101010101" pitchFamily="2" charset="-122"/>
              </a:rPr>
              <a:t>word </a:t>
            </a:r>
            <a:r>
              <a:rPr lang="en-US" altLang="zh-CN" sz="2600" b="1" err="1">
                <a:latin typeface="宋体" panose="02010600030101010101" pitchFamily="2" charset="-122"/>
              </a:rPr>
              <a:t>ptr</a:t>
            </a:r>
            <a:r>
              <a:rPr lang="en-US" altLang="zh-CN" sz="2600" b="1">
                <a:latin typeface="宋体" panose="02010600030101010101" pitchFamily="2" charset="-122"/>
              </a:rPr>
              <a:t> </a:t>
            </a:r>
            <a:r>
              <a:rPr lang="zh-CN" altLang="en-US" sz="2600" b="1" dirty="0">
                <a:latin typeface="宋体" panose="02010600030101010101" pitchFamily="2" charset="-122"/>
              </a:rPr>
              <a:t>说明是字操作</a:t>
            </a:r>
            <a:endParaRPr lang="zh-CN" altLang="en-US" sz="2600" b="1" dirty="0">
              <a:latin typeface="宋体" panose="02010600030101010101" pitchFamily="2" charset="-122"/>
            </a:endParaRPr>
          </a:p>
        </p:txBody>
      </p:sp>
      <p:sp>
        <p:nvSpPr>
          <p:cNvPr id="23562" name="圆角矩形 23561" descr="画布"/>
          <p:cNvSpPr/>
          <p:nvPr/>
        </p:nvSpPr>
        <p:spPr>
          <a:xfrm>
            <a:off x="990600" y="4648200"/>
            <a:ext cx="6661150" cy="1123950"/>
          </a:xfrm>
          <a:prstGeom prst="roundRect">
            <a:avLst>
              <a:gd name="adj" fmla="val 16667"/>
            </a:avLst>
          </a:prstGeom>
          <a:blipFill rotWithShape="0">
            <a:blip r:embed="rId1"/>
          </a:blipFill>
          <a:ln w="9525">
            <a:noFill/>
          </a:ln>
        </p:spPr>
        <p:txBody>
          <a:bodyPr anchor="ctr" anchorCtr="0"/>
          <a:p>
            <a:pPr>
              <a:spcBef>
                <a:spcPct val="0"/>
              </a:spcBef>
              <a:buBlip>
                <a:blip r:embed="rId2"/>
              </a:buBlip>
            </a:pPr>
            <a:r>
              <a:rPr lang="en-US" altLang="zh-CN" sz="3200" i="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3200" i="0" dirty="0">
                <a:latin typeface="Arial" panose="020B0604020202020204" pitchFamily="34" charset="0"/>
                <a:ea typeface="宋体" panose="02010600030101010101" pitchFamily="2" charset="-122"/>
              </a:rPr>
              <a:t>注意立即数是字节量还是字量</a:t>
            </a:r>
            <a:endParaRPr lang="zh-CN" altLang="en-US" sz="3200" i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Blip>
                <a:blip r:embed="rId2"/>
              </a:buBlip>
            </a:pPr>
            <a:r>
              <a:rPr lang="zh-CN" altLang="en-US" sz="3200" i="0" dirty="0">
                <a:latin typeface="Arial" panose="020B0604020202020204" pitchFamily="34" charset="0"/>
                <a:ea typeface="宋体" panose="02010600030101010101" pitchFamily="2" charset="-122"/>
              </a:rPr>
              <a:t> 明确指令是字节操作还是字操作</a:t>
            </a:r>
            <a:endParaRPr lang="zh-CN" altLang="en-US" sz="3200" i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右弧形箭头 3">
            <a:hlinkClick r:id="rId3" action="ppaction://hlinksldjump"/>
          </p:cNvPr>
          <p:cNvSpPr/>
          <p:nvPr/>
        </p:nvSpPr>
        <p:spPr>
          <a:xfrm>
            <a:off x="8305800" y="5867400"/>
            <a:ext cx="457200" cy="685800"/>
          </a:xfrm>
          <a:prstGeom prst="curvedLeftArrow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 advClick="0"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84" name="标题 24583"/>
          <p:cNvSpPr>
            <a:spLocks noGrp="1"/>
          </p:cNvSpPr>
          <p:nvPr>
            <p:ph type="title"/>
          </p:nvPr>
        </p:nvSpPr>
        <p:spPr>
          <a:xfrm>
            <a:off x="914400" y="914400"/>
            <a:ext cx="3886200" cy="685800"/>
          </a:xfrm>
          <a:prstGeom prst="flowChartAlternateProcess">
            <a:avLst/>
          </a:prstGeom>
          <a:ln w="28575">
            <a:solidFill>
              <a:schemeClr val="accent1">
                <a:alpha val="100000"/>
              </a:schemeClr>
            </a:solidFill>
            <a:miter lim="800000"/>
          </a:ln>
        </p:spPr>
        <p:txBody>
          <a:bodyPr vert="horz" wrap="square" lIns="91440" tIns="45720" rIns="91440" bIns="45720" anchor="b" anchorCtr="0"/>
          <a:p>
            <a:pPr>
              <a:lnSpc>
                <a:spcPct val="90000"/>
              </a:lnSpc>
            </a:pPr>
            <a:r>
              <a:rPr lang="zh-CN" altLang="en-US" sz="3000" b="0" dirty="0">
                <a:solidFill>
                  <a:schemeClr val="tx1"/>
                </a:solidFill>
              </a:rPr>
              <a:t>例</a:t>
            </a:r>
            <a:r>
              <a:rPr lang="en-US" altLang="zh-CN" sz="3000" b="0">
                <a:solidFill>
                  <a:schemeClr val="tx1"/>
                </a:solidFill>
              </a:rPr>
              <a:t>1</a:t>
            </a:r>
            <a:r>
              <a:rPr lang="en-US" altLang="zh-CN" sz="3000" b="0">
                <a:solidFill>
                  <a:schemeClr val="tx1"/>
                </a:solidFill>
              </a:rPr>
              <a:t>.2</a:t>
            </a:r>
            <a:r>
              <a:rPr lang="zh-CN" altLang="en-US" sz="3000" b="0" dirty="0">
                <a:solidFill>
                  <a:schemeClr val="tx1"/>
                </a:solidFill>
              </a:rPr>
              <a:t>：寄存器传送</a:t>
            </a:r>
            <a:endParaRPr lang="zh-CN" altLang="en-US" sz="3000" b="0" dirty="0">
              <a:solidFill>
                <a:schemeClr val="tx1"/>
              </a:solidFill>
            </a:endParaRPr>
          </a:p>
        </p:txBody>
      </p:sp>
      <p:sp>
        <p:nvSpPr>
          <p:cNvPr id="24585" name="文本占位符 24584"/>
          <p:cNvSpPr>
            <a:spLocks noGrp="1"/>
          </p:cNvSpPr>
          <p:nvPr>
            <p:ph type="body" idx="1"/>
          </p:nvPr>
        </p:nvSpPr>
        <p:spPr>
          <a:xfrm>
            <a:off x="749300" y="2041525"/>
            <a:ext cx="7648575" cy="3797300"/>
          </a:xfrm>
          <a:solidFill>
            <a:schemeClr val="bg1"/>
          </a:solidFill>
        </p:spPr>
        <p:txBody>
          <a:bodyPr/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b="1" err="1">
                <a:solidFill>
                  <a:srgbClr val="008000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b="1">
                <a:solidFill>
                  <a:srgbClr val="008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err="1">
                <a:solidFill>
                  <a:srgbClr val="008000"/>
                </a:solidFill>
                <a:latin typeface="宋体" panose="02010600030101010101" pitchFamily="2" charset="-122"/>
              </a:rPr>
              <a:t>ax,bx</a:t>
            </a:r>
            <a:r>
              <a:rPr lang="en-US" altLang="zh-CN" b="1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b="1" dirty="0">
                <a:latin typeface="宋体" panose="02010600030101010101" pitchFamily="2" charset="-122"/>
              </a:rPr>
              <a:t>；</a:t>
            </a:r>
            <a:r>
              <a:rPr lang="en-US" altLang="zh-CN" b="1" err="1">
                <a:latin typeface="宋体" panose="02010600030101010101" pitchFamily="2" charset="-122"/>
              </a:rPr>
              <a:t>ax←bx</a:t>
            </a:r>
            <a:r>
              <a:rPr lang="zh-CN" altLang="en-US" b="1" dirty="0">
                <a:latin typeface="宋体" panose="02010600030101010101" pitchFamily="2" charset="-122"/>
              </a:rPr>
              <a:t>，字传送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b="1" err="1">
                <a:solidFill>
                  <a:srgbClr val="008000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b="1">
                <a:solidFill>
                  <a:srgbClr val="008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err="1">
                <a:solidFill>
                  <a:srgbClr val="008000"/>
                </a:solidFill>
                <a:latin typeface="宋体" panose="02010600030101010101" pitchFamily="2" charset="-122"/>
              </a:rPr>
              <a:t>ah,al</a:t>
            </a:r>
            <a:r>
              <a:rPr lang="en-US" altLang="zh-CN" b="1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b="1" dirty="0">
                <a:latin typeface="宋体" panose="02010600030101010101" pitchFamily="2" charset="-122"/>
              </a:rPr>
              <a:t>；</a:t>
            </a:r>
            <a:r>
              <a:rPr lang="en-US" altLang="zh-CN" b="1" err="1">
                <a:latin typeface="宋体" panose="02010600030101010101" pitchFamily="2" charset="-122"/>
              </a:rPr>
              <a:t>ah←al</a:t>
            </a:r>
            <a:r>
              <a:rPr lang="zh-CN" altLang="en-US" b="1" dirty="0">
                <a:latin typeface="宋体" panose="02010600030101010101" pitchFamily="2" charset="-122"/>
              </a:rPr>
              <a:t>，字节传送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b="1" err="1">
                <a:solidFill>
                  <a:srgbClr val="008000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b="1">
                <a:solidFill>
                  <a:srgbClr val="008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err="1">
                <a:solidFill>
                  <a:srgbClr val="008000"/>
                </a:solidFill>
                <a:latin typeface="宋体" panose="02010600030101010101" pitchFamily="2" charset="-122"/>
              </a:rPr>
              <a:t>ds,ax</a:t>
            </a:r>
            <a:r>
              <a:rPr lang="en-US" altLang="zh-CN" b="1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b="1" dirty="0">
                <a:latin typeface="宋体" panose="02010600030101010101" pitchFamily="2" charset="-122"/>
              </a:rPr>
              <a:t>；</a:t>
            </a:r>
            <a:r>
              <a:rPr lang="en-US" altLang="zh-CN" b="1" err="1">
                <a:latin typeface="宋体" panose="02010600030101010101" pitchFamily="2" charset="-122"/>
              </a:rPr>
              <a:t>ds←ax</a:t>
            </a:r>
            <a:r>
              <a:rPr lang="zh-CN" altLang="en-US" b="1" dirty="0">
                <a:latin typeface="宋体" panose="02010600030101010101" pitchFamily="2" charset="-122"/>
              </a:rPr>
              <a:t>，字传送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b="1" err="1">
                <a:solidFill>
                  <a:srgbClr val="008000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b="1">
                <a:solidFill>
                  <a:srgbClr val="008000"/>
                </a:solidFill>
                <a:latin typeface="宋体" panose="02010600030101010101" pitchFamily="2" charset="-122"/>
              </a:rPr>
              <a:t> [</a:t>
            </a:r>
            <a:r>
              <a:rPr lang="en-US" altLang="zh-CN" b="1" err="1">
                <a:solidFill>
                  <a:srgbClr val="008000"/>
                </a:solidFill>
                <a:latin typeface="宋体" panose="02010600030101010101" pitchFamily="2" charset="-122"/>
              </a:rPr>
              <a:t>bx],al</a:t>
            </a:r>
            <a:r>
              <a:rPr lang="en-US" altLang="zh-CN" b="1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b="1" dirty="0">
                <a:latin typeface="宋体" panose="02010600030101010101" pitchFamily="2" charset="-122"/>
              </a:rPr>
              <a:t>；</a:t>
            </a:r>
            <a:r>
              <a:rPr lang="en-US" altLang="zh-CN" b="1">
                <a:latin typeface="宋体" panose="02010600030101010101" pitchFamily="2" charset="-122"/>
              </a:rPr>
              <a:t>[</a:t>
            </a:r>
            <a:r>
              <a:rPr lang="en-US" altLang="zh-CN" b="1" err="1">
                <a:latin typeface="宋体" panose="02010600030101010101" pitchFamily="2" charset="-122"/>
              </a:rPr>
              <a:t>bx]←al</a:t>
            </a:r>
            <a:r>
              <a:rPr lang="zh-CN" altLang="en-US" b="1" dirty="0">
                <a:latin typeface="宋体" panose="02010600030101010101" pitchFamily="2" charset="-122"/>
              </a:rPr>
              <a:t>，字节传送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4" name="右弧形箭头 3">
            <a:hlinkClick r:id="rId1" action="ppaction://hlinksldjump"/>
          </p:cNvPr>
          <p:cNvSpPr/>
          <p:nvPr/>
        </p:nvSpPr>
        <p:spPr>
          <a:xfrm>
            <a:off x="8305800" y="5867400"/>
            <a:ext cx="457200" cy="685800"/>
          </a:xfrm>
          <a:prstGeom prst="curvedLeftArrow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 advClick="0"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8" name="标题 25607"/>
          <p:cNvSpPr>
            <a:spLocks noGrp="1"/>
          </p:cNvSpPr>
          <p:nvPr>
            <p:ph type="title"/>
          </p:nvPr>
        </p:nvSpPr>
        <p:spPr>
          <a:xfrm>
            <a:off x="990600" y="1143000"/>
            <a:ext cx="3962400" cy="685800"/>
          </a:xfrm>
          <a:prstGeom prst="flowChartAlternateProcess">
            <a:avLst/>
          </a:prstGeom>
          <a:ln w="28575">
            <a:solidFill>
              <a:schemeClr val="accent1">
                <a:alpha val="100000"/>
              </a:schemeClr>
            </a:solidFill>
            <a:miter lim="800000"/>
          </a:ln>
        </p:spPr>
        <p:txBody>
          <a:bodyPr vert="horz" wrap="square" lIns="91440" tIns="45720" rIns="91440" bIns="45720" anchor="b" anchorCtr="0"/>
          <a:p>
            <a:pPr>
              <a:lnSpc>
                <a:spcPct val="90000"/>
              </a:lnSpc>
            </a:pPr>
            <a:r>
              <a:rPr lang="zh-CN" altLang="en-US" sz="3000" b="0" dirty="0">
                <a:solidFill>
                  <a:schemeClr val="tx1"/>
                </a:solidFill>
              </a:rPr>
              <a:t>例</a:t>
            </a:r>
            <a:r>
              <a:rPr lang="en-US" altLang="zh-CN" sz="3000" b="0">
                <a:solidFill>
                  <a:schemeClr val="tx1"/>
                </a:solidFill>
              </a:rPr>
              <a:t>1</a:t>
            </a:r>
            <a:r>
              <a:rPr lang="en-US" altLang="zh-CN" sz="3000" b="0">
                <a:solidFill>
                  <a:schemeClr val="tx1"/>
                </a:solidFill>
              </a:rPr>
              <a:t>.3</a:t>
            </a:r>
            <a:r>
              <a:rPr lang="zh-CN" altLang="en-US" sz="3000" b="0" dirty="0">
                <a:solidFill>
                  <a:schemeClr val="tx1"/>
                </a:solidFill>
              </a:rPr>
              <a:t>：存储器传送</a:t>
            </a:r>
            <a:endParaRPr lang="zh-CN" altLang="en-US" sz="3000" b="0" dirty="0">
              <a:solidFill>
                <a:schemeClr val="tx1"/>
              </a:solidFill>
            </a:endParaRPr>
          </a:p>
        </p:txBody>
      </p:sp>
      <p:sp>
        <p:nvSpPr>
          <p:cNvPr id="25609" name="文本占位符 25608"/>
          <p:cNvSpPr>
            <a:spLocks noGrp="1"/>
          </p:cNvSpPr>
          <p:nvPr>
            <p:ph type="body" idx="1"/>
          </p:nvPr>
        </p:nvSpPr>
        <p:spPr>
          <a:xfrm>
            <a:off x="762000" y="2057400"/>
            <a:ext cx="7648575" cy="3797300"/>
          </a:xfrm>
          <a:solidFill>
            <a:schemeClr val="bg1"/>
          </a:solidFill>
        </p:spPr>
        <p:txBody>
          <a:bodyPr/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b="1" err="1">
                <a:solidFill>
                  <a:srgbClr val="008000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b="1">
                <a:solidFill>
                  <a:srgbClr val="008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err="1">
                <a:solidFill>
                  <a:srgbClr val="008000"/>
                </a:solidFill>
                <a:latin typeface="宋体" panose="02010600030101010101" pitchFamily="2" charset="-122"/>
              </a:rPr>
              <a:t>al,[bx</a:t>
            </a:r>
            <a:r>
              <a:rPr lang="en-US" altLang="zh-CN" b="1">
                <a:solidFill>
                  <a:srgbClr val="008000"/>
                </a:solidFill>
                <a:latin typeface="宋体" panose="02010600030101010101" pitchFamily="2" charset="-122"/>
              </a:rPr>
              <a:t>]</a:t>
            </a:r>
            <a:endParaRPr lang="en-US" altLang="zh-CN" b="1">
              <a:solidFill>
                <a:srgbClr val="008000"/>
              </a:solidFill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b="1" err="1">
                <a:solidFill>
                  <a:srgbClr val="008000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b="1">
                <a:solidFill>
                  <a:srgbClr val="008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err="1">
                <a:solidFill>
                  <a:srgbClr val="008000"/>
                </a:solidFill>
                <a:latin typeface="宋体" panose="02010600030101010101" pitchFamily="2" charset="-122"/>
              </a:rPr>
              <a:t>dx,[bp</a:t>
            </a:r>
            <a:r>
              <a:rPr lang="en-US" altLang="zh-CN" b="1">
                <a:solidFill>
                  <a:srgbClr val="008000"/>
                </a:solidFill>
                <a:latin typeface="宋体" panose="02010600030101010101" pitchFamily="2" charset="-122"/>
              </a:rPr>
              <a:t>]</a:t>
            </a:r>
            <a:r>
              <a:rPr lang="en-US" altLang="zh-CN" b="1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b="1" dirty="0">
                <a:latin typeface="宋体" panose="02010600030101010101" pitchFamily="2" charset="-122"/>
              </a:rPr>
              <a:t>；</a:t>
            </a:r>
            <a:r>
              <a:rPr lang="en-US" altLang="zh-CN" b="1" err="1">
                <a:latin typeface="宋体" panose="02010600030101010101" pitchFamily="2" charset="-122"/>
              </a:rPr>
              <a:t>dx←ss:[bp</a:t>
            </a:r>
            <a:r>
              <a:rPr lang="en-US" altLang="zh-CN" b="1">
                <a:latin typeface="宋体" panose="02010600030101010101" pitchFamily="2" charset="-122"/>
              </a:rPr>
              <a:t>]</a:t>
            </a:r>
            <a:endParaRPr lang="en-US" altLang="zh-CN" b="1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b="1" err="1">
                <a:solidFill>
                  <a:srgbClr val="008000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b="1">
                <a:solidFill>
                  <a:srgbClr val="008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err="1">
                <a:solidFill>
                  <a:srgbClr val="008000"/>
                </a:solidFill>
                <a:latin typeface="宋体" panose="02010600030101010101" pitchFamily="2" charset="-122"/>
              </a:rPr>
              <a:t>es,[si</a:t>
            </a:r>
            <a:r>
              <a:rPr lang="en-US" altLang="zh-CN" b="1">
                <a:solidFill>
                  <a:srgbClr val="008000"/>
                </a:solidFill>
                <a:latin typeface="宋体" panose="02010600030101010101" pitchFamily="2" charset="-122"/>
              </a:rPr>
              <a:t>]</a:t>
            </a:r>
            <a:r>
              <a:rPr lang="en-US" altLang="zh-CN" b="1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b="1" dirty="0">
                <a:latin typeface="宋体" panose="02010600030101010101" pitchFamily="2" charset="-122"/>
              </a:rPr>
              <a:t>；</a:t>
            </a:r>
            <a:r>
              <a:rPr lang="en-US" altLang="zh-CN" b="1" err="1">
                <a:latin typeface="宋体" panose="02010600030101010101" pitchFamily="2" charset="-122"/>
              </a:rPr>
              <a:t>es←ds:[si</a:t>
            </a:r>
            <a:r>
              <a:rPr lang="en-US" altLang="zh-CN" b="1">
                <a:latin typeface="宋体" panose="02010600030101010101" pitchFamily="2" charset="-122"/>
              </a:rPr>
              <a:t>]</a:t>
            </a:r>
            <a:endParaRPr lang="en-US" altLang="zh-CN" b="1">
              <a:latin typeface="宋体" panose="02010600030101010101" pitchFamily="2" charset="-122"/>
            </a:endParaRPr>
          </a:p>
        </p:txBody>
      </p:sp>
      <p:sp>
        <p:nvSpPr>
          <p:cNvPr id="25610" name="圆角矩形 25609" descr="画布"/>
          <p:cNvSpPr/>
          <p:nvPr/>
        </p:nvSpPr>
        <p:spPr>
          <a:xfrm>
            <a:off x="1187450" y="4724400"/>
            <a:ext cx="7086600" cy="838200"/>
          </a:xfrm>
          <a:prstGeom prst="roundRect">
            <a:avLst>
              <a:gd name="adj" fmla="val 16667"/>
            </a:avLst>
          </a:prstGeom>
          <a:blipFill rotWithShape="0">
            <a:blip r:embed="rId1"/>
          </a:blipFill>
          <a:ln w="9525">
            <a:noFill/>
          </a:ln>
        </p:spPr>
        <p:txBody>
          <a:bodyPr anchor="ctr" anchorCtr="0"/>
          <a:p>
            <a:pPr>
              <a:spcBef>
                <a:spcPct val="0"/>
              </a:spcBef>
              <a:buBlip>
                <a:blip r:embed="rId2"/>
              </a:buBlip>
            </a:pPr>
            <a:r>
              <a:rPr lang="en-US" altLang="zh-CN" sz="3200" i="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3200" i="0" dirty="0">
                <a:latin typeface="Arial" panose="020B0604020202020204" pitchFamily="34" charset="0"/>
                <a:ea typeface="宋体" panose="02010600030101010101" pitchFamily="2" charset="-122"/>
              </a:rPr>
              <a:t>不存在存储器向存储器的传送指令</a:t>
            </a:r>
            <a:endParaRPr lang="zh-CN" altLang="en-US" sz="3200" i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右弧形箭头 3">
            <a:hlinkClick r:id="rId3" action="ppaction://hlinksldjump"/>
          </p:cNvPr>
          <p:cNvSpPr/>
          <p:nvPr/>
        </p:nvSpPr>
        <p:spPr>
          <a:xfrm>
            <a:off x="8305800" y="5867400"/>
            <a:ext cx="457200" cy="685800"/>
          </a:xfrm>
          <a:prstGeom prst="curvedLeftArrow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 advClick="0"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32" name="标题 26631"/>
          <p:cNvSpPr>
            <a:spLocks noGrp="1"/>
          </p:cNvSpPr>
          <p:nvPr>
            <p:ph type="title"/>
          </p:nvPr>
        </p:nvSpPr>
        <p:spPr>
          <a:xfrm>
            <a:off x="1219200" y="1066800"/>
            <a:ext cx="4114800" cy="685800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zh-CN" altLang="en-US" sz="3000" b="0" dirty="0">
                <a:solidFill>
                  <a:schemeClr val="tx1"/>
                </a:solidFill>
              </a:rPr>
              <a:t>例</a:t>
            </a:r>
            <a:r>
              <a:rPr lang="en-US" altLang="zh-CN" sz="3000" b="0">
                <a:solidFill>
                  <a:schemeClr val="tx1"/>
                </a:solidFill>
              </a:rPr>
              <a:t>1</a:t>
            </a:r>
            <a:r>
              <a:rPr lang="en-US" altLang="zh-CN" sz="3000" b="0">
                <a:solidFill>
                  <a:schemeClr val="tx1"/>
                </a:solidFill>
              </a:rPr>
              <a:t>.4</a:t>
            </a:r>
            <a:r>
              <a:rPr lang="zh-CN" altLang="en-US" sz="3000" b="0" dirty="0">
                <a:solidFill>
                  <a:schemeClr val="tx1"/>
                </a:solidFill>
              </a:rPr>
              <a:t>：段寄存器传送</a:t>
            </a:r>
            <a:endParaRPr lang="zh-CN" altLang="en-US" sz="3000" b="0" dirty="0">
              <a:solidFill>
                <a:schemeClr val="tx1"/>
              </a:solidFill>
            </a:endParaRPr>
          </a:p>
        </p:txBody>
      </p:sp>
      <p:sp>
        <p:nvSpPr>
          <p:cNvPr id="26633" name="文本占位符 26632"/>
          <p:cNvSpPr>
            <a:spLocks noGrp="1"/>
          </p:cNvSpPr>
          <p:nvPr>
            <p:ph type="body" idx="1"/>
          </p:nvPr>
        </p:nvSpPr>
        <p:spPr>
          <a:xfrm>
            <a:off x="762000" y="2057400"/>
            <a:ext cx="7648575" cy="3797300"/>
          </a:xfrm>
          <a:solidFill>
            <a:schemeClr val="bg1"/>
          </a:solidFill>
        </p:spPr>
        <p:txBody>
          <a:bodyPr/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b="1" err="1">
                <a:solidFill>
                  <a:srgbClr val="008000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b="1">
                <a:solidFill>
                  <a:srgbClr val="008000"/>
                </a:solidFill>
                <a:latin typeface="宋体" panose="02010600030101010101" pitchFamily="2" charset="-122"/>
              </a:rPr>
              <a:t> [</a:t>
            </a:r>
            <a:r>
              <a:rPr lang="en-US" altLang="zh-CN" b="1" err="1">
                <a:solidFill>
                  <a:srgbClr val="008000"/>
                </a:solidFill>
                <a:latin typeface="宋体" panose="02010600030101010101" pitchFamily="2" charset="-122"/>
              </a:rPr>
              <a:t>si],ds</a:t>
            </a:r>
            <a:endParaRPr lang="en-US" altLang="zh-CN" b="1">
              <a:solidFill>
                <a:srgbClr val="008000"/>
              </a:solidFill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b="1" err="1">
                <a:solidFill>
                  <a:srgbClr val="008000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b="1">
                <a:solidFill>
                  <a:srgbClr val="008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err="1">
                <a:solidFill>
                  <a:srgbClr val="008000"/>
                </a:solidFill>
                <a:latin typeface="宋体" panose="02010600030101010101" pitchFamily="2" charset="-122"/>
              </a:rPr>
              <a:t>ax,es</a:t>
            </a:r>
            <a:r>
              <a:rPr lang="en-US" altLang="zh-CN" b="1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b="1" dirty="0">
                <a:latin typeface="宋体" panose="02010600030101010101" pitchFamily="2" charset="-122"/>
              </a:rPr>
              <a:t>；</a:t>
            </a:r>
            <a:r>
              <a:rPr lang="en-US" altLang="zh-CN" b="1" err="1">
                <a:latin typeface="宋体" panose="02010600030101010101" pitchFamily="2" charset="-122"/>
              </a:rPr>
              <a:t>ax←es</a:t>
            </a:r>
            <a:endParaRPr lang="en-US" altLang="zh-CN" b="1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b="1" err="1">
                <a:solidFill>
                  <a:srgbClr val="008000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b="1">
                <a:solidFill>
                  <a:srgbClr val="008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err="1">
                <a:solidFill>
                  <a:srgbClr val="008000"/>
                </a:solidFill>
                <a:latin typeface="宋体" panose="02010600030101010101" pitchFamily="2" charset="-122"/>
              </a:rPr>
              <a:t>ds,ax</a:t>
            </a:r>
            <a:r>
              <a:rPr lang="en-US" altLang="zh-CN" b="1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b="1" dirty="0">
                <a:latin typeface="宋体" panose="02010600030101010101" pitchFamily="2" charset="-122"/>
              </a:rPr>
              <a:t>；</a:t>
            </a:r>
            <a:r>
              <a:rPr lang="en-US" altLang="zh-CN" b="1" err="1">
                <a:latin typeface="宋体" panose="02010600030101010101" pitchFamily="2" charset="-122"/>
              </a:rPr>
              <a:t>ds←ax←es</a:t>
            </a:r>
            <a:endParaRPr lang="en-US" altLang="zh-CN" b="1">
              <a:latin typeface="宋体" panose="02010600030101010101" pitchFamily="2" charset="-122"/>
            </a:endParaRPr>
          </a:p>
        </p:txBody>
      </p:sp>
      <p:sp>
        <p:nvSpPr>
          <p:cNvPr id="26634" name="圆角矩形 26633" descr="画布"/>
          <p:cNvSpPr/>
          <p:nvPr/>
        </p:nvSpPr>
        <p:spPr>
          <a:xfrm>
            <a:off x="1295400" y="4724400"/>
            <a:ext cx="6324600" cy="914400"/>
          </a:xfrm>
          <a:prstGeom prst="roundRect">
            <a:avLst>
              <a:gd name="adj" fmla="val 16667"/>
            </a:avLst>
          </a:prstGeom>
          <a:blipFill rotWithShape="0">
            <a:blip r:embed="rId1"/>
          </a:blipFill>
          <a:ln w="9525">
            <a:noFill/>
          </a:ln>
        </p:spPr>
        <p:txBody>
          <a:bodyPr anchor="ctr" anchorCtr="0"/>
          <a:p>
            <a:pPr>
              <a:spcBef>
                <a:spcPct val="0"/>
              </a:spcBef>
              <a:buBlip>
                <a:blip r:embed="rId2"/>
              </a:buBlip>
            </a:pPr>
            <a:r>
              <a:rPr lang="en-US" altLang="zh-CN" sz="3200" i="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3200" i="0" dirty="0">
                <a:latin typeface="Arial" panose="020B0604020202020204" pitchFamily="34" charset="0"/>
                <a:ea typeface="宋体" panose="02010600030101010101" pitchFamily="2" charset="-122"/>
              </a:rPr>
              <a:t>对段寄存器的操作有一些限制</a:t>
            </a:r>
            <a:endParaRPr lang="zh-CN" altLang="en-US" sz="3200" i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右弧形箭头 3">
            <a:hlinkClick r:id="rId3" action="ppaction://hlinksldjump"/>
          </p:cNvPr>
          <p:cNvSpPr/>
          <p:nvPr/>
        </p:nvSpPr>
        <p:spPr>
          <a:xfrm>
            <a:off x="8305800" y="5867400"/>
            <a:ext cx="457200" cy="685800"/>
          </a:xfrm>
          <a:prstGeom prst="curvedLeftArrow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 advClick="0"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标题 27649"/>
          <p:cNvSpPr>
            <a:spLocks noGrp="1"/>
          </p:cNvSpPr>
          <p:nvPr>
            <p:ph type="title"/>
          </p:nvPr>
        </p:nvSpPr>
        <p:spPr>
          <a:xfrm>
            <a:off x="304800" y="457200"/>
            <a:ext cx="7543800" cy="731838"/>
          </a:xfrm>
        </p:spPr>
        <p:txBody>
          <a:bodyPr anchor="b" anchorCtr="0"/>
          <a:p>
            <a:r>
              <a:rPr lang="en-US" altLang="zh-CN"/>
              <a:t>MOV</a:t>
            </a:r>
            <a:r>
              <a:rPr lang="zh-CN" altLang="en-US" dirty="0"/>
              <a:t>指令传送功能</a:t>
            </a:r>
            <a:endParaRPr lang="zh-CN" altLang="en-US" dirty="0"/>
          </a:p>
        </p:txBody>
      </p:sp>
      <p:sp>
        <p:nvSpPr>
          <p:cNvPr id="27651" name="文本占位符 27650" descr="画布"/>
          <p:cNvSpPr>
            <a:spLocks noGrp="1"/>
          </p:cNvSpPr>
          <p:nvPr>
            <p:ph type="body" idx="1"/>
          </p:nvPr>
        </p:nvSpPr>
        <p:spPr>
          <a:xfrm>
            <a:off x="1600200" y="5791200"/>
            <a:ext cx="3962400" cy="685800"/>
          </a:xfrm>
          <a:blipFill rotWithShape="0">
            <a:blip r:embed="rId1"/>
          </a:blipFill>
        </p:spPr>
        <p:txBody>
          <a:bodyPr vert="horz" wrap="square" lIns="91440" tIns="45720" rIns="91440" bIns="45720" anchor="ctr" anchorCtr="0"/>
          <a:p>
            <a:pPr marL="0" indent="0" algn="just">
              <a:spcBef>
                <a:spcPct val="0"/>
              </a:spcBef>
              <a:buClrTx/>
              <a:buSzTx/>
              <a:buFontTx/>
              <a:buBlip>
                <a:blip r:embed="rId2"/>
              </a:buBlip>
            </a:pPr>
            <a:r>
              <a:rPr lang="en-US" altLang="zh-CN" sz="32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MOV</a:t>
            </a: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并非任意传送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27652" name="组合 27651"/>
          <p:cNvGrpSpPr/>
          <p:nvPr/>
        </p:nvGrpSpPr>
        <p:grpSpPr>
          <a:xfrm>
            <a:off x="1143000" y="1447800"/>
            <a:ext cx="6424613" cy="4144963"/>
            <a:chOff x="1056" y="864"/>
            <a:chExt cx="3256" cy="2336"/>
          </a:xfrm>
        </p:grpSpPr>
        <p:sp>
          <p:nvSpPr>
            <p:cNvPr id="27653" name="矩形 27652"/>
            <p:cNvSpPr/>
            <p:nvPr/>
          </p:nvSpPr>
          <p:spPr>
            <a:xfrm>
              <a:off x="1795" y="864"/>
              <a:ext cx="786" cy="353"/>
            </a:xfrm>
            <a:prstGeom prst="rect">
              <a:avLst/>
            </a:prstGeom>
            <a:noFill/>
            <a:ln w="3810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54" name="矩形 27653"/>
            <p:cNvSpPr/>
            <p:nvPr/>
          </p:nvSpPr>
          <p:spPr>
            <a:xfrm>
              <a:off x="1056" y="1453"/>
              <a:ext cx="337" cy="802"/>
            </a:xfrm>
            <a:prstGeom prst="rect">
              <a:avLst/>
            </a:prstGeom>
            <a:noFill/>
            <a:ln w="3810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55" name="矩形 27654"/>
            <p:cNvSpPr/>
            <p:nvPr/>
          </p:nvSpPr>
          <p:spPr>
            <a:xfrm>
              <a:off x="2852" y="1453"/>
              <a:ext cx="1235" cy="802"/>
            </a:xfrm>
            <a:prstGeom prst="rect">
              <a:avLst/>
            </a:prstGeom>
            <a:noFill/>
            <a:ln w="3810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56" name="矩形 27655"/>
            <p:cNvSpPr/>
            <p:nvPr/>
          </p:nvSpPr>
          <p:spPr>
            <a:xfrm>
              <a:off x="1617" y="2587"/>
              <a:ext cx="1235" cy="613"/>
            </a:xfrm>
            <a:prstGeom prst="rect">
              <a:avLst/>
            </a:prstGeom>
            <a:noFill/>
            <a:ln w="3810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57" name="直接连接符 27656"/>
            <p:cNvSpPr/>
            <p:nvPr/>
          </p:nvSpPr>
          <p:spPr>
            <a:xfrm>
              <a:off x="1954" y="1229"/>
              <a:ext cx="0" cy="319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58" name="直接连接符 27657"/>
            <p:cNvSpPr/>
            <p:nvPr/>
          </p:nvSpPr>
          <p:spPr>
            <a:xfrm flipH="1">
              <a:off x="1393" y="1548"/>
              <a:ext cx="561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sm" len="lg"/>
              <a:tailEnd type="stealth" w="med" len="lg"/>
            </a:ln>
          </p:spPr>
        </p:sp>
        <p:sp>
          <p:nvSpPr>
            <p:cNvPr id="27659" name="直接连接符 27658"/>
            <p:cNvSpPr/>
            <p:nvPr/>
          </p:nvSpPr>
          <p:spPr>
            <a:xfrm>
              <a:off x="1393" y="1785"/>
              <a:ext cx="1459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stealth" w="med" len="lg"/>
              <a:tailEnd type="stealth" w="med" len="lg"/>
            </a:ln>
          </p:spPr>
        </p:sp>
        <p:sp>
          <p:nvSpPr>
            <p:cNvPr id="27660" name="直接连接符 27659"/>
            <p:cNvSpPr/>
            <p:nvPr/>
          </p:nvSpPr>
          <p:spPr>
            <a:xfrm flipH="1">
              <a:off x="1393" y="2019"/>
              <a:ext cx="561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sm" len="lg"/>
              <a:tailEnd type="stealth" w="med" len="lg"/>
            </a:ln>
          </p:spPr>
        </p:sp>
        <p:sp>
          <p:nvSpPr>
            <p:cNvPr id="27661" name="直接连接符 27660"/>
            <p:cNvSpPr/>
            <p:nvPr/>
          </p:nvSpPr>
          <p:spPr>
            <a:xfrm>
              <a:off x="2403" y="1229"/>
              <a:ext cx="0" cy="319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2" name="直接连接符 27661"/>
            <p:cNvSpPr/>
            <p:nvPr/>
          </p:nvSpPr>
          <p:spPr>
            <a:xfrm>
              <a:off x="2403" y="1548"/>
              <a:ext cx="449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sm" len="lg"/>
              <a:tailEnd type="stealth" w="med" len="lg"/>
            </a:ln>
          </p:spPr>
        </p:sp>
        <p:sp>
          <p:nvSpPr>
            <p:cNvPr id="27663" name="直接连接符 27662"/>
            <p:cNvSpPr/>
            <p:nvPr/>
          </p:nvSpPr>
          <p:spPr>
            <a:xfrm>
              <a:off x="1954" y="2020"/>
              <a:ext cx="0" cy="588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sm" len="lg"/>
              <a:tailEnd type="stealth" w="med" len="lg"/>
            </a:ln>
          </p:spPr>
        </p:sp>
        <p:sp>
          <p:nvSpPr>
            <p:cNvPr id="27664" name="直接连接符 27663"/>
            <p:cNvSpPr/>
            <p:nvPr/>
          </p:nvSpPr>
          <p:spPr>
            <a:xfrm>
              <a:off x="2403" y="2019"/>
              <a:ext cx="449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27665" name="直接连接符 27664"/>
            <p:cNvSpPr/>
            <p:nvPr/>
          </p:nvSpPr>
          <p:spPr>
            <a:xfrm>
              <a:off x="4087" y="1548"/>
              <a:ext cx="225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stealth" w="med" len="lg"/>
              <a:tailEnd type="none" w="med" len="med"/>
            </a:ln>
          </p:spPr>
        </p:sp>
        <p:sp>
          <p:nvSpPr>
            <p:cNvPr id="27666" name="直接连接符 27665"/>
            <p:cNvSpPr/>
            <p:nvPr/>
          </p:nvSpPr>
          <p:spPr>
            <a:xfrm>
              <a:off x="4087" y="2019"/>
              <a:ext cx="225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stealth" w="med" len="lg"/>
              <a:tailEnd type="none" w="med" len="med"/>
            </a:ln>
          </p:spPr>
        </p:sp>
        <p:sp>
          <p:nvSpPr>
            <p:cNvPr id="27667" name="直接连接符 27666"/>
            <p:cNvSpPr/>
            <p:nvPr/>
          </p:nvSpPr>
          <p:spPr>
            <a:xfrm>
              <a:off x="4303" y="1548"/>
              <a:ext cx="0" cy="471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8" name="直接连接符 27667"/>
            <p:cNvSpPr/>
            <p:nvPr/>
          </p:nvSpPr>
          <p:spPr>
            <a:xfrm>
              <a:off x="2403" y="2020"/>
              <a:ext cx="0" cy="588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sm" len="lg"/>
              <a:tailEnd type="stealth" w="med" len="lg"/>
            </a:ln>
          </p:spPr>
        </p:sp>
        <p:sp>
          <p:nvSpPr>
            <p:cNvPr id="27669" name="文本框 27668"/>
            <p:cNvSpPr txBox="1"/>
            <p:nvPr/>
          </p:nvSpPr>
          <p:spPr>
            <a:xfrm>
              <a:off x="1824" y="864"/>
              <a:ext cx="698" cy="293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p>
              <a:pPr algn="l" eaLnBrk="0" hangingPunct="0"/>
              <a:r>
                <a:rPr lang="zh-CN" altLang="en-US" i="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立即数</a:t>
              </a:r>
              <a:endParaRPr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7670" name="文本框 27669"/>
            <p:cNvSpPr txBox="1"/>
            <p:nvPr/>
          </p:nvSpPr>
          <p:spPr>
            <a:xfrm>
              <a:off x="1632" y="2592"/>
              <a:ext cx="1201" cy="55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p>
              <a:pPr algn="l" eaLnBrk="0" hangingPunct="0"/>
              <a:r>
                <a:rPr lang="zh-CN" altLang="en-US" i="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段寄存器</a:t>
              </a:r>
              <a:endParaRPr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algn="l" eaLnBrk="0" hangingPunct="0">
                <a:lnSpc>
                  <a:spcPct val="60000"/>
                </a:lnSpc>
              </a:pPr>
              <a:r>
                <a:rPr lang="en-US" altLang="zh-CN" i="0">
                  <a:solidFill>
                    <a:srgbClr val="008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CS DS ES SS</a:t>
              </a:r>
              <a:endParaRPr lang="en-US" altLang="zh-CN" i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7671" name="文本框 27670"/>
            <p:cNvSpPr txBox="1"/>
            <p:nvPr/>
          </p:nvSpPr>
          <p:spPr>
            <a:xfrm>
              <a:off x="2862" y="1488"/>
              <a:ext cx="1218" cy="775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p>
              <a:pPr algn="l" eaLnBrk="0" hangingPunct="0"/>
              <a:r>
                <a:rPr lang="zh-CN" altLang="en-US" i="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通用寄存器</a:t>
              </a:r>
              <a:endParaRPr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algn="l" eaLnBrk="0" hangingPunct="0">
                <a:lnSpc>
                  <a:spcPct val="50000"/>
                </a:lnSpc>
              </a:pPr>
              <a:r>
                <a:rPr lang="en-US" altLang="zh-CN" i="0">
                  <a:solidFill>
                    <a:srgbClr val="008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AX BX CX DX</a:t>
              </a:r>
              <a:endParaRPr lang="en-US" altLang="zh-CN" i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l" eaLnBrk="0" hangingPunct="0">
                <a:lnSpc>
                  <a:spcPct val="50000"/>
                </a:lnSpc>
              </a:pPr>
              <a:r>
                <a:rPr lang="en-US" altLang="zh-CN" i="0">
                  <a:solidFill>
                    <a:srgbClr val="008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BP SP SI DI</a:t>
              </a:r>
              <a:endParaRPr lang="en-US" altLang="zh-CN" i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7672" name="文本框 27671"/>
            <p:cNvSpPr txBox="1"/>
            <p:nvPr/>
          </p:nvSpPr>
          <p:spPr>
            <a:xfrm>
              <a:off x="1056" y="1497"/>
              <a:ext cx="271" cy="726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p>
              <a:pPr algn="l" eaLnBrk="0" hangingPunct="0">
                <a:lnSpc>
                  <a:spcPct val="60000"/>
                </a:lnSpc>
              </a:pPr>
              <a:r>
                <a:rPr lang="zh-CN" altLang="en-US" i="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存</a:t>
              </a:r>
              <a:endParaRPr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algn="l" eaLnBrk="0" hangingPunct="0">
                <a:lnSpc>
                  <a:spcPct val="60000"/>
                </a:lnSpc>
              </a:pPr>
              <a:r>
                <a:rPr lang="zh-CN" altLang="en-US" i="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储</a:t>
              </a:r>
              <a:endParaRPr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algn="l" eaLnBrk="0" hangingPunct="0">
                <a:lnSpc>
                  <a:spcPct val="60000"/>
                </a:lnSpc>
              </a:pPr>
              <a:r>
                <a:rPr lang="zh-CN" altLang="en-US" i="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器</a:t>
              </a:r>
              <a:endParaRPr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1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1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标题 28673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>
                <a:solidFill>
                  <a:srgbClr val="FF0000"/>
                </a:solidFill>
              </a:rPr>
              <a:t>常见的非法传送错误：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8675" name="文本占位符 28674"/>
          <p:cNvSpPr>
            <a:spLocks noGrp="1"/>
          </p:cNvSpPr>
          <p:nvPr>
            <p:ph type="body" idx="1"/>
          </p:nvPr>
        </p:nvSpPr>
        <p:spPr>
          <a:xfrm>
            <a:off x="228600" y="1524000"/>
            <a:ext cx="8229600" cy="4411663"/>
          </a:xfrm>
        </p:spPr>
        <p:txBody>
          <a:bodyPr/>
          <a:p>
            <a:r>
              <a:rPr lang="zh-CN" altLang="en-US" sz="2800" b="1" dirty="0">
                <a:solidFill>
                  <a:srgbClr val="0000FF"/>
                </a:solidFill>
                <a:ea typeface="楷体" panose="02010609060101010101" pitchFamily="49" charset="-122"/>
              </a:rPr>
              <a:t>两个操作数的类型不一致</a:t>
            </a:r>
            <a:endParaRPr lang="zh-CN" altLang="en-US" sz="2800" b="1" dirty="0">
              <a:solidFill>
                <a:srgbClr val="0000FF"/>
              </a:solidFill>
              <a:ea typeface="楷体" panose="02010609060101010101" pitchFamily="49" charset="-122"/>
            </a:endParaRPr>
          </a:p>
          <a:p>
            <a:pPr lvl="1"/>
            <a:r>
              <a:rPr lang="zh-CN" altLang="en-US" sz="2800" dirty="0">
                <a:ea typeface="楷体" panose="02010609060101010101" pitchFamily="49" charset="-122"/>
              </a:rPr>
              <a:t>例如源操作数是字节，而目的操作数是字；或相反</a:t>
            </a:r>
            <a:endParaRPr lang="zh-CN" altLang="en-US" sz="2800" dirty="0">
              <a:ea typeface="楷体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000FF"/>
                </a:solidFill>
                <a:ea typeface="楷体" panose="02010609060101010101" pitchFamily="49" charset="-122"/>
              </a:rPr>
              <a:t>两个操作数不能都是存储器</a:t>
            </a:r>
            <a:endParaRPr lang="zh-CN" altLang="en-US" sz="2800" b="1" dirty="0">
              <a:solidFill>
                <a:srgbClr val="0000FF"/>
              </a:solidFill>
              <a:ea typeface="楷体" panose="02010609060101010101" pitchFamily="49" charset="-122"/>
            </a:endParaRPr>
          </a:p>
          <a:p>
            <a:pPr lvl="1"/>
            <a:r>
              <a:rPr lang="zh-CN" altLang="en-US" sz="2800" dirty="0">
                <a:ea typeface="楷体" panose="02010609060101010101" pitchFamily="49" charset="-122"/>
              </a:rPr>
              <a:t>传送指令很灵活，但主存之间的直接传送却不允许</a:t>
            </a:r>
            <a:endParaRPr lang="zh-CN" altLang="en-US" sz="2800" dirty="0">
              <a:ea typeface="楷体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000FF"/>
                </a:solidFill>
                <a:ea typeface="楷体" panose="02010609060101010101" pitchFamily="49" charset="-122"/>
              </a:rPr>
              <a:t>段寄存器的操作有一些限制</a:t>
            </a:r>
            <a:endParaRPr lang="zh-CN" altLang="en-US" sz="2800" b="1" dirty="0">
              <a:solidFill>
                <a:srgbClr val="0000FF"/>
              </a:solidFill>
              <a:ea typeface="楷体" panose="02010609060101010101" pitchFamily="49" charset="-122"/>
            </a:endParaRPr>
          </a:p>
          <a:p>
            <a:pPr lvl="1"/>
            <a:r>
              <a:rPr lang="zh-CN" altLang="en-US" sz="2800" dirty="0">
                <a:ea typeface="楷体" panose="02010609060101010101" pitchFamily="49" charset="-122"/>
              </a:rPr>
              <a:t>段寄存器属专用寄存器，对他们的操作能力有限</a:t>
            </a:r>
            <a:endParaRPr lang="zh-CN" altLang="en-US" sz="2800" dirty="0">
              <a:ea typeface="楷体" panose="02010609060101010101" pitchFamily="49" charset="-122"/>
            </a:endParaRPr>
          </a:p>
        </p:txBody>
      </p:sp>
      <p:sp>
        <p:nvSpPr>
          <p:cNvPr id="28676" name="圆角矩形 28675">
            <a:hlinkClick r:id="rId1" action="ppaction://hlinksldjump"/>
          </p:cNvPr>
          <p:cNvSpPr/>
          <p:nvPr/>
        </p:nvSpPr>
        <p:spPr>
          <a:xfrm>
            <a:off x="1828800" y="2590800"/>
            <a:ext cx="857250" cy="39687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algn="ctr">
              <a:lnSpc>
                <a:spcPct val="70000"/>
              </a:lnSpc>
              <a:spcBef>
                <a:spcPct val="0"/>
              </a:spcBef>
            </a:pPr>
            <a:r>
              <a:rPr lang="zh-CN" altLang="en-US" sz="2000" i="0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hlinkClick r:id="rId1" action="ppaction://hlinksldjump"/>
              </a:rPr>
              <a:t>示例</a:t>
            </a:r>
            <a:endParaRPr lang="zh-CN" altLang="en-US" sz="2000" i="0" dirty="0">
              <a:solidFill>
                <a:schemeClr val="tx1"/>
              </a:solidFill>
              <a:effectLst>
                <a:outerShdw blurRad="38100" dist="38100" dir="2700000">
                  <a:srgbClr val="FFFFFF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677" name="圆角矩形 28676">
            <a:hlinkClick r:id="rId2" action="ppaction://hlinksldjump"/>
          </p:cNvPr>
          <p:cNvSpPr/>
          <p:nvPr/>
        </p:nvSpPr>
        <p:spPr>
          <a:xfrm>
            <a:off x="1905000" y="4038600"/>
            <a:ext cx="785813" cy="36036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algn="ctr">
              <a:lnSpc>
                <a:spcPct val="70000"/>
              </a:lnSpc>
              <a:spcBef>
                <a:spcPct val="0"/>
              </a:spcBef>
            </a:pPr>
            <a:r>
              <a:rPr lang="zh-CN" altLang="en-US" sz="2000" i="0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hlinkClick r:id="rId2" action="ppaction://hlinksldjump"/>
              </a:rPr>
              <a:t>示例</a:t>
            </a:r>
            <a:endParaRPr lang="zh-CN" altLang="en-US" sz="2000" i="0" dirty="0">
              <a:solidFill>
                <a:schemeClr val="tx1"/>
              </a:solidFill>
              <a:effectLst>
                <a:outerShdw blurRad="38100" dist="38100" dir="2700000">
                  <a:srgbClr val="FFFFFF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678" name="圆角矩形 28677">
            <a:hlinkClick r:id="rId3" action="ppaction://hlinksldjump"/>
          </p:cNvPr>
          <p:cNvSpPr/>
          <p:nvPr/>
        </p:nvSpPr>
        <p:spPr>
          <a:xfrm>
            <a:off x="1905000" y="5486400"/>
            <a:ext cx="785813" cy="36988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algn="ctr">
              <a:lnSpc>
                <a:spcPct val="70000"/>
              </a:lnSpc>
              <a:spcBef>
                <a:spcPct val="0"/>
              </a:spcBef>
            </a:pPr>
            <a:r>
              <a:rPr lang="zh-CN" altLang="en-US" sz="2000" i="0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hlinkClick r:id="rId3" action="ppaction://hlinksldjump"/>
              </a:rPr>
              <a:t>示例</a:t>
            </a:r>
            <a:endParaRPr lang="zh-CN" altLang="en-US" sz="2000" i="0" dirty="0">
              <a:solidFill>
                <a:schemeClr val="tx1"/>
              </a:solidFill>
              <a:effectLst>
                <a:outerShdw blurRad="38100" dist="38100" dir="2700000">
                  <a:srgbClr val="FFFFFF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标题 29697"/>
          <p:cNvSpPr>
            <a:spLocks noGrp="1"/>
          </p:cNvSpPr>
          <p:nvPr>
            <p:ph type="title"/>
          </p:nvPr>
        </p:nvSpPr>
        <p:spPr>
          <a:xfrm>
            <a:off x="457200" y="122238"/>
            <a:ext cx="7467600" cy="1295400"/>
          </a:xfrm>
        </p:spPr>
        <p:txBody>
          <a:bodyPr anchor="b" anchorCtr="0"/>
          <a:p>
            <a:r>
              <a:rPr lang="zh-CN" altLang="en-US" sz="3300" dirty="0"/>
              <a:t>常见错误</a:t>
            </a:r>
            <a:r>
              <a:rPr lang="en-US" altLang="zh-CN" sz="3300"/>
              <a:t>1</a:t>
            </a:r>
            <a:r>
              <a:rPr lang="zh-CN" altLang="en-US" sz="3300" dirty="0"/>
              <a:t>：两个操作数的类型要一致</a:t>
            </a:r>
            <a:endParaRPr lang="zh-CN" altLang="en-US" sz="3300" dirty="0"/>
          </a:p>
        </p:txBody>
      </p:sp>
      <p:sp>
        <p:nvSpPr>
          <p:cNvPr id="29699" name="文本占位符 29698"/>
          <p:cNvSpPr>
            <a:spLocks noGrp="1"/>
          </p:cNvSpPr>
          <p:nvPr>
            <p:ph type="body" idx="1"/>
          </p:nvPr>
        </p:nvSpPr>
        <p:spPr>
          <a:xfrm>
            <a:off x="381000" y="1600200"/>
            <a:ext cx="8305800" cy="4648200"/>
          </a:xfrm>
        </p:spPr>
        <p:txBody>
          <a:bodyPr/>
          <a:p>
            <a:pPr marL="0" indent="390525"/>
            <a:r>
              <a:rPr lang="zh-CN" altLang="en-US" sz="2800" dirty="0">
                <a:solidFill>
                  <a:srgbClr val="0000FF"/>
                </a:solidFill>
                <a:ea typeface="楷体" panose="02010609060101010101" pitchFamily="49" charset="-122"/>
              </a:rPr>
              <a:t>绝大多数双操作数指令，除非特别说明，目的操作数与源操作数必须类型一致，否则为非法指令</a:t>
            </a:r>
            <a:endParaRPr lang="zh-CN" altLang="en-US" sz="2800" dirty="0">
              <a:solidFill>
                <a:srgbClr val="0000FF"/>
              </a:solidFill>
              <a:ea typeface="楷体" panose="02010609060101010101" pitchFamily="49" charset="-122"/>
            </a:endParaRPr>
          </a:p>
          <a:p>
            <a:pPr marL="0" indent="390525">
              <a:buNone/>
            </a:pPr>
            <a:r>
              <a:rPr lang="zh-CN" altLang="en-US" sz="2800" dirty="0">
                <a:ea typeface="楷体" panose="02010609060101010101" pitchFamily="49" charset="-122"/>
              </a:rPr>
              <a:t>例如：         </a:t>
            </a:r>
            <a:r>
              <a:rPr lang="en-US" altLang="zh-CN" sz="2800">
                <a:solidFill>
                  <a:srgbClr val="FF0000"/>
                </a:solidFill>
                <a:ea typeface="楷体" panose="02010609060101010101" pitchFamily="49" charset="-122"/>
              </a:rPr>
              <a:t>MOV AL,050AH</a:t>
            </a:r>
            <a:endParaRPr lang="en-US" altLang="zh-CN" sz="2800">
              <a:solidFill>
                <a:srgbClr val="FF0000"/>
              </a:solidFill>
              <a:ea typeface="楷体" panose="02010609060101010101" pitchFamily="49" charset="-122"/>
            </a:endParaRPr>
          </a:p>
          <a:p>
            <a:pPr marL="0" indent="390525">
              <a:lnSpc>
                <a:spcPct val="110000"/>
              </a:lnSpc>
              <a:buNone/>
            </a:pPr>
            <a:r>
              <a:rPr lang="zh-CN" altLang="en-US" sz="2800" dirty="0">
                <a:ea typeface="楷体" panose="02010609060101010101" pitchFamily="49" charset="-122"/>
              </a:rPr>
              <a:t>这是条非法指令因为</a:t>
            </a:r>
            <a:r>
              <a:rPr lang="en-US" altLang="zh-CN" sz="2800">
                <a:ea typeface="楷体" panose="02010609060101010101" pitchFamily="49" charset="-122"/>
              </a:rPr>
              <a:t>050AH</a:t>
            </a:r>
            <a:r>
              <a:rPr lang="zh-CN" altLang="en-US" sz="2800" dirty="0">
                <a:ea typeface="楷体" panose="02010609060101010101" pitchFamily="49" charset="-122"/>
              </a:rPr>
              <a:t>为字，而</a:t>
            </a:r>
            <a:r>
              <a:rPr lang="en-US" altLang="zh-CN" sz="2800">
                <a:ea typeface="楷体" panose="02010609060101010101" pitchFamily="49" charset="-122"/>
              </a:rPr>
              <a:t>AL</a:t>
            </a:r>
            <a:r>
              <a:rPr lang="zh-CN" altLang="en-US" sz="2800" dirty="0">
                <a:ea typeface="楷体" panose="02010609060101010101" pitchFamily="49" charset="-122"/>
              </a:rPr>
              <a:t>为字节</a:t>
            </a:r>
            <a:endParaRPr lang="zh-CN" altLang="en-US" sz="2800" dirty="0">
              <a:ea typeface="楷体" panose="02010609060101010101" pitchFamily="49" charset="-122"/>
            </a:endParaRPr>
          </a:p>
          <a:p>
            <a:pPr marL="0" indent="390525"/>
            <a:r>
              <a:rPr lang="zh-CN" altLang="en-US" sz="2800" dirty="0">
                <a:solidFill>
                  <a:srgbClr val="0000FF"/>
                </a:solidFill>
                <a:ea typeface="楷体" panose="02010609060101010101" pitchFamily="49" charset="-122"/>
              </a:rPr>
              <a:t>寄存器有明确的字节或字类型，有寄存器参与的指令其操作数类型就是寄存器的类型</a:t>
            </a:r>
            <a:endParaRPr lang="zh-CN" altLang="en-US" sz="2800" dirty="0">
              <a:solidFill>
                <a:srgbClr val="0000FF"/>
              </a:solidFill>
              <a:ea typeface="楷体" panose="02010609060101010101" pitchFamily="49" charset="-122"/>
            </a:endParaRPr>
          </a:p>
          <a:p>
            <a:pPr marL="0" indent="390525"/>
            <a:r>
              <a:rPr lang="zh-CN" altLang="en-US" sz="2800" dirty="0">
                <a:solidFill>
                  <a:srgbClr val="0000FF"/>
                </a:solidFill>
                <a:ea typeface="楷体" panose="02010609060101010101" pitchFamily="49" charset="-122"/>
              </a:rPr>
              <a:t>对于存储器单元与立即数同时作为操作数的情况，必须显式指明；</a:t>
            </a:r>
            <a:r>
              <a:rPr lang="en-US" altLang="zh-CN" sz="2800">
                <a:solidFill>
                  <a:srgbClr val="0000FF"/>
                </a:solidFill>
                <a:ea typeface="楷体" panose="02010609060101010101" pitchFamily="49" charset="-122"/>
              </a:rPr>
              <a:t>byte </a:t>
            </a:r>
            <a:r>
              <a:rPr lang="en-US" altLang="zh-CN" sz="2800" err="1">
                <a:solidFill>
                  <a:srgbClr val="0000FF"/>
                </a:solidFill>
                <a:ea typeface="楷体" panose="02010609060101010101" pitchFamily="49" charset="-122"/>
              </a:rPr>
              <a:t>ptr</a:t>
            </a:r>
            <a:r>
              <a:rPr lang="zh-CN" altLang="en-US" sz="2800" dirty="0">
                <a:solidFill>
                  <a:srgbClr val="0000FF"/>
                </a:solidFill>
                <a:ea typeface="楷体" panose="02010609060101010101" pitchFamily="49" charset="-122"/>
              </a:rPr>
              <a:t>指示字节类型，</a:t>
            </a:r>
            <a:r>
              <a:rPr lang="en-US" altLang="zh-CN" sz="2800">
                <a:solidFill>
                  <a:srgbClr val="0000FF"/>
                </a:solidFill>
                <a:ea typeface="楷体" panose="02010609060101010101" pitchFamily="49" charset="-122"/>
              </a:rPr>
              <a:t>word </a:t>
            </a:r>
            <a:r>
              <a:rPr lang="en-US" altLang="zh-CN" sz="2800" err="1">
                <a:solidFill>
                  <a:srgbClr val="0000FF"/>
                </a:solidFill>
                <a:ea typeface="楷体" panose="02010609060101010101" pitchFamily="49" charset="-122"/>
              </a:rPr>
              <a:t>ptr</a:t>
            </a:r>
            <a:r>
              <a:rPr lang="zh-CN" altLang="en-US" sz="2800" dirty="0">
                <a:solidFill>
                  <a:srgbClr val="0000FF"/>
                </a:solidFill>
                <a:ea typeface="楷体" panose="02010609060101010101" pitchFamily="49" charset="-122"/>
              </a:rPr>
              <a:t>指示字类型</a:t>
            </a:r>
            <a:endParaRPr lang="zh-CN" altLang="en-US" sz="2800" dirty="0">
              <a:solidFill>
                <a:srgbClr val="0000FF"/>
              </a:solidFill>
              <a:ea typeface="楷体" panose="02010609060101010101" pitchFamily="49" charset="-122"/>
            </a:endParaRPr>
          </a:p>
        </p:txBody>
      </p:sp>
      <p:sp>
        <p:nvSpPr>
          <p:cNvPr id="4" name="右弧形箭头 3">
            <a:hlinkClick r:id="rId1" action="ppaction://hlinksldjump"/>
          </p:cNvPr>
          <p:cNvSpPr/>
          <p:nvPr/>
        </p:nvSpPr>
        <p:spPr>
          <a:xfrm>
            <a:off x="8458200" y="5867400"/>
            <a:ext cx="457200" cy="685800"/>
          </a:xfrm>
          <a:prstGeom prst="curvedLeftArrow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 advClick="0"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标题 30721"/>
          <p:cNvSpPr>
            <a:spLocks noGrp="1"/>
          </p:cNvSpPr>
          <p:nvPr>
            <p:ph type="title"/>
          </p:nvPr>
        </p:nvSpPr>
        <p:spPr>
          <a:xfrm>
            <a:off x="228600" y="381000"/>
            <a:ext cx="7924800" cy="1219200"/>
          </a:xfrm>
        </p:spPr>
        <p:txBody>
          <a:bodyPr anchor="b" anchorCtr="0"/>
          <a:p>
            <a:r>
              <a:rPr lang="zh-CN" altLang="en-US" sz="3300" dirty="0"/>
              <a:t>常见错误</a:t>
            </a:r>
            <a:r>
              <a:rPr lang="en-US" altLang="zh-CN" sz="3300"/>
              <a:t>2</a:t>
            </a:r>
            <a:r>
              <a:rPr lang="zh-CN" altLang="en-US" sz="3300" dirty="0"/>
              <a:t>：两个操作数不能都是存储器</a:t>
            </a:r>
            <a:endParaRPr lang="zh-CN" altLang="en-US" sz="3300" dirty="0"/>
          </a:p>
        </p:txBody>
      </p:sp>
      <p:sp>
        <p:nvSpPr>
          <p:cNvPr id="30723" name="文本占位符 3072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8305800" cy="4724400"/>
          </a:xfrm>
        </p:spPr>
        <p:txBody>
          <a:bodyPr/>
          <a:p>
            <a:pPr marL="0" indent="390525"/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8086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指令系统不允许两个操作数都是存储单元（除串操作指令），要实现这种传送，可通过寄存器间接实现</a:t>
            </a:r>
            <a:endParaRPr lang="zh-CN" altLang="en-US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390525">
              <a:buNone/>
            </a:pPr>
            <a:r>
              <a:rPr lang="en-US" altLang="zh-CN" sz="2500" b="1" err="1">
                <a:solidFill>
                  <a:srgbClr val="FF0000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500" b="1">
                <a:solidFill>
                  <a:srgbClr val="FF0000"/>
                </a:solidFill>
                <a:latin typeface="宋体" panose="02010600030101010101" pitchFamily="2" charset="-122"/>
              </a:rPr>
              <a:t> ax,buffer1</a:t>
            </a:r>
            <a:endParaRPr lang="en-US" altLang="zh-CN" sz="2500" b="1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marL="0" indent="390525">
              <a:buNone/>
            </a:pPr>
            <a:r>
              <a:rPr lang="zh-CN" altLang="en-US" sz="2500" dirty="0">
                <a:latin typeface="宋体" panose="02010600030101010101" pitchFamily="2" charset="-122"/>
              </a:rPr>
              <a:t>；</a:t>
            </a:r>
            <a:r>
              <a:rPr lang="en-US" altLang="zh-CN" sz="2500">
                <a:latin typeface="宋体" panose="02010600030101010101" pitchFamily="2" charset="-122"/>
              </a:rPr>
              <a:t>ax←buffer1</a:t>
            </a:r>
            <a:r>
              <a:rPr lang="zh-CN" altLang="en-US" sz="2500" dirty="0">
                <a:latin typeface="宋体" panose="02010600030101010101" pitchFamily="2" charset="-122"/>
              </a:rPr>
              <a:t>（将</a:t>
            </a:r>
            <a:r>
              <a:rPr lang="en-US" altLang="zh-CN" sz="2500">
                <a:latin typeface="宋体" panose="02010600030101010101" pitchFamily="2" charset="-122"/>
              </a:rPr>
              <a:t>buffer1</a:t>
            </a:r>
            <a:r>
              <a:rPr lang="zh-CN" altLang="en-US" sz="2500" dirty="0">
                <a:latin typeface="宋体" panose="02010600030101010101" pitchFamily="2" charset="-122"/>
              </a:rPr>
              <a:t>内容送</a:t>
            </a:r>
            <a:r>
              <a:rPr lang="en-US" altLang="zh-CN" sz="2500">
                <a:latin typeface="宋体" panose="02010600030101010101" pitchFamily="2" charset="-122"/>
              </a:rPr>
              <a:t>ax</a:t>
            </a:r>
            <a:r>
              <a:rPr lang="zh-CN" altLang="en-US" sz="2500" dirty="0">
                <a:latin typeface="宋体" panose="02010600030101010101" pitchFamily="2" charset="-122"/>
              </a:rPr>
              <a:t>）</a:t>
            </a:r>
            <a:endParaRPr lang="zh-CN" altLang="en-US" sz="2500" dirty="0">
              <a:latin typeface="宋体" panose="02010600030101010101" pitchFamily="2" charset="-122"/>
            </a:endParaRPr>
          </a:p>
          <a:p>
            <a:pPr marL="0" indent="390525">
              <a:buNone/>
            </a:pPr>
            <a:r>
              <a:rPr lang="en-US" altLang="zh-CN" sz="2500" b="1" err="1">
                <a:solidFill>
                  <a:srgbClr val="FF0000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500" b="1">
                <a:solidFill>
                  <a:srgbClr val="FF0000"/>
                </a:solidFill>
                <a:latin typeface="宋体" panose="02010600030101010101" pitchFamily="2" charset="-122"/>
              </a:rPr>
              <a:t> buffer2,ax</a:t>
            </a:r>
            <a:endParaRPr lang="en-US" altLang="zh-CN" sz="2500" b="1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marL="0" indent="390525">
              <a:buNone/>
            </a:pPr>
            <a:r>
              <a:rPr lang="zh-CN" altLang="en-US" sz="2500" dirty="0">
                <a:latin typeface="宋体" panose="02010600030101010101" pitchFamily="2" charset="-122"/>
              </a:rPr>
              <a:t>；</a:t>
            </a:r>
            <a:r>
              <a:rPr lang="en-US" altLang="zh-CN" sz="2500">
                <a:latin typeface="宋体" panose="02010600030101010101" pitchFamily="2" charset="-122"/>
              </a:rPr>
              <a:t>buffer2←ax</a:t>
            </a:r>
            <a:endParaRPr lang="en-US" altLang="zh-CN" sz="2500">
              <a:latin typeface="宋体" panose="02010600030101010101" pitchFamily="2" charset="-122"/>
            </a:endParaRPr>
          </a:p>
          <a:p>
            <a:pPr marL="0" indent="390525">
              <a:buNone/>
            </a:pPr>
            <a:r>
              <a:rPr lang="zh-CN" altLang="en-US" sz="2500" dirty="0">
                <a:latin typeface="宋体" panose="02010600030101010101" pitchFamily="2" charset="-122"/>
              </a:rPr>
              <a:t>；这里</a:t>
            </a:r>
            <a:r>
              <a:rPr lang="en-US" altLang="zh-CN" sz="2500">
                <a:latin typeface="宋体" panose="02010600030101010101" pitchFamily="2" charset="-122"/>
              </a:rPr>
              <a:t>buffer1</a:t>
            </a:r>
            <a:r>
              <a:rPr lang="zh-CN" altLang="en-US" sz="2500" dirty="0">
                <a:latin typeface="宋体" panose="02010600030101010101" pitchFamily="2" charset="-122"/>
              </a:rPr>
              <a:t>和</a:t>
            </a:r>
            <a:r>
              <a:rPr lang="en-US" altLang="zh-CN" sz="2500">
                <a:latin typeface="宋体" panose="02010600030101010101" pitchFamily="2" charset="-122"/>
              </a:rPr>
              <a:t>buffer2</a:t>
            </a:r>
            <a:r>
              <a:rPr lang="zh-CN" altLang="en-US" sz="2500" dirty="0">
                <a:latin typeface="宋体" panose="02010600030101010101" pitchFamily="2" charset="-122"/>
              </a:rPr>
              <a:t>是两个字变量</a:t>
            </a:r>
            <a:endParaRPr lang="zh-CN" altLang="en-US" sz="2500" dirty="0">
              <a:latin typeface="宋体" panose="02010600030101010101" pitchFamily="2" charset="-122"/>
            </a:endParaRPr>
          </a:p>
          <a:p>
            <a:pPr marL="0" indent="390525">
              <a:buNone/>
            </a:pPr>
            <a:r>
              <a:rPr lang="zh-CN" altLang="en-US" sz="2500" dirty="0">
                <a:latin typeface="宋体" panose="02010600030101010101" pitchFamily="2" charset="-122"/>
              </a:rPr>
              <a:t>；实际表示直接寻址方式</a:t>
            </a:r>
            <a:endParaRPr lang="zh-CN" altLang="en-US" sz="2500" dirty="0">
              <a:latin typeface="宋体" panose="02010600030101010101" pitchFamily="2" charset="-122"/>
            </a:endParaRPr>
          </a:p>
          <a:p>
            <a:pPr marL="0" indent="390525">
              <a:buNone/>
            </a:pPr>
            <a:r>
              <a:rPr lang="zh-CN" altLang="en-US" sz="2500" dirty="0">
                <a:latin typeface="宋体" panose="02010600030101010101" pitchFamily="2" charset="-122"/>
              </a:rPr>
              <a:t>但是</a:t>
            </a:r>
            <a:r>
              <a:rPr lang="zh-CN" altLang="en-US" sz="2500">
                <a:latin typeface="宋体" panose="02010600030101010101" pitchFamily="2" charset="-122"/>
              </a:rPr>
              <a:t>   </a:t>
            </a:r>
            <a:r>
              <a:rPr lang="en-US" altLang="zh-CN" sz="2500" b="1" err="1">
                <a:solidFill>
                  <a:srgbClr val="FF0000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500" b="1">
                <a:solidFill>
                  <a:srgbClr val="FF0000"/>
                </a:solidFill>
                <a:latin typeface="宋体" panose="02010600030101010101" pitchFamily="2" charset="-122"/>
              </a:rPr>
              <a:t> buffer2</a:t>
            </a:r>
            <a:r>
              <a:rPr lang="zh-CN" altLang="en-US" sz="2500" b="1" dirty="0">
                <a:solidFill>
                  <a:srgbClr val="FF0000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500" b="1">
                <a:solidFill>
                  <a:srgbClr val="FF0000"/>
                </a:solidFill>
                <a:latin typeface="宋体" panose="02010600030101010101" pitchFamily="2" charset="-122"/>
              </a:rPr>
              <a:t>buffer1   </a:t>
            </a:r>
            <a:r>
              <a:rPr lang="zh-CN" altLang="en-US" sz="2500" b="1" i="1" dirty="0">
                <a:solidFill>
                  <a:srgbClr val="FF0000"/>
                </a:solidFill>
                <a:latin typeface="宋体" panose="02010600030101010101" pitchFamily="2" charset="-122"/>
              </a:rPr>
              <a:t>（错误）</a:t>
            </a:r>
            <a:r>
              <a:rPr lang="zh-CN" altLang="en-US" sz="2500" dirty="0">
                <a:latin typeface="宋体" panose="02010600030101010101" pitchFamily="2" charset="-122"/>
              </a:rPr>
              <a:t> </a:t>
            </a:r>
            <a:endParaRPr lang="zh-CN" altLang="en-US" sz="2500" dirty="0">
              <a:latin typeface="宋体" panose="02010600030101010101" pitchFamily="2" charset="-122"/>
            </a:endParaRPr>
          </a:p>
        </p:txBody>
      </p:sp>
      <p:sp>
        <p:nvSpPr>
          <p:cNvPr id="4" name="右弧形箭头 3">
            <a:hlinkClick r:id="rId1" action="ppaction://hlinksldjump"/>
          </p:cNvPr>
          <p:cNvSpPr/>
          <p:nvPr/>
        </p:nvSpPr>
        <p:spPr>
          <a:xfrm>
            <a:off x="8458200" y="5791200"/>
            <a:ext cx="457200" cy="685800"/>
          </a:xfrm>
          <a:prstGeom prst="curvedLeftArrow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 advClick="0"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标题 31745"/>
          <p:cNvSpPr>
            <a:spLocks noGrp="1"/>
          </p:cNvSpPr>
          <p:nvPr>
            <p:ph type="title"/>
          </p:nvPr>
        </p:nvSpPr>
        <p:spPr>
          <a:xfrm>
            <a:off x="457200" y="533400"/>
            <a:ext cx="7696200" cy="884238"/>
          </a:xfrm>
        </p:spPr>
        <p:txBody>
          <a:bodyPr anchor="b" anchorCtr="0"/>
          <a:p>
            <a:r>
              <a:rPr lang="zh-CN" altLang="en-US" sz="3500" dirty="0"/>
              <a:t>常见错误</a:t>
            </a:r>
            <a:r>
              <a:rPr lang="en-US" altLang="zh-CN" sz="3500"/>
              <a:t>3</a:t>
            </a:r>
            <a:r>
              <a:rPr lang="zh-CN" altLang="en-US" sz="3500" dirty="0"/>
              <a:t>：</a:t>
            </a:r>
            <a:r>
              <a:rPr lang="en-US" altLang="zh-CN" sz="3500"/>
              <a:t>:</a:t>
            </a:r>
            <a:r>
              <a:rPr lang="zh-CN" altLang="en-US" sz="3500" dirty="0"/>
              <a:t>段寄存器的操作不正确</a:t>
            </a:r>
            <a:endParaRPr lang="zh-CN" altLang="en-US" sz="3500" dirty="0"/>
          </a:p>
        </p:txBody>
      </p:sp>
      <p:sp>
        <p:nvSpPr>
          <p:cNvPr id="31747" name="文本占位符 31746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8229600" cy="4411663"/>
          </a:xfrm>
        </p:spPr>
        <p:txBody>
          <a:bodyPr/>
          <a:p>
            <a:r>
              <a:rPr lang="zh-CN" altLang="en-US" b="1" dirty="0">
                <a:solidFill>
                  <a:srgbClr val="0000FF"/>
                </a:solidFill>
                <a:ea typeface="楷体" panose="02010609060101010101" pitchFamily="49" charset="-122"/>
              </a:rPr>
              <a:t>不允许立即数传送给段寄存器</a:t>
            </a:r>
            <a:endParaRPr lang="zh-CN" altLang="en-US" b="1" dirty="0">
              <a:solidFill>
                <a:srgbClr val="0000FF"/>
              </a:solidFill>
              <a:ea typeface="楷体" panose="02010609060101010101" pitchFamily="49" charset="-122"/>
            </a:endParaRPr>
          </a:p>
          <a:p>
            <a:pPr lvl="1">
              <a:buNone/>
            </a:pPr>
            <a:r>
              <a:rPr lang="en-US" altLang="zh-CN" b="1">
                <a:solidFill>
                  <a:srgbClr val="008000"/>
                </a:solidFill>
              </a:rPr>
              <a:t>MOV DS,100H</a:t>
            </a:r>
            <a:endParaRPr lang="en-US" altLang="zh-CN" b="1">
              <a:solidFill>
                <a:srgbClr val="008000"/>
              </a:solidFill>
            </a:endParaRPr>
          </a:p>
          <a:p>
            <a:pPr lvl="1">
              <a:buNone/>
            </a:pPr>
            <a:r>
              <a:rPr lang="zh-CN" altLang="en-US" dirty="0"/>
              <a:t>；非法指令：立即数不能传送段寄存器</a:t>
            </a:r>
            <a:endParaRPr lang="zh-CN" altLang="en-US" dirty="0"/>
          </a:p>
          <a:p>
            <a:r>
              <a:rPr lang="zh-CN" altLang="en-US" b="1" dirty="0">
                <a:solidFill>
                  <a:srgbClr val="0000FF"/>
                </a:solidFill>
                <a:ea typeface="楷体" panose="02010609060101010101" pitchFamily="49" charset="-122"/>
              </a:rPr>
              <a:t>不允许直接改变</a:t>
            </a:r>
            <a:r>
              <a:rPr lang="en-US" altLang="zh-CN" b="1">
                <a:solidFill>
                  <a:srgbClr val="0000FF"/>
                </a:solidFill>
                <a:ea typeface="楷体" panose="02010609060101010101" pitchFamily="49" charset="-122"/>
              </a:rPr>
              <a:t>CS</a:t>
            </a:r>
            <a:r>
              <a:rPr lang="zh-CN" altLang="en-US" b="1" dirty="0">
                <a:solidFill>
                  <a:srgbClr val="0000FF"/>
                </a:solidFill>
                <a:ea typeface="楷体" panose="02010609060101010101" pitchFamily="49" charset="-122"/>
              </a:rPr>
              <a:t>值</a:t>
            </a:r>
            <a:endParaRPr lang="zh-CN" altLang="en-US" b="1" dirty="0">
              <a:solidFill>
                <a:srgbClr val="0000FF"/>
              </a:solidFill>
              <a:ea typeface="楷体" panose="02010609060101010101" pitchFamily="49" charset="-122"/>
            </a:endParaRPr>
          </a:p>
          <a:p>
            <a:pPr lvl="1">
              <a:buNone/>
            </a:pPr>
            <a:r>
              <a:rPr lang="en-US" altLang="zh-CN" b="1">
                <a:solidFill>
                  <a:srgbClr val="008000"/>
                </a:solidFill>
              </a:rPr>
              <a:t>MOV CS,[SI]</a:t>
            </a:r>
            <a:r>
              <a:rPr lang="en-US" altLang="zh-CN" sz="2200"/>
              <a:t>	</a:t>
            </a:r>
            <a:r>
              <a:rPr lang="zh-CN" altLang="en-US" dirty="0"/>
              <a:t>；不允许使用的指令</a:t>
            </a:r>
            <a:endParaRPr lang="zh-CN" altLang="en-US" dirty="0"/>
          </a:p>
          <a:p>
            <a:r>
              <a:rPr lang="zh-CN" altLang="en-US" b="1" dirty="0">
                <a:solidFill>
                  <a:srgbClr val="0000FF"/>
                </a:solidFill>
                <a:ea typeface="楷体" panose="02010609060101010101" pitchFamily="49" charset="-122"/>
              </a:rPr>
              <a:t>不允许段寄存器之间的直接数据传送</a:t>
            </a:r>
            <a:endParaRPr lang="zh-CN" altLang="en-US" b="1" dirty="0">
              <a:solidFill>
                <a:srgbClr val="0000FF"/>
              </a:solidFill>
              <a:ea typeface="楷体" panose="02010609060101010101" pitchFamily="49" charset="-122"/>
            </a:endParaRPr>
          </a:p>
          <a:p>
            <a:pPr lvl="1">
              <a:buNone/>
            </a:pPr>
            <a:r>
              <a:rPr lang="en-US" altLang="zh-CN" b="1">
                <a:solidFill>
                  <a:srgbClr val="008000"/>
                </a:solidFill>
              </a:rPr>
              <a:t>MOV DS,ES</a:t>
            </a:r>
            <a:endParaRPr lang="en-US" altLang="zh-CN" b="1">
              <a:solidFill>
                <a:srgbClr val="008000"/>
              </a:solidFill>
            </a:endParaRPr>
          </a:p>
          <a:p>
            <a:pPr lvl="1">
              <a:buNone/>
            </a:pPr>
            <a:r>
              <a:rPr lang="zh-CN" altLang="en-US" dirty="0"/>
              <a:t>；非法指令：不允许段寄存器间传送</a:t>
            </a:r>
            <a:endParaRPr lang="zh-CN" altLang="en-US" dirty="0"/>
          </a:p>
        </p:txBody>
      </p:sp>
      <p:sp>
        <p:nvSpPr>
          <p:cNvPr id="4" name="右弧形箭头 3">
            <a:hlinkClick r:id="rId1" action="ppaction://hlinksldjump"/>
          </p:cNvPr>
          <p:cNvSpPr/>
          <p:nvPr/>
        </p:nvSpPr>
        <p:spPr>
          <a:xfrm>
            <a:off x="8382000" y="5867400"/>
            <a:ext cx="457200" cy="685800"/>
          </a:xfrm>
          <a:prstGeom prst="curvedLeftArrow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 advClick="0"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9378" name="标题 229377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其它传送错误还有：</a:t>
            </a:r>
            <a:endParaRPr lang="zh-CN" altLang="en-US" dirty="0"/>
          </a:p>
        </p:txBody>
      </p:sp>
      <p:sp>
        <p:nvSpPr>
          <p:cNvPr id="229379" name="文本占位符 229378"/>
          <p:cNvSpPr>
            <a:spLocks noGrp="1"/>
          </p:cNvSpPr>
          <p:nvPr>
            <p:ph type="body" idx="1"/>
          </p:nvPr>
        </p:nvSpPr>
        <p:spPr>
          <a:xfrm>
            <a:off x="457200" y="1719263"/>
            <a:ext cx="6781800" cy="4411662"/>
          </a:xfrm>
        </p:spPr>
        <p:txBody>
          <a:bodyPr/>
          <a:p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立即数做目的操作数</a:t>
            </a:r>
            <a:endParaRPr lang="zh-CN" altLang="en-US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引用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IP</a:t>
            </a:r>
            <a:endParaRPr lang="en-US" altLang="zh-CN" b="1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书写格式错误</a:t>
            </a:r>
            <a:endParaRPr lang="zh-CN" altLang="en-US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寄存器使用错误</a:t>
            </a:r>
            <a:endParaRPr lang="zh-CN" altLang="en-US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寻址方式错误</a:t>
            </a:r>
            <a:endParaRPr lang="zh-CN" altLang="en-US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使用字节堆栈等</a:t>
            </a:r>
            <a:endParaRPr lang="zh-CN" altLang="en-US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buNone/>
            </a:pPr>
            <a:endParaRPr lang="zh-CN" altLang="en-US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buNone/>
            </a:pPr>
            <a:endParaRPr lang="zh-CN" altLang="en-US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229380" name="文本框 229379">
            <a:hlinkClick r:id="" action="ppaction://noaction"/>
          </p:cNvPr>
          <p:cNvSpPr txBox="1"/>
          <p:nvPr/>
        </p:nvSpPr>
        <p:spPr>
          <a:xfrm>
            <a:off x="1600200" y="5486400"/>
            <a:ext cx="2286000" cy="398780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18900000" scaled="1"/>
            <a:tileRect/>
          </a:gradFill>
          <a:ln w="9525">
            <a:noFill/>
          </a:ln>
          <a:effectLst>
            <a:outerShdw dist="35921" dir="2699999" algn="ctr" rotWithShape="0">
              <a:srgbClr val="808080"/>
            </a:outerShdw>
          </a:effectLst>
        </p:spPr>
        <p:txBody>
          <a:bodyPr>
            <a:spAutoFit/>
          </a:bodyPr>
          <a:p>
            <a:pPr algn="l">
              <a:spcBef>
                <a:spcPct val="0"/>
              </a:spcBef>
            </a:pPr>
            <a:r>
              <a:rPr lang="zh-CN" altLang="en-US" sz="2000" i="0" dirty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课后题</a:t>
            </a:r>
            <a:r>
              <a:rPr lang="en-US" altLang="zh-CN" sz="2000" i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en-US" altLang="zh-CN" sz="2000" i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.2</a:t>
            </a:r>
            <a:r>
              <a:rPr lang="zh-CN" altLang="en-US" sz="2000" i="0" dirty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en-US" altLang="zh-CN" sz="2000" i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en-US" altLang="zh-CN" sz="2000" i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.9</a:t>
            </a:r>
            <a:endParaRPr lang="en-US" altLang="zh-CN" sz="2000" i="0">
              <a:solidFill>
                <a:srgbClr val="66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标题 32769"/>
          <p:cNvSpPr>
            <a:spLocks noGrp="1"/>
          </p:cNvSpPr>
          <p:nvPr>
            <p:ph type="title"/>
          </p:nvPr>
        </p:nvSpPr>
        <p:spPr>
          <a:xfrm>
            <a:off x="228600" y="152083"/>
            <a:ext cx="7543800" cy="1295400"/>
          </a:xfrm>
        </p:spPr>
        <p:txBody>
          <a:bodyPr anchor="b" anchorCtr="0"/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</a:t>
            </a:r>
            <a:r>
              <a:rPr lang="en-US" altLang="zh-CN"/>
              <a:t> </a:t>
            </a:r>
            <a:r>
              <a:rPr lang="zh-CN" altLang="en-US" dirty="0"/>
              <a:t>交换指令</a:t>
            </a:r>
            <a:r>
              <a:rPr lang="en-US" altLang="zh-CN"/>
              <a:t>XCHG</a:t>
            </a:r>
            <a:r>
              <a:rPr lang="zh-CN" altLang="en-US" sz="3000" b="0" dirty="0">
                <a:solidFill>
                  <a:schemeClr val="tx1"/>
                </a:solidFill>
              </a:rPr>
              <a:t>（</a:t>
            </a:r>
            <a:r>
              <a:rPr lang="en-US" altLang="zh-CN" sz="3000" b="0">
                <a:solidFill>
                  <a:schemeClr val="tx1"/>
                </a:solidFill>
              </a:rPr>
              <a:t>exchange</a:t>
            </a:r>
            <a:r>
              <a:rPr lang="zh-CN" altLang="en-US" sz="3000" b="0" dirty="0">
                <a:solidFill>
                  <a:schemeClr val="tx1"/>
                </a:solidFill>
              </a:rPr>
              <a:t>）</a:t>
            </a:r>
            <a:endParaRPr lang="zh-CN" altLang="en-US" sz="3000" b="0" dirty="0">
              <a:solidFill>
                <a:schemeClr val="tx1"/>
              </a:solidFill>
            </a:endParaRPr>
          </a:p>
        </p:txBody>
      </p:sp>
      <p:sp>
        <p:nvSpPr>
          <p:cNvPr id="32771" name="文本占位符 32770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8229600" cy="641350"/>
          </a:xfrm>
        </p:spPr>
        <p:txBody>
          <a:bodyPr/>
          <a:p>
            <a:r>
              <a:rPr lang="zh-CN" altLang="en-US" b="1" dirty="0">
                <a:solidFill>
                  <a:srgbClr val="000099"/>
                </a:solidFill>
                <a:ea typeface="楷体" panose="02010609060101010101" pitchFamily="49" charset="-122"/>
              </a:rPr>
              <a:t>把两个地方的数据进行互换</a:t>
            </a:r>
            <a:endParaRPr lang="zh-CN" altLang="en-US" b="1" dirty="0">
              <a:solidFill>
                <a:srgbClr val="000099"/>
              </a:solidFill>
              <a:ea typeface="楷体" panose="02010609060101010101" pitchFamily="49" charset="-122"/>
            </a:endParaRPr>
          </a:p>
        </p:txBody>
      </p:sp>
      <p:sp>
        <p:nvSpPr>
          <p:cNvPr id="32772" name="矩形 32771"/>
          <p:cNvSpPr/>
          <p:nvPr/>
        </p:nvSpPr>
        <p:spPr>
          <a:xfrm>
            <a:off x="457200" y="3886200"/>
            <a:ext cx="7848600" cy="21336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92150" lvl="1" indent="-34734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87425" lvl="2" indent="-29337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81430" lvl="3" indent="-2921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98930" lvl="4" indent="-31623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zh-CN" altLang="en-US" b="1" i="0" dirty="0">
                <a:solidFill>
                  <a:srgbClr val="000099"/>
                </a:solidFill>
                <a:ea typeface="楷体" panose="02010609060101010101" pitchFamily="49" charset="-122"/>
              </a:rPr>
              <a:t>寄存器与寄存器之间对换数据</a:t>
            </a:r>
            <a:endParaRPr lang="zh-CN" altLang="en-US" b="1" i="0" dirty="0">
              <a:solidFill>
                <a:srgbClr val="000099"/>
              </a:solidFill>
              <a:ea typeface="楷体" panose="02010609060101010101" pitchFamily="49" charset="-122"/>
            </a:endParaRPr>
          </a:p>
          <a:p>
            <a:pPr lvl="0">
              <a:lnSpc>
                <a:spcPct val="130000"/>
              </a:lnSpc>
            </a:pPr>
            <a:r>
              <a:rPr lang="zh-CN" altLang="en-US" b="1" i="0" dirty="0">
                <a:solidFill>
                  <a:srgbClr val="000099"/>
                </a:solidFill>
                <a:ea typeface="楷体" panose="02010609060101010101" pitchFamily="49" charset="-122"/>
              </a:rPr>
              <a:t>寄存器与存储器之间对换数据</a:t>
            </a:r>
            <a:endParaRPr lang="zh-CN" altLang="en-US" b="1" i="0" dirty="0">
              <a:solidFill>
                <a:srgbClr val="000099"/>
              </a:solidFill>
              <a:ea typeface="楷体" panose="02010609060101010101" pitchFamily="49" charset="-122"/>
            </a:endParaRPr>
          </a:p>
          <a:p>
            <a:pPr lvl="0">
              <a:lnSpc>
                <a:spcPct val="130000"/>
              </a:lnSpc>
            </a:pPr>
            <a:r>
              <a:rPr lang="zh-CN" altLang="en-US" b="1" i="0" dirty="0">
                <a:solidFill>
                  <a:srgbClr val="008000"/>
                </a:solidFill>
                <a:ea typeface="楷体" panose="02010609060101010101" pitchFamily="49" charset="-122"/>
              </a:rPr>
              <a:t>不能在存储器与存储器之间对换数据</a:t>
            </a:r>
            <a:endParaRPr lang="zh-CN" altLang="en-US" b="1" i="0" dirty="0">
              <a:solidFill>
                <a:srgbClr val="008000"/>
              </a:solidFill>
              <a:ea typeface="楷体" panose="02010609060101010101" pitchFamily="49" charset="-122"/>
            </a:endParaRPr>
          </a:p>
        </p:txBody>
      </p:sp>
      <p:sp>
        <p:nvSpPr>
          <p:cNvPr id="32773" name="流程图: 可选过程 32772"/>
          <p:cNvSpPr/>
          <p:nvPr/>
        </p:nvSpPr>
        <p:spPr>
          <a:xfrm>
            <a:off x="1371600" y="2332038"/>
            <a:ext cx="6224588" cy="1309687"/>
          </a:xfrm>
          <a:prstGeom prst="flowChartAlternateProcess">
            <a:avLst/>
          </a:prstGeom>
          <a:solidFill>
            <a:srgbClr val="CCFFCC"/>
          </a:solidFill>
          <a:ln w="12700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>
            <a:spAutoFit/>
          </a:bodyPr>
          <a:p>
            <a:pPr algn="l" defTabSz="914400">
              <a:tabLst>
                <a:tab pos="3141980" algn="l"/>
              </a:tabLst>
            </a:pPr>
            <a:r>
              <a:rPr lang="en-US" altLang="zh-CN" sz="3200" i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XCHG </a:t>
            </a:r>
            <a:r>
              <a:rPr lang="en-US" altLang="zh-CN" sz="3200" i="0" err="1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reg,reg/mem</a:t>
            </a:r>
            <a:endParaRPr lang="en-US" altLang="zh-CN" sz="3200" i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r" defTabSz="914400">
              <a:tabLst>
                <a:tab pos="3141980" algn="l"/>
              </a:tabLst>
            </a:pPr>
            <a:r>
              <a:rPr lang="zh-CN" altLang="en-US" i="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lang="en-US" altLang="zh-CN" i="0" err="1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reg</a:t>
            </a:r>
            <a:r>
              <a:rPr lang="en-US" altLang="zh-CN" i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i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 </a:t>
            </a:r>
            <a:r>
              <a:rPr lang="en-US" altLang="zh-CN" i="0" err="1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reg/mem</a:t>
            </a:r>
            <a:endParaRPr lang="en-US" altLang="zh-CN" i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774" name="文本框 32773">
            <a:hlinkClick r:id="" action="ppaction://noaction"/>
          </p:cNvPr>
          <p:cNvSpPr txBox="1"/>
          <p:nvPr/>
        </p:nvSpPr>
        <p:spPr>
          <a:xfrm>
            <a:off x="6629400" y="4848225"/>
            <a:ext cx="1045845" cy="398780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18900000" scaled="1"/>
            <a:tileRect/>
          </a:gradFill>
          <a:ln w="9525">
            <a:noFill/>
          </a:ln>
          <a:effectLst>
            <a:outerShdw dist="35921" dir="2699999" algn="ctr" rotWithShape="0">
              <a:srgbClr val="808080"/>
            </a:outerShdw>
          </a:effectLst>
        </p:spPr>
        <p:txBody>
          <a:bodyPr wrap="none" anchor="t" anchorCtr="0">
            <a:spAutoFit/>
          </a:bodyPr>
          <a:p>
            <a:pPr algn="l">
              <a:spcBef>
                <a:spcPct val="0"/>
              </a:spcBef>
            </a:pPr>
            <a:r>
              <a:rPr lang="zh-CN" altLang="en-US" sz="2000" i="0" dirty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  <a:hlinkClick r:id="rId1" action="ppaction://hlinksldjump"/>
              </a:rPr>
              <a:t>例题</a:t>
            </a:r>
            <a:r>
              <a:rPr lang="en-US" altLang="zh-CN" sz="2000" i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  <a:hlinkClick r:id="rId1" action="ppaction://hlinksldjump"/>
              </a:rPr>
              <a:t>1.7</a:t>
            </a:r>
            <a:endParaRPr lang="en-US" altLang="zh-CN" sz="2000" i="0">
              <a:solidFill>
                <a:srgbClr val="66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775" name="文本框 32774">
            <a:hlinkClick r:id="" action="ppaction://noaction"/>
          </p:cNvPr>
          <p:cNvSpPr txBox="1"/>
          <p:nvPr/>
        </p:nvSpPr>
        <p:spPr>
          <a:xfrm>
            <a:off x="6629400" y="4191000"/>
            <a:ext cx="1045845" cy="398780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18900000" scaled="1"/>
            <a:tileRect/>
          </a:gradFill>
          <a:ln w="9525">
            <a:noFill/>
          </a:ln>
          <a:effectLst>
            <a:outerShdw dist="35921" dir="2699999" algn="ctr" rotWithShape="0">
              <a:srgbClr val="808080"/>
            </a:outerShdw>
          </a:effectLst>
        </p:spPr>
        <p:txBody>
          <a:bodyPr wrap="none" anchor="t" anchorCtr="0">
            <a:spAutoFit/>
          </a:bodyPr>
          <a:p>
            <a:pPr algn="l">
              <a:spcBef>
                <a:spcPct val="0"/>
              </a:spcBef>
            </a:pPr>
            <a:r>
              <a:rPr lang="zh-CN" altLang="en-US" sz="2000" i="0" dirty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  <a:hlinkClick r:id="rId2" action="ppaction://hlinksldjump"/>
              </a:rPr>
              <a:t>例题</a:t>
            </a:r>
            <a:r>
              <a:rPr lang="en-US" altLang="zh-CN" sz="2000" i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  <a:hlinkClick r:id="rId2" action="ppaction://hlinksldjump"/>
              </a:rPr>
              <a:t>1.6</a:t>
            </a:r>
            <a:endParaRPr lang="en-US" altLang="zh-CN" sz="2000" i="0">
              <a:solidFill>
                <a:srgbClr val="66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800" name="标题 33799"/>
          <p:cNvSpPr>
            <a:spLocks noGrp="1"/>
          </p:cNvSpPr>
          <p:nvPr>
            <p:ph type="title"/>
          </p:nvPr>
        </p:nvSpPr>
        <p:spPr>
          <a:xfrm>
            <a:off x="838200" y="990600"/>
            <a:ext cx="4038600" cy="609600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zh-CN" altLang="en-US" sz="3000" dirty="0">
                <a:solidFill>
                  <a:srgbClr val="000099"/>
                </a:solidFill>
              </a:rPr>
              <a:t>例</a:t>
            </a:r>
            <a:r>
              <a:rPr lang="en-US" altLang="zh-CN" sz="3000">
                <a:solidFill>
                  <a:srgbClr val="000099"/>
                </a:solidFill>
              </a:rPr>
              <a:t>1</a:t>
            </a:r>
            <a:r>
              <a:rPr lang="en-US" altLang="zh-CN" sz="3000">
                <a:solidFill>
                  <a:srgbClr val="000099"/>
                </a:solidFill>
              </a:rPr>
              <a:t>.6</a:t>
            </a:r>
            <a:r>
              <a:rPr lang="zh-CN" altLang="en-US" sz="3000" dirty="0">
                <a:solidFill>
                  <a:srgbClr val="000099"/>
                </a:solidFill>
              </a:rPr>
              <a:t>：寄存器间交换</a:t>
            </a:r>
            <a:endParaRPr lang="zh-CN" altLang="en-US" sz="3000" dirty="0">
              <a:solidFill>
                <a:srgbClr val="000099"/>
              </a:solidFill>
            </a:endParaRPr>
          </a:p>
        </p:txBody>
      </p:sp>
      <p:sp>
        <p:nvSpPr>
          <p:cNvPr id="33801" name="文本占位符 33800"/>
          <p:cNvSpPr>
            <a:spLocks noGrp="1"/>
          </p:cNvSpPr>
          <p:nvPr>
            <p:ph type="body" idx="1"/>
          </p:nvPr>
        </p:nvSpPr>
        <p:spPr>
          <a:xfrm>
            <a:off x="457200" y="2057400"/>
            <a:ext cx="7937500" cy="3797300"/>
          </a:xfrm>
          <a:solidFill>
            <a:schemeClr val="bg1"/>
          </a:solidFill>
        </p:spPr>
        <p:txBody>
          <a:bodyPr/>
          <a:p>
            <a:pPr marL="0" indent="390525" defTabSz="914400">
              <a:buNone/>
              <a:tabLst>
                <a:tab pos="3810000" algn="l"/>
              </a:tabLst>
            </a:pPr>
            <a:r>
              <a:rPr lang="en-US" altLang="zh-CN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>
                <a:solidFill>
                  <a:srgbClr val="0000FF"/>
                </a:solidFill>
                <a:latin typeface="宋体" panose="02010600030101010101" pitchFamily="2" charset="-122"/>
              </a:rPr>
              <a:t> ax,1234h</a:t>
            </a:r>
            <a:r>
              <a:rPr lang="en-US" altLang="zh-CN">
                <a:latin typeface="宋体" panose="02010600030101010101" pitchFamily="2" charset="-122"/>
              </a:rPr>
              <a:t>	</a:t>
            </a:r>
            <a:r>
              <a:rPr lang="zh-CN" altLang="en-US" dirty="0">
                <a:latin typeface="宋体" panose="02010600030101010101" pitchFamily="2" charset="-122"/>
              </a:rPr>
              <a:t>；</a:t>
            </a:r>
            <a:r>
              <a:rPr lang="en-US" altLang="zh-CN">
                <a:latin typeface="宋体" panose="02010600030101010101" pitchFamily="2" charset="-122"/>
              </a:rPr>
              <a:t>ax=1234h</a:t>
            </a:r>
            <a:endParaRPr lang="en-US" altLang="zh-CN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810000" algn="l"/>
              </a:tabLst>
            </a:pPr>
            <a:r>
              <a:rPr lang="en-US" altLang="zh-CN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>
                <a:solidFill>
                  <a:srgbClr val="0000FF"/>
                </a:solidFill>
                <a:latin typeface="宋体" panose="02010600030101010101" pitchFamily="2" charset="-122"/>
              </a:rPr>
              <a:t> bx,5678h</a:t>
            </a:r>
            <a:r>
              <a:rPr lang="en-US" altLang="zh-CN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dirty="0">
                <a:latin typeface="宋体" panose="02010600030101010101" pitchFamily="2" charset="-122"/>
              </a:rPr>
              <a:t>；</a:t>
            </a:r>
            <a:r>
              <a:rPr lang="en-US" altLang="zh-CN" err="1">
                <a:latin typeface="宋体" panose="02010600030101010101" pitchFamily="2" charset="-122"/>
              </a:rPr>
              <a:t>bx</a:t>
            </a:r>
            <a:r>
              <a:rPr lang="en-US" altLang="zh-CN">
                <a:latin typeface="宋体" panose="02010600030101010101" pitchFamily="2" charset="-122"/>
              </a:rPr>
              <a:t>=5678h</a:t>
            </a:r>
            <a:endParaRPr lang="en-US" altLang="zh-CN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810000" algn="l"/>
              </a:tabLst>
            </a:pPr>
            <a:r>
              <a:rPr lang="en-US" altLang="zh-CN" b="1" err="1">
                <a:solidFill>
                  <a:srgbClr val="008000"/>
                </a:solidFill>
                <a:latin typeface="宋体" panose="02010600030101010101" pitchFamily="2" charset="-122"/>
              </a:rPr>
              <a:t>xchg</a:t>
            </a:r>
            <a:r>
              <a:rPr lang="en-US" altLang="zh-CN" b="1">
                <a:solidFill>
                  <a:srgbClr val="008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err="1">
                <a:solidFill>
                  <a:srgbClr val="008000"/>
                </a:solidFill>
                <a:latin typeface="宋体" panose="02010600030101010101" pitchFamily="2" charset="-122"/>
              </a:rPr>
              <a:t>ax,bx</a:t>
            </a:r>
            <a:r>
              <a:rPr lang="en-US" altLang="zh-CN">
                <a:solidFill>
                  <a:schemeClr val="accent2"/>
                </a:solidFill>
                <a:latin typeface="宋体" panose="02010600030101010101" pitchFamily="2" charset="-122"/>
              </a:rPr>
              <a:t>        </a:t>
            </a:r>
            <a:r>
              <a:rPr lang="zh-CN" altLang="en-US" dirty="0">
                <a:latin typeface="宋体" panose="02010600030101010101" pitchFamily="2" charset="-122"/>
              </a:rPr>
              <a:t>；</a:t>
            </a:r>
            <a:r>
              <a:rPr lang="en-US" altLang="zh-CN">
                <a:latin typeface="宋体" panose="02010600030101010101" pitchFamily="2" charset="-122"/>
              </a:rPr>
              <a:t>ax=5678h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en-US" altLang="zh-CN" err="1">
                <a:latin typeface="宋体" panose="02010600030101010101" pitchFamily="2" charset="-122"/>
              </a:rPr>
              <a:t>bx</a:t>
            </a:r>
            <a:r>
              <a:rPr lang="en-US" altLang="zh-CN">
                <a:latin typeface="宋体" panose="02010600030101010101" pitchFamily="2" charset="-122"/>
              </a:rPr>
              <a:t>=1234h</a:t>
            </a:r>
            <a:endParaRPr lang="en-US" altLang="zh-CN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810000" algn="l"/>
              </a:tabLst>
            </a:pPr>
            <a:r>
              <a:rPr lang="en-US" altLang="zh-CN" b="1" err="1">
                <a:solidFill>
                  <a:srgbClr val="008000"/>
                </a:solidFill>
                <a:latin typeface="宋体" panose="02010600030101010101" pitchFamily="2" charset="-122"/>
              </a:rPr>
              <a:t>xchg</a:t>
            </a:r>
            <a:r>
              <a:rPr lang="en-US" altLang="zh-CN" b="1">
                <a:solidFill>
                  <a:srgbClr val="008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err="1">
                <a:solidFill>
                  <a:srgbClr val="008000"/>
                </a:solidFill>
                <a:latin typeface="宋体" panose="02010600030101010101" pitchFamily="2" charset="-122"/>
              </a:rPr>
              <a:t>ah,al</a:t>
            </a:r>
            <a:r>
              <a:rPr lang="en-US" altLang="zh-CN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dirty="0">
                <a:latin typeface="宋体" panose="02010600030101010101" pitchFamily="2" charset="-122"/>
              </a:rPr>
              <a:t>；</a:t>
            </a:r>
            <a:r>
              <a:rPr lang="en-US" altLang="zh-CN">
                <a:latin typeface="宋体" panose="02010600030101010101" pitchFamily="2" charset="-122"/>
              </a:rPr>
              <a:t>ax=7856h</a:t>
            </a:r>
            <a:endParaRPr lang="en-US" altLang="zh-CN">
              <a:latin typeface="宋体" panose="02010600030101010101" pitchFamily="2" charset="-122"/>
            </a:endParaRPr>
          </a:p>
        </p:txBody>
      </p:sp>
      <p:sp>
        <p:nvSpPr>
          <p:cNvPr id="4" name="右弧形箭头 3">
            <a:hlinkClick r:id="rId1" action="ppaction://hlinksldjump"/>
          </p:cNvPr>
          <p:cNvSpPr/>
          <p:nvPr/>
        </p:nvSpPr>
        <p:spPr>
          <a:xfrm>
            <a:off x="8382000" y="5867400"/>
            <a:ext cx="457200" cy="685800"/>
          </a:xfrm>
          <a:prstGeom prst="curvedLeftArrow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 advClick="0"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24" name="标题 34823"/>
          <p:cNvSpPr>
            <a:spLocks noGrp="1"/>
          </p:cNvSpPr>
          <p:nvPr>
            <p:ph type="title"/>
          </p:nvPr>
        </p:nvSpPr>
        <p:spPr>
          <a:xfrm>
            <a:off x="990600" y="838200"/>
            <a:ext cx="5867400" cy="685800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zh-CN" altLang="en-US" sz="3000" dirty="0"/>
              <a:t>例</a:t>
            </a:r>
            <a:r>
              <a:rPr lang="en-US" altLang="zh-CN" sz="3000"/>
              <a:t>1</a:t>
            </a:r>
            <a:r>
              <a:rPr lang="en-US" altLang="zh-CN" sz="3000"/>
              <a:t>.7</a:t>
            </a:r>
            <a:r>
              <a:rPr lang="zh-CN" altLang="en-US" sz="3000" dirty="0"/>
              <a:t>：寄存器与存储器交换</a:t>
            </a:r>
            <a:endParaRPr lang="zh-CN" altLang="en-US" sz="3000" dirty="0"/>
          </a:p>
        </p:txBody>
      </p:sp>
      <p:sp>
        <p:nvSpPr>
          <p:cNvPr id="34825" name="文本占位符 34824"/>
          <p:cNvSpPr>
            <a:spLocks noGrp="1"/>
          </p:cNvSpPr>
          <p:nvPr>
            <p:ph type="body" idx="1"/>
          </p:nvPr>
        </p:nvSpPr>
        <p:spPr>
          <a:xfrm>
            <a:off x="762000" y="2057400"/>
            <a:ext cx="7648575" cy="3797300"/>
          </a:xfrm>
          <a:solidFill>
            <a:schemeClr val="bg1"/>
          </a:solidFill>
        </p:spPr>
        <p:txBody>
          <a:bodyPr/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b="1" err="1">
                <a:solidFill>
                  <a:srgbClr val="008000"/>
                </a:solidFill>
                <a:latin typeface="宋体" panose="02010600030101010101" pitchFamily="2" charset="-122"/>
              </a:rPr>
              <a:t>xchg</a:t>
            </a:r>
            <a:r>
              <a:rPr lang="en-US" altLang="zh-CN" b="1">
                <a:solidFill>
                  <a:srgbClr val="008000"/>
                </a:solidFill>
                <a:latin typeface="宋体" panose="02010600030101010101" pitchFamily="2" charset="-122"/>
              </a:rPr>
              <a:t> ax,[2000h]</a:t>
            </a:r>
            <a:r>
              <a:rPr lang="en-US" altLang="zh-CN" sz="2600">
                <a:latin typeface="宋体" panose="02010600030101010101" pitchFamily="2" charset="-122"/>
              </a:rPr>
              <a:t>	</a:t>
            </a:r>
            <a:r>
              <a:rPr lang="zh-CN" altLang="en-US" sz="2600" dirty="0">
                <a:latin typeface="宋体" panose="02010600030101010101" pitchFamily="2" charset="-122"/>
              </a:rPr>
              <a:t>；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字</a:t>
            </a:r>
            <a:r>
              <a:rPr lang="zh-CN" altLang="en-US" sz="2600" dirty="0">
                <a:latin typeface="宋体" panose="02010600030101010101" pitchFamily="2" charset="-122"/>
              </a:rPr>
              <a:t>交换</a:t>
            </a:r>
            <a:endParaRPr lang="zh-CN" altLang="en-US" sz="2600" dirty="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zh-CN" altLang="en-US" sz="2600" dirty="0">
                <a:latin typeface="宋体" panose="02010600030101010101" pitchFamily="2" charset="-122"/>
              </a:rPr>
              <a:t>；等同于</a:t>
            </a:r>
            <a:r>
              <a:rPr lang="zh-CN" altLang="en-US" sz="2600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600" b="1" err="1">
                <a:solidFill>
                  <a:srgbClr val="008000"/>
                </a:solidFill>
                <a:latin typeface="宋体" panose="02010600030101010101" pitchFamily="2" charset="-122"/>
              </a:rPr>
              <a:t>xchg</a:t>
            </a:r>
            <a:r>
              <a:rPr lang="en-US" altLang="zh-CN" sz="2600" b="1">
                <a:solidFill>
                  <a:srgbClr val="008000"/>
                </a:solidFill>
                <a:latin typeface="宋体" panose="02010600030101010101" pitchFamily="2" charset="-122"/>
              </a:rPr>
              <a:t> [2000h],ax</a:t>
            </a:r>
            <a:endParaRPr lang="en-US" altLang="zh-CN" sz="2600" b="1">
              <a:solidFill>
                <a:srgbClr val="008000"/>
              </a:solidFill>
              <a:latin typeface="宋体" panose="02010600030101010101" pitchFamily="2" charset="-122"/>
            </a:endParaRPr>
          </a:p>
          <a:p>
            <a:pPr marL="0" indent="390525" defTabSz="914400">
              <a:lnSpc>
                <a:spcPct val="170000"/>
              </a:lnSpc>
              <a:buNone/>
              <a:tabLst>
                <a:tab pos="3342005" algn="l"/>
              </a:tabLst>
            </a:pPr>
            <a:r>
              <a:rPr lang="en-US" altLang="zh-CN" sz="2600" b="1" err="1">
                <a:solidFill>
                  <a:srgbClr val="008000"/>
                </a:solidFill>
                <a:latin typeface="宋体" panose="02010600030101010101" pitchFamily="2" charset="-122"/>
              </a:rPr>
              <a:t>xchg</a:t>
            </a:r>
            <a:r>
              <a:rPr lang="en-US" altLang="zh-CN" sz="2600" b="1">
                <a:solidFill>
                  <a:srgbClr val="008000"/>
                </a:solidFill>
                <a:latin typeface="宋体" panose="02010600030101010101" pitchFamily="2" charset="-122"/>
              </a:rPr>
              <a:t> al,[2000h]</a:t>
            </a:r>
            <a:r>
              <a:rPr lang="en-US" altLang="zh-CN" sz="260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600">
                <a:latin typeface="宋体" panose="02010600030101010101" pitchFamily="2" charset="-122"/>
              </a:rPr>
              <a:t>	</a:t>
            </a:r>
            <a:r>
              <a:rPr lang="zh-CN" altLang="en-US" sz="2600" dirty="0">
                <a:latin typeface="宋体" panose="02010600030101010101" pitchFamily="2" charset="-122"/>
              </a:rPr>
              <a:t>；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字节</a:t>
            </a:r>
            <a:r>
              <a:rPr lang="zh-CN" altLang="en-US" sz="2600" dirty="0">
                <a:latin typeface="宋体" panose="02010600030101010101" pitchFamily="2" charset="-122"/>
              </a:rPr>
              <a:t>交换</a:t>
            </a:r>
            <a:endParaRPr lang="zh-CN" altLang="en-US" sz="2600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0" indent="390525" defTabSz="914400">
              <a:lnSpc>
                <a:spcPct val="80000"/>
              </a:lnSpc>
              <a:buNone/>
              <a:tabLst>
                <a:tab pos="3342005" algn="l"/>
              </a:tabLst>
            </a:pPr>
            <a:r>
              <a:rPr lang="zh-CN" altLang="en-US" sz="2600" dirty="0">
                <a:latin typeface="宋体" panose="02010600030101010101" pitchFamily="2" charset="-122"/>
              </a:rPr>
              <a:t>；等同于</a:t>
            </a:r>
            <a:r>
              <a:rPr lang="zh-CN" altLang="en-US" sz="2600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600" b="1" err="1">
                <a:solidFill>
                  <a:srgbClr val="008000"/>
                </a:solidFill>
                <a:latin typeface="宋体" panose="02010600030101010101" pitchFamily="2" charset="-122"/>
              </a:rPr>
              <a:t>xchg</a:t>
            </a:r>
            <a:r>
              <a:rPr lang="en-US" altLang="zh-CN" sz="2600" b="1">
                <a:solidFill>
                  <a:srgbClr val="008000"/>
                </a:solidFill>
                <a:latin typeface="宋体" panose="02010600030101010101" pitchFamily="2" charset="-122"/>
              </a:rPr>
              <a:t> [2000h],al</a:t>
            </a:r>
            <a:endParaRPr lang="en-US" altLang="zh-CN" sz="2600" b="1">
              <a:solidFill>
                <a:srgbClr val="008000"/>
              </a:solidFill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sz="260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endParaRPr lang="en-US" altLang="zh-CN" sz="260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4" name="右弧形箭头 3">
            <a:hlinkClick r:id="rId1" action="ppaction://hlinksldjump"/>
          </p:cNvPr>
          <p:cNvSpPr/>
          <p:nvPr/>
        </p:nvSpPr>
        <p:spPr>
          <a:xfrm>
            <a:off x="8382000" y="5867400"/>
            <a:ext cx="457200" cy="685800"/>
          </a:xfrm>
          <a:prstGeom prst="curvedLeftArrow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 advClick="0"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矩形 35841"/>
          <p:cNvSpPr/>
          <p:nvPr/>
        </p:nvSpPr>
        <p:spPr>
          <a:xfrm>
            <a:off x="381000" y="3505200"/>
            <a:ext cx="8458200" cy="25146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92150" lvl="1" indent="-34734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87425" lvl="2" indent="-29337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81430" lvl="3" indent="-2921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98930" lvl="4" indent="-31623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sz="2600" b="1" i="0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换码指令执行前：</a:t>
            </a:r>
            <a:endParaRPr lang="zh-CN" altLang="en-US" sz="2600" b="1" i="0" dirty="0">
              <a:solidFill>
                <a:srgbClr val="00009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buNone/>
            </a:pPr>
            <a:r>
              <a:rPr lang="zh-CN" altLang="en-US" sz="2100" b="1" i="0" dirty="0">
                <a:solidFill>
                  <a:srgbClr val="008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zh-CN" altLang="en-US" sz="2100" b="1" i="0" dirty="0">
                <a:solidFill>
                  <a:srgbClr val="008000"/>
                </a:solidFill>
                <a:latin typeface="宋体" panose="02010600030101010101" pitchFamily="2" charset="-122"/>
              </a:rPr>
              <a:t>主存建立一个</a:t>
            </a:r>
            <a:r>
              <a:rPr lang="zh-CN" altLang="en-US" sz="2100" b="1" i="0" dirty="0">
                <a:solidFill>
                  <a:srgbClr val="0000FF"/>
                </a:solidFill>
                <a:latin typeface="宋体" panose="02010600030101010101" pitchFamily="2" charset="-122"/>
              </a:rPr>
              <a:t>字节量表格</a:t>
            </a:r>
            <a:r>
              <a:rPr lang="zh-CN" altLang="en-US" sz="2100" b="1" i="0" dirty="0">
                <a:solidFill>
                  <a:srgbClr val="008000"/>
                </a:solidFill>
                <a:latin typeface="宋体" panose="02010600030101010101" pitchFamily="2" charset="-122"/>
              </a:rPr>
              <a:t>，含要转换成的</a:t>
            </a:r>
            <a:r>
              <a:rPr lang="zh-CN" altLang="en-US" sz="2100" b="1" i="0" dirty="0">
                <a:solidFill>
                  <a:srgbClr val="0000FF"/>
                </a:solidFill>
                <a:latin typeface="宋体" panose="02010600030101010101" pitchFamily="2" charset="-122"/>
              </a:rPr>
              <a:t>目的代码</a:t>
            </a:r>
            <a:endParaRPr lang="zh-CN" altLang="en-US" sz="2100" b="1" i="0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lvl="0">
              <a:buNone/>
            </a:pPr>
            <a:r>
              <a:rPr lang="zh-CN" altLang="en-US" sz="2100" b="1" i="0" dirty="0">
                <a:solidFill>
                  <a:srgbClr val="008000"/>
                </a:solidFill>
                <a:latin typeface="宋体" panose="02010600030101010101" pitchFamily="2" charset="-122"/>
              </a:rPr>
              <a:t>	表格</a:t>
            </a:r>
            <a:r>
              <a:rPr lang="zh-CN" altLang="en-US" sz="2100" b="1" i="0" dirty="0">
                <a:solidFill>
                  <a:srgbClr val="0000FF"/>
                </a:solidFill>
                <a:latin typeface="宋体" panose="02010600030101010101" pitchFamily="2" charset="-122"/>
              </a:rPr>
              <a:t>首地址</a:t>
            </a:r>
            <a:r>
              <a:rPr lang="zh-CN" altLang="en-US" sz="2100" b="1" i="0" dirty="0">
                <a:solidFill>
                  <a:srgbClr val="008000"/>
                </a:solidFill>
                <a:latin typeface="宋体" panose="02010600030101010101" pitchFamily="2" charset="-122"/>
              </a:rPr>
              <a:t>存放于</a:t>
            </a:r>
            <a:r>
              <a:rPr lang="en-US" altLang="zh-CN" sz="2100" b="1" i="0">
                <a:solidFill>
                  <a:srgbClr val="0000FF"/>
                </a:solidFill>
                <a:latin typeface="宋体" panose="02010600030101010101" pitchFamily="2" charset="-122"/>
              </a:rPr>
              <a:t>BX</a:t>
            </a:r>
            <a:r>
              <a:rPr lang="zh-CN" altLang="en-US" sz="2100" b="1" i="0" dirty="0">
                <a:solidFill>
                  <a:srgbClr val="008000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100" b="1" i="0">
                <a:solidFill>
                  <a:srgbClr val="0000FF"/>
                </a:solidFill>
                <a:latin typeface="宋体" panose="02010600030101010101" pitchFamily="2" charset="-122"/>
              </a:rPr>
              <a:t>AL</a:t>
            </a:r>
            <a:r>
              <a:rPr lang="zh-CN" altLang="en-US" sz="2100" b="1" i="0" dirty="0">
                <a:solidFill>
                  <a:srgbClr val="008000"/>
                </a:solidFill>
                <a:latin typeface="宋体" panose="02010600030101010101" pitchFamily="2" charset="-122"/>
              </a:rPr>
              <a:t>存放</a:t>
            </a:r>
            <a:r>
              <a:rPr lang="zh-CN" altLang="en-US" sz="2100" b="1" i="0" dirty="0">
                <a:solidFill>
                  <a:srgbClr val="FF0000"/>
                </a:solidFill>
                <a:latin typeface="宋体" panose="02010600030101010101" pitchFamily="2" charset="-122"/>
              </a:rPr>
              <a:t>相对</a:t>
            </a:r>
            <a:r>
              <a:rPr lang="zh-CN" altLang="en-US" sz="2100" b="1" i="0" dirty="0">
                <a:solidFill>
                  <a:srgbClr val="008000"/>
                </a:solidFill>
                <a:latin typeface="宋体" panose="02010600030101010101" pitchFamily="2" charset="-122"/>
              </a:rPr>
              <a:t>表格首的</a:t>
            </a:r>
            <a:r>
              <a:rPr lang="zh-CN" altLang="en-US" sz="2100" b="1" i="0" dirty="0">
                <a:solidFill>
                  <a:srgbClr val="FF0000"/>
                </a:solidFill>
                <a:latin typeface="宋体" panose="02010600030101010101" pitchFamily="2" charset="-122"/>
              </a:rPr>
              <a:t>位移量</a:t>
            </a:r>
            <a:endParaRPr lang="zh-CN" altLang="en-US" sz="2100" b="1" i="0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lvl="0"/>
            <a:r>
              <a:rPr lang="zh-CN" altLang="en-US" sz="2600" b="1" i="0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换码指令执行后：</a:t>
            </a:r>
            <a:endParaRPr lang="zh-CN" altLang="en-US" sz="2600" b="1" i="0" dirty="0">
              <a:solidFill>
                <a:srgbClr val="00009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None/>
            </a:pPr>
            <a:r>
              <a:rPr lang="zh-CN" altLang="en-US" sz="2200" b="1" dirty="0">
                <a:solidFill>
                  <a:srgbClr val="008000"/>
                </a:solidFill>
                <a:latin typeface="宋体" panose="02010600030101010101" pitchFamily="2" charset="-122"/>
              </a:rPr>
              <a:t>将</a:t>
            </a:r>
            <a:r>
              <a:rPr lang="en-US" altLang="zh-CN" sz="2200" b="1">
                <a:solidFill>
                  <a:srgbClr val="008000"/>
                </a:solidFill>
                <a:latin typeface="宋体" panose="02010600030101010101" pitchFamily="2" charset="-122"/>
              </a:rPr>
              <a:t>AL</a:t>
            </a:r>
            <a:r>
              <a:rPr lang="zh-CN" altLang="en-US" sz="2200" b="1" dirty="0">
                <a:solidFill>
                  <a:srgbClr val="008000"/>
                </a:solidFill>
                <a:latin typeface="宋体" panose="02010600030101010101" pitchFamily="2" charset="-122"/>
              </a:rPr>
              <a:t>寄存器的内容转换为</a:t>
            </a:r>
            <a:r>
              <a:rPr lang="zh-CN" altLang="en-US" sz="2200" b="1" dirty="0">
                <a:solidFill>
                  <a:srgbClr val="0000FF"/>
                </a:solidFill>
                <a:latin typeface="宋体" panose="02010600030101010101" pitchFamily="2" charset="-122"/>
              </a:rPr>
              <a:t>目标</a:t>
            </a:r>
            <a:r>
              <a:rPr lang="zh-CN" altLang="en-US" sz="2200" b="1" dirty="0">
                <a:solidFill>
                  <a:srgbClr val="0000FF"/>
                </a:solidFill>
                <a:latin typeface="宋体" panose="02010600030101010101" pitchFamily="2" charset="-122"/>
              </a:rPr>
              <a:t>代码</a:t>
            </a:r>
            <a:endParaRPr lang="zh-CN" altLang="en-US" sz="2200" b="1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35843" name="标题 35842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</a:t>
            </a:r>
            <a:r>
              <a:rPr lang="en-US" altLang="zh-CN"/>
              <a:t> </a:t>
            </a:r>
            <a:r>
              <a:rPr lang="zh-CN" altLang="en-US" dirty="0"/>
              <a:t>换码指令</a:t>
            </a:r>
            <a:r>
              <a:rPr lang="en-US" altLang="zh-CN"/>
              <a:t>XLAT</a:t>
            </a:r>
            <a:r>
              <a:rPr lang="zh-CN" altLang="en-US" sz="3000" dirty="0">
                <a:solidFill>
                  <a:schemeClr val="tx1"/>
                </a:solidFill>
              </a:rPr>
              <a:t>（</a:t>
            </a:r>
            <a:r>
              <a:rPr lang="en-US" altLang="zh-CN" sz="3000">
                <a:solidFill>
                  <a:schemeClr val="tx1"/>
                </a:solidFill>
              </a:rPr>
              <a:t>translate</a:t>
            </a:r>
            <a:r>
              <a:rPr lang="zh-CN" altLang="en-US" sz="3000" dirty="0">
                <a:solidFill>
                  <a:schemeClr val="tx1"/>
                </a:solidFill>
              </a:rPr>
              <a:t>）</a:t>
            </a:r>
            <a:endParaRPr lang="zh-CN" altLang="en-US" sz="3000" dirty="0">
              <a:solidFill>
                <a:schemeClr val="tx1"/>
              </a:solidFill>
            </a:endParaRPr>
          </a:p>
        </p:txBody>
      </p:sp>
      <p:sp>
        <p:nvSpPr>
          <p:cNvPr id="35844" name="文本占位符 35843"/>
          <p:cNvSpPr>
            <a:spLocks noGrp="1"/>
          </p:cNvSpPr>
          <p:nvPr>
            <p:ph type="body" idx="1"/>
          </p:nvPr>
        </p:nvSpPr>
        <p:spPr>
          <a:xfrm>
            <a:off x="457200" y="1719263"/>
            <a:ext cx="7467600" cy="1139825"/>
          </a:xfrm>
        </p:spPr>
        <p:txBody>
          <a:bodyPr/>
          <a:p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将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BX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指定的缓冲区中、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指定的位移处的一个字节数据取出赋给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</a:t>
            </a:r>
            <a:endParaRPr lang="en-US" altLang="zh-CN" sz="2600" b="1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5845" name="流程图: 可选过程 35844"/>
          <p:cNvSpPr/>
          <p:nvPr/>
        </p:nvSpPr>
        <p:spPr>
          <a:xfrm>
            <a:off x="914400" y="2819400"/>
            <a:ext cx="6065838" cy="617538"/>
          </a:xfrm>
          <a:prstGeom prst="flowChartAlternateProcess">
            <a:avLst/>
          </a:prstGeom>
          <a:solidFill>
            <a:srgbClr val="CCFFFF"/>
          </a:solidFill>
          <a:ln w="12700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>
            <a:spAutoFit/>
          </a:bodyPr>
          <a:p>
            <a:pPr algn="l" defTabSz="914400">
              <a:tabLst>
                <a:tab pos="2289175" algn="l"/>
              </a:tabLst>
            </a:pPr>
            <a:r>
              <a:rPr lang="en-US" altLang="zh-CN" sz="3200" i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XLAT</a:t>
            </a:r>
            <a:r>
              <a:rPr lang="en-US" altLang="zh-CN" i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i="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lang="en-US" altLang="zh-CN" i="0" err="1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al←ds:[bx+al</a:t>
            </a:r>
            <a:r>
              <a:rPr lang="en-US" altLang="zh-CN" i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</a:t>
            </a:r>
            <a:endParaRPr lang="en-US" altLang="zh-CN" i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5846" name="文本框 35845">
            <a:hlinkClick r:id="" action="ppaction://noaction"/>
          </p:cNvPr>
          <p:cNvSpPr txBox="1"/>
          <p:nvPr/>
        </p:nvSpPr>
        <p:spPr>
          <a:xfrm>
            <a:off x="7315200" y="2971800"/>
            <a:ext cx="1045845" cy="398780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18900000" scaled="1"/>
            <a:tileRect/>
          </a:gradFill>
          <a:ln w="9525">
            <a:noFill/>
          </a:ln>
          <a:effectLst>
            <a:outerShdw dist="35921" dir="2699999" algn="ctr" rotWithShape="0">
              <a:srgbClr val="808080"/>
            </a:outerShdw>
          </a:effectLst>
        </p:spPr>
        <p:txBody>
          <a:bodyPr wrap="none" anchor="t" anchorCtr="0">
            <a:spAutoFit/>
          </a:bodyPr>
          <a:p>
            <a:pPr algn="l">
              <a:spcBef>
                <a:spcPct val="0"/>
              </a:spcBef>
            </a:pPr>
            <a:r>
              <a:rPr lang="zh-CN" altLang="en-US" sz="2000" i="0" dirty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例题</a:t>
            </a:r>
            <a:r>
              <a:rPr lang="en-US" altLang="zh-CN" sz="2000" i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sz="2000" i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.8</a:t>
            </a:r>
            <a:endParaRPr lang="en-US" altLang="zh-CN" sz="2000" i="0">
              <a:solidFill>
                <a:srgbClr val="66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72" name="标题 36871"/>
          <p:cNvSpPr>
            <a:spLocks noGrp="1"/>
          </p:cNvSpPr>
          <p:nvPr>
            <p:ph type="title"/>
          </p:nvPr>
        </p:nvSpPr>
        <p:spPr>
          <a:xfrm>
            <a:off x="1219200" y="762000"/>
            <a:ext cx="3962400" cy="685800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zh-CN" altLang="en-US" sz="3000" dirty="0"/>
              <a:t>例</a:t>
            </a:r>
            <a:r>
              <a:rPr lang="en-US" altLang="zh-CN" sz="3000"/>
              <a:t>1</a:t>
            </a:r>
            <a:r>
              <a:rPr lang="en-US" altLang="zh-CN" sz="3000"/>
              <a:t>.8</a:t>
            </a:r>
            <a:r>
              <a:rPr lang="zh-CN" altLang="en-US" sz="3000" dirty="0"/>
              <a:t>：代码转换</a:t>
            </a:r>
            <a:endParaRPr lang="zh-CN" altLang="en-US" sz="3000" dirty="0"/>
          </a:p>
        </p:txBody>
      </p:sp>
      <p:sp>
        <p:nvSpPr>
          <p:cNvPr id="36873" name="文本占位符 36872"/>
          <p:cNvSpPr>
            <a:spLocks noGrp="1"/>
          </p:cNvSpPr>
          <p:nvPr>
            <p:ph type="body" idx="1"/>
          </p:nvPr>
        </p:nvSpPr>
        <p:spPr>
          <a:xfrm>
            <a:off x="762000" y="1600200"/>
            <a:ext cx="7648575" cy="4267200"/>
          </a:xfrm>
          <a:solidFill>
            <a:schemeClr val="bg1"/>
          </a:solidFill>
        </p:spPr>
        <p:txBody>
          <a:bodyPr/>
          <a:p>
            <a:pPr marL="0" indent="390525" defTabSz="914400">
              <a:buNone/>
              <a:tabLst>
                <a:tab pos="3342005" algn="l"/>
              </a:tabLst>
            </a:pPr>
            <a:r>
              <a:rPr lang="zh-CN" altLang="en-US" sz="2600" b="1" dirty="0">
                <a:solidFill>
                  <a:srgbClr val="008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将首地址位</a:t>
            </a:r>
            <a:r>
              <a:rPr lang="en-US" altLang="zh-CN" sz="2600" b="1">
                <a:solidFill>
                  <a:srgbClr val="008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100H</a:t>
            </a:r>
            <a:r>
              <a:rPr lang="zh-CN" altLang="en-US" sz="2600" b="1" dirty="0">
                <a:solidFill>
                  <a:srgbClr val="008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的表格缓冲区中的</a:t>
            </a:r>
            <a:r>
              <a:rPr lang="en-US" altLang="zh-CN" sz="2600" b="1">
                <a:solidFill>
                  <a:srgbClr val="008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600" b="1" dirty="0">
                <a:solidFill>
                  <a:srgbClr val="008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号数据取出：</a:t>
            </a:r>
            <a:endParaRPr lang="zh-CN" altLang="en-US" sz="2600" b="1" dirty="0">
              <a:solidFill>
                <a:srgbClr val="008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endParaRPr lang="zh-CN" altLang="en-US" sz="2600" b="1" dirty="0">
              <a:solidFill>
                <a:srgbClr val="008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b="1" err="1">
                <a:solidFill>
                  <a:srgbClr val="008000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b="1">
                <a:solidFill>
                  <a:srgbClr val="008000"/>
                </a:solidFill>
                <a:latin typeface="宋体" panose="02010600030101010101" pitchFamily="2" charset="-122"/>
              </a:rPr>
              <a:t> bx,100h</a:t>
            </a:r>
            <a:endParaRPr lang="en-US" altLang="zh-CN" b="1">
              <a:solidFill>
                <a:srgbClr val="008000"/>
              </a:solidFill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b="1" err="1">
                <a:solidFill>
                  <a:srgbClr val="008000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b="1">
                <a:solidFill>
                  <a:srgbClr val="008000"/>
                </a:solidFill>
                <a:latin typeface="宋体" panose="02010600030101010101" pitchFamily="2" charset="-122"/>
              </a:rPr>
              <a:t> al,03h</a:t>
            </a:r>
            <a:endParaRPr lang="en-US" altLang="zh-CN" b="1">
              <a:solidFill>
                <a:srgbClr val="008000"/>
              </a:solidFill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b="1" err="1">
                <a:solidFill>
                  <a:srgbClr val="0000FF"/>
                </a:solidFill>
                <a:latin typeface="宋体" panose="02010600030101010101" pitchFamily="2" charset="-122"/>
              </a:rPr>
              <a:t>xlat</a:t>
            </a:r>
            <a:endParaRPr lang="en-US" altLang="zh-CN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36874" name="圆角矩形 36873" descr="画布"/>
          <p:cNvSpPr/>
          <p:nvPr/>
        </p:nvSpPr>
        <p:spPr>
          <a:xfrm>
            <a:off x="762000" y="4648200"/>
            <a:ext cx="7391400" cy="1697038"/>
          </a:xfrm>
          <a:prstGeom prst="roundRect">
            <a:avLst>
              <a:gd name="adj" fmla="val 16667"/>
            </a:avLst>
          </a:prstGeom>
          <a:blipFill rotWithShape="0">
            <a:blip r:embed="rId1"/>
          </a:blipFill>
          <a:ln w="9525">
            <a:noFill/>
          </a:ln>
        </p:spPr>
        <p:txBody>
          <a:bodyPr anchor="ctr" anchorCtr="0"/>
          <a:p>
            <a:pPr>
              <a:spcBef>
                <a:spcPct val="0"/>
              </a:spcBef>
              <a:buBlip>
                <a:blip r:embed="rId2"/>
              </a:buBlip>
            </a:pPr>
            <a:r>
              <a:rPr lang="en-US" altLang="zh-CN" sz="3200" i="0" dirty="0">
                <a:solidFill>
                  <a:srgbClr val="008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3200" i="0" dirty="0">
                <a:solidFill>
                  <a:srgbClr val="008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换码指令没有显式的操作数，但使用了</a:t>
            </a:r>
            <a:r>
              <a:rPr lang="en-US" altLang="zh-CN" sz="3200" i="0">
                <a:solidFill>
                  <a:srgbClr val="008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BX</a:t>
            </a:r>
            <a:r>
              <a:rPr lang="zh-CN" altLang="en-US" sz="3200" i="0" dirty="0">
                <a:solidFill>
                  <a:srgbClr val="008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3200" i="0">
                <a:solidFill>
                  <a:srgbClr val="008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</a:t>
            </a:r>
            <a:r>
              <a:rPr lang="zh-CN" altLang="en-US" sz="3200" i="0" dirty="0">
                <a:solidFill>
                  <a:srgbClr val="008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；即换码指令使用了隐含寻址方式</a:t>
            </a:r>
            <a:r>
              <a:rPr lang="en-US" altLang="zh-CN" sz="3200" i="0">
                <a:solidFill>
                  <a:srgbClr val="008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3200" i="0" dirty="0">
                <a:solidFill>
                  <a:srgbClr val="008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采用默认操作数</a:t>
            </a:r>
            <a:endParaRPr lang="zh-CN" altLang="en-US" sz="3200" i="0" dirty="0">
              <a:solidFill>
                <a:srgbClr val="008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6876" name="椭圆 36875" descr="DI-43"/>
          <p:cNvSpPr/>
          <p:nvPr/>
        </p:nvSpPr>
        <p:spPr>
          <a:xfrm>
            <a:off x="60325" y="152400"/>
            <a:ext cx="914400" cy="914400"/>
          </a:xfrm>
          <a:prstGeom prst="ellipse">
            <a:avLst/>
          </a:prstGeom>
          <a:blipFill rotWithShape="0">
            <a:blip r:embed="rId3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p>
            <a:pPr algn="ctr">
              <a:spcBef>
                <a:spcPct val="0"/>
              </a:spcBef>
            </a:pPr>
            <a:r>
              <a:rPr lang="en-US" altLang="zh-CN" sz="2400" i="0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XLAT</a:t>
            </a:r>
            <a:endParaRPr lang="en-US" altLang="zh-CN" sz="2400" i="0">
              <a:solidFill>
                <a:schemeClr val="bg2"/>
              </a:solidFill>
              <a:effectLst>
                <a:outerShdw blurRad="38100" dist="38100" dir="2700000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 advClick="0"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标题 37889"/>
          <p:cNvSpPr>
            <a:spLocks noGrp="1"/>
          </p:cNvSpPr>
          <p:nvPr>
            <p:ph type="title"/>
          </p:nvPr>
        </p:nvSpPr>
        <p:spPr>
          <a:xfrm>
            <a:off x="152400" y="228600"/>
            <a:ext cx="6910388" cy="731838"/>
          </a:xfrm>
        </p:spPr>
        <p:txBody>
          <a:bodyPr anchor="b" anchorCtr="0"/>
          <a:p>
            <a:r>
              <a:rPr lang="en-US" altLang="zh-CN"/>
              <a:t>1.2  </a:t>
            </a:r>
            <a:r>
              <a:rPr lang="zh-CN" altLang="en-US" dirty="0"/>
              <a:t>堆栈操作指令</a:t>
            </a:r>
            <a:endParaRPr lang="zh-CN" altLang="en-US" dirty="0"/>
          </a:p>
        </p:txBody>
      </p:sp>
      <p:sp>
        <p:nvSpPr>
          <p:cNvPr id="37891" name="文本占位符 37890"/>
          <p:cNvSpPr>
            <a:spLocks noGrp="1"/>
          </p:cNvSpPr>
          <p:nvPr>
            <p:ph type="body" idx="1"/>
          </p:nvPr>
        </p:nvSpPr>
        <p:spPr>
          <a:xfrm>
            <a:off x="304800" y="1268413"/>
            <a:ext cx="3276600" cy="5056187"/>
          </a:xfrm>
        </p:spPr>
        <p:txBody>
          <a:bodyPr/>
          <a:p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堆栈：后进先出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FILO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，位于堆栈段；</a:t>
            </a:r>
            <a:r>
              <a:rPr lang="en-US" altLang="zh-CN" sz="26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SS</a:t>
            </a:r>
            <a:r>
              <a:rPr lang="zh-CN" altLang="en-US" sz="2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段寄存器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记录其段地址</a:t>
            </a:r>
            <a:endParaRPr lang="zh-CN" altLang="en-US" sz="26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堆栈只有一个出口，即当前栈顶；用</a:t>
            </a:r>
            <a:r>
              <a:rPr lang="zh-CN" altLang="en-US" sz="2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堆栈指针寄存器</a:t>
            </a:r>
            <a:r>
              <a:rPr lang="en-US" altLang="zh-CN" sz="26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SP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指定</a:t>
            </a:r>
            <a:endParaRPr lang="zh-CN" altLang="en-US" sz="26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7892" name="图片 37891" descr="hy02_01"/>
          <p:cNvPicPr>
            <a:picLocks noChangeAspect="1"/>
          </p:cNvPicPr>
          <p:nvPr/>
        </p:nvPicPr>
        <p:blipFill>
          <a:blip r:embed="rId1"/>
          <a:srcRect r="56084" b="9952"/>
          <a:stretch>
            <a:fillRect/>
          </a:stretch>
        </p:blipFill>
        <p:spPr>
          <a:xfrm>
            <a:off x="3657600" y="1295400"/>
            <a:ext cx="5292725" cy="52562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标题 38913"/>
          <p:cNvSpPr>
            <a:spLocks noGrp="1"/>
          </p:cNvSpPr>
          <p:nvPr>
            <p:ph type="title"/>
          </p:nvPr>
        </p:nvSpPr>
        <p:spPr>
          <a:xfrm>
            <a:off x="457200" y="0"/>
            <a:ext cx="5410200" cy="1417638"/>
          </a:xfrm>
        </p:spPr>
        <p:txBody>
          <a:bodyPr anchor="b" anchorCtr="0"/>
          <a:p>
            <a:r>
              <a:rPr lang="zh-CN" altLang="en-US" dirty="0"/>
              <a:t>堆栈和队列</a:t>
            </a:r>
            <a:endParaRPr lang="zh-CN" altLang="en-US" dirty="0"/>
          </a:p>
        </p:txBody>
      </p:sp>
      <p:sp>
        <p:nvSpPr>
          <p:cNvPr id="38915" name="文本占位符 38914"/>
          <p:cNvSpPr>
            <a:spLocks noGrp="1"/>
          </p:cNvSpPr>
          <p:nvPr>
            <p:ph type="body" idx="1"/>
          </p:nvPr>
        </p:nvSpPr>
        <p:spPr>
          <a:xfrm>
            <a:off x="539750" y="2217738"/>
            <a:ext cx="4668838" cy="3271837"/>
          </a:xfrm>
        </p:spPr>
        <p:txBody>
          <a:bodyPr/>
          <a:p>
            <a:pPr marL="0" indent="390525"/>
            <a:r>
              <a:rPr lang="zh-CN" altLang="en-US" sz="2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堆栈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：按照</a:t>
            </a:r>
            <a:r>
              <a:rPr lang="zh-CN" altLang="en-US" sz="2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后进先出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(LIFO)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的原则组织的存储器空间（栈）</a:t>
            </a:r>
            <a:endParaRPr lang="zh-CN" altLang="en-US" sz="26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390525">
              <a:spcBef>
                <a:spcPct val="50000"/>
              </a:spcBef>
            </a:pPr>
            <a:r>
              <a:rPr lang="zh-CN" altLang="en-US" sz="2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队列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：按照</a:t>
            </a:r>
            <a:r>
              <a:rPr lang="zh-CN" altLang="en-US" sz="2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先进先出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(FIFO)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的原则组织的存储器空间（堆）</a:t>
            </a:r>
            <a:endParaRPr lang="zh-CN" altLang="en-US" sz="26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38916" name="组合 38915"/>
          <p:cNvGrpSpPr/>
          <p:nvPr/>
        </p:nvGrpSpPr>
        <p:grpSpPr>
          <a:xfrm>
            <a:off x="6553200" y="2057400"/>
            <a:ext cx="990600" cy="1676400"/>
            <a:chOff x="1536" y="672"/>
            <a:chExt cx="480" cy="1056"/>
          </a:xfrm>
        </p:grpSpPr>
        <p:grpSp>
          <p:nvGrpSpPr>
            <p:cNvPr id="38917" name="组合 38916"/>
            <p:cNvGrpSpPr/>
            <p:nvPr/>
          </p:nvGrpSpPr>
          <p:grpSpPr>
            <a:xfrm>
              <a:off x="1536" y="672"/>
              <a:ext cx="480" cy="672"/>
              <a:chOff x="1872" y="816"/>
              <a:chExt cx="480" cy="672"/>
            </a:xfrm>
          </p:grpSpPr>
          <p:grpSp>
            <p:nvGrpSpPr>
              <p:cNvPr id="38918" name="组合 38917"/>
              <p:cNvGrpSpPr/>
              <p:nvPr/>
            </p:nvGrpSpPr>
            <p:grpSpPr>
              <a:xfrm>
                <a:off x="1872" y="960"/>
                <a:ext cx="480" cy="528"/>
                <a:chOff x="1872" y="960"/>
                <a:chExt cx="480" cy="528"/>
              </a:xfrm>
            </p:grpSpPr>
            <p:sp>
              <p:nvSpPr>
                <p:cNvPr id="38919" name="直接连接符 38918"/>
                <p:cNvSpPr/>
                <p:nvPr/>
              </p:nvSpPr>
              <p:spPr>
                <a:xfrm>
                  <a:off x="1872" y="960"/>
                  <a:ext cx="0" cy="528"/>
                </a:xfrm>
                <a:prstGeom prst="line">
                  <a:avLst/>
                </a:prstGeom>
                <a:ln w="2540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8920" name="直接连接符 38919"/>
                <p:cNvSpPr/>
                <p:nvPr/>
              </p:nvSpPr>
              <p:spPr>
                <a:xfrm>
                  <a:off x="2352" y="960"/>
                  <a:ext cx="0" cy="528"/>
                </a:xfrm>
                <a:prstGeom prst="line">
                  <a:avLst/>
                </a:prstGeom>
                <a:ln w="2540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8921" name="直接连接符 38920"/>
                <p:cNvSpPr/>
                <p:nvPr/>
              </p:nvSpPr>
              <p:spPr>
                <a:xfrm>
                  <a:off x="1872" y="1488"/>
                  <a:ext cx="480" cy="0"/>
                </a:xfrm>
                <a:prstGeom prst="line">
                  <a:avLst/>
                </a:prstGeom>
                <a:ln w="2540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8922" name="直接连接符 38921"/>
                <p:cNvSpPr/>
                <p:nvPr/>
              </p:nvSpPr>
              <p:spPr>
                <a:xfrm>
                  <a:off x="1872" y="1200"/>
                  <a:ext cx="480" cy="0"/>
                </a:xfrm>
                <a:prstGeom prst="line">
                  <a:avLst/>
                </a:prstGeom>
                <a:ln w="2540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8923" name="直接连接符 38922"/>
                <p:cNvSpPr/>
                <p:nvPr/>
              </p:nvSpPr>
              <p:spPr>
                <a:xfrm>
                  <a:off x="1872" y="1104"/>
                  <a:ext cx="480" cy="0"/>
                </a:xfrm>
                <a:prstGeom prst="line">
                  <a:avLst/>
                </a:prstGeom>
                <a:ln w="2540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8924" name="直接连接符 38923"/>
                <p:cNvSpPr/>
                <p:nvPr/>
              </p:nvSpPr>
              <p:spPr>
                <a:xfrm>
                  <a:off x="1872" y="1296"/>
                  <a:ext cx="480" cy="0"/>
                </a:xfrm>
                <a:prstGeom prst="line">
                  <a:avLst/>
                </a:prstGeom>
                <a:ln w="2540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8925" name="直接连接符 38924"/>
                <p:cNvSpPr/>
                <p:nvPr/>
              </p:nvSpPr>
              <p:spPr>
                <a:xfrm>
                  <a:off x="1872" y="1392"/>
                  <a:ext cx="480" cy="0"/>
                </a:xfrm>
                <a:prstGeom prst="line">
                  <a:avLst/>
                </a:prstGeom>
                <a:ln w="2540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8926" name="上箭头 38925"/>
              <p:cNvSpPr/>
              <p:nvPr/>
            </p:nvSpPr>
            <p:spPr>
              <a:xfrm flipV="1">
                <a:off x="1968" y="816"/>
                <a:ext cx="96" cy="192"/>
              </a:xfrm>
              <a:prstGeom prst="upArrow">
                <a:avLst>
                  <a:gd name="adj1" fmla="val 50000"/>
                  <a:gd name="adj2" fmla="val 50000"/>
                </a:avLst>
              </a:prstGeom>
              <a:noFill/>
              <a:ln w="25400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8927" name="上箭头 38926"/>
              <p:cNvSpPr/>
              <p:nvPr/>
            </p:nvSpPr>
            <p:spPr>
              <a:xfrm>
                <a:off x="2160" y="816"/>
                <a:ext cx="96" cy="192"/>
              </a:xfrm>
              <a:prstGeom prst="upArrow">
                <a:avLst>
                  <a:gd name="adj1" fmla="val 50000"/>
                  <a:gd name="adj2" fmla="val 50000"/>
                </a:avLst>
              </a:prstGeom>
              <a:noFill/>
              <a:ln w="25400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38928" name="文本框 38927"/>
            <p:cNvSpPr txBox="1"/>
            <p:nvPr/>
          </p:nvSpPr>
          <p:spPr>
            <a:xfrm>
              <a:off x="1552" y="1440"/>
              <a:ext cx="450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</a:pPr>
              <a:r>
                <a:rPr lang="en-US" altLang="zh-CN" sz="2400" i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LIFO</a:t>
              </a:r>
              <a:endParaRPr lang="en-US" altLang="zh-CN" sz="2400" i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8929" name="组合 38928"/>
          <p:cNvGrpSpPr/>
          <p:nvPr/>
        </p:nvGrpSpPr>
        <p:grpSpPr>
          <a:xfrm>
            <a:off x="6019800" y="4267200"/>
            <a:ext cx="1676400" cy="1468438"/>
            <a:chOff x="3121" y="864"/>
            <a:chExt cx="959" cy="886"/>
          </a:xfrm>
        </p:grpSpPr>
        <p:grpSp>
          <p:nvGrpSpPr>
            <p:cNvPr id="38930" name="组合 38929"/>
            <p:cNvGrpSpPr/>
            <p:nvPr/>
          </p:nvGrpSpPr>
          <p:grpSpPr>
            <a:xfrm>
              <a:off x="3121" y="864"/>
              <a:ext cx="959" cy="480"/>
              <a:chOff x="3121" y="912"/>
              <a:chExt cx="959" cy="480"/>
            </a:xfrm>
          </p:grpSpPr>
          <p:grpSp>
            <p:nvGrpSpPr>
              <p:cNvPr id="38931" name="组合 38930"/>
              <p:cNvGrpSpPr/>
              <p:nvPr/>
            </p:nvGrpSpPr>
            <p:grpSpPr>
              <a:xfrm rot="5400000">
                <a:off x="3432" y="888"/>
                <a:ext cx="480" cy="528"/>
                <a:chOff x="1872" y="960"/>
                <a:chExt cx="480" cy="528"/>
              </a:xfrm>
            </p:grpSpPr>
            <p:sp>
              <p:nvSpPr>
                <p:cNvPr id="38932" name="直接连接符 38931"/>
                <p:cNvSpPr/>
                <p:nvPr/>
              </p:nvSpPr>
              <p:spPr>
                <a:xfrm>
                  <a:off x="1872" y="960"/>
                  <a:ext cx="0" cy="528"/>
                </a:xfrm>
                <a:prstGeom prst="line">
                  <a:avLst/>
                </a:prstGeom>
                <a:ln w="2540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8933" name="直接连接符 38932"/>
                <p:cNvSpPr/>
                <p:nvPr/>
              </p:nvSpPr>
              <p:spPr>
                <a:xfrm>
                  <a:off x="2352" y="960"/>
                  <a:ext cx="0" cy="528"/>
                </a:xfrm>
                <a:prstGeom prst="line">
                  <a:avLst/>
                </a:prstGeom>
                <a:ln w="2540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8934" name="直接连接符 38933"/>
                <p:cNvSpPr/>
                <p:nvPr/>
              </p:nvSpPr>
              <p:spPr>
                <a:xfrm>
                  <a:off x="1872" y="1488"/>
                  <a:ext cx="480" cy="0"/>
                </a:xfrm>
                <a:prstGeom prst="line">
                  <a:avLst/>
                </a:prstGeom>
                <a:ln w="2540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8935" name="直接连接符 38934"/>
                <p:cNvSpPr/>
                <p:nvPr/>
              </p:nvSpPr>
              <p:spPr>
                <a:xfrm>
                  <a:off x="1872" y="1200"/>
                  <a:ext cx="480" cy="0"/>
                </a:xfrm>
                <a:prstGeom prst="line">
                  <a:avLst/>
                </a:prstGeom>
                <a:ln w="2540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8936" name="直接连接符 38935"/>
                <p:cNvSpPr/>
                <p:nvPr/>
              </p:nvSpPr>
              <p:spPr>
                <a:xfrm>
                  <a:off x="1872" y="1104"/>
                  <a:ext cx="480" cy="0"/>
                </a:xfrm>
                <a:prstGeom prst="line">
                  <a:avLst/>
                </a:prstGeom>
                <a:ln w="2540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8937" name="直接连接符 38936"/>
                <p:cNvSpPr/>
                <p:nvPr/>
              </p:nvSpPr>
              <p:spPr>
                <a:xfrm>
                  <a:off x="1872" y="1296"/>
                  <a:ext cx="480" cy="0"/>
                </a:xfrm>
                <a:prstGeom prst="line">
                  <a:avLst/>
                </a:prstGeom>
                <a:ln w="2540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8938" name="直接连接符 38937"/>
                <p:cNvSpPr/>
                <p:nvPr/>
              </p:nvSpPr>
              <p:spPr>
                <a:xfrm>
                  <a:off x="1872" y="1392"/>
                  <a:ext cx="480" cy="0"/>
                </a:xfrm>
                <a:prstGeom prst="line">
                  <a:avLst/>
                </a:prstGeom>
                <a:ln w="2540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8939" name="上箭头 38938"/>
              <p:cNvSpPr/>
              <p:nvPr/>
            </p:nvSpPr>
            <p:spPr>
              <a:xfrm rot="5400000" flipV="1">
                <a:off x="3936" y="1057"/>
                <a:ext cx="96" cy="192"/>
              </a:xfrm>
              <a:prstGeom prst="upArrow">
                <a:avLst>
                  <a:gd name="adj1" fmla="val 50000"/>
                  <a:gd name="adj2" fmla="val 50000"/>
                </a:avLst>
              </a:prstGeom>
              <a:noFill/>
              <a:ln w="25400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8940" name="上箭头 38939"/>
              <p:cNvSpPr/>
              <p:nvPr/>
            </p:nvSpPr>
            <p:spPr>
              <a:xfrm rot="-5400000" flipH="1">
                <a:off x="3169" y="1056"/>
                <a:ext cx="96" cy="192"/>
              </a:xfrm>
              <a:prstGeom prst="upArrow">
                <a:avLst>
                  <a:gd name="adj1" fmla="val 50000"/>
                  <a:gd name="adj2" fmla="val 50000"/>
                </a:avLst>
              </a:prstGeom>
              <a:noFill/>
              <a:ln w="25400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38941" name="文本框 38940"/>
            <p:cNvSpPr txBox="1"/>
            <p:nvPr/>
          </p:nvSpPr>
          <p:spPr>
            <a:xfrm>
              <a:off x="3382" y="1474"/>
              <a:ext cx="521" cy="27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0"/>
                </a:spcBef>
              </a:pPr>
              <a:r>
                <a:rPr lang="en-US" altLang="zh-CN" sz="2400" i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FIFO</a:t>
              </a:r>
              <a:endParaRPr lang="en-US" altLang="zh-CN" sz="2400" i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med" advClick="0"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标题 39937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堆栈的操作</a:t>
            </a:r>
            <a:endParaRPr lang="zh-CN" altLang="en-US" dirty="0"/>
          </a:p>
        </p:txBody>
      </p:sp>
      <p:sp>
        <p:nvSpPr>
          <p:cNvPr id="39939" name="文本占位符 39938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堆栈只有两种基本操作：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进栈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出栈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endParaRPr lang="zh-CN" altLang="en-US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对应两条指令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PUSH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POP</a:t>
            </a:r>
            <a:endParaRPr lang="en-US" altLang="zh-CN" b="1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39940" name="组合 39939"/>
          <p:cNvGrpSpPr/>
          <p:nvPr/>
        </p:nvGrpSpPr>
        <p:grpSpPr>
          <a:xfrm>
            <a:off x="7489825" y="2673350"/>
            <a:ext cx="1511300" cy="2016125"/>
            <a:chOff x="4582" y="1548"/>
            <a:chExt cx="952" cy="1270"/>
          </a:xfrm>
        </p:grpSpPr>
        <p:sp>
          <p:nvSpPr>
            <p:cNvPr id="39941" name="矩形 39940"/>
            <p:cNvSpPr/>
            <p:nvPr/>
          </p:nvSpPr>
          <p:spPr>
            <a:xfrm>
              <a:off x="4604" y="1570"/>
              <a:ext cx="907" cy="1225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9942" name="任意多边形 39941"/>
            <p:cNvSpPr/>
            <p:nvPr/>
          </p:nvSpPr>
          <p:spPr>
            <a:xfrm>
              <a:off x="4582" y="1548"/>
              <a:ext cx="952" cy="1270"/>
            </a:xfrm>
            <a:custGeom>
              <a:avLst/>
              <a:gdLst/>
              <a:ahLst/>
              <a:cxnLst/>
              <a:pathLst>
                <a:path w="1021" h="1610">
                  <a:moveTo>
                    <a:pt x="0" y="0"/>
                  </a:moveTo>
                  <a:lnTo>
                    <a:pt x="0" y="1610"/>
                  </a:lnTo>
                  <a:lnTo>
                    <a:pt x="1021" y="1610"/>
                  </a:lnTo>
                  <a:lnTo>
                    <a:pt x="1021" y="0"/>
                  </a:lnTo>
                </a:path>
              </a:pathLst>
            </a:custGeom>
            <a:noFill/>
            <a:ln w="381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39943" name="矩形 39942"/>
          <p:cNvSpPr/>
          <p:nvPr/>
        </p:nvSpPr>
        <p:spPr>
          <a:xfrm>
            <a:off x="7539038" y="4359275"/>
            <a:ext cx="140335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</a:pPr>
            <a:r>
              <a:rPr lang="en-US" altLang="zh-CN" sz="1800" i="0">
                <a:latin typeface="Verdana" panose="020B0604030504040204" pitchFamily="34" charset="0"/>
                <a:ea typeface="宋体" panose="02010600030101010101" pitchFamily="2" charset="-122"/>
              </a:rPr>
              <a:t>Word 1</a:t>
            </a:r>
            <a:endParaRPr lang="en-US" altLang="zh-CN" sz="1800" i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44" name="矩形 39943"/>
          <p:cNvSpPr/>
          <p:nvPr/>
        </p:nvSpPr>
        <p:spPr>
          <a:xfrm>
            <a:off x="7539038" y="4049713"/>
            <a:ext cx="140335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</a:pPr>
            <a:r>
              <a:rPr lang="en-US" altLang="zh-CN" sz="1800" i="0">
                <a:latin typeface="Verdana" panose="020B0604030504040204" pitchFamily="34" charset="0"/>
                <a:ea typeface="宋体" panose="02010600030101010101" pitchFamily="2" charset="-122"/>
              </a:rPr>
              <a:t>Word 2</a:t>
            </a:r>
            <a:endParaRPr lang="en-US" altLang="zh-CN" sz="1800" i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45" name="矩形 39944"/>
          <p:cNvSpPr/>
          <p:nvPr/>
        </p:nvSpPr>
        <p:spPr>
          <a:xfrm>
            <a:off x="7539038" y="3733800"/>
            <a:ext cx="140335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</a:pPr>
            <a:r>
              <a:rPr lang="en-US" altLang="zh-CN" sz="1800" i="0">
                <a:latin typeface="Verdana" panose="020B0604030504040204" pitchFamily="34" charset="0"/>
                <a:ea typeface="宋体" panose="02010600030101010101" pitchFamily="2" charset="-122"/>
              </a:rPr>
              <a:t>Word 3</a:t>
            </a:r>
            <a:endParaRPr lang="en-US" altLang="zh-CN" sz="1800" i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46" name="矩形 39945"/>
          <p:cNvSpPr/>
          <p:nvPr/>
        </p:nvSpPr>
        <p:spPr>
          <a:xfrm>
            <a:off x="7539038" y="3408363"/>
            <a:ext cx="140335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</a:pPr>
            <a:r>
              <a:rPr lang="en-US" altLang="zh-CN" sz="1800" i="0">
                <a:latin typeface="Verdana" panose="020B0604030504040204" pitchFamily="34" charset="0"/>
                <a:ea typeface="宋体" panose="02010600030101010101" pitchFamily="2" charset="-122"/>
              </a:rPr>
              <a:t>Word 4</a:t>
            </a:r>
            <a:endParaRPr lang="en-US" altLang="zh-CN" sz="1800" i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47" name="矩形 39946"/>
          <p:cNvSpPr/>
          <p:nvPr/>
        </p:nvSpPr>
        <p:spPr>
          <a:xfrm>
            <a:off x="7539038" y="3078163"/>
            <a:ext cx="140335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</a:pPr>
            <a:r>
              <a:rPr lang="en-US" altLang="zh-CN" sz="1800" i="0">
                <a:latin typeface="Verdana" panose="020B0604030504040204" pitchFamily="34" charset="0"/>
                <a:ea typeface="宋体" panose="02010600030101010101" pitchFamily="2" charset="-122"/>
              </a:rPr>
              <a:t>Word 5</a:t>
            </a:r>
            <a:endParaRPr lang="en-US" altLang="zh-CN" sz="1800" i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48" name="矩形 39947"/>
          <p:cNvSpPr/>
          <p:nvPr/>
        </p:nvSpPr>
        <p:spPr>
          <a:xfrm>
            <a:off x="7683500" y="4799013"/>
            <a:ext cx="1116013" cy="358775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/>
          <a:p>
            <a:pPr algn="ctr">
              <a:lnSpc>
                <a:spcPct val="80000"/>
              </a:lnSpc>
              <a:spcBef>
                <a:spcPct val="0"/>
              </a:spcBef>
            </a:pPr>
            <a:r>
              <a:rPr lang="en-US" altLang="zh-CN" sz="2000" i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Stack</a:t>
            </a:r>
            <a:endParaRPr lang="en-US" altLang="zh-CN" sz="2000" i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49" name="矩形 39948"/>
          <p:cNvSpPr/>
          <p:nvPr/>
        </p:nvSpPr>
        <p:spPr>
          <a:xfrm>
            <a:off x="7775575" y="5229225"/>
            <a:ext cx="936625" cy="358775"/>
          </a:xfrm>
          <a:prstGeom prst="rect">
            <a:avLst/>
          </a:prstGeom>
          <a:solidFill>
            <a:schemeClr val="bg1"/>
          </a:solidFill>
          <a:ln w="1905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80000"/>
              </a:lnSpc>
              <a:spcBef>
                <a:spcPct val="0"/>
              </a:spcBef>
            </a:pPr>
            <a:r>
              <a:rPr lang="en-US" altLang="zh-CN" sz="2000" i="0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PUSH</a:t>
            </a:r>
            <a:endParaRPr lang="en-US" altLang="zh-CN" sz="2000" i="0">
              <a:solidFill>
                <a:schemeClr val="accent2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50" name="矩形 39949"/>
          <p:cNvSpPr/>
          <p:nvPr/>
        </p:nvSpPr>
        <p:spPr>
          <a:xfrm>
            <a:off x="7783513" y="5697538"/>
            <a:ext cx="928687" cy="358775"/>
          </a:xfrm>
          <a:prstGeom prst="rect">
            <a:avLst/>
          </a:prstGeom>
          <a:solidFill>
            <a:schemeClr val="bg1"/>
          </a:solidFill>
          <a:ln w="1905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80000"/>
              </a:lnSpc>
              <a:spcBef>
                <a:spcPct val="0"/>
              </a:spcBef>
            </a:pPr>
            <a:r>
              <a:rPr lang="en-US" altLang="zh-CN" sz="2000" i="0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POP</a:t>
            </a:r>
            <a:endParaRPr lang="en-US" altLang="zh-CN" sz="2000" i="0">
              <a:solidFill>
                <a:schemeClr val="accent2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51" name="矩形 39950"/>
          <p:cNvSpPr/>
          <p:nvPr/>
        </p:nvSpPr>
        <p:spPr>
          <a:xfrm>
            <a:off x="457200" y="3328988"/>
            <a:ext cx="6408738" cy="276701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92150" lvl="1" indent="-34734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87425" lvl="2" indent="-29337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81430" lvl="3" indent="-2921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98930" lvl="4" indent="-31623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buNone/>
            </a:pPr>
            <a:r>
              <a:rPr lang="en-US" altLang="zh-CN" b="1" i="0">
                <a:solidFill>
                  <a:schemeClr val="tx2"/>
                </a:solidFill>
              </a:rPr>
              <a:t>PUSH</a:t>
            </a:r>
            <a:r>
              <a:rPr lang="zh-CN" altLang="en-US" sz="2600" b="1" i="0" dirty="0">
                <a:solidFill>
                  <a:srgbClr val="008000"/>
                </a:solidFill>
              </a:rPr>
              <a:t>；进栈指令先使堆栈指针</a:t>
            </a:r>
            <a:r>
              <a:rPr lang="en-US" altLang="zh-CN" sz="2600" b="1" i="0">
                <a:solidFill>
                  <a:srgbClr val="008000"/>
                </a:solidFill>
              </a:rPr>
              <a:t>SP</a:t>
            </a:r>
            <a:r>
              <a:rPr lang="zh-CN" altLang="en-US" sz="2600" b="1" i="0" dirty="0">
                <a:solidFill>
                  <a:srgbClr val="008000"/>
                </a:solidFill>
              </a:rPr>
              <a:t>减</a:t>
            </a:r>
            <a:r>
              <a:rPr lang="en-US" altLang="zh-CN" sz="2600" b="1" i="0">
                <a:solidFill>
                  <a:srgbClr val="008000"/>
                </a:solidFill>
              </a:rPr>
              <a:t>2</a:t>
            </a:r>
            <a:r>
              <a:rPr lang="zh-CN" altLang="en-US" sz="2600" b="1" i="0" dirty="0">
                <a:solidFill>
                  <a:srgbClr val="008000"/>
                </a:solidFill>
              </a:rPr>
              <a:t>，然后把一个</a:t>
            </a:r>
            <a:r>
              <a:rPr lang="zh-CN" altLang="en-US" sz="2600" b="1" i="0" dirty="0">
                <a:solidFill>
                  <a:srgbClr val="FF0000"/>
                </a:solidFill>
              </a:rPr>
              <a:t>字</a:t>
            </a:r>
            <a:r>
              <a:rPr lang="zh-CN" altLang="en-US" sz="2600" b="1" i="0" dirty="0">
                <a:solidFill>
                  <a:srgbClr val="008000"/>
                </a:solidFill>
              </a:rPr>
              <a:t>操作数存入堆栈顶部</a:t>
            </a:r>
            <a:endParaRPr lang="zh-CN" altLang="en-US" sz="2600" b="1" i="0" dirty="0">
              <a:solidFill>
                <a:srgbClr val="008000"/>
              </a:solidFill>
            </a:endParaRPr>
          </a:p>
          <a:p>
            <a:pPr lvl="0">
              <a:buNone/>
            </a:pPr>
            <a:r>
              <a:rPr lang="en-US" altLang="zh-CN" b="1" i="0">
                <a:solidFill>
                  <a:schemeClr val="tx2"/>
                </a:solidFill>
              </a:rPr>
              <a:t>POP</a:t>
            </a:r>
            <a:r>
              <a:rPr lang="en-US" altLang="zh-CN" b="0" i="0"/>
              <a:t>	</a:t>
            </a:r>
            <a:r>
              <a:rPr lang="zh-CN" altLang="en-US" sz="2600" b="1" i="0" dirty="0"/>
              <a:t>；</a:t>
            </a:r>
            <a:r>
              <a:rPr lang="zh-CN" altLang="en-US" sz="2600" b="1" i="0" dirty="0">
                <a:solidFill>
                  <a:srgbClr val="008000"/>
                </a:solidFill>
              </a:rPr>
              <a:t>出栈指令把栈顶的一个</a:t>
            </a:r>
            <a:r>
              <a:rPr lang="zh-CN" altLang="en-US" sz="2600" b="1" i="0" dirty="0">
                <a:solidFill>
                  <a:srgbClr val="FF0000"/>
                </a:solidFill>
              </a:rPr>
              <a:t>字</a:t>
            </a:r>
            <a:r>
              <a:rPr lang="zh-CN" altLang="en-US" sz="2600" b="1" i="0" dirty="0">
                <a:solidFill>
                  <a:srgbClr val="008000"/>
                </a:solidFill>
              </a:rPr>
              <a:t>传送至指定的目的操作数，然后堆栈指针</a:t>
            </a:r>
            <a:r>
              <a:rPr lang="en-US" altLang="zh-CN" sz="2600" b="1" i="0">
                <a:solidFill>
                  <a:srgbClr val="008000"/>
                </a:solidFill>
              </a:rPr>
              <a:t>SP</a:t>
            </a:r>
            <a:r>
              <a:rPr lang="zh-CN" altLang="en-US" sz="2600" b="1" i="0" dirty="0">
                <a:solidFill>
                  <a:srgbClr val="008000"/>
                </a:solidFill>
              </a:rPr>
              <a:t>加</a:t>
            </a:r>
            <a:r>
              <a:rPr lang="en-US" altLang="zh-CN" sz="2600" b="1" i="0">
                <a:solidFill>
                  <a:srgbClr val="008000"/>
                </a:solidFill>
              </a:rPr>
              <a:t>2</a:t>
            </a:r>
            <a:endParaRPr lang="en-US" altLang="zh-CN" sz="2600" b="1" i="0">
              <a:solidFill>
                <a:srgbClr val="008000"/>
              </a:solidFill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99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99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99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99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99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9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9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9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9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99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99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949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399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1000"/>
                                        <p:tgtEl>
                                          <p:spTgt spid="399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/>
                                        <p:tgtEl>
                                          <p:spTgt spid="399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1000"/>
                                        <p:tgtEl>
                                          <p:spTgt spid="39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/>
                                        <p:tgtEl>
                                          <p:spTgt spid="39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3" dur="1000"/>
                                        <p:tgtEl>
                                          <p:spTgt spid="39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/>
                                        <p:tgtEl>
                                          <p:spTgt spid="39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1000"/>
                                        <p:tgtEl>
                                          <p:spTgt spid="399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000"/>
                                        <p:tgtEl>
                                          <p:spTgt spid="399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000"/>
                            </p:stCondLst>
                            <p:childTnLst>
                              <p:par>
                                <p:cTn id="52" presetID="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3" dur="1000"/>
                                        <p:tgtEl>
                                          <p:spTgt spid="399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0"/>
                                        <p:tgtEl>
                                          <p:spTgt spid="399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950"/>
                  </p:tgtEl>
                </p:cond>
              </p:nextCondLst>
            </p:seq>
          </p:childTnLst>
        </p:cTn>
      </p:par>
    </p:tnLst>
    <p:bldLst>
      <p:bldP spid="3994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标题 40961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zh-CN" altLang="en-US" dirty="0"/>
              <a:t>进栈指令</a:t>
            </a:r>
            <a:r>
              <a:rPr lang="en-US" altLang="zh-CN"/>
              <a:t>PUSH</a:t>
            </a:r>
            <a:endParaRPr lang="en-US" altLang="zh-CN"/>
          </a:p>
        </p:txBody>
      </p:sp>
      <p:sp>
        <p:nvSpPr>
          <p:cNvPr id="40963" name="文本占位符 40962"/>
          <p:cNvSpPr>
            <a:spLocks noGrp="1"/>
          </p:cNvSpPr>
          <p:nvPr>
            <p:ph type="body" idx="1"/>
          </p:nvPr>
        </p:nvSpPr>
        <p:spPr>
          <a:xfrm>
            <a:off x="1066800" y="4648200"/>
            <a:ext cx="3192463" cy="1103313"/>
          </a:xfrm>
          <a:ln>
            <a:solidFill>
              <a:schemeClr val="accent1"/>
            </a:solidFill>
            <a:miter/>
          </a:ln>
        </p:spPr>
        <p:txBody>
          <a:bodyPr/>
          <a:p>
            <a:pPr>
              <a:buNone/>
            </a:pPr>
            <a:r>
              <a:rPr lang="en-US" altLang="zh-CN" sz="2600" b="1">
                <a:solidFill>
                  <a:srgbClr val="0000FF"/>
                </a:solidFill>
                <a:latin typeface="宋体" panose="02010600030101010101" pitchFamily="2" charset="-122"/>
              </a:rPr>
              <a:t>push ax</a:t>
            </a:r>
            <a:endParaRPr lang="en-US" altLang="zh-CN" sz="2600" b="1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600" b="1">
                <a:solidFill>
                  <a:srgbClr val="0000FF"/>
                </a:solidFill>
                <a:latin typeface="宋体" panose="02010600030101010101" pitchFamily="2" charset="-122"/>
              </a:rPr>
              <a:t>push [2000h]</a:t>
            </a:r>
            <a:endParaRPr lang="en-US" altLang="zh-CN" sz="26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40964" name="流程图: 可选过程 40963"/>
          <p:cNvSpPr/>
          <p:nvPr/>
        </p:nvSpPr>
        <p:spPr>
          <a:xfrm>
            <a:off x="914400" y="1981200"/>
            <a:ext cx="5040313" cy="1725613"/>
          </a:xfrm>
          <a:prstGeom prst="flowChartAlternateProcess">
            <a:avLst/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12700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>
            <a:spAutoFit/>
          </a:bodyPr>
          <a:p>
            <a:pPr algn="l" defTabSz="914400">
              <a:spcBef>
                <a:spcPct val="20000"/>
              </a:spcBef>
              <a:tabLst>
                <a:tab pos="2289175" algn="l"/>
              </a:tabLst>
            </a:pPr>
            <a:r>
              <a:rPr lang="en-US" altLang="zh-CN" sz="3200" i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PUSH r16/m16/seg</a:t>
            </a:r>
            <a:endParaRPr lang="en-US" altLang="zh-CN" sz="3200" i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defTabSz="914400">
              <a:spcBef>
                <a:spcPct val="20000"/>
              </a:spcBef>
              <a:tabLst>
                <a:tab pos="2289175" algn="l"/>
              </a:tabLst>
            </a:pPr>
            <a:r>
              <a:rPr lang="zh-CN" altLang="en-US" i="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lang="en-US" altLang="zh-CN" i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SP←SP</a:t>
            </a:r>
            <a:r>
              <a:rPr lang="zh-CN" altLang="en-US" i="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i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en-US" altLang="zh-CN" i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defTabSz="914400">
              <a:spcBef>
                <a:spcPct val="20000"/>
              </a:spcBef>
              <a:tabLst>
                <a:tab pos="2289175" algn="l"/>
              </a:tabLst>
            </a:pPr>
            <a:r>
              <a:rPr lang="zh-CN" altLang="en-US" i="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lang="en-US" altLang="zh-CN" i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SS:[SP]←r16/m16/seg</a:t>
            </a:r>
            <a:endParaRPr lang="en-US" altLang="zh-CN" i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40965" name="组合 40964"/>
          <p:cNvGrpSpPr/>
          <p:nvPr/>
        </p:nvGrpSpPr>
        <p:grpSpPr>
          <a:xfrm>
            <a:off x="7488238" y="3070225"/>
            <a:ext cx="1511300" cy="2016125"/>
            <a:chOff x="4582" y="1548"/>
            <a:chExt cx="952" cy="1270"/>
          </a:xfrm>
        </p:grpSpPr>
        <p:sp>
          <p:nvSpPr>
            <p:cNvPr id="40966" name="矩形 40965"/>
            <p:cNvSpPr/>
            <p:nvPr/>
          </p:nvSpPr>
          <p:spPr>
            <a:xfrm>
              <a:off x="4604" y="1570"/>
              <a:ext cx="907" cy="1225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0967" name="任意多边形 40966"/>
            <p:cNvSpPr/>
            <p:nvPr/>
          </p:nvSpPr>
          <p:spPr>
            <a:xfrm>
              <a:off x="4582" y="1548"/>
              <a:ext cx="952" cy="1270"/>
            </a:xfrm>
            <a:custGeom>
              <a:avLst/>
              <a:gdLst/>
              <a:ahLst/>
              <a:cxnLst/>
              <a:pathLst>
                <a:path w="1021" h="1610">
                  <a:moveTo>
                    <a:pt x="0" y="0"/>
                  </a:moveTo>
                  <a:lnTo>
                    <a:pt x="0" y="1610"/>
                  </a:lnTo>
                  <a:lnTo>
                    <a:pt x="1021" y="1610"/>
                  </a:lnTo>
                  <a:lnTo>
                    <a:pt x="1021" y="0"/>
                  </a:lnTo>
                </a:path>
              </a:pathLst>
            </a:custGeom>
            <a:noFill/>
            <a:ln w="381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40968" name="矩形 40967"/>
          <p:cNvSpPr/>
          <p:nvPr/>
        </p:nvSpPr>
        <p:spPr>
          <a:xfrm>
            <a:off x="7537450" y="4429125"/>
            <a:ext cx="140335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</a:pPr>
            <a:r>
              <a:rPr lang="en-US" altLang="zh-CN" sz="1800" i="0">
                <a:latin typeface="Verdana" panose="020B0604030504040204" pitchFamily="34" charset="0"/>
                <a:ea typeface="宋体" panose="02010600030101010101" pitchFamily="2" charset="-122"/>
              </a:rPr>
              <a:t>Word</a:t>
            </a:r>
            <a:endParaRPr lang="en-US" altLang="zh-CN" sz="1800" i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69" name="矩形 40968"/>
          <p:cNvSpPr/>
          <p:nvPr/>
        </p:nvSpPr>
        <p:spPr>
          <a:xfrm>
            <a:off x="7681913" y="5195888"/>
            <a:ext cx="1116012" cy="358775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/>
          <a:p>
            <a:pPr algn="ctr">
              <a:lnSpc>
                <a:spcPct val="80000"/>
              </a:lnSpc>
              <a:spcBef>
                <a:spcPct val="0"/>
              </a:spcBef>
            </a:pPr>
            <a:r>
              <a:rPr lang="en-US" altLang="zh-CN" sz="2000" i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Stack</a:t>
            </a:r>
            <a:endParaRPr lang="en-US" altLang="zh-CN" sz="2000" i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70" name="矩形 40969"/>
          <p:cNvSpPr/>
          <p:nvPr/>
        </p:nvSpPr>
        <p:spPr>
          <a:xfrm>
            <a:off x="7773988" y="5626100"/>
            <a:ext cx="936625" cy="358775"/>
          </a:xfrm>
          <a:prstGeom prst="rect">
            <a:avLst/>
          </a:prstGeom>
          <a:solidFill>
            <a:schemeClr val="bg1"/>
          </a:solidFill>
          <a:ln w="1905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80000"/>
              </a:lnSpc>
              <a:spcBef>
                <a:spcPct val="0"/>
              </a:spcBef>
            </a:pPr>
            <a:r>
              <a:rPr lang="en-US" altLang="zh-CN" sz="2000" i="0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PUSH</a:t>
            </a:r>
            <a:endParaRPr lang="en-US" altLang="zh-CN" sz="2000" i="0">
              <a:solidFill>
                <a:schemeClr val="accent2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40971" name="组合 40970"/>
          <p:cNvGrpSpPr/>
          <p:nvPr/>
        </p:nvGrpSpPr>
        <p:grpSpPr>
          <a:xfrm>
            <a:off x="6335713" y="4727575"/>
            <a:ext cx="971550" cy="358775"/>
            <a:chOff x="3969" y="2705"/>
            <a:chExt cx="612" cy="226"/>
          </a:xfrm>
        </p:grpSpPr>
        <p:sp>
          <p:nvSpPr>
            <p:cNvPr id="40972" name="直接连接符 40971"/>
            <p:cNvSpPr/>
            <p:nvPr/>
          </p:nvSpPr>
          <p:spPr>
            <a:xfrm>
              <a:off x="4014" y="2908"/>
              <a:ext cx="567" cy="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0973" name="矩形 40972"/>
            <p:cNvSpPr/>
            <p:nvPr/>
          </p:nvSpPr>
          <p:spPr>
            <a:xfrm>
              <a:off x="3969" y="2705"/>
              <a:ext cx="508" cy="22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 anchorCtr="0"/>
            <a:p>
              <a:pPr algn="ctr">
                <a:lnSpc>
                  <a:spcPct val="80000"/>
                </a:lnSpc>
                <a:spcBef>
                  <a:spcPct val="0"/>
                </a:spcBef>
              </a:pPr>
              <a:r>
                <a:rPr lang="en-US" altLang="zh-CN" sz="2000" i="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rPr>
                <a:t>SP</a:t>
              </a:r>
              <a:endParaRPr lang="en-US" altLang="zh-CN" sz="2000" i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40974" name="矩形 40973"/>
          <p:cNvSpPr/>
          <p:nvPr/>
        </p:nvSpPr>
        <p:spPr>
          <a:xfrm>
            <a:off x="6983413" y="4727575"/>
            <a:ext cx="576262" cy="358775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/>
          <a:p>
            <a:pPr algn="ctr">
              <a:lnSpc>
                <a:spcPct val="80000"/>
              </a:lnSpc>
              <a:spcBef>
                <a:spcPct val="0"/>
              </a:spcBef>
            </a:pPr>
            <a:r>
              <a:rPr lang="en-US" altLang="zh-CN" sz="1600" i="0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-2</a:t>
            </a:r>
            <a:endParaRPr lang="en-US" altLang="zh-CN" sz="1600" i="0">
              <a:solidFill>
                <a:schemeClr val="accent2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09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0.00093 L 0.00139 -0.04728 " pathEditMode="relative" rAng="0" ptsTypes="AA">
                                      <p:cBhvr>
                                        <p:cTn id="12" dur="2000" spd="100000" fill="hold"/>
                                        <p:tgtEl>
                                          <p:spTgt spid="409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" y="-2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09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09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0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09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09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970"/>
                  </p:tgtEl>
                </p:cond>
              </p:nextCondLst>
            </p:seq>
          </p:childTnLst>
        </p:cTn>
      </p:par>
    </p:tnLst>
    <p:bldLst>
      <p:bldP spid="40964" grpId="0" animBg="1"/>
      <p:bldP spid="40968" grpId="0" animBg="1"/>
      <p:bldP spid="4097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标题 41985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</a:t>
            </a:r>
            <a:r>
              <a:rPr lang="zh-CN" altLang="en-US" dirty="0"/>
              <a:t>出栈指令</a:t>
            </a:r>
            <a:r>
              <a:rPr lang="en-US" altLang="zh-CN"/>
              <a:t>POP</a:t>
            </a:r>
            <a:endParaRPr lang="en-US" altLang="zh-CN"/>
          </a:p>
        </p:txBody>
      </p:sp>
      <p:sp>
        <p:nvSpPr>
          <p:cNvPr id="41987" name="文本占位符 41986"/>
          <p:cNvSpPr>
            <a:spLocks noGrp="1"/>
          </p:cNvSpPr>
          <p:nvPr>
            <p:ph type="body" idx="1"/>
          </p:nvPr>
        </p:nvSpPr>
        <p:spPr>
          <a:xfrm>
            <a:off x="990600" y="4572000"/>
            <a:ext cx="2836863" cy="1101725"/>
          </a:xfrm>
          <a:ln>
            <a:solidFill>
              <a:schemeClr val="accent1"/>
            </a:solidFill>
            <a:miter/>
          </a:ln>
        </p:spPr>
        <p:txBody>
          <a:bodyPr/>
          <a:p>
            <a:pPr>
              <a:buNone/>
            </a:pPr>
            <a:r>
              <a:rPr lang="en-US" altLang="zh-CN" sz="2600" b="1">
                <a:solidFill>
                  <a:srgbClr val="0000FF"/>
                </a:solidFill>
                <a:latin typeface="宋体" panose="02010600030101010101" pitchFamily="2" charset="-122"/>
              </a:rPr>
              <a:t>pop ax</a:t>
            </a:r>
            <a:endParaRPr lang="en-US" altLang="zh-CN" sz="2600" b="1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600" b="1">
                <a:solidFill>
                  <a:srgbClr val="0000FF"/>
                </a:solidFill>
                <a:latin typeface="宋体" panose="02010600030101010101" pitchFamily="2" charset="-122"/>
              </a:rPr>
              <a:t>pop [2000h]</a:t>
            </a:r>
            <a:endParaRPr lang="en-US" altLang="zh-CN" sz="26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41988" name="流程图: 可选过程 41987"/>
          <p:cNvSpPr/>
          <p:nvPr/>
        </p:nvSpPr>
        <p:spPr>
          <a:xfrm>
            <a:off x="762000" y="1752600"/>
            <a:ext cx="4919663" cy="1725613"/>
          </a:xfrm>
          <a:prstGeom prst="flowChartAlternateProcess">
            <a:avLst/>
          </a:prstGeom>
          <a:gradFill rotWithShape="0">
            <a:gsLst>
              <a:gs pos="0">
                <a:srgbClr val="CCECFF"/>
              </a:gs>
              <a:gs pos="100000">
                <a:srgbClr val="FFFFFF"/>
              </a:gs>
            </a:gsLst>
            <a:lin ang="5400000" scaled="1"/>
            <a:tileRect/>
          </a:gradFill>
          <a:ln w="12700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>
            <a:spAutoFit/>
          </a:bodyPr>
          <a:p>
            <a:pPr algn="l" defTabSz="914400">
              <a:spcBef>
                <a:spcPct val="20000"/>
              </a:spcBef>
              <a:tabLst>
                <a:tab pos="2289175" algn="l"/>
              </a:tabLst>
            </a:pPr>
            <a:r>
              <a:rPr lang="en-US" altLang="zh-CN" sz="3200" i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POP r16/m16/seg</a:t>
            </a:r>
            <a:endParaRPr lang="en-US" altLang="zh-CN" sz="3200" i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defTabSz="914400">
              <a:spcBef>
                <a:spcPct val="20000"/>
              </a:spcBef>
              <a:tabLst>
                <a:tab pos="2289175" algn="l"/>
              </a:tabLst>
            </a:pPr>
            <a:r>
              <a:rPr lang="zh-CN" altLang="en-US" i="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lang="en-US" altLang="zh-CN" i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r16/m16/seg←SS:[SP]</a:t>
            </a:r>
            <a:endParaRPr lang="en-US" altLang="zh-CN" i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defTabSz="914400">
              <a:spcBef>
                <a:spcPct val="20000"/>
              </a:spcBef>
              <a:tabLst>
                <a:tab pos="2289175" algn="l"/>
              </a:tabLst>
            </a:pPr>
            <a:r>
              <a:rPr lang="zh-CN" altLang="en-US" i="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lang="en-US" altLang="zh-CN" i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SP←SP</a:t>
            </a:r>
            <a:r>
              <a:rPr lang="zh-CN" altLang="en-US" i="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＋</a:t>
            </a:r>
            <a:r>
              <a:rPr lang="en-US" altLang="zh-CN" i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en-US" altLang="zh-CN" i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41989" name="组合 41988"/>
          <p:cNvGrpSpPr/>
          <p:nvPr/>
        </p:nvGrpSpPr>
        <p:grpSpPr>
          <a:xfrm>
            <a:off x="7488238" y="3068638"/>
            <a:ext cx="1511300" cy="2016125"/>
            <a:chOff x="4582" y="1548"/>
            <a:chExt cx="952" cy="1270"/>
          </a:xfrm>
        </p:grpSpPr>
        <p:sp>
          <p:nvSpPr>
            <p:cNvPr id="41990" name="矩形 41989"/>
            <p:cNvSpPr/>
            <p:nvPr/>
          </p:nvSpPr>
          <p:spPr>
            <a:xfrm>
              <a:off x="4604" y="1570"/>
              <a:ext cx="907" cy="1225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1991" name="任意多边形 41990"/>
            <p:cNvSpPr/>
            <p:nvPr/>
          </p:nvSpPr>
          <p:spPr>
            <a:xfrm>
              <a:off x="4582" y="1548"/>
              <a:ext cx="952" cy="1270"/>
            </a:xfrm>
            <a:custGeom>
              <a:avLst/>
              <a:gdLst/>
              <a:ahLst/>
              <a:cxnLst/>
              <a:pathLst>
                <a:path w="1021" h="1610">
                  <a:moveTo>
                    <a:pt x="0" y="0"/>
                  </a:moveTo>
                  <a:lnTo>
                    <a:pt x="0" y="1610"/>
                  </a:lnTo>
                  <a:lnTo>
                    <a:pt x="1021" y="1610"/>
                  </a:lnTo>
                  <a:lnTo>
                    <a:pt x="1021" y="0"/>
                  </a:lnTo>
                </a:path>
              </a:pathLst>
            </a:custGeom>
            <a:noFill/>
            <a:ln w="381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41992" name="矩形 41991"/>
          <p:cNvSpPr/>
          <p:nvPr/>
        </p:nvSpPr>
        <p:spPr>
          <a:xfrm>
            <a:off x="7537450" y="4437063"/>
            <a:ext cx="140335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</a:pPr>
            <a:r>
              <a:rPr lang="en-US" altLang="zh-CN" sz="1800" i="0">
                <a:latin typeface="Verdana" panose="020B0604030504040204" pitchFamily="34" charset="0"/>
                <a:ea typeface="宋体" panose="02010600030101010101" pitchFamily="2" charset="-122"/>
              </a:rPr>
              <a:t>Word</a:t>
            </a:r>
            <a:endParaRPr lang="en-US" altLang="zh-CN" sz="1800" i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1993" name="矩形 41992"/>
          <p:cNvSpPr/>
          <p:nvPr/>
        </p:nvSpPr>
        <p:spPr>
          <a:xfrm>
            <a:off x="7681913" y="5194300"/>
            <a:ext cx="1116012" cy="358775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/>
          <a:p>
            <a:pPr algn="ctr">
              <a:lnSpc>
                <a:spcPct val="80000"/>
              </a:lnSpc>
              <a:spcBef>
                <a:spcPct val="0"/>
              </a:spcBef>
            </a:pPr>
            <a:r>
              <a:rPr lang="en-US" altLang="zh-CN" sz="2000" i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Stack</a:t>
            </a:r>
            <a:endParaRPr lang="en-US" altLang="zh-CN" sz="2000" i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1994" name="矩形 41993"/>
          <p:cNvSpPr/>
          <p:nvPr/>
        </p:nvSpPr>
        <p:spPr>
          <a:xfrm>
            <a:off x="7781925" y="5554663"/>
            <a:ext cx="928688" cy="358775"/>
          </a:xfrm>
          <a:prstGeom prst="rect">
            <a:avLst/>
          </a:prstGeom>
          <a:solidFill>
            <a:schemeClr val="bg1"/>
          </a:solidFill>
          <a:ln w="1905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80000"/>
              </a:lnSpc>
              <a:spcBef>
                <a:spcPct val="0"/>
              </a:spcBef>
            </a:pPr>
            <a:r>
              <a:rPr lang="en-US" altLang="zh-CN" sz="2000" i="0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POP</a:t>
            </a:r>
            <a:endParaRPr lang="en-US" altLang="zh-CN" sz="2000" i="0">
              <a:solidFill>
                <a:schemeClr val="accent2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41995" name="组合 41994"/>
          <p:cNvGrpSpPr/>
          <p:nvPr/>
        </p:nvGrpSpPr>
        <p:grpSpPr>
          <a:xfrm>
            <a:off x="6335713" y="4402138"/>
            <a:ext cx="971550" cy="358775"/>
            <a:chOff x="3969" y="2705"/>
            <a:chExt cx="612" cy="226"/>
          </a:xfrm>
        </p:grpSpPr>
        <p:sp>
          <p:nvSpPr>
            <p:cNvPr id="41996" name="直接连接符 41995"/>
            <p:cNvSpPr/>
            <p:nvPr/>
          </p:nvSpPr>
          <p:spPr>
            <a:xfrm>
              <a:off x="4014" y="2908"/>
              <a:ext cx="567" cy="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997" name="矩形 41996"/>
            <p:cNvSpPr/>
            <p:nvPr/>
          </p:nvSpPr>
          <p:spPr>
            <a:xfrm>
              <a:off x="3969" y="2705"/>
              <a:ext cx="508" cy="22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 anchorCtr="0"/>
            <a:p>
              <a:pPr algn="ctr">
                <a:lnSpc>
                  <a:spcPct val="80000"/>
                </a:lnSpc>
                <a:spcBef>
                  <a:spcPct val="0"/>
                </a:spcBef>
              </a:pPr>
              <a:r>
                <a:rPr lang="en-US" altLang="zh-CN" sz="2000" i="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rPr>
                <a:t>SP</a:t>
              </a:r>
              <a:endParaRPr lang="en-US" altLang="zh-CN" sz="2000" i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41998" name="矩形 41997"/>
          <p:cNvSpPr/>
          <p:nvPr/>
        </p:nvSpPr>
        <p:spPr>
          <a:xfrm>
            <a:off x="6983413" y="4725988"/>
            <a:ext cx="576262" cy="358775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/>
          <a:p>
            <a:pPr algn="ctr">
              <a:lnSpc>
                <a:spcPct val="80000"/>
              </a:lnSpc>
              <a:spcBef>
                <a:spcPct val="0"/>
              </a:spcBef>
            </a:pPr>
            <a:r>
              <a:rPr lang="en-US" altLang="zh-CN" sz="1600" i="0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+2</a:t>
            </a:r>
            <a:endParaRPr lang="en-US" altLang="zh-CN" sz="1600" i="0">
              <a:solidFill>
                <a:schemeClr val="accent2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19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419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419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1.70336E-6 L 4.16667E-6 0.05238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419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6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19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19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1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994"/>
                  </p:tgtEl>
                </p:cond>
              </p:nextCondLst>
            </p:seq>
          </p:childTnLst>
        </p:cTn>
      </p:par>
    </p:tnLst>
    <p:bldLst>
      <p:bldP spid="41988" grpId="0" animBg="1"/>
      <p:bldP spid="4199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标题 43009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堆栈的特点：</a:t>
            </a:r>
            <a:endParaRPr lang="zh-CN" altLang="en-US" dirty="0"/>
          </a:p>
        </p:txBody>
      </p:sp>
      <p:sp>
        <p:nvSpPr>
          <p:cNvPr id="43011" name="文本占位符 43010"/>
          <p:cNvSpPr>
            <a:spLocks noGrp="1"/>
          </p:cNvSpPr>
          <p:nvPr>
            <p:ph type="body" idx="1"/>
          </p:nvPr>
        </p:nvSpPr>
        <p:spPr>
          <a:xfrm>
            <a:off x="528638" y="1776413"/>
            <a:ext cx="8158162" cy="4354512"/>
          </a:xfrm>
        </p:spPr>
        <p:txBody>
          <a:bodyPr/>
          <a:p>
            <a:r>
              <a:rPr lang="zh-CN" altLang="en-US" sz="2600" b="1" dirty="0">
                <a:solidFill>
                  <a:srgbClr val="0000FF"/>
                </a:solidFill>
                <a:ea typeface="楷体" panose="02010609060101010101" pitchFamily="49" charset="-122"/>
              </a:rPr>
              <a:t>堆栈操作的</a:t>
            </a:r>
            <a:r>
              <a:rPr lang="zh-CN" altLang="en-US" sz="2600" b="1" dirty="0">
                <a:solidFill>
                  <a:srgbClr val="FF0000"/>
                </a:solidFill>
                <a:ea typeface="楷体" panose="02010609060101010101" pitchFamily="49" charset="-122"/>
              </a:rPr>
              <a:t>单位是字</a:t>
            </a:r>
            <a:r>
              <a:rPr lang="zh-CN" altLang="en-US" sz="2600" b="1" dirty="0">
                <a:solidFill>
                  <a:srgbClr val="0000FF"/>
                </a:solidFill>
                <a:ea typeface="楷体" panose="02010609060101010101" pitchFamily="49" charset="-122"/>
              </a:rPr>
              <a:t>，进栈和出栈只对字量</a:t>
            </a:r>
            <a:endParaRPr lang="zh-CN" altLang="en-US" sz="2600" b="1" dirty="0">
              <a:solidFill>
                <a:srgbClr val="0000FF"/>
              </a:solidFill>
              <a:ea typeface="楷体" panose="02010609060101010101" pitchFamily="49" charset="-122"/>
            </a:endParaRPr>
          </a:p>
          <a:p>
            <a:r>
              <a:rPr lang="zh-CN" altLang="en-US" sz="2600" b="1" dirty="0">
                <a:solidFill>
                  <a:srgbClr val="0000FF"/>
                </a:solidFill>
                <a:ea typeface="楷体" panose="02010609060101010101" pitchFamily="49" charset="-122"/>
              </a:rPr>
              <a:t>字量数据从栈顶压入和弹出时，都是低地址字节送低字节，高地址字节送高字节</a:t>
            </a:r>
            <a:endParaRPr lang="zh-CN" altLang="en-US" sz="2600" b="1" dirty="0">
              <a:solidFill>
                <a:srgbClr val="0000FF"/>
              </a:solidFill>
              <a:ea typeface="楷体" panose="02010609060101010101" pitchFamily="49" charset="-122"/>
            </a:endParaRPr>
          </a:p>
          <a:p>
            <a:r>
              <a:rPr lang="zh-CN" altLang="en-US" sz="2600" b="1" dirty="0">
                <a:solidFill>
                  <a:srgbClr val="0000FF"/>
                </a:solidFill>
                <a:ea typeface="楷体" panose="02010609060101010101" pitchFamily="49" charset="-122"/>
              </a:rPr>
              <a:t>堆栈操作遵循先进后出原则，但可用存储器寻址方式随机存取堆栈中的数据</a:t>
            </a:r>
            <a:endParaRPr lang="zh-CN" altLang="en-US" sz="2600" b="1" dirty="0">
              <a:solidFill>
                <a:srgbClr val="0000FF"/>
              </a:solidFill>
              <a:ea typeface="楷体" panose="02010609060101010101" pitchFamily="49" charset="-122"/>
            </a:endParaRPr>
          </a:p>
          <a:p>
            <a:r>
              <a:rPr lang="zh-CN" altLang="en-US" sz="2600" b="1" dirty="0">
                <a:solidFill>
                  <a:srgbClr val="0000FF"/>
                </a:solidFill>
                <a:ea typeface="楷体" panose="02010609060101010101" pitchFamily="49" charset="-122"/>
              </a:rPr>
              <a:t>堆栈常用来</a:t>
            </a:r>
            <a:endParaRPr lang="zh-CN" altLang="en-US" sz="2600" b="1" dirty="0">
              <a:solidFill>
                <a:srgbClr val="0000FF"/>
              </a:solidFill>
              <a:ea typeface="楷体" panose="02010609060101010101" pitchFamily="49" charset="-122"/>
            </a:endParaRPr>
          </a:p>
          <a:p>
            <a:pPr lvl="1"/>
            <a:r>
              <a:rPr lang="zh-CN" altLang="en-US" dirty="0">
                <a:solidFill>
                  <a:srgbClr val="008000"/>
                </a:solidFill>
              </a:rPr>
              <a:t>临时存放数据</a:t>
            </a:r>
            <a:endParaRPr lang="zh-CN" altLang="en-US" dirty="0">
              <a:solidFill>
                <a:srgbClr val="008000"/>
              </a:solidFill>
            </a:endParaRPr>
          </a:p>
          <a:p>
            <a:pPr lvl="1"/>
            <a:r>
              <a:rPr lang="zh-CN" altLang="en-US" dirty="0">
                <a:solidFill>
                  <a:srgbClr val="008000"/>
                </a:solidFill>
              </a:rPr>
              <a:t>传递参数</a:t>
            </a:r>
            <a:endParaRPr lang="zh-CN" altLang="en-US" dirty="0">
              <a:solidFill>
                <a:srgbClr val="008000"/>
              </a:solidFill>
            </a:endParaRPr>
          </a:p>
          <a:p>
            <a:pPr lvl="1"/>
            <a:r>
              <a:rPr lang="zh-CN" altLang="en-US" dirty="0">
                <a:solidFill>
                  <a:srgbClr val="008000"/>
                </a:solidFill>
              </a:rPr>
              <a:t>保存和恢复寄存器</a:t>
            </a:r>
            <a:endParaRPr lang="zh-CN" altLang="en-US" dirty="0">
              <a:solidFill>
                <a:srgbClr val="008000"/>
              </a:solidFill>
            </a:endParaRPr>
          </a:p>
        </p:txBody>
      </p:sp>
      <p:sp>
        <p:nvSpPr>
          <p:cNvPr id="43012" name="文本框 43011">
            <a:hlinkClick r:id="" action="ppaction://noaction"/>
          </p:cNvPr>
          <p:cNvSpPr txBox="1"/>
          <p:nvPr/>
        </p:nvSpPr>
        <p:spPr>
          <a:xfrm>
            <a:off x="6096000" y="5486400"/>
            <a:ext cx="1172210" cy="398780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18900000" scaled="1"/>
            <a:tileRect/>
          </a:gradFill>
          <a:ln w="9525">
            <a:noFill/>
          </a:ln>
          <a:effectLst>
            <a:outerShdw dist="35921" dir="2699999" algn="ctr" rotWithShape="0">
              <a:srgbClr val="808080"/>
            </a:outerShdw>
          </a:effectLst>
        </p:spPr>
        <p:txBody>
          <a:bodyPr wrap="none" anchor="t" anchorCtr="0">
            <a:spAutoFit/>
          </a:bodyPr>
          <a:p>
            <a:pPr algn="l">
              <a:spcBef>
                <a:spcPct val="0"/>
              </a:spcBef>
            </a:pPr>
            <a:r>
              <a:rPr lang="zh-CN" altLang="en-US" sz="2000" i="0" dirty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例题</a:t>
            </a:r>
            <a:r>
              <a:rPr lang="en-US" altLang="zh-CN" sz="2000" i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sz="2000" i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.11</a:t>
            </a:r>
            <a:endParaRPr lang="en-US" altLang="zh-CN" sz="2000" i="0">
              <a:solidFill>
                <a:srgbClr val="66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40" name="标题 44039"/>
          <p:cNvSpPr>
            <a:spLocks noGrp="1"/>
          </p:cNvSpPr>
          <p:nvPr>
            <p:ph type="title"/>
          </p:nvPr>
        </p:nvSpPr>
        <p:spPr>
          <a:xfrm>
            <a:off x="762000" y="762000"/>
            <a:ext cx="4953000" cy="685800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zh-CN" altLang="en-US" sz="3000" dirty="0"/>
              <a:t>例</a:t>
            </a:r>
            <a:r>
              <a:rPr lang="en-US" altLang="zh-CN" sz="3000"/>
              <a:t>1</a:t>
            </a:r>
            <a:r>
              <a:rPr lang="en-US" altLang="zh-CN" sz="3000"/>
              <a:t>.11</a:t>
            </a:r>
            <a:r>
              <a:rPr lang="zh-CN" altLang="en-US" sz="3000" dirty="0"/>
              <a:t>：现场保护恢复</a:t>
            </a:r>
            <a:endParaRPr lang="zh-CN" altLang="en-US" sz="3000" dirty="0"/>
          </a:p>
        </p:txBody>
      </p:sp>
      <p:sp>
        <p:nvSpPr>
          <p:cNvPr id="44041" name="文本占位符 44040"/>
          <p:cNvSpPr>
            <a:spLocks noGrp="1"/>
          </p:cNvSpPr>
          <p:nvPr>
            <p:ph type="body" idx="1"/>
          </p:nvPr>
        </p:nvSpPr>
        <p:spPr>
          <a:xfrm>
            <a:off x="749300" y="2041525"/>
            <a:ext cx="7648575" cy="3797300"/>
          </a:xfrm>
          <a:solidFill>
            <a:schemeClr val="bg1"/>
          </a:solidFill>
        </p:spPr>
        <p:txBody>
          <a:bodyPr/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</a:rPr>
              <a:t>push ax</a:t>
            </a:r>
            <a:r>
              <a:rPr lang="en-US" altLang="zh-CN">
                <a:solidFill>
                  <a:schemeClr val="accent2"/>
                </a:solidFill>
                <a:latin typeface="宋体" panose="02010600030101010101" pitchFamily="2" charset="-122"/>
              </a:rPr>
              <a:t>       </a:t>
            </a:r>
            <a:r>
              <a:rPr lang="zh-CN" altLang="en-US" sz="2600" dirty="0">
                <a:latin typeface="宋体" panose="02010600030101010101" pitchFamily="2" charset="-122"/>
              </a:rPr>
              <a:t>；在进入子程序后要压入保存</a:t>
            </a:r>
            <a:endParaRPr lang="zh-CN" altLang="en-US" sz="2600" dirty="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</a:rPr>
              <a:t>push </a:t>
            </a:r>
            <a:r>
              <a:rPr lang="en-US" altLang="zh-CN" b="1" err="1">
                <a:solidFill>
                  <a:srgbClr val="0000FF"/>
                </a:solidFill>
                <a:latin typeface="宋体" panose="02010600030101010101" pitchFamily="2" charset="-122"/>
              </a:rPr>
              <a:t>bx</a:t>
            </a:r>
            <a:endParaRPr lang="en-US" altLang="zh-CN" b="1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</a:rPr>
              <a:t>push </a:t>
            </a:r>
            <a:r>
              <a:rPr lang="en-US" altLang="zh-CN" b="1" err="1">
                <a:solidFill>
                  <a:srgbClr val="0000FF"/>
                </a:solidFill>
                <a:latin typeface="宋体" panose="02010600030101010101" pitchFamily="2" charset="-122"/>
              </a:rPr>
              <a:t>ds</a:t>
            </a:r>
            <a:endParaRPr lang="en-US" altLang="zh-CN" b="1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</a:rPr>
              <a:t>...</a:t>
            </a:r>
            <a:endParaRPr lang="en-US" altLang="zh-CN" b="1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</a:rPr>
              <a:t>pop </a:t>
            </a:r>
            <a:r>
              <a:rPr lang="en-US" altLang="zh-CN" b="1" err="1">
                <a:solidFill>
                  <a:srgbClr val="0000FF"/>
                </a:solidFill>
                <a:latin typeface="宋体" panose="02010600030101010101" pitchFamily="2" charset="-122"/>
              </a:rPr>
              <a:t>ds</a:t>
            </a:r>
            <a:r>
              <a:rPr lang="en-US" altLang="zh-CN">
                <a:solidFill>
                  <a:schemeClr val="accent2"/>
                </a:solidFill>
                <a:latin typeface="宋体" panose="02010600030101010101" pitchFamily="2" charset="-122"/>
              </a:rPr>
              <a:t>        </a:t>
            </a:r>
            <a:r>
              <a:rPr lang="zh-CN" altLang="en-US" sz="2600" dirty="0">
                <a:latin typeface="宋体" panose="02010600030101010101" pitchFamily="2" charset="-122"/>
              </a:rPr>
              <a:t>；在返回主程序前要弹出恢复</a:t>
            </a:r>
            <a:endParaRPr lang="zh-CN" altLang="en-US" sz="2600" dirty="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</a:rPr>
              <a:t>pop </a:t>
            </a:r>
            <a:r>
              <a:rPr lang="en-US" altLang="zh-CN" b="1" err="1">
                <a:solidFill>
                  <a:srgbClr val="0000FF"/>
                </a:solidFill>
                <a:latin typeface="宋体" panose="02010600030101010101" pitchFamily="2" charset="-122"/>
              </a:rPr>
              <a:t>bx</a:t>
            </a:r>
            <a:endParaRPr lang="en-US" altLang="zh-CN" b="1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</a:rPr>
              <a:t>pop ax</a:t>
            </a:r>
            <a:endParaRPr lang="en-US" altLang="zh-CN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med" advClick="0">
    <p:rand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标题 45057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en-US" altLang="zh-CN"/>
              <a:t>1.3  </a:t>
            </a:r>
            <a:r>
              <a:rPr lang="zh-CN" altLang="en-US" dirty="0"/>
              <a:t>标志传送指令</a:t>
            </a:r>
            <a:endParaRPr lang="zh-CN" altLang="en-US" dirty="0"/>
          </a:p>
        </p:txBody>
      </p:sp>
      <p:sp>
        <p:nvSpPr>
          <p:cNvPr id="45059" name="文本占位符 45058"/>
          <p:cNvSpPr>
            <a:spLocks noGrp="1"/>
          </p:cNvSpPr>
          <p:nvPr>
            <p:ph type="body" idx="1"/>
          </p:nvPr>
        </p:nvSpPr>
        <p:spPr>
          <a:xfrm>
            <a:off x="457200" y="1719263"/>
            <a:ext cx="7467600" cy="4411662"/>
          </a:xfrm>
        </p:spPr>
        <p:txBody>
          <a:bodyPr/>
          <a:p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标志寄存器传送指令用来传送标志寄存器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FLAGS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的内容</a:t>
            </a:r>
            <a:endParaRPr lang="zh-CN" altLang="en-US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buNone/>
            </a:pPr>
            <a:endParaRPr lang="zh-CN" altLang="en-US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标志位操作指令直接对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CF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DF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IF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标志进行复位或置位</a:t>
            </a:r>
            <a:endParaRPr lang="zh-CN" altLang="en-US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b="1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标题 46081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en-US" altLang="zh-CN"/>
              <a:t>1. </a:t>
            </a:r>
            <a:r>
              <a:rPr lang="zh-CN" altLang="en-US" dirty="0"/>
              <a:t>标志寄存器传送</a:t>
            </a:r>
            <a:endParaRPr lang="zh-CN" altLang="en-US" dirty="0"/>
          </a:p>
        </p:txBody>
      </p:sp>
      <p:sp>
        <p:nvSpPr>
          <p:cNvPr id="46083" name="文本占位符 46082"/>
          <p:cNvSpPr>
            <a:spLocks noGrp="1"/>
          </p:cNvSpPr>
          <p:nvPr>
            <p:ph type="body" idx="1"/>
          </p:nvPr>
        </p:nvSpPr>
        <p:spPr>
          <a:xfrm>
            <a:off x="457200" y="1719263"/>
            <a:ext cx="7467600" cy="4411662"/>
          </a:xfrm>
        </p:spPr>
        <p:txBody>
          <a:bodyPr/>
          <a:p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标志寄存器传送指令用来传送标志寄存器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FLAGS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的内容，方便进行对各个标志位的直接操作</a:t>
            </a:r>
            <a:endParaRPr lang="zh-CN" altLang="en-US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有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条指令</a:t>
            </a:r>
            <a:endParaRPr lang="zh-CN" altLang="en-US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/>
            <a:r>
              <a:rPr lang="zh-CN" altLang="en-US" b="1" dirty="0">
                <a:solidFill>
                  <a:srgbClr val="008000"/>
                </a:solidFill>
              </a:rPr>
              <a:t>低</a:t>
            </a:r>
            <a:r>
              <a:rPr lang="en-US" altLang="zh-CN" b="1">
                <a:solidFill>
                  <a:srgbClr val="008000"/>
                </a:solidFill>
              </a:rPr>
              <a:t>8</a:t>
            </a:r>
            <a:r>
              <a:rPr lang="zh-CN" altLang="en-US" b="1" dirty="0">
                <a:solidFill>
                  <a:srgbClr val="008000"/>
                </a:solidFill>
              </a:rPr>
              <a:t>位传送：</a:t>
            </a:r>
            <a:r>
              <a:rPr lang="en-US" altLang="zh-CN" b="1">
                <a:solidFill>
                  <a:srgbClr val="008000"/>
                </a:solidFill>
              </a:rPr>
              <a:t>LAHF</a:t>
            </a:r>
            <a:r>
              <a:rPr lang="zh-CN" altLang="en-US" b="1" dirty="0">
                <a:solidFill>
                  <a:srgbClr val="008000"/>
                </a:solidFill>
              </a:rPr>
              <a:t>和</a:t>
            </a:r>
            <a:r>
              <a:rPr lang="en-US" altLang="zh-CN" b="1">
                <a:solidFill>
                  <a:srgbClr val="008000"/>
                </a:solidFill>
              </a:rPr>
              <a:t>SAHF</a:t>
            </a:r>
            <a:endParaRPr lang="en-US" altLang="zh-CN" b="1">
              <a:solidFill>
                <a:srgbClr val="008000"/>
              </a:solidFill>
            </a:endParaRPr>
          </a:p>
          <a:p>
            <a:pPr lvl="1"/>
            <a:r>
              <a:rPr lang="en-US" altLang="zh-CN" b="1">
                <a:solidFill>
                  <a:srgbClr val="008000"/>
                </a:solidFill>
              </a:rPr>
              <a:t>16</a:t>
            </a:r>
            <a:r>
              <a:rPr lang="zh-CN" altLang="en-US" b="1" dirty="0">
                <a:solidFill>
                  <a:srgbClr val="008000"/>
                </a:solidFill>
              </a:rPr>
              <a:t>位传送：</a:t>
            </a:r>
            <a:r>
              <a:rPr lang="en-US" altLang="zh-CN" b="1">
                <a:solidFill>
                  <a:srgbClr val="008000"/>
                </a:solidFill>
              </a:rPr>
              <a:t>PUSHF</a:t>
            </a:r>
            <a:r>
              <a:rPr lang="zh-CN" altLang="en-US" b="1" dirty="0">
                <a:solidFill>
                  <a:srgbClr val="008000"/>
                </a:solidFill>
              </a:rPr>
              <a:t>和</a:t>
            </a:r>
            <a:r>
              <a:rPr lang="en-US" altLang="zh-CN" b="1">
                <a:solidFill>
                  <a:srgbClr val="008000"/>
                </a:solidFill>
              </a:rPr>
              <a:t>POPF</a:t>
            </a:r>
            <a:endParaRPr lang="en-US" altLang="zh-CN" b="1">
              <a:solidFill>
                <a:srgbClr val="008000"/>
              </a:solidFill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标题 47105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标志低字节进出</a:t>
            </a:r>
            <a:r>
              <a:rPr lang="en-US" altLang="zh-CN"/>
              <a:t>AH</a:t>
            </a:r>
            <a:r>
              <a:rPr lang="zh-CN" altLang="en-US" dirty="0"/>
              <a:t>指令</a:t>
            </a:r>
            <a:endParaRPr lang="zh-CN" altLang="en-US" dirty="0"/>
          </a:p>
        </p:txBody>
      </p:sp>
      <p:sp>
        <p:nvSpPr>
          <p:cNvPr id="47107" name="文本占位符 47106"/>
          <p:cNvSpPr>
            <a:spLocks noGrp="1"/>
          </p:cNvSpPr>
          <p:nvPr>
            <p:ph type="body" sz="half" idx="1"/>
          </p:nvPr>
        </p:nvSpPr>
        <p:spPr>
          <a:xfrm>
            <a:off x="304800" y="1905000"/>
            <a:ext cx="4191000" cy="3886200"/>
          </a:xfrm>
          <a:ln>
            <a:solidFill>
              <a:schemeClr val="accent2"/>
            </a:solidFill>
            <a:miter/>
          </a:ln>
        </p:spPr>
        <p:txBody>
          <a:bodyPr/>
          <a:p>
            <a:pPr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tx2"/>
                </a:solidFill>
                <a:latin typeface="宋体" panose="02010600030101010101" pitchFamily="2" charset="-122"/>
              </a:rPr>
              <a:t>LAHF</a:t>
            </a:r>
            <a:endParaRPr lang="en-US" altLang="zh-CN" b="1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rgbClr val="008000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600" b="1">
                <a:solidFill>
                  <a:srgbClr val="008000"/>
                </a:solidFill>
                <a:latin typeface="宋体" panose="02010600030101010101" pitchFamily="2" charset="-122"/>
              </a:rPr>
              <a:t>AH←FLAGS</a:t>
            </a:r>
            <a:r>
              <a:rPr lang="zh-CN" altLang="en-US" sz="2600" b="1" dirty="0">
                <a:solidFill>
                  <a:srgbClr val="008000"/>
                </a:solidFill>
                <a:latin typeface="宋体" panose="02010600030101010101" pitchFamily="2" charset="-122"/>
              </a:rPr>
              <a:t>的低字节</a:t>
            </a:r>
            <a:endParaRPr lang="zh-CN" altLang="en-US" sz="2600" b="1" dirty="0">
              <a:solidFill>
                <a:srgbClr val="008000"/>
              </a:solidFill>
              <a:latin typeface="宋体" panose="02010600030101010101" pitchFamily="2" charset="-122"/>
            </a:endParaRPr>
          </a:p>
          <a:p>
            <a:pPr>
              <a:buClr>
                <a:schemeClr val="tx2"/>
              </a:buClr>
              <a:buSzPct val="70000"/>
              <a:buFont typeface="Wingdings" panose="05000000000000000000" pitchFamily="2" charset="2"/>
            </a:pP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LAHF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指令将标志寄存器的低字节送寄存器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AH</a:t>
            </a:r>
            <a:endParaRPr lang="en-US" altLang="zh-CN" sz="2600" b="1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buClr>
                <a:schemeClr val="tx2"/>
              </a:buClr>
              <a:buSzPct val="70000"/>
              <a:buFont typeface="Wingdings" panose="05000000000000000000" pitchFamily="2" charset="2"/>
            </a:pP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SF/ZF/AF/PF/CF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状态标志位分别送入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AH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的第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7/6/4/2/0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位，而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AH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的第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5/3/1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位任意</a:t>
            </a:r>
            <a:endParaRPr lang="zh-CN" altLang="en-US" sz="26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7108" name="文本占位符 47107"/>
          <p:cNvSpPr>
            <a:spLocks noGrp="1"/>
          </p:cNvSpPr>
          <p:nvPr>
            <p:ph type="body" sz="half" idx="2"/>
          </p:nvPr>
        </p:nvSpPr>
        <p:spPr>
          <a:xfrm>
            <a:off x="4752975" y="1905000"/>
            <a:ext cx="4086225" cy="3886200"/>
          </a:xfrm>
          <a:ln>
            <a:solidFill>
              <a:schemeClr val="accent2"/>
            </a:solidFill>
            <a:miter/>
          </a:ln>
        </p:spPr>
        <p:txBody>
          <a:bodyPr/>
          <a:p>
            <a:pPr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600" b="1">
                <a:solidFill>
                  <a:schemeClr val="tx2"/>
                </a:solidFill>
                <a:latin typeface="宋体" panose="02010600030101010101" pitchFamily="2" charset="-122"/>
              </a:rPr>
              <a:t>SAHF</a:t>
            </a:r>
            <a:endParaRPr lang="en-US" altLang="zh-CN" sz="2600" b="1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rgbClr val="008000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600" b="1">
                <a:solidFill>
                  <a:srgbClr val="008000"/>
                </a:solidFill>
                <a:latin typeface="宋体" panose="02010600030101010101" pitchFamily="2" charset="-122"/>
              </a:rPr>
              <a:t>FLAGS</a:t>
            </a:r>
            <a:r>
              <a:rPr lang="zh-CN" altLang="en-US" sz="2600" b="1" dirty="0">
                <a:solidFill>
                  <a:srgbClr val="008000"/>
                </a:solidFill>
                <a:latin typeface="宋体" panose="02010600030101010101" pitchFamily="2" charset="-122"/>
              </a:rPr>
              <a:t>的低字节</a:t>
            </a:r>
            <a:r>
              <a:rPr lang="en-US" altLang="zh-CN" sz="2600" b="1">
                <a:solidFill>
                  <a:srgbClr val="008000"/>
                </a:solidFill>
                <a:latin typeface="宋体" panose="02010600030101010101" pitchFamily="2" charset="-122"/>
              </a:rPr>
              <a:t>←AH</a:t>
            </a:r>
            <a:endParaRPr lang="en-US" altLang="zh-CN" sz="2600" b="1">
              <a:solidFill>
                <a:srgbClr val="008000"/>
              </a:solidFill>
              <a:latin typeface="宋体" panose="02010600030101010101" pitchFamily="2" charset="-122"/>
            </a:endParaRPr>
          </a:p>
          <a:p>
            <a:pPr>
              <a:buClr>
                <a:schemeClr val="tx2"/>
              </a:buClr>
              <a:buSzPct val="70000"/>
              <a:buFont typeface="Wingdings" panose="05000000000000000000" pitchFamily="2" charset="2"/>
            </a:pP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SAHF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将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AH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寄存器内容送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FLAGS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的低字节</a:t>
            </a:r>
            <a:endParaRPr lang="zh-CN" altLang="en-US" sz="26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buClr>
                <a:schemeClr val="tx2"/>
              </a:buClr>
              <a:buSzPct val="70000"/>
              <a:buFont typeface="Wingdings" panose="05000000000000000000" pitchFamily="2" charset="2"/>
            </a:pP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用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AH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的第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7/6/4/2/0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位相应设置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SF/ZF/AF/ PF/CF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标志</a:t>
            </a:r>
            <a:endParaRPr lang="zh-CN" altLang="en-US" sz="26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标题 48129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标志寄存器进出堆栈指令</a:t>
            </a:r>
            <a:endParaRPr lang="zh-CN" altLang="zh-CN" dirty="0"/>
          </a:p>
        </p:txBody>
      </p:sp>
      <p:sp>
        <p:nvSpPr>
          <p:cNvPr id="48131" name="文本占位符 48130"/>
          <p:cNvSpPr>
            <a:spLocks noGrp="1"/>
          </p:cNvSpPr>
          <p:nvPr>
            <p:ph type="body" sz="half" idx="1"/>
          </p:nvPr>
        </p:nvSpPr>
        <p:spPr>
          <a:xfrm>
            <a:off x="381000" y="1905000"/>
            <a:ext cx="3971925" cy="3048000"/>
          </a:xfrm>
          <a:ln>
            <a:solidFill>
              <a:schemeClr val="accent2"/>
            </a:solidFill>
            <a:miter/>
          </a:ln>
        </p:spPr>
        <p:txBody>
          <a:bodyPr/>
          <a:p>
            <a:pPr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600" b="1">
                <a:solidFill>
                  <a:schemeClr val="tx2"/>
                </a:solidFill>
                <a:latin typeface="宋体" panose="02010600030101010101" pitchFamily="2" charset="-122"/>
              </a:rPr>
              <a:t>PUSHF</a:t>
            </a:r>
            <a:endParaRPr lang="en-US" altLang="zh-CN" sz="2600" b="1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200" b="1" dirty="0">
                <a:solidFill>
                  <a:srgbClr val="008000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200" b="1">
                <a:solidFill>
                  <a:srgbClr val="008000"/>
                </a:solidFill>
                <a:latin typeface="宋体" panose="02010600030101010101" pitchFamily="2" charset="-122"/>
              </a:rPr>
              <a:t>SP←SP</a:t>
            </a:r>
            <a:r>
              <a:rPr lang="zh-CN" altLang="en-US" sz="2200" b="1" dirty="0">
                <a:solidFill>
                  <a:srgbClr val="008000"/>
                </a:solidFill>
                <a:latin typeface="宋体" panose="02010600030101010101" pitchFamily="2" charset="-122"/>
              </a:rPr>
              <a:t>－</a:t>
            </a:r>
            <a:r>
              <a:rPr lang="en-US" altLang="zh-CN" sz="2200" b="1">
                <a:solidFill>
                  <a:srgbClr val="008000"/>
                </a:solidFill>
                <a:latin typeface="宋体" panose="02010600030101010101" pitchFamily="2" charset="-122"/>
              </a:rPr>
              <a:t>2</a:t>
            </a:r>
            <a:endParaRPr lang="en-US" altLang="zh-CN" sz="2200" b="1">
              <a:solidFill>
                <a:srgbClr val="008000"/>
              </a:solidFill>
              <a:latin typeface="宋体" panose="02010600030101010101" pitchFamily="2" charset="-122"/>
            </a:endParaRPr>
          </a:p>
          <a:p>
            <a:pPr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200" b="1" dirty="0">
                <a:solidFill>
                  <a:srgbClr val="008000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200" b="1">
                <a:solidFill>
                  <a:srgbClr val="008000"/>
                </a:solidFill>
                <a:latin typeface="宋体" panose="02010600030101010101" pitchFamily="2" charset="-122"/>
              </a:rPr>
              <a:t>SS:[SP]←FLAGS</a:t>
            </a:r>
            <a:endParaRPr lang="en-US" altLang="zh-CN" sz="2200" b="1">
              <a:solidFill>
                <a:srgbClr val="008000"/>
              </a:solidFill>
              <a:latin typeface="宋体" panose="02010600030101010101" pitchFamily="2" charset="-122"/>
            </a:endParaRPr>
          </a:p>
          <a:p>
            <a:pPr>
              <a:buClr>
                <a:schemeClr val="tx2"/>
              </a:buClr>
              <a:buSzPct val="70000"/>
              <a:buFont typeface="Wingdings" panose="05000000000000000000" pitchFamily="2" charset="2"/>
            </a:pP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PUSHF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指令将标志寄存器的内容压入堆栈，同时栈顶指针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SP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减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endParaRPr lang="en-US" altLang="zh-CN" sz="2600" b="1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8132" name="文本占位符 48131"/>
          <p:cNvSpPr>
            <a:spLocks noGrp="1"/>
          </p:cNvSpPr>
          <p:nvPr>
            <p:ph type="body" sz="half" idx="2"/>
          </p:nvPr>
        </p:nvSpPr>
        <p:spPr>
          <a:xfrm>
            <a:off x="4676775" y="1905000"/>
            <a:ext cx="4216400" cy="3048000"/>
          </a:xfrm>
          <a:ln>
            <a:solidFill>
              <a:schemeClr val="accent2"/>
            </a:solidFill>
            <a:miter/>
          </a:ln>
        </p:spPr>
        <p:txBody>
          <a:bodyPr/>
          <a:p>
            <a:pPr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600" b="1">
                <a:solidFill>
                  <a:schemeClr val="tx2"/>
                </a:solidFill>
                <a:latin typeface="宋体" panose="02010600030101010101" pitchFamily="2" charset="-122"/>
              </a:rPr>
              <a:t>POPF</a:t>
            </a:r>
            <a:endParaRPr lang="en-US" altLang="zh-CN" sz="2600" b="1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200" b="1" dirty="0">
                <a:solidFill>
                  <a:srgbClr val="008000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200" b="1">
                <a:solidFill>
                  <a:srgbClr val="008000"/>
                </a:solidFill>
                <a:latin typeface="宋体" panose="02010600030101010101" pitchFamily="2" charset="-122"/>
              </a:rPr>
              <a:t>FLAGS←SS:[SP]</a:t>
            </a:r>
            <a:endParaRPr lang="en-US" altLang="zh-CN" sz="2200" b="1">
              <a:solidFill>
                <a:srgbClr val="008000"/>
              </a:solidFill>
              <a:latin typeface="宋体" panose="02010600030101010101" pitchFamily="2" charset="-122"/>
            </a:endParaRPr>
          </a:p>
          <a:p>
            <a:pPr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200" b="1" dirty="0">
                <a:solidFill>
                  <a:srgbClr val="008000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200" b="1">
                <a:solidFill>
                  <a:srgbClr val="008000"/>
                </a:solidFill>
                <a:latin typeface="宋体" panose="02010600030101010101" pitchFamily="2" charset="-122"/>
              </a:rPr>
              <a:t>SP←SP</a:t>
            </a:r>
            <a:r>
              <a:rPr lang="zh-CN" altLang="en-US" sz="2200" b="1" dirty="0">
                <a:solidFill>
                  <a:srgbClr val="008000"/>
                </a:solidFill>
                <a:latin typeface="宋体" panose="02010600030101010101" pitchFamily="2" charset="-122"/>
              </a:rPr>
              <a:t>＋</a:t>
            </a:r>
            <a:r>
              <a:rPr lang="en-US" altLang="zh-CN" sz="2200" b="1">
                <a:solidFill>
                  <a:srgbClr val="008000"/>
                </a:solidFill>
                <a:latin typeface="宋体" panose="02010600030101010101" pitchFamily="2" charset="-122"/>
              </a:rPr>
              <a:t>2</a:t>
            </a:r>
            <a:endParaRPr lang="en-US" altLang="zh-CN" sz="2200" b="1">
              <a:solidFill>
                <a:srgbClr val="008000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70000"/>
              <a:buFont typeface="Wingdings" panose="05000000000000000000" pitchFamily="2" charset="2"/>
            </a:pP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POPF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指令将栈顶字单元内容送标志寄存器，同时栈顶指针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SP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加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endParaRPr lang="en-US" altLang="zh-CN" sz="2600" b="1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8133" name="文本框 48132">
            <a:hlinkClick r:id="" action="ppaction://noaction"/>
          </p:cNvPr>
          <p:cNvSpPr txBox="1"/>
          <p:nvPr/>
        </p:nvSpPr>
        <p:spPr>
          <a:xfrm>
            <a:off x="7010400" y="5610225"/>
            <a:ext cx="1186815" cy="398780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18900000" scaled="1"/>
            <a:tileRect/>
          </a:gradFill>
          <a:ln w="9525">
            <a:noFill/>
          </a:ln>
          <a:effectLst>
            <a:outerShdw dist="35921" dir="2699999" algn="ctr" rotWithShape="0">
              <a:srgbClr val="808080"/>
            </a:outerShdw>
          </a:effectLst>
        </p:spPr>
        <p:txBody>
          <a:bodyPr wrap="none" anchor="t" anchorCtr="0">
            <a:spAutoFit/>
          </a:bodyPr>
          <a:p>
            <a:pPr algn="l">
              <a:spcBef>
                <a:spcPct val="0"/>
              </a:spcBef>
            </a:pPr>
            <a:r>
              <a:rPr lang="zh-CN" altLang="en-US" sz="2000" i="0" dirty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例题</a:t>
            </a:r>
            <a:r>
              <a:rPr lang="en-US" altLang="zh-CN" sz="2000" i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sz="2000" i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.12</a:t>
            </a:r>
            <a:endParaRPr lang="en-US" altLang="zh-CN" sz="2000" i="0">
              <a:solidFill>
                <a:srgbClr val="66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60" name="标题 49159"/>
          <p:cNvSpPr>
            <a:spLocks noGrp="1"/>
          </p:cNvSpPr>
          <p:nvPr>
            <p:ph type="title"/>
          </p:nvPr>
        </p:nvSpPr>
        <p:spPr>
          <a:xfrm>
            <a:off x="762000" y="533400"/>
            <a:ext cx="4191000" cy="609600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zh-CN" altLang="en-US" sz="3000" dirty="0"/>
              <a:t>例</a:t>
            </a:r>
            <a:r>
              <a:rPr lang="en-US" altLang="zh-CN" sz="3000"/>
              <a:t>1</a:t>
            </a:r>
            <a:r>
              <a:rPr lang="en-US" altLang="zh-CN" sz="3000"/>
              <a:t>.12</a:t>
            </a:r>
            <a:r>
              <a:rPr lang="zh-CN" altLang="en-US" sz="3000" dirty="0"/>
              <a:t>：置位单步标志</a:t>
            </a:r>
            <a:endParaRPr lang="zh-CN" altLang="en-US" sz="3000" dirty="0"/>
          </a:p>
        </p:txBody>
      </p:sp>
      <p:sp>
        <p:nvSpPr>
          <p:cNvPr id="49161" name="文本占位符 49160"/>
          <p:cNvSpPr>
            <a:spLocks noGrp="1"/>
          </p:cNvSpPr>
          <p:nvPr>
            <p:ph type="body" idx="1"/>
          </p:nvPr>
        </p:nvSpPr>
        <p:spPr>
          <a:xfrm>
            <a:off x="533400" y="1600200"/>
            <a:ext cx="7648575" cy="3797300"/>
          </a:xfrm>
          <a:solidFill>
            <a:schemeClr val="bg1"/>
          </a:solidFill>
        </p:spPr>
        <p:txBody>
          <a:bodyPr/>
          <a:p>
            <a:pPr marL="0" indent="390525" defTabSz="914400">
              <a:buNone/>
              <a:tabLst>
                <a:tab pos="2857500" algn="l"/>
              </a:tabLst>
            </a:pPr>
            <a:r>
              <a:rPr lang="en-US" altLang="zh-CN" b="1" err="1">
                <a:solidFill>
                  <a:srgbClr val="0000FF"/>
                </a:solidFill>
                <a:latin typeface="宋体" panose="02010600030101010101" pitchFamily="2" charset="-122"/>
              </a:rPr>
              <a:t>pushf</a:t>
            </a:r>
            <a:r>
              <a:rPr lang="en-US" altLang="zh-CN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dirty="0">
                <a:latin typeface="宋体" panose="02010600030101010101" pitchFamily="2" charset="-122"/>
              </a:rPr>
              <a:t>；保存全部标志到堆栈</a:t>
            </a:r>
            <a:endParaRPr lang="zh-CN" altLang="en-US" dirty="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2857500" algn="l"/>
              </a:tabLst>
            </a:pPr>
            <a:r>
              <a:rPr lang="en-US" altLang="zh-CN">
                <a:solidFill>
                  <a:srgbClr val="0000FF"/>
                </a:solidFill>
                <a:latin typeface="宋体" panose="02010600030101010101" pitchFamily="2" charset="-122"/>
              </a:rPr>
              <a:t>pop ax</a:t>
            </a:r>
            <a:r>
              <a:rPr lang="en-US" altLang="zh-CN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dirty="0">
                <a:latin typeface="宋体" panose="02010600030101010101" pitchFamily="2" charset="-122"/>
              </a:rPr>
              <a:t>；堆栈中取出全部标志</a:t>
            </a:r>
            <a:endParaRPr lang="zh-CN" altLang="en-US" dirty="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2857500" algn="l"/>
              </a:tabLst>
            </a:pPr>
            <a:r>
              <a:rPr lang="en-US" altLang="zh-CN">
                <a:solidFill>
                  <a:srgbClr val="0000FF"/>
                </a:solidFill>
                <a:latin typeface="宋体" panose="02010600030101010101" pitchFamily="2" charset="-122"/>
              </a:rPr>
              <a:t>or ax,0100h</a:t>
            </a:r>
            <a:r>
              <a:rPr lang="en-US" altLang="zh-CN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dirty="0">
                <a:latin typeface="宋体" panose="02010600030101010101" pitchFamily="2" charset="-122"/>
              </a:rPr>
              <a:t>；设置</a:t>
            </a:r>
            <a:r>
              <a:rPr lang="en-US" altLang="zh-CN">
                <a:latin typeface="宋体" panose="02010600030101010101" pitchFamily="2" charset="-122"/>
              </a:rPr>
              <a:t>D</a:t>
            </a:r>
            <a:r>
              <a:rPr lang="en-US" altLang="zh-CN" sz="2600">
                <a:latin typeface="宋体" panose="02010600030101010101" pitchFamily="2" charset="-122"/>
              </a:rPr>
              <a:t>8</a:t>
            </a:r>
            <a:r>
              <a:rPr lang="en-US" altLang="zh-CN">
                <a:latin typeface="宋体" panose="02010600030101010101" pitchFamily="2" charset="-122"/>
              </a:rPr>
              <a:t>=TF=1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endParaRPr lang="zh-CN" altLang="en-US" dirty="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2857500" algn="l"/>
              </a:tabLst>
            </a:pPr>
            <a:r>
              <a:rPr lang="zh-CN" altLang="en-US" dirty="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dirty="0">
                <a:latin typeface="宋体" panose="02010600030101010101" pitchFamily="2" charset="-122"/>
              </a:rPr>
              <a:t>；</a:t>
            </a:r>
            <a:r>
              <a:rPr lang="en-US" altLang="zh-CN">
                <a:latin typeface="宋体" panose="02010600030101010101" pitchFamily="2" charset="-122"/>
              </a:rPr>
              <a:t>ax</a:t>
            </a:r>
            <a:r>
              <a:rPr lang="zh-CN" altLang="en-US" dirty="0">
                <a:latin typeface="宋体" panose="02010600030101010101" pitchFamily="2" charset="-122"/>
              </a:rPr>
              <a:t>其他位不变</a:t>
            </a:r>
            <a:endParaRPr lang="zh-CN" altLang="en-US" dirty="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2857500" algn="l"/>
              </a:tabLst>
            </a:pPr>
            <a:r>
              <a:rPr lang="en-US" altLang="zh-CN">
                <a:solidFill>
                  <a:srgbClr val="0000FF"/>
                </a:solidFill>
                <a:latin typeface="宋体" panose="02010600030101010101" pitchFamily="2" charset="-122"/>
              </a:rPr>
              <a:t>push ax</a:t>
            </a:r>
            <a:r>
              <a:rPr lang="en-US" altLang="zh-CN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dirty="0">
                <a:latin typeface="宋体" panose="02010600030101010101" pitchFamily="2" charset="-122"/>
              </a:rPr>
              <a:t>；将</a:t>
            </a:r>
            <a:r>
              <a:rPr lang="en-US" altLang="zh-CN">
                <a:latin typeface="宋体" panose="02010600030101010101" pitchFamily="2" charset="-122"/>
              </a:rPr>
              <a:t>ax</a:t>
            </a:r>
            <a:r>
              <a:rPr lang="zh-CN" altLang="en-US" dirty="0">
                <a:latin typeface="宋体" panose="02010600030101010101" pitchFamily="2" charset="-122"/>
              </a:rPr>
              <a:t>压入堆栈</a:t>
            </a:r>
            <a:endParaRPr lang="zh-CN" altLang="en-US" dirty="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2857500" algn="l"/>
              </a:tabLst>
            </a:pPr>
            <a:r>
              <a:rPr lang="en-US" altLang="zh-CN" b="1" err="1">
                <a:solidFill>
                  <a:srgbClr val="0000FF"/>
                </a:solidFill>
                <a:latin typeface="宋体" panose="02010600030101010101" pitchFamily="2" charset="-122"/>
              </a:rPr>
              <a:t>popf</a:t>
            </a:r>
            <a:r>
              <a:rPr lang="en-US" altLang="zh-CN">
                <a:latin typeface="宋体" panose="02010600030101010101" pitchFamily="2" charset="-122"/>
              </a:rPr>
              <a:t>	</a:t>
            </a:r>
            <a:r>
              <a:rPr lang="zh-CN" altLang="en-US" dirty="0">
                <a:latin typeface="宋体" panose="02010600030101010101" pitchFamily="2" charset="-122"/>
              </a:rPr>
              <a:t>；</a:t>
            </a:r>
            <a:r>
              <a:rPr lang="en-US" altLang="zh-CN">
                <a:latin typeface="宋体" panose="02010600030101010101" pitchFamily="2" charset="-122"/>
              </a:rPr>
              <a:t>FLAGS←AX</a:t>
            </a:r>
            <a:endParaRPr lang="en-US" altLang="zh-CN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2857500" algn="l"/>
              </a:tabLst>
            </a:pPr>
            <a:r>
              <a:rPr lang="zh-CN" altLang="en-US" dirty="0">
                <a:latin typeface="宋体" panose="02010600030101010101" pitchFamily="2" charset="-122"/>
              </a:rPr>
              <a:t>；将堆栈内容取到标志寄存器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49163" name="圆角矩形 49162" descr="画布"/>
          <p:cNvSpPr/>
          <p:nvPr/>
        </p:nvSpPr>
        <p:spPr>
          <a:xfrm>
            <a:off x="762000" y="5486400"/>
            <a:ext cx="7620000" cy="1219200"/>
          </a:xfrm>
          <a:prstGeom prst="roundRect">
            <a:avLst>
              <a:gd name="adj" fmla="val 16667"/>
            </a:avLst>
          </a:prstGeom>
          <a:blipFill rotWithShape="0">
            <a:blip r:embed="rId1"/>
          </a:blipFill>
          <a:ln w="9525">
            <a:noFill/>
          </a:ln>
        </p:spPr>
        <p:txBody>
          <a:bodyPr anchor="ctr" anchorCtr="0"/>
          <a:p>
            <a:pPr>
              <a:spcBef>
                <a:spcPct val="0"/>
              </a:spcBef>
              <a:buBlip>
                <a:blip r:embed="rId2"/>
              </a:buBlip>
            </a:pPr>
            <a:r>
              <a:rPr lang="en-US" altLang="zh-CN" i="0" dirty="0">
                <a:solidFill>
                  <a:srgbClr val="008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i="0" dirty="0">
                <a:solidFill>
                  <a:srgbClr val="008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此例的目的就是给标志寄存器中的某几位重新，要想修改标志寄存器只能如此，不可以 </a:t>
            </a:r>
            <a:r>
              <a:rPr lang="en-US" altLang="zh-CN" i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mov</a:t>
            </a:r>
            <a:r>
              <a:rPr lang="en-US" altLang="zh-CN" i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flags</a:t>
            </a:r>
            <a:r>
              <a:rPr lang="zh-CN" altLang="en-US" i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i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0100H</a:t>
            </a:r>
            <a:endParaRPr lang="en-US" altLang="zh-CN" i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med" advClick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6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标题 50177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en-US" altLang="zh-CN"/>
              <a:t>2. </a:t>
            </a:r>
            <a:r>
              <a:rPr lang="zh-CN" altLang="en-US" dirty="0"/>
              <a:t>标志位操作</a:t>
            </a:r>
            <a:endParaRPr lang="zh-CN" altLang="en-US" dirty="0"/>
          </a:p>
        </p:txBody>
      </p:sp>
      <p:sp>
        <p:nvSpPr>
          <p:cNvPr id="50179" name="文本占位符 50178"/>
          <p:cNvSpPr>
            <a:spLocks noGrp="1"/>
          </p:cNvSpPr>
          <p:nvPr>
            <p:ph type="body" idx="1"/>
          </p:nvPr>
        </p:nvSpPr>
        <p:spPr>
          <a:xfrm>
            <a:off x="457200" y="1719263"/>
            <a:ext cx="7467600" cy="4411662"/>
          </a:xfrm>
        </p:spPr>
        <p:txBody>
          <a:bodyPr/>
          <a:p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标志位操作指令直接对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CF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DF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IF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标志进行复位或置位，常用于特定的情况</a:t>
            </a:r>
            <a:endParaRPr lang="zh-CN" altLang="en-US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对标志位进行设置的指令（共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个）</a:t>
            </a:r>
            <a:endParaRPr lang="zh-CN" altLang="en-US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/>
            <a:r>
              <a:rPr lang="en-US" altLang="zh-CN" b="1">
                <a:solidFill>
                  <a:schemeClr val="tx2"/>
                </a:solidFill>
              </a:rPr>
              <a:t>CLC    STC    CMC</a:t>
            </a:r>
            <a:endParaRPr lang="en-US" altLang="zh-CN" b="1">
              <a:solidFill>
                <a:schemeClr val="tx2"/>
              </a:solidFill>
            </a:endParaRPr>
          </a:p>
          <a:p>
            <a:pPr lvl="1"/>
            <a:r>
              <a:rPr lang="en-US" altLang="zh-CN" b="1">
                <a:solidFill>
                  <a:schemeClr val="tx2"/>
                </a:solidFill>
              </a:rPr>
              <a:t>CLD    STD</a:t>
            </a:r>
            <a:endParaRPr lang="en-US" altLang="zh-CN" b="1">
              <a:solidFill>
                <a:schemeClr val="tx2"/>
              </a:solidFill>
            </a:endParaRPr>
          </a:p>
          <a:p>
            <a:pPr lvl="1"/>
            <a:r>
              <a:rPr lang="en-US" altLang="zh-CN" b="1">
                <a:solidFill>
                  <a:schemeClr val="tx2"/>
                </a:solidFill>
              </a:rPr>
              <a:t>CLI      STI</a:t>
            </a:r>
            <a:endParaRPr lang="en-US" altLang="zh-CN" b="1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>
    <p:blinds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标题 51201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（</a:t>
            </a:r>
            <a:r>
              <a:rPr lang="en-US" altLang="zh-CN"/>
              <a:t>1</a:t>
            </a:r>
            <a:r>
              <a:rPr lang="zh-CN" altLang="en-US" dirty="0"/>
              <a:t>）进位标志操作指令</a:t>
            </a:r>
            <a:endParaRPr lang="zh-CN" altLang="en-US" dirty="0"/>
          </a:p>
        </p:txBody>
      </p:sp>
      <p:sp>
        <p:nvSpPr>
          <p:cNvPr id="51203" name="文本占位符 51202"/>
          <p:cNvSpPr>
            <a:spLocks noGrp="1"/>
          </p:cNvSpPr>
          <p:nvPr>
            <p:ph type="body" idx="1"/>
          </p:nvPr>
        </p:nvSpPr>
        <p:spPr>
          <a:xfrm>
            <a:off x="1128713" y="2041525"/>
            <a:ext cx="7269162" cy="2490788"/>
          </a:xfrm>
        </p:spPr>
        <p:txBody>
          <a:bodyPr/>
          <a:p>
            <a:pPr defTabSz="914400">
              <a:lnSpc>
                <a:spcPct val="120000"/>
              </a:lnSpc>
              <a:tabLst>
                <a:tab pos="1520825" algn="l"/>
              </a:tabLst>
            </a:pPr>
            <a:r>
              <a:rPr lang="zh-CN" altLang="en-US" b="1" dirty="0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用于任意设置进位标志</a:t>
            </a:r>
            <a:endParaRPr lang="zh-CN" altLang="en-US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defTabSz="914400">
              <a:lnSpc>
                <a:spcPct val="110000"/>
              </a:lnSpc>
              <a:buNone/>
              <a:tabLst>
                <a:tab pos="1520825" algn="l"/>
              </a:tabLst>
            </a:pPr>
            <a:r>
              <a:rPr lang="en-US" altLang="zh-CN" b="1">
                <a:solidFill>
                  <a:schemeClr val="tx2"/>
                </a:solidFill>
                <a:latin typeface="宋体" panose="02010600030101010101" pitchFamily="2" charset="-122"/>
              </a:rPr>
              <a:t>CLC</a:t>
            </a:r>
            <a:r>
              <a:rPr lang="en-US" altLang="zh-CN">
                <a:latin typeface="宋体" panose="02010600030101010101" pitchFamily="2" charset="-122"/>
              </a:rPr>
              <a:t>	</a:t>
            </a:r>
            <a:r>
              <a:rPr lang="zh-CN" altLang="en-US" sz="2600" dirty="0">
                <a:latin typeface="宋体" panose="02010600030101010101" pitchFamily="2" charset="-122"/>
              </a:rPr>
              <a:t>；复位进位标志：</a:t>
            </a:r>
            <a:r>
              <a:rPr lang="en-US" altLang="zh-CN" sz="2600">
                <a:latin typeface="宋体" panose="02010600030101010101" pitchFamily="2" charset="-122"/>
              </a:rPr>
              <a:t>CF←0</a:t>
            </a:r>
            <a:endParaRPr lang="en-US" altLang="zh-CN" sz="2600">
              <a:latin typeface="宋体" panose="02010600030101010101" pitchFamily="2" charset="-122"/>
            </a:endParaRPr>
          </a:p>
          <a:p>
            <a:pPr defTabSz="914400">
              <a:lnSpc>
                <a:spcPct val="110000"/>
              </a:lnSpc>
              <a:buNone/>
              <a:tabLst>
                <a:tab pos="1520825" algn="l"/>
              </a:tabLst>
            </a:pPr>
            <a:r>
              <a:rPr lang="en-US" altLang="zh-CN" b="1">
                <a:solidFill>
                  <a:schemeClr val="tx2"/>
                </a:solidFill>
                <a:latin typeface="宋体" panose="02010600030101010101" pitchFamily="2" charset="-122"/>
              </a:rPr>
              <a:t>STC</a:t>
            </a:r>
            <a:r>
              <a:rPr lang="en-US" altLang="zh-CN">
                <a:latin typeface="宋体" panose="02010600030101010101" pitchFamily="2" charset="-122"/>
              </a:rPr>
              <a:t>	</a:t>
            </a:r>
            <a:r>
              <a:rPr lang="zh-CN" altLang="en-US" sz="2600" dirty="0">
                <a:latin typeface="宋体" panose="02010600030101010101" pitchFamily="2" charset="-122"/>
              </a:rPr>
              <a:t>；置位进位标志：</a:t>
            </a:r>
            <a:r>
              <a:rPr lang="en-US" altLang="zh-CN" sz="2600">
                <a:latin typeface="宋体" panose="02010600030101010101" pitchFamily="2" charset="-122"/>
              </a:rPr>
              <a:t>CF←1</a:t>
            </a:r>
            <a:endParaRPr lang="en-US" altLang="zh-CN" sz="2600">
              <a:latin typeface="宋体" panose="02010600030101010101" pitchFamily="2" charset="-122"/>
            </a:endParaRPr>
          </a:p>
          <a:p>
            <a:pPr defTabSz="914400">
              <a:lnSpc>
                <a:spcPct val="110000"/>
              </a:lnSpc>
              <a:buNone/>
              <a:tabLst>
                <a:tab pos="1520825" algn="l"/>
              </a:tabLst>
            </a:pPr>
            <a:r>
              <a:rPr lang="en-US" altLang="zh-CN" b="1">
                <a:solidFill>
                  <a:schemeClr val="tx2"/>
                </a:solidFill>
                <a:latin typeface="宋体" panose="02010600030101010101" pitchFamily="2" charset="-122"/>
              </a:rPr>
              <a:t>CMC</a:t>
            </a:r>
            <a:r>
              <a:rPr lang="en-US" altLang="zh-CN">
                <a:latin typeface="宋体" panose="02010600030101010101" pitchFamily="2" charset="-122"/>
              </a:rPr>
              <a:t>	</a:t>
            </a:r>
            <a:r>
              <a:rPr lang="zh-CN" altLang="en-US" sz="2600" dirty="0">
                <a:latin typeface="宋体" panose="02010600030101010101" pitchFamily="2" charset="-122"/>
              </a:rPr>
              <a:t>；求反进位标志：</a:t>
            </a:r>
            <a:r>
              <a:rPr lang="en-US" altLang="zh-CN" sz="2600">
                <a:latin typeface="宋体" panose="02010600030101010101" pitchFamily="2" charset="-122"/>
              </a:rPr>
              <a:t>CF←</a:t>
            </a:r>
            <a:r>
              <a:rPr lang="zh-CN" altLang="en-US" sz="2600" dirty="0">
                <a:latin typeface="宋体" panose="02010600030101010101" pitchFamily="2" charset="-122"/>
              </a:rPr>
              <a:t>～</a:t>
            </a:r>
            <a:r>
              <a:rPr lang="en-US" altLang="zh-CN" sz="2600">
                <a:latin typeface="宋体" panose="02010600030101010101" pitchFamily="2" charset="-122"/>
              </a:rPr>
              <a:t>CF</a:t>
            </a:r>
            <a:endParaRPr lang="en-US" altLang="zh-CN" sz="2600"/>
          </a:p>
        </p:txBody>
      </p:sp>
    </p:spTree>
  </p:cSld>
  <p:clrMapOvr>
    <a:masterClrMapping/>
  </p:clrMapOvr>
  <p:transition>
    <p:split orient="vert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标题 52225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（</a:t>
            </a:r>
            <a:r>
              <a:rPr lang="en-US" altLang="zh-CN"/>
              <a:t>2</a:t>
            </a:r>
            <a:r>
              <a:rPr lang="zh-CN" altLang="en-US" dirty="0"/>
              <a:t>）方向标志操作指令</a:t>
            </a:r>
            <a:endParaRPr lang="zh-CN" altLang="en-US" dirty="0"/>
          </a:p>
        </p:txBody>
      </p:sp>
      <p:sp>
        <p:nvSpPr>
          <p:cNvPr id="52227" name="文本占位符 52226"/>
          <p:cNvSpPr>
            <a:spLocks noGrp="1"/>
          </p:cNvSpPr>
          <p:nvPr>
            <p:ph type="body" idx="1"/>
          </p:nvPr>
        </p:nvSpPr>
        <p:spPr>
          <a:xfrm>
            <a:off x="1128713" y="2041525"/>
            <a:ext cx="7269162" cy="1992313"/>
          </a:xfrm>
        </p:spPr>
        <p:txBody>
          <a:bodyPr/>
          <a:p>
            <a:pPr defTabSz="914400">
              <a:lnSpc>
                <a:spcPct val="120000"/>
              </a:lnSpc>
              <a:buNone/>
              <a:tabLst>
                <a:tab pos="1520825" algn="l"/>
              </a:tabLst>
            </a:pP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串操作指令中，需要使用</a:t>
            </a:r>
            <a:endParaRPr lang="zh-CN" altLang="en-US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defTabSz="914400">
              <a:buNone/>
              <a:tabLst>
                <a:tab pos="1520825" algn="l"/>
              </a:tabLst>
            </a:pPr>
            <a:r>
              <a:rPr lang="en-US" altLang="zh-CN" b="1">
                <a:solidFill>
                  <a:schemeClr val="tx2"/>
                </a:solidFill>
                <a:latin typeface="宋体" panose="02010600030101010101" pitchFamily="2" charset="-122"/>
              </a:rPr>
              <a:t>CLD</a:t>
            </a:r>
            <a:r>
              <a:rPr lang="en-US" altLang="zh-CN">
                <a:latin typeface="宋体" panose="02010600030101010101" pitchFamily="2" charset="-122"/>
              </a:rPr>
              <a:t>	</a:t>
            </a:r>
            <a:r>
              <a:rPr lang="zh-CN" altLang="en-US" sz="2600" dirty="0">
                <a:latin typeface="宋体" panose="02010600030101010101" pitchFamily="2" charset="-122"/>
              </a:rPr>
              <a:t>；复位方向标志：</a:t>
            </a:r>
            <a:r>
              <a:rPr lang="en-US" altLang="zh-CN" sz="2600">
                <a:latin typeface="宋体" panose="02010600030101010101" pitchFamily="2" charset="-122"/>
              </a:rPr>
              <a:t>DF←0</a:t>
            </a:r>
            <a:endParaRPr lang="en-US" altLang="zh-CN" sz="2600">
              <a:latin typeface="宋体" panose="02010600030101010101" pitchFamily="2" charset="-122"/>
            </a:endParaRPr>
          </a:p>
          <a:p>
            <a:pPr defTabSz="914400">
              <a:buNone/>
              <a:tabLst>
                <a:tab pos="1520825" algn="l"/>
              </a:tabLst>
            </a:pPr>
            <a:r>
              <a:rPr lang="en-US" altLang="zh-CN" b="1">
                <a:solidFill>
                  <a:schemeClr val="tx2"/>
                </a:solidFill>
                <a:latin typeface="宋体" panose="02010600030101010101" pitchFamily="2" charset="-122"/>
              </a:rPr>
              <a:t>STD</a:t>
            </a:r>
            <a:r>
              <a:rPr lang="en-US" altLang="zh-CN">
                <a:latin typeface="宋体" panose="02010600030101010101" pitchFamily="2" charset="-122"/>
              </a:rPr>
              <a:t>	</a:t>
            </a:r>
            <a:r>
              <a:rPr lang="zh-CN" altLang="en-US" sz="2600" dirty="0">
                <a:latin typeface="宋体" panose="02010600030101010101" pitchFamily="2" charset="-122"/>
              </a:rPr>
              <a:t>；置位方向标志：</a:t>
            </a:r>
            <a:r>
              <a:rPr lang="en-US" altLang="zh-CN" sz="2600">
                <a:latin typeface="宋体" panose="02010600030101010101" pitchFamily="2" charset="-122"/>
              </a:rPr>
              <a:t>DF←1</a:t>
            </a:r>
            <a:endParaRPr lang="en-US" altLang="zh-CN" sz="2600"/>
          </a:p>
        </p:txBody>
      </p:sp>
    </p:spTree>
  </p:cSld>
  <p:clrMapOvr>
    <a:masterClrMapping/>
  </p:clrMapOvr>
  <p:transition>
    <p:split orient="vert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标题 53249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（</a:t>
            </a:r>
            <a:r>
              <a:rPr lang="en-US" altLang="zh-CN"/>
              <a:t>3</a:t>
            </a:r>
            <a:r>
              <a:rPr lang="zh-CN" altLang="en-US" dirty="0"/>
              <a:t>）中断标志操作指令</a:t>
            </a:r>
            <a:endParaRPr lang="zh-CN" altLang="en-US" dirty="0"/>
          </a:p>
        </p:txBody>
      </p:sp>
      <p:sp>
        <p:nvSpPr>
          <p:cNvPr id="53251" name="文本占位符 53250"/>
          <p:cNvSpPr>
            <a:spLocks noGrp="1"/>
          </p:cNvSpPr>
          <p:nvPr>
            <p:ph type="body" idx="1"/>
          </p:nvPr>
        </p:nvSpPr>
        <p:spPr>
          <a:xfrm>
            <a:off x="679450" y="1719263"/>
            <a:ext cx="7710488" cy="2917825"/>
          </a:xfrm>
        </p:spPr>
        <p:txBody>
          <a:bodyPr/>
          <a:p>
            <a:pPr defTabSz="914400">
              <a:lnSpc>
                <a:spcPct val="120000"/>
              </a:lnSpc>
              <a:tabLst>
                <a:tab pos="1520825" algn="l"/>
              </a:tabLst>
            </a:pPr>
            <a:r>
              <a:rPr lang="zh-CN" altLang="en-US" b="1" dirty="0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在编写中断服务程序时，需要控制可屏蔽中断的允许和禁止</a:t>
            </a:r>
            <a:endParaRPr lang="zh-CN" altLang="en-US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defTabSz="914400">
              <a:lnSpc>
                <a:spcPct val="120000"/>
              </a:lnSpc>
              <a:buNone/>
              <a:tabLst>
                <a:tab pos="1520825" algn="l"/>
              </a:tabLst>
            </a:pPr>
            <a:r>
              <a:rPr lang="en-US" altLang="zh-CN" b="1">
                <a:solidFill>
                  <a:schemeClr val="tx2"/>
                </a:solidFill>
                <a:latin typeface="宋体" panose="02010600030101010101" pitchFamily="2" charset="-122"/>
              </a:rPr>
              <a:t>CLI</a:t>
            </a:r>
            <a:r>
              <a:rPr lang="en-US" altLang="zh-CN">
                <a:latin typeface="宋体" panose="02010600030101010101" pitchFamily="2" charset="-122"/>
              </a:rPr>
              <a:t>	</a:t>
            </a:r>
            <a:r>
              <a:rPr lang="zh-CN" altLang="en-US" sz="2600" dirty="0">
                <a:latin typeface="宋体" panose="02010600030101010101" pitchFamily="2" charset="-122"/>
              </a:rPr>
              <a:t>；复位中断标志：</a:t>
            </a:r>
            <a:r>
              <a:rPr lang="en-US" altLang="zh-CN" sz="2600">
                <a:latin typeface="宋体" panose="02010600030101010101" pitchFamily="2" charset="-122"/>
              </a:rPr>
              <a:t>DF←0</a:t>
            </a:r>
            <a:endParaRPr lang="en-US" altLang="zh-CN" sz="2600">
              <a:latin typeface="宋体" panose="02010600030101010101" pitchFamily="2" charset="-122"/>
            </a:endParaRPr>
          </a:p>
          <a:p>
            <a:pPr defTabSz="914400">
              <a:lnSpc>
                <a:spcPct val="120000"/>
              </a:lnSpc>
              <a:buNone/>
              <a:tabLst>
                <a:tab pos="1520825" algn="l"/>
              </a:tabLst>
            </a:pPr>
            <a:r>
              <a:rPr lang="en-US" altLang="zh-CN" b="1">
                <a:solidFill>
                  <a:schemeClr val="tx2"/>
                </a:solidFill>
                <a:latin typeface="宋体" panose="02010600030101010101" pitchFamily="2" charset="-122"/>
              </a:rPr>
              <a:t>STI</a:t>
            </a:r>
            <a:r>
              <a:rPr lang="en-US" altLang="zh-CN">
                <a:solidFill>
                  <a:schemeClr val="tx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600" dirty="0">
                <a:latin typeface="宋体" panose="02010600030101010101" pitchFamily="2" charset="-122"/>
              </a:rPr>
              <a:t>；置位中断标志：</a:t>
            </a:r>
            <a:r>
              <a:rPr lang="en-US" altLang="zh-CN" sz="2600">
                <a:latin typeface="宋体" panose="02010600030101010101" pitchFamily="2" charset="-122"/>
              </a:rPr>
              <a:t>DF←1</a:t>
            </a:r>
            <a:endParaRPr lang="en-US" altLang="zh-CN" sz="260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split orient="vert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标题 54273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en-US" altLang="zh-CN"/>
              <a:t>1.4  </a:t>
            </a:r>
            <a:r>
              <a:rPr lang="zh-CN" altLang="en-US" dirty="0"/>
              <a:t>地址传送指令</a:t>
            </a:r>
            <a:endParaRPr lang="zh-CN" altLang="en-US" dirty="0"/>
          </a:p>
        </p:txBody>
      </p:sp>
      <p:sp>
        <p:nvSpPr>
          <p:cNvPr id="54275" name="文本占位符 54274"/>
          <p:cNvSpPr>
            <a:spLocks noGrp="1"/>
          </p:cNvSpPr>
          <p:nvPr>
            <p:ph type="body" idx="1"/>
          </p:nvPr>
        </p:nvSpPr>
        <p:spPr>
          <a:xfrm>
            <a:off x="533400" y="1752600"/>
            <a:ext cx="7391400" cy="4411663"/>
          </a:xfrm>
        </p:spPr>
        <p:txBody>
          <a:bodyPr/>
          <a:p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地址传送指令将存储器单元的逻辑地址送至指定的寄存器</a:t>
            </a:r>
            <a:endParaRPr lang="zh-CN" altLang="en-US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/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有效地址传送指令  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LEA</a:t>
            </a:r>
            <a:endParaRPr lang="en-US" altLang="zh-CN" b="1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/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指针传送指令  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LDS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LES</a:t>
            </a:r>
            <a:endParaRPr lang="en-US" altLang="zh-CN" b="1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注意</a:t>
            </a:r>
            <a:r>
              <a:rPr lang="zh-CN" altLang="en-US" b="1" dirty="0">
                <a:solidFill>
                  <a:srgbClr val="008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不是获取存储器单元的内容</a:t>
            </a:r>
            <a:endParaRPr lang="zh-CN" altLang="en-US" b="1" dirty="0">
              <a:solidFill>
                <a:srgbClr val="008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标题 55297"/>
          <p:cNvSpPr>
            <a:spLocks noGrp="1"/>
          </p:cNvSpPr>
          <p:nvPr>
            <p:ph type="title"/>
          </p:nvPr>
        </p:nvSpPr>
        <p:spPr>
          <a:xfrm>
            <a:off x="533400" y="838200"/>
            <a:ext cx="7391400" cy="692150"/>
          </a:xfrm>
        </p:spPr>
        <p:txBody>
          <a:bodyPr anchor="b" anchorCtr="0"/>
          <a:p>
            <a:r>
              <a:rPr lang="zh-CN" altLang="en-US" dirty="0"/>
              <a:t>有效地址传送指令</a:t>
            </a:r>
            <a:r>
              <a:rPr lang="en-US" altLang="zh-CN"/>
              <a:t>LEA</a:t>
            </a:r>
            <a:r>
              <a:rPr lang="zh-CN" altLang="en-US" sz="3500" b="0" dirty="0">
                <a:solidFill>
                  <a:schemeClr val="tx1"/>
                </a:solidFill>
              </a:rPr>
              <a:t>（</a:t>
            </a:r>
            <a:r>
              <a:rPr lang="en-US" altLang="zh-CN" sz="3500" b="0">
                <a:solidFill>
                  <a:schemeClr val="tx1"/>
                </a:solidFill>
              </a:rPr>
              <a:t>load EA</a:t>
            </a:r>
            <a:r>
              <a:rPr lang="zh-CN" altLang="en-US" sz="3500" b="0" dirty="0">
                <a:solidFill>
                  <a:schemeClr val="tx1"/>
                </a:solidFill>
              </a:rPr>
              <a:t>）</a:t>
            </a:r>
            <a:endParaRPr lang="zh-CN" altLang="en-US" sz="3500" b="0" dirty="0">
              <a:solidFill>
                <a:schemeClr val="tx1"/>
              </a:solidFill>
            </a:endParaRPr>
          </a:p>
        </p:txBody>
      </p:sp>
      <p:sp>
        <p:nvSpPr>
          <p:cNvPr id="55299" name="文本占位符 55298"/>
          <p:cNvSpPr>
            <a:spLocks noGrp="1"/>
          </p:cNvSpPr>
          <p:nvPr>
            <p:ph type="body" idx="1"/>
          </p:nvPr>
        </p:nvSpPr>
        <p:spPr>
          <a:xfrm>
            <a:off x="539750" y="2074863"/>
            <a:ext cx="7383463" cy="1350962"/>
          </a:xfrm>
        </p:spPr>
        <p:txBody>
          <a:bodyPr/>
          <a:p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将存储器操作数的有效地址传送至指定的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位寄存器中</a:t>
            </a:r>
            <a:endParaRPr lang="zh-CN" altLang="en-US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5300" name="文本框 55299">
            <a:hlinkClick r:id="" action="ppaction://noaction"/>
          </p:cNvPr>
          <p:cNvSpPr txBox="1"/>
          <p:nvPr/>
        </p:nvSpPr>
        <p:spPr>
          <a:xfrm>
            <a:off x="7010400" y="5610225"/>
            <a:ext cx="1186815" cy="398780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18900000" scaled="1"/>
            <a:tileRect/>
          </a:gradFill>
          <a:ln w="9525">
            <a:noFill/>
          </a:ln>
          <a:effectLst>
            <a:outerShdw dist="35921" dir="2699999" algn="ctr" rotWithShape="0">
              <a:srgbClr val="808080"/>
            </a:outerShdw>
          </a:effectLst>
        </p:spPr>
        <p:txBody>
          <a:bodyPr wrap="none" anchor="t" anchorCtr="0">
            <a:spAutoFit/>
          </a:bodyPr>
          <a:p>
            <a:pPr algn="l">
              <a:spcBef>
                <a:spcPct val="0"/>
              </a:spcBef>
            </a:pPr>
            <a:r>
              <a:rPr lang="zh-CN" altLang="en-US" sz="2000" i="0" dirty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例题</a:t>
            </a:r>
            <a:r>
              <a:rPr lang="en-US" altLang="zh-CN" sz="2000" i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sz="2000" i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.13</a:t>
            </a:r>
            <a:endParaRPr lang="en-US" altLang="zh-CN" sz="2000" i="0">
              <a:solidFill>
                <a:srgbClr val="66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5301" name="流程图: 可选过程 55300"/>
          <p:cNvSpPr/>
          <p:nvPr/>
        </p:nvSpPr>
        <p:spPr>
          <a:xfrm>
            <a:off x="838200" y="3581400"/>
            <a:ext cx="6567488" cy="1216025"/>
          </a:xfrm>
          <a:prstGeom prst="flowChartAlternateProcess">
            <a:avLst/>
          </a:prstGeom>
          <a:gradFill rotWithShape="0">
            <a:gsLst>
              <a:gs pos="0">
                <a:srgbClr val="CCECFF"/>
              </a:gs>
              <a:gs pos="100000">
                <a:srgbClr val="FFFFFF"/>
              </a:gs>
            </a:gsLst>
            <a:lin ang="5400000" scaled="1"/>
            <a:tileRect/>
          </a:gradFill>
          <a:ln w="12700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/>
          <a:p>
            <a:pPr algn="l" defTabSz="914400">
              <a:tabLst>
                <a:tab pos="2289175" algn="l"/>
              </a:tabLst>
            </a:pPr>
            <a:r>
              <a:rPr lang="en-US" altLang="zh-CN" sz="3200" i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LEA r16,mem</a:t>
            </a:r>
            <a:endParaRPr lang="en-US" altLang="zh-CN" sz="3200" i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r" defTabSz="914400">
              <a:lnSpc>
                <a:spcPct val="90000"/>
              </a:lnSpc>
              <a:spcBef>
                <a:spcPct val="20000"/>
              </a:spcBef>
              <a:tabLst>
                <a:tab pos="2289175" algn="l"/>
              </a:tabLst>
            </a:pPr>
            <a:r>
              <a:rPr lang="zh-CN" altLang="en-US" i="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lang="en-US" altLang="zh-CN" i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r16←mem</a:t>
            </a:r>
            <a:r>
              <a:rPr lang="zh-CN" altLang="en-US" i="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的有效地址</a:t>
            </a:r>
            <a:r>
              <a:rPr lang="en-US" altLang="zh-CN" i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EA</a:t>
            </a:r>
            <a:endParaRPr lang="en-US" altLang="zh-CN" i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8" name="标题 56327"/>
          <p:cNvSpPr>
            <a:spLocks noGrp="1"/>
          </p:cNvSpPr>
          <p:nvPr>
            <p:ph type="title"/>
          </p:nvPr>
        </p:nvSpPr>
        <p:spPr>
          <a:xfrm>
            <a:off x="838200" y="762000"/>
            <a:ext cx="4953000" cy="609600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zh-CN" altLang="en-US" sz="3000" dirty="0"/>
              <a:t>例</a:t>
            </a:r>
            <a:r>
              <a:rPr lang="en-US" altLang="zh-CN" sz="3000"/>
              <a:t>1</a:t>
            </a:r>
            <a:r>
              <a:rPr lang="en-US" altLang="zh-CN" sz="3000"/>
              <a:t>.13</a:t>
            </a:r>
            <a:r>
              <a:rPr lang="zh-CN" altLang="en-US" sz="3000" dirty="0"/>
              <a:t>：获取有效地址</a:t>
            </a:r>
            <a:endParaRPr lang="zh-CN" altLang="en-US" sz="3000" dirty="0"/>
          </a:p>
        </p:txBody>
      </p:sp>
      <p:sp>
        <p:nvSpPr>
          <p:cNvPr id="56329" name="文本占位符 56328"/>
          <p:cNvSpPr>
            <a:spLocks noGrp="1"/>
          </p:cNvSpPr>
          <p:nvPr>
            <p:ph type="body" idx="1"/>
          </p:nvPr>
        </p:nvSpPr>
        <p:spPr>
          <a:xfrm>
            <a:off x="762000" y="2057400"/>
            <a:ext cx="7648575" cy="3797300"/>
          </a:xfrm>
          <a:solidFill>
            <a:schemeClr val="bg1"/>
          </a:solidFill>
        </p:spPr>
        <p:txBody>
          <a:bodyPr/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>
                <a:solidFill>
                  <a:srgbClr val="0000FF"/>
                </a:solidFill>
                <a:latin typeface="宋体" panose="02010600030101010101" pitchFamily="2" charset="-122"/>
              </a:rPr>
              <a:t> bx,0400h</a:t>
            </a:r>
            <a:endParaRPr lang="en-US" altLang="zh-CN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>
                <a:solidFill>
                  <a:srgbClr val="0000FF"/>
                </a:solidFill>
                <a:latin typeface="宋体" panose="02010600030101010101" pitchFamily="2" charset="-122"/>
              </a:rPr>
              <a:t> si,3ch</a:t>
            </a:r>
            <a:endParaRPr lang="en-US" altLang="zh-CN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b="1">
                <a:solidFill>
                  <a:srgbClr val="008000"/>
                </a:solidFill>
                <a:latin typeface="宋体" panose="02010600030101010101" pitchFamily="2" charset="-122"/>
              </a:rPr>
              <a:t>lea bx,[bx+si+0f62h]</a:t>
            </a:r>
            <a:endParaRPr lang="en-US" altLang="zh-CN" b="1">
              <a:solidFill>
                <a:srgbClr val="008000"/>
              </a:solidFill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zh-CN" altLang="en-US" sz="2600" dirty="0">
                <a:latin typeface="宋体" panose="02010600030101010101" pitchFamily="2" charset="-122"/>
              </a:rPr>
              <a:t>；</a:t>
            </a:r>
            <a:r>
              <a:rPr lang="en-US" altLang="zh-CN" sz="2600">
                <a:latin typeface="宋体" panose="02010600030101010101" pitchFamily="2" charset="-122"/>
              </a:rPr>
              <a:t>BX</a:t>
            </a:r>
            <a:r>
              <a:rPr lang="zh-CN" altLang="en-US" sz="2600" dirty="0">
                <a:latin typeface="宋体" panose="02010600030101010101" pitchFamily="2" charset="-122"/>
              </a:rPr>
              <a:t>＝</a:t>
            </a:r>
            <a:r>
              <a:rPr lang="en-US" altLang="zh-CN" sz="2600">
                <a:latin typeface="宋体" panose="02010600030101010101" pitchFamily="2" charset="-122"/>
              </a:rPr>
              <a:t>0400h</a:t>
            </a:r>
            <a:r>
              <a:rPr lang="zh-CN" altLang="en-US" sz="2600" dirty="0">
                <a:latin typeface="宋体" panose="02010600030101010101" pitchFamily="2" charset="-122"/>
              </a:rPr>
              <a:t>＋</a:t>
            </a:r>
            <a:r>
              <a:rPr lang="en-US" altLang="zh-CN" sz="2600">
                <a:latin typeface="宋体" panose="02010600030101010101" pitchFamily="2" charset="-122"/>
              </a:rPr>
              <a:t>003ch</a:t>
            </a:r>
            <a:r>
              <a:rPr lang="zh-CN" altLang="en-US" sz="2600" dirty="0">
                <a:latin typeface="宋体" panose="02010600030101010101" pitchFamily="2" charset="-122"/>
              </a:rPr>
              <a:t>＋</a:t>
            </a:r>
            <a:r>
              <a:rPr lang="en-US" altLang="zh-CN" sz="2600">
                <a:latin typeface="宋体" panose="02010600030101010101" pitchFamily="2" charset="-122"/>
              </a:rPr>
              <a:t>0f62h</a:t>
            </a:r>
            <a:r>
              <a:rPr lang="zh-CN" altLang="en-US" sz="2600" dirty="0">
                <a:latin typeface="宋体" panose="02010600030101010101" pitchFamily="2" charset="-122"/>
              </a:rPr>
              <a:t>＝</a:t>
            </a:r>
            <a:r>
              <a:rPr lang="en-US" altLang="zh-CN" sz="2600">
                <a:latin typeface="宋体" panose="02010600030101010101" pitchFamily="2" charset="-122"/>
              </a:rPr>
              <a:t>139EH</a:t>
            </a:r>
            <a:endParaRPr lang="en-US" altLang="zh-CN" sz="2600">
              <a:latin typeface="宋体" panose="02010600030101010101" pitchFamily="2" charset="-122"/>
            </a:endParaRPr>
          </a:p>
        </p:txBody>
      </p:sp>
      <p:sp>
        <p:nvSpPr>
          <p:cNvPr id="56330" name="圆角矩形 56329" descr="画布"/>
          <p:cNvSpPr/>
          <p:nvPr/>
        </p:nvSpPr>
        <p:spPr>
          <a:xfrm>
            <a:off x="685800" y="4495800"/>
            <a:ext cx="7697788" cy="1828800"/>
          </a:xfrm>
          <a:prstGeom prst="roundRect">
            <a:avLst>
              <a:gd name="adj" fmla="val 16667"/>
            </a:avLst>
          </a:prstGeom>
          <a:blipFill rotWithShape="0">
            <a:blip r:embed="rId1"/>
          </a:blipFill>
          <a:ln w="9525">
            <a:noFill/>
          </a:ln>
        </p:spPr>
        <p:txBody>
          <a:bodyPr anchor="ctr" anchorCtr="0"/>
          <a:p>
            <a:pPr>
              <a:spcBef>
                <a:spcPct val="0"/>
              </a:spcBef>
              <a:buBlip>
                <a:blip r:embed="rId2"/>
              </a:buBlip>
            </a:pPr>
            <a:r>
              <a:rPr lang="en-US" altLang="zh-CN" sz="3200" i="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3200" i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获得</a:t>
            </a:r>
            <a:r>
              <a:rPr lang="zh-CN" altLang="en-US" sz="3200" i="0" dirty="0">
                <a:solidFill>
                  <a:srgbClr val="008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主存单元的</a:t>
            </a:r>
            <a:r>
              <a:rPr lang="zh-CN" altLang="en-US" sz="3200" i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有效地址</a:t>
            </a:r>
            <a:r>
              <a:rPr lang="zh-CN" altLang="en-US" sz="3200" i="0" dirty="0">
                <a:solidFill>
                  <a:srgbClr val="008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；不是物理地址，也不是该单元的内容</a:t>
            </a:r>
            <a:endParaRPr lang="zh-CN" altLang="en-US" sz="3200" i="0" dirty="0">
              <a:solidFill>
                <a:srgbClr val="008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Blip>
                <a:blip r:embed="rId2"/>
              </a:buBlip>
            </a:pPr>
            <a:r>
              <a:rPr lang="zh-CN" altLang="en-US" sz="3200" i="0" dirty="0">
                <a:solidFill>
                  <a:srgbClr val="008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可以实现计算功能</a:t>
            </a:r>
            <a:endParaRPr lang="zh-CN" altLang="en-US" sz="3200" i="0" dirty="0">
              <a:solidFill>
                <a:srgbClr val="008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med" advClick="0">
    <p:rand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标题 57345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指针传送指令</a:t>
            </a:r>
            <a:endParaRPr lang="zh-CN" altLang="zh-CN" dirty="0"/>
          </a:p>
        </p:txBody>
      </p:sp>
      <p:sp>
        <p:nvSpPr>
          <p:cNvPr id="57347" name="文本占位符 57346"/>
          <p:cNvSpPr>
            <a:spLocks noGrp="1"/>
          </p:cNvSpPr>
          <p:nvPr>
            <p:ph type="body" sz="half" idx="1"/>
          </p:nvPr>
        </p:nvSpPr>
        <p:spPr>
          <a:xfrm>
            <a:off x="523875" y="2228850"/>
            <a:ext cx="4041775" cy="2914650"/>
          </a:xfrm>
          <a:ln>
            <a:solidFill>
              <a:schemeClr val="accent2"/>
            </a:solidFill>
            <a:miter/>
          </a:ln>
        </p:spPr>
        <p:txBody>
          <a:bodyPr/>
          <a:p>
            <a:pPr>
              <a:lnSpc>
                <a:spcPct val="90000"/>
              </a:lnSpc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600" b="1">
                <a:solidFill>
                  <a:srgbClr val="0000FF"/>
                </a:solidFill>
                <a:latin typeface="宋体" panose="02010600030101010101" pitchFamily="2" charset="-122"/>
              </a:rPr>
              <a:t>LDS r16,mem</a:t>
            </a:r>
            <a:endParaRPr lang="en-US" altLang="zh-CN" sz="2600" b="1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rgbClr val="008000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600" b="1">
                <a:solidFill>
                  <a:srgbClr val="008000"/>
                </a:solidFill>
                <a:latin typeface="宋体" panose="02010600030101010101" pitchFamily="2" charset="-122"/>
              </a:rPr>
              <a:t>r16←mem</a:t>
            </a:r>
            <a:r>
              <a:rPr lang="zh-CN" altLang="en-US" sz="2600" b="1" dirty="0">
                <a:solidFill>
                  <a:srgbClr val="008000"/>
                </a:solidFill>
                <a:latin typeface="宋体" panose="02010600030101010101" pitchFamily="2" charset="-122"/>
              </a:rPr>
              <a:t>，</a:t>
            </a:r>
            <a:endParaRPr lang="zh-CN" altLang="en-US" sz="2600" b="1" dirty="0">
              <a:solidFill>
                <a:srgbClr val="008000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rgbClr val="008000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600" b="1">
                <a:solidFill>
                  <a:srgbClr val="008000"/>
                </a:solidFill>
                <a:latin typeface="宋体" panose="02010600030101010101" pitchFamily="2" charset="-122"/>
              </a:rPr>
              <a:t>DS←mem+2</a:t>
            </a:r>
            <a:endParaRPr lang="en-US" altLang="zh-CN" sz="2600" b="1">
              <a:solidFill>
                <a:srgbClr val="008000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70000"/>
              <a:buFont typeface="Wingdings" panose="05000000000000000000" pitchFamily="2" charset="2"/>
            </a:pP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LDS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指令将主存中</a:t>
            </a:r>
            <a:r>
              <a:rPr lang="en-US" altLang="zh-CN" sz="2600" b="1" err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mem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指定的字送至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r16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，并将</a:t>
            </a:r>
            <a:r>
              <a:rPr lang="en-US" altLang="zh-CN" sz="2600" b="1" err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mem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的下一字送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DS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寄存器</a:t>
            </a:r>
            <a:endParaRPr lang="zh-CN" altLang="en-US" sz="26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7348" name="文本占位符 57347"/>
          <p:cNvSpPr>
            <a:spLocks noGrp="1"/>
          </p:cNvSpPr>
          <p:nvPr>
            <p:ph type="body" sz="half" idx="2"/>
          </p:nvPr>
        </p:nvSpPr>
        <p:spPr>
          <a:xfrm>
            <a:off x="4716463" y="2228850"/>
            <a:ext cx="3832225" cy="2914650"/>
          </a:xfrm>
          <a:ln>
            <a:solidFill>
              <a:schemeClr val="accent2"/>
            </a:solidFill>
            <a:miter/>
          </a:ln>
        </p:spPr>
        <p:txBody>
          <a:bodyPr/>
          <a:p>
            <a:pPr>
              <a:lnSpc>
                <a:spcPct val="90000"/>
              </a:lnSpc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600" b="1">
                <a:solidFill>
                  <a:srgbClr val="0000FF"/>
                </a:solidFill>
                <a:latin typeface="宋体" panose="02010600030101010101" pitchFamily="2" charset="-122"/>
              </a:rPr>
              <a:t>LES r16,mem</a:t>
            </a:r>
            <a:endParaRPr lang="en-US" altLang="zh-CN" sz="2600" b="1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rgbClr val="008000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600" b="1">
                <a:solidFill>
                  <a:srgbClr val="008000"/>
                </a:solidFill>
                <a:latin typeface="宋体" panose="02010600030101010101" pitchFamily="2" charset="-122"/>
              </a:rPr>
              <a:t>r16←mem</a:t>
            </a:r>
            <a:r>
              <a:rPr lang="zh-CN" altLang="en-US" sz="2600" b="1" dirty="0">
                <a:solidFill>
                  <a:srgbClr val="008000"/>
                </a:solidFill>
                <a:latin typeface="宋体" panose="02010600030101010101" pitchFamily="2" charset="-122"/>
              </a:rPr>
              <a:t>，</a:t>
            </a:r>
            <a:endParaRPr lang="zh-CN" altLang="en-US" sz="2600" b="1" dirty="0">
              <a:solidFill>
                <a:srgbClr val="008000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rgbClr val="008000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600" b="1">
                <a:solidFill>
                  <a:srgbClr val="008000"/>
                </a:solidFill>
                <a:latin typeface="宋体" panose="02010600030101010101" pitchFamily="2" charset="-122"/>
              </a:rPr>
              <a:t>ES←mem+2</a:t>
            </a:r>
            <a:endParaRPr lang="en-US" altLang="zh-CN" sz="2600" b="1">
              <a:solidFill>
                <a:srgbClr val="008000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70000"/>
              <a:buFont typeface="Wingdings" panose="05000000000000000000" pitchFamily="2" charset="2"/>
            </a:pP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LES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指令将主存中</a:t>
            </a:r>
            <a:r>
              <a:rPr lang="en-US" altLang="zh-CN" sz="2600" b="1" err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mem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指定的字送至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r16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，并将</a:t>
            </a:r>
            <a:r>
              <a:rPr lang="en-US" altLang="zh-CN" sz="2600" b="1" err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mem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的下一字送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ES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寄存器</a:t>
            </a:r>
            <a:endParaRPr lang="zh-CN" altLang="en-US" sz="26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7349" name="文本框 57348">
            <a:hlinkClick r:id="" action="ppaction://noaction"/>
          </p:cNvPr>
          <p:cNvSpPr txBox="1"/>
          <p:nvPr/>
        </p:nvSpPr>
        <p:spPr>
          <a:xfrm>
            <a:off x="7010400" y="5610225"/>
            <a:ext cx="1186815" cy="398780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18900000" scaled="1"/>
            <a:tileRect/>
          </a:gradFill>
          <a:ln w="9525">
            <a:noFill/>
          </a:ln>
          <a:effectLst>
            <a:outerShdw dist="35921" dir="2699999" algn="ctr" rotWithShape="0">
              <a:srgbClr val="808080"/>
            </a:outerShdw>
          </a:effectLst>
        </p:spPr>
        <p:txBody>
          <a:bodyPr wrap="none" anchor="t" anchorCtr="0">
            <a:spAutoFit/>
          </a:bodyPr>
          <a:p>
            <a:pPr algn="l">
              <a:spcBef>
                <a:spcPct val="0"/>
              </a:spcBef>
            </a:pPr>
            <a:r>
              <a:rPr lang="zh-CN" altLang="en-US" sz="2000" i="0" dirty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例题</a:t>
            </a:r>
            <a:r>
              <a:rPr lang="en-US" altLang="zh-CN" sz="2000" i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sz="2000" i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.14</a:t>
            </a:r>
            <a:endParaRPr lang="en-US" altLang="zh-CN" sz="2000" i="0">
              <a:solidFill>
                <a:srgbClr val="66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6" name="标题 58375"/>
          <p:cNvSpPr>
            <a:spLocks noGrp="1"/>
          </p:cNvSpPr>
          <p:nvPr>
            <p:ph type="title"/>
          </p:nvPr>
        </p:nvSpPr>
        <p:spPr>
          <a:xfrm>
            <a:off x="914400" y="762000"/>
            <a:ext cx="4572000" cy="685800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zh-CN" altLang="en-US" sz="3000" dirty="0"/>
              <a:t>例</a:t>
            </a:r>
            <a:r>
              <a:rPr lang="en-US" altLang="zh-CN" sz="3000"/>
              <a:t>1</a:t>
            </a:r>
            <a:r>
              <a:rPr lang="en-US" altLang="zh-CN" sz="3000"/>
              <a:t>.14</a:t>
            </a:r>
            <a:r>
              <a:rPr lang="zh-CN" altLang="en-US" sz="3000" dirty="0"/>
              <a:t>：地址指针传送</a:t>
            </a:r>
            <a:endParaRPr lang="zh-CN" altLang="en-US" sz="3000" dirty="0"/>
          </a:p>
        </p:txBody>
      </p:sp>
      <p:sp>
        <p:nvSpPr>
          <p:cNvPr id="58377" name="文本占位符 58376"/>
          <p:cNvSpPr>
            <a:spLocks noGrp="1"/>
          </p:cNvSpPr>
          <p:nvPr>
            <p:ph type="body" idx="1"/>
          </p:nvPr>
        </p:nvSpPr>
        <p:spPr>
          <a:xfrm>
            <a:off x="749300" y="2041525"/>
            <a:ext cx="7648575" cy="2117725"/>
          </a:xfrm>
          <a:solidFill>
            <a:schemeClr val="bg1"/>
          </a:solidFill>
        </p:spPr>
        <p:txBody>
          <a:bodyPr/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word </a:t>
            </a: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ptr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[3060h],0100h</a:t>
            </a:r>
            <a:endParaRPr lang="en-US" altLang="zh-CN" sz="26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word </a:t>
            </a: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ptr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[3062h],1450h</a:t>
            </a:r>
            <a:endParaRPr lang="en-US" altLang="zh-CN" sz="26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sz="2600" b="1">
                <a:solidFill>
                  <a:srgbClr val="008000"/>
                </a:solidFill>
                <a:latin typeface="宋体" panose="02010600030101010101" pitchFamily="2" charset="-122"/>
              </a:rPr>
              <a:t>les di,[3060h]</a:t>
            </a:r>
            <a:r>
              <a:rPr lang="en-US" altLang="zh-CN" sz="2600">
                <a:solidFill>
                  <a:schemeClr val="tx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600" dirty="0">
                <a:solidFill>
                  <a:schemeClr val="tx2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600" err="1">
                <a:solidFill>
                  <a:schemeClr val="tx2"/>
                </a:solidFill>
                <a:latin typeface="宋体" panose="02010600030101010101" pitchFamily="2" charset="-122"/>
              </a:rPr>
              <a:t>es</a:t>
            </a:r>
            <a:r>
              <a:rPr lang="en-US" altLang="zh-CN" sz="2600">
                <a:solidFill>
                  <a:schemeClr val="tx2"/>
                </a:solidFill>
                <a:latin typeface="宋体" panose="02010600030101010101" pitchFamily="2" charset="-122"/>
              </a:rPr>
              <a:t>=1450h</a:t>
            </a:r>
            <a:r>
              <a:rPr lang="zh-CN" altLang="en-US" sz="2600" dirty="0">
                <a:solidFill>
                  <a:schemeClr val="tx2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600" err="1">
                <a:solidFill>
                  <a:schemeClr val="tx2"/>
                </a:solidFill>
                <a:latin typeface="宋体" panose="02010600030101010101" pitchFamily="2" charset="-122"/>
              </a:rPr>
              <a:t>di</a:t>
            </a:r>
            <a:r>
              <a:rPr lang="en-US" altLang="zh-CN" sz="2600">
                <a:solidFill>
                  <a:schemeClr val="tx2"/>
                </a:solidFill>
                <a:latin typeface="宋体" panose="02010600030101010101" pitchFamily="2" charset="-122"/>
              </a:rPr>
              <a:t>=0100h</a:t>
            </a:r>
            <a:endParaRPr lang="en-US" altLang="zh-CN" sz="260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sz="2600" b="1" err="1">
                <a:solidFill>
                  <a:srgbClr val="008000"/>
                </a:solidFill>
                <a:latin typeface="宋体" panose="02010600030101010101" pitchFamily="2" charset="-122"/>
              </a:rPr>
              <a:t>lds</a:t>
            </a:r>
            <a:r>
              <a:rPr lang="en-US" altLang="zh-CN" sz="2600" b="1">
                <a:solidFill>
                  <a:srgbClr val="008000"/>
                </a:solidFill>
                <a:latin typeface="宋体" panose="02010600030101010101" pitchFamily="2" charset="-122"/>
              </a:rPr>
              <a:t> si,[3060h]</a:t>
            </a:r>
            <a:r>
              <a:rPr lang="en-US" altLang="zh-CN" sz="26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600" dirty="0">
                <a:solidFill>
                  <a:schemeClr val="accent2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600" err="1">
                <a:solidFill>
                  <a:schemeClr val="accent2"/>
                </a:solidFill>
                <a:latin typeface="宋体" panose="02010600030101010101" pitchFamily="2" charset="-122"/>
              </a:rPr>
              <a:t>ds</a:t>
            </a:r>
            <a:r>
              <a:rPr lang="en-US" altLang="zh-CN" sz="2600">
                <a:solidFill>
                  <a:schemeClr val="accent2"/>
                </a:solidFill>
                <a:latin typeface="宋体" panose="02010600030101010101" pitchFamily="2" charset="-122"/>
              </a:rPr>
              <a:t>=1450h</a:t>
            </a:r>
            <a:r>
              <a:rPr lang="zh-CN" altLang="en-US" sz="2600" dirty="0">
                <a:solidFill>
                  <a:schemeClr val="accent2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600" err="1">
                <a:solidFill>
                  <a:schemeClr val="accent2"/>
                </a:solidFill>
                <a:latin typeface="宋体" panose="02010600030101010101" pitchFamily="2" charset="-122"/>
              </a:rPr>
              <a:t>si</a:t>
            </a:r>
            <a:r>
              <a:rPr lang="en-US" altLang="zh-CN" sz="2600">
                <a:solidFill>
                  <a:schemeClr val="accent2"/>
                </a:solidFill>
                <a:latin typeface="宋体" panose="02010600030101010101" pitchFamily="2" charset="-122"/>
              </a:rPr>
              <a:t>=0100h</a:t>
            </a:r>
            <a:endParaRPr lang="en-US" altLang="zh-CN" sz="260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endParaRPr lang="en-US" altLang="zh-CN" sz="2600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58378" name="圆角矩形 58377" descr="画布"/>
          <p:cNvSpPr/>
          <p:nvPr/>
        </p:nvSpPr>
        <p:spPr>
          <a:xfrm>
            <a:off x="914400" y="4343400"/>
            <a:ext cx="7467600" cy="1676400"/>
          </a:xfrm>
          <a:prstGeom prst="roundRect">
            <a:avLst>
              <a:gd name="adj" fmla="val 16667"/>
            </a:avLst>
          </a:prstGeom>
          <a:blipFill rotWithShape="0">
            <a:blip r:embed="rId1"/>
          </a:blipFill>
          <a:ln w="9525">
            <a:noFill/>
          </a:ln>
        </p:spPr>
        <p:txBody>
          <a:bodyPr anchor="ctr" anchorCtr="0"/>
          <a:p>
            <a:pPr>
              <a:spcBef>
                <a:spcPct val="0"/>
              </a:spcBef>
              <a:buBlip>
                <a:blip r:embed="rId2"/>
              </a:buBlip>
            </a:pPr>
            <a:r>
              <a:rPr lang="en-US" altLang="zh-CN" sz="3200" i="0" dirty="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3200" i="0" err="1">
                <a:solidFill>
                  <a:srgbClr val="008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mem</a:t>
            </a:r>
            <a:r>
              <a:rPr lang="zh-CN" altLang="en-US" sz="3200" i="0" dirty="0">
                <a:solidFill>
                  <a:srgbClr val="008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指定主存的连续</a:t>
            </a:r>
            <a:r>
              <a:rPr lang="en-US" altLang="zh-CN" sz="3200" i="0">
                <a:solidFill>
                  <a:srgbClr val="008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3200" i="0" dirty="0">
                <a:solidFill>
                  <a:srgbClr val="008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个字节作为逻辑地址（</a:t>
            </a:r>
            <a:r>
              <a:rPr lang="en-US" altLang="zh-CN" sz="3200" i="0">
                <a:solidFill>
                  <a:srgbClr val="008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32</a:t>
            </a:r>
            <a:r>
              <a:rPr lang="zh-CN" altLang="en-US" sz="3200" i="0" dirty="0">
                <a:solidFill>
                  <a:srgbClr val="008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位的地址指针），送入</a:t>
            </a:r>
            <a:r>
              <a:rPr lang="en-US" altLang="zh-CN" sz="3200" i="0">
                <a:solidFill>
                  <a:srgbClr val="008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DS:r16</a:t>
            </a:r>
            <a:r>
              <a:rPr lang="zh-CN" altLang="en-US" sz="3200" i="0" dirty="0">
                <a:solidFill>
                  <a:srgbClr val="008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或</a:t>
            </a:r>
            <a:r>
              <a:rPr lang="en-US" altLang="zh-CN" sz="3200" i="0">
                <a:solidFill>
                  <a:srgbClr val="008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ES:r16</a:t>
            </a:r>
            <a:endParaRPr lang="en-US" altLang="zh-CN" sz="3200" i="0">
              <a:solidFill>
                <a:srgbClr val="008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med" advClick="0">
    <p:rand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标题 59393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en-US" altLang="zh-CN"/>
              <a:t>1.5  </a:t>
            </a:r>
            <a:r>
              <a:rPr lang="zh-CN" altLang="en-US" dirty="0"/>
              <a:t>输入输出指令</a:t>
            </a:r>
            <a:endParaRPr lang="zh-CN" altLang="zh-CN" dirty="0"/>
          </a:p>
        </p:txBody>
      </p:sp>
      <p:sp>
        <p:nvSpPr>
          <p:cNvPr id="59395" name="文本占位符 59394"/>
          <p:cNvSpPr>
            <a:spLocks noGrp="1"/>
          </p:cNvSpPr>
          <p:nvPr>
            <p:ph type="body" idx="1"/>
          </p:nvPr>
        </p:nvSpPr>
        <p:spPr>
          <a:xfrm>
            <a:off x="457200" y="1835150"/>
            <a:ext cx="7543800" cy="4295775"/>
          </a:xfrm>
        </p:spPr>
        <p:txBody>
          <a:bodyPr/>
          <a:p>
            <a:r>
              <a:rPr lang="zh-CN" altLang="zh-CN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8086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通过输入输出指令与外设进行数据交换；呈现给程序员的外设是</a:t>
            </a:r>
            <a:r>
              <a:rPr lang="zh-CN" altLang="en-US" b="1" dirty="0">
                <a:solidFill>
                  <a:srgbClr val="008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端口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Port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）即</a:t>
            </a:r>
            <a:r>
              <a:rPr lang="en-US" altLang="zh-CN" b="1">
                <a:solidFill>
                  <a:srgbClr val="008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b="1" dirty="0">
                <a:solidFill>
                  <a:srgbClr val="008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地址</a:t>
            </a:r>
            <a:endParaRPr lang="zh-CN" altLang="en-US" b="1" dirty="0">
              <a:solidFill>
                <a:srgbClr val="008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8086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用于寻址外设端口的地址线为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条，端口最多为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b="1" baseline="300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＝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65536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64K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）个，端口号为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0000H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FFFFH</a:t>
            </a:r>
            <a:endParaRPr lang="en-US" altLang="zh-CN" b="1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每个端口用于传送一个字节的外设数据</a:t>
            </a:r>
            <a:endParaRPr lang="zh-CN" altLang="en-US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标题 60417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输入输出寻址方式</a:t>
            </a:r>
            <a:endParaRPr lang="zh-CN" altLang="zh-CN" dirty="0"/>
          </a:p>
        </p:txBody>
      </p:sp>
      <p:sp>
        <p:nvSpPr>
          <p:cNvPr id="60419" name="文本占位符 60418"/>
          <p:cNvSpPr>
            <a:spLocks noGrp="1"/>
          </p:cNvSpPr>
          <p:nvPr>
            <p:ph type="body" idx="1"/>
          </p:nvPr>
        </p:nvSpPr>
        <p:spPr>
          <a:xfrm>
            <a:off x="457200" y="1719263"/>
            <a:ext cx="7543800" cy="4411662"/>
          </a:xfrm>
        </p:spPr>
        <p:txBody>
          <a:bodyPr/>
          <a:p>
            <a:r>
              <a:rPr lang="zh-CN" altLang="zh-CN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8086的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端口有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64K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个，无需分段，设计有两种寻址方式</a:t>
            </a:r>
            <a:endParaRPr lang="zh-CN" altLang="en-US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buClr>
                <a:schemeClr val="bg2"/>
              </a:buClr>
              <a:buSzTx/>
              <a:buFont typeface="Wingdings" panose="05000000000000000000" pitchFamily="2" charset="2"/>
              <a:buChar char="v"/>
            </a:pPr>
            <a:r>
              <a:rPr lang="zh-CN" altLang="en-US" sz="2600" b="1" dirty="0">
                <a:solidFill>
                  <a:srgbClr val="008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直接寻址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：只用于寻址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00H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FFH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前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256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个端口，操作数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i8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表示端口号</a:t>
            </a:r>
            <a:endParaRPr lang="zh-CN" altLang="en-US" sz="26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buClr>
                <a:schemeClr val="bg2"/>
              </a:buClr>
              <a:buSzTx/>
              <a:buFont typeface="Wingdings" panose="05000000000000000000" pitchFamily="2" charset="2"/>
              <a:buChar char="v"/>
            </a:pPr>
            <a:r>
              <a:rPr lang="zh-CN" altLang="en-US" sz="2600" b="1" dirty="0">
                <a:solidFill>
                  <a:srgbClr val="008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间接寻址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：可用于寻址全部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64K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个端口，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DX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寄存器的值就是端口号</a:t>
            </a:r>
            <a:endParaRPr lang="zh-CN" altLang="en-US" sz="26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大于</a:t>
            </a:r>
            <a:r>
              <a:rPr lang="en-US" altLang="zh-CN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FFH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的端口只能采用间接寻址方式</a:t>
            </a:r>
            <a:endParaRPr lang="zh-CN" altLang="en-US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标题 61441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输入指令</a:t>
            </a:r>
            <a:r>
              <a:rPr lang="en-US" altLang="zh-CN"/>
              <a:t>IN</a:t>
            </a:r>
            <a:endParaRPr lang="en-US" altLang="zh-CN"/>
          </a:p>
        </p:txBody>
      </p:sp>
      <p:sp>
        <p:nvSpPr>
          <p:cNvPr id="61443" name="文本占位符 61442"/>
          <p:cNvSpPr>
            <a:spLocks noGrp="1"/>
          </p:cNvSpPr>
          <p:nvPr>
            <p:ph type="body" idx="1"/>
          </p:nvPr>
        </p:nvSpPr>
        <p:spPr>
          <a:xfrm>
            <a:off x="457200" y="1524000"/>
            <a:ext cx="7010400" cy="569913"/>
          </a:xfrm>
        </p:spPr>
        <p:txBody>
          <a:bodyPr/>
          <a:p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将外设数据传送给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内的</a:t>
            </a:r>
            <a:r>
              <a:rPr lang="en-US" altLang="zh-CN" sz="26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AL/AX</a:t>
            </a:r>
            <a:endParaRPr lang="en-US" altLang="zh-CN" sz="2600" b="1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1444" name="流程图: 可选过程 61443"/>
          <p:cNvSpPr/>
          <p:nvPr/>
        </p:nvSpPr>
        <p:spPr>
          <a:xfrm>
            <a:off x="457200" y="2286000"/>
            <a:ext cx="7618413" cy="4103688"/>
          </a:xfrm>
          <a:prstGeom prst="flowChartAlternateProcess">
            <a:avLst/>
          </a:prstGeom>
          <a:gradFill rotWithShape="0">
            <a:gsLst>
              <a:gs pos="0">
                <a:srgbClr val="CCECFF"/>
              </a:gs>
              <a:gs pos="100000">
                <a:srgbClr val="FFFFFF"/>
              </a:gs>
            </a:gsLst>
            <a:lin ang="5400000" scaled="1"/>
            <a:tileRect/>
          </a:gradFill>
          <a:ln w="12700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/>
          <a:p>
            <a:pPr algn="l" defTabSz="914400">
              <a:tabLst>
                <a:tab pos="2289175" algn="l"/>
              </a:tabLst>
            </a:pPr>
            <a:r>
              <a:rPr lang="en-US" altLang="zh-CN" i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 AL,i8</a:t>
            </a:r>
            <a:endParaRPr lang="en-US" altLang="zh-CN" i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defTabSz="914400">
              <a:lnSpc>
                <a:spcPct val="40000"/>
              </a:lnSpc>
              <a:tabLst>
                <a:tab pos="2289175" algn="l"/>
              </a:tabLst>
            </a:pPr>
            <a:r>
              <a:rPr lang="zh-CN" altLang="en-US" sz="2400" i="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；字节输入：</a:t>
            </a:r>
            <a:r>
              <a:rPr lang="en-US" altLang="zh-CN" sz="2400" i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AL←I/O</a:t>
            </a:r>
            <a:r>
              <a:rPr lang="zh-CN" altLang="en-US" sz="2400" i="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端口（</a:t>
            </a:r>
            <a:r>
              <a:rPr lang="en-US" altLang="zh-CN" sz="2400" i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i8</a:t>
            </a:r>
            <a:r>
              <a:rPr lang="zh-CN" altLang="en-US" sz="2400" i="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直接寻址）</a:t>
            </a:r>
            <a:endParaRPr lang="zh-CN" altLang="en-US" sz="2400" i="0" dirty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defTabSz="914400">
              <a:spcBef>
                <a:spcPct val="30000"/>
              </a:spcBef>
              <a:tabLst>
                <a:tab pos="2289175" algn="l"/>
              </a:tabLst>
            </a:pPr>
            <a:r>
              <a:rPr lang="en-US" altLang="zh-CN" i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 AL,DX</a:t>
            </a:r>
            <a:endParaRPr lang="en-US" altLang="zh-CN" i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defTabSz="914400">
              <a:lnSpc>
                <a:spcPct val="40000"/>
              </a:lnSpc>
              <a:tabLst>
                <a:tab pos="2289175" algn="l"/>
              </a:tabLst>
            </a:pPr>
            <a:r>
              <a:rPr lang="zh-CN" altLang="en-US" sz="2400" i="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；字节输入：</a:t>
            </a:r>
            <a:r>
              <a:rPr lang="en-US" altLang="zh-CN" sz="2400" i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AL←I/O</a:t>
            </a:r>
            <a:r>
              <a:rPr lang="zh-CN" altLang="en-US" sz="2400" i="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端口（</a:t>
            </a:r>
            <a:r>
              <a:rPr lang="en-US" altLang="zh-CN" sz="2400" i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DX</a:t>
            </a:r>
            <a:r>
              <a:rPr lang="zh-CN" altLang="en-US" sz="2400" i="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间接寻址）</a:t>
            </a:r>
            <a:endParaRPr lang="zh-CN" altLang="en-US" sz="2400" i="0" dirty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defTabSz="914400">
              <a:spcBef>
                <a:spcPct val="30000"/>
              </a:spcBef>
              <a:tabLst>
                <a:tab pos="2289175" algn="l"/>
              </a:tabLst>
            </a:pPr>
            <a:r>
              <a:rPr lang="en-US" altLang="zh-CN" i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 AX,i8</a:t>
            </a:r>
            <a:endParaRPr lang="en-US" altLang="zh-CN" i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defTabSz="914400">
              <a:lnSpc>
                <a:spcPct val="40000"/>
              </a:lnSpc>
              <a:tabLst>
                <a:tab pos="2289175" algn="l"/>
              </a:tabLst>
            </a:pPr>
            <a:r>
              <a:rPr lang="zh-CN" altLang="en-US" sz="2400" i="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；字输入：</a:t>
            </a:r>
            <a:r>
              <a:rPr lang="en-US" altLang="zh-CN" sz="2400" i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AX←I/O</a:t>
            </a:r>
            <a:r>
              <a:rPr lang="zh-CN" altLang="en-US" sz="2400" i="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端口（</a:t>
            </a:r>
            <a:r>
              <a:rPr lang="en-US" altLang="zh-CN" sz="2400" i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i8</a:t>
            </a:r>
            <a:r>
              <a:rPr lang="zh-CN" altLang="en-US" sz="2400" i="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直接寻址）</a:t>
            </a:r>
            <a:endParaRPr lang="zh-CN" altLang="en-US" sz="2400" i="0" dirty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defTabSz="914400">
              <a:spcBef>
                <a:spcPct val="30000"/>
              </a:spcBef>
              <a:tabLst>
                <a:tab pos="2289175" algn="l"/>
              </a:tabLst>
            </a:pPr>
            <a:r>
              <a:rPr lang="en-US" altLang="zh-CN" i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 AX,DX</a:t>
            </a:r>
            <a:endParaRPr lang="en-US" altLang="zh-CN" i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defTabSz="914400">
              <a:lnSpc>
                <a:spcPct val="40000"/>
              </a:lnSpc>
              <a:tabLst>
                <a:tab pos="2289175" algn="l"/>
              </a:tabLst>
            </a:pPr>
            <a:r>
              <a:rPr lang="zh-CN" altLang="en-US" sz="2400" i="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；字输入：</a:t>
            </a:r>
            <a:r>
              <a:rPr lang="en-US" altLang="zh-CN" sz="2400" i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AX←I/O</a:t>
            </a:r>
            <a:r>
              <a:rPr lang="zh-CN" altLang="en-US" sz="2400" i="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端口（</a:t>
            </a:r>
            <a:r>
              <a:rPr lang="en-US" altLang="zh-CN" sz="2400" i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DX</a:t>
            </a:r>
            <a:r>
              <a:rPr lang="zh-CN" altLang="en-US" sz="2400" i="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间接寻址）</a:t>
            </a:r>
            <a:endParaRPr lang="zh-CN" altLang="en-US" sz="2400" i="0" dirty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1445" name="文本框 61444">
            <a:hlinkClick r:id="" action="ppaction://noaction"/>
          </p:cNvPr>
          <p:cNvSpPr txBox="1"/>
          <p:nvPr/>
        </p:nvSpPr>
        <p:spPr>
          <a:xfrm>
            <a:off x="7696200" y="1752600"/>
            <a:ext cx="1186815" cy="398780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18900000" scaled="1"/>
            <a:tileRect/>
          </a:gradFill>
          <a:ln w="9525">
            <a:noFill/>
          </a:ln>
          <a:effectLst>
            <a:outerShdw dist="35921" dir="2699999" algn="ctr" rotWithShape="0">
              <a:srgbClr val="808080"/>
            </a:outerShdw>
          </a:effectLst>
        </p:spPr>
        <p:txBody>
          <a:bodyPr wrap="none" anchor="t" anchorCtr="0">
            <a:spAutoFit/>
          </a:bodyPr>
          <a:p>
            <a:pPr algn="l">
              <a:spcBef>
                <a:spcPct val="0"/>
              </a:spcBef>
            </a:pPr>
            <a:r>
              <a:rPr lang="zh-CN" altLang="en-US" sz="2000" i="0" dirty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例题</a:t>
            </a:r>
            <a:r>
              <a:rPr lang="en-US" altLang="zh-CN" sz="2000" i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sz="2000" i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.15</a:t>
            </a:r>
            <a:endParaRPr lang="en-US" altLang="zh-CN" sz="2000" i="0">
              <a:solidFill>
                <a:srgbClr val="66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72" name="标题 62471"/>
          <p:cNvSpPr>
            <a:spLocks noGrp="1"/>
          </p:cNvSpPr>
          <p:nvPr>
            <p:ph type="title"/>
          </p:nvPr>
        </p:nvSpPr>
        <p:spPr>
          <a:xfrm>
            <a:off x="1600200" y="685800"/>
            <a:ext cx="3810000" cy="685800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zh-CN" altLang="en-US" sz="3000" dirty="0"/>
              <a:t>例</a:t>
            </a:r>
            <a:r>
              <a:rPr lang="en-US" altLang="zh-CN" sz="3000"/>
              <a:t>1</a:t>
            </a:r>
            <a:r>
              <a:rPr lang="en-US" altLang="zh-CN" sz="3000"/>
              <a:t>.15</a:t>
            </a:r>
            <a:r>
              <a:rPr lang="zh-CN" altLang="en-US" sz="3000" dirty="0"/>
              <a:t>：输入字量</a:t>
            </a:r>
            <a:endParaRPr lang="zh-CN" altLang="en-US" sz="3000" dirty="0"/>
          </a:p>
        </p:txBody>
      </p:sp>
      <p:sp>
        <p:nvSpPr>
          <p:cNvPr id="62473" name="文本占位符 62472"/>
          <p:cNvSpPr>
            <a:spLocks noGrp="1"/>
          </p:cNvSpPr>
          <p:nvPr>
            <p:ph type="body" idx="1"/>
          </p:nvPr>
        </p:nvSpPr>
        <p:spPr>
          <a:xfrm>
            <a:off x="762000" y="2057400"/>
            <a:ext cx="7648575" cy="3797300"/>
          </a:xfrm>
          <a:solidFill>
            <a:schemeClr val="bg1"/>
          </a:solidFill>
        </p:spPr>
        <p:txBody>
          <a:bodyPr/>
          <a:p>
            <a:pPr marL="0" indent="390525" defTabSz="914400">
              <a:lnSpc>
                <a:spcPct val="90000"/>
              </a:lnSpc>
              <a:spcBef>
                <a:spcPct val="0"/>
              </a:spcBef>
              <a:buNone/>
              <a:tabLst>
                <a:tab pos="3342005" algn="l"/>
              </a:tabLst>
            </a:pP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；直接寻址，字节量输入</a:t>
            </a:r>
            <a:endParaRPr lang="zh-CN" altLang="en-US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390525" defTabSz="914400">
              <a:lnSpc>
                <a:spcPct val="90000"/>
              </a:lnSpc>
              <a:spcBef>
                <a:spcPct val="0"/>
              </a:spcBef>
              <a:buNone/>
              <a:tabLst>
                <a:tab pos="3342005" algn="l"/>
              </a:tabLst>
            </a:pPr>
            <a:r>
              <a:rPr lang="en-US" altLang="zh-CN" b="1">
                <a:solidFill>
                  <a:srgbClr val="008000"/>
                </a:solidFill>
                <a:latin typeface="宋体" panose="02010600030101010101" pitchFamily="2" charset="-122"/>
              </a:rPr>
              <a:t>in al,21h</a:t>
            </a:r>
            <a:endParaRPr lang="en-US" altLang="zh-CN" b="1">
              <a:solidFill>
                <a:srgbClr val="008000"/>
              </a:solidFill>
              <a:latin typeface="宋体" panose="02010600030101010101" pitchFamily="2" charset="-122"/>
            </a:endParaRPr>
          </a:p>
          <a:p>
            <a:pPr marL="0" indent="390525" defTabSz="914400">
              <a:lnSpc>
                <a:spcPct val="90000"/>
              </a:lnSpc>
              <a:spcBef>
                <a:spcPct val="0"/>
              </a:spcBef>
              <a:buNone/>
              <a:tabLst>
                <a:tab pos="3342005" algn="l"/>
              </a:tabLst>
            </a:pPr>
            <a:r>
              <a:rPr lang="en-US" altLang="zh-CN" b="1" err="1">
                <a:solidFill>
                  <a:srgbClr val="008000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b="1">
                <a:solidFill>
                  <a:srgbClr val="008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err="1">
                <a:solidFill>
                  <a:srgbClr val="008000"/>
                </a:solidFill>
                <a:latin typeface="宋体" panose="02010600030101010101" pitchFamily="2" charset="-122"/>
              </a:rPr>
              <a:t>ah,al</a:t>
            </a:r>
            <a:endParaRPr lang="en-US" altLang="zh-CN" b="1">
              <a:solidFill>
                <a:srgbClr val="008000"/>
              </a:solidFill>
              <a:latin typeface="宋体" panose="02010600030101010101" pitchFamily="2" charset="-122"/>
            </a:endParaRPr>
          </a:p>
          <a:p>
            <a:pPr marL="0" indent="390525" defTabSz="914400">
              <a:lnSpc>
                <a:spcPct val="90000"/>
              </a:lnSpc>
              <a:spcBef>
                <a:spcPct val="0"/>
              </a:spcBef>
              <a:buNone/>
              <a:tabLst>
                <a:tab pos="3342005" algn="l"/>
              </a:tabLst>
            </a:pPr>
            <a:r>
              <a:rPr lang="en-US" altLang="zh-CN" b="1">
                <a:solidFill>
                  <a:srgbClr val="008000"/>
                </a:solidFill>
                <a:latin typeface="宋体" panose="02010600030101010101" pitchFamily="2" charset="-122"/>
              </a:rPr>
              <a:t>in al,20h</a:t>
            </a:r>
            <a:endParaRPr lang="en-US" altLang="zh-CN" b="1">
              <a:solidFill>
                <a:srgbClr val="008000"/>
              </a:solidFill>
              <a:latin typeface="宋体" panose="02010600030101010101" pitchFamily="2" charset="-122"/>
            </a:endParaRPr>
          </a:p>
          <a:p>
            <a:pPr marL="0" indent="390525" defTabSz="914400">
              <a:lnSpc>
                <a:spcPct val="90000"/>
              </a:lnSpc>
              <a:spcBef>
                <a:spcPct val="0"/>
              </a:spcBef>
              <a:buNone/>
              <a:tabLst>
                <a:tab pos="3342005" algn="l"/>
              </a:tabLst>
            </a:pP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；直接寻址，字量输入</a:t>
            </a:r>
            <a:endParaRPr lang="zh-CN" altLang="en-US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390525" defTabSz="914400">
              <a:lnSpc>
                <a:spcPct val="90000"/>
              </a:lnSpc>
              <a:spcBef>
                <a:spcPct val="0"/>
              </a:spcBef>
              <a:buNone/>
              <a:tabLst>
                <a:tab pos="3342005" algn="l"/>
              </a:tabLst>
            </a:pPr>
            <a:r>
              <a:rPr lang="en-US" altLang="zh-CN" b="1">
                <a:solidFill>
                  <a:schemeClr val="tx2"/>
                </a:solidFill>
                <a:latin typeface="宋体" panose="02010600030101010101" pitchFamily="2" charset="-122"/>
              </a:rPr>
              <a:t>in ax,20h</a:t>
            </a:r>
            <a:endParaRPr lang="en-US" altLang="zh-CN" b="1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marL="0" indent="390525" defTabSz="914400">
              <a:lnSpc>
                <a:spcPct val="90000"/>
              </a:lnSpc>
              <a:spcBef>
                <a:spcPct val="0"/>
              </a:spcBef>
              <a:buNone/>
              <a:tabLst>
                <a:tab pos="3342005" algn="l"/>
              </a:tabLst>
            </a:pP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；间接寻址，字量输入</a:t>
            </a:r>
            <a:endParaRPr lang="zh-CN" altLang="en-US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390525" defTabSz="914400">
              <a:lnSpc>
                <a:spcPct val="90000"/>
              </a:lnSpc>
              <a:spcBef>
                <a:spcPct val="0"/>
              </a:spcBef>
              <a:buNone/>
              <a:tabLst>
                <a:tab pos="3342005" algn="l"/>
              </a:tabLst>
            </a:pPr>
            <a:r>
              <a:rPr lang="en-US" altLang="zh-CN" b="1" err="1">
                <a:solidFill>
                  <a:srgbClr val="008000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b="1">
                <a:solidFill>
                  <a:srgbClr val="008000"/>
                </a:solidFill>
                <a:latin typeface="宋体" panose="02010600030101010101" pitchFamily="2" charset="-122"/>
              </a:rPr>
              <a:t> dx,20h</a:t>
            </a:r>
            <a:endParaRPr lang="en-US" altLang="zh-CN" b="1">
              <a:solidFill>
                <a:srgbClr val="008000"/>
              </a:solidFill>
              <a:latin typeface="宋体" panose="02010600030101010101" pitchFamily="2" charset="-122"/>
            </a:endParaRPr>
          </a:p>
          <a:p>
            <a:pPr marL="0" indent="390525" defTabSz="914400">
              <a:lnSpc>
                <a:spcPct val="90000"/>
              </a:lnSpc>
              <a:spcBef>
                <a:spcPct val="0"/>
              </a:spcBef>
              <a:buNone/>
              <a:tabLst>
                <a:tab pos="3342005" algn="l"/>
              </a:tabLst>
            </a:pPr>
            <a:r>
              <a:rPr lang="en-US" altLang="zh-CN" b="1">
                <a:solidFill>
                  <a:srgbClr val="008000"/>
                </a:solidFill>
                <a:latin typeface="宋体" panose="02010600030101010101" pitchFamily="2" charset="-122"/>
              </a:rPr>
              <a:t>in </a:t>
            </a:r>
            <a:r>
              <a:rPr lang="en-US" altLang="zh-CN" b="1" err="1">
                <a:solidFill>
                  <a:srgbClr val="008000"/>
                </a:solidFill>
                <a:latin typeface="宋体" panose="02010600030101010101" pitchFamily="2" charset="-122"/>
              </a:rPr>
              <a:t>ax,dx</a:t>
            </a:r>
            <a:endParaRPr lang="en-US" altLang="zh-CN" b="1">
              <a:solidFill>
                <a:srgbClr val="008000"/>
              </a:solidFill>
              <a:latin typeface="宋体" panose="02010600030101010101" pitchFamily="2" charset="-122"/>
            </a:endParaRPr>
          </a:p>
        </p:txBody>
      </p:sp>
      <p:sp>
        <p:nvSpPr>
          <p:cNvPr id="62475" name="右弧形箭头 62474"/>
          <p:cNvSpPr/>
          <p:nvPr/>
        </p:nvSpPr>
        <p:spPr>
          <a:xfrm>
            <a:off x="6248400" y="2590800"/>
            <a:ext cx="838200" cy="1828800"/>
          </a:xfrm>
          <a:prstGeom prst="curvedLeftArrow">
            <a:avLst>
              <a:gd name="adj1" fmla="val 25745"/>
              <a:gd name="adj2" fmla="val 65524"/>
              <a:gd name="adj3" fmla="val 17208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2476" name="椭圆 62475" descr="DI-43"/>
          <p:cNvSpPr/>
          <p:nvPr/>
        </p:nvSpPr>
        <p:spPr>
          <a:xfrm>
            <a:off x="152400" y="457200"/>
            <a:ext cx="914400" cy="914400"/>
          </a:xfrm>
          <a:prstGeom prst="ellipse">
            <a:avLst/>
          </a:prstGeom>
          <a:blipFill rotWithShape="0">
            <a:blip r:embed="rId1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p>
            <a:pPr algn="ctr">
              <a:spcBef>
                <a:spcPct val="0"/>
              </a:spcBef>
            </a:pPr>
            <a:r>
              <a:rPr lang="en-US" altLang="zh-CN" sz="2400" i="0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IN</a:t>
            </a:r>
            <a:endParaRPr lang="en-US" altLang="zh-CN" sz="2400" i="0">
              <a:solidFill>
                <a:schemeClr val="bg2"/>
              </a:solidFill>
              <a:effectLst>
                <a:outerShdw blurRad="38100" dist="38100" dir="2700000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 advClick="0">
    <p:rand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标题 63489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输出指令</a:t>
            </a:r>
            <a:r>
              <a:rPr lang="en-US" altLang="zh-CN"/>
              <a:t>OUT</a:t>
            </a:r>
            <a:endParaRPr lang="en-US" altLang="zh-CN"/>
          </a:p>
        </p:txBody>
      </p:sp>
      <p:sp>
        <p:nvSpPr>
          <p:cNvPr id="63491" name="文本占位符 63490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8229600" cy="569913"/>
          </a:xfrm>
        </p:spPr>
        <p:txBody>
          <a:bodyPr/>
          <a:p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将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内的</a:t>
            </a:r>
            <a:r>
              <a:rPr lang="en-US" altLang="zh-CN" sz="26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AL/AX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数据传送给外设</a:t>
            </a:r>
            <a:endParaRPr lang="zh-CN" altLang="en-US" sz="2600" b="1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3492" name="流程图: 可选过程 63491"/>
          <p:cNvSpPr/>
          <p:nvPr/>
        </p:nvSpPr>
        <p:spPr>
          <a:xfrm>
            <a:off x="533400" y="2362200"/>
            <a:ext cx="7010400" cy="4038600"/>
          </a:xfrm>
          <a:prstGeom prst="flowChartAlternateProcess">
            <a:avLst/>
          </a:prstGeom>
          <a:gradFill rotWithShape="0">
            <a:gsLst>
              <a:gs pos="0">
                <a:srgbClr val="CCECFF"/>
              </a:gs>
              <a:gs pos="100000">
                <a:srgbClr val="FFFFFF"/>
              </a:gs>
            </a:gsLst>
            <a:lin ang="5400000" scaled="1"/>
            <a:tileRect/>
          </a:gradFill>
          <a:ln w="12700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/>
          <a:p>
            <a:pPr algn="l" defTabSz="914400">
              <a:spcBef>
                <a:spcPct val="30000"/>
              </a:spcBef>
              <a:tabLst>
                <a:tab pos="2289175" algn="l"/>
              </a:tabLst>
            </a:pPr>
            <a:r>
              <a:rPr lang="en-US" altLang="zh-CN" i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 i8,AL</a:t>
            </a:r>
            <a:endParaRPr lang="en-US" altLang="zh-CN" i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defTabSz="914400">
              <a:lnSpc>
                <a:spcPct val="40000"/>
              </a:lnSpc>
              <a:tabLst>
                <a:tab pos="2289175" algn="l"/>
              </a:tabLst>
            </a:pPr>
            <a:r>
              <a:rPr lang="zh-CN" altLang="en-US" sz="2400" i="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；字节输出：</a:t>
            </a:r>
            <a:r>
              <a:rPr lang="en-US" altLang="zh-CN" sz="2400" i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I/O</a:t>
            </a:r>
            <a:r>
              <a:rPr lang="zh-CN" altLang="en-US" sz="2400" i="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端口</a:t>
            </a:r>
            <a:r>
              <a:rPr lang="en-US" altLang="zh-CN" sz="2400" i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←AL</a:t>
            </a:r>
            <a:r>
              <a:rPr lang="zh-CN" altLang="en-US" sz="2400" i="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i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i8</a:t>
            </a:r>
            <a:r>
              <a:rPr lang="zh-CN" altLang="en-US" sz="2400" i="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直接寻址）</a:t>
            </a:r>
            <a:endParaRPr lang="zh-CN" altLang="en-US" sz="2400" i="0" dirty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defTabSz="914400">
              <a:spcBef>
                <a:spcPct val="30000"/>
              </a:spcBef>
              <a:tabLst>
                <a:tab pos="2289175" algn="l"/>
              </a:tabLst>
            </a:pPr>
            <a:r>
              <a:rPr lang="en-US" altLang="zh-CN" i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 DX,AL</a:t>
            </a:r>
            <a:endParaRPr lang="en-US" altLang="zh-CN" i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defTabSz="914400">
              <a:lnSpc>
                <a:spcPct val="40000"/>
              </a:lnSpc>
              <a:tabLst>
                <a:tab pos="2289175" algn="l"/>
              </a:tabLst>
            </a:pPr>
            <a:r>
              <a:rPr lang="zh-CN" altLang="en-US" sz="2400" i="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；字节输出：</a:t>
            </a:r>
            <a:r>
              <a:rPr lang="en-US" altLang="zh-CN" sz="2400" i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I/O</a:t>
            </a:r>
            <a:r>
              <a:rPr lang="zh-CN" altLang="en-US" sz="2400" i="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端口</a:t>
            </a:r>
            <a:r>
              <a:rPr lang="en-US" altLang="zh-CN" sz="2400" i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←AL</a:t>
            </a:r>
            <a:r>
              <a:rPr lang="zh-CN" altLang="en-US" sz="2400" i="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i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DX</a:t>
            </a:r>
            <a:r>
              <a:rPr lang="zh-CN" altLang="en-US" sz="2400" i="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间接寻址）</a:t>
            </a:r>
            <a:endParaRPr lang="zh-CN" altLang="en-US" sz="2400" i="0" dirty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defTabSz="914400">
              <a:spcBef>
                <a:spcPct val="30000"/>
              </a:spcBef>
              <a:tabLst>
                <a:tab pos="2289175" algn="l"/>
              </a:tabLst>
            </a:pPr>
            <a:r>
              <a:rPr lang="en-US" altLang="zh-CN" i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 i8,AX</a:t>
            </a:r>
            <a:endParaRPr lang="en-US" altLang="zh-CN" i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defTabSz="914400">
              <a:lnSpc>
                <a:spcPct val="40000"/>
              </a:lnSpc>
              <a:tabLst>
                <a:tab pos="2289175" algn="l"/>
              </a:tabLst>
            </a:pPr>
            <a:r>
              <a:rPr lang="zh-CN" altLang="en-US" sz="2400" i="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；字输出：</a:t>
            </a:r>
            <a:r>
              <a:rPr lang="en-US" altLang="zh-CN" sz="2400" i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I/O</a:t>
            </a:r>
            <a:r>
              <a:rPr lang="zh-CN" altLang="en-US" sz="2400" i="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端口</a:t>
            </a:r>
            <a:r>
              <a:rPr lang="en-US" altLang="zh-CN" sz="2400" i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←AX</a:t>
            </a:r>
            <a:r>
              <a:rPr lang="zh-CN" altLang="en-US" sz="2400" i="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i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i8</a:t>
            </a:r>
            <a:r>
              <a:rPr lang="zh-CN" altLang="en-US" sz="2400" i="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直接寻址）</a:t>
            </a:r>
            <a:endParaRPr lang="zh-CN" altLang="en-US" sz="2400" i="0" dirty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defTabSz="914400">
              <a:spcBef>
                <a:spcPct val="30000"/>
              </a:spcBef>
              <a:tabLst>
                <a:tab pos="2289175" algn="l"/>
              </a:tabLst>
            </a:pPr>
            <a:r>
              <a:rPr lang="en-US" altLang="zh-CN" i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 DX,AX</a:t>
            </a:r>
            <a:endParaRPr lang="en-US" altLang="zh-CN" i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defTabSz="914400">
              <a:lnSpc>
                <a:spcPct val="40000"/>
              </a:lnSpc>
              <a:tabLst>
                <a:tab pos="2289175" algn="l"/>
              </a:tabLst>
            </a:pPr>
            <a:r>
              <a:rPr lang="zh-CN" altLang="en-US" sz="2400" i="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；字输出：</a:t>
            </a:r>
            <a:r>
              <a:rPr lang="en-US" altLang="zh-CN" sz="2400" i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I/O</a:t>
            </a:r>
            <a:r>
              <a:rPr lang="zh-CN" altLang="en-US" sz="2400" i="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端口</a:t>
            </a:r>
            <a:r>
              <a:rPr lang="en-US" altLang="zh-CN" sz="2400" i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←AX</a:t>
            </a:r>
            <a:r>
              <a:rPr lang="zh-CN" altLang="en-US" sz="2400" i="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i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DX</a:t>
            </a:r>
            <a:r>
              <a:rPr lang="zh-CN" altLang="en-US" sz="2400" i="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间接寻址）</a:t>
            </a:r>
            <a:endParaRPr lang="zh-CN" altLang="en-US" sz="2400" i="0" dirty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3493" name="文本框 63492">
            <a:hlinkClick r:id="" action="ppaction://noaction"/>
          </p:cNvPr>
          <p:cNvSpPr txBox="1"/>
          <p:nvPr/>
        </p:nvSpPr>
        <p:spPr>
          <a:xfrm>
            <a:off x="7772400" y="5486400"/>
            <a:ext cx="1186815" cy="398780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18900000" scaled="1"/>
            <a:tileRect/>
          </a:gradFill>
          <a:ln w="9525">
            <a:noFill/>
          </a:ln>
          <a:effectLst>
            <a:outerShdw dist="35921" dir="2699999" algn="ctr" rotWithShape="0">
              <a:srgbClr val="808080"/>
            </a:outerShdw>
          </a:effectLst>
        </p:spPr>
        <p:txBody>
          <a:bodyPr wrap="none" anchor="t" anchorCtr="0">
            <a:spAutoFit/>
          </a:bodyPr>
          <a:p>
            <a:pPr algn="l">
              <a:spcBef>
                <a:spcPct val="0"/>
              </a:spcBef>
            </a:pPr>
            <a:r>
              <a:rPr lang="zh-CN" altLang="en-US" sz="2000" i="0" dirty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例题</a:t>
            </a:r>
            <a:r>
              <a:rPr lang="en-US" altLang="zh-CN" sz="2000" i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sz="2000" i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.16</a:t>
            </a:r>
            <a:endParaRPr lang="en-US" altLang="zh-CN" sz="2000" i="0">
              <a:solidFill>
                <a:srgbClr val="66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20" name="标题 64519"/>
          <p:cNvSpPr>
            <a:spLocks noGrp="1"/>
          </p:cNvSpPr>
          <p:nvPr>
            <p:ph type="title"/>
          </p:nvPr>
        </p:nvSpPr>
        <p:spPr>
          <a:xfrm>
            <a:off x="1371600" y="838200"/>
            <a:ext cx="3886200" cy="609600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zh-CN" altLang="en-US" sz="3000" dirty="0"/>
              <a:t>例</a:t>
            </a:r>
            <a:r>
              <a:rPr lang="en-US" altLang="zh-CN" sz="3000"/>
              <a:t>1</a:t>
            </a:r>
            <a:r>
              <a:rPr lang="en-US" altLang="zh-CN" sz="3000"/>
              <a:t>.16</a:t>
            </a:r>
            <a:r>
              <a:rPr lang="zh-CN" altLang="en-US" sz="3000" dirty="0"/>
              <a:t>：输出字节量</a:t>
            </a:r>
            <a:endParaRPr lang="zh-CN" altLang="en-US" sz="3000" dirty="0"/>
          </a:p>
        </p:txBody>
      </p:sp>
      <p:sp>
        <p:nvSpPr>
          <p:cNvPr id="64521" name="文本占位符 64520"/>
          <p:cNvSpPr>
            <a:spLocks noGrp="1"/>
          </p:cNvSpPr>
          <p:nvPr>
            <p:ph type="body" idx="1"/>
          </p:nvPr>
        </p:nvSpPr>
        <p:spPr>
          <a:xfrm>
            <a:off x="762000" y="2057400"/>
            <a:ext cx="7648575" cy="3797300"/>
          </a:xfrm>
          <a:solidFill>
            <a:schemeClr val="bg1"/>
          </a:solidFill>
        </p:spPr>
        <p:txBody>
          <a:bodyPr/>
          <a:p>
            <a:pPr marL="0" indent="390525" defTabSz="914400">
              <a:spcBef>
                <a:spcPct val="0"/>
              </a:spcBef>
              <a:buNone/>
              <a:tabLst>
                <a:tab pos="3342005" algn="l"/>
              </a:tabLst>
            </a:pP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；间接寻址，字节量输出</a:t>
            </a:r>
            <a:endParaRPr lang="zh-CN" altLang="en-US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390525" defTabSz="914400">
              <a:spcBef>
                <a:spcPct val="0"/>
              </a:spcBef>
              <a:buNone/>
              <a:tabLst>
                <a:tab pos="3342005" algn="l"/>
              </a:tabLst>
            </a:pPr>
            <a:r>
              <a:rPr lang="en-US" altLang="zh-CN" b="1" err="1">
                <a:solidFill>
                  <a:schemeClr val="accent2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b="1">
                <a:solidFill>
                  <a:schemeClr val="accent2"/>
                </a:solidFill>
                <a:latin typeface="宋体" panose="02010600030101010101" pitchFamily="2" charset="-122"/>
              </a:rPr>
              <a:t> dx,3fch</a:t>
            </a:r>
            <a:endParaRPr lang="en-US" altLang="zh-CN" b="1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0" indent="390525" defTabSz="914400">
              <a:spcBef>
                <a:spcPct val="0"/>
              </a:spcBef>
              <a:buNone/>
              <a:tabLst>
                <a:tab pos="3342005" algn="l"/>
              </a:tabLst>
            </a:pPr>
            <a:r>
              <a:rPr lang="en-US" altLang="zh-CN" b="1" err="1">
                <a:solidFill>
                  <a:schemeClr val="accent2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b="1">
                <a:solidFill>
                  <a:schemeClr val="accent2"/>
                </a:solidFill>
                <a:latin typeface="宋体" panose="02010600030101010101" pitchFamily="2" charset="-122"/>
              </a:rPr>
              <a:t> al,80h</a:t>
            </a:r>
            <a:endParaRPr lang="en-US" altLang="zh-CN" b="1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0" indent="390525" defTabSz="914400">
              <a:spcBef>
                <a:spcPct val="0"/>
              </a:spcBef>
              <a:buNone/>
              <a:tabLst>
                <a:tab pos="3342005" algn="l"/>
              </a:tabLst>
            </a:pPr>
            <a:r>
              <a:rPr lang="en-US" altLang="zh-CN" b="1">
                <a:solidFill>
                  <a:schemeClr val="tx2"/>
                </a:solidFill>
                <a:latin typeface="宋体" panose="02010600030101010101" pitchFamily="2" charset="-122"/>
              </a:rPr>
              <a:t>out </a:t>
            </a:r>
            <a:r>
              <a:rPr lang="en-US" altLang="zh-CN" b="1" err="1">
                <a:solidFill>
                  <a:schemeClr val="tx2"/>
                </a:solidFill>
                <a:latin typeface="宋体" panose="02010600030101010101" pitchFamily="2" charset="-122"/>
              </a:rPr>
              <a:t>dx,al</a:t>
            </a:r>
            <a:endParaRPr lang="en-US" altLang="zh-CN" b="1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64523" name="椭圆 64522" descr="DI-43"/>
          <p:cNvSpPr/>
          <p:nvPr/>
        </p:nvSpPr>
        <p:spPr>
          <a:xfrm>
            <a:off x="228600" y="381000"/>
            <a:ext cx="914400" cy="914400"/>
          </a:xfrm>
          <a:prstGeom prst="ellipse">
            <a:avLst/>
          </a:prstGeom>
          <a:blipFill rotWithShape="0">
            <a:blip r:embed="rId1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p>
            <a:pPr algn="ctr">
              <a:spcBef>
                <a:spcPct val="0"/>
              </a:spcBef>
            </a:pPr>
            <a:r>
              <a:rPr lang="en-US" altLang="zh-CN" sz="2400" i="0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OUT</a:t>
            </a:r>
            <a:endParaRPr lang="en-US" altLang="zh-CN" sz="2400" i="0">
              <a:solidFill>
                <a:schemeClr val="bg2"/>
              </a:solidFill>
              <a:effectLst>
                <a:outerShdw blurRad="38100" dist="38100" dir="2700000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 advClick="0">
    <p:random/>
  </p:transition>
</p:sld>
</file>

<file path=ppt/tags/tag1.xml><?xml version="1.0" encoding="utf-8"?>
<p:tagLst xmlns:p="http://schemas.openxmlformats.org/presentationml/2006/main">
  <p:tag name="COMMONDATA" val="eyJoZGlkIjoiN2ExNzlkMjFhZjg4ZjExZmExNzU0NmRlZDNmMTA1YmEifQ=="/>
</p:tagLst>
</file>

<file path=ppt/theme/theme1.xml><?xml version="1.0" encoding="utf-8"?>
<a:theme xmlns:a="http://schemas.openxmlformats.org/drawingml/2006/main" name="Network">
  <a:themeElements>
    <a:clrScheme name="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B8989"/>
      </a:accent6>
      <a:hlink>
        <a:srgbClr val="7E9CE8"/>
      </a:hlink>
      <a:folHlink>
        <a:srgbClr val="D8D8EC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FF"/>
        </a:dk1>
        <a:lt1>
          <a:srgbClr val="000000"/>
        </a:lt1>
        <a:dk2>
          <a:srgbClr val="C0C0C0"/>
        </a:dk2>
        <a:lt2>
          <a:srgbClr val="4F747B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CDCDC"/>
        </a:accent4>
        <a:accent5>
          <a:srgbClr val="C3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D0B0B"/>
        </a:lt1>
        <a:dk2>
          <a:srgbClr val="FFFFFF"/>
        </a:dk2>
        <a:lt2>
          <a:srgbClr val="3C0000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CDCDC"/>
        </a:accent4>
        <a:accent5>
          <a:srgbClr val="B9B9AD"/>
        </a:accent5>
        <a:accent6>
          <a:srgbClr val="B72D00"/>
        </a:accent6>
        <a:hlink>
          <a:srgbClr val="CC9900"/>
        </a:hlink>
        <a:folHlink>
          <a:srgbClr val="CCCC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15192B"/>
        </a:lt1>
        <a:dk2>
          <a:srgbClr val="CCCCFF"/>
        </a:dk2>
        <a:lt2>
          <a:srgbClr val="666699"/>
        </a:lt2>
        <a:accent1>
          <a:srgbClr val="4F893D"/>
        </a:accent1>
        <a:accent2>
          <a:srgbClr val="666699"/>
        </a:accent2>
        <a:accent3>
          <a:srgbClr val="AAAAAC"/>
        </a:accent3>
        <a:accent4>
          <a:srgbClr val="DCDCDC"/>
        </a:accent4>
        <a:accent5>
          <a:srgbClr val="B3C4AF"/>
        </a:accent5>
        <a:accent6>
          <a:srgbClr val="5B5B89"/>
        </a:accent6>
        <a:hlink>
          <a:srgbClr val="CC9900"/>
        </a:hlink>
        <a:folHlink>
          <a:srgbClr val="4837C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6001A"/>
        </a:lt1>
        <a:dk2>
          <a:srgbClr val="CCCC66"/>
        </a:dk2>
        <a:lt2>
          <a:srgbClr val="666699"/>
        </a:lt2>
        <a:accent1>
          <a:srgbClr val="FF3300"/>
        </a:accent1>
        <a:accent2>
          <a:srgbClr val="FF6600"/>
        </a:accent2>
        <a:accent3>
          <a:srgbClr val="C3AAAA"/>
        </a:accent3>
        <a:accent4>
          <a:srgbClr val="DCDCDC"/>
        </a:accent4>
        <a:accent5>
          <a:srgbClr val="FFADAA"/>
        </a:accent5>
        <a:accent6>
          <a:srgbClr val="E55B00"/>
        </a:accent6>
        <a:hlink>
          <a:srgbClr val="CC9900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54"/>
        </a:lt1>
        <a:dk2>
          <a:srgbClr val="FFFFFF"/>
        </a:dk2>
        <a:lt2>
          <a:srgbClr val="666699"/>
        </a:lt2>
        <a:accent1>
          <a:srgbClr val="3333FF"/>
        </a:accent1>
        <a:accent2>
          <a:srgbClr val="006699"/>
        </a:accent2>
        <a:accent3>
          <a:srgbClr val="AAAAB4"/>
        </a:accent3>
        <a:accent4>
          <a:srgbClr val="DCDCDC"/>
        </a:accent4>
        <a:accent5>
          <a:srgbClr val="ADADFF"/>
        </a:accent5>
        <a:accent6>
          <a:srgbClr val="005B89"/>
        </a:accent6>
        <a:hlink>
          <a:srgbClr val="669900"/>
        </a:hlink>
        <a:folHlink>
          <a:srgbClr val="0000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0054B"/>
        </a:lt1>
        <a:dk2>
          <a:srgbClr val="FFFFFF"/>
        </a:dk2>
        <a:lt2>
          <a:srgbClr val="808080"/>
        </a:lt2>
        <a:accent1>
          <a:srgbClr val="797B9B"/>
        </a:accent1>
        <a:accent2>
          <a:srgbClr val="6B4FB1"/>
        </a:accent2>
        <a:accent3>
          <a:srgbClr val="ADAAB2"/>
        </a:accent3>
        <a:accent4>
          <a:srgbClr val="DCDCDC"/>
        </a:accent4>
        <a:accent5>
          <a:srgbClr val="BEBFCB"/>
        </a:accent5>
        <a:accent6>
          <a:srgbClr val="5F469E"/>
        </a:accent6>
        <a:hlink>
          <a:srgbClr val="7AACCE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CC"/>
        </a:dk1>
        <a:lt1>
          <a:srgbClr val="29527B"/>
        </a:lt1>
        <a:dk2>
          <a:srgbClr val="FFFFFF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CDCAF"/>
        </a:accent4>
        <a:accent5>
          <a:srgbClr val="E2E2AA"/>
        </a:accent5>
        <a:accent6>
          <a:srgbClr val="5B8989"/>
        </a:accent6>
        <a:hlink>
          <a:srgbClr val="D8D8E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76949"/>
        </a:lt1>
        <a:dk2>
          <a:srgbClr val="FFFFFF"/>
        </a:dk2>
        <a:lt2>
          <a:srgbClr val="666699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CDCDC"/>
        </a:accent4>
        <a:accent5>
          <a:srgbClr val="E2B9AA"/>
        </a:accent5>
        <a:accent6>
          <a:srgbClr val="B78900"/>
        </a:accent6>
        <a:hlink>
          <a:srgbClr val="669900"/>
        </a:hlink>
        <a:folHlink>
          <a:srgbClr val="A452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7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B8989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5825</Words>
  <Application>WPS 演示</Application>
  <PresentationFormat>在屏幕上显示</PresentationFormat>
  <Paragraphs>577</Paragraphs>
  <Slides>53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64" baseType="lpstr">
      <vt:lpstr>Arial</vt:lpstr>
      <vt:lpstr>宋体</vt:lpstr>
      <vt:lpstr>Wingdings</vt:lpstr>
      <vt:lpstr>楷体</vt:lpstr>
      <vt:lpstr>微软雅黑</vt:lpstr>
      <vt:lpstr>Arial Unicode MS</vt:lpstr>
      <vt:lpstr>Times New Roman</vt:lpstr>
      <vt:lpstr>黑体</vt:lpstr>
      <vt:lpstr>Symbol</vt:lpstr>
      <vt:lpstr>Verdana</vt:lpstr>
      <vt:lpstr>Network</vt:lpstr>
      <vt:lpstr>重点：  8086的指令系统</vt:lpstr>
      <vt:lpstr>教学重点</vt:lpstr>
      <vt:lpstr>什么是指令系统?</vt:lpstr>
      <vt:lpstr>8086指令系统概述</vt:lpstr>
      <vt:lpstr>在学习指令时的注意事项：</vt:lpstr>
      <vt:lpstr>汇编语言指令格式</vt:lpstr>
      <vt:lpstr>后面缩写的说明：</vt:lpstr>
      <vt:lpstr>开始逐一介绍：</vt:lpstr>
      <vt:lpstr>1.1  数据传送类指令</vt:lpstr>
      <vt:lpstr>1.1.1  通用数据传送指令</vt:lpstr>
      <vt:lpstr>（1）. 传送指令MOV（move）</vt:lpstr>
      <vt:lpstr>例1.1：立即数传送</vt:lpstr>
      <vt:lpstr>例1.2：寄存器传送</vt:lpstr>
      <vt:lpstr>例1.3：存储器传送</vt:lpstr>
      <vt:lpstr>例1.4：段寄存器传送</vt:lpstr>
      <vt:lpstr>MOV指令传送功能</vt:lpstr>
      <vt:lpstr>常见的非法传送错误：</vt:lpstr>
      <vt:lpstr>常见错误1：两个操作数的类型要一致</vt:lpstr>
      <vt:lpstr>常见错误2：两个操作数不能都是存储器</vt:lpstr>
      <vt:lpstr>常见错误3：:段寄存器的操作不正确</vt:lpstr>
      <vt:lpstr>其它传送错误还有：</vt:lpstr>
      <vt:lpstr>（2）. 交换指令XCHG（exchange）</vt:lpstr>
      <vt:lpstr>例1.6：寄存器间交换</vt:lpstr>
      <vt:lpstr>例1.7：寄存器与存储器交换</vt:lpstr>
      <vt:lpstr>（3）. 换码指令XLAT（translate）</vt:lpstr>
      <vt:lpstr>例1.8：代码转换</vt:lpstr>
      <vt:lpstr>1.1.2  堆栈操作指令</vt:lpstr>
      <vt:lpstr>堆栈和队列</vt:lpstr>
      <vt:lpstr>堆栈的操作</vt:lpstr>
      <vt:lpstr>（1）. 进栈指令PUSH</vt:lpstr>
      <vt:lpstr>（2）. 出栈指令POP</vt:lpstr>
      <vt:lpstr>堆栈的特点：</vt:lpstr>
      <vt:lpstr>例1.11：现场保护恢复</vt:lpstr>
      <vt:lpstr>1.1.3  标志传送指令</vt:lpstr>
      <vt:lpstr>1. 标志寄存器传送</vt:lpstr>
      <vt:lpstr>标志低字节进出AH指令</vt:lpstr>
      <vt:lpstr>标志寄存器进出堆栈指令</vt:lpstr>
      <vt:lpstr>例1.12：置位单步标志</vt:lpstr>
      <vt:lpstr>2. 标志位操作</vt:lpstr>
      <vt:lpstr>（1）进位标志操作指令</vt:lpstr>
      <vt:lpstr>（2）方向标志操作指令</vt:lpstr>
      <vt:lpstr>（3）中断标志操作指令</vt:lpstr>
      <vt:lpstr>1.1.4  地址传送指令</vt:lpstr>
      <vt:lpstr>有效地址传送指令LEA（load EA）</vt:lpstr>
      <vt:lpstr>例1.13：获取有效地址</vt:lpstr>
      <vt:lpstr>指针传送指令</vt:lpstr>
      <vt:lpstr>例1.14：地址指针传送</vt:lpstr>
      <vt:lpstr>2.1.5  输入输出指令</vt:lpstr>
      <vt:lpstr>输入输出寻址方式</vt:lpstr>
      <vt:lpstr>输入指令IN</vt:lpstr>
      <vt:lpstr>例1.15：输入字量</vt:lpstr>
      <vt:lpstr>输出指令OUT</vt:lpstr>
      <vt:lpstr>例1.16：输出字节量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Zhao Jia Hui</dc:creator>
  <cp:lastModifiedBy>ZHJH</cp:lastModifiedBy>
  <cp:revision>7</cp:revision>
  <dcterms:created xsi:type="dcterms:W3CDTF">2012-09-09T15:13:00Z</dcterms:created>
  <dcterms:modified xsi:type="dcterms:W3CDTF">2022-08-25T09:13:19Z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2B33159DBFFB4944AEBF20502CD0C96F</vt:lpwstr>
  </property>
  <property fmtid="{D5CDD505-2E9C-101B-9397-08002B2CF9AE}" pid="4" name="KSOProductBuildVer">
    <vt:lpwstr>2052-11.1.0.12302</vt:lpwstr>
  </property>
</Properties>
</file>