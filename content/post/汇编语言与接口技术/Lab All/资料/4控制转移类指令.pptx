
<file path=[Content_Types].xml><?xml version="1.0" encoding="utf-8"?>
<Types xmlns="http://schemas.openxmlformats.org/package/2006/content-types">
  <Default Extension="bin" ContentType="application/vnd.ms-office.activeX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ctiveX/activeX1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</p:sldIdLst>
  <p:sldSz cx="9144000" cy="6858000" type="screen4x3"/>
  <p:notesSz cx="6858000" cy="9144000"/>
  <p:custDataLst>
    <p:tags r:id="rId59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1400" y="40"/>
      </p:cViewPr>
      <p:guideLst>
        <p:guide orient="horz" pos="2160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2049"/>
          <p:cNvSpPr/>
          <p:nvPr/>
        </p:nvSpPr>
        <p:spPr>
          <a:xfrm>
            <a:off x="7315200" y="1066800"/>
            <a:ext cx="0" cy="449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1" name="标题 2050"/>
          <p:cNvSpPr>
            <a:spLocks noGrp="1"/>
          </p:cNvSpPr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lvl="0" algn="r">
              <a:buClrTx/>
              <a:buSzTx/>
              <a:buFontTx/>
              <a:defRPr sz="4800"/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r"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3200"/>
            </a:lvl1pPr>
            <a:lvl2pPr marL="344805" lvl="1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3200"/>
            </a:lvl2pPr>
            <a:lvl3pPr marL="694055" lvl="2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3200"/>
            </a:lvl3pPr>
            <a:lvl4pPr marL="989330" lvl="3" indent="0" algn="ctr"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/>
            </a:lvl4pPr>
            <a:lvl5pPr marL="1282700" lvl="4" indent="0" algn="ctr"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3200"/>
            </a:lvl5pPr>
          </a:lstStyle>
          <a:p>
            <a:pPr lvl="0"/>
            <a:r>
              <a:rPr lang="zh-CN" altLang="en-US"/>
              <a:t>单击此处编辑母版副标题样式</a:t>
            </a:r>
          </a:p>
        </p:txBody>
      </p:sp>
      <p:sp>
        <p:nvSpPr>
          <p:cNvPr id="2053" name="日期占位符 2052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000"/>
            </a:lvl1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000"/>
            </a:lvl1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000"/>
            </a:lvl1pPr>
          </a:lstStyle>
          <a:p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2056" name="组合 2055"/>
          <p:cNvGrpSpPr/>
          <p:nvPr/>
        </p:nvGrpSpPr>
        <p:grpSpPr>
          <a:xfrm>
            <a:off x="7493000" y="2992438"/>
            <a:ext cx="1338263" cy="2189162"/>
            <a:chOff x="0" y="0"/>
            <a:chExt cx="843" cy="1379"/>
          </a:xfrm>
        </p:grpSpPr>
        <p:sp>
          <p:nvSpPr>
            <p:cNvPr id="2057" name="椭圆 2056"/>
            <p:cNvSpPr/>
            <p:nvPr/>
          </p:nvSpPr>
          <p:spPr>
            <a:xfrm>
              <a:off x="0" y="0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椭圆 2057"/>
            <p:cNvSpPr/>
            <p:nvPr/>
          </p:nvSpPr>
          <p:spPr>
            <a:xfrm>
              <a:off x="179" y="0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椭圆 2058"/>
            <p:cNvSpPr/>
            <p:nvPr/>
          </p:nvSpPr>
          <p:spPr>
            <a:xfrm>
              <a:off x="358" y="0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椭圆 2059"/>
            <p:cNvSpPr/>
            <p:nvPr/>
          </p:nvSpPr>
          <p:spPr>
            <a:xfrm>
              <a:off x="0" y="179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椭圆 2060"/>
            <p:cNvSpPr/>
            <p:nvPr/>
          </p:nvSpPr>
          <p:spPr>
            <a:xfrm>
              <a:off x="179" y="179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椭圆 2061"/>
            <p:cNvSpPr/>
            <p:nvPr/>
          </p:nvSpPr>
          <p:spPr>
            <a:xfrm>
              <a:off x="358" y="179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椭圆 2062"/>
            <p:cNvSpPr/>
            <p:nvPr/>
          </p:nvSpPr>
          <p:spPr>
            <a:xfrm>
              <a:off x="537" y="1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椭圆 2063"/>
            <p:cNvSpPr/>
            <p:nvPr/>
          </p:nvSpPr>
          <p:spPr>
            <a:xfrm>
              <a:off x="0" y="358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椭圆 2064"/>
            <p:cNvSpPr/>
            <p:nvPr/>
          </p:nvSpPr>
          <p:spPr>
            <a:xfrm>
              <a:off x="179" y="358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" name="椭圆 2065"/>
            <p:cNvSpPr/>
            <p:nvPr/>
          </p:nvSpPr>
          <p:spPr>
            <a:xfrm>
              <a:off x="358" y="358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" name="椭圆 2066"/>
            <p:cNvSpPr/>
            <p:nvPr/>
          </p:nvSpPr>
          <p:spPr>
            <a:xfrm>
              <a:off x="537" y="358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" name="椭圆 2067"/>
            <p:cNvSpPr/>
            <p:nvPr/>
          </p:nvSpPr>
          <p:spPr>
            <a:xfrm>
              <a:off x="716" y="3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" name="椭圆 2068"/>
            <p:cNvSpPr/>
            <p:nvPr/>
          </p:nvSpPr>
          <p:spPr>
            <a:xfrm>
              <a:off x="0" y="536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0" name="椭圆 2069"/>
            <p:cNvSpPr/>
            <p:nvPr/>
          </p:nvSpPr>
          <p:spPr>
            <a:xfrm>
              <a:off x="179" y="536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1" name="椭圆 2070"/>
            <p:cNvSpPr/>
            <p:nvPr/>
          </p:nvSpPr>
          <p:spPr>
            <a:xfrm>
              <a:off x="358" y="536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2" name="椭圆 2071"/>
            <p:cNvSpPr/>
            <p:nvPr/>
          </p:nvSpPr>
          <p:spPr>
            <a:xfrm>
              <a:off x="537" y="536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3" name="椭圆 2072"/>
            <p:cNvSpPr/>
            <p:nvPr/>
          </p:nvSpPr>
          <p:spPr>
            <a:xfrm>
              <a:off x="0" y="715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4" name="椭圆 2073"/>
            <p:cNvSpPr/>
            <p:nvPr/>
          </p:nvSpPr>
          <p:spPr>
            <a:xfrm>
              <a:off x="179" y="715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5" name="椭圆 2074"/>
            <p:cNvSpPr/>
            <p:nvPr/>
          </p:nvSpPr>
          <p:spPr>
            <a:xfrm>
              <a:off x="358" y="715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6" name="椭圆 2075"/>
            <p:cNvSpPr/>
            <p:nvPr/>
          </p:nvSpPr>
          <p:spPr>
            <a:xfrm>
              <a:off x="537" y="715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7" name="椭圆 2076"/>
            <p:cNvSpPr/>
            <p:nvPr/>
          </p:nvSpPr>
          <p:spPr>
            <a:xfrm>
              <a:off x="716" y="715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" name="椭圆 2077"/>
            <p:cNvSpPr/>
            <p:nvPr/>
          </p:nvSpPr>
          <p:spPr>
            <a:xfrm>
              <a:off x="0" y="89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" name="椭圆 2078"/>
            <p:cNvSpPr/>
            <p:nvPr/>
          </p:nvSpPr>
          <p:spPr>
            <a:xfrm>
              <a:off x="179" y="894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" name="椭圆 2079"/>
            <p:cNvSpPr/>
            <p:nvPr/>
          </p:nvSpPr>
          <p:spPr>
            <a:xfrm>
              <a:off x="358" y="894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1" name="椭圆 2080"/>
            <p:cNvSpPr/>
            <p:nvPr/>
          </p:nvSpPr>
          <p:spPr>
            <a:xfrm>
              <a:off x="537" y="894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2" name="椭圆 2081"/>
            <p:cNvSpPr/>
            <p:nvPr/>
          </p:nvSpPr>
          <p:spPr>
            <a:xfrm>
              <a:off x="0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3" name="椭圆 2082"/>
            <p:cNvSpPr/>
            <p:nvPr/>
          </p:nvSpPr>
          <p:spPr>
            <a:xfrm>
              <a:off x="179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4" name="椭圆 2083"/>
            <p:cNvSpPr/>
            <p:nvPr/>
          </p:nvSpPr>
          <p:spPr>
            <a:xfrm>
              <a:off x="358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5" name="椭圆 2084"/>
            <p:cNvSpPr/>
            <p:nvPr/>
          </p:nvSpPr>
          <p:spPr>
            <a:xfrm>
              <a:off x="537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6" name="椭圆 2085"/>
            <p:cNvSpPr/>
            <p:nvPr/>
          </p:nvSpPr>
          <p:spPr>
            <a:xfrm>
              <a:off x="179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7" name="椭圆 2086"/>
            <p:cNvSpPr/>
            <p:nvPr/>
          </p:nvSpPr>
          <p:spPr>
            <a:xfrm>
              <a:off x="537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88" name="直接连接符 2087"/>
          <p:cNvSpPr/>
          <p:nvPr/>
        </p:nvSpPr>
        <p:spPr>
          <a:xfrm>
            <a:off x="304800" y="281940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>
                <a:latin typeface="Arial" panose="020B0604020202020204" pitchFamily="34" charset="0"/>
              </a:rPr>
              <a:t>2022/10/11</a:t>
            </a:fld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2504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719263"/>
            <a:ext cx="4032504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5293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1025"/>
          <p:cNvSpPr/>
          <p:nvPr/>
        </p:nvSpPr>
        <p:spPr>
          <a:xfrm>
            <a:off x="7962900" y="152400"/>
            <a:ext cx="0" cy="1524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7" name="标题 1026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文本占位符 1027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9" name="日期占位符 1028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00"/>
            </a:lvl1pPr>
          </a:lstStyle>
          <a:p>
            <a:pPr lvl="0"/>
            <a:fld id="{BB962C8B-B14F-4D97-AF65-F5344CB8AC3E}" type="datetime1">
              <a:rPr lang="zh-CN" altLang="en-US">
                <a:latin typeface="Arial" panose="020B0604020202020204" pitchFamily="34" charset="0"/>
              </a:rPr>
              <a:t>2022/10/11</a:t>
            </a:fld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页脚占位符 1029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1" name="灯片编号占位符 1030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1032" name="组合 1031"/>
          <p:cNvGrpSpPr/>
          <p:nvPr/>
        </p:nvGrpSpPr>
        <p:grpSpPr>
          <a:xfrm>
            <a:off x="8153400" y="152400"/>
            <a:ext cx="792163" cy="1295400"/>
            <a:chOff x="0" y="0"/>
            <a:chExt cx="528" cy="864"/>
          </a:xfrm>
        </p:grpSpPr>
        <p:sp>
          <p:nvSpPr>
            <p:cNvPr id="1033" name="椭圆 1032"/>
            <p:cNvSpPr/>
            <p:nvPr/>
          </p:nvSpPr>
          <p:spPr>
            <a:xfrm>
              <a:off x="0" y="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椭圆 1033"/>
            <p:cNvSpPr/>
            <p:nvPr/>
          </p:nvSpPr>
          <p:spPr>
            <a:xfrm>
              <a:off x="112" y="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椭圆 1034"/>
            <p:cNvSpPr/>
            <p:nvPr/>
          </p:nvSpPr>
          <p:spPr>
            <a:xfrm>
              <a:off x="224" y="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椭圆 1035"/>
            <p:cNvSpPr/>
            <p:nvPr/>
          </p:nvSpPr>
          <p:spPr>
            <a:xfrm>
              <a:off x="0" y="11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椭圆 1036"/>
            <p:cNvSpPr/>
            <p:nvPr/>
          </p:nvSpPr>
          <p:spPr>
            <a:xfrm>
              <a:off x="112" y="11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椭圆 1037"/>
            <p:cNvSpPr/>
            <p:nvPr/>
          </p:nvSpPr>
          <p:spPr>
            <a:xfrm>
              <a:off x="224" y="11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" name="椭圆 1038"/>
            <p:cNvSpPr/>
            <p:nvPr/>
          </p:nvSpPr>
          <p:spPr>
            <a:xfrm>
              <a:off x="336" y="11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椭圆 1039"/>
            <p:cNvSpPr/>
            <p:nvPr/>
          </p:nvSpPr>
          <p:spPr>
            <a:xfrm>
              <a:off x="0" y="22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" name="椭圆 1040"/>
            <p:cNvSpPr/>
            <p:nvPr/>
          </p:nvSpPr>
          <p:spPr>
            <a:xfrm>
              <a:off x="112" y="22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" name="椭圆 1041"/>
            <p:cNvSpPr/>
            <p:nvPr/>
          </p:nvSpPr>
          <p:spPr>
            <a:xfrm>
              <a:off x="224" y="22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椭圆 1042"/>
            <p:cNvSpPr/>
            <p:nvPr/>
          </p:nvSpPr>
          <p:spPr>
            <a:xfrm>
              <a:off x="336" y="22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椭圆 1043"/>
            <p:cNvSpPr/>
            <p:nvPr/>
          </p:nvSpPr>
          <p:spPr>
            <a:xfrm>
              <a:off x="448" y="22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椭圆 1044"/>
            <p:cNvSpPr/>
            <p:nvPr/>
          </p:nvSpPr>
          <p:spPr>
            <a:xfrm>
              <a:off x="0" y="33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椭圆 1045"/>
            <p:cNvSpPr/>
            <p:nvPr/>
          </p:nvSpPr>
          <p:spPr>
            <a:xfrm>
              <a:off x="112" y="33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椭圆 1046"/>
            <p:cNvSpPr/>
            <p:nvPr/>
          </p:nvSpPr>
          <p:spPr>
            <a:xfrm>
              <a:off x="224" y="33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椭圆 1047"/>
            <p:cNvSpPr/>
            <p:nvPr/>
          </p:nvSpPr>
          <p:spPr>
            <a:xfrm>
              <a:off x="336" y="33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椭圆 1048"/>
            <p:cNvSpPr/>
            <p:nvPr/>
          </p:nvSpPr>
          <p:spPr>
            <a:xfrm>
              <a:off x="0" y="44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椭圆 1049"/>
            <p:cNvSpPr/>
            <p:nvPr/>
          </p:nvSpPr>
          <p:spPr>
            <a:xfrm>
              <a:off x="112" y="44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1" name="椭圆 1050"/>
            <p:cNvSpPr/>
            <p:nvPr/>
          </p:nvSpPr>
          <p:spPr>
            <a:xfrm>
              <a:off x="224" y="44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椭圆 1051"/>
            <p:cNvSpPr/>
            <p:nvPr/>
          </p:nvSpPr>
          <p:spPr>
            <a:xfrm>
              <a:off x="336" y="44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3" name="椭圆 1052"/>
            <p:cNvSpPr/>
            <p:nvPr/>
          </p:nvSpPr>
          <p:spPr>
            <a:xfrm>
              <a:off x="448" y="44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" name="椭圆 1053"/>
            <p:cNvSpPr/>
            <p:nvPr/>
          </p:nvSpPr>
          <p:spPr>
            <a:xfrm>
              <a:off x="0" y="56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椭圆 1054"/>
            <p:cNvSpPr/>
            <p:nvPr/>
          </p:nvSpPr>
          <p:spPr>
            <a:xfrm>
              <a:off x="112" y="56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椭圆 1055"/>
            <p:cNvSpPr/>
            <p:nvPr/>
          </p:nvSpPr>
          <p:spPr>
            <a:xfrm>
              <a:off x="224" y="56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7" name="椭圆 1056"/>
            <p:cNvSpPr/>
            <p:nvPr/>
          </p:nvSpPr>
          <p:spPr>
            <a:xfrm>
              <a:off x="336" y="56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8" name="椭圆 1057"/>
            <p:cNvSpPr/>
            <p:nvPr/>
          </p:nvSpPr>
          <p:spPr>
            <a:xfrm>
              <a:off x="0" y="67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" name="椭圆 1058"/>
            <p:cNvSpPr/>
            <p:nvPr/>
          </p:nvSpPr>
          <p:spPr>
            <a:xfrm>
              <a:off x="112" y="67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" name="椭圆 1059"/>
            <p:cNvSpPr/>
            <p:nvPr/>
          </p:nvSpPr>
          <p:spPr>
            <a:xfrm>
              <a:off x="224" y="67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1" name="椭圆 1060"/>
            <p:cNvSpPr/>
            <p:nvPr/>
          </p:nvSpPr>
          <p:spPr>
            <a:xfrm>
              <a:off x="336" y="67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2" name="椭圆 1061"/>
            <p:cNvSpPr/>
            <p:nvPr/>
          </p:nvSpPr>
          <p:spPr>
            <a:xfrm>
              <a:off x="112" y="78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3" name="椭圆 1062"/>
            <p:cNvSpPr/>
            <p:nvPr/>
          </p:nvSpPr>
          <p:spPr>
            <a:xfrm>
              <a:off x="336" y="78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9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92150" lvl="1" indent="-347345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87425" lvl="2" indent="-29337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81430" lvl="3" indent="-2921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98930" lvl="4" indent="-31623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7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5" Type="http://schemas.openxmlformats.org/officeDocument/2006/relationships/slide" Target="slide18.xml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4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3.xml"/><Relationship Id="rId4" Type="http://schemas.openxmlformats.org/officeDocument/2006/relationships/slide" Target="slide5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Layout" Target="../slideLayouts/slideLayout6.xml"/><Relationship Id="rId1" Type="http://schemas.openxmlformats.org/officeDocument/2006/relationships/control" Target="../activeX/activeX1.xml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4097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4  </a:t>
            </a:r>
            <a:r>
              <a:rPr lang="zh-CN" altLang="en-US"/>
              <a:t>控制转移类指令</a:t>
            </a:r>
          </a:p>
        </p:txBody>
      </p:sp>
      <p:sp>
        <p:nvSpPr>
          <p:cNvPr id="4099" name="文本占位符 4098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32019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>
                <a:latin typeface="宋体" panose="02010600030101010101" pitchFamily="2" charset="-122"/>
                <a:ea typeface="楷体" panose="02010609060101010101" pitchFamily="1" charset="-122"/>
              </a:rPr>
              <a:t>控制转移类指令</a:t>
            </a:r>
            <a:r>
              <a:rPr lang="zh-CN" altLang="en-US" sz="2400" b="1">
                <a:ea typeface="楷体" panose="02010609060101010101" pitchFamily="1" charset="-122"/>
              </a:rPr>
              <a:t>用于实现分支、循环、过程等程序结构，是仅次于传送</a:t>
            </a:r>
            <a:r>
              <a:rPr lang="zh-CN" altLang="en-US" sz="2400" b="1">
                <a:latin typeface="宋体" panose="02010600030101010101" pitchFamily="2" charset="-122"/>
                <a:ea typeface="楷体" panose="02010609060101010101" pitchFamily="1" charset="-122"/>
              </a:rPr>
              <a:t>指令的最常用指令</a:t>
            </a:r>
            <a:endParaRPr lang="zh-CN" altLang="en-US" sz="2400" b="1">
              <a:ea typeface="楷体" panose="02010609060101010101" pitchFamily="1" charset="-122"/>
            </a:endParaRPr>
          </a:p>
          <a:p>
            <a:pPr lvl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b="1">
                <a:latin typeface="宋体" panose="02010600030101010101" pitchFamily="2" charset="-122"/>
                <a:ea typeface="楷体" panose="02010609060101010101" pitchFamily="1" charset="-122"/>
              </a:rPr>
              <a:t>重点掌握：</a:t>
            </a:r>
            <a:r>
              <a:rPr lang="en-US" altLang="zh-CN" sz="2400" b="1">
                <a:solidFill>
                  <a:srgbClr val="0000FF"/>
                </a:solidFill>
              </a:rPr>
              <a:t>JMP</a:t>
            </a:r>
            <a:r>
              <a:rPr lang="zh-CN" altLang="en-US" sz="2400" b="1">
                <a:solidFill>
                  <a:srgbClr val="0000FF"/>
                </a:solidFill>
              </a:rPr>
              <a:t>、</a:t>
            </a:r>
            <a:r>
              <a:rPr lang="en-US" altLang="zh-CN" sz="2400" b="1">
                <a:solidFill>
                  <a:srgbClr val="0000FF"/>
                </a:solidFill>
              </a:rPr>
              <a:t>Jcc</a:t>
            </a:r>
            <a:r>
              <a:rPr lang="zh-CN" altLang="en-US" sz="2400" b="1">
                <a:solidFill>
                  <a:srgbClr val="0000FF"/>
                </a:solidFill>
              </a:rPr>
              <a:t>、</a:t>
            </a:r>
            <a:r>
              <a:rPr lang="en-US" altLang="zh-CN" sz="2400" b="1">
                <a:solidFill>
                  <a:srgbClr val="0000FF"/>
                </a:solidFill>
              </a:rPr>
              <a:t>LOOP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400" b="1">
                <a:solidFill>
                  <a:schemeClr val="bg2"/>
                </a:solidFill>
              </a:rPr>
              <a:t>                </a:t>
            </a:r>
            <a:r>
              <a:rPr lang="zh-CN" altLang="en-US" sz="2400" b="1">
                <a:solidFill>
                  <a:srgbClr val="0000FF"/>
                </a:solidFill>
              </a:rPr>
              <a:t>常用系统功能调用</a:t>
            </a:r>
            <a:r>
              <a:rPr lang="en-US" altLang="zh-CN" sz="2400" b="1">
                <a:solidFill>
                  <a:srgbClr val="0000FF"/>
                </a:solidFill>
              </a:rPr>
              <a:t>int21h</a:t>
            </a:r>
          </a:p>
          <a:p>
            <a:pPr lvl="1">
              <a:lnSpc>
                <a:spcPct val="130000"/>
              </a:lnSpc>
              <a:buNone/>
            </a:pPr>
            <a:r>
              <a:rPr lang="zh-CN" altLang="en-US" sz="2400" b="1">
                <a:latin typeface="宋体" panose="02010600030101010101" pitchFamily="2" charset="-122"/>
                <a:ea typeface="楷体" panose="02010609060101010101" pitchFamily="1" charset="-122"/>
              </a:rPr>
              <a:t>一般了解：</a:t>
            </a:r>
            <a:r>
              <a:rPr lang="zh-CN" altLang="en-US" sz="2000"/>
              <a:t> </a:t>
            </a:r>
            <a:r>
              <a:rPr lang="en-US" altLang="zh-CN" sz="2000"/>
              <a:t>LOOPZ</a:t>
            </a:r>
            <a:r>
              <a:rPr lang="zh-CN" altLang="en-US" sz="2000"/>
              <a:t>、</a:t>
            </a:r>
            <a:r>
              <a:rPr lang="en-US" altLang="zh-CN" sz="2000"/>
              <a:t>LOOPNZ</a:t>
            </a:r>
            <a:r>
              <a:rPr lang="zh-CN" altLang="en-US" sz="2000"/>
              <a:t>、</a:t>
            </a:r>
            <a:r>
              <a:rPr lang="en-US" altLang="zh-CN" sz="2000"/>
              <a:t>INTO</a:t>
            </a:r>
            <a:r>
              <a:rPr lang="zh-CN" altLang="en-US" sz="2000"/>
              <a:t>、</a:t>
            </a:r>
            <a:r>
              <a:rPr lang="en-US" altLang="zh-CN" sz="2000"/>
              <a:t>CALL</a:t>
            </a:r>
            <a:r>
              <a:rPr lang="zh-CN" altLang="en-US" sz="2000"/>
              <a:t>、</a:t>
            </a:r>
            <a:r>
              <a:rPr lang="en-US" altLang="zh-CN" sz="2000"/>
              <a:t>RET </a:t>
            </a:r>
            <a:r>
              <a:rPr lang="zh-CN" altLang="en-US" sz="2000"/>
              <a:t>、</a:t>
            </a:r>
            <a:r>
              <a:rPr lang="en-US" altLang="zh-CN" sz="2000"/>
              <a:t>INT n</a:t>
            </a:r>
            <a:r>
              <a:rPr lang="zh-CN" altLang="en-US" sz="2000"/>
              <a:t>、</a:t>
            </a:r>
            <a:r>
              <a:rPr lang="en-US" altLang="zh-CN" sz="2000"/>
              <a:t>IRET</a:t>
            </a:r>
            <a:r>
              <a:rPr lang="en-US" altLang="zh-CN" sz="2000">
                <a:solidFill>
                  <a:srgbClr val="FF3300"/>
                </a:solidFill>
              </a:rPr>
              <a:t> </a:t>
            </a:r>
          </a:p>
        </p:txBody>
      </p:sp>
      <p:sp>
        <p:nvSpPr>
          <p:cNvPr id="4100" name="圆角矩形 4099" descr="画布"/>
          <p:cNvSpPr/>
          <p:nvPr/>
        </p:nvSpPr>
        <p:spPr>
          <a:xfrm>
            <a:off x="685800" y="5029200"/>
            <a:ext cx="7772400" cy="1371600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just">
              <a:buBlip>
                <a:blip r:embed="rId3"/>
              </a:buBlip>
            </a:pPr>
            <a:r>
              <a:rPr lang="en-US" altLang="zh-CN" sz="3200" b="1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Arial" panose="020B0604020202020204" pitchFamily="34" charset="0"/>
              </a:rPr>
              <a:t>控制转移类指令通过改变</a:t>
            </a:r>
            <a:r>
              <a:rPr lang="en-US" altLang="zh-CN" sz="3200" b="1">
                <a:solidFill>
                  <a:srgbClr val="009900"/>
                </a:solidFill>
                <a:latin typeface="Arial" panose="020B0604020202020204" pitchFamily="34" charset="0"/>
              </a:rPr>
              <a:t>IP</a:t>
            </a:r>
            <a:r>
              <a:rPr lang="zh-CN" altLang="en-US" sz="3200" b="1">
                <a:solidFill>
                  <a:srgbClr val="0000FF"/>
                </a:solidFill>
                <a:latin typeface="Arial" panose="020B0604020202020204" pitchFamily="34" charset="0"/>
              </a:rPr>
              <a:t>（和</a:t>
            </a:r>
            <a:r>
              <a:rPr lang="en-US" altLang="zh-CN" sz="3200" b="1">
                <a:solidFill>
                  <a:srgbClr val="009900"/>
                </a:solidFill>
                <a:latin typeface="Arial" panose="020B0604020202020204" pitchFamily="34" charset="0"/>
              </a:rPr>
              <a:t>CS</a:t>
            </a:r>
            <a:r>
              <a:rPr lang="zh-CN" altLang="en-US" sz="3200" b="1">
                <a:solidFill>
                  <a:srgbClr val="0000FF"/>
                </a:solidFill>
                <a:latin typeface="Arial" panose="020B0604020202020204" pitchFamily="34" charset="0"/>
              </a:rPr>
              <a:t>）值，实现程序执行顺序的改变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512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endParaRPr/>
          </a:p>
        </p:txBody>
      </p:sp>
      <p:sp>
        <p:nvSpPr>
          <p:cNvPr id="5123" name="文本占位符 51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4.1  </a:t>
            </a:r>
            <a:r>
              <a:rPr lang="zh-CN" altLang="en-US"/>
              <a:t>无条件转移指令</a:t>
            </a:r>
            <a:r>
              <a:rPr lang="en-US" altLang="zh-CN"/>
              <a:t>JMP</a:t>
            </a:r>
          </a:p>
          <a:p>
            <a:r>
              <a:rPr lang="en-US" altLang="zh-CN"/>
              <a:t>4.2  </a:t>
            </a:r>
            <a:r>
              <a:rPr lang="zh-CN" altLang="en-US"/>
              <a:t>条件转移指令 </a:t>
            </a:r>
            <a:r>
              <a:rPr lang="en-US" altLang="zh-CN"/>
              <a:t>JCC</a:t>
            </a:r>
          </a:p>
          <a:p>
            <a:r>
              <a:rPr lang="en-US" altLang="zh-CN"/>
              <a:t>4.3  </a:t>
            </a:r>
            <a:r>
              <a:rPr lang="zh-CN" altLang="en-US"/>
              <a:t>循环指令 </a:t>
            </a:r>
            <a:r>
              <a:rPr lang="en-US" altLang="zh-CN"/>
              <a:t>LOOP   JCXZ</a:t>
            </a:r>
          </a:p>
          <a:p>
            <a:r>
              <a:rPr lang="en-US" altLang="zh-CN"/>
              <a:t>4.4~5  </a:t>
            </a:r>
            <a:r>
              <a:rPr lang="zh-CN" altLang="en-US"/>
              <a:t>子程序指令、中断指令</a:t>
            </a:r>
          </a:p>
          <a:p>
            <a:r>
              <a:rPr lang="en-US" altLang="zh-CN"/>
              <a:t>4.6  </a:t>
            </a:r>
            <a:r>
              <a:rPr lang="zh-CN" altLang="en-US"/>
              <a:t>系统功能调用  </a:t>
            </a:r>
            <a:r>
              <a:rPr lang="en-US" altLang="zh-CN"/>
              <a:t>INT 21H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614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4.1  </a:t>
            </a:r>
            <a:r>
              <a:rPr lang="zh-CN" altLang="en-US"/>
              <a:t>无条件转移指令</a:t>
            </a:r>
          </a:p>
        </p:txBody>
      </p:sp>
      <p:sp>
        <p:nvSpPr>
          <p:cNvPr id="6147" name="文本占位符 6146"/>
          <p:cNvSpPr>
            <a:spLocks noGrp="1"/>
          </p:cNvSpPr>
          <p:nvPr>
            <p:ph type="body" idx="1"/>
          </p:nvPr>
        </p:nvSpPr>
        <p:spPr>
          <a:xfrm>
            <a:off x="838200" y="2819400"/>
            <a:ext cx="7391400" cy="3657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/>
              <a:t>只要执行无条件转移指令</a:t>
            </a:r>
            <a:r>
              <a:rPr lang="en-US" altLang="zh-CN" sz="2400"/>
              <a:t>JMP</a:t>
            </a:r>
            <a:r>
              <a:rPr lang="zh-CN" altLang="en-US" sz="2400"/>
              <a:t>，就使程序转到指定的目标地址处，从目标地址处开始执行那里的指令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操作数</a:t>
            </a:r>
            <a:r>
              <a:rPr lang="en-US" altLang="zh-CN" sz="2400"/>
              <a:t>label</a:t>
            </a:r>
            <a:r>
              <a:rPr lang="zh-CN" altLang="en-US" sz="2400"/>
              <a:t>是要转移到的</a:t>
            </a:r>
            <a:r>
              <a:rPr lang="zh-CN" altLang="en-US" sz="2400">
                <a:solidFill>
                  <a:srgbClr val="009900"/>
                </a:solidFill>
              </a:rPr>
              <a:t>目标地址（目的地址、转移地址）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JMP</a:t>
            </a:r>
            <a:r>
              <a:rPr lang="zh-CN" altLang="en-US" sz="2400"/>
              <a:t>指令分成</a:t>
            </a:r>
            <a:r>
              <a:rPr lang="en-US" altLang="zh-CN" sz="2400"/>
              <a:t>4</a:t>
            </a:r>
            <a:r>
              <a:rPr lang="zh-CN" altLang="en-US" sz="2400"/>
              <a:t>种类型：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2400"/>
              <a:t>⑴  </a:t>
            </a:r>
            <a:r>
              <a:rPr lang="zh-CN" altLang="en-US" sz="2400"/>
              <a:t>段内转移、直接寻址（</a:t>
            </a:r>
            <a:r>
              <a:rPr lang="zh-CN" altLang="en-US" sz="2400">
                <a:solidFill>
                  <a:srgbClr val="FF33CC"/>
                </a:solidFill>
              </a:rPr>
              <a:t>重点掌握</a:t>
            </a:r>
            <a:r>
              <a:rPr lang="zh-CN" altLang="en-US" sz="2400"/>
              <a:t>）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2400"/>
              <a:t>⑵  </a:t>
            </a:r>
            <a:r>
              <a:rPr lang="zh-CN" altLang="en-US" sz="2400"/>
              <a:t>段内转移、间接寻址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2400"/>
              <a:t>⑶  </a:t>
            </a:r>
            <a:r>
              <a:rPr lang="zh-CN" altLang="en-US" sz="2400"/>
              <a:t>段间转移、直接寻址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2400"/>
              <a:t>⑷  </a:t>
            </a:r>
            <a:r>
              <a:rPr lang="zh-CN" altLang="en-US" sz="2400"/>
              <a:t>段间转移、间接寻址</a:t>
            </a:r>
          </a:p>
        </p:txBody>
      </p:sp>
      <p:sp>
        <p:nvSpPr>
          <p:cNvPr id="6148" name="流程图: 可选过程 6147"/>
          <p:cNvSpPr/>
          <p:nvPr/>
        </p:nvSpPr>
        <p:spPr>
          <a:xfrm>
            <a:off x="762000" y="1905000"/>
            <a:ext cx="7604125" cy="554038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  <a:tabLst>
                <a:tab pos="2089150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JMP label	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；程序转向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label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标号指定的地址</a:t>
            </a:r>
          </a:p>
        </p:txBody>
      </p:sp>
      <p:sp>
        <p:nvSpPr>
          <p:cNvPr id="6149" name="椭圆 6148" descr="DI-43"/>
          <p:cNvSpPr/>
          <p:nvPr/>
        </p:nvSpPr>
        <p:spPr>
          <a:xfrm>
            <a:off x="6705600" y="5334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JMP</a:t>
            </a:r>
          </a:p>
        </p:txBody>
      </p:sp>
    </p:spTree>
  </p:cSld>
  <p:clrMapOvr>
    <a:masterClrMapping/>
  </p:clrMapOvr>
  <p:transition>
    <p:zoom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7169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目标地址的寻址方式</a:t>
            </a:r>
          </a:p>
        </p:txBody>
      </p:sp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7466013" cy="4411663"/>
          </a:xfrm>
        </p:spPr>
        <p:txBody>
          <a:bodyPr/>
          <a:lstStyle/>
          <a:p>
            <a:r>
              <a:rPr lang="zh-CN" altLang="en-US" b="1">
                <a:solidFill>
                  <a:srgbClr val="0000FF"/>
                </a:solidFill>
                <a:ea typeface="楷体" panose="02010609060101010101" pitchFamily="1" charset="-122"/>
              </a:rPr>
              <a:t>直接寻址方式</a:t>
            </a:r>
          </a:p>
          <a:p>
            <a:pPr lvl="1"/>
            <a:r>
              <a:rPr lang="zh-CN" altLang="en-US" b="1">
                <a:ea typeface="楷体" panose="02010609060101010101" pitchFamily="1" charset="-122"/>
              </a:rPr>
              <a:t>转移地址象立即数一样，直接在指令的机器代码中，就是直接寻址方式</a:t>
            </a:r>
          </a:p>
          <a:p>
            <a:endParaRPr lang="zh-CN" altLang="en-US" b="1">
              <a:solidFill>
                <a:schemeClr val="accent2"/>
              </a:solidFill>
              <a:ea typeface="楷体" panose="02010609060101010101" pitchFamily="1" charset="-122"/>
            </a:endParaRPr>
          </a:p>
          <a:p>
            <a:r>
              <a:rPr lang="zh-CN" altLang="en-US" b="1">
                <a:solidFill>
                  <a:srgbClr val="0000FF"/>
                </a:solidFill>
                <a:ea typeface="楷体" panose="02010609060101010101" pitchFamily="1" charset="-122"/>
              </a:rPr>
              <a:t>间接寻址方式</a:t>
            </a:r>
          </a:p>
          <a:p>
            <a:pPr lvl="1"/>
            <a:r>
              <a:rPr lang="zh-CN" altLang="en-US" b="1">
                <a:ea typeface="楷体" panose="02010609060101010101" pitchFamily="1" charset="-122"/>
              </a:rPr>
              <a:t>转移地址在寄存器或主存单元中，就是通过寄存器或存储器的间接寻址方式</a:t>
            </a:r>
          </a:p>
        </p:txBody>
      </p:sp>
      <p:sp>
        <p:nvSpPr>
          <p:cNvPr id="7172" name="圆角矩形标注 7171"/>
          <p:cNvSpPr/>
          <p:nvPr/>
        </p:nvSpPr>
        <p:spPr>
          <a:xfrm>
            <a:off x="4648200" y="1524000"/>
            <a:ext cx="3200400" cy="609600"/>
          </a:xfrm>
          <a:prstGeom prst="wedgeRoundRectCallout">
            <a:avLst>
              <a:gd name="adj1" fmla="val -93454"/>
              <a:gd name="adj2" fmla="val 89843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rgbClr val="7AA3DA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2800" b="1">
                <a:solidFill>
                  <a:srgbClr val="663300"/>
                </a:solidFill>
                <a:latin typeface="Arial" panose="020B0604020202020204" pitchFamily="34" charset="0"/>
              </a:rPr>
              <a:t>用标号表达</a:t>
            </a:r>
          </a:p>
        </p:txBody>
      </p:sp>
      <p:sp>
        <p:nvSpPr>
          <p:cNvPr id="7173" name="圆角矩形标注 7172"/>
          <p:cNvSpPr/>
          <p:nvPr/>
        </p:nvSpPr>
        <p:spPr>
          <a:xfrm>
            <a:off x="5562600" y="3352800"/>
            <a:ext cx="3200400" cy="990600"/>
          </a:xfrm>
          <a:prstGeom prst="wedgeRoundRectCallout">
            <a:avLst>
              <a:gd name="adj1" fmla="val -108583"/>
              <a:gd name="adj2" fmla="val 5641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rgbClr val="7AA3DA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2800" b="1">
                <a:solidFill>
                  <a:srgbClr val="663300"/>
                </a:solidFill>
                <a:latin typeface="Arial" panose="020B0604020202020204" pitchFamily="34" charset="0"/>
              </a:rPr>
              <a:t>用寄存器或存储器操作数表达</a:t>
            </a:r>
          </a:p>
        </p:txBody>
      </p:sp>
      <p:sp>
        <p:nvSpPr>
          <p:cNvPr id="7174" name="椭圆 7173" descr="DI-43"/>
          <p:cNvSpPr/>
          <p:nvPr/>
        </p:nvSpPr>
        <p:spPr>
          <a:xfrm>
            <a:off x="6705600" y="3048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JMP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目标地址的范围：段内</a:t>
            </a: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228600" y="1600200"/>
            <a:ext cx="6781800" cy="4724400"/>
          </a:xfrm>
        </p:spPr>
        <p:txBody>
          <a:bodyPr/>
          <a:lstStyle/>
          <a:p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段内转移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——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近转移（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near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）</a:t>
            </a:r>
          </a:p>
          <a:p>
            <a:pPr lvl="1"/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在当前代码段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64KB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范围内转移（ 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±32KB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范围）</a:t>
            </a:r>
          </a:p>
          <a:p>
            <a:pPr lvl="1"/>
            <a:r>
              <a:rPr lang="zh-CN" altLang="en-US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不需要更改</a:t>
            </a:r>
            <a:r>
              <a:rPr lang="en-US" altLang="zh-CN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CS</a:t>
            </a:r>
            <a:r>
              <a:rPr lang="zh-CN" altLang="en-US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段地址，只要改变</a:t>
            </a:r>
            <a:r>
              <a:rPr lang="en-US" altLang="zh-CN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IP</a:t>
            </a:r>
            <a:r>
              <a:rPr lang="zh-CN" altLang="en-US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偏移地址</a:t>
            </a:r>
          </a:p>
          <a:p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段内转移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——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短转移（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short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）</a:t>
            </a:r>
          </a:p>
          <a:p>
            <a:pPr lvl="1"/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转移范围可以用一个字节表达，在段内－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128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～＋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127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范围的转移</a:t>
            </a:r>
          </a:p>
        </p:txBody>
      </p:sp>
      <p:grpSp>
        <p:nvGrpSpPr>
          <p:cNvPr id="8196" name="组合 8195"/>
          <p:cNvGrpSpPr/>
          <p:nvPr/>
        </p:nvGrpSpPr>
        <p:grpSpPr>
          <a:xfrm>
            <a:off x="7315200" y="1524000"/>
            <a:ext cx="1447800" cy="4419600"/>
            <a:chOff x="0" y="0"/>
            <a:chExt cx="912" cy="2784"/>
          </a:xfrm>
        </p:grpSpPr>
        <p:grpSp>
          <p:nvGrpSpPr>
            <p:cNvPr id="8197" name="组合 8196"/>
            <p:cNvGrpSpPr/>
            <p:nvPr/>
          </p:nvGrpSpPr>
          <p:grpSpPr>
            <a:xfrm>
              <a:off x="0" y="0"/>
              <a:ext cx="624" cy="2784"/>
              <a:chOff x="0" y="0"/>
              <a:chExt cx="528" cy="2688"/>
            </a:xfrm>
          </p:grpSpPr>
          <p:sp>
            <p:nvSpPr>
              <p:cNvPr id="8198" name="直接连接符 8197"/>
              <p:cNvSpPr/>
              <p:nvPr/>
            </p:nvSpPr>
            <p:spPr>
              <a:xfrm>
                <a:off x="0" y="0"/>
                <a:ext cx="0" cy="26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9" name="直接连接符 8198"/>
              <p:cNvSpPr/>
              <p:nvPr/>
            </p:nvSpPr>
            <p:spPr>
              <a:xfrm>
                <a:off x="528" y="0"/>
                <a:ext cx="0" cy="26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200" name="组合 8199"/>
            <p:cNvGrpSpPr/>
            <p:nvPr/>
          </p:nvGrpSpPr>
          <p:grpSpPr>
            <a:xfrm rot="-5400000">
              <a:off x="-180" y="1620"/>
              <a:ext cx="984" cy="624"/>
              <a:chOff x="0" y="0"/>
              <a:chExt cx="528" cy="2688"/>
            </a:xfrm>
          </p:grpSpPr>
          <p:sp>
            <p:nvSpPr>
              <p:cNvPr id="8201" name="直接连接符 8200"/>
              <p:cNvSpPr/>
              <p:nvPr/>
            </p:nvSpPr>
            <p:spPr>
              <a:xfrm>
                <a:off x="0" y="0"/>
                <a:ext cx="0" cy="2688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02" name="直接连接符 8201"/>
              <p:cNvSpPr/>
              <p:nvPr/>
            </p:nvSpPr>
            <p:spPr>
              <a:xfrm>
                <a:off x="528" y="0"/>
                <a:ext cx="0" cy="2688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203" name="右弧形箭头 8202"/>
            <p:cNvSpPr/>
            <p:nvPr/>
          </p:nvSpPr>
          <p:spPr>
            <a:xfrm flipV="1">
              <a:off x="624" y="1584"/>
              <a:ext cx="288" cy="672"/>
            </a:xfrm>
            <a:prstGeom prst="curvedLeftArrow">
              <a:avLst>
                <a:gd name="adj1" fmla="val 25440"/>
                <a:gd name="adj2" fmla="val 72107"/>
                <a:gd name="adj3" fmla="val 33333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04" name="组合 8203"/>
            <p:cNvGrpSpPr/>
            <p:nvPr/>
          </p:nvGrpSpPr>
          <p:grpSpPr>
            <a:xfrm rot="-5400000">
              <a:off x="-180" y="468"/>
              <a:ext cx="984" cy="624"/>
              <a:chOff x="0" y="0"/>
              <a:chExt cx="528" cy="2688"/>
            </a:xfrm>
          </p:grpSpPr>
          <p:sp>
            <p:nvSpPr>
              <p:cNvPr id="8205" name="直接连接符 8204"/>
              <p:cNvSpPr/>
              <p:nvPr/>
            </p:nvSpPr>
            <p:spPr>
              <a:xfrm>
                <a:off x="0" y="0"/>
                <a:ext cx="0" cy="2688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06" name="直接连接符 8205"/>
              <p:cNvSpPr/>
              <p:nvPr/>
            </p:nvSpPr>
            <p:spPr>
              <a:xfrm>
                <a:off x="528" y="0"/>
                <a:ext cx="0" cy="2688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207" name="文本框 8206"/>
            <p:cNvSpPr txBox="1"/>
            <p:nvPr/>
          </p:nvSpPr>
          <p:spPr>
            <a:xfrm>
              <a:off x="150" y="499"/>
              <a:ext cx="346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 anchorCtr="0">
              <a:spAutoFit/>
            </a:bodyPr>
            <a:lstStyle/>
            <a:p>
              <a:r>
                <a:rPr lang="zh-CN" altLang="en-US" sz="2400" b="1">
                  <a:latin typeface="Arial" panose="020B0604020202020204" pitchFamily="34" charset="0"/>
                </a:rPr>
                <a:t>代码段</a:t>
              </a:r>
            </a:p>
          </p:txBody>
        </p:sp>
        <p:sp>
          <p:nvSpPr>
            <p:cNvPr id="8208" name="文本框 8207"/>
            <p:cNvSpPr txBox="1"/>
            <p:nvPr/>
          </p:nvSpPr>
          <p:spPr>
            <a:xfrm>
              <a:off x="144" y="1632"/>
              <a:ext cx="346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 anchorCtr="0">
              <a:spAutoFit/>
            </a:bodyPr>
            <a:lstStyle/>
            <a:p>
              <a:r>
                <a:rPr lang="zh-CN" altLang="en-US" sz="2400" b="1">
                  <a:latin typeface="Arial" panose="020B0604020202020204" pitchFamily="34" charset="0"/>
                </a:rPr>
                <a:t>代码段</a:t>
              </a:r>
            </a:p>
          </p:txBody>
        </p:sp>
        <p:sp>
          <p:nvSpPr>
            <p:cNvPr id="8209" name="右弧形箭头 8208"/>
            <p:cNvSpPr/>
            <p:nvPr/>
          </p:nvSpPr>
          <p:spPr>
            <a:xfrm>
              <a:off x="624" y="384"/>
              <a:ext cx="288" cy="672"/>
            </a:xfrm>
            <a:prstGeom prst="curvedLeftArrow">
              <a:avLst>
                <a:gd name="adj1" fmla="val 25440"/>
                <a:gd name="adj2" fmla="val 72107"/>
                <a:gd name="adj3" fmla="val 33333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10" name="椭圆 8209" descr="DI-43"/>
          <p:cNvSpPr/>
          <p:nvPr/>
        </p:nvSpPr>
        <p:spPr>
          <a:xfrm>
            <a:off x="6934200" y="3810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JMP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目标地址的范围：段间</a:t>
            </a:r>
          </a:p>
        </p:txBody>
      </p:sp>
      <p:sp>
        <p:nvSpPr>
          <p:cNvPr id="9219" name="文本占位符 9218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6172200" cy="3276600"/>
          </a:xfrm>
        </p:spPr>
        <p:txBody>
          <a:bodyPr/>
          <a:lstStyle/>
          <a:p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段间转移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——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远转移（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far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）</a:t>
            </a:r>
          </a:p>
          <a:p>
            <a:pPr lvl="1"/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从当前代码段跳转到另一个代码段，可以在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1MB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范围</a:t>
            </a:r>
          </a:p>
          <a:p>
            <a:pPr lvl="1"/>
            <a:r>
              <a:rPr lang="zh-CN" altLang="en-US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需要更改</a:t>
            </a:r>
            <a:r>
              <a:rPr lang="en-US" altLang="zh-CN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CS</a:t>
            </a:r>
            <a:r>
              <a:rPr lang="zh-CN" altLang="en-US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段地址和</a:t>
            </a:r>
            <a:r>
              <a:rPr lang="en-US" altLang="zh-CN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IP</a:t>
            </a:r>
            <a:r>
              <a:rPr lang="zh-CN" altLang="en-US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偏移地址</a:t>
            </a:r>
          </a:p>
          <a:p>
            <a:pPr lvl="1"/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目标地址必须用一个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32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位数表达，叫做</a:t>
            </a:r>
            <a:r>
              <a:rPr lang="en-US" altLang="zh-CN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32</a:t>
            </a:r>
            <a:r>
              <a:rPr lang="zh-CN" altLang="en-US" b="1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位远指针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，它就是逻辑地址</a:t>
            </a:r>
          </a:p>
        </p:txBody>
      </p:sp>
      <p:grpSp>
        <p:nvGrpSpPr>
          <p:cNvPr id="9220" name="组合 9219"/>
          <p:cNvGrpSpPr/>
          <p:nvPr/>
        </p:nvGrpSpPr>
        <p:grpSpPr>
          <a:xfrm>
            <a:off x="7315200" y="1524000"/>
            <a:ext cx="990600" cy="4419600"/>
            <a:chOff x="0" y="0"/>
            <a:chExt cx="528" cy="2688"/>
          </a:xfrm>
        </p:grpSpPr>
        <p:sp>
          <p:nvSpPr>
            <p:cNvPr id="9221" name="直接连接符 9220"/>
            <p:cNvSpPr/>
            <p:nvPr/>
          </p:nvSpPr>
          <p:spPr>
            <a:xfrm>
              <a:off x="0" y="0"/>
              <a:ext cx="0" cy="26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2" name="直接连接符 9221"/>
            <p:cNvSpPr/>
            <p:nvPr/>
          </p:nvSpPr>
          <p:spPr>
            <a:xfrm>
              <a:off x="528" y="0"/>
              <a:ext cx="0" cy="26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23" name="组合 9222"/>
          <p:cNvGrpSpPr/>
          <p:nvPr/>
        </p:nvGrpSpPr>
        <p:grpSpPr>
          <a:xfrm rot="-5400000">
            <a:off x="7029450" y="4095750"/>
            <a:ext cx="1562100" cy="990600"/>
            <a:chOff x="0" y="0"/>
            <a:chExt cx="528" cy="2688"/>
          </a:xfrm>
        </p:grpSpPr>
        <p:sp>
          <p:nvSpPr>
            <p:cNvPr id="9224" name="直接连接符 9223"/>
            <p:cNvSpPr/>
            <p:nvPr/>
          </p:nvSpPr>
          <p:spPr>
            <a:xfrm>
              <a:off x="0" y="0"/>
              <a:ext cx="0" cy="2688"/>
            </a:xfrm>
            <a:prstGeom prst="line">
              <a:avLst/>
            </a:prstGeom>
            <a:ln w="28575" cap="flat" cmpd="sng">
              <a:solidFill>
                <a:srgbClr val="7AA3DA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5" name="直接连接符 9224"/>
            <p:cNvSpPr/>
            <p:nvPr/>
          </p:nvSpPr>
          <p:spPr>
            <a:xfrm>
              <a:off x="528" y="0"/>
              <a:ext cx="0" cy="2688"/>
            </a:xfrm>
            <a:prstGeom prst="line">
              <a:avLst/>
            </a:prstGeom>
            <a:ln w="28575" cap="flat" cmpd="sng">
              <a:solidFill>
                <a:srgbClr val="7AA3DA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26" name="组合 9225"/>
          <p:cNvGrpSpPr/>
          <p:nvPr/>
        </p:nvGrpSpPr>
        <p:grpSpPr>
          <a:xfrm rot="-5400000">
            <a:off x="7029450" y="2266950"/>
            <a:ext cx="1562100" cy="990600"/>
            <a:chOff x="0" y="0"/>
            <a:chExt cx="528" cy="2688"/>
          </a:xfrm>
        </p:grpSpPr>
        <p:sp>
          <p:nvSpPr>
            <p:cNvPr id="9227" name="直接连接符 9226"/>
            <p:cNvSpPr/>
            <p:nvPr/>
          </p:nvSpPr>
          <p:spPr>
            <a:xfrm>
              <a:off x="0" y="0"/>
              <a:ext cx="0" cy="2688"/>
            </a:xfrm>
            <a:prstGeom prst="line">
              <a:avLst/>
            </a:prstGeom>
            <a:ln w="28575" cap="flat" cmpd="sng">
              <a:solidFill>
                <a:srgbClr val="7AA3DA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8" name="直接连接符 9227"/>
            <p:cNvSpPr/>
            <p:nvPr/>
          </p:nvSpPr>
          <p:spPr>
            <a:xfrm>
              <a:off x="528" y="0"/>
              <a:ext cx="0" cy="2688"/>
            </a:xfrm>
            <a:prstGeom prst="line">
              <a:avLst/>
            </a:prstGeom>
            <a:ln w="28575" cap="flat" cmpd="sng">
              <a:solidFill>
                <a:srgbClr val="7AA3DA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229" name="文本框 9228"/>
          <p:cNvSpPr txBox="1"/>
          <p:nvPr/>
        </p:nvSpPr>
        <p:spPr>
          <a:xfrm>
            <a:off x="7553325" y="2316163"/>
            <a:ext cx="549275" cy="992187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lstStyle/>
          <a:p>
            <a:r>
              <a:rPr lang="zh-CN" altLang="en-US" sz="2400" b="1">
                <a:latin typeface="Arial" panose="020B0604020202020204" pitchFamily="34" charset="0"/>
              </a:rPr>
              <a:t>代码段</a:t>
            </a:r>
          </a:p>
        </p:txBody>
      </p:sp>
      <p:sp>
        <p:nvSpPr>
          <p:cNvPr id="9230" name="文本框 9229"/>
          <p:cNvSpPr txBox="1"/>
          <p:nvPr/>
        </p:nvSpPr>
        <p:spPr>
          <a:xfrm>
            <a:off x="7543800" y="4114800"/>
            <a:ext cx="549275" cy="992188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lstStyle/>
          <a:p>
            <a:r>
              <a:rPr lang="zh-CN" altLang="en-US" sz="2400" b="1">
                <a:latin typeface="Arial" panose="020B0604020202020204" pitchFamily="34" charset="0"/>
              </a:rPr>
              <a:t>代码段</a:t>
            </a:r>
          </a:p>
        </p:txBody>
      </p:sp>
      <p:sp>
        <p:nvSpPr>
          <p:cNvPr id="9231" name="右弧形箭头 9230"/>
          <p:cNvSpPr/>
          <p:nvPr/>
        </p:nvSpPr>
        <p:spPr>
          <a:xfrm>
            <a:off x="8305800" y="2514600"/>
            <a:ext cx="457200" cy="2514600"/>
          </a:xfrm>
          <a:prstGeom prst="curvedLeftArrow">
            <a:avLst>
              <a:gd name="adj1" fmla="val 30965"/>
              <a:gd name="adj2" fmla="val 140965"/>
              <a:gd name="adj3" fmla="val 5138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32" name="右弧形箭头 9231"/>
          <p:cNvSpPr/>
          <p:nvPr/>
        </p:nvSpPr>
        <p:spPr>
          <a:xfrm flipH="1" flipV="1">
            <a:off x="6858000" y="2590800"/>
            <a:ext cx="457200" cy="2514600"/>
          </a:xfrm>
          <a:prstGeom prst="curvedLeftArrow">
            <a:avLst>
              <a:gd name="adj1" fmla="val 30965"/>
              <a:gd name="adj2" fmla="val 140965"/>
              <a:gd name="adj3" fmla="val 5138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33" name="圆角矩形 9232" descr="画布"/>
          <p:cNvSpPr/>
          <p:nvPr/>
        </p:nvSpPr>
        <p:spPr>
          <a:xfrm>
            <a:off x="0" y="5257800"/>
            <a:ext cx="9144000" cy="1600200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just">
              <a:buBlip>
                <a:blip r:embed="rId3"/>
              </a:buBlip>
            </a:pPr>
            <a:r>
              <a:rPr lang="en-US" altLang="zh-CN" sz="32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1">
                <a:solidFill>
                  <a:schemeClr val="accent2"/>
                </a:solidFill>
                <a:latin typeface="Arial" panose="020B0604020202020204" pitchFamily="34" charset="0"/>
              </a:rPr>
              <a:t>实际编程时，汇编程序会根据目标地址的距离，</a:t>
            </a:r>
            <a:r>
              <a:rPr lang="zh-CN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自动处理</a:t>
            </a:r>
            <a:r>
              <a:rPr lang="zh-CN" altLang="en-US" sz="2800" b="1">
                <a:solidFill>
                  <a:schemeClr val="accent2"/>
                </a:solidFill>
                <a:latin typeface="Arial" panose="020B0604020202020204" pitchFamily="34" charset="0"/>
              </a:rPr>
              <a:t>成短转移、近转移或远转移</a:t>
            </a:r>
          </a:p>
          <a:p>
            <a:pPr algn="just">
              <a:lnSpc>
                <a:spcPct val="120000"/>
              </a:lnSpc>
              <a:buBlip>
                <a:blip r:embed="rId3"/>
              </a:buBlip>
            </a:pPr>
            <a:r>
              <a:rPr lang="zh-CN" altLang="en-US" sz="2800" b="1">
                <a:solidFill>
                  <a:schemeClr val="accent2"/>
                </a:solidFill>
                <a:latin typeface="Arial" panose="020B0604020202020204" pitchFamily="34" charset="0"/>
              </a:rPr>
              <a:t> 程序员可用操作符</a:t>
            </a:r>
            <a:r>
              <a:rPr lang="en-US" altLang="zh-CN" sz="2800" b="1">
                <a:solidFill>
                  <a:schemeClr val="accent2"/>
                </a:solidFill>
                <a:latin typeface="Arial" panose="020B0604020202020204" pitchFamily="34" charset="0"/>
              </a:rPr>
              <a:t>short</a:t>
            </a:r>
            <a:r>
              <a:rPr lang="zh-CN" altLang="en-US" sz="2800" b="1">
                <a:solidFill>
                  <a:schemeClr val="accent2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800" b="1">
                <a:solidFill>
                  <a:schemeClr val="accent2"/>
                </a:solidFill>
                <a:latin typeface="Arial" panose="020B0604020202020204" pitchFamily="34" charset="0"/>
              </a:rPr>
              <a:t>near ptr </a:t>
            </a:r>
            <a:r>
              <a:rPr lang="zh-CN" altLang="en-US" sz="2800" b="1">
                <a:solidFill>
                  <a:schemeClr val="accent2"/>
                </a:solidFill>
                <a:latin typeface="Arial" panose="020B0604020202020204" pitchFamily="34" charset="0"/>
              </a:rPr>
              <a:t>或</a:t>
            </a:r>
            <a:r>
              <a:rPr lang="en-US" altLang="zh-CN" sz="2800" b="1">
                <a:solidFill>
                  <a:schemeClr val="accent2"/>
                </a:solidFill>
                <a:latin typeface="Arial" panose="020B0604020202020204" pitchFamily="34" charset="0"/>
              </a:rPr>
              <a:t>far ptr </a:t>
            </a:r>
            <a:r>
              <a:rPr lang="zh-CN" altLang="en-US" sz="2800" b="1">
                <a:solidFill>
                  <a:schemeClr val="accent2"/>
                </a:solidFill>
                <a:latin typeface="Arial" panose="020B0604020202020204" pitchFamily="34" charset="0"/>
              </a:rPr>
              <a:t>强制</a:t>
            </a:r>
          </a:p>
        </p:txBody>
      </p:sp>
      <p:sp>
        <p:nvSpPr>
          <p:cNvPr id="9234" name="椭圆 9233" descr="DI-43"/>
          <p:cNvSpPr/>
          <p:nvPr/>
        </p:nvSpPr>
        <p:spPr>
          <a:xfrm>
            <a:off x="6858000" y="381000"/>
            <a:ext cx="914400" cy="914400"/>
          </a:xfrm>
          <a:prstGeom prst="ellipse">
            <a:avLst/>
          </a:prstGeom>
          <a:blipFill rotWithShape="0">
            <a:blip r:embed="rId4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JMP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椭圆 10241" descr="DI-43">
            <a:hlinkClick r:id="" action="ppaction://noaction"/>
          </p:cNvPr>
          <p:cNvSpPr/>
          <p:nvPr/>
        </p:nvSpPr>
        <p:spPr>
          <a:xfrm>
            <a:off x="6858000" y="2286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JMP</a:t>
            </a:r>
          </a:p>
        </p:txBody>
      </p:sp>
      <p:sp>
        <p:nvSpPr>
          <p:cNvPr id="10243" name="标题 10242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sz="3500"/>
              <a:t>段内转移、直接寻址</a:t>
            </a:r>
          </a:p>
        </p:txBody>
      </p:sp>
      <p:sp>
        <p:nvSpPr>
          <p:cNvPr id="10244" name="文本占位符 10243"/>
          <p:cNvSpPr>
            <a:spLocks noGrp="1"/>
          </p:cNvSpPr>
          <p:nvPr>
            <p:ph type="body" idx="1"/>
          </p:nvPr>
        </p:nvSpPr>
        <p:spPr>
          <a:xfrm>
            <a:off x="381000" y="2057400"/>
            <a:ext cx="8458200" cy="4267200"/>
          </a:xfrm>
        </p:spPr>
        <p:txBody>
          <a:bodyPr/>
          <a:lstStyle/>
          <a:p>
            <a:pPr marL="0" indent="390525" defTabSz="914400">
              <a:buNone/>
              <a:tabLst>
                <a:tab pos="1914525" algn="l"/>
                <a:tab pos="4478655" algn="l"/>
              </a:tabLst>
            </a:pP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JMP label	；IP←IP+位移量</a:t>
            </a:r>
          </a:p>
          <a:p>
            <a:pPr marL="0" indent="390525" defTabSz="914400">
              <a:tabLst>
                <a:tab pos="1914525" algn="l"/>
                <a:tab pos="4478655" algn="l"/>
              </a:tabLst>
            </a:pPr>
            <a:r>
              <a:rPr lang="zh-CN" altLang="en-US" sz="2400" b="1" dirty="0">
                <a:latin typeface="楷体" panose="02010609060101010101" pitchFamily="1" charset="-122"/>
                <a:ea typeface="楷体" panose="02010609060101010101" pitchFamily="1" charset="-122"/>
              </a:rPr>
              <a:t>位移量是紧接着JMP指令后的那条指令的偏移地址，到目标指令的偏移地址的地址位移</a:t>
            </a:r>
          </a:p>
          <a:p>
            <a:pPr marL="0" indent="390525" defTabSz="914400">
              <a:tabLst>
                <a:tab pos="1914525" algn="l"/>
                <a:tab pos="4478655" algn="l"/>
              </a:tabLst>
            </a:pPr>
            <a:r>
              <a:rPr lang="zh-CN" altLang="en-US" sz="2400" b="1" dirty="0">
                <a:latin typeface="楷体" panose="02010609060101010101" pitchFamily="1" charset="-122"/>
                <a:ea typeface="楷体" panose="02010609060101010101" pitchFamily="1" charset="-122"/>
              </a:rPr>
              <a:t>当向地址增大方向转移时，位移量为正；向地址减小方向转移时，位移量为负</a:t>
            </a:r>
          </a:p>
          <a:p>
            <a:pPr marL="0" indent="390525" defTabSz="914400">
              <a:lnSpc>
                <a:spcPct val="80000"/>
              </a:lnSpc>
              <a:spcBef>
                <a:spcPct val="50000"/>
              </a:spcBef>
              <a:buNone/>
              <a:tabLst>
                <a:tab pos="1914525" algn="l"/>
                <a:tab pos="4478655" algn="l"/>
              </a:tabLst>
            </a:pP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solidFill>
                  <a:srgbClr val="009900"/>
                </a:solidFill>
                <a:latin typeface="宋体" panose="02010600030101010101" pitchFamily="2" charset="-122"/>
              </a:rPr>
              <a:t>jmp</a:t>
            </a: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100" dirty="0">
                <a:solidFill>
                  <a:schemeClr val="tx2"/>
                </a:solidFill>
                <a:latin typeface="宋体" panose="02010600030101010101" pitchFamily="2" charset="-122"/>
              </a:rPr>
              <a:t>again</a:t>
            </a: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1900" dirty="0">
                <a:latin typeface="宋体" panose="02010600030101010101" pitchFamily="2" charset="-122"/>
              </a:rPr>
              <a:t>；转移到again处继续执行</a:t>
            </a:r>
          </a:p>
          <a:p>
            <a:pPr marL="0" indent="390525" defTabSz="914400">
              <a:lnSpc>
                <a:spcPct val="20000"/>
              </a:lnSpc>
              <a:buNone/>
              <a:tabLst>
                <a:tab pos="1914525" algn="l"/>
                <a:tab pos="4478655" algn="l"/>
              </a:tabLst>
            </a:pP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solidFill>
                  <a:schemeClr val="accent2"/>
                </a:solidFill>
                <a:latin typeface="Courier New" panose="02070309020205020404" pitchFamily="1" charset="0"/>
              </a:rPr>
              <a:t>……</a:t>
            </a:r>
            <a:endParaRPr lang="zh-CN" altLang="en-US" sz="2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80000"/>
              </a:lnSpc>
              <a:buNone/>
              <a:tabLst>
                <a:tab pos="1914525" algn="l"/>
                <a:tab pos="4478655" algn="l"/>
              </a:tabLst>
            </a:pPr>
            <a:r>
              <a:rPr lang="zh-CN" altLang="en-US" sz="2100" dirty="0">
                <a:solidFill>
                  <a:schemeClr val="tx2"/>
                </a:solidFill>
                <a:latin typeface="宋体" panose="02010600030101010101" pitchFamily="2" charset="-122"/>
              </a:rPr>
              <a:t>again:</a:t>
            </a: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dec cx</a:t>
            </a: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latin typeface="宋体" panose="02010600030101010101" pitchFamily="2" charset="-122"/>
              </a:rPr>
              <a:t>；标号again的指令</a:t>
            </a:r>
            <a:endParaRPr lang="zh-CN" altLang="en-US" sz="1900" dirty="0"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30000"/>
              </a:lnSpc>
              <a:buNone/>
              <a:tabLst>
                <a:tab pos="1914525" algn="l"/>
                <a:tab pos="4478655" algn="l"/>
              </a:tabLst>
            </a:pP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solidFill>
                  <a:schemeClr val="accent2"/>
                </a:solidFill>
                <a:latin typeface="Courier New" panose="02070309020205020404" pitchFamily="1" charset="0"/>
              </a:rPr>
              <a:t>……</a:t>
            </a:r>
            <a:endParaRPr lang="zh-CN" altLang="en-US" sz="2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80000"/>
              </a:lnSpc>
              <a:buNone/>
              <a:tabLst>
                <a:tab pos="1914525" algn="l"/>
                <a:tab pos="4478655" algn="l"/>
              </a:tabLst>
            </a:pP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solidFill>
                  <a:srgbClr val="009900"/>
                </a:solidFill>
                <a:latin typeface="宋体" panose="02010600030101010101" pitchFamily="2" charset="-122"/>
              </a:rPr>
              <a:t>jmp</a:t>
            </a: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100" dirty="0">
                <a:solidFill>
                  <a:schemeClr val="tx2"/>
                </a:solidFill>
                <a:latin typeface="宋体" panose="02010600030101010101" pitchFamily="2" charset="-122"/>
              </a:rPr>
              <a:t>output</a:t>
            </a: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1900" dirty="0">
                <a:latin typeface="宋体" panose="02010600030101010101" pitchFamily="2" charset="-122"/>
              </a:rPr>
              <a:t>；转向output</a:t>
            </a:r>
            <a:endParaRPr lang="zh-CN" altLang="en-US" sz="2100" dirty="0"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20000"/>
              </a:lnSpc>
              <a:buNone/>
              <a:tabLst>
                <a:tab pos="1914525" algn="l"/>
                <a:tab pos="4478655" algn="l"/>
              </a:tabLst>
            </a:pP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solidFill>
                  <a:schemeClr val="accent2"/>
                </a:solidFill>
                <a:latin typeface="Courier New" panose="02070309020205020404" pitchFamily="1" charset="0"/>
              </a:rPr>
              <a:t>……</a:t>
            </a:r>
            <a:endParaRPr lang="zh-CN" altLang="en-US" sz="2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80000"/>
              </a:lnSpc>
              <a:buNone/>
              <a:tabLst>
                <a:tab pos="1914525" algn="l"/>
                <a:tab pos="4478655" algn="l"/>
              </a:tabLst>
            </a:pPr>
            <a:r>
              <a:rPr lang="zh-CN" altLang="en-US" sz="2100" dirty="0">
                <a:solidFill>
                  <a:schemeClr val="tx2"/>
                </a:solidFill>
                <a:latin typeface="宋体" panose="02010600030101010101" pitchFamily="2" charset="-122"/>
              </a:rPr>
              <a:t>output:</a:t>
            </a: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mov result,al</a:t>
            </a: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1900" dirty="0">
                <a:latin typeface="宋体" panose="02010600030101010101" pitchFamily="2" charset="-122"/>
              </a:rPr>
              <a:t>；标号output的指令</a:t>
            </a:r>
            <a:endParaRPr lang="zh-CN" altLang="en-US" sz="2600" dirty="0"/>
          </a:p>
        </p:txBody>
      </p:sp>
      <p:sp>
        <p:nvSpPr>
          <p:cNvPr id="10245" name="圆角矩形标注 10244"/>
          <p:cNvSpPr/>
          <p:nvPr/>
        </p:nvSpPr>
        <p:spPr>
          <a:xfrm>
            <a:off x="5867400" y="1752600"/>
            <a:ext cx="2520950" cy="504825"/>
          </a:xfrm>
          <a:prstGeom prst="wedgeRoundRectCallout">
            <a:avLst>
              <a:gd name="adj1" fmla="val -83565"/>
              <a:gd name="adj2" fmla="val 43083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rgbClr val="7AA3DA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2400" b="1">
                <a:solidFill>
                  <a:srgbClr val="663300"/>
                </a:solidFill>
                <a:latin typeface="Arial" panose="020B0604020202020204" pitchFamily="34" charset="0"/>
              </a:rPr>
              <a:t>实际为相对寻址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sz="3500"/>
              <a:t>段内转移、间接寻址</a:t>
            </a:r>
          </a:p>
        </p:txBody>
      </p:sp>
      <p:sp>
        <p:nvSpPr>
          <p:cNvPr id="11267" name="文本占位符 11266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8001000" cy="3962400"/>
          </a:xfrm>
        </p:spPr>
        <p:txBody>
          <a:bodyPr/>
          <a:lstStyle/>
          <a:p>
            <a:pPr marL="0" indent="390525" defTabSz="914400">
              <a:buNone/>
              <a:tabLst>
                <a:tab pos="1914525" algn="l"/>
                <a:tab pos="4762500" algn="l"/>
              </a:tabLst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JMP r16/m16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</a:rPr>
              <a:t> 	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IP←r16/m16</a:t>
            </a:r>
          </a:p>
          <a:p>
            <a:pPr marL="0" indent="390525" defTabSz="914400">
              <a:tabLst>
                <a:tab pos="1914525" algn="l"/>
                <a:tab pos="4762500" algn="l"/>
              </a:tabLst>
            </a:pPr>
            <a:r>
              <a:rPr lang="zh-CN" altLang="en-US" sz="2600">
                <a:latin typeface="宋体" panose="02010600030101010101" pitchFamily="2" charset="-122"/>
              </a:rPr>
              <a:t>将一个</a:t>
            </a:r>
            <a:r>
              <a:rPr lang="en-US" altLang="zh-CN" sz="2600">
                <a:latin typeface="宋体" panose="02010600030101010101" pitchFamily="2" charset="-122"/>
              </a:rPr>
              <a:t>16</a:t>
            </a:r>
            <a:r>
              <a:rPr lang="zh-CN" altLang="en-US" sz="2600">
                <a:latin typeface="宋体" panose="02010600030101010101" pitchFamily="2" charset="-122"/>
              </a:rPr>
              <a:t>位寄存器或主存字单元内容送入</a:t>
            </a:r>
            <a:r>
              <a:rPr lang="en-US" altLang="zh-CN" sz="2600">
                <a:latin typeface="宋体" panose="02010600030101010101" pitchFamily="2" charset="-122"/>
              </a:rPr>
              <a:t>IP</a:t>
            </a:r>
            <a:r>
              <a:rPr lang="zh-CN" altLang="en-US" sz="2600">
                <a:latin typeface="宋体" panose="02010600030101010101" pitchFamily="2" charset="-122"/>
              </a:rPr>
              <a:t>寄存器，作为新的指令指针，但不修改</a:t>
            </a:r>
            <a:r>
              <a:rPr lang="en-US" altLang="zh-CN" sz="2600">
                <a:latin typeface="宋体" panose="02010600030101010101" pitchFamily="2" charset="-122"/>
              </a:rPr>
              <a:t>CS</a:t>
            </a:r>
            <a:r>
              <a:rPr lang="zh-CN" altLang="en-US" sz="2600">
                <a:latin typeface="宋体" panose="02010600030101010101" pitchFamily="2" charset="-122"/>
              </a:rPr>
              <a:t>寄存器的内容</a:t>
            </a:r>
          </a:p>
          <a:p>
            <a:pPr marL="0" indent="390525" defTabSz="914400">
              <a:spcBef>
                <a:spcPct val="50000"/>
              </a:spcBef>
              <a:buNone/>
              <a:tabLst>
                <a:tab pos="1914525" algn="l"/>
                <a:tab pos="4762500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jmp ax</a:t>
            </a:r>
            <a:r>
              <a:rPr lang="en-US" altLang="zh-CN" sz="2600">
                <a:solidFill>
                  <a:schemeClr val="bg2"/>
                </a:solidFill>
                <a:latin typeface="宋体" panose="02010600030101010101" pitchFamily="2" charset="-122"/>
              </a:rPr>
              <a:t>		</a:t>
            </a:r>
            <a:r>
              <a:rPr lang="zh-CN" altLang="en-US" sz="260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IP←AX</a:t>
            </a:r>
          </a:p>
          <a:p>
            <a:pPr marL="0" indent="390525" defTabSz="914400">
              <a:buNone/>
              <a:tabLst>
                <a:tab pos="1914525" algn="l"/>
                <a:tab pos="4762500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jmp word ptr [2000h]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IP←[2000h]</a:t>
            </a:r>
            <a:r>
              <a:rPr lang="en-US" altLang="zh-CN" sz="260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endParaRPr lang="en-US" altLang="zh-CN"/>
          </a:p>
        </p:txBody>
      </p:sp>
      <p:sp>
        <p:nvSpPr>
          <p:cNvPr id="11268" name="椭圆 11267" descr="DI-43">
            <a:hlinkClick r:id="" action="ppaction://noaction"/>
          </p:cNvPr>
          <p:cNvSpPr/>
          <p:nvPr/>
        </p:nvSpPr>
        <p:spPr>
          <a:xfrm>
            <a:off x="6781800" y="4572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JMP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sz="3500"/>
              <a:t>段间转移、直接寻址</a:t>
            </a:r>
          </a:p>
        </p:txBody>
      </p:sp>
      <p:sp>
        <p:nvSpPr>
          <p:cNvPr id="12291" name="文本占位符 12290"/>
          <p:cNvSpPr>
            <a:spLocks noGrp="1"/>
          </p:cNvSpPr>
          <p:nvPr>
            <p:ph type="body" idx="1"/>
          </p:nvPr>
        </p:nvSpPr>
        <p:spPr>
          <a:xfrm>
            <a:off x="304800" y="1981200"/>
            <a:ext cx="8382000" cy="4114800"/>
          </a:xfrm>
        </p:spPr>
        <p:txBody>
          <a:bodyPr/>
          <a:lstStyle/>
          <a:p>
            <a:pPr marL="0" indent="390525" defTabSz="914400">
              <a:buNone/>
              <a:tabLst>
                <a:tab pos="1914525" algn="l"/>
                <a:tab pos="4478655" algn="l"/>
              </a:tabLst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JMP far ptr label</a:t>
            </a:r>
          </a:p>
          <a:p>
            <a:pPr marL="0" indent="390525" defTabSz="914400">
              <a:buNone/>
              <a:tabLst>
                <a:tab pos="1914525" algn="l"/>
                <a:tab pos="4478655" algn="l"/>
              </a:tabLst>
            </a:pP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b="1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solidFill>
                  <a:srgbClr val="009900"/>
                </a:solidFill>
                <a:latin typeface="宋体" panose="02010600030101010101" pitchFamily="2" charset="-122"/>
              </a:rPr>
              <a:t>IP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←label</a:t>
            </a:r>
            <a:r>
              <a:rPr lang="zh-CN" altLang="en-US" sz="2600" b="1">
                <a:solidFill>
                  <a:srgbClr val="0000FF"/>
                </a:solidFill>
                <a:latin typeface="宋体" panose="02010600030101010101" pitchFamily="2" charset="-122"/>
              </a:rPr>
              <a:t>的偏移地址</a:t>
            </a:r>
          </a:p>
          <a:p>
            <a:pPr marL="0" indent="390525" defTabSz="914400">
              <a:buNone/>
              <a:tabLst>
                <a:tab pos="1914525" algn="l"/>
                <a:tab pos="4478655" algn="l"/>
              </a:tabLst>
            </a:pPr>
            <a:r>
              <a:rPr lang="zh-CN" altLang="en-US" sz="2600" b="1">
                <a:solidFill>
                  <a:srgbClr val="0000FF"/>
                </a:solidFill>
                <a:latin typeface="宋体" panose="02010600030101010101" pitchFamily="2" charset="-122"/>
              </a:rPr>
              <a:t>	；</a:t>
            </a:r>
            <a:r>
              <a:rPr lang="en-US" altLang="zh-CN" sz="2600" b="1">
                <a:solidFill>
                  <a:srgbClr val="009900"/>
                </a:solidFill>
                <a:latin typeface="宋体" panose="02010600030101010101" pitchFamily="2" charset="-122"/>
              </a:rPr>
              <a:t>CS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←label</a:t>
            </a:r>
            <a:r>
              <a:rPr lang="zh-CN" altLang="en-US" sz="2600" b="1">
                <a:solidFill>
                  <a:srgbClr val="0000FF"/>
                </a:solidFill>
                <a:latin typeface="宋体" panose="02010600030101010101" pitchFamily="2" charset="-122"/>
              </a:rPr>
              <a:t>的段地址</a:t>
            </a:r>
          </a:p>
          <a:p>
            <a:pPr marL="0" indent="390525" defTabSz="914400">
              <a:spcBef>
                <a:spcPct val="50000"/>
              </a:spcBef>
              <a:tabLst>
                <a:tab pos="1914525" algn="l"/>
                <a:tab pos="4478655" algn="l"/>
              </a:tabLst>
            </a:pPr>
            <a:r>
              <a:rPr lang="zh-CN" altLang="en-US" sz="2600"/>
              <a:t>将标号所在段的段地址作为新的</a:t>
            </a:r>
            <a:r>
              <a:rPr lang="en-US" altLang="zh-CN" sz="2600"/>
              <a:t>CS</a:t>
            </a:r>
            <a:r>
              <a:rPr lang="zh-CN" altLang="en-US" sz="2600"/>
              <a:t>值，标号在该段内的偏移地址作为新的</a:t>
            </a:r>
            <a:r>
              <a:rPr lang="en-US" altLang="zh-CN" sz="2600"/>
              <a:t>IP</a:t>
            </a:r>
            <a:r>
              <a:rPr lang="zh-CN" altLang="en-US" sz="2600"/>
              <a:t>值；这样，程序跳转到新的代码段执行</a:t>
            </a:r>
          </a:p>
          <a:p>
            <a:pPr marL="0" indent="390525" defTabSz="914400">
              <a:spcBef>
                <a:spcPct val="50000"/>
              </a:spcBef>
              <a:buNone/>
              <a:tabLst>
                <a:tab pos="1914525" algn="l"/>
                <a:tab pos="447865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jmp far ptr otherseg</a:t>
            </a:r>
          </a:p>
          <a:p>
            <a:pPr marL="0" indent="390525" defTabSz="914400">
              <a:lnSpc>
                <a:spcPct val="80000"/>
              </a:lnSpc>
              <a:buNone/>
              <a:tabLst>
                <a:tab pos="1914525" algn="l"/>
                <a:tab pos="4478655" algn="l"/>
              </a:tabLst>
            </a:pP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>
                <a:latin typeface="宋体" panose="02010600030101010101" pitchFamily="2" charset="-122"/>
              </a:rPr>
              <a:t>；远转移到代码段</a:t>
            </a:r>
            <a:r>
              <a:rPr lang="en-US" altLang="zh-CN" sz="2600">
                <a:latin typeface="宋体" panose="02010600030101010101" pitchFamily="2" charset="-122"/>
              </a:rPr>
              <a:t>2</a:t>
            </a:r>
            <a:r>
              <a:rPr lang="zh-CN" altLang="en-US" sz="2600">
                <a:latin typeface="宋体" panose="02010600030101010101" pitchFamily="2" charset="-122"/>
              </a:rPr>
              <a:t>的</a:t>
            </a:r>
            <a:r>
              <a:rPr lang="en-US" altLang="zh-CN" sz="2600">
                <a:latin typeface="宋体" panose="02010600030101010101" pitchFamily="2" charset="-122"/>
              </a:rPr>
              <a:t>otherseg</a:t>
            </a:r>
          </a:p>
        </p:txBody>
      </p:sp>
      <p:sp>
        <p:nvSpPr>
          <p:cNvPr id="12292" name="椭圆 12291" descr="DI-43">
            <a:hlinkClick r:id="" action="ppaction://noaction"/>
          </p:cNvPr>
          <p:cNvSpPr/>
          <p:nvPr/>
        </p:nvSpPr>
        <p:spPr>
          <a:xfrm>
            <a:off x="6858000" y="3810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JMP</a:t>
            </a: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sz="3500"/>
              <a:t>段间转移、间接寻址</a:t>
            </a:r>
          </a:p>
        </p:txBody>
      </p:sp>
      <p:sp>
        <p:nvSpPr>
          <p:cNvPr id="13315" name="文本占位符 13314"/>
          <p:cNvSpPr>
            <a:spLocks noGrp="1"/>
          </p:cNvSpPr>
          <p:nvPr>
            <p:ph type="body" idx="1"/>
          </p:nvPr>
        </p:nvSpPr>
        <p:spPr>
          <a:xfrm>
            <a:off x="381000" y="2286000"/>
            <a:ext cx="8077200" cy="3886200"/>
          </a:xfrm>
        </p:spPr>
        <p:txBody>
          <a:bodyPr/>
          <a:lstStyle/>
          <a:p>
            <a:pPr marL="0" indent="390525" defTabSz="914400">
              <a:lnSpc>
                <a:spcPct val="90000"/>
              </a:lnSpc>
              <a:buNone/>
              <a:tabLst>
                <a:tab pos="1338580" algn="l"/>
                <a:tab pos="447865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JMP far ptr mem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1338580" algn="l"/>
                <a:tab pos="4478655" algn="l"/>
              </a:tabLst>
            </a:pP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IP←[mem]</a:t>
            </a:r>
            <a:r>
              <a:rPr lang="zh-CN" altLang="en-US" sz="2600">
                <a:solidFill>
                  <a:srgbClr val="0099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CS←[mem+2]</a:t>
            </a:r>
          </a:p>
          <a:p>
            <a:pPr marL="0" indent="390525" defTabSz="914400">
              <a:lnSpc>
                <a:spcPct val="90000"/>
              </a:lnSpc>
              <a:tabLst>
                <a:tab pos="1338580" algn="l"/>
                <a:tab pos="4478655" algn="l"/>
              </a:tabLst>
            </a:pPr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用一个双字存储单元表示要跳转的目标地址。这个目标地址存放在主存中连续的两个字单元中的，低位字送</a:t>
            </a:r>
            <a:r>
              <a:rPr lang="en-US" altLang="zh-CN" sz="2600" b="1">
                <a:latin typeface="楷体" panose="02010609060101010101" pitchFamily="1" charset="-122"/>
                <a:ea typeface="楷体" panose="02010609060101010101" pitchFamily="1" charset="-122"/>
              </a:rPr>
              <a:t>IP</a:t>
            </a:r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寄存器，高位字送</a:t>
            </a:r>
            <a:r>
              <a:rPr lang="en-US" altLang="zh-CN" sz="2600" b="1">
                <a:latin typeface="楷体" panose="02010609060101010101" pitchFamily="1" charset="-122"/>
                <a:ea typeface="楷体" panose="02010609060101010101" pitchFamily="1" charset="-122"/>
              </a:rPr>
              <a:t>CS</a:t>
            </a:r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寄存器</a:t>
            </a:r>
          </a:p>
          <a:p>
            <a:pPr marL="0" indent="390525" defTabSz="914400">
              <a:lnSpc>
                <a:spcPct val="90000"/>
              </a:lnSpc>
              <a:spcBef>
                <a:spcPct val="50000"/>
              </a:spcBef>
              <a:buNone/>
              <a:tabLst>
                <a:tab pos="1338580" algn="l"/>
                <a:tab pos="447865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mov word ptr [bx],0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1338580" algn="l"/>
                <a:tab pos="447865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mov word ptr [bx+2],1500h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1338580" algn="l"/>
                <a:tab pos="4478655" algn="l"/>
              </a:tabLst>
            </a:pP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JMP far ptr [bx]</a:t>
            </a:r>
            <a:r>
              <a:rPr lang="en-US" altLang="zh-CN" sz="2100">
                <a:solidFill>
                  <a:schemeClr val="bg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100">
                <a:latin typeface="宋体" panose="02010600030101010101" pitchFamily="2" charset="-122"/>
              </a:rPr>
              <a:t>；转移到</a:t>
            </a:r>
            <a:r>
              <a:rPr lang="en-US" altLang="zh-CN" sz="2100">
                <a:latin typeface="宋体" panose="02010600030101010101" pitchFamily="2" charset="-122"/>
              </a:rPr>
              <a:t>1500h:0</a:t>
            </a:r>
          </a:p>
        </p:txBody>
      </p:sp>
      <p:sp>
        <p:nvSpPr>
          <p:cNvPr id="13316" name="椭圆 13315" descr="DI-43">
            <a:hlinkClick r:id="" action="ppaction://noaction"/>
          </p:cNvPr>
          <p:cNvSpPr/>
          <p:nvPr/>
        </p:nvSpPr>
        <p:spPr>
          <a:xfrm>
            <a:off x="6858000" y="3810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JMP</a:t>
            </a: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4.2  </a:t>
            </a:r>
            <a:r>
              <a:rPr lang="zh-CN" altLang="en-US"/>
              <a:t>条件转移指令</a:t>
            </a:r>
          </a:p>
        </p:txBody>
      </p:sp>
      <p:sp>
        <p:nvSpPr>
          <p:cNvPr id="14339" name="文本占位符 14338"/>
          <p:cNvSpPr>
            <a:spLocks noGrp="1"/>
          </p:cNvSpPr>
          <p:nvPr>
            <p:ph type="body" idx="1"/>
          </p:nvPr>
        </p:nvSpPr>
        <p:spPr>
          <a:xfrm>
            <a:off x="533400" y="3886200"/>
            <a:ext cx="7696200" cy="2057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指定的条件</a:t>
            </a:r>
            <a:r>
              <a:rPr lang="en-US" altLang="zh-CN" sz="2600" b="1">
                <a:latin typeface="楷体" panose="02010609060101010101" pitchFamily="1" charset="-122"/>
                <a:ea typeface="楷体" panose="02010609060101010101" pitchFamily="1" charset="-122"/>
              </a:rPr>
              <a:t>cc</a:t>
            </a:r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如果成立，程序转移到由标号</a:t>
            </a:r>
            <a:r>
              <a:rPr lang="en-US" altLang="zh-CN" sz="2600" b="1">
                <a:latin typeface="楷体" panose="02010609060101010101" pitchFamily="1" charset="-122"/>
                <a:ea typeface="楷体" panose="02010609060101010101" pitchFamily="1" charset="-122"/>
              </a:rPr>
              <a:t>label</a:t>
            </a:r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指定的目标地址去执行指令；条件不成立，则程序将顺序执行下一条指令</a:t>
            </a:r>
          </a:p>
          <a:p>
            <a:pPr>
              <a:lnSpc>
                <a:spcPct val="90000"/>
              </a:lnSpc>
            </a:pPr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操作数</a:t>
            </a:r>
            <a:r>
              <a:rPr lang="en-US" altLang="zh-CN" sz="2600" b="1">
                <a:latin typeface="楷体" panose="02010609060101010101" pitchFamily="1" charset="-122"/>
                <a:ea typeface="楷体" panose="02010609060101010101" pitchFamily="1" charset="-122"/>
              </a:rPr>
              <a:t>label</a:t>
            </a:r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是采用短转移，称为相对寻址方式</a:t>
            </a:r>
          </a:p>
        </p:txBody>
      </p:sp>
      <p:sp>
        <p:nvSpPr>
          <p:cNvPr id="14340" name="椭圆 14339" descr="DI-43"/>
          <p:cNvSpPr/>
          <p:nvPr/>
        </p:nvSpPr>
        <p:spPr>
          <a:xfrm>
            <a:off x="6781800" y="2286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Jcc</a:t>
            </a:r>
          </a:p>
        </p:txBody>
      </p:sp>
      <p:sp>
        <p:nvSpPr>
          <p:cNvPr id="14341" name="流程图: 可选过程 14340"/>
          <p:cNvSpPr/>
          <p:nvPr/>
        </p:nvSpPr>
        <p:spPr>
          <a:xfrm>
            <a:off x="609600" y="1828800"/>
            <a:ext cx="7680325" cy="156845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  <a:tabLst>
                <a:tab pos="2089150" algn="l"/>
              </a:tabLst>
            </a:pPr>
            <a:r>
              <a:rPr lang="en-US" altLang="zh-CN" sz="2800" b="1">
                <a:solidFill>
                  <a:srgbClr val="009900"/>
                </a:solidFill>
                <a:latin typeface="宋体" panose="02010600030101010101" pitchFamily="2" charset="-122"/>
              </a:rPr>
              <a:t>Jcc label</a:t>
            </a:r>
          </a:p>
          <a:p>
            <a:pPr defTabSz="914400">
              <a:lnSpc>
                <a:spcPct val="70000"/>
              </a:lnSpc>
              <a:spcBef>
                <a:spcPct val="50000"/>
              </a:spcBef>
              <a:tabLst>
                <a:tab pos="2089150" algn="l"/>
              </a:tabLst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；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条件满足，发生转移：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IP←IP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位位移量</a:t>
            </a:r>
          </a:p>
          <a:p>
            <a:pPr defTabSz="914400">
              <a:lnSpc>
                <a:spcPct val="50000"/>
              </a:lnSpc>
              <a:spcBef>
                <a:spcPct val="50000"/>
              </a:spcBef>
              <a:tabLst>
                <a:tab pos="2089150" algn="l"/>
              </a:tabLst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  ；条件不满足，顺序执行</a:t>
            </a:r>
          </a:p>
        </p:txBody>
      </p:sp>
    </p:spTree>
  </p:cSld>
  <p:clrMapOvr>
    <a:masterClrMapping/>
  </p:clrMapOvr>
  <p:transition>
    <p:zoom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相对寻址方式</a:t>
            </a:r>
          </a:p>
        </p:txBody>
      </p:sp>
      <p:sp>
        <p:nvSpPr>
          <p:cNvPr id="15363" name="文本占位符 1536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7620000" cy="4302125"/>
          </a:xfrm>
        </p:spPr>
        <p:txBody>
          <a:bodyPr/>
          <a:lstStyle/>
          <a:p>
            <a:pPr marL="0" indent="390525">
              <a:lnSpc>
                <a:spcPct val="90000"/>
              </a:lnSpc>
            </a:pPr>
            <a:r>
              <a:rPr lang="en-US" altLang="zh-CN"/>
              <a:t>Jcc</a:t>
            </a:r>
            <a:r>
              <a:rPr lang="zh-CN" altLang="en-US"/>
              <a:t>指令的操作数</a:t>
            </a:r>
            <a:r>
              <a:rPr lang="en-US" altLang="zh-CN"/>
              <a:t>label</a:t>
            </a:r>
            <a:r>
              <a:rPr lang="zh-CN" altLang="en-US"/>
              <a:t>是一个标号</a:t>
            </a:r>
          </a:p>
          <a:p>
            <a:pPr marL="581025" lvl="1" indent="274955">
              <a:lnSpc>
                <a:spcPct val="90000"/>
              </a:lnSpc>
            </a:pPr>
            <a:r>
              <a:rPr lang="zh-CN" altLang="en-US"/>
              <a:t>一个</a:t>
            </a:r>
            <a:r>
              <a:rPr lang="en-US" altLang="zh-CN"/>
              <a:t>8</a:t>
            </a:r>
            <a:r>
              <a:rPr lang="zh-CN" altLang="en-US"/>
              <a:t>位位移量，表示</a:t>
            </a:r>
            <a:r>
              <a:rPr lang="en-US" altLang="zh-CN"/>
              <a:t>Jcc</a:t>
            </a:r>
            <a:r>
              <a:rPr lang="zh-CN" altLang="en-US"/>
              <a:t>指令后的那条指令的偏移地址，到目标指令的偏移地址的地址位移</a:t>
            </a:r>
          </a:p>
          <a:p>
            <a:pPr marL="581025" lvl="1" indent="274955">
              <a:lnSpc>
                <a:spcPct val="90000"/>
              </a:lnSpc>
            </a:pPr>
            <a:r>
              <a:rPr lang="en-US" altLang="zh-CN"/>
              <a:t>8</a:t>
            </a:r>
            <a:r>
              <a:rPr lang="zh-CN" altLang="en-US"/>
              <a:t>位位移量是</a:t>
            </a:r>
            <a:r>
              <a:rPr lang="zh-CN" altLang="en-US">
                <a:solidFill>
                  <a:srgbClr val="0000CC"/>
                </a:solidFill>
              </a:rPr>
              <a:t>相对于</a:t>
            </a:r>
            <a:r>
              <a:rPr lang="zh-CN" altLang="en-US"/>
              <a:t>当前</a:t>
            </a:r>
            <a:r>
              <a:rPr lang="en-US" altLang="zh-CN"/>
              <a:t>IP</a:t>
            </a:r>
            <a:r>
              <a:rPr lang="zh-CN" altLang="en-US"/>
              <a:t>的，且距当前</a:t>
            </a:r>
            <a:r>
              <a:rPr lang="en-US" altLang="zh-CN"/>
              <a:t>IP</a:t>
            </a:r>
            <a:r>
              <a:rPr lang="zh-CN" altLang="en-US"/>
              <a:t>地址－</a:t>
            </a:r>
            <a:r>
              <a:rPr lang="en-US" altLang="zh-CN"/>
              <a:t>128</a:t>
            </a:r>
            <a:r>
              <a:rPr lang="zh-CN" altLang="en-US"/>
              <a:t>～＋</a:t>
            </a:r>
            <a:r>
              <a:rPr lang="en-US" altLang="zh-CN"/>
              <a:t>127</a:t>
            </a:r>
            <a:r>
              <a:rPr lang="zh-CN" altLang="en-US"/>
              <a:t>个单元的范围之内，属于段内短距离转移</a:t>
            </a:r>
          </a:p>
          <a:p>
            <a:pPr marL="581025" lvl="1" indent="274955">
              <a:lnSpc>
                <a:spcPct val="90000"/>
              </a:lnSpc>
            </a:pPr>
            <a:r>
              <a:rPr lang="en-US" altLang="zh-CN"/>
              <a:t>Jcc</a:t>
            </a:r>
            <a:r>
              <a:rPr lang="zh-CN" altLang="en-US"/>
              <a:t>目标地址就采用这种</a:t>
            </a:r>
            <a:r>
              <a:rPr lang="zh-CN" altLang="en-US">
                <a:solidFill>
                  <a:srgbClr val="0000CC"/>
                </a:solidFill>
              </a:rPr>
              <a:t>相对寻址方式</a:t>
            </a:r>
            <a:endParaRPr lang="zh-CN" altLang="en-US"/>
          </a:p>
          <a:p>
            <a:pPr marL="0" indent="390525">
              <a:lnSpc>
                <a:spcPct val="90000"/>
              </a:lnSpc>
              <a:spcBef>
                <a:spcPct val="50000"/>
              </a:spcBef>
            </a:pPr>
            <a:r>
              <a:rPr lang="en-US" altLang="zh-CN"/>
              <a:t>Jcc</a:t>
            </a:r>
            <a:r>
              <a:rPr lang="zh-CN" altLang="en-US"/>
              <a:t>指令为</a:t>
            </a:r>
            <a:r>
              <a:rPr lang="en-US" altLang="zh-CN"/>
              <a:t>2</a:t>
            </a:r>
            <a:r>
              <a:rPr lang="zh-CN" altLang="en-US"/>
              <a:t>个字节，条件不满足时的顺序执行就是当前指令偏移指针</a:t>
            </a:r>
            <a:r>
              <a:rPr lang="en-US" altLang="zh-CN"/>
              <a:t>IP</a:t>
            </a:r>
            <a:r>
              <a:rPr lang="zh-CN" altLang="en-US"/>
              <a:t>加</a:t>
            </a:r>
            <a:r>
              <a:rPr lang="en-US" altLang="zh-CN"/>
              <a:t>2</a:t>
            </a:r>
          </a:p>
        </p:txBody>
      </p:sp>
      <p:sp>
        <p:nvSpPr>
          <p:cNvPr id="15364" name="椭圆 15363" descr="DI-43"/>
          <p:cNvSpPr/>
          <p:nvPr/>
        </p:nvSpPr>
        <p:spPr>
          <a:xfrm>
            <a:off x="6858000" y="3810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Jcc</a:t>
            </a:r>
          </a:p>
        </p:txBody>
      </p:sp>
    </p:spTree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Jcc</a:t>
            </a:r>
            <a:r>
              <a:rPr lang="zh-CN" altLang="en-US"/>
              <a:t>指令的分类</a:t>
            </a:r>
          </a:p>
        </p:txBody>
      </p:sp>
      <p:sp>
        <p:nvSpPr>
          <p:cNvPr id="16387" name="文本占位符 16386"/>
          <p:cNvSpPr>
            <a:spLocks noGrp="1"/>
          </p:cNvSpPr>
          <p:nvPr>
            <p:ph type="body" idx="1"/>
          </p:nvPr>
        </p:nvSpPr>
        <p:spPr>
          <a:xfrm>
            <a:off x="228600" y="1905000"/>
            <a:ext cx="8305800" cy="4343400"/>
          </a:xfrm>
        </p:spPr>
        <p:txBody>
          <a:bodyPr/>
          <a:lstStyle/>
          <a:p>
            <a:pPr marL="685800" indent="-685800"/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Jcc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指令不影响标志，但要利用标志（</a:t>
            </a:r>
            <a:r>
              <a:rPr lang="zh-CN" altLang="en-US" b="1">
                <a:solidFill>
                  <a:srgbClr val="00B05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见下表，书</a:t>
            </a:r>
            <a:r>
              <a:rPr lang="en-US" altLang="zh-CN" b="1">
                <a:solidFill>
                  <a:srgbClr val="00B05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152</a:t>
            </a:r>
            <a:r>
              <a:rPr lang="zh-CN" altLang="en-US" b="1">
                <a:solidFill>
                  <a:srgbClr val="00B05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页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）。根据利用的标志位不同，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16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条指令分成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种情况：</a:t>
            </a:r>
          </a:p>
          <a:p>
            <a:pPr marL="1066800" lvl="1" indent="-721995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1. 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  <a:sym typeface="+mn-ea"/>
              </a:rPr>
              <a:t>比较无符号数高低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 </a:t>
            </a:r>
          </a:p>
          <a:p>
            <a:pPr marL="1066800" lvl="1" indent="-721995">
              <a:lnSpc>
                <a:spcPct val="120000"/>
              </a:lnSpc>
              <a:buNone/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2. 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  <a:sym typeface="+mn-ea"/>
              </a:rPr>
              <a:t>比较有符号数大小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 </a:t>
            </a:r>
            <a:endParaRPr lang="zh-CN" altLang="en-US" b="1">
              <a:solidFill>
                <a:srgbClr val="0000FF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  <a:p>
            <a:pPr marL="1066800" lvl="1" indent="-721995">
              <a:lnSpc>
                <a:spcPct val="120000"/>
              </a:lnSpc>
              <a:buNone/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3. 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  <a:sym typeface="+mn-ea"/>
              </a:rPr>
              <a:t>判断单个标志位状态（重点掌握一个，其它类似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  <a:sym typeface="+mn-ea"/>
              </a:rPr>
              <a:t>)</a:t>
            </a:r>
            <a:endParaRPr lang="zh-CN" altLang="en-US" b="1">
              <a:solidFill>
                <a:srgbClr val="0000FF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  <a:p>
            <a:pPr marL="1066800" lvl="1" indent="-721995">
              <a:lnSpc>
                <a:spcPct val="120000"/>
              </a:lnSpc>
              <a:buNone/>
            </a:pPr>
            <a:endParaRPr lang="zh-CN" altLang="en-US" b="1">
              <a:solidFill>
                <a:srgbClr val="0000FF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</p:txBody>
      </p:sp>
      <p:sp>
        <p:nvSpPr>
          <p:cNvPr id="16388" name="椭圆 16387" descr="DI-43"/>
          <p:cNvSpPr/>
          <p:nvPr/>
        </p:nvSpPr>
        <p:spPr>
          <a:xfrm>
            <a:off x="6934200" y="3810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Jcc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228600" y="304800"/>
            <a:ext cx="4838700" cy="503238"/>
          </a:xfrm>
        </p:spPr>
        <p:txBody>
          <a:bodyPr anchor="b" anchorCtr="0"/>
          <a:lstStyle/>
          <a:p>
            <a:r>
              <a:rPr lang="zh-CN" altLang="en-US" sz="3000" u="sng"/>
              <a:t>条件转移指令中的条件</a:t>
            </a:r>
            <a:r>
              <a:rPr lang="en-US" altLang="zh-CN" sz="3000" u="sng"/>
              <a:t>cc</a:t>
            </a:r>
          </a:p>
        </p:txBody>
      </p:sp>
      <p:pic>
        <p:nvPicPr>
          <p:cNvPr id="17411" name="图片 17410" descr="hbjab204"/>
          <p:cNvPicPr>
            <a:picLocks noChangeAspect="1"/>
          </p:cNvPicPr>
          <p:nvPr/>
        </p:nvPicPr>
        <p:blipFill>
          <a:blip r:embed="rId2">
            <a:biLevel thresh="50000"/>
            <a:grayscl/>
            <a:lum contrast="60000"/>
          </a:blip>
          <a:stretch>
            <a:fillRect/>
          </a:stretch>
        </p:blipFill>
        <p:spPr>
          <a:xfrm>
            <a:off x="0" y="1591945"/>
            <a:ext cx="9022715" cy="50374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椭圆 17411" descr="DI-43"/>
          <p:cNvSpPr/>
          <p:nvPr/>
        </p:nvSpPr>
        <p:spPr>
          <a:xfrm>
            <a:off x="6934200" y="99695"/>
            <a:ext cx="914400" cy="914400"/>
          </a:xfrm>
          <a:prstGeom prst="ellipse">
            <a:avLst/>
          </a:prstGeom>
          <a:blipFill rotWithShape="0">
            <a:blip r:embed="rId3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Jcc</a:t>
            </a:r>
          </a:p>
        </p:txBody>
      </p:sp>
      <p:sp>
        <p:nvSpPr>
          <p:cNvPr id="17414" name="圆角矩形 17413" descr="画布"/>
          <p:cNvSpPr/>
          <p:nvPr/>
        </p:nvSpPr>
        <p:spPr>
          <a:xfrm>
            <a:off x="66040" y="876300"/>
            <a:ext cx="8719820" cy="890905"/>
          </a:xfrm>
          <a:prstGeom prst="roundRect">
            <a:avLst>
              <a:gd name="adj" fmla="val 16667"/>
            </a:avLst>
          </a:prstGeom>
          <a:blipFill rotWithShape="0">
            <a:blip r:embed="rId4"/>
          </a:blipFill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just">
              <a:buBlip>
                <a:blip r:embed="rId5"/>
              </a:buBlip>
            </a:pPr>
            <a:r>
              <a:rPr lang="en-US" altLang="zh-CN" sz="2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1">
                <a:solidFill>
                  <a:srgbClr val="0000FF"/>
                </a:solidFill>
                <a:latin typeface="Arial" panose="020B0604020202020204" pitchFamily="34" charset="0"/>
              </a:rPr>
              <a:t>实际虽然指令只有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16</a:t>
            </a:r>
            <a:r>
              <a:rPr lang="zh-CN" altLang="en-US" sz="2800" b="1">
                <a:solidFill>
                  <a:srgbClr val="0000FF"/>
                </a:solidFill>
                <a:latin typeface="Arial" panose="020B0604020202020204" pitchFamily="34" charset="0"/>
              </a:rPr>
              <a:t>条，但却有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30</a:t>
            </a:r>
            <a:r>
              <a:rPr lang="zh-CN" altLang="en-US" sz="2800" b="1">
                <a:solidFill>
                  <a:srgbClr val="0000FF"/>
                </a:solidFill>
                <a:latin typeface="Arial" panose="020B0604020202020204" pitchFamily="34" charset="0"/>
              </a:rPr>
              <a:t>个助记符</a:t>
            </a:r>
          </a:p>
          <a:p>
            <a:pPr algn="just">
              <a:lnSpc>
                <a:spcPct val="120000"/>
              </a:lnSpc>
              <a:buBlip>
                <a:blip r:embed="rId5"/>
              </a:buBlip>
            </a:pPr>
            <a:r>
              <a:rPr lang="zh-CN" altLang="en-US" sz="2800" b="1">
                <a:solidFill>
                  <a:srgbClr val="0000FF"/>
                </a:solidFill>
                <a:latin typeface="Arial" panose="020B0604020202020204" pitchFamily="34" charset="0"/>
              </a:rPr>
              <a:t> 采用多个助记符，只是为了方便记忆和使用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843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1. </a:t>
            </a:r>
            <a:r>
              <a:rPr lang="zh-CN" altLang="en-US"/>
              <a:t>判断单个标志位状态</a:t>
            </a:r>
          </a:p>
        </p:txBody>
      </p:sp>
      <p:sp>
        <p:nvSpPr>
          <p:cNvPr id="18435" name="文本占位符 18434"/>
          <p:cNvSpPr>
            <a:spLocks noGrp="1"/>
          </p:cNvSpPr>
          <p:nvPr>
            <p:ph type="body" idx="1"/>
          </p:nvPr>
        </p:nvSpPr>
        <p:spPr>
          <a:xfrm>
            <a:off x="228600" y="1524000"/>
            <a:ext cx="73152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500" dirty="0">
                <a:solidFill>
                  <a:srgbClr val="0000FF"/>
                </a:solidFill>
              </a:rPr>
              <a:t>这组指令单独判断5个状态标志之一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500" dirty="0">
                <a:solidFill>
                  <a:srgbClr val="0000FF"/>
                </a:solidFill>
              </a:rPr>
              <a:t>⑴</a:t>
            </a:r>
            <a:r>
              <a:rPr lang="zh-CN" altLang="en-US" sz="2500" dirty="0">
                <a:solidFill>
                  <a:srgbClr val="009900"/>
                </a:solidFill>
              </a:rPr>
              <a:t>JZ/JE</a:t>
            </a:r>
            <a:r>
              <a:rPr lang="zh-CN" altLang="en-US" sz="2500" dirty="0">
                <a:solidFill>
                  <a:srgbClr val="0000FF"/>
                </a:solidFill>
              </a:rPr>
              <a:t>和</a:t>
            </a:r>
            <a:r>
              <a:rPr lang="zh-CN" altLang="en-US" sz="2500" dirty="0">
                <a:solidFill>
                  <a:srgbClr val="009900"/>
                </a:solidFill>
              </a:rPr>
              <a:t>JNZ/JNE</a:t>
            </a:r>
            <a:r>
              <a:rPr lang="zh-CN" altLang="en-US" sz="2500" dirty="0">
                <a:solidFill>
                  <a:srgbClr val="0000FF"/>
                </a:solidFill>
              </a:rPr>
              <a:t>：利用零标志</a:t>
            </a:r>
            <a:r>
              <a:rPr lang="zh-CN" altLang="en-US" sz="2500" b="1" dirty="0">
                <a:solidFill>
                  <a:srgbClr val="FF0000"/>
                </a:solidFill>
              </a:rPr>
              <a:t>ZF</a:t>
            </a:r>
            <a:r>
              <a:rPr lang="zh-CN" altLang="en-US" sz="2500" dirty="0">
                <a:solidFill>
                  <a:srgbClr val="0000FF"/>
                </a:solidFill>
              </a:rPr>
              <a:t>，判断结果是否为零（或相等）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500" dirty="0">
                <a:solidFill>
                  <a:srgbClr val="0000FF"/>
                </a:solidFill>
              </a:rPr>
              <a:t>⑵</a:t>
            </a:r>
            <a:r>
              <a:rPr lang="zh-CN" altLang="en-US" sz="2500" dirty="0">
                <a:solidFill>
                  <a:srgbClr val="009900"/>
                </a:solidFill>
              </a:rPr>
              <a:t>JS</a:t>
            </a:r>
            <a:r>
              <a:rPr lang="zh-CN" altLang="en-US" sz="2500" dirty="0">
                <a:solidFill>
                  <a:srgbClr val="0000FF"/>
                </a:solidFill>
              </a:rPr>
              <a:t>和</a:t>
            </a:r>
            <a:r>
              <a:rPr lang="zh-CN" altLang="en-US" sz="2500" dirty="0">
                <a:solidFill>
                  <a:srgbClr val="009900"/>
                </a:solidFill>
              </a:rPr>
              <a:t>JNS</a:t>
            </a:r>
            <a:r>
              <a:rPr lang="zh-CN" altLang="en-US" sz="2500" dirty="0">
                <a:solidFill>
                  <a:srgbClr val="0000FF"/>
                </a:solidFill>
              </a:rPr>
              <a:t>：利用符号标志</a:t>
            </a:r>
            <a:r>
              <a:rPr lang="zh-CN" altLang="en-US" sz="2500" b="1" dirty="0">
                <a:solidFill>
                  <a:srgbClr val="FF0000"/>
                </a:solidFill>
              </a:rPr>
              <a:t>SF</a:t>
            </a:r>
            <a:r>
              <a:rPr lang="zh-CN" altLang="en-US" sz="2500" dirty="0">
                <a:solidFill>
                  <a:srgbClr val="0000FF"/>
                </a:solidFill>
              </a:rPr>
              <a:t>，判断结果是正是负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500" dirty="0">
                <a:solidFill>
                  <a:srgbClr val="0000FF"/>
                </a:solidFill>
              </a:rPr>
              <a:t>⑶</a:t>
            </a:r>
            <a:r>
              <a:rPr lang="zh-CN" altLang="en-US" sz="2500" dirty="0">
                <a:solidFill>
                  <a:srgbClr val="009900"/>
                </a:solidFill>
              </a:rPr>
              <a:t>JO</a:t>
            </a:r>
            <a:r>
              <a:rPr lang="zh-CN" altLang="en-US" sz="2500" dirty="0">
                <a:solidFill>
                  <a:srgbClr val="0000FF"/>
                </a:solidFill>
              </a:rPr>
              <a:t>和</a:t>
            </a:r>
            <a:r>
              <a:rPr lang="zh-CN" altLang="en-US" sz="2500" dirty="0">
                <a:solidFill>
                  <a:srgbClr val="009900"/>
                </a:solidFill>
              </a:rPr>
              <a:t>JNO</a:t>
            </a:r>
            <a:r>
              <a:rPr lang="zh-CN" altLang="en-US" sz="2500" dirty="0">
                <a:solidFill>
                  <a:srgbClr val="0000FF"/>
                </a:solidFill>
              </a:rPr>
              <a:t>：利用溢出标志</a:t>
            </a:r>
            <a:r>
              <a:rPr lang="zh-CN" altLang="en-US" sz="2500" b="1" dirty="0">
                <a:solidFill>
                  <a:srgbClr val="FF0000"/>
                </a:solidFill>
              </a:rPr>
              <a:t>OF</a:t>
            </a:r>
            <a:r>
              <a:rPr lang="zh-CN" altLang="en-US" sz="2500" dirty="0">
                <a:solidFill>
                  <a:srgbClr val="0000FF"/>
                </a:solidFill>
              </a:rPr>
              <a:t>，判断结果是否产生溢出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500" dirty="0">
                <a:solidFill>
                  <a:srgbClr val="0000FF"/>
                </a:solidFill>
              </a:rPr>
              <a:t>⑷</a:t>
            </a:r>
            <a:r>
              <a:rPr lang="zh-CN" altLang="en-US" sz="2500" dirty="0">
                <a:solidFill>
                  <a:srgbClr val="009900"/>
                </a:solidFill>
              </a:rPr>
              <a:t>JP/JPE</a:t>
            </a:r>
            <a:r>
              <a:rPr lang="zh-CN" altLang="en-US" sz="2500" dirty="0">
                <a:solidFill>
                  <a:srgbClr val="0000FF"/>
                </a:solidFill>
              </a:rPr>
              <a:t>和</a:t>
            </a:r>
            <a:r>
              <a:rPr lang="zh-CN" altLang="en-US" sz="2500" dirty="0">
                <a:solidFill>
                  <a:srgbClr val="009900"/>
                </a:solidFill>
              </a:rPr>
              <a:t>JNP/JPO</a:t>
            </a:r>
            <a:r>
              <a:rPr lang="zh-CN" altLang="en-US" sz="2500" dirty="0">
                <a:solidFill>
                  <a:srgbClr val="0000FF"/>
                </a:solidFill>
              </a:rPr>
              <a:t>：利用奇偶标志</a:t>
            </a:r>
            <a:r>
              <a:rPr lang="zh-CN" altLang="en-US" sz="2500" b="1" dirty="0">
                <a:solidFill>
                  <a:srgbClr val="FF0000"/>
                </a:solidFill>
              </a:rPr>
              <a:t>PF</a:t>
            </a:r>
            <a:r>
              <a:rPr lang="zh-CN" altLang="en-US" sz="2500" dirty="0">
                <a:solidFill>
                  <a:srgbClr val="0000FF"/>
                </a:solidFill>
              </a:rPr>
              <a:t>，判断结果中“1”的个数是偶是奇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500" dirty="0">
                <a:solidFill>
                  <a:srgbClr val="0000FF"/>
                </a:solidFill>
              </a:rPr>
              <a:t>⑸</a:t>
            </a:r>
            <a:r>
              <a:rPr lang="zh-CN" altLang="en-US" sz="2500" dirty="0">
                <a:solidFill>
                  <a:srgbClr val="009900"/>
                </a:solidFill>
              </a:rPr>
              <a:t>JC/JB/JNAE</a:t>
            </a:r>
            <a:r>
              <a:rPr lang="zh-CN" altLang="en-US" sz="2500" dirty="0">
                <a:solidFill>
                  <a:srgbClr val="0000FF"/>
                </a:solidFill>
              </a:rPr>
              <a:t>和</a:t>
            </a:r>
            <a:r>
              <a:rPr lang="zh-CN" altLang="en-US" sz="2500" dirty="0">
                <a:solidFill>
                  <a:srgbClr val="009900"/>
                </a:solidFill>
              </a:rPr>
              <a:t>JNC/JNB/JAE</a:t>
            </a:r>
            <a:r>
              <a:rPr lang="zh-CN" altLang="en-US" sz="2500" dirty="0">
                <a:solidFill>
                  <a:srgbClr val="0000FF"/>
                </a:solidFill>
              </a:rPr>
              <a:t>：利用进位标志</a:t>
            </a:r>
            <a:r>
              <a:rPr lang="zh-CN" altLang="en-US" sz="2500" b="1" dirty="0">
                <a:solidFill>
                  <a:srgbClr val="FF0000"/>
                </a:solidFill>
              </a:rPr>
              <a:t>CF</a:t>
            </a:r>
            <a:r>
              <a:rPr lang="zh-CN" altLang="en-US" sz="2500" dirty="0">
                <a:solidFill>
                  <a:srgbClr val="0000FF"/>
                </a:solidFill>
              </a:rPr>
              <a:t>，判断结果是否进位或借位</a:t>
            </a:r>
          </a:p>
        </p:txBody>
      </p:sp>
      <p:sp>
        <p:nvSpPr>
          <p:cNvPr id="18436" name="椭圆 18435" descr="DI-43"/>
          <p:cNvSpPr/>
          <p:nvPr/>
        </p:nvSpPr>
        <p:spPr>
          <a:xfrm>
            <a:off x="6934200" y="2286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Jcc</a:t>
            </a:r>
          </a:p>
        </p:txBody>
      </p:sp>
      <p:sp>
        <p:nvSpPr>
          <p:cNvPr id="18437" name="文本框 18436">
            <a:hlinkClick r:id="rId3" action="ppaction://hlinksldjump"/>
          </p:cNvPr>
          <p:cNvSpPr txBox="1"/>
          <p:nvPr/>
        </p:nvSpPr>
        <p:spPr>
          <a:xfrm>
            <a:off x="7620000" y="1981200"/>
            <a:ext cx="1218565" cy="460375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663300"/>
                </a:solidFill>
                <a:latin typeface="Arial" panose="020B0604020202020204" pitchFamily="34" charset="0"/>
              </a:rPr>
              <a:t>例题</a:t>
            </a:r>
            <a:r>
              <a:rPr lang="en-US" altLang="zh-CN" sz="2400" b="1">
                <a:solidFill>
                  <a:srgbClr val="663300"/>
                </a:solidFill>
                <a:latin typeface="Arial" panose="020B0604020202020204" pitchFamily="34" charset="0"/>
              </a:rPr>
              <a:t>4.1</a:t>
            </a:r>
          </a:p>
        </p:txBody>
      </p:sp>
      <p:sp>
        <p:nvSpPr>
          <p:cNvPr id="18438" name="文本框 18437">
            <a:hlinkClick r:id="rId4" action="ppaction://hlinksldjump"/>
          </p:cNvPr>
          <p:cNvSpPr txBox="1"/>
          <p:nvPr/>
        </p:nvSpPr>
        <p:spPr>
          <a:xfrm>
            <a:off x="7620000" y="2743200"/>
            <a:ext cx="1218565" cy="460375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663300"/>
                </a:solidFill>
                <a:latin typeface="Arial" panose="020B0604020202020204" pitchFamily="34" charset="0"/>
              </a:rPr>
              <a:t>例题</a:t>
            </a:r>
            <a:r>
              <a:rPr lang="en-US" altLang="zh-CN" sz="2400" b="1">
                <a:solidFill>
                  <a:srgbClr val="663300"/>
                </a:solidFill>
                <a:latin typeface="Arial" panose="020B0604020202020204" pitchFamily="34" charset="0"/>
              </a:rPr>
              <a:t>4.2</a:t>
            </a:r>
          </a:p>
        </p:txBody>
      </p:sp>
      <p:sp>
        <p:nvSpPr>
          <p:cNvPr id="18439" name="文本框 18438">
            <a:hlinkClick r:id="rId5" action="ppaction://hlinksldjump"/>
          </p:cNvPr>
          <p:cNvSpPr txBox="1"/>
          <p:nvPr/>
        </p:nvSpPr>
        <p:spPr>
          <a:xfrm>
            <a:off x="7600950" y="3429000"/>
            <a:ext cx="1218565" cy="460375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663300"/>
                </a:solidFill>
                <a:latin typeface="Arial" panose="020B0604020202020204" pitchFamily="34" charset="0"/>
              </a:rPr>
              <a:t>例题</a:t>
            </a:r>
            <a:r>
              <a:rPr lang="en-US" altLang="zh-CN" sz="2400" b="1">
                <a:solidFill>
                  <a:srgbClr val="663300"/>
                </a:solidFill>
                <a:latin typeface="Arial" panose="020B0604020202020204" pitchFamily="34" charset="0"/>
              </a:rPr>
              <a:t>4.3</a:t>
            </a:r>
          </a:p>
        </p:txBody>
      </p:sp>
      <p:sp>
        <p:nvSpPr>
          <p:cNvPr id="18440" name="文本框 18439">
            <a:hlinkClick r:id="rId6" action="ppaction://hlinksldjump"/>
          </p:cNvPr>
          <p:cNvSpPr txBox="1"/>
          <p:nvPr/>
        </p:nvSpPr>
        <p:spPr>
          <a:xfrm>
            <a:off x="7600950" y="4191000"/>
            <a:ext cx="1218565" cy="460375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663300"/>
                </a:solidFill>
                <a:latin typeface="Arial" panose="020B0604020202020204" pitchFamily="34" charset="0"/>
              </a:rPr>
              <a:t>例题</a:t>
            </a:r>
            <a:r>
              <a:rPr lang="en-US" altLang="zh-CN" sz="2400" b="1">
                <a:solidFill>
                  <a:srgbClr val="663300"/>
                </a:solidFill>
                <a:latin typeface="Arial" panose="020B0604020202020204" pitchFamily="34" charset="0"/>
              </a:rPr>
              <a:t>4.4</a:t>
            </a:r>
          </a:p>
        </p:txBody>
      </p:sp>
      <p:sp>
        <p:nvSpPr>
          <p:cNvPr id="18441" name="文本框 18440">
            <a:hlinkClick r:id="rId7" action="ppaction://hlinksldjump"/>
          </p:cNvPr>
          <p:cNvSpPr txBox="1"/>
          <p:nvPr/>
        </p:nvSpPr>
        <p:spPr>
          <a:xfrm>
            <a:off x="7600950" y="4953000"/>
            <a:ext cx="1218565" cy="460375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663300"/>
                </a:solidFill>
                <a:latin typeface="Arial" panose="020B0604020202020204" pitchFamily="34" charset="0"/>
              </a:rPr>
              <a:t>例题</a:t>
            </a:r>
            <a:r>
              <a:rPr lang="en-US" altLang="zh-CN" sz="2400" b="1">
                <a:solidFill>
                  <a:srgbClr val="663300"/>
                </a:solidFill>
                <a:latin typeface="Arial" panose="020B0604020202020204" pitchFamily="34" charset="0"/>
              </a:rPr>
              <a:t>4.5</a:t>
            </a:r>
          </a:p>
        </p:txBody>
      </p:sp>
    </p:spTree>
  </p:cSld>
  <p:clrMapOvr>
    <a:masterClrMapping/>
  </p:clrMapOvr>
  <p:transition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9457"/>
          <p:cNvSpPr>
            <a:spLocks noGrp="1"/>
          </p:cNvSpPr>
          <p:nvPr>
            <p:ph type="title"/>
          </p:nvPr>
        </p:nvSpPr>
        <p:spPr>
          <a:xfrm>
            <a:off x="762000" y="685800"/>
            <a:ext cx="44196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4.1</a:t>
            </a:r>
            <a:r>
              <a:rPr lang="zh-CN" altLang="en-US" sz="3000" b="0">
                <a:solidFill>
                  <a:schemeClr val="tx1"/>
                </a:solidFill>
              </a:rPr>
              <a:t>：</a:t>
            </a:r>
            <a:r>
              <a:rPr lang="en-US" altLang="zh-CN" sz="3000" b="0">
                <a:solidFill>
                  <a:schemeClr val="tx1"/>
                </a:solidFill>
              </a:rPr>
              <a:t>JZ/JNZ</a:t>
            </a:r>
            <a:r>
              <a:rPr lang="zh-CN" altLang="en-US" sz="3000" b="0">
                <a:solidFill>
                  <a:schemeClr val="tx1"/>
                </a:solidFill>
              </a:rPr>
              <a:t>指令</a:t>
            </a:r>
          </a:p>
        </p:txBody>
      </p:sp>
      <p:sp>
        <p:nvSpPr>
          <p:cNvPr id="19459" name="文本占位符 1945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7620000" cy="46482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	test al,80h	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；测试最高位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jz next0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D7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ZF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），转移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mov ah,0ffh	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D7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，顺序执行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jmp done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；无条件转向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next0:	mov ah,0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done:	...</a:t>
            </a:r>
          </a:p>
          <a:p>
            <a:pPr marL="0" indent="0" defTabSz="914400">
              <a:lnSpc>
                <a:spcPct val="80000"/>
              </a:lnSpc>
              <a:spcBef>
                <a:spcPct val="80000"/>
              </a:spcBef>
              <a:buNone/>
              <a:tabLst>
                <a:tab pos="1520825" algn="l"/>
              </a:tabLst>
            </a:pP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	test al,80h	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；测试最高位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jnz next1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D7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ZF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），转移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mov ah,0	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D7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，顺序执行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jmp done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；无条件转向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next1:	mov ah,0ffh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done:	...</a:t>
            </a:r>
          </a:p>
        </p:txBody>
      </p:sp>
      <p:pic>
        <p:nvPicPr>
          <p:cNvPr id="19460" name="图片 19459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20481"/>
          <p:cNvSpPr>
            <a:spLocks noGrp="1"/>
          </p:cNvSpPr>
          <p:nvPr>
            <p:ph type="title"/>
          </p:nvPr>
        </p:nvSpPr>
        <p:spPr>
          <a:xfrm>
            <a:off x="762000" y="609600"/>
            <a:ext cx="44958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4.2</a:t>
            </a:r>
            <a:r>
              <a:rPr lang="zh-CN" altLang="en-US" sz="3000" b="0">
                <a:solidFill>
                  <a:schemeClr val="tx1"/>
                </a:solidFill>
              </a:rPr>
              <a:t>：</a:t>
            </a:r>
            <a:r>
              <a:rPr lang="en-US" altLang="zh-CN" sz="3000" b="0">
                <a:solidFill>
                  <a:schemeClr val="tx1"/>
                </a:solidFill>
              </a:rPr>
              <a:t>JS/JNS</a:t>
            </a:r>
            <a:r>
              <a:rPr lang="zh-CN" altLang="en-US" sz="3000" b="0">
                <a:solidFill>
                  <a:schemeClr val="tx1"/>
                </a:solidFill>
              </a:rPr>
              <a:t>指令</a:t>
            </a:r>
          </a:p>
        </p:txBody>
      </p:sp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>
          <a:xfrm>
            <a:off x="762000" y="1447800"/>
            <a:ext cx="7696200" cy="46482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buNone/>
              <a:tabLst>
                <a:tab pos="1520825" algn="l"/>
                <a:tab pos="3810000" algn="l"/>
              </a:tabLst>
            </a:pPr>
            <a:r>
              <a:rPr lang="zh-CN" altLang="en-US"/>
              <a:t>；</a:t>
            </a:r>
            <a:r>
              <a:rPr lang="zh-CN" altLang="en-US" sz="2500"/>
              <a:t>计算</a:t>
            </a:r>
            <a:r>
              <a:rPr lang="en-US" altLang="zh-CN" sz="2500"/>
              <a:t>|X</a:t>
            </a:r>
            <a:r>
              <a:rPr lang="zh-CN" altLang="en-US" sz="2500"/>
              <a:t>－</a:t>
            </a:r>
            <a:r>
              <a:rPr lang="en-US" altLang="zh-CN" sz="2500"/>
              <a:t>Y|</a:t>
            </a:r>
            <a:r>
              <a:rPr lang="zh-CN" altLang="en-US" sz="2500"/>
              <a:t>（绝对值）</a:t>
            </a:r>
          </a:p>
          <a:p>
            <a:pPr marL="0" indent="0" defTabSz="914400">
              <a:buNone/>
              <a:tabLst>
                <a:tab pos="1520825" algn="l"/>
                <a:tab pos="3810000" algn="l"/>
              </a:tabLst>
            </a:pPr>
            <a:r>
              <a:rPr lang="zh-CN" altLang="en-US" sz="2500"/>
              <a:t>；</a:t>
            </a:r>
            <a:r>
              <a:rPr lang="en-US" altLang="zh-CN" sz="2500"/>
              <a:t>X</a:t>
            </a:r>
            <a:r>
              <a:rPr lang="zh-CN" altLang="en-US" sz="2500"/>
              <a:t>和</a:t>
            </a:r>
            <a:r>
              <a:rPr lang="en-US" altLang="zh-CN" sz="2500"/>
              <a:t>Y</a:t>
            </a:r>
            <a:r>
              <a:rPr lang="zh-CN" altLang="en-US" sz="2500"/>
              <a:t>为存放于</a:t>
            </a:r>
            <a:r>
              <a:rPr lang="en-US" altLang="zh-CN" sz="2500"/>
              <a:t>X</a:t>
            </a:r>
            <a:r>
              <a:rPr lang="zh-CN" altLang="en-US" sz="2500"/>
              <a:t>单元和</a:t>
            </a:r>
            <a:r>
              <a:rPr lang="en-US" altLang="zh-CN" sz="2500"/>
              <a:t>Y</a:t>
            </a:r>
            <a:r>
              <a:rPr lang="zh-CN" altLang="en-US" sz="2500"/>
              <a:t>单元的</a:t>
            </a:r>
            <a:r>
              <a:rPr lang="en-US" altLang="zh-CN" sz="2500"/>
              <a:t>16</a:t>
            </a:r>
            <a:r>
              <a:rPr lang="zh-CN" altLang="en-US" sz="2500"/>
              <a:t>位操作数</a:t>
            </a:r>
          </a:p>
          <a:p>
            <a:pPr marL="0" indent="0" defTabSz="914400">
              <a:buNone/>
              <a:tabLst>
                <a:tab pos="1520825" algn="l"/>
                <a:tab pos="3810000" algn="l"/>
              </a:tabLst>
            </a:pPr>
            <a:r>
              <a:rPr lang="zh-CN" altLang="en-US" sz="2500"/>
              <a:t>；结果存入</a:t>
            </a:r>
            <a:r>
              <a:rPr lang="en-US" altLang="zh-CN" sz="2500"/>
              <a:t>result</a:t>
            </a:r>
          </a:p>
          <a:p>
            <a:pPr marL="0" indent="0" defTabSz="914400">
              <a:buNone/>
              <a:tabLst>
                <a:tab pos="1520825" algn="l"/>
                <a:tab pos="3810000" algn="l"/>
              </a:tabLst>
            </a:pPr>
            <a:endParaRPr lang="en-US" altLang="zh-CN" sz="2500"/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mov ax,X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sub ax,Y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jns nonneg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neg ax	</a:t>
            </a:r>
            <a:r>
              <a:rPr lang="zh-CN" altLang="en-US" sz="250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neg</a:t>
            </a:r>
            <a:r>
              <a:rPr lang="zh-CN" altLang="en-US" sz="2500">
                <a:solidFill>
                  <a:srgbClr val="0000FF"/>
                </a:solidFill>
                <a:latin typeface="宋体" panose="02010600030101010101" pitchFamily="2" charset="-122"/>
              </a:rPr>
              <a:t>是求补指令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nonneg:	mov result,ax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endParaRPr lang="en-US" altLang="zh-CN" sz="25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zh-CN" altLang="en-US" sz="2500">
                <a:solidFill>
                  <a:schemeClr val="accent2"/>
                </a:solidFill>
                <a:latin typeface="宋体" panose="02010600030101010101" pitchFamily="2" charset="-122"/>
              </a:rPr>
              <a:t>源程序见：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EX2_39.ASM      </a:t>
            </a:r>
            <a:r>
              <a:rPr lang="zh-CN" altLang="en-US" sz="2500">
                <a:solidFill>
                  <a:srgbClr val="7AA3DA"/>
                </a:solidFill>
                <a:latin typeface="宋体" panose="02010600030101010101" pitchFamily="2" charset="-122"/>
              </a:rPr>
              <a:t>并分析分支结构</a:t>
            </a:r>
          </a:p>
        </p:txBody>
      </p:sp>
      <p:pic>
        <p:nvPicPr>
          <p:cNvPr id="20484" name="图片 20483" descr="14_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21505"/>
          <p:cNvSpPr>
            <a:spLocks noGrp="1"/>
          </p:cNvSpPr>
          <p:nvPr>
            <p:ph type="title"/>
          </p:nvPr>
        </p:nvSpPr>
        <p:spPr>
          <a:xfrm>
            <a:off x="762000" y="609600"/>
            <a:ext cx="48768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4.3</a:t>
            </a:r>
            <a:r>
              <a:rPr lang="zh-CN" altLang="en-US" sz="3000" b="0">
                <a:solidFill>
                  <a:schemeClr val="tx1"/>
                </a:solidFill>
              </a:rPr>
              <a:t>：</a:t>
            </a:r>
            <a:r>
              <a:rPr lang="en-US" altLang="zh-CN" sz="3000" b="0">
                <a:solidFill>
                  <a:schemeClr val="tx1"/>
                </a:solidFill>
              </a:rPr>
              <a:t>JO/JNO</a:t>
            </a:r>
            <a:r>
              <a:rPr lang="zh-CN" altLang="en-US" sz="3000" b="0">
                <a:solidFill>
                  <a:schemeClr val="tx1"/>
                </a:solidFill>
              </a:rPr>
              <a:t>指令</a:t>
            </a:r>
          </a:p>
        </p:txBody>
      </p:sp>
      <p:sp>
        <p:nvSpPr>
          <p:cNvPr id="21507" name="文本占位符 21506"/>
          <p:cNvSpPr>
            <a:spLocks noGrp="1"/>
          </p:cNvSpPr>
          <p:nvPr>
            <p:ph type="body" idx="1"/>
          </p:nvPr>
        </p:nvSpPr>
        <p:spPr>
          <a:xfrm>
            <a:off x="762000" y="1447800"/>
            <a:ext cx="7239000" cy="46482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80000"/>
              </a:lnSpc>
              <a:buNone/>
              <a:tabLst>
                <a:tab pos="1720850" algn="l"/>
              </a:tabLst>
            </a:pPr>
            <a:r>
              <a:rPr lang="zh-CN" altLang="en-US" sz="2900"/>
              <a:t>；计算</a:t>
            </a:r>
            <a:r>
              <a:rPr lang="en-US" altLang="zh-CN" sz="2900"/>
              <a:t>X</a:t>
            </a:r>
            <a:r>
              <a:rPr lang="zh-CN" altLang="en-US" sz="2900"/>
              <a:t>－</a:t>
            </a:r>
            <a:r>
              <a:rPr lang="en-US" altLang="zh-CN" sz="2900"/>
              <a:t>Y</a:t>
            </a:r>
            <a:r>
              <a:rPr lang="zh-CN" altLang="en-US" sz="2900"/>
              <a:t>；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720850" algn="l"/>
              </a:tabLst>
            </a:pPr>
            <a:r>
              <a:rPr lang="zh-CN" altLang="en-US" sz="2900"/>
              <a:t>；</a:t>
            </a:r>
            <a:r>
              <a:rPr lang="en-US" altLang="zh-CN" sz="2900"/>
              <a:t>X</a:t>
            </a:r>
            <a:r>
              <a:rPr lang="zh-CN" altLang="en-US" sz="2900"/>
              <a:t>和</a:t>
            </a:r>
            <a:r>
              <a:rPr lang="en-US" altLang="zh-CN" sz="2900"/>
              <a:t>Y</a:t>
            </a:r>
            <a:r>
              <a:rPr lang="zh-CN" altLang="en-US" sz="2900"/>
              <a:t>为存放于</a:t>
            </a:r>
            <a:r>
              <a:rPr lang="en-US" altLang="zh-CN" sz="2900"/>
              <a:t>X</a:t>
            </a:r>
            <a:r>
              <a:rPr lang="zh-CN" altLang="en-US" sz="2900"/>
              <a:t>单元和</a:t>
            </a:r>
            <a:r>
              <a:rPr lang="en-US" altLang="zh-CN" sz="2900"/>
              <a:t>Y</a:t>
            </a:r>
            <a:r>
              <a:rPr lang="zh-CN" altLang="en-US" sz="2900"/>
              <a:t>单元的</a:t>
            </a:r>
            <a:r>
              <a:rPr lang="en-US" altLang="zh-CN" sz="2900"/>
              <a:t>16</a:t>
            </a:r>
            <a:r>
              <a:rPr lang="zh-CN" altLang="en-US" sz="2900"/>
              <a:t>位操作数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720850" algn="l"/>
              </a:tabLst>
            </a:pPr>
            <a:r>
              <a:rPr lang="zh-CN" altLang="en-US" sz="2900"/>
              <a:t>；若溢出，则转移到</a:t>
            </a:r>
            <a:r>
              <a:rPr lang="en-US" altLang="zh-CN" sz="2900"/>
              <a:t>overflow</a:t>
            </a:r>
            <a:r>
              <a:rPr lang="zh-CN" altLang="en-US" sz="2900"/>
              <a:t>处理</a:t>
            </a:r>
            <a:endParaRPr lang="zh-CN" altLang="en-US" sz="25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80000"/>
              </a:lnSpc>
              <a:buNone/>
              <a:tabLst>
                <a:tab pos="1720850" algn="l"/>
              </a:tabLst>
            </a:pPr>
            <a:r>
              <a:rPr lang="zh-CN" altLang="en-US" sz="29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mov ax,X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720850" algn="l"/>
              </a:tabLst>
            </a:pP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	sub ax,Y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720850" algn="l"/>
              </a:tabLst>
            </a:pPr>
            <a:r>
              <a:rPr lang="en-US" altLang="zh-CN" sz="29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900" b="1">
                <a:solidFill>
                  <a:srgbClr val="009900"/>
                </a:solidFill>
                <a:latin typeface="宋体" panose="02010600030101010101" pitchFamily="2" charset="-122"/>
              </a:rPr>
              <a:t>jo overflow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720850" algn="l"/>
              </a:tabLst>
            </a:pPr>
            <a:r>
              <a:rPr lang="en-US" altLang="zh-CN" sz="29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...	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；无溢出，结果正确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720850" algn="l"/>
              </a:tabLst>
            </a:pP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overflow:	...	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；有溢出处理</a:t>
            </a:r>
          </a:p>
        </p:txBody>
      </p:sp>
      <p:pic>
        <p:nvPicPr>
          <p:cNvPr id="21508" name="图片 21507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22529"/>
          <p:cNvSpPr>
            <a:spLocks noGrp="1"/>
          </p:cNvSpPr>
          <p:nvPr>
            <p:ph type="title"/>
          </p:nvPr>
        </p:nvSpPr>
        <p:spPr>
          <a:xfrm>
            <a:off x="762000" y="609600"/>
            <a:ext cx="43434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4.4</a:t>
            </a:r>
            <a:r>
              <a:rPr lang="zh-CN" altLang="en-US" sz="3000" b="0">
                <a:solidFill>
                  <a:schemeClr val="tx1"/>
                </a:solidFill>
              </a:rPr>
              <a:t>：</a:t>
            </a:r>
            <a:r>
              <a:rPr lang="en-US" altLang="zh-CN" sz="3000" b="0">
                <a:solidFill>
                  <a:schemeClr val="tx1"/>
                </a:solidFill>
              </a:rPr>
              <a:t>JP/JNP</a:t>
            </a:r>
            <a:r>
              <a:rPr lang="zh-CN" altLang="en-US" sz="3000" b="0">
                <a:solidFill>
                  <a:schemeClr val="tx1"/>
                </a:solidFill>
              </a:rPr>
              <a:t>指令</a:t>
            </a:r>
          </a:p>
        </p:txBody>
      </p:sp>
      <p:sp>
        <p:nvSpPr>
          <p:cNvPr id="22531" name="文本占位符 22530"/>
          <p:cNvSpPr>
            <a:spLocks noGrp="1"/>
          </p:cNvSpPr>
          <p:nvPr>
            <p:ph type="body" idx="1"/>
          </p:nvPr>
        </p:nvSpPr>
        <p:spPr>
          <a:xfrm>
            <a:off x="762000" y="1447800"/>
            <a:ext cx="8229600" cy="46482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80000"/>
              </a:lnSpc>
              <a:buNone/>
              <a:tabLst>
                <a:tab pos="1336675" algn="l"/>
              </a:tabLst>
            </a:pPr>
            <a:r>
              <a:rPr lang="zh-CN" altLang="en-US" sz="2500" dirty="0"/>
              <a:t>；设字符的ASCII码在AL寄存器中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</a:tabLst>
            </a:pPr>
            <a:r>
              <a:rPr lang="zh-CN" altLang="en-US" sz="2500" dirty="0"/>
              <a:t>；将字符加上奇校验位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</a:tabLst>
            </a:pPr>
            <a:r>
              <a:rPr lang="zh-CN" altLang="en-US" sz="2500" dirty="0"/>
              <a:t>；在字符ASCII码中为“1”的个数已为奇数时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</a:tabLst>
            </a:pPr>
            <a:r>
              <a:rPr lang="zh-CN" altLang="en-US" sz="2500" dirty="0"/>
              <a:t>；则令其最高位为“0”；否则令最高位为“1”</a:t>
            </a:r>
            <a:endParaRPr lang="zh-CN" altLang="en-US" sz="19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500" b="1" dirty="0">
                <a:solidFill>
                  <a:srgbClr val="0000FF"/>
                </a:solidFill>
                <a:latin typeface="宋体" panose="02010600030101010101" pitchFamily="2" charset="-122"/>
              </a:rPr>
              <a:t>and al,7fh</a:t>
            </a:r>
            <a:r>
              <a:rPr lang="zh-CN" altLang="en-US" sz="2500" dirty="0">
                <a:latin typeface="宋体" panose="02010600030101010101" pitchFamily="2" charset="-122"/>
              </a:rPr>
              <a:t>	；最高位置“0”，同时判断“1”的个数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500" dirty="0">
                <a:solidFill>
                  <a:srgbClr val="009900"/>
                </a:solidFill>
                <a:latin typeface="宋体" panose="02010600030101010101" pitchFamily="2" charset="-122"/>
              </a:rPr>
              <a:t>jnp next</a:t>
            </a:r>
            <a:r>
              <a:rPr lang="zh-CN" altLang="en-US" sz="2500" dirty="0">
                <a:solidFill>
                  <a:schemeClr val="bg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500" dirty="0">
                <a:latin typeface="宋体" panose="02010600030101010101" pitchFamily="2" charset="-122"/>
              </a:rPr>
              <a:t>	；个数已为奇数，则转向next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500" b="1" dirty="0">
                <a:solidFill>
                  <a:srgbClr val="0000FF"/>
                </a:solidFill>
                <a:latin typeface="宋体" panose="02010600030101010101" pitchFamily="2" charset="-122"/>
              </a:rPr>
              <a:t>or al,80h</a:t>
            </a: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500" dirty="0">
                <a:latin typeface="宋体" panose="02010600030101010101" pitchFamily="2" charset="-122"/>
              </a:rPr>
              <a:t>	；否则，最高位置“1” 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</a:tabLst>
            </a:pPr>
            <a:r>
              <a:rPr lang="zh-CN" altLang="en-US" sz="2500" dirty="0">
                <a:solidFill>
                  <a:srgbClr val="009900"/>
                </a:solidFill>
                <a:latin typeface="宋体" panose="02010600030101010101" pitchFamily="2" charset="-122"/>
              </a:rPr>
              <a:t>next:	...</a:t>
            </a:r>
          </a:p>
        </p:txBody>
      </p:sp>
      <p:pic>
        <p:nvPicPr>
          <p:cNvPr id="22532" name="图片 22531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3553"/>
          <p:cNvSpPr>
            <a:spLocks noGrp="1"/>
          </p:cNvSpPr>
          <p:nvPr>
            <p:ph type="title"/>
          </p:nvPr>
        </p:nvSpPr>
        <p:spPr>
          <a:xfrm>
            <a:off x="838200" y="685800"/>
            <a:ext cx="42672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4.5</a:t>
            </a:r>
            <a:r>
              <a:rPr lang="zh-CN" altLang="en-US" sz="3000" b="0">
                <a:solidFill>
                  <a:schemeClr val="tx1"/>
                </a:solidFill>
              </a:rPr>
              <a:t>：</a:t>
            </a:r>
            <a:r>
              <a:rPr lang="en-US" altLang="zh-CN" sz="3000" b="0">
                <a:solidFill>
                  <a:schemeClr val="tx1"/>
                </a:solidFill>
              </a:rPr>
              <a:t>JC/JNC</a:t>
            </a:r>
            <a:r>
              <a:rPr lang="zh-CN" altLang="en-US" sz="3000" b="0">
                <a:solidFill>
                  <a:schemeClr val="tx1"/>
                </a:solidFill>
              </a:rPr>
              <a:t>指令</a:t>
            </a:r>
          </a:p>
        </p:txBody>
      </p:sp>
      <p:sp>
        <p:nvSpPr>
          <p:cNvPr id="23555" name="文本占位符 23554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7696200" cy="46482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zh-CN" altLang="en-US" sz="2500"/>
              <a:t>；记录</a:t>
            </a:r>
            <a:r>
              <a:rPr lang="en-US" altLang="zh-CN" sz="2500"/>
              <a:t>BX</a:t>
            </a:r>
            <a:r>
              <a:rPr lang="zh-CN" altLang="en-US" sz="2500"/>
              <a:t>中</a:t>
            </a:r>
            <a:r>
              <a:rPr lang="en-US" altLang="zh-CN" sz="2500"/>
              <a:t>1</a:t>
            </a:r>
            <a:r>
              <a:rPr lang="zh-CN" altLang="en-US" sz="2500"/>
              <a:t>的个数    源程序见</a:t>
            </a:r>
            <a:r>
              <a:rPr lang="en-US" altLang="zh-CN" sz="2500"/>
              <a:t>ex2_42.asm 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endParaRPr lang="en-US" altLang="zh-CN" sz="25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xor al,al	  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CF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again:	</a:t>
            </a:r>
            <a:r>
              <a:rPr lang="en-US" altLang="zh-CN" sz="2500">
                <a:solidFill>
                  <a:srgbClr val="009900"/>
                </a:solidFill>
                <a:latin typeface="宋体" panose="02010600030101010101" pitchFamily="2" charset="-122"/>
              </a:rPr>
              <a:t>test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bx,0ffffh  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；等价于 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cmp bx,0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9900"/>
                </a:solidFill>
                <a:latin typeface="宋体" panose="02010600030101010101" pitchFamily="2" charset="-122"/>
              </a:rPr>
              <a:t>je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next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shl bx,1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9900"/>
                </a:solidFill>
                <a:latin typeface="宋体" panose="02010600030101010101" pitchFamily="2" charset="-122"/>
              </a:rPr>
              <a:t>jnc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again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inc al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jmp again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next:	...	  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保存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500">
                <a:solidFill>
                  <a:schemeClr val="tx2"/>
                </a:solidFill>
                <a:latin typeface="宋体" panose="02010600030101010101" pitchFamily="2" charset="-122"/>
              </a:rPr>
              <a:t>的个数</a:t>
            </a:r>
          </a:p>
        </p:txBody>
      </p:sp>
      <p:pic>
        <p:nvPicPr>
          <p:cNvPr id="23556" name="图片 23555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图片 23556" descr="5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6019800"/>
            <a:ext cx="571500" cy="57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8" name="文本框 23557"/>
          <p:cNvSpPr txBox="1"/>
          <p:nvPr/>
        </p:nvSpPr>
        <p:spPr>
          <a:xfrm>
            <a:off x="6553200" y="6096000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7AA3DA"/>
                </a:solidFill>
                <a:latin typeface="Arial" panose="020B0604020202020204" pitchFamily="34" charset="0"/>
              </a:rPr>
              <a:t>另一种做法</a:t>
            </a:r>
          </a:p>
        </p:txBody>
      </p:sp>
    </p:spTree>
  </p:cSld>
  <p:clrMapOvr>
    <a:masterClrMapping/>
  </p:clrMapOvr>
  <p:transition spd="med" advClick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4577"/>
          <p:cNvSpPr>
            <a:spLocks noGrp="1"/>
          </p:cNvSpPr>
          <p:nvPr>
            <p:ph type="title"/>
          </p:nvPr>
        </p:nvSpPr>
        <p:spPr>
          <a:xfrm>
            <a:off x="1066800" y="762000"/>
            <a:ext cx="370205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记录</a:t>
            </a:r>
            <a:r>
              <a:rPr lang="en-US" altLang="zh-CN" sz="3000" b="0">
                <a:solidFill>
                  <a:schemeClr val="tx1"/>
                </a:solidFill>
              </a:rPr>
              <a:t>BX</a:t>
            </a:r>
            <a:r>
              <a:rPr lang="zh-CN" altLang="en-US" sz="3000" b="0">
                <a:solidFill>
                  <a:schemeClr val="tx1"/>
                </a:solidFill>
              </a:rPr>
              <a:t>中“</a:t>
            </a:r>
            <a:r>
              <a:rPr lang="en-US" altLang="zh-CN" sz="3000" b="0">
                <a:solidFill>
                  <a:schemeClr val="tx1"/>
                </a:solidFill>
              </a:rPr>
              <a:t>1”</a:t>
            </a:r>
            <a:r>
              <a:rPr lang="zh-CN" altLang="en-US" sz="3000" b="0">
                <a:solidFill>
                  <a:schemeClr val="tx1"/>
                </a:solidFill>
              </a:rPr>
              <a:t>的个数</a:t>
            </a:r>
          </a:p>
        </p:txBody>
      </p:sp>
      <p:sp>
        <p:nvSpPr>
          <p:cNvPr id="24579" name="文本占位符 24578"/>
          <p:cNvSpPr>
            <a:spLocks noGrp="1"/>
          </p:cNvSpPr>
          <p:nvPr>
            <p:ph type="body" idx="1"/>
          </p:nvPr>
        </p:nvSpPr>
        <p:spPr>
          <a:xfrm>
            <a:off x="609600" y="1981200"/>
            <a:ext cx="7543800" cy="43434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xor al,al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CF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again:	cmp bx,0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jz next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	shl bx,1	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；也可使用 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shr bx,1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	adc al,0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jmp again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71030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next:	...	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保存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的个数</a:t>
            </a:r>
          </a:p>
        </p:txBody>
      </p:sp>
      <p:pic>
        <p:nvPicPr>
          <p:cNvPr id="24580" name="图片 24579" descr="6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6286500"/>
            <a:ext cx="571500" cy="57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1" name="文本框 24580"/>
          <p:cNvSpPr txBox="1"/>
          <p:nvPr/>
        </p:nvSpPr>
        <p:spPr>
          <a:xfrm>
            <a:off x="1066800" y="5638800"/>
            <a:ext cx="7315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1">
                <a:solidFill>
                  <a:srgbClr val="7AA3DA"/>
                </a:solidFill>
                <a:latin typeface="Arial" panose="020B0604020202020204" pitchFamily="34" charset="0"/>
              </a:rPr>
              <a:t>在</a:t>
            </a:r>
            <a:r>
              <a:rPr lang="en-US" altLang="zh-CN" sz="2800" i="1">
                <a:solidFill>
                  <a:srgbClr val="7AA3DA"/>
                </a:solidFill>
                <a:latin typeface="Arial" panose="020B0604020202020204" pitchFamily="34" charset="0"/>
              </a:rPr>
              <a:t>debug</a:t>
            </a:r>
            <a:r>
              <a:rPr lang="zh-CN" altLang="en-US" sz="2800" i="1">
                <a:solidFill>
                  <a:srgbClr val="7AA3DA"/>
                </a:solidFill>
                <a:latin typeface="Arial" panose="020B0604020202020204" pitchFamily="34" charset="0"/>
              </a:rPr>
              <a:t>中改变</a:t>
            </a:r>
            <a:r>
              <a:rPr lang="en-US" altLang="zh-CN" sz="2800" i="1">
                <a:solidFill>
                  <a:srgbClr val="7AA3DA"/>
                </a:solidFill>
                <a:latin typeface="Arial" panose="020B0604020202020204" pitchFamily="34" charset="0"/>
              </a:rPr>
              <a:t>bx</a:t>
            </a:r>
            <a:r>
              <a:rPr lang="zh-CN" altLang="en-US" sz="2800" i="1">
                <a:solidFill>
                  <a:srgbClr val="7AA3DA"/>
                </a:solidFill>
                <a:latin typeface="Arial" panose="020B0604020202020204" pitchFamily="34" charset="0"/>
              </a:rPr>
              <a:t>的值，再运行，分析结果</a:t>
            </a:r>
          </a:p>
        </p:txBody>
      </p:sp>
    </p:spTree>
  </p:cSld>
  <p:clrMapOvr>
    <a:masterClrMapping/>
  </p:clrMapOvr>
  <p:transition spd="med" advClick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2560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比较无符号数高低</a:t>
            </a:r>
          </a:p>
        </p:txBody>
      </p:sp>
      <p:sp>
        <p:nvSpPr>
          <p:cNvPr id="25603" name="文本占位符 25602"/>
          <p:cNvSpPr>
            <a:spLocks noGrp="1"/>
          </p:cNvSpPr>
          <p:nvPr>
            <p:ph type="body" idx="1"/>
          </p:nvPr>
        </p:nvSpPr>
        <p:spPr>
          <a:xfrm>
            <a:off x="457200" y="2133600"/>
            <a:ext cx="7848600" cy="3581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600" b="1" dirty="0">
                <a:solidFill>
                  <a:srgbClr val="0000FF"/>
                </a:solidFill>
              </a:rPr>
              <a:t>无符号数的大小用高（</a:t>
            </a:r>
            <a:r>
              <a:rPr lang="zh-CN" altLang="en-US" sz="2600" b="1" dirty="0">
                <a:solidFill>
                  <a:srgbClr val="FF0000"/>
                </a:solidFill>
              </a:rPr>
              <a:t>Above</a:t>
            </a:r>
            <a:r>
              <a:rPr lang="zh-CN" altLang="en-US" sz="2600" b="1" dirty="0">
                <a:solidFill>
                  <a:srgbClr val="0000FF"/>
                </a:solidFill>
              </a:rPr>
              <a:t>）低（</a:t>
            </a:r>
            <a:r>
              <a:rPr lang="zh-CN" altLang="en-US" sz="2600" b="1" dirty="0">
                <a:solidFill>
                  <a:srgbClr val="FF0000"/>
                </a:solidFill>
              </a:rPr>
              <a:t>Below</a:t>
            </a:r>
            <a:r>
              <a:rPr lang="zh-CN" altLang="en-US" sz="2600" b="1" dirty="0">
                <a:solidFill>
                  <a:srgbClr val="0000FF"/>
                </a:solidFill>
              </a:rPr>
              <a:t>）表示</a:t>
            </a:r>
          </a:p>
          <a:p>
            <a:pPr>
              <a:lnSpc>
                <a:spcPct val="90000"/>
              </a:lnSpc>
            </a:pPr>
            <a:r>
              <a:rPr lang="zh-CN" altLang="en-US" sz="2600" b="1" dirty="0">
                <a:solidFill>
                  <a:srgbClr val="0000FF"/>
                </a:solidFill>
              </a:rPr>
              <a:t>利用CF确定高低、利用ZF标志确定相等</a:t>
            </a:r>
            <a:r>
              <a:rPr lang="zh-CN" altLang="en-US" sz="2600" b="1" dirty="0"/>
              <a:t>（</a:t>
            </a:r>
            <a:r>
              <a:rPr lang="zh-CN" altLang="en-US" sz="2600" b="1" dirty="0">
                <a:solidFill>
                  <a:srgbClr val="FF0000"/>
                </a:solidFill>
              </a:rPr>
              <a:t>Equal</a:t>
            </a:r>
            <a:r>
              <a:rPr lang="zh-CN" altLang="en-US" sz="2600" b="1" dirty="0"/>
              <a:t>）</a:t>
            </a:r>
          </a:p>
          <a:p>
            <a:pPr>
              <a:lnSpc>
                <a:spcPct val="90000"/>
              </a:lnSpc>
            </a:pPr>
            <a:r>
              <a:rPr lang="zh-CN" altLang="en-US" sz="2600" dirty="0"/>
              <a:t>两数的高低分成4种关系：</a:t>
            </a:r>
          </a:p>
          <a:p>
            <a:pPr lvl="1">
              <a:lnSpc>
                <a:spcPct val="90000"/>
              </a:lnSpc>
              <a:buNone/>
            </a:pPr>
            <a:r>
              <a:rPr lang="zh-CN" altLang="en-US" sz="2200" dirty="0"/>
              <a:t>⑴  低于（不高于等于）：</a:t>
            </a:r>
            <a:r>
              <a:rPr lang="zh-CN" altLang="en-US" sz="2200" dirty="0">
                <a:solidFill>
                  <a:srgbClr val="009900"/>
                </a:solidFill>
              </a:rPr>
              <a:t>JB（JNAE）</a:t>
            </a:r>
          </a:p>
          <a:p>
            <a:pPr lvl="1">
              <a:lnSpc>
                <a:spcPct val="90000"/>
              </a:lnSpc>
              <a:buNone/>
            </a:pPr>
            <a:r>
              <a:rPr lang="zh-CN" altLang="en-US" sz="2200" dirty="0"/>
              <a:t>⑵  不低于（高于等于）：</a:t>
            </a:r>
            <a:r>
              <a:rPr lang="zh-CN" altLang="en-US" sz="2200" dirty="0">
                <a:solidFill>
                  <a:srgbClr val="009900"/>
                </a:solidFill>
              </a:rPr>
              <a:t>JNB（JAE）</a:t>
            </a:r>
          </a:p>
          <a:p>
            <a:pPr lvl="1">
              <a:lnSpc>
                <a:spcPct val="90000"/>
              </a:lnSpc>
              <a:buNone/>
            </a:pPr>
            <a:r>
              <a:rPr lang="zh-CN" altLang="en-US" sz="2200" dirty="0"/>
              <a:t>⑶  低于等于（不高于）：</a:t>
            </a:r>
            <a:r>
              <a:rPr lang="zh-CN" altLang="en-US" sz="2200" dirty="0">
                <a:solidFill>
                  <a:srgbClr val="009900"/>
                </a:solidFill>
              </a:rPr>
              <a:t>JBE（JNA）</a:t>
            </a:r>
          </a:p>
          <a:p>
            <a:pPr lvl="1">
              <a:lnSpc>
                <a:spcPct val="90000"/>
              </a:lnSpc>
              <a:buNone/>
            </a:pPr>
            <a:r>
              <a:rPr lang="zh-CN" altLang="en-US" sz="2200" dirty="0"/>
              <a:t>⑷  不低于等于（高于）：</a:t>
            </a:r>
            <a:r>
              <a:rPr lang="zh-CN" altLang="en-US" sz="2200" dirty="0">
                <a:solidFill>
                  <a:srgbClr val="009900"/>
                </a:solidFill>
              </a:rPr>
              <a:t>JNBE（JA ）</a:t>
            </a:r>
          </a:p>
        </p:txBody>
      </p:sp>
      <p:sp>
        <p:nvSpPr>
          <p:cNvPr id="25604" name="椭圆 25603" descr="DI-43"/>
          <p:cNvSpPr/>
          <p:nvPr/>
        </p:nvSpPr>
        <p:spPr>
          <a:xfrm>
            <a:off x="6781800" y="3810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Jcc</a:t>
            </a:r>
          </a:p>
        </p:txBody>
      </p:sp>
      <p:sp>
        <p:nvSpPr>
          <p:cNvPr id="25605" name="文本框 25604"/>
          <p:cNvSpPr txBox="1"/>
          <p:nvPr/>
        </p:nvSpPr>
        <p:spPr>
          <a:xfrm>
            <a:off x="2743200" y="6019800"/>
            <a:ext cx="4572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1">
                <a:latin typeface="Arial" panose="020B0604020202020204" pitchFamily="34" charset="0"/>
              </a:rPr>
              <a:t>（重点掌握）</a:t>
            </a:r>
          </a:p>
        </p:txBody>
      </p:sp>
    </p:spTree>
  </p:cSld>
  <p:clrMapOvr>
    <a:masterClrMapping/>
  </p:clrMapOvr>
  <p:transition>
    <p:zoom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6625"/>
          <p:cNvSpPr>
            <a:spLocks noGrp="1"/>
          </p:cNvSpPr>
          <p:nvPr>
            <p:ph type="title"/>
          </p:nvPr>
        </p:nvSpPr>
        <p:spPr>
          <a:xfrm>
            <a:off x="990600" y="685800"/>
            <a:ext cx="4800600" cy="5334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4.6a</a:t>
            </a:r>
            <a:r>
              <a:rPr lang="zh-CN" altLang="en-US" sz="3000" b="0">
                <a:solidFill>
                  <a:schemeClr val="tx1"/>
                </a:solidFill>
              </a:rPr>
              <a:t>：比较无符号数</a:t>
            </a:r>
          </a:p>
        </p:txBody>
      </p:sp>
      <p:sp>
        <p:nvSpPr>
          <p:cNvPr id="26627" name="文本占位符 26626"/>
          <p:cNvSpPr>
            <a:spLocks noGrp="1"/>
          </p:cNvSpPr>
          <p:nvPr>
            <p:ph type="body" idx="1"/>
          </p:nvPr>
        </p:nvSpPr>
        <p:spPr>
          <a:xfrm>
            <a:off x="762000" y="1981200"/>
            <a:ext cx="6858000" cy="28956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9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cmp ax,bx	</a:t>
            </a:r>
            <a:r>
              <a:rPr lang="zh-CN" altLang="en-US" sz="2900">
                <a:solidFill>
                  <a:schemeClr val="tx2"/>
                </a:solidFill>
                <a:latin typeface="宋体" panose="02010600030101010101" pitchFamily="2" charset="-122"/>
              </a:rPr>
              <a:t>；比较</a:t>
            </a:r>
            <a:r>
              <a:rPr lang="en-US" altLang="zh-CN" sz="2900">
                <a:solidFill>
                  <a:schemeClr val="tx2"/>
                </a:solidFill>
                <a:latin typeface="宋体" panose="02010600030101010101" pitchFamily="2" charset="-122"/>
              </a:rPr>
              <a:t>ax</a:t>
            </a:r>
            <a:r>
              <a:rPr lang="zh-CN" altLang="en-US" sz="2900">
                <a:solidFill>
                  <a:schemeClr val="tx2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900">
                <a:solidFill>
                  <a:schemeClr val="tx2"/>
                </a:solidFill>
                <a:latin typeface="宋体" panose="02010600030101010101" pitchFamily="2" charset="-122"/>
              </a:rPr>
              <a:t>bx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900">
                <a:solidFill>
                  <a:srgbClr val="009900"/>
                </a:solidFill>
                <a:latin typeface="宋体" panose="02010600030101010101" pitchFamily="2" charset="-122"/>
              </a:rPr>
              <a:t>jnb next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；若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ax</a:t>
            </a:r>
            <a:r>
              <a:rPr lang="en-US" altLang="zh-CN" sz="2900">
                <a:solidFill>
                  <a:srgbClr val="00990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，转移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xchg ax,bx	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；若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ax</a:t>
            </a:r>
            <a:r>
              <a:rPr lang="zh-CN" altLang="en-US" sz="2900">
                <a:solidFill>
                  <a:srgbClr val="009900"/>
                </a:solidFill>
                <a:latin typeface="宋体" panose="02010600030101010101" pitchFamily="2" charset="-122"/>
              </a:rPr>
              <a:t>＜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，交换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next:	...</a:t>
            </a:r>
          </a:p>
        </p:txBody>
      </p:sp>
      <p:sp>
        <p:nvSpPr>
          <p:cNvPr id="26628" name="圆角矩形标注 26627"/>
          <p:cNvSpPr/>
          <p:nvPr/>
        </p:nvSpPr>
        <p:spPr>
          <a:xfrm>
            <a:off x="3276600" y="4800600"/>
            <a:ext cx="5181600" cy="838200"/>
          </a:xfrm>
          <a:prstGeom prst="wedgeRoundRectCallout">
            <a:avLst>
              <a:gd name="adj1" fmla="val -50366"/>
              <a:gd name="adj2" fmla="val -88634"/>
              <a:gd name="adj3" fmla="val 16667"/>
            </a:avLst>
          </a:prstGeom>
          <a:solidFill>
            <a:schemeClr val="accent1"/>
          </a:solidFill>
          <a:ln w="12700" cap="sq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800" b="1">
                <a:latin typeface="Times New Roman" panose="02020603050405020304" pitchFamily="2" charset="0"/>
              </a:rPr>
              <a:t>结果：</a:t>
            </a:r>
            <a:r>
              <a:rPr lang="en-US" altLang="zh-CN" sz="2800" b="1">
                <a:latin typeface="Times New Roman" panose="02020603050405020304" pitchFamily="2" charset="0"/>
              </a:rPr>
              <a:t>AX</a:t>
            </a:r>
            <a:r>
              <a:rPr lang="zh-CN" altLang="en-US" sz="2800" b="1">
                <a:latin typeface="Times New Roman" panose="02020603050405020304" pitchFamily="2" charset="0"/>
              </a:rPr>
              <a:t>保存较大的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2" charset="0"/>
              </a:rPr>
              <a:t>无符号数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27649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比较有符号数大小</a:t>
            </a:r>
          </a:p>
        </p:txBody>
      </p:sp>
      <p:sp>
        <p:nvSpPr>
          <p:cNvPr id="27651" name="文本占位符 27650"/>
          <p:cNvSpPr>
            <a:spLocks noGrp="1"/>
          </p:cNvSpPr>
          <p:nvPr>
            <p:ph type="body" idx="1"/>
          </p:nvPr>
        </p:nvSpPr>
        <p:spPr>
          <a:xfrm>
            <a:off x="533400" y="2057400"/>
            <a:ext cx="7543800" cy="3767138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0000FF"/>
                </a:solidFill>
              </a:rPr>
              <a:t>有符号数的大（</a:t>
            </a:r>
            <a:r>
              <a:rPr lang="zh-CN" altLang="en-US" sz="2600" b="1" dirty="0">
                <a:solidFill>
                  <a:srgbClr val="FF0000"/>
                </a:solidFill>
              </a:rPr>
              <a:t>Greater</a:t>
            </a:r>
            <a:r>
              <a:rPr lang="zh-CN" altLang="en-US" sz="2600" b="1" dirty="0">
                <a:solidFill>
                  <a:srgbClr val="0000FF"/>
                </a:solidFill>
              </a:rPr>
              <a:t>）小（</a:t>
            </a:r>
            <a:r>
              <a:rPr lang="zh-CN" altLang="en-US" sz="2600" b="1" dirty="0">
                <a:solidFill>
                  <a:srgbClr val="FF0000"/>
                </a:solidFill>
              </a:rPr>
              <a:t>Less</a:t>
            </a:r>
            <a:r>
              <a:rPr lang="zh-CN" altLang="en-US" sz="2600" b="1" dirty="0">
                <a:solidFill>
                  <a:srgbClr val="0000FF"/>
                </a:solidFill>
              </a:rPr>
              <a:t>）需要组合OF、SF标志，并利用ZF标志确定相等（</a:t>
            </a:r>
            <a:r>
              <a:rPr lang="zh-CN" altLang="en-US" sz="2600" b="1" dirty="0">
                <a:solidFill>
                  <a:srgbClr val="FF0000"/>
                </a:solidFill>
              </a:rPr>
              <a:t>Equal</a:t>
            </a:r>
            <a:r>
              <a:rPr lang="zh-CN" altLang="en-US" sz="2600" b="1" dirty="0">
                <a:solidFill>
                  <a:srgbClr val="0000FF"/>
                </a:solidFill>
              </a:rPr>
              <a:t>）</a:t>
            </a:r>
          </a:p>
          <a:p>
            <a:r>
              <a:rPr lang="zh-CN" altLang="en-US" sz="2600" dirty="0"/>
              <a:t>两数的大小分成4种关系：</a:t>
            </a:r>
          </a:p>
          <a:p>
            <a:pPr lvl="1">
              <a:buNone/>
            </a:pPr>
            <a:r>
              <a:rPr lang="zh-CN" altLang="en-US" sz="2200" dirty="0"/>
              <a:t>⑴ 小于（不大于等于）：</a:t>
            </a:r>
            <a:r>
              <a:rPr lang="zh-CN" altLang="en-US" sz="2200" dirty="0">
                <a:solidFill>
                  <a:srgbClr val="009900"/>
                </a:solidFill>
              </a:rPr>
              <a:t>JL（JNGE）</a:t>
            </a:r>
          </a:p>
          <a:p>
            <a:pPr lvl="1">
              <a:buNone/>
            </a:pPr>
            <a:r>
              <a:rPr lang="zh-CN" altLang="en-US" sz="2200" dirty="0"/>
              <a:t>⑵ 不小于（大于等于）：</a:t>
            </a:r>
            <a:r>
              <a:rPr lang="zh-CN" altLang="en-US" sz="2200" dirty="0">
                <a:solidFill>
                  <a:srgbClr val="009900"/>
                </a:solidFill>
              </a:rPr>
              <a:t>JNL（JGE）</a:t>
            </a:r>
          </a:p>
          <a:p>
            <a:pPr lvl="1">
              <a:buNone/>
            </a:pPr>
            <a:r>
              <a:rPr lang="zh-CN" altLang="en-US" sz="2200" dirty="0"/>
              <a:t>⑶ 小于等于（不大于）：</a:t>
            </a:r>
            <a:r>
              <a:rPr lang="zh-CN" altLang="en-US" sz="2200" dirty="0">
                <a:solidFill>
                  <a:srgbClr val="009900"/>
                </a:solidFill>
              </a:rPr>
              <a:t>JLE（JNG）</a:t>
            </a:r>
          </a:p>
          <a:p>
            <a:pPr lvl="1">
              <a:buNone/>
            </a:pPr>
            <a:r>
              <a:rPr lang="zh-CN" altLang="en-US" sz="2200" dirty="0"/>
              <a:t>⑷ 不小于等于（大于）：</a:t>
            </a:r>
            <a:r>
              <a:rPr lang="zh-CN" altLang="en-US" sz="2200" dirty="0">
                <a:solidFill>
                  <a:srgbClr val="009900"/>
                </a:solidFill>
              </a:rPr>
              <a:t>JNLE（JG ）</a:t>
            </a:r>
          </a:p>
        </p:txBody>
      </p:sp>
      <p:sp>
        <p:nvSpPr>
          <p:cNvPr id="27652" name="椭圆 27651" descr="DI-43"/>
          <p:cNvSpPr/>
          <p:nvPr/>
        </p:nvSpPr>
        <p:spPr>
          <a:xfrm>
            <a:off x="6858000" y="3810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Jcc</a:t>
            </a:r>
          </a:p>
        </p:txBody>
      </p:sp>
      <p:sp>
        <p:nvSpPr>
          <p:cNvPr id="27653" name="文本框 27652"/>
          <p:cNvSpPr txBox="1"/>
          <p:nvPr/>
        </p:nvSpPr>
        <p:spPr>
          <a:xfrm>
            <a:off x="2743200" y="6019800"/>
            <a:ext cx="4572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1">
                <a:latin typeface="Arial" panose="020B0604020202020204" pitchFamily="34" charset="0"/>
              </a:rPr>
              <a:t>（重点掌握）</a:t>
            </a:r>
          </a:p>
        </p:txBody>
      </p:sp>
    </p:spTree>
  </p:cSld>
  <p:clrMapOvr>
    <a:masterClrMapping/>
  </p:clrMapOvr>
  <p:transition>
    <p:zoom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28673"/>
          <p:cNvSpPr>
            <a:spLocks noGrp="1"/>
          </p:cNvSpPr>
          <p:nvPr>
            <p:ph type="title"/>
          </p:nvPr>
        </p:nvSpPr>
        <p:spPr>
          <a:xfrm>
            <a:off x="762000" y="762000"/>
            <a:ext cx="4572000" cy="5334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4.6b</a:t>
            </a:r>
            <a:r>
              <a:rPr lang="zh-CN" altLang="en-US" sz="3000" b="0">
                <a:solidFill>
                  <a:schemeClr val="tx1"/>
                </a:solidFill>
              </a:rPr>
              <a:t>：比较有符号数</a:t>
            </a:r>
          </a:p>
        </p:txBody>
      </p:sp>
      <p:sp>
        <p:nvSpPr>
          <p:cNvPr id="28675" name="文本占位符 28674"/>
          <p:cNvSpPr>
            <a:spLocks noGrp="1"/>
          </p:cNvSpPr>
          <p:nvPr>
            <p:ph type="body" idx="1"/>
          </p:nvPr>
        </p:nvSpPr>
        <p:spPr>
          <a:xfrm>
            <a:off x="762000" y="2209800"/>
            <a:ext cx="7162800" cy="38862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9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cmp ax,bx	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；比较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ax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900">
                <a:solidFill>
                  <a:srgbClr val="009900"/>
                </a:solidFill>
                <a:latin typeface="宋体" panose="02010600030101010101" pitchFamily="2" charset="-122"/>
              </a:rPr>
              <a:t>jnl next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；若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ax</a:t>
            </a:r>
            <a:r>
              <a:rPr lang="en-US" altLang="zh-CN" sz="2900">
                <a:solidFill>
                  <a:srgbClr val="00990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，转移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xchg ax,bx	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；若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ax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＜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  <a:r>
              <a:rPr lang="zh-CN" altLang="en-US" sz="2900">
                <a:solidFill>
                  <a:srgbClr val="0000FF"/>
                </a:solidFill>
                <a:latin typeface="宋体" panose="02010600030101010101" pitchFamily="2" charset="-122"/>
              </a:rPr>
              <a:t>，交换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</a:tabLst>
            </a:pPr>
            <a:r>
              <a:rPr lang="en-US" altLang="zh-CN" sz="2900">
                <a:solidFill>
                  <a:srgbClr val="009900"/>
                </a:solidFill>
                <a:latin typeface="宋体" panose="02010600030101010101" pitchFamily="2" charset="-122"/>
              </a:rPr>
              <a:t>next:</a:t>
            </a: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	...</a:t>
            </a:r>
          </a:p>
        </p:txBody>
      </p:sp>
      <p:sp>
        <p:nvSpPr>
          <p:cNvPr id="28676" name="圆角矩形标注 28675"/>
          <p:cNvSpPr/>
          <p:nvPr/>
        </p:nvSpPr>
        <p:spPr>
          <a:xfrm>
            <a:off x="3429000" y="4953000"/>
            <a:ext cx="5181600" cy="838200"/>
          </a:xfrm>
          <a:prstGeom prst="wedgeRoundRectCallout">
            <a:avLst>
              <a:gd name="adj1" fmla="val -50366"/>
              <a:gd name="adj2" fmla="val -88634"/>
              <a:gd name="adj3" fmla="val 16667"/>
            </a:avLst>
          </a:prstGeom>
          <a:solidFill>
            <a:schemeClr val="accent1"/>
          </a:solidFill>
          <a:ln w="12700" cap="sq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800" b="1">
                <a:latin typeface="Times New Roman" panose="02020603050405020304" pitchFamily="2" charset="0"/>
              </a:rPr>
              <a:t>结果：</a:t>
            </a:r>
            <a:r>
              <a:rPr lang="en-US" altLang="zh-CN" sz="2800" b="1">
                <a:latin typeface="Times New Roman" panose="02020603050405020304" pitchFamily="2" charset="0"/>
              </a:rPr>
              <a:t>AX</a:t>
            </a:r>
            <a:r>
              <a:rPr lang="zh-CN" altLang="en-US" sz="2800" b="1">
                <a:latin typeface="Times New Roman" panose="02020603050405020304" pitchFamily="2" charset="0"/>
              </a:rPr>
              <a:t>保存较大的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2" charset="0"/>
              </a:rPr>
              <a:t>有符号数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29697"/>
          <p:cNvSpPr>
            <a:spLocks noGrp="1"/>
          </p:cNvSpPr>
          <p:nvPr>
            <p:ph type="title"/>
          </p:nvPr>
        </p:nvSpPr>
        <p:spPr>
          <a:xfrm>
            <a:off x="228600" y="457200"/>
            <a:ext cx="7543800" cy="1295400"/>
          </a:xfrm>
        </p:spPr>
        <p:txBody>
          <a:bodyPr anchor="b" anchorCtr="0"/>
          <a:lstStyle/>
          <a:p>
            <a:r>
              <a:rPr lang="zh-CN" altLang="en-US"/>
              <a:t>条件转移指令应用</a:t>
            </a:r>
            <a:r>
              <a:rPr lang="en-US" altLang="zh-CN">
                <a:latin typeface="Arial" panose="020B0604020202020204" pitchFamily="34" charset="0"/>
              </a:rPr>
              <a:t>——</a:t>
            </a:r>
            <a:r>
              <a:rPr lang="en-US" altLang="zh-CN"/>
              <a:t>  </a:t>
            </a:r>
            <a:r>
              <a:rPr lang="zh-CN" altLang="en-US"/>
              <a:t>分支结构</a:t>
            </a:r>
          </a:p>
        </p:txBody>
      </p:sp>
      <p:sp>
        <p:nvSpPr>
          <p:cNvPr id="29699" name="文本占位符 29698"/>
          <p:cNvSpPr>
            <a:spLocks noGrp="1"/>
          </p:cNvSpPr>
          <p:nvPr>
            <p:ph type="body" idx="1"/>
          </p:nvPr>
        </p:nvSpPr>
        <p:spPr>
          <a:xfrm>
            <a:off x="228600" y="1981200"/>
            <a:ext cx="8534400" cy="46482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zh-CN" altLang="en-US" sz="2600"/>
              <a:t>例：当</a:t>
            </a:r>
            <a:r>
              <a:rPr lang="en-US" altLang="zh-CN" sz="2600"/>
              <a:t>dx</a:t>
            </a:r>
            <a:r>
              <a:rPr lang="zh-CN" altLang="en-US" sz="2600"/>
              <a:t>的高</a:t>
            </a:r>
            <a:r>
              <a:rPr lang="en-US" altLang="zh-CN" sz="2600"/>
              <a:t>4</a:t>
            </a:r>
            <a:r>
              <a:rPr lang="zh-CN" altLang="en-US" sz="2600"/>
              <a:t>位全为</a:t>
            </a:r>
            <a:r>
              <a:rPr lang="en-US" altLang="zh-CN" sz="2600"/>
              <a:t>0</a:t>
            </a:r>
            <a:r>
              <a:rPr lang="zh-CN" altLang="en-US" sz="2600"/>
              <a:t>时，使</a:t>
            </a:r>
            <a:r>
              <a:rPr lang="en-US" altLang="zh-CN" sz="2600"/>
              <a:t>ax=0</a:t>
            </a:r>
            <a:r>
              <a:rPr lang="zh-CN" altLang="en-US" sz="2600"/>
              <a:t>；否则使</a:t>
            </a:r>
            <a:r>
              <a:rPr lang="en-US" altLang="zh-CN" sz="2600"/>
              <a:t>ax=-1</a:t>
            </a:r>
            <a:r>
              <a:rPr lang="zh-CN" altLang="en-US" sz="2600"/>
              <a:t>。</a:t>
            </a:r>
          </a:p>
          <a:p>
            <a:pPr>
              <a:lnSpc>
                <a:spcPct val="90000"/>
              </a:lnSpc>
              <a:buNone/>
            </a:pPr>
            <a:endParaRPr lang="zh-CN" altLang="en-US" sz="2600"/>
          </a:p>
          <a:p>
            <a:pPr>
              <a:lnSpc>
                <a:spcPct val="90000"/>
              </a:lnSpc>
              <a:buNone/>
            </a:pPr>
            <a:r>
              <a:rPr lang="zh-CN" altLang="en-US" sz="2600"/>
              <a:t>解题流程：分析、画流程图、编程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600"/>
              <a:t>分析：</a:t>
            </a:r>
            <a:r>
              <a:rPr lang="en-US" altLang="zh-CN" sz="2600"/>
              <a:t>dx</a:t>
            </a:r>
            <a:r>
              <a:rPr lang="zh-CN" altLang="en-US" sz="2600"/>
              <a:t>和</a:t>
            </a:r>
            <a:r>
              <a:rPr lang="en-US" altLang="zh-CN" sz="2600"/>
              <a:t>0f000h</a:t>
            </a:r>
            <a:r>
              <a:rPr lang="zh-CN" altLang="en-US" sz="2600"/>
              <a:t>与，根据结果判断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600">
                <a:hlinkClick r:id="rId2" action="ppaction://hlinksldjump"/>
              </a:rPr>
              <a:t>（参考源程序）</a:t>
            </a:r>
            <a:endParaRPr lang="en-US" altLang="zh-CN" sz="2600"/>
          </a:p>
          <a:p>
            <a:pPr>
              <a:lnSpc>
                <a:spcPct val="90000"/>
              </a:lnSpc>
              <a:buNone/>
            </a:pPr>
            <a:r>
              <a:rPr lang="en-US" altLang="zh-CN" sz="2600"/>
              <a:t> tip: jmp</a:t>
            </a:r>
            <a:r>
              <a:rPr lang="zh-CN" altLang="en-US" sz="2600"/>
              <a:t>指令的应用</a:t>
            </a:r>
          </a:p>
          <a:p>
            <a:pPr>
              <a:lnSpc>
                <a:spcPct val="90000"/>
              </a:lnSpc>
              <a:buNone/>
            </a:pPr>
            <a:endParaRPr lang="zh-CN" altLang="en-US" sz="2600"/>
          </a:p>
          <a:p>
            <a:pPr>
              <a:lnSpc>
                <a:spcPct val="90000"/>
              </a:lnSpc>
              <a:buNone/>
            </a:pPr>
            <a:r>
              <a:rPr lang="zh-CN" altLang="en-US" sz="2600">
                <a:solidFill>
                  <a:srgbClr val="0000FF"/>
                </a:solidFill>
              </a:rPr>
              <a:t>分支结构应用：比如，判断一个字符是否为小写字母、是否为</a:t>
            </a:r>
            <a:r>
              <a:rPr lang="en-US" altLang="zh-CN" sz="2600">
                <a:solidFill>
                  <a:srgbClr val="0000FF"/>
                </a:solidFill>
              </a:rPr>
              <a:t>0~9</a:t>
            </a:r>
            <a:r>
              <a:rPr lang="zh-CN" altLang="en-US" sz="2600">
                <a:solidFill>
                  <a:srgbClr val="0000FF"/>
                </a:solidFill>
              </a:rPr>
              <a:t>的数字。</a:t>
            </a:r>
            <a:r>
              <a:rPr lang="en-US" altLang="zh-CN" sz="2600">
                <a:solidFill>
                  <a:srgbClr val="0000FF"/>
                </a:solidFill>
              </a:rPr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600">
                <a:solidFill>
                  <a:srgbClr val="0000FF"/>
                </a:solidFill>
              </a:rPr>
              <a:t>      </a:t>
            </a:r>
            <a:r>
              <a:rPr lang="zh-CN" altLang="en-US" sz="2600">
                <a:solidFill>
                  <a:srgbClr val="0000FF"/>
                </a:solidFill>
              </a:rPr>
              <a:t>见书</a:t>
            </a:r>
            <a:r>
              <a:rPr lang="en-US" altLang="zh-CN" sz="2600">
                <a:solidFill>
                  <a:srgbClr val="0000FF"/>
                </a:solidFill>
              </a:rPr>
              <a:t>153</a:t>
            </a:r>
            <a:r>
              <a:rPr lang="zh-CN" altLang="en-US" sz="2600">
                <a:solidFill>
                  <a:srgbClr val="0000FF"/>
                </a:solidFill>
              </a:rPr>
              <a:t>页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3072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endParaRPr/>
          </a:p>
        </p:txBody>
      </p:sp>
      <p:sp>
        <p:nvSpPr>
          <p:cNvPr id="30723" name="文本占位符 30722"/>
          <p:cNvSpPr>
            <a:spLocks noGrp="1"/>
          </p:cNvSpPr>
          <p:nvPr>
            <p:ph type="body" idx="1"/>
          </p:nvPr>
        </p:nvSpPr>
        <p:spPr>
          <a:xfrm>
            <a:off x="533400" y="1524000"/>
            <a:ext cx="7391400" cy="50292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sz="2600"/>
              <a:t>                </a:t>
            </a:r>
            <a:r>
              <a:rPr lang="en-US" altLang="zh-CN" sz="2600">
                <a:latin typeface="Arial" panose="020B0604020202020204" pitchFamily="34" charset="0"/>
              </a:rPr>
              <a:t>……</a:t>
            </a:r>
            <a:endParaRPr lang="en-US" altLang="zh-CN" sz="2600"/>
          </a:p>
          <a:p>
            <a:pPr>
              <a:lnSpc>
                <a:spcPct val="90000"/>
              </a:lnSpc>
              <a:buNone/>
            </a:pPr>
            <a:r>
              <a:rPr lang="en-US" altLang="zh-CN" sz="2600"/>
              <a:t>               .code 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600"/>
              <a:t>               .startup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600"/>
              <a:t>               mov dx, 200fh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600"/>
              <a:t>               test dx, 0f000h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600"/>
              <a:t>               jz zero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600"/>
              <a:t>               mov ax,-1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600"/>
              <a:t>               </a:t>
            </a:r>
            <a:r>
              <a:rPr lang="en-US" altLang="zh-CN" sz="2600">
                <a:solidFill>
                  <a:srgbClr val="0000FF"/>
                </a:solidFill>
              </a:rPr>
              <a:t>jmp end1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600"/>
              <a:t>   zero:    mov ax,0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600"/>
              <a:t>  </a:t>
            </a:r>
            <a:r>
              <a:rPr lang="en-US" altLang="zh-CN" sz="2600">
                <a:solidFill>
                  <a:srgbClr val="0000FF"/>
                </a:solidFill>
              </a:rPr>
              <a:t>end1</a:t>
            </a:r>
            <a:r>
              <a:rPr lang="en-US" altLang="zh-CN" sz="2600"/>
              <a:t>:   .exit 0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31745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 anchor="b" anchorCtr="0"/>
          <a:lstStyle/>
          <a:p>
            <a:r>
              <a:rPr lang="zh-CN" altLang="en-US" dirty="0"/>
              <a:t>4.3  循环指令</a:t>
            </a:r>
            <a:r>
              <a:rPr lang="zh-CN" altLang="en-US" sz="3000" b="0" dirty="0">
                <a:solidFill>
                  <a:schemeClr val="tx1"/>
                </a:solidFill>
              </a:rPr>
              <a:t>（loop）</a:t>
            </a:r>
          </a:p>
        </p:txBody>
      </p:sp>
      <p:sp>
        <p:nvSpPr>
          <p:cNvPr id="31747" name="文本占位符 31746"/>
          <p:cNvSpPr>
            <a:spLocks noGrp="1"/>
          </p:cNvSpPr>
          <p:nvPr>
            <p:ph type="body" idx="1"/>
          </p:nvPr>
        </p:nvSpPr>
        <p:spPr>
          <a:xfrm>
            <a:off x="1187450" y="5181600"/>
            <a:ext cx="6705600" cy="1487488"/>
          </a:xfrm>
        </p:spPr>
        <p:txBody>
          <a:bodyPr/>
          <a:lstStyle/>
          <a:p>
            <a:r>
              <a:rPr lang="zh-CN" altLang="en-US" sz="2500" b="1">
                <a:latin typeface="楷体" panose="02010609060101010101" pitchFamily="1" charset="-122"/>
                <a:ea typeface="楷体" panose="02010609060101010101" pitchFamily="1" charset="-122"/>
              </a:rPr>
              <a:t>循环指令</a:t>
            </a:r>
            <a:r>
              <a:rPr lang="zh-CN" altLang="en-US" sz="2500" b="1">
                <a:solidFill>
                  <a:schemeClr val="tx2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默认利用</a:t>
            </a:r>
            <a:r>
              <a:rPr lang="en-US" altLang="zh-CN" sz="2500" b="1">
                <a:solidFill>
                  <a:schemeClr val="tx2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CX</a:t>
            </a:r>
            <a:r>
              <a:rPr lang="zh-CN" altLang="en-US" sz="2500" b="1">
                <a:solidFill>
                  <a:schemeClr val="tx2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计数器</a:t>
            </a:r>
            <a:r>
              <a:rPr lang="zh-CN" altLang="en-US" sz="2500" b="1">
                <a:latin typeface="楷体" panose="02010609060101010101" pitchFamily="1" charset="-122"/>
                <a:ea typeface="楷体" panose="02010609060101010101" pitchFamily="1" charset="-122"/>
              </a:rPr>
              <a:t>，方便实现计数循环的程序结构</a:t>
            </a:r>
          </a:p>
          <a:p>
            <a:r>
              <a:rPr lang="en-US" altLang="zh-CN" sz="2500" b="1">
                <a:latin typeface="楷体" panose="02010609060101010101" pitchFamily="1" charset="-122"/>
                <a:ea typeface="楷体" panose="02010609060101010101" pitchFamily="1" charset="-122"/>
              </a:rPr>
              <a:t>label</a:t>
            </a:r>
            <a:r>
              <a:rPr lang="zh-CN" altLang="en-US" sz="2500" b="1">
                <a:latin typeface="楷体" panose="02010609060101010101" pitchFamily="1" charset="-122"/>
                <a:ea typeface="楷体" panose="02010609060101010101" pitchFamily="1" charset="-122"/>
              </a:rPr>
              <a:t>操作数采用相对寻址方式</a:t>
            </a:r>
          </a:p>
        </p:txBody>
      </p:sp>
      <p:sp>
        <p:nvSpPr>
          <p:cNvPr id="31748" name="流程图: 可选过程 31747"/>
          <p:cNvSpPr/>
          <p:nvPr/>
        </p:nvSpPr>
        <p:spPr>
          <a:xfrm>
            <a:off x="1066800" y="1828800"/>
            <a:ext cx="7124700" cy="1017588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LOOP label	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CX←CX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</a:p>
          <a:p>
            <a:pPr defTabSz="914400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    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CX≠0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，循环到标号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label</a:t>
            </a:r>
          </a:p>
        </p:txBody>
      </p:sp>
      <p:sp>
        <p:nvSpPr>
          <p:cNvPr id="31749" name="流程图: 可选过程 31748"/>
          <p:cNvSpPr/>
          <p:nvPr/>
        </p:nvSpPr>
        <p:spPr>
          <a:xfrm>
            <a:off x="1066800" y="2895600"/>
            <a:ext cx="7124700" cy="1017588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LOOPZ label	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CX←CX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</a:p>
          <a:p>
            <a:pPr defTabSz="914400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    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CX≠0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且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ZF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，循环到标号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label</a:t>
            </a:r>
          </a:p>
        </p:txBody>
      </p:sp>
      <p:sp>
        <p:nvSpPr>
          <p:cNvPr id="31750" name="流程图: 可选过程 31749"/>
          <p:cNvSpPr/>
          <p:nvPr/>
        </p:nvSpPr>
        <p:spPr>
          <a:xfrm>
            <a:off x="1066800" y="4038600"/>
            <a:ext cx="7124700" cy="1017588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LOOPNZ label	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CX←CX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</a:p>
          <a:p>
            <a:pPr defTabSz="914400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    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CX≠0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且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ZF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，循环到标号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label</a:t>
            </a:r>
          </a:p>
        </p:txBody>
      </p:sp>
      <p:sp>
        <p:nvSpPr>
          <p:cNvPr id="31751" name="流程图: 可选过程 31750"/>
          <p:cNvSpPr/>
          <p:nvPr/>
        </p:nvSpPr>
        <p:spPr>
          <a:xfrm>
            <a:off x="1066800" y="1295400"/>
            <a:ext cx="7124700" cy="554038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JCXZ label	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CX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，转移到标号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label</a:t>
            </a:r>
          </a:p>
        </p:txBody>
      </p:sp>
      <p:sp>
        <p:nvSpPr>
          <p:cNvPr id="31752" name="文本框 31751"/>
          <p:cNvSpPr txBox="1"/>
          <p:nvPr/>
        </p:nvSpPr>
        <p:spPr>
          <a:xfrm>
            <a:off x="6934200" y="6338888"/>
            <a:ext cx="2209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1">
                <a:latin typeface="Arial" panose="020B0604020202020204" pitchFamily="34" charset="0"/>
              </a:rPr>
              <a:t>（重点掌握）</a:t>
            </a:r>
          </a:p>
        </p:txBody>
      </p:sp>
    </p:spTree>
  </p:cSld>
  <p:clrMapOvr>
    <a:masterClrMapping/>
  </p:clrMapOvr>
  <p:transition>
    <p:zoom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32769"/>
          <p:cNvSpPr>
            <a:spLocks noGrp="1"/>
          </p:cNvSpPr>
          <p:nvPr>
            <p:ph type="title"/>
          </p:nvPr>
        </p:nvSpPr>
        <p:spPr>
          <a:xfrm>
            <a:off x="3048000" y="685800"/>
            <a:ext cx="42672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4.7</a:t>
            </a:r>
            <a:r>
              <a:rPr lang="zh-CN" altLang="en-US" sz="3000" b="0">
                <a:solidFill>
                  <a:schemeClr val="tx1"/>
                </a:solidFill>
              </a:rPr>
              <a:t>：记录空格个数</a:t>
            </a:r>
          </a:p>
        </p:txBody>
      </p:sp>
      <p:sp>
        <p:nvSpPr>
          <p:cNvPr id="32771" name="文本占位符 32770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924800" cy="4983163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zh-CN" altLang="en-US" sz="1700">
                <a:solidFill>
                  <a:schemeClr val="tx2"/>
                </a:solidFill>
                <a:latin typeface="宋体" panose="02010600030101010101" pitchFamily="2" charset="-122"/>
              </a:rPr>
              <a:t>；设待处理字符串存放在以</a:t>
            </a:r>
            <a:r>
              <a:rPr lang="en-US" altLang="zh-CN" sz="1700">
                <a:solidFill>
                  <a:schemeClr val="tx2"/>
                </a:solidFill>
                <a:latin typeface="宋体" panose="02010600030101010101" pitchFamily="2" charset="-122"/>
              </a:rPr>
              <a:t>string</a:t>
            </a:r>
            <a:r>
              <a:rPr lang="zh-CN" altLang="en-US" sz="1700">
                <a:solidFill>
                  <a:schemeClr val="tx2"/>
                </a:solidFill>
                <a:latin typeface="宋体" panose="02010600030101010101" pitchFamily="2" charset="-122"/>
              </a:rPr>
              <a:t>开始的存储区，长度为</a:t>
            </a:r>
            <a:r>
              <a:rPr lang="en-US" altLang="zh-CN" sz="1700">
                <a:solidFill>
                  <a:schemeClr val="tx2"/>
                </a:solidFill>
                <a:latin typeface="宋体" panose="02010600030101010101" pitchFamily="2" charset="-122"/>
              </a:rPr>
              <a:t>count.</a:t>
            </a:r>
            <a:r>
              <a:rPr lang="en-US" altLang="zh-CN" sz="19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en-US" altLang="zh-CN" sz="1900">
                <a:solidFill>
                  <a:schemeClr val="accent2"/>
                </a:solidFill>
                <a:latin typeface="宋体" panose="02010600030101010101" pitchFamily="2" charset="-122"/>
              </a:rPr>
              <a:t>            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mov cx,count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     </a:t>
            </a: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；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设置循环次数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,count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为字符串长度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mov si,offset string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；用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lea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如何？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xor bx,bx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     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bx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，记录空格数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jcxz done</a:t>
            </a:r>
            <a:r>
              <a:rPr lang="en-US" altLang="zh-CN" sz="2100">
                <a:solidFill>
                  <a:schemeClr val="bg2"/>
                </a:solidFill>
                <a:latin typeface="宋体" panose="02010600030101010101" pitchFamily="2" charset="-122"/>
              </a:rPr>
              <a:t>            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；如果长度为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，退出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mov al,20h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     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；空格字符的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ascii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码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20h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en-US" altLang="zh-CN" sz="2100">
                <a:solidFill>
                  <a:schemeClr val="bg2"/>
                </a:solidFill>
                <a:latin typeface="宋体" panose="02010600030101010101" pitchFamily="2" charset="-122"/>
              </a:rPr>
              <a:t>again: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cmp al,es:[si]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jnz next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     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ZF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非空格，转移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inc bx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     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ZF=1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是空格，个数加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next: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inc si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loop again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     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；字符个数减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，不为</a:t>
            </a:r>
            <a:r>
              <a:rPr lang="en-US" altLang="zh-CN" sz="170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1700">
                <a:solidFill>
                  <a:schemeClr val="accent2"/>
                </a:solidFill>
                <a:latin typeface="宋体" panose="02010600030101010101" pitchFamily="2" charset="-122"/>
              </a:rPr>
              <a:t>继续循环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95675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done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:     mov result, bx</a:t>
            </a:r>
          </a:p>
        </p:txBody>
      </p:sp>
      <p:grpSp>
        <p:nvGrpSpPr>
          <p:cNvPr id="32772" name="组合 32771"/>
          <p:cNvGrpSpPr/>
          <p:nvPr/>
        </p:nvGrpSpPr>
        <p:grpSpPr>
          <a:xfrm>
            <a:off x="4419600" y="4343400"/>
            <a:ext cx="3059113" cy="914400"/>
            <a:chOff x="0" y="0"/>
            <a:chExt cx="1975" cy="576"/>
          </a:xfrm>
        </p:grpSpPr>
        <p:sp>
          <p:nvSpPr>
            <p:cNvPr id="32773" name="矩形 32772"/>
            <p:cNvSpPr/>
            <p:nvPr/>
          </p:nvSpPr>
          <p:spPr>
            <a:xfrm>
              <a:off x="775" y="0"/>
              <a:ext cx="1200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indent="184150" algn="just"/>
              <a:r>
                <a:rPr lang="en-US" altLang="zh-CN" sz="2800">
                  <a:solidFill>
                    <a:schemeClr val="bg2"/>
                  </a:solidFill>
                  <a:latin typeface="Arial" panose="020B0604020202020204" pitchFamily="34" charset="0"/>
                </a:rPr>
                <a:t>dec cx</a:t>
              </a:r>
            </a:p>
            <a:p>
              <a:pPr indent="184150" algn="just"/>
              <a:r>
                <a:rPr lang="en-US" altLang="zh-CN" sz="2800">
                  <a:solidFill>
                    <a:schemeClr val="bg2"/>
                  </a:solidFill>
                  <a:latin typeface="Arial" panose="020B0604020202020204" pitchFamily="34" charset="0"/>
                </a:rPr>
                <a:t>jnz again</a:t>
              </a:r>
            </a:p>
          </p:txBody>
        </p:sp>
        <p:sp>
          <p:nvSpPr>
            <p:cNvPr id="32774" name="未知"/>
            <p:cNvSpPr/>
            <p:nvPr/>
          </p:nvSpPr>
          <p:spPr>
            <a:xfrm>
              <a:off x="0" y="345"/>
              <a:ext cx="726" cy="45"/>
            </a:xfrm>
            <a:custGeom>
              <a:avLst/>
              <a:gdLst/>
              <a:ahLst/>
              <a:cxnLst/>
              <a:rect l="0" t="0" r="0" b="0"/>
              <a:pathLst>
                <a:path w="104" h="136">
                  <a:moveTo>
                    <a:pt x="0" y="136"/>
                  </a:moveTo>
                  <a:lnTo>
                    <a:pt x="95" y="13"/>
                  </a:lnTo>
                  <a:lnTo>
                    <a:pt x="104" y="0"/>
                  </a:lnTo>
                </a:path>
              </a:pathLst>
            </a:custGeom>
            <a:noFill/>
            <a:ln w="28575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775" name="组合 32774"/>
          <p:cNvGrpSpPr/>
          <p:nvPr/>
        </p:nvGrpSpPr>
        <p:grpSpPr>
          <a:xfrm>
            <a:off x="457200" y="533400"/>
            <a:ext cx="1905000" cy="2555875"/>
            <a:chOff x="0" y="0"/>
            <a:chExt cx="1200" cy="1610"/>
          </a:xfrm>
        </p:grpSpPr>
        <p:sp>
          <p:nvSpPr>
            <p:cNvPr id="32776" name="矩形 32775"/>
            <p:cNvSpPr/>
            <p:nvPr/>
          </p:nvSpPr>
          <p:spPr>
            <a:xfrm>
              <a:off x="0" y="0"/>
              <a:ext cx="1200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indent="184150" algn="just"/>
              <a:r>
                <a:rPr lang="en-US" altLang="zh-CN" sz="2800">
                  <a:solidFill>
                    <a:schemeClr val="bg2"/>
                  </a:solidFill>
                  <a:latin typeface="Arial" panose="020B0604020202020204" pitchFamily="34" charset="0"/>
                </a:rPr>
                <a:t>cmp cx,0</a:t>
              </a:r>
            </a:p>
            <a:p>
              <a:pPr indent="184150" algn="just"/>
              <a:r>
                <a:rPr lang="en-US" altLang="zh-CN" sz="2800">
                  <a:solidFill>
                    <a:schemeClr val="bg2"/>
                  </a:solidFill>
                  <a:latin typeface="Arial" panose="020B0604020202020204" pitchFamily="34" charset="0"/>
                </a:rPr>
                <a:t>jz done</a:t>
              </a:r>
            </a:p>
          </p:txBody>
        </p:sp>
        <p:sp>
          <p:nvSpPr>
            <p:cNvPr id="32777" name="未知"/>
            <p:cNvSpPr/>
            <p:nvPr/>
          </p:nvSpPr>
          <p:spPr>
            <a:xfrm>
              <a:off x="407" y="612"/>
              <a:ext cx="659" cy="998"/>
            </a:xfrm>
            <a:custGeom>
              <a:avLst/>
              <a:gdLst/>
              <a:ahLst/>
              <a:cxnLst/>
              <a:rect l="0" t="0" r="0" b="0"/>
              <a:pathLst>
                <a:path w="977" h="590">
                  <a:moveTo>
                    <a:pt x="0" y="0"/>
                  </a:moveTo>
                  <a:lnTo>
                    <a:pt x="433" y="486"/>
                  </a:lnTo>
                  <a:lnTo>
                    <a:pt x="977" y="590"/>
                  </a:lnTo>
                </a:path>
              </a:pathLst>
            </a:custGeom>
            <a:noFill/>
            <a:ln w="28575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32778" name="图片 32777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5075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3379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2.4.4  </a:t>
            </a:r>
            <a:r>
              <a:rPr lang="zh-CN" altLang="en-US"/>
              <a:t>子程序指令</a:t>
            </a:r>
          </a:p>
        </p:txBody>
      </p:sp>
      <p:sp>
        <p:nvSpPr>
          <p:cNvPr id="33795" name="文本占位符 33794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391400" cy="3690937"/>
          </a:xfrm>
        </p:spPr>
        <p:txBody>
          <a:bodyPr/>
          <a:lstStyle/>
          <a:p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子程序是完成特定功能的一段程序</a:t>
            </a:r>
          </a:p>
          <a:p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当主程序（调用程序）需要执行这个功能时，采用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CALL</a:t>
            </a:r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调用指令转移到该子程序的起始处执行</a:t>
            </a:r>
          </a:p>
          <a:p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当运行完子程序功能后，采用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RET</a:t>
            </a:r>
            <a:r>
              <a:rPr lang="zh-CN" altLang="en-US" sz="2600" b="1">
                <a:latin typeface="楷体" panose="02010609060101010101" pitchFamily="1" charset="-122"/>
                <a:ea typeface="楷体" panose="02010609060101010101" pitchFamily="1" charset="-122"/>
              </a:rPr>
              <a:t>返回指令回到主程序继续执行</a:t>
            </a:r>
          </a:p>
        </p:txBody>
      </p:sp>
      <p:sp>
        <p:nvSpPr>
          <p:cNvPr id="33796" name="圆角矩形 33795">
            <a:hlinkClick r:id="rId2" action="ppaction://hlinksldjump"/>
          </p:cNvPr>
          <p:cNvSpPr/>
          <p:nvPr/>
        </p:nvSpPr>
        <p:spPr>
          <a:xfrm>
            <a:off x="6629400" y="5181600"/>
            <a:ext cx="1143000" cy="533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>
              <a:lnSpc>
                <a:spcPct val="70000"/>
              </a:lnSpc>
            </a:pPr>
            <a:r>
              <a:rPr lang="zh-CN" altLang="en-US" sz="2800" b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rPr>
              <a:t>演示</a:t>
            </a:r>
          </a:p>
        </p:txBody>
      </p:sp>
    </p:spTree>
  </p:cSld>
  <p:clrMapOvr>
    <a:masterClrMapping/>
  </p:clrMapOvr>
  <p:transition>
    <p:zoom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34817"/>
          <p:cNvSpPr>
            <a:spLocks noGrp="1"/>
          </p:cNvSpPr>
          <p:nvPr>
            <p:ph type="title"/>
          </p:nvPr>
        </p:nvSpPr>
        <p:spPr>
          <a:xfrm>
            <a:off x="457200" y="122238"/>
            <a:ext cx="5334000" cy="944562"/>
          </a:xfrm>
        </p:spPr>
        <p:txBody>
          <a:bodyPr anchor="b" anchorCtr="0"/>
          <a:lstStyle/>
          <a:p>
            <a:r>
              <a:rPr lang="zh-CN" altLang="en-US"/>
              <a:t>主程序与子程序</a:t>
            </a:r>
          </a:p>
        </p:txBody>
      </p:sp>
      <p:sp>
        <p:nvSpPr>
          <p:cNvPr id="34819" name="文本框 34818"/>
          <p:cNvSpPr txBox="1"/>
          <p:nvPr/>
        </p:nvSpPr>
        <p:spPr>
          <a:xfrm>
            <a:off x="1219200" y="1676400"/>
            <a:ext cx="1828800" cy="3762375"/>
          </a:xfrm>
          <a:prstGeom prst="rect">
            <a:avLst/>
          </a:prstGeom>
          <a:noFill/>
          <a:ln w="19050" cap="sq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</a:rPr>
              <a:t>CALL label</a:t>
            </a: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</p:txBody>
      </p:sp>
      <p:sp>
        <p:nvSpPr>
          <p:cNvPr id="34820" name="文本框 34819"/>
          <p:cNvSpPr txBox="1"/>
          <p:nvPr/>
        </p:nvSpPr>
        <p:spPr>
          <a:xfrm>
            <a:off x="1676400" y="11430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主程序</a:t>
            </a:r>
          </a:p>
        </p:txBody>
      </p:sp>
      <p:sp>
        <p:nvSpPr>
          <p:cNvPr id="34821" name="直接连接符 34820"/>
          <p:cNvSpPr/>
          <p:nvPr/>
        </p:nvSpPr>
        <p:spPr>
          <a:xfrm>
            <a:off x="3657600" y="1828800"/>
            <a:ext cx="0" cy="16002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34822" name="直接连接符 34821"/>
          <p:cNvSpPr/>
          <p:nvPr/>
        </p:nvSpPr>
        <p:spPr>
          <a:xfrm>
            <a:off x="3657600" y="3733800"/>
            <a:ext cx="0" cy="16002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34823" name="直接连接符 34822"/>
          <p:cNvSpPr/>
          <p:nvPr/>
        </p:nvSpPr>
        <p:spPr>
          <a:xfrm>
            <a:off x="5867400" y="2514600"/>
            <a:ext cx="0" cy="20574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34824" name="直接连接符 34823"/>
          <p:cNvSpPr/>
          <p:nvPr/>
        </p:nvSpPr>
        <p:spPr>
          <a:xfrm flipV="1">
            <a:off x="3810000" y="2362200"/>
            <a:ext cx="1981200" cy="9906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34825" name="文本框 34824"/>
          <p:cNvSpPr txBox="1"/>
          <p:nvPr/>
        </p:nvSpPr>
        <p:spPr>
          <a:xfrm>
            <a:off x="6096000" y="2216150"/>
            <a:ext cx="1447800" cy="2667000"/>
          </a:xfrm>
          <a:prstGeom prst="rect">
            <a:avLst/>
          </a:prstGeom>
          <a:noFill/>
          <a:ln w="19050" cap="sq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</a:rPr>
              <a:t>RET</a:t>
            </a:r>
          </a:p>
        </p:txBody>
      </p:sp>
      <p:sp>
        <p:nvSpPr>
          <p:cNvPr id="34826" name="文本框 34825"/>
          <p:cNvSpPr txBox="1"/>
          <p:nvPr/>
        </p:nvSpPr>
        <p:spPr>
          <a:xfrm>
            <a:off x="6172200" y="168275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子程序</a:t>
            </a:r>
          </a:p>
        </p:txBody>
      </p:sp>
      <p:sp>
        <p:nvSpPr>
          <p:cNvPr id="34827" name="直接连接符 34826"/>
          <p:cNvSpPr/>
          <p:nvPr/>
        </p:nvSpPr>
        <p:spPr>
          <a:xfrm flipH="1" flipV="1">
            <a:off x="3733800" y="3733800"/>
            <a:ext cx="1905000" cy="7620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34828" name="线形标注 1(带强调线) 34827"/>
          <p:cNvSpPr/>
          <p:nvPr/>
        </p:nvSpPr>
        <p:spPr>
          <a:xfrm>
            <a:off x="4876800" y="5405438"/>
            <a:ext cx="3810000" cy="835025"/>
          </a:xfrm>
          <a:prstGeom prst="accentCallout1">
            <a:avLst>
              <a:gd name="adj1" fmla="val 13690"/>
              <a:gd name="adj2" fmla="val -2000"/>
              <a:gd name="adj3" fmla="val -168630"/>
              <a:gd name="adj4" fmla="val -69458"/>
            </a:avLst>
          </a:prstGeom>
          <a:solidFill>
            <a:schemeClr val="accent1"/>
          </a:solidFill>
          <a:ln w="12700" cap="sq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400" b="1">
                <a:latin typeface="Times New Roman" panose="02020603050405020304" pitchFamily="2" charset="0"/>
              </a:rPr>
              <a:t>回到</a:t>
            </a:r>
            <a:r>
              <a:rPr lang="en-US" altLang="zh-CN" sz="2400" b="1">
                <a:latin typeface="Times New Roman" panose="02020603050405020304" pitchFamily="2" charset="0"/>
              </a:rPr>
              <a:t>CALL</a:t>
            </a:r>
            <a:r>
              <a:rPr lang="zh-CN" altLang="en-US" sz="2400" b="1">
                <a:latin typeface="Times New Roman" panose="02020603050405020304" pitchFamily="2" charset="0"/>
              </a:rPr>
              <a:t>指令后的指令处</a:t>
            </a:r>
            <a:r>
              <a:rPr lang="en-US" altLang="zh-CN" sz="2400" b="1">
                <a:latin typeface="Times New Roman" panose="02020603050405020304" pitchFamily="2" charset="0"/>
              </a:rPr>
              <a:t>——</a:t>
            </a:r>
            <a:r>
              <a:rPr lang="zh-CN" altLang="en-US" sz="2400" b="1">
                <a:latin typeface="Times New Roman" panose="02020603050405020304" pitchFamily="2" charset="0"/>
              </a:rPr>
              <a:t>返回地址</a:t>
            </a:r>
          </a:p>
        </p:txBody>
      </p:sp>
      <p:pic>
        <p:nvPicPr>
          <p:cNvPr id="34829" name="图片 34828" descr="14_6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500"/>
                            </p:stCondLst>
                            <p:childTnLst>
                              <p:par>
                                <p:cTn id="26" presetID="17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500"/>
                            </p:stCondLst>
                            <p:childTnLst>
                              <p:par>
                                <p:cTn id="40" presetID="7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35841"/>
          <p:cNvSpPr>
            <a:spLocks noGrp="1"/>
          </p:cNvSpPr>
          <p:nvPr>
            <p:ph type="title"/>
          </p:nvPr>
        </p:nvSpPr>
        <p:spPr>
          <a:xfrm>
            <a:off x="457200" y="122238"/>
            <a:ext cx="5257800" cy="1020762"/>
          </a:xfrm>
        </p:spPr>
        <p:txBody>
          <a:bodyPr anchor="b" anchorCtr="0"/>
          <a:lstStyle/>
          <a:p>
            <a:r>
              <a:rPr lang="zh-CN" altLang="en-US"/>
              <a:t>子程序调用指令</a:t>
            </a:r>
          </a:p>
        </p:txBody>
      </p:sp>
      <p:sp>
        <p:nvSpPr>
          <p:cNvPr id="35843" name="文本占位符 3584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7924800" cy="4495800"/>
          </a:xfrm>
        </p:spPr>
        <p:txBody>
          <a:bodyPr/>
          <a:lstStyle/>
          <a:p>
            <a:r>
              <a:rPr lang="en-US" altLang="zh-CN" sz="2600"/>
              <a:t>CALL</a:t>
            </a:r>
            <a:r>
              <a:rPr lang="zh-CN" altLang="en-US" sz="2600"/>
              <a:t>指令分成</a:t>
            </a:r>
            <a:r>
              <a:rPr lang="en-US" altLang="zh-CN" sz="2600"/>
              <a:t>4</a:t>
            </a:r>
            <a:r>
              <a:rPr lang="zh-CN" altLang="en-US" sz="2600"/>
              <a:t>种类型（类似</a:t>
            </a:r>
            <a:r>
              <a:rPr lang="en-US" altLang="zh-CN" sz="2600"/>
              <a:t>JMP</a:t>
            </a:r>
            <a:r>
              <a:rPr lang="zh-CN" altLang="en-US" sz="2600"/>
              <a:t>）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>
                <a:solidFill>
                  <a:srgbClr val="0000FF"/>
                </a:solidFill>
              </a:rPr>
              <a:t>CALL label	</a:t>
            </a:r>
            <a:r>
              <a:rPr lang="en-US" altLang="zh-CN" sz="2200"/>
              <a:t>	</a:t>
            </a:r>
            <a:r>
              <a:rPr lang="zh-CN" altLang="en-US" sz="2200"/>
              <a:t>；段内调用、直接寻址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>
                <a:solidFill>
                  <a:srgbClr val="0000FF"/>
                </a:solidFill>
              </a:rPr>
              <a:t>CALL r16/m16</a:t>
            </a:r>
            <a:r>
              <a:rPr lang="en-US" altLang="zh-CN" sz="2200"/>
              <a:t>	</a:t>
            </a:r>
            <a:r>
              <a:rPr lang="zh-CN" altLang="en-US" sz="2200"/>
              <a:t>；段内调用、间接寻址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>
                <a:solidFill>
                  <a:srgbClr val="0000FF"/>
                </a:solidFill>
              </a:rPr>
              <a:t>CALL far ptr label</a:t>
            </a:r>
            <a:r>
              <a:rPr lang="en-US" altLang="zh-CN" sz="2200"/>
              <a:t>	</a:t>
            </a:r>
            <a:r>
              <a:rPr lang="zh-CN" altLang="en-US" sz="2200"/>
              <a:t>；段间调用、直接寻址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>
                <a:solidFill>
                  <a:srgbClr val="0000FF"/>
                </a:solidFill>
              </a:rPr>
              <a:t>CALL far ptr mem</a:t>
            </a:r>
            <a:r>
              <a:rPr lang="en-US" altLang="zh-CN" sz="2200"/>
              <a:t>	</a:t>
            </a:r>
            <a:r>
              <a:rPr lang="zh-CN" altLang="en-US" sz="2200"/>
              <a:t>；段间调用、间接寻址</a:t>
            </a:r>
          </a:p>
          <a:p>
            <a:r>
              <a:rPr lang="en-US" altLang="zh-CN" sz="2600"/>
              <a:t>CALL</a:t>
            </a:r>
            <a:r>
              <a:rPr lang="zh-CN" altLang="en-US" sz="2600"/>
              <a:t>指令需要保存返回地址：</a:t>
            </a:r>
          </a:p>
          <a:p>
            <a:pPr lvl="1"/>
            <a:r>
              <a:rPr lang="zh-CN" altLang="en-US" sz="2200" b="1">
                <a:solidFill>
                  <a:srgbClr val="0000FF"/>
                </a:solidFill>
              </a:rPr>
              <a:t>段内调用</a:t>
            </a:r>
            <a:r>
              <a:rPr lang="en-US" altLang="zh-CN" sz="2200">
                <a:latin typeface="Arial" panose="020B0604020202020204" pitchFamily="34" charset="0"/>
              </a:rPr>
              <a:t>——</a:t>
            </a:r>
            <a:r>
              <a:rPr lang="zh-CN" altLang="en-US" sz="2200" b="1">
                <a:solidFill>
                  <a:srgbClr val="009900"/>
                </a:solidFill>
              </a:rPr>
              <a:t>入栈偏移地址</a:t>
            </a:r>
            <a:r>
              <a:rPr lang="en-US" altLang="zh-CN" sz="2200" b="1">
                <a:solidFill>
                  <a:srgbClr val="009900"/>
                </a:solidFill>
              </a:rPr>
              <a:t>IP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/>
              <a:t>SP←SP</a:t>
            </a:r>
            <a:r>
              <a:rPr lang="zh-CN" altLang="en-US" sz="2200"/>
              <a:t>－</a:t>
            </a:r>
            <a:r>
              <a:rPr lang="en-US" altLang="zh-CN" sz="2200"/>
              <a:t>2</a:t>
            </a:r>
            <a:r>
              <a:rPr lang="zh-CN" altLang="en-US" sz="2200"/>
              <a:t>，</a:t>
            </a:r>
            <a:r>
              <a:rPr lang="en-US" altLang="zh-CN" sz="2200"/>
              <a:t>SS:[SP]←IP</a:t>
            </a:r>
          </a:p>
          <a:p>
            <a:pPr lvl="1"/>
            <a:r>
              <a:rPr lang="zh-CN" altLang="en-US" sz="2200" b="1">
                <a:solidFill>
                  <a:srgbClr val="0000FF"/>
                </a:solidFill>
              </a:rPr>
              <a:t>段间调用</a:t>
            </a:r>
            <a:r>
              <a:rPr lang="en-US" altLang="zh-CN" sz="2200">
                <a:latin typeface="Arial" panose="020B0604020202020204" pitchFamily="34" charset="0"/>
              </a:rPr>
              <a:t>——</a:t>
            </a:r>
            <a:r>
              <a:rPr lang="zh-CN" altLang="en-US" sz="2200" b="1">
                <a:solidFill>
                  <a:srgbClr val="009900"/>
                </a:solidFill>
              </a:rPr>
              <a:t>入栈偏移地址</a:t>
            </a:r>
            <a:r>
              <a:rPr lang="en-US" altLang="zh-CN" sz="2200" b="1">
                <a:solidFill>
                  <a:srgbClr val="009900"/>
                </a:solidFill>
              </a:rPr>
              <a:t>IP</a:t>
            </a:r>
            <a:r>
              <a:rPr lang="zh-CN" altLang="en-US" sz="2200" b="1">
                <a:solidFill>
                  <a:srgbClr val="009900"/>
                </a:solidFill>
              </a:rPr>
              <a:t>和段地址</a:t>
            </a:r>
            <a:r>
              <a:rPr lang="en-US" altLang="zh-CN" sz="2200" b="1">
                <a:solidFill>
                  <a:srgbClr val="009900"/>
                </a:solidFill>
              </a:rPr>
              <a:t>CS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/>
              <a:t>SP←SP</a:t>
            </a:r>
            <a:r>
              <a:rPr lang="zh-CN" altLang="en-US" sz="2200"/>
              <a:t>－</a:t>
            </a:r>
            <a:r>
              <a:rPr lang="en-US" altLang="zh-CN" sz="2200"/>
              <a:t>2</a:t>
            </a:r>
            <a:r>
              <a:rPr lang="zh-CN" altLang="en-US" sz="2200"/>
              <a:t>，</a:t>
            </a:r>
            <a:r>
              <a:rPr lang="en-US" altLang="zh-CN" sz="2200"/>
              <a:t>SS:[SP]←IP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/>
              <a:t>SP←SP</a:t>
            </a:r>
            <a:r>
              <a:rPr lang="zh-CN" altLang="en-US" sz="2200"/>
              <a:t>－</a:t>
            </a:r>
            <a:r>
              <a:rPr lang="en-US" altLang="zh-CN" sz="2200"/>
              <a:t>2</a:t>
            </a:r>
            <a:r>
              <a:rPr lang="zh-CN" altLang="en-US" sz="2200"/>
              <a:t>，</a:t>
            </a:r>
            <a:r>
              <a:rPr lang="en-US" altLang="zh-CN" sz="2200"/>
              <a:t>SS:[SP]←CS</a:t>
            </a:r>
          </a:p>
        </p:txBody>
      </p:sp>
      <p:sp>
        <p:nvSpPr>
          <p:cNvPr id="35844" name="椭圆 35843" descr="DI-43"/>
          <p:cNvSpPr/>
          <p:nvPr/>
        </p:nvSpPr>
        <p:spPr>
          <a:xfrm>
            <a:off x="6781800" y="304800"/>
            <a:ext cx="914400" cy="914400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CALL</a:t>
            </a:r>
          </a:p>
        </p:txBody>
      </p:sp>
    </p:spTree>
  </p:cSld>
  <p:clrMapOvr>
    <a:masterClrMapping/>
  </p:clrMapOvr>
  <p:transition>
    <p:zoom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3686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子程序返回指令</a:t>
            </a:r>
          </a:p>
        </p:txBody>
      </p:sp>
      <p:sp>
        <p:nvSpPr>
          <p:cNvPr id="36867" name="文本占位符 36866"/>
          <p:cNvSpPr>
            <a:spLocks noGrp="1"/>
          </p:cNvSpPr>
          <p:nvPr>
            <p:ph type="body" idx="1"/>
          </p:nvPr>
        </p:nvSpPr>
        <p:spPr>
          <a:xfrm>
            <a:off x="152400" y="1828800"/>
            <a:ext cx="85344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600"/>
              <a:t>根据段内和段间、有无参数，分成</a:t>
            </a:r>
            <a:r>
              <a:rPr lang="en-US" altLang="zh-CN" sz="2600"/>
              <a:t>4</a:t>
            </a:r>
            <a:r>
              <a:rPr lang="zh-CN" altLang="en-US" sz="2600"/>
              <a:t>种类型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>
                <a:solidFill>
                  <a:srgbClr val="0000FF"/>
                </a:solidFill>
              </a:rPr>
              <a:t>RET	</a:t>
            </a:r>
            <a:r>
              <a:rPr lang="en-US" altLang="zh-CN" sz="2200"/>
              <a:t>	</a:t>
            </a:r>
            <a:r>
              <a:rPr lang="zh-CN" altLang="en-US" sz="2200"/>
              <a:t>；无参数段内返回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>
                <a:solidFill>
                  <a:srgbClr val="0000FF"/>
                </a:solidFill>
              </a:rPr>
              <a:t>RET i16</a:t>
            </a:r>
            <a:r>
              <a:rPr lang="en-US" altLang="zh-CN" sz="2200"/>
              <a:t>		</a:t>
            </a:r>
            <a:r>
              <a:rPr lang="zh-CN" altLang="en-US" sz="2200"/>
              <a:t>；有参数段内返回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>
                <a:solidFill>
                  <a:srgbClr val="0000FF"/>
                </a:solidFill>
              </a:rPr>
              <a:t>RET</a:t>
            </a:r>
            <a:r>
              <a:rPr lang="en-US" altLang="zh-CN" sz="2200"/>
              <a:t>		</a:t>
            </a:r>
            <a:r>
              <a:rPr lang="zh-CN" altLang="en-US" sz="2200"/>
              <a:t>；无参数段间返回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>
                <a:solidFill>
                  <a:srgbClr val="0000FF"/>
                </a:solidFill>
              </a:rPr>
              <a:t>RET i16</a:t>
            </a:r>
            <a:r>
              <a:rPr lang="en-US" altLang="zh-CN" sz="2200"/>
              <a:t>		</a:t>
            </a:r>
            <a:r>
              <a:rPr lang="zh-CN" altLang="en-US" sz="2200"/>
              <a:t>；有参数段间返回</a:t>
            </a:r>
          </a:p>
          <a:p>
            <a:pPr>
              <a:lnSpc>
                <a:spcPct val="90000"/>
              </a:lnSpc>
            </a:pPr>
            <a:r>
              <a:rPr lang="zh-CN" altLang="en-US" sz="2600"/>
              <a:t>需要弹出</a:t>
            </a:r>
            <a:r>
              <a:rPr lang="en-US" altLang="zh-CN" sz="2600"/>
              <a:t>CALL</a:t>
            </a:r>
            <a:r>
              <a:rPr lang="zh-CN" altLang="en-US" sz="2600"/>
              <a:t>指令压入堆栈的返回地址</a:t>
            </a:r>
          </a:p>
          <a:p>
            <a:pPr lvl="1">
              <a:lnSpc>
                <a:spcPct val="90000"/>
              </a:lnSpc>
            </a:pPr>
            <a:r>
              <a:rPr lang="zh-CN" altLang="en-US" sz="2200" b="1">
                <a:solidFill>
                  <a:srgbClr val="0000FF"/>
                </a:solidFill>
              </a:rPr>
              <a:t>段内返回</a:t>
            </a:r>
            <a:r>
              <a:rPr lang="en-US" altLang="zh-CN" sz="2200">
                <a:latin typeface="Arial" panose="020B0604020202020204" pitchFamily="34" charset="0"/>
              </a:rPr>
              <a:t>——</a:t>
            </a:r>
            <a:r>
              <a:rPr lang="zh-CN" altLang="en-US" sz="2200" b="1">
                <a:solidFill>
                  <a:srgbClr val="009900"/>
                </a:solidFill>
              </a:rPr>
              <a:t>出栈偏移地址</a:t>
            </a:r>
            <a:r>
              <a:rPr lang="en-US" altLang="zh-CN" sz="2200" b="1">
                <a:solidFill>
                  <a:srgbClr val="009900"/>
                </a:solidFill>
              </a:rPr>
              <a:t>IP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/>
              <a:t>IP←SS:[SP]</a:t>
            </a:r>
            <a:r>
              <a:rPr lang="zh-CN" altLang="en-US" sz="2200"/>
              <a:t>， </a:t>
            </a:r>
            <a:r>
              <a:rPr lang="en-US" altLang="zh-CN" sz="2200"/>
              <a:t>SP←SP</a:t>
            </a:r>
            <a:r>
              <a:rPr lang="zh-CN" altLang="en-US" sz="2200"/>
              <a:t>＋</a:t>
            </a:r>
            <a:r>
              <a:rPr lang="en-US" altLang="zh-CN" sz="2200"/>
              <a:t>2</a:t>
            </a:r>
          </a:p>
          <a:p>
            <a:pPr lvl="1">
              <a:lnSpc>
                <a:spcPct val="90000"/>
              </a:lnSpc>
            </a:pPr>
            <a:r>
              <a:rPr lang="zh-CN" altLang="en-US" sz="2200" b="1">
                <a:solidFill>
                  <a:srgbClr val="0000FF"/>
                </a:solidFill>
              </a:rPr>
              <a:t>段间返回</a:t>
            </a:r>
            <a:r>
              <a:rPr lang="en-US" altLang="zh-CN" sz="2200">
                <a:latin typeface="Arial" panose="020B0604020202020204" pitchFamily="34" charset="0"/>
              </a:rPr>
              <a:t>——</a:t>
            </a:r>
            <a:r>
              <a:rPr lang="zh-CN" altLang="en-US" sz="2200" b="1">
                <a:solidFill>
                  <a:srgbClr val="009900"/>
                </a:solidFill>
              </a:rPr>
              <a:t>出栈偏移地址</a:t>
            </a:r>
            <a:r>
              <a:rPr lang="en-US" altLang="zh-CN" sz="2200" b="1">
                <a:solidFill>
                  <a:srgbClr val="009900"/>
                </a:solidFill>
              </a:rPr>
              <a:t>IP</a:t>
            </a:r>
            <a:r>
              <a:rPr lang="zh-CN" altLang="en-US" sz="2200" b="1">
                <a:solidFill>
                  <a:srgbClr val="009900"/>
                </a:solidFill>
              </a:rPr>
              <a:t>和段地址</a:t>
            </a:r>
            <a:r>
              <a:rPr lang="en-US" altLang="zh-CN" sz="2200" b="1">
                <a:solidFill>
                  <a:srgbClr val="009900"/>
                </a:solidFill>
              </a:rPr>
              <a:t>CS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/>
              <a:t>IP←SS:[SP]</a:t>
            </a:r>
            <a:r>
              <a:rPr lang="zh-CN" altLang="en-US" sz="2200"/>
              <a:t>，</a:t>
            </a:r>
            <a:r>
              <a:rPr lang="en-US" altLang="zh-CN" sz="2200"/>
              <a:t>SP←SP</a:t>
            </a:r>
            <a:r>
              <a:rPr lang="zh-CN" altLang="en-US" sz="2200"/>
              <a:t>＋</a:t>
            </a:r>
            <a:r>
              <a:rPr lang="en-US" altLang="zh-CN" sz="2200"/>
              <a:t>2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 sz="2200"/>
              <a:t>CS←SS:[SP]</a:t>
            </a:r>
            <a:r>
              <a:rPr lang="zh-CN" altLang="en-US" sz="2200"/>
              <a:t>，</a:t>
            </a:r>
            <a:r>
              <a:rPr lang="en-US" altLang="zh-CN" sz="2200"/>
              <a:t>SP←SP</a:t>
            </a:r>
            <a:r>
              <a:rPr lang="zh-CN" altLang="en-US" sz="2200"/>
              <a:t>＋</a:t>
            </a:r>
            <a:r>
              <a:rPr lang="en-US" altLang="zh-CN" sz="2200"/>
              <a:t>2</a:t>
            </a:r>
          </a:p>
        </p:txBody>
      </p:sp>
      <p:sp>
        <p:nvSpPr>
          <p:cNvPr id="36868" name="矩形标注 36867">
            <a:hlinkClick r:id="rId2" action="ppaction://hlinksldjump"/>
          </p:cNvPr>
          <p:cNvSpPr/>
          <p:nvPr/>
        </p:nvSpPr>
        <p:spPr>
          <a:xfrm>
            <a:off x="6705600" y="2667000"/>
            <a:ext cx="2209800" cy="685800"/>
          </a:xfrm>
          <a:prstGeom prst="wedgeRectCallout">
            <a:avLst>
              <a:gd name="adj1" fmla="val -83190"/>
              <a:gd name="adj2" fmla="val 16898"/>
            </a:avLst>
          </a:prstGeom>
          <a:pattFill prst="zigZag">
            <a:fgClr>
              <a:schemeClr val="accent1"/>
            </a:fgClr>
            <a:bgClr>
              <a:srgbClr val="FFFFFF"/>
            </a:bgClr>
          </a:patt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2" charset="0"/>
              </a:rPr>
              <a:t>i16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2" charset="0"/>
              </a:rPr>
              <a:t>参数的作用</a:t>
            </a:r>
            <a:endParaRPr lang="zh-CN" altLang="en-US" sz="2400" b="1">
              <a:latin typeface="Times New Roman" panose="02020603050405020304" pitchFamily="2" charset="0"/>
            </a:endParaRPr>
          </a:p>
        </p:txBody>
      </p:sp>
      <p:sp>
        <p:nvSpPr>
          <p:cNvPr id="36869" name="椭圆 36868" descr="DI-43"/>
          <p:cNvSpPr/>
          <p:nvPr/>
        </p:nvSpPr>
        <p:spPr>
          <a:xfrm>
            <a:off x="6858000" y="304800"/>
            <a:ext cx="914400" cy="914400"/>
          </a:xfrm>
          <a:prstGeom prst="ellipse">
            <a:avLst/>
          </a:prstGeom>
          <a:blipFill rotWithShape="0">
            <a:blip r:embed="rId3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  <a:t>RET</a:t>
            </a:r>
          </a:p>
        </p:txBody>
      </p:sp>
    </p:spTree>
  </p:cSld>
  <p:clrMapOvr>
    <a:masterClrMapping/>
  </p:clrMapOvr>
  <p:transition>
    <p:zoom dir="in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37889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返回指令</a:t>
            </a:r>
            <a:r>
              <a:rPr lang="en-US" altLang="zh-CN"/>
              <a:t>RET</a:t>
            </a:r>
            <a:r>
              <a:rPr lang="zh-CN" altLang="en-US"/>
              <a:t>的参数</a:t>
            </a:r>
          </a:p>
        </p:txBody>
      </p:sp>
      <p:sp>
        <p:nvSpPr>
          <p:cNvPr id="37891" name="文本占位符 3789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>
                <a:solidFill>
                  <a:schemeClr val="bg2"/>
                </a:solidFill>
              </a:rPr>
              <a:t>	</a:t>
            </a:r>
            <a:r>
              <a:rPr lang="zh-CN" altLang="en-US" dirty="0">
                <a:solidFill>
                  <a:srgbClr val="0000FF"/>
                </a:solidFill>
              </a:rPr>
              <a:t>RET i16</a:t>
            </a:r>
            <a:r>
              <a:rPr lang="zh-CN" altLang="en-US" dirty="0"/>
              <a:t>	</a:t>
            </a:r>
            <a:r>
              <a:rPr lang="zh-CN" altLang="en-US" dirty="0">
                <a:solidFill>
                  <a:schemeClr val="bg2"/>
                </a:solidFill>
              </a:rPr>
              <a:t>；有参数返回</a:t>
            </a:r>
          </a:p>
          <a:p>
            <a:r>
              <a:rPr lang="zh-CN" altLang="en-US" dirty="0"/>
              <a:t>RET指令可以带有一个立即数i16，</a:t>
            </a:r>
          </a:p>
          <a:p>
            <a:pPr>
              <a:buNone/>
            </a:pPr>
            <a:r>
              <a:rPr lang="zh-CN" altLang="en-US" dirty="0"/>
              <a:t>则堆栈指针SP将增加，即</a:t>
            </a:r>
          </a:p>
          <a:p>
            <a:pPr lvl="1">
              <a:buNone/>
            </a:pPr>
            <a:r>
              <a:rPr lang="zh-CN" altLang="en-US" dirty="0">
                <a:solidFill>
                  <a:srgbClr val="0000FF"/>
                </a:solidFill>
              </a:rPr>
              <a:t>SP←SP+i16</a:t>
            </a:r>
          </a:p>
          <a:p>
            <a:r>
              <a:rPr lang="zh-CN" altLang="en-US" dirty="0"/>
              <a:t>这个特点使得程序可以方便地废除若干执行CALL指令以前入栈的参数</a:t>
            </a:r>
          </a:p>
        </p:txBody>
      </p:sp>
      <p:pic>
        <p:nvPicPr>
          <p:cNvPr id="37892" name="图片 37891" descr="14_6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38913"/>
          <p:cNvSpPr>
            <a:spLocks noGrp="1"/>
          </p:cNvSpPr>
          <p:nvPr>
            <p:ph type="title"/>
          </p:nvPr>
        </p:nvSpPr>
        <p:spPr>
          <a:xfrm>
            <a:off x="685800" y="609600"/>
            <a:ext cx="3702050" cy="519113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4.8</a:t>
            </a:r>
            <a:r>
              <a:rPr lang="zh-CN" altLang="en-US" sz="3000" b="0">
                <a:solidFill>
                  <a:schemeClr val="tx1"/>
                </a:solidFill>
              </a:rPr>
              <a:t>：子程序</a:t>
            </a:r>
          </a:p>
        </p:txBody>
      </p:sp>
      <p:sp>
        <p:nvSpPr>
          <p:cNvPr id="38915" name="文本占位符 38914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7696200" cy="46482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25825" algn="l"/>
              </a:tabLst>
            </a:pPr>
            <a:r>
              <a:rPr lang="zh-CN" altLang="en-US" sz="2100" b="1">
                <a:solidFill>
                  <a:schemeClr val="tx2"/>
                </a:solidFill>
                <a:latin typeface="宋体" panose="02010600030101010101" pitchFamily="2" charset="-122"/>
              </a:rPr>
              <a:t>；主程序</a:t>
            </a:r>
          </a:p>
          <a:p>
            <a:pPr marL="0" indent="0" defTabSz="914400">
              <a:lnSpc>
                <a:spcPct val="50000"/>
              </a:lnSpc>
              <a:buNone/>
              <a:tabLst>
                <a:tab pos="1336675" algn="l"/>
                <a:tab pos="342582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mov al,0fh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latin typeface="宋体" panose="02010600030101010101" pitchFamily="2" charset="-122"/>
              </a:rPr>
              <a:t>；提供参数</a:t>
            </a:r>
            <a:r>
              <a:rPr lang="en-US" altLang="zh-CN" sz="2500">
                <a:latin typeface="宋体" panose="02010600030101010101" pitchFamily="2" charset="-122"/>
              </a:rPr>
              <a:t>AL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425825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FF0000"/>
                </a:solidFill>
                <a:latin typeface="宋体" panose="02010600030101010101" pitchFamily="2" charset="-122"/>
              </a:rPr>
              <a:t>call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htoasc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latin typeface="宋体" panose="02010600030101010101" pitchFamily="2" charset="-122"/>
              </a:rPr>
              <a:t>；调用子程序</a:t>
            </a:r>
          </a:p>
          <a:p>
            <a:pPr marL="0" indent="0" defTabSz="914400">
              <a:lnSpc>
                <a:spcPct val="60000"/>
              </a:lnSpc>
              <a:buNone/>
              <a:tabLst>
                <a:tab pos="1336675" algn="l"/>
                <a:tab pos="342582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 b="1">
                <a:solidFill>
                  <a:srgbClr val="0000FF"/>
                </a:solidFill>
                <a:latin typeface="宋体" panose="02010600030101010101" pitchFamily="2" charset="-122"/>
              </a:rPr>
              <a:t>...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425825" algn="l"/>
              </a:tabLst>
            </a:pPr>
            <a:r>
              <a:rPr lang="zh-CN" altLang="en-US" sz="2100" b="1">
                <a:solidFill>
                  <a:schemeClr val="tx2"/>
                </a:solidFill>
                <a:latin typeface="宋体" panose="02010600030101010101" pitchFamily="2" charset="-122"/>
              </a:rPr>
              <a:t>；子程序</a:t>
            </a:r>
            <a:r>
              <a:rPr lang="zh-CN" altLang="en-US" sz="2100">
                <a:latin typeface="宋体" panose="02010600030101010101" pitchFamily="2" charset="-122"/>
              </a:rPr>
              <a:t>：将</a:t>
            </a:r>
            <a:r>
              <a:rPr lang="en-US" altLang="zh-CN" sz="2100">
                <a:latin typeface="宋体" panose="02010600030101010101" pitchFamily="2" charset="-122"/>
              </a:rPr>
              <a:t>AL</a:t>
            </a:r>
            <a:r>
              <a:rPr lang="zh-CN" altLang="en-US" sz="2100">
                <a:latin typeface="宋体" panose="02010600030101010101" pitchFamily="2" charset="-122"/>
              </a:rPr>
              <a:t>低</a:t>
            </a:r>
            <a:r>
              <a:rPr lang="en-US" altLang="zh-CN" sz="2100">
                <a:latin typeface="宋体" panose="02010600030101010101" pitchFamily="2" charset="-122"/>
              </a:rPr>
              <a:t>4</a:t>
            </a:r>
            <a:r>
              <a:rPr lang="zh-CN" altLang="en-US" sz="2100">
                <a:latin typeface="宋体" panose="02010600030101010101" pitchFamily="2" charset="-122"/>
              </a:rPr>
              <a:t>位的一位</a:t>
            </a:r>
            <a:r>
              <a:rPr lang="en-US" altLang="zh-CN" sz="2100">
                <a:latin typeface="宋体" panose="02010600030101010101" pitchFamily="2" charset="-122"/>
              </a:rPr>
              <a:t>16</a:t>
            </a:r>
            <a:r>
              <a:rPr lang="zh-CN" altLang="en-US" sz="2100">
                <a:latin typeface="宋体" panose="02010600030101010101" pitchFamily="2" charset="-122"/>
              </a:rPr>
              <a:t>进制数</a:t>
            </a:r>
            <a:r>
              <a:rPr lang="zh-CN" altLang="en-US" sz="2100" b="1">
                <a:solidFill>
                  <a:schemeClr val="tx2"/>
                </a:solidFill>
                <a:latin typeface="宋体" panose="02010600030101010101" pitchFamily="2" charset="-122"/>
              </a:rPr>
              <a:t>转换</a:t>
            </a:r>
            <a:r>
              <a:rPr lang="zh-CN" altLang="en-US" sz="2100">
                <a:latin typeface="宋体" panose="02010600030101010101" pitchFamily="2" charset="-122"/>
              </a:rPr>
              <a:t>成</a:t>
            </a:r>
            <a:r>
              <a:rPr lang="en-US" altLang="zh-CN" sz="2100">
                <a:latin typeface="宋体" panose="02010600030101010101" pitchFamily="2" charset="-122"/>
              </a:rPr>
              <a:t>ASCII</a:t>
            </a:r>
            <a:r>
              <a:rPr lang="zh-CN" altLang="en-US" sz="2100">
                <a:latin typeface="宋体" panose="02010600030101010101" pitchFamily="2" charset="-122"/>
              </a:rPr>
              <a:t>码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42582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htoasc:	and al,0fh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latin typeface="宋体" panose="02010600030101010101" pitchFamily="2" charset="-122"/>
              </a:rPr>
              <a:t>；只取</a:t>
            </a:r>
            <a:r>
              <a:rPr lang="en-US" altLang="zh-CN" sz="2500">
                <a:latin typeface="宋体" panose="02010600030101010101" pitchFamily="2" charset="-122"/>
              </a:rPr>
              <a:t>al</a:t>
            </a:r>
            <a:r>
              <a:rPr lang="zh-CN" altLang="en-US" sz="2500">
                <a:latin typeface="宋体" panose="02010600030101010101" pitchFamily="2" charset="-122"/>
              </a:rPr>
              <a:t>的低</a:t>
            </a:r>
            <a:r>
              <a:rPr lang="en-US" altLang="zh-CN" sz="2500">
                <a:latin typeface="宋体" panose="02010600030101010101" pitchFamily="2" charset="-122"/>
              </a:rPr>
              <a:t>4</a:t>
            </a:r>
            <a:r>
              <a:rPr lang="zh-CN" altLang="en-US" sz="2500">
                <a:latin typeface="宋体" panose="02010600030101010101" pitchFamily="2" charset="-122"/>
              </a:rPr>
              <a:t>位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425825" algn="l"/>
              </a:tabLst>
            </a:pPr>
            <a:r>
              <a:rPr lang="zh-CN" altLang="en-US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or al,30h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latin typeface="宋体" panose="02010600030101010101" pitchFamily="2" charset="-122"/>
              </a:rPr>
              <a:t>；</a:t>
            </a:r>
            <a:r>
              <a:rPr lang="en-US" altLang="zh-CN" sz="2500">
                <a:latin typeface="宋体" panose="02010600030101010101" pitchFamily="2" charset="-122"/>
              </a:rPr>
              <a:t>al</a:t>
            </a:r>
            <a:r>
              <a:rPr lang="zh-CN" altLang="en-US" sz="2500">
                <a:latin typeface="宋体" panose="02010600030101010101" pitchFamily="2" charset="-122"/>
              </a:rPr>
              <a:t>高</a:t>
            </a:r>
            <a:r>
              <a:rPr lang="en-US" altLang="zh-CN" sz="2500">
                <a:latin typeface="宋体" panose="02010600030101010101" pitchFamily="2" charset="-122"/>
              </a:rPr>
              <a:t>4</a:t>
            </a:r>
            <a:r>
              <a:rPr lang="zh-CN" altLang="en-US" sz="2500">
                <a:latin typeface="宋体" panose="02010600030101010101" pitchFamily="2" charset="-122"/>
              </a:rPr>
              <a:t>位变成</a:t>
            </a:r>
            <a:r>
              <a:rPr lang="en-US" altLang="zh-CN" sz="2500">
                <a:latin typeface="宋体" panose="02010600030101010101" pitchFamily="2" charset="-122"/>
              </a:rPr>
              <a:t>3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425825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cmp al,39h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latin typeface="宋体" panose="02010600030101010101" pitchFamily="2" charset="-122"/>
              </a:rPr>
              <a:t>；是</a:t>
            </a:r>
            <a:r>
              <a:rPr lang="en-US" altLang="zh-CN" sz="2500">
                <a:latin typeface="宋体" panose="02010600030101010101" pitchFamily="2" charset="-122"/>
              </a:rPr>
              <a:t>0</a:t>
            </a:r>
            <a:r>
              <a:rPr lang="zh-CN" altLang="en-US" sz="2500">
                <a:latin typeface="宋体" panose="02010600030101010101" pitchFamily="2" charset="-122"/>
              </a:rPr>
              <a:t>～</a:t>
            </a:r>
            <a:r>
              <a:rPr lang="en-US" altLang="zh-CN" sz="2500">
                <a:latin typeface="宋体" panose="02010600030101010101" pitchFamily="2" charset="-122"/>
              </a:rPr>
              <a:t>9</a:t>
            </a:r>
            <a:r>
              <a:rPr lang="zh-CN" altLang="en-US" sz="2500">
                <a:latin typeface="宋体" panose="02010600030101010101" pitchFamily="2" charset="-122"/>
              </a:rPr>
              <a:t>，还是</a:t>
            </a:r>
            <a:r>
              <a:rPr lang="en-US" altLang="zh-CN" sz="2500">
                <a:latin typeface="宋体" panose="02010600030101010101" pitchFamily="2" charset="-122"/>
              </a:rPr>
              <a:t>0Ah</a:t>
            </a:r>
            <a:r>
              <a:rPr lang="zh-CN" altLang="en-US" sz="2500">
                <a:latin typeface="宋体" panose="02010600030101010101" pitchFamily="2" charset="-122"/>
              </a:rPr>
              <a:t>～</a:t>
            </a:r>
            <a:r>
              <a:rPr lang="en-US" altLang="zh-CN" sz="2500">
                <a:latin typeface="宋体" panose="02010600030101010101" pitchFamily="2" charset="-122"/>
              </a:rPr>
              <a:t>0Fh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425825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jbe htoend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425825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add al,7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latin typeface="宋体" panose="02010600030101010101" pitchFamily="2" charset="-122"/>
              </a:rPr>
              <a:t>；是</a:t>
            </a:r>
            <a:r>
              <a:rPr lang="en-US" altLang="zh-CN" sz="2500">
                <a:latin typeface="宋体" panose="02010600030101010101" pitchFamily="2" charset="-122"/>
              </a:rPr>
              <a:t>0Ah</a:t>
            </a:r>
            <a:r>
              <a:rPr lang="zh-CN" altLang="en-US" sz="2500">
                <a:latin typeface="宋体" panose="02010600030101010101" pitchFamily="2" charset="-122"/>
              </a:rPr>
              <a:t>～</a:t>
            </a:r>
            <a:r>
              <a:rPr lang="en-US" altLang="zh-CN" sz="2500">
                <a:latin typeface="宋体" panose="02010600030101010101" pitchFamily="2" charset="-122"/>
              </a:rPr>
              <a:t>0Fh</a:t>
            </a:r>
            <a:r>
              <a:rPr lang="zh-CN" altLang="en-US" sz="2500">
                <a:latin typeface="宋体" panose="02010600030101010101" pitchFamily="2" charset="-122"/>
              </a:rPr>
              <a:t>，加上</a:t>
            </a:r>
            <a:r>
              <a:rPr lang="en-US" altLang="zh-CN" sz="2500">
                <a:latin typeface="宋体" panose="02010600030101010101" pitchFamily="2" charset="-122"/>
              </a:rPr>
              <a:t>7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42582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htoend: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rgbClr val="FF0000"/>
                </a:solidFill>
                <a:latin typeface="宋体" panose="02010600030101010101" pitchFamily="2" charset="-122"/>
              </a:rPr>
              <a:t>ret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latin typeface="宋体" panose="02010600030101010101" pitchFamily="2" charset="-122"/>
              </a:rPr>
              <a:t>；子程序返回</a:t>
            </a:r>
          </a:p>
        </p:txBody>
      </p:sp>
      <p:sp>
        <p:nvSpPr>
          <p:cNvPr id="38916" name="圆角矩形 38915">
            <a:hlinkClick r:id="rId2" action="ppaction://hlinksldjump"/>
          </p:cNvPr>
          <p:cNvSpPr/>
          <p:nvPr/>
        </p:nvSpPr>
        <p:spPr>
          <a:xfrm>
            <a:off x="7239000" y="3352800"/>
            <a:ext cx="1752600" cy="533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bg1"/>
              </a:gs>
              <a:gs pos="100000">
                <a:srgbClr val="66FF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>
              <a:lnSpc>
                <a:spcPct val="70000"/>
              </a:lnSpc>
            </a:pPr>
            <a:r>
              <a:rPr lang="zh-CN" altLang="en-US" sz="2800" b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rPr>
              <a:t>转换原理</a:t>
            </a:r>
          </a:p>
        </p:txBody>
      </p:sp>
      <p:pic>
        <p:nvPicPr>
          <p:cNvPr id="38917" name="图片 38916" descr="14_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0" y="6315075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39937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2.4.5  </a:t>
            </a:r>
            <a:r>
              <a:rPr lang="zh-CN" altLang="en-US"/>
              <a:t>中断指令</a:t>
            </a:r>
          </a:p>
        </p:txBody>
      </p:sp>
      <p:sp>
        <p:nvSpPr>
          <p:cNvPr id="39939" name="文本占位符 3993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FF"/>
                </a:solidFill>
                <a:hlinkClick r:id="rId2" action="ppaction://hlinksldjump"/>
              </a:rPr>
              <a:t>中断</a:t>
            </a:r>
            <a:r>
              <a:rPr lang="zh-CN" altLang="en-US"/>
              <a:t>（</a:t>
            </a:r>
            <a:r>
              <a:rPr lang="en-US" altLang="zh-CN"/>
              <a:t>Interrupt </a:t>
            </a:r>
            <a:r>
              <a:rPr lang="zh-CN" altLang="en-US"/>
              <a:t>）是又一种改变程序执行顺序的方法</a:t>
            </a:r>
          </a:p>
          <a:p>
            <a:pPr>
              <a:lnSpc>
                <a:spcPct val="90000"/>
              </a:lnSpc>
            </a:pPr>
            <a:r>
              <a:rPr lang="zh-CN" altLang="en-US"/>
              <a:t>中断具有多种中断类型</a:t>
            </a:r>
            <a:endParaRPr lang="zh-CN" altLang="en-US">
              <a:hlinkClick r:id="rId3" action="ppaction://hlinksldjump"/>
            </a:endParaRPr>
          </a:p>
          <a:p>
            <a:pPr>
              <a:lnSpc>
                <a:spcPct val="90000"/>
              </a:lnSpc>
            </a:pPr>
            <a:r>
              <a:rPr lang="zh-CN" altLang="en-US"/>
              <a:t>中断的指令有</a:t>
            </a:r>
            <a:r>
              <a:rPr lang="en-US" altLang="zh-CN"/>
              <a:t>3</a:t>
            </a:r>
            <a:r>
              <a:rPr lang="zh-CN" altLang="en-US"/>
              <a:t>条：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>
                <a:solidFill>
                  <a:srgbClr val="0000FF"/>
                </a:solidFill>
              </a:rPr>
              <a:t>INT i8</a:t>
            </a:r>
            <a:r>
              <a:rPr lang="en-US" altLang="zh-CN">
                <a:solidFill>
                  <a:schemeClr val="bg2"/>
                </a:solidFill>
              </a:rPr>
              <a:t>     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>
                <a:solidFill>
                  <a:srgbClr val="0000FF"/>
                </a:solidFill>
              </a:rPr>
              <a:t>IRET   </a:t>
            </a:r>
            <a:r>
              <a:rPr lang="en-US" altLang="zh-CN">
                <a:solidFill>
                  <a:schemeClr val="bg2"/>
                </a:solidFill>
              </a:rPr>
              <a:t>    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>
                <a:solidFill>
                  <a:srgbClr val="0000FF"/>
                </a:solidFill>
              </a:rPr>
              <a:t>INTO</a:t>
            </a:r>
          </a:p>
          <a:p>
            <a:pPr>
              <a:lnSpc>
                <a:spcPct val="90000"/>
              </a:lnSpc>
            </a:pPr>
            <a:r>
              <a:rPr lang="zh-CN" altLang="en-US"/>
              <a:t>本节主要掌握类似子程序调用指令的中断调用指令</a:t>
            </a:r>
            <a:r>
              <a:rPr lang="en-US" altLang="zh-CN"/>
              <a:t>INT i8</a:t>
            </a:r>
            <a:r>
              <a:rPr lang="zh-CN" altLang="en-US"/>
              <a:t>，进而学习使用</a:t>
            </a:r>
            <a:r>
              <a:rPr lang="en-US" altLang="zh-CN"/>
              <a:t>DOS</a:t>
            </a:r>
            <a:r>
              <a:rPr lang="zh-CN" altLang="en-US"/>
              <a:t>功能调用</a:t>
            </a:r>
          </a:p>
        </p:txBody>
      </p:sp>
    </p:spTree>
  </p:cSld>
  <p:clrMapOvr>
    <a:masterClrMapping/>
  </p:clrMapOvr>
  <p:transition>
    <p:zoom dir="in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40961"/>
          <p:cNvSpPr>
            <a:spLocks noGrp="1"/>
          </p:cNvSpPr>
          <p:nvPr>
            <p:ph type="title"/>
          </p:nvPr>
        </p:nvSpPr>
        <p:spPr>
          <a:xfrm>
            <a:off x="457200" y="122238"/>
            <a:ext cx="3962400" cy="868362"/>
          </a:xfrm>
        </p:spPr>
        <p:txBody>
          <a:bodyPr anchor="b" anchorCtr="0"/>
          <a:lstStyle/>
          <a:p>
            <a:r>
              <a:rPr lang="zh-CN" altLang="en-US"/>
              <a:t>中断的过程</a:t>
            </a:r>
          </a:p>
        </p:txBody>
      </p:sp>
      <p:sp>
        <p:nvSpPr>
          <p:cNvPr id="40963" name="文本框 40962"/>
          <p:cNvSpPr txBox="1"/>
          <p:nvPr/>
        </p:nvSpPr>
        <p:spPr>
          <a:xfrm>
            <a:off x="2362200" y="11430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主程序</a:t>
            </a:r>
          </a:p>
        </p:txBody>
      </p:sp>
      <p:sp>
        <p:nvSpPr>
          <p:cNvPr id="40964" name="直接连接符 40963"/>
          <p:cNvSpPr/>
          <p:nvPr/>
        </p:nvSpPr>
        <p:spPr>
          <a:xfrm>
            <a:off x="2971800" y="1828800"/>
            <a:ext cx="0" cy="16002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40965" name="直接连接符 40964"/>
          <p:cNvSpPr/>
          <p:nvPr/>
        </p:nvSpPr>
        <p:spPr>
          <a:xfrm>
            <a:off x="2971800" y="3733800"/>
            <a:ext cx="0" cy="16002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40966" name="直接连接符 40965"/>
          <p:cNvSpPr/>
          <p:nvPr/>
        </p:nvSpPr>
        <p:spPr>
          <a:xfrm>
            <a:off x="5181600" y="2514600"/>
            <a:ext cx="0" cy="20574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40967" name="直接连接符 40966"/>
          <p:cNvSpPr/>
          <p:nvPr/>
        </p:nvSpPr>
        <p:spPr>
          <a:xfrm flipV="1">
            <a:off x="3124200" y="2362200"/>
            <a:ext cx="1981200" cy="9906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40968" name="文本框 40967"/>
          <p:cNvSpPr txBox="1"/>
          <p:nvPr/>
        </p:nvSpPr>
        <p:spPr>
          <a:xfrm>
            <a:off x="5410200" y="2216150"/>
            <a:ext cx="1447800" cy="2660650"/>
          </a:xfrm>
          <a:prstGeom prst="rect">
            <a:avLst/>
          </a:prstGeom>
          <a:noFill/>
          <a:ln w="12700" cap="sq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</a:rPr>
              <a:t>IRET</a:t>
            </a:r>
          </a:p>
        </p:txBody>
      </p:sp>
      <p:sp>
        <p:nvSpPr>
          <p:cNvPr id="40969" name="文本框 40968"/>
          <p:cNvSpPr txBox="1"/>
          <p:nvPr/>
        </p:nvSpPr>
        <p:spPr>
          <a:xfrm>
            <a:off x="5105400" y="1682750"/>
            <a:ext cx="228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中断服务程序</a:t>
            </a:r>
          </a:p>
        </p:txBody>
      </p:sp>
      <p:sp>
        <p:nvSpPr>
          <p:cNvPr id="40970" name="直接连接符 40969"/>
          <p:cNvSpPr/>
          <p:nvPr/>
        </p:nvSpPr>
        <p:spPr>
          <a:xfrm flipH="1" flipV="1">
            <a:off x="3048000" y="3733800"/>
            <a:ext cx="1905000" cy="762000"/>
          </a:xfrm>
          <a:prstGeom prst="line">
            <a:avLst/>
          </a:prstGeom>
          <a:ln w="28575" cap="sq" cmpd="sng">
            <a:solidFill>
              <a:schemeClr val="bg2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40971" name="线形标注 1(带强调线) 40970"/>
          <p:cNvSpPr/>
          <p:nvPr/>
        </p:nvSpPr>
        <p:spPr>
          <a:xfrm>
            <a:off x="457200" y="3962400"/>
            <a:ext cx="914400" cy="469900"/>
          </a:xfrm>
          <a:prstGeom prst="accentCallout1">
            <a:avLst>
              <a:gd name="adj1" fmla="val 24324"/>
              <a:gd name="adj2" fmla="val 108333"/>
              <a:gd name="adj3" fmla="val -72972"/>
              <a:gd name="adj4" fmla="val 267537"/>
            </a:avLst>
          </a:prstGeom>
          <a:solidFill>
            <a:schemeClr val="accent1"/>
          </a:solidFill>
          <a:ln w="12700" cap="sq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r"/>
            <a:r>
              <a:rPr lang="zh-CN" altLang="en-US" sz="2400" b="1">
                <a:latin typeface="Times New Roman" panose="02020603050405020304" pitchFamily="2" charset="0"/>
              </a:rPr>
              <a:t>断点</a:t>
            </a:r>
          </a:p>
        </p:txBody>
      </p:sp>
      <p:sp>
        <p:nvSpPr>
          <p:cNvPr id="40972" name="直接连接符 40971"/>
          <p:cNvSpPr/>
          <p:nvPr/>
        </p:nvSpPr>
        <p:spPr>
          <a:xfrm>
            <a:off x="1066800" y="3200400"/>
            <a:ext cx="1676400" cy="0"/>
          </a:xfrm>
          <a:prstGeom prst="line">
            <a:avLst/>
          </a:prstGeom>
          <a:ln w="19050" cap="flat" cmpd="sng">
            <a:solidFill>
              <a:srgbClr val="FF3300"/>
            </a:solidFill>
            <a:prstDash val="sysDot"/>
            <a:headEnd type="none" w="med" len="med"/>
            <a:tailEnd type="arrow" w="med" len="med"/>
          </a:ln>
        </p:spPr>
      </p:sp>
      <p:sp>
        <p:nvSpPr>
          <p:cNvPr id="40973" name="文本框 40972"/>
          <p:cNvSpPr txBox="1"/>
          <p:nvPr/>
        </p:nvSpPr>
        <p:spPr>
          <a:xfrm>
            <a:off x="1143000" y="268605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2" charset="0"/>
              </a:rPr>
              <a:t>中断请求</a:t>
            </a:r>
          </a:p>
        </p:txBody>
      </p:sp>
      <p:sp>
        <p:nvSpPr>
          <p:cNvPr id="40974" name="文本框 40973"/>
          <p:cNvSpPr txBox="1"/>
          <p:nvPr/>
        </p:nvSpPr>
        <p:spPr>
          <a:xfrm>
            <a:off x="3352800" y="5257800"/>
            <a:ext cx="5562600" cy="1223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中断请求可以来自处理器外部的中断源，也可以由处理器执行指令引起：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b="1">
                <a:latin typeface="Times New Roman" panose="02020603050405020304" pitchFamily="2" charset="0"/>
              </a:rPr>
              <a:t>例如执行</a:t>
            </a:r>
            <a:r>
              <a:rPr lang="en-US" altLang="zh-CN" sz="2400" b="1">
                <a:latin typeface="Times New Roman" panose="02020603050405020304" pitchFamily="2" charset="0"/>
              </a:rPr>
              <a:t>INT i8</a:t>
            </a:r>
            <a:r>
              <a:rPr lang="zh-CN" altLang="en-US" sz="2400" b="1">
                <a:latin typeface="Times New Roman" panose="02020603050405020304" pitchFamily="2" charset="0"/>
              </a:rPr>
              <a:t>指令。</a:t>
            </a:r>
          </a:p>
        </p:txBody>
      </p:sp>
      <p:pic>
        <p:nvPicPr>
          <p:cNvPr id="40975" name="图片 40974" descr="14_6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9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0"/>
                            </p:stCondLst>
                            <p:childTnLst>
                              <p:par>
                                <p:cTn id="22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0"/>
                            </p:stCondLst>
                            <p:childTnLst>
                              <p:par>
                                <p:cTn id="29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4000"/>
                            </p:stCondLst>
                            <p:childTnLst>
                              <p:par>
                                <p:cTn id="36" presetID="17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500"/>
                            </p:stCondLst>
                            <p:childTnLst>
                              <p:par>
                                <p:cTn id="43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70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1" grpId="0" animBg="1"/>
      <p:bldP spid="4097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4198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8086</a:t>
            </a:r>
            <a:r>
              <a:rPr lang="zh-CN" altLang="en-US"/>
              <a:t>的外部中断</a:t>
            </a:r>
          </a:p>
        </p:txBody>
      </p:sp>
      <p:sp>
        <p:nvSpPr>
          <p:cNvPr id="41987" name="文本占位符 4198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600"/>
              <a:t>8086</a:t>
            </a:r>
            <a:r>
              <a:rPr lang="zh-CN" altLang="en-US" sz="2600"/>
              <a:t>可以管理</a:t>
            </a:r>
            <a:r>
              <a:rPr lang="en-US" altLang="zh-CN" sz="2600"/>
              <a:t>256</a:t>
            </a:r>
            <a:r>
              <a:rPr lang="zh-CN" altLang="en-US" sz="2600"/>
              <a:t>个中断</a:t>
            </a:r>
          </a:p>
          <a:p>
            <a:r>
              <a:rPr lang="zh-CN" altLang="en-US" sz="2600" b="1">
                <a:solidFill>
                  <a:srgbClr val="0000FF"/>
                </a:solidFill>
              </a:rPr>
              <a:t>各种中断用一个向量编号来区别</a:t>
            </a:r>
          </a:p>
          <a:p>
            <a:r>
              <a:rPr lang="zh-CN" altLang="en-US" sz="2600"/>
              <a:t>主要分成外部中断和内部中断</a:t>
            </a:r>
          </a:p>
          <a:p>
            <a:r>
              <a:rPr lang="zh-CN" altLang="en-US" sz="2600">
                <a:solidFill>
                  <a:srgbClr val="0000FF"/>
                </a:solidFill>
              </a:rPr>
              <a:t>外部中断</a:t>
            </a:r>
            <a:r>
              <a:rPr lang="en-US" altLang="zh-CN" sz="2600">
                <a:latin typeface="Arial" panose="020B0604020202020204" pitchFamily="34" charset="0"/>
              </a:rPr>
              <a:t>——</a:t>
            </a:r>
            <a:r>
              <a:rPr lang="zh-CN" altLang="en-US" sz="2600"/>
              <a:t>来自</a:t>
            </a:r>
            <a:r>
              <a:rPr lang="en-US" altLang="zh-CN" sz="2600"/>
              <a:t>CPU</a:t>
            </a:r>
            <a:r>
              <a:rPr lang="zh-CN" altLang="en-US" sz="2600"/>
              <a:t>之外的原因引起的中断，又可以分成</a:t>
            </a:r>
          </a:p>
          <a:p>
            <a:pPr lvl="1"/>
            <a:r>
              <a:rPr lang="zh-CN" altLang="en-US" sz="2200" b="1">
                <a:solidFill>
                  <a:schemeClr val="tx2"/>
                </a:solidFill>
              </a:rPr>
              <a:t>可屏蔽中断</a:t>
            </a:r>
            <a:r>
              <a:rPr lang="zh-CN" altLang="en-US" sz="2200"/>
              <a:t>：可由</a:t>
            </a:r>
            <a:r>
              <a:rPr lang="en-US" altLang="zh-CN" sz="2200"/>
              <a:t>CPU</a:t>
            </a:r>
            <a:r>
              <a:rPr lang="zh-CN" altLang="en-US" sz="2200"/>
              <a:t>的中断允许标志</a:t>
            </a:r>
            <a:r>
              <a:rPr lang="en-US" altLang="zh-CN" sz="2200"/>
              <a:t>IF</a:t>
            </a:r>
            <a:r>
              <a:rPr lang="zh-CN" altLang="en-US" sz="2200"/>
              <a:t>控制</a:t>
            </a:r>
          </a:p>
          <a:p>
            <a:pPr lvl="1"/>
            <a:r>
              <a:rPr lang="zh-CN" altLang="en-US" sz="2200" b="1">
                <a:solidFill>
                  <a:schemeClr val="tx2"/>
                </a:solidFill>
              </a:rPr>
              <a:t>非屏蔽中断</a:t>
            </a:r>
            <a:r>
              <a:rPr lang="zh-CN" altLang="en-US" sz="2200"/>
              <a:t>：不受</a:t>
            </a:r>
            <a:r>
              <a:rPr lang="en-US" altLang="zh-CN" sz="2200"/>
              <a:t>CPU</a:t>
            </a:r>
            <a:r>
              <a:rPr lang="zh-CN" altLang="en-US" sz="2200"/>
              <a:t>的中断允许标志</a:t>
            </a:r>
            <a:r>
              <a:rPr lang="en-US" altLang="zh-CN" sz="2200"/>
              <a:t>IF</a:t>
            </a:r>
            <a:r>
              <a:rPr lang="zh-CN" altLang="en-US" sz="2200"/>
              <a:t>控制</a:t>
            </a:r>
          </a:p>
        </p:txBody>
      </p:sp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43009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8086</a:t>
            </a:r>
            <a:r>
              <a:rPr lang="zh-CN" altLang="en-US"/>
              <a:t>的内部中断</a:t>
            </a:r>
          </a:p>
        </p:txBody>
      </p:sp>
      <p:sp>
        <p:nvSpPr>
          <p:cNvPr id="43011" name="文本占位符 43010"/>
          <p:cNvSpPr>
            <a:spLocks noGrp="1"/>
          </p:cNvSpPr>
          <p:nvPr>
            <p:ph type="body" idx="1"/>
          </p:nvPr>
        </p:nvSpPr>
        <p:spPr>
          <a:xfrm>
            <a:off x="381000" y="1752600"/>
            <a:ext cx="79248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FF"/>
                </a:solidFill>
              </a:rPr>
              <a:t>内部中断</a:t>
            </a:r>
            <a:r>
              <a:rPr lang="en-US" altLang="zh-CN">
                <a:latin typeface="Arial" panose="020B0604020202020204" pitchFamily="34" charset="0"/>
              </a:rPr>
              <a:t>——</a:t>
            </a:r>
            <a:r>
              <a:rPr lang="en-US" altLang="zh-CN"/>
              <a:t>CPU</a:t>
            </a:r>
            <a:r>
              <a:rPr lang="zh-CN" altLang="en-US"/>
              <a:t>内部执行程序引起的中断，又可以分成：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</a:rPr>
              <a:t>除法错中断</a:t>
            </a:r>
            <a:r>
              <a:rPr lang="zh-CN" altLang="en-US"/>
              <a:t>：执行除法指令，结果溢出产生的 </a:t>
            </a:r>
            <a:r>
              <a:rPr lang="en-US" altLang="zh-CN"/>
              <a:t>0 </a:t>
            </a:r>
            <a:r>
              <a:rPr lang="zh-CN" altLang="en-US"/>
              <a:t>号中断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</a:rPr>
              <a:t>单步中断</a:t>
            </a:r>
            <a:r>
              <a:rPr lang="zh-CN" altLang="en-US"/>
              <a:t>：</a:t>
            </a:r>
            <a:r>
              <a:rPr lang="en-US" altLang="zh-CN"/>
              <a:t>TF</a:t>
            </a:r>
            <a:r>
              <a:rPr lang="zh-CN" altLang="en-US"/>
              <a:t>＝</a:t>
            </a:r>
            <a:r>
              <a:rPr lang="en-US" altLang="zh-CN"/>
              <a:t>1</a:t>
            </a:r>
            <a:r>
              <a:rPr lang="zh-CN" altLang="en-US"/>
              <a:t>在每条指令执行后产生的 </a:t>
            </a:r>
            <a:r>
              <a:rPr lang="en-US" altLang="zh-CN"/>
              <a:t>1 </a:t>
            </a:r>
            <a:r>
              <a:rPr lang="zh-CN" altLang="en-US"/>
              <a:t>号中断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</a:rPr>
              <a:t>断点中断</a:t>
            </a:r>
            <a:r>
              <a:rPr lang="zh-CN" altLang="en-US"/>
              <a:t>：用于断点调试（</a:t>
            </a:r>
            <a:r>
              <a:rPr lang="en-US" altLang="zh-CN"/>
              <a:t>INT 3</a:t>
            </a:r>
            <a:r>
              <a:rPr lang="zh-CN" altLang="en-US"/>
              <a:t>）的 </a:t>
            </a:r>
            <a:r>
              <a:rPr lang="en-US" altLang="zh-CN"/>
              <a:t>3 </a:t>
            </a:r>
            <a:r>
              <a:rPr lang="zh-CN" altLang="en-US"/>
              <a:t>号中断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</a:rPr>
              <a:t>溢出中断</a:t>
            </a:r>
            <a:r>
              <a:rPr lang="zh-CN" altLang="en-US"/>
              <a:t>：执行溢出中断指令，</a:t>
            </a:r>
            <a:r>
              <a:rPr lang="en-US" altLang="zh-CN"/>
              <a:t>OF</a:t>
            </a:r>
            <a:r>
              <a:rPr lang="zh-CN" altLang="en-US"/>
              <a:t>＝</a:t>
            </a:r>
            <a:r>
              <a:rPr lang="en-US" altLang="zh-CN"/>
              <a:t>1</a:t>
            </a:r>
            <a:r>
              <a:rPr lang="zh-CN" altLang="en-US"/>
              <a:t>产生的 </a:t>
            </a:r>
            <a:r>
              <a:rPr lang="en-US" altLang="zh-CN"/>
              <a:t>4 </a:t>
            </a:r>
            <a:r>
              <a:rPr lang="zh-CN" altLang="en-US"/>
              <a:t>号中断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solidFill>
                  <a:srgbClr val="0000FF"/>
                </a:solidFill>
              </a:rPr>
              <a:t>指令中断</a:t>
            </a:r>
            <a:r>
              <a:rPr lang="zh-CN" altLang="en-US"/>
              <a:t>：执行中断调用指令</a:t>
            </a:r>
            <a:r>
              <a:rPr lang="en-US" altLang="zh-CN"/>
              <a:t>INT i8</a:t>
            </a:r>
            <a:r>
              <a:rPr lang="zh-CN" altLang="en-US"/>
              <a:t>产生的 </a:t>
            </a:r>
            <a:r>
              <a:rPr lang="en-US" altLang="zh-CN"/>
              <a:t>i8 </a:t>
            </a:r>
            <a:r>
              <a:rPr lang="zh-CN" altLang="en-US"/>
              <a:t>号中断</a:t>
            </a:r>
          </a:p>
          <a:p>
            <a:pPr lvl="1">
              <a:lnSpc>
                <a:spcPct val="90000"/>
              </a:lnSpc>
              <a:buNone/>
            </a:pP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4403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中断指令</a:t>
            </a:r>
            <a:r>
              <a:rPr lang="en-US" altLang="zh-CN"/>
              <a:t>INT</a:t>
            </a:r>
          </a:p>
        </p:txBody>
      </p:sp>
      <p:sp>
        <p:nvSpPr>
          <p:cNvPr id="44035" name="文本占位符 44034"/>
          <p:cNvSpPr>
            <a:spLocks noGrp="1"/>
          </p:cNvSpPr>
          <p:nvPr>
            <p:ph type="body" idx="1"/>
          </p:nvPr>
        </p:nvSpPr>
        <p:spPr>
          <a:xfrm>
            <a:off x="1050925" y="1719263"/>
            <a:ext cx="7026275" cy="4411662"/>
          </a:xfrm>
        </p:spPr>
        <p:txBody>
          <a:bodyPr/>
          <a:lstStyle/>
          <a:p>
            <a:pPr marL="0" indent="0" defTabSz="914400">
              <a:buNone/>
              <a:tabLst>
                <a:tab pos="1905000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INT i8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；中断调用指令：产生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i8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号中断</a:t>
            </a:r>
          </a:p>
          <a:p>
            <a:pPr marL="0" indent="0" defTabSz="914400">
              <a:spcBef>
                <a:spcPct val="50000"/>
              </a:spcBef>
              <a:buNone/>
              <a:tabLst>
                <a:tab pos="1905000" algn="l"/>
              </a:tabLst>
            </a:pPr>
            <a:endParaRPr lang="zh-CN" altLang="en-US" sz="260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indent="0" defTabSz="914400">
              <a:spcBef>
                <a:spcPct val="50000"/>
              </a:spcBef>
              <a:buNone/>
              <a:tabLst>
                <a:tab pos="1905000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IRET         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；中断返回指令：实现中断返回</a:t>
            </a:r>
          </a:p>
          <a:p>
            <a:pPr marL="0" indent="0" defTabSz="914400">
              <a:spcBef>
                <a:spcPct val="50000"/>
              </a:spcBef>
              <a:buNone/>
              <a:tabLst>
                <a:tab pos="1905000" algn="l"/>
              </a:tabLst>
            </a:pPr>
            <a:endParaRPr lang="zh-CN" altLang="en-US" sz="260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indent="0" defTabSz="914400">
              <a:spcBef>
                <a:spcPct val="50000"/>
              </a:spcBef>
              <a:buNone/>
              <a:tabLst>
                <a:tab pos="1905000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INTO         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；溢出中断指令：</a:t>
            </a:r>
          </a:p>
          <a:p>
            <a:pPr marL="0" indent="0" defTabSz="914400">
              <a:buNone/>
              <a:tabLst>
                <a:tab pos="1905000" algn="l"/>
              </a:tabLst>
            </a:pP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                ；若溢出标志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OF=1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，产生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号中断</a:t>
            </a:r>
          </a:p>
          <a:p>
            <a:pPr marL="0" indent="0" defTabSz="914400">
              <a:buNone/>
              <a:tabLst>
                <a:tab pos="1905000" algn="l"/>
              </a:tabLst>
            </a:pPr>
            <a:r>
              <a:rPr lang="zh-CN" altLang="en-US" sz="2100">
                <a:solidFill>
                  <a:schemeClr val="tx2"/>
                </a:solidFill>
                <a:latin typeface="宋体" panose="02010600030101010101" pitchFamily="2" charset="-122"/>
              </a:rPr>
              <a:t>                ；否则顺序执行</a:t>
            </a:r>
            <a:endParaRPr lang="zh-CN" altLang="en-US" sz="2100">
              <a:solidFill>
                <a:schemeClr val="tx2"/>
              </a:solidFill>
            </a:endParaRPr>
          </a:p>
        </p:txBody>
      </p:sp>
      <p:pic>
        <p:nvPicPr>
          <p:cNvPr id="44036" name="图片 44035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5075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 dir="in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45057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2.4.6  </a:t>
            </a:r>
            <a:r>
              <a:rPr lang="zh-CN" altLang="en-US"/>
              <a:t>系统功能调用</a:t>
            </a:r>
          </a:p>
        </p:txBody>
      </p:sp>
      <p:sp>
        <p:nvSpPr>
          <p:cNvPr id="45059" name="文本占位符 45058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7467600" cy="4471988"/>
          </a:xfrm>
        </p:spPr>
        <p:txBody>
          <a:bodyPr/>
          <a:lstStyle/>
          <a:p>
            <a:pPr marL="0" indent="390525">
              <a:lnSpc>
                <a:spcPct val="90000"/>
              </a:lnSpc>
            </a:pPr>
            <a:r>
              <a:rPr lang="zh-CN" altLang="en-US" sz="2600" b="1" dirty="0">
                <a:solidFill>
                  <a:srgbClr val="0099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21H号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中断是DOS提供给用户的用于调用系统功能的中断，它有近百个功能供用户选择使用，主要包括设备管理、目录管理和文件管理三个方面的功能</a:t>
            </a:r>
          </a:p>
          <a:p>
            <a:pPr marL="0" indent="390525">
              <a:lnSpc>
                <a:spcPct val="90000"/>
              </a:lnSpc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ROM-BIOS也以中断服务程序的形式，向程序员提供系统的基本输入输出程序</a:t>
            </a:r>
          </a:p>
          <a:p>
            <a:pPr marL="0" indent="390525">
              <a:lnSpc>
                <a:spcPct val="90000"/>
              </a:lnSpc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汇编语言程序设计需要采用系统的各种功能程序</a:t>
            </a:r>
          </a:p>
          <a:p>
            <a:pPr marL="0" indent="390525">
              <a:lnSpc>
                <a:spcPct val="90000"/>
              </a:lnSpc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充分利用操作系统提供的资源是程序设计的一个重要方面，需要掌握</a:t>
            </a:r>
          </a:p>
        </p:txBody>
      </p:sp>
      <p:sp>
        <p:nvSpPr>
          <p:cNvPr id="45060" name="文本框 45059"/>
          <p:cNvSpPr txBox="1"/>
          <p:nvPr/>
        </p:nvSpPr>
        <p:spPr>
          <a:xfrm>
            <a:off x="2743200" y="6338888"/>
            <a:ext cx="4572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1">
                <a:latin typeface="Arial" panose="020B0604020202020204" pitchFamily="34" charset="0"/>
              </a:rPr>
              <a:t>（重点掌握）</a:t>
            </a:r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4608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功能调用的步骤</a:t>
            </a:r>
          </a:p>
        </p:txBody>
      </p:sp>
      <p:sp>
        <p:nvSpPr>
          <p:cNvPr id="46083" name="文本占位符 4608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>
                <a:latin typeface="宋体" panose="02010600030101010101" pitchFamily="2" charset="-122"/>
              </a:rPr>
              <a:t>通常按照如下</a:t>
            </a:r>
            <a:r>
              <a:rPr lang="en-US" altLang="zh-CN" b="1">
                <a:solidFill>
                  <a:srgbClr val="0099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>
                <a:solidFill>
                  <a:srgbClr val="009900"/>
                </a:solidFill>
                <a:latin typeface="宋体" panose="02010600030101010101" pitchFamily="2" charset="-122"/>
              </a:rPr>
              <a:t>个步骤</a:t>
            </a:r>
            <a:r>
              <a:rPr lang="zh-CN" altLang="en-US">
                <a:latin typeface="宋体" panose="02010600030101010101" pitchFamily="2" charset="-122"/>
              </a:rPr>
              <a:t>进行：</a:t>
            </a:r>
          </a:p>
          <a:p>
            <a:pPr>
              <a:buNone/>
            </a:pPr>
            <a:r>
              <a:rPr lang="en-US" altLang="zh-CN" sz="2600">
                <a:solidFill>
                  <a:srgbClr val="0000CC"/>
                </a:solidFill>
                <a:latin typeface="宋体" panose="02010600030101010101" pitchFamily="2" charset="-122"/>
              </a:rPr>
              <a:t>⑴</a:t>
            </a:r>
            <a:r>
              <a:rPr lang="en-US" altLang="zh-CN" sz="2600">
                <a:latin typeface="宋体" panose="02010600030101010101" pitchFamily="2" charset="-122"/>
              </a:rPr>
              <a:t> </a:t>
            </a:r>
            <a:r>
              <a:rPr lang="zh-CN" altLang="en-US" sz="2600">
                <a:latin typeface="宋体" panose="02010600030101010101" pitchFamily="2" charset="-122"/>
              </a:rPr>
              <a:t>在</a:t>
            </a:r>
            <a:r>
              <a:rPr lang="en-US" altLang="zh-CN" sz="2600">
                <a:latin typeface="宋体" panose="02010600030101010101" pitchFamily="2" charset="-122"/>
              </a:rPr>
              <a:t>AH</a:t>
            </a:r>
            <a:r>
              <a:rPr lang="zh-CN" altLang="en-US" sz="2600">
                <a:latin typeface="宋体" panose="02010600030101010101" pitchFamily="2" charset="-122"/>
              </a:rPr>
              <a:t>寄存器中设置系统功能调用号</a:t>
            </a:r>
          </a:p>
          <a:p>
            <a:pPr>
              <a:buNone/>
            </a:pPr>
            <a:r>
              <a:rPr lang="en-US" altLang="zh-CN" sz="2600">
                <a:solidFill>
                  <a:srgbClr val="0000CC"/>
                </a:solidFill>
                <a:latin typeface="宋体" panose="02010600030101010101" pitchFamily="2" charset="-122"/>
              </a:rPr>
              <a:t>⑵</a:t>
            </a:r>
            <a:r>
              <a:rPr lang="en-US" altLang="zh-CN" sz="2600">
                <a:latin typeface="宋体" panose="02010600030101010101" pitchFamily="2" charset="-122"/>
              </a:rPr>
              <a:t> </a:t>
            </a:r>
            <a:r>
              <a:rPr lang="zh-CN" altLang="en-US" sz="2600">
                <a:latin typeface="宋体" panose="02010600030101010101" pitchFamily="2" charset="-122"/>
              </a:rPr>
              <a:t>在指定寄存器中设置入口参数</a:t>
            </a:r>
          </a:p>
          <a:p>
            <a:pPr>
              <a:buNone/>
            </a:pPr>
            <a:r>
              <a:rPr lang="en-US" altLang="zh-CN" sz="2600">
                <a:solidFill>
                  <a:srgbClr val="0000CC"/>
                </a:solidFill>
                <a:latin typeface="宋体" panose="02010600030101010101" pitchFamily="2" charset="-122"/>
              </a:rPr>
              <a:t>⑶</a:t>
            </a:r>
            <a:r>
              <a:rPr lang="en-US" altLang="zh-CN" sz="2600">
                <a:latin typeface="宋体" panose="02010600030101010101" pitchFamily="2" charset="-122"/>
              </a:rPr>
              <a:t> </a:t>
            </a:r>
            <a:r>
              <a:rPr lang="zh-CN" altLang="en-US" sz="2600">
                <a:latin typeface="宋体" panose="02010600030101010101" pitchFamily="2" charset="-122"/>
              </a:rPr>
              <a:t>执行指令</a:t>
            </a:r>
            <a:r>
              <a:rPr lang="en-US" altLang="zh-CN" sz="2600">
                <a:latin typeface="宋体" panose="02010600030101010101" pitchFamily="2" charset="-122"/>
              </a:rPr>
              <a:t>INT 21H</a:t>
            </a:r>
            <a:r>
              <a:rPr lang="zh-CN" altLang="en-US" sz="2600">
                <a:latin typeface="宋体" panose="02010600030101010101" pitchFamily="2" charset="-122"/>
              </a:rPr>
              <a:t>（或</a:t>
            </a:r>
            <a:r>
              <a:rPr lang="en-US" altLang="zh-CN" sz="2600">
                <a:latin typeface="宋体" panose="02010600030101010101" pitchFamily="2" charset="-122"/>
              </a:rPr>
              <a:t>ROM-BIOS</a:t>
            </a:r>
            <a:r>
              <a:rPr lang="zh-CN" altLang="en-US" sz="2600">
                <a:latin typeface="宋体" panose="02010600030101010101" pitchFamily="2" charset="-122"/>
              </a:rPr>
              <a:t>的中断向量号）实现中断服务程序的功能调用</a:t>
            </a:r>
          </a:p>
          <a:p>
            <a:pPr>
              <a:buNone/>
            </a:pPr>
            <a:r>
              <a:rPr lang="en-US" altLang="zh-CN" sz="2600">
                <a:solidFill>
                  <a:srgbClr val="0000CC"/>
                </a:solidFill>
                <a:latin typeface="宋体" panose="02010600030101010101" pitchFamily="2" charset="-122"/>
              </a:rPr>
              <a:t>⑷</a:t>
            </a:r>
            <a:r>
              <a:rPr lang="en-US" altLang="zh-CN" sz="2600">
                <a:latin typeface="宋体" panose="02010600030101010101" pitchFamily="2" charset="-122"/>
              </a:rPr>
              <a:t> </a:t>
            </a:r>
            <a:r>
              <a:rPr lang="zh-CN" altLang="en-US" sz="2600">
                <a:latin typeface="宋体" panose="02010600030101010101" pitchFamily="2" charset="-122"/>
              </a:rPr>
              <a:t>根据出口参数分析功能调用执行情况</a:t>
            </a:r>
            <a:endParaRPr lang="zh-CN" altLang="en-US" sz="2100"/>
          </a:p>
        </p:txBody>
      </p:sp>
    </p:spTree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4710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输入输出类功能调用</a:t>
            </a:r>
          </a:p>
        </p:txBody>
      </p:sp>
      <p:sp>
        <p:nvSpPr>
          <p:cNvPr id="47107" name="文本占位符 47106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5259388" cy="4411662"/>
          </a:xfrm>
        </p:spPr>
        <p:txBody>
          <a:bodyPr/>
          <a:lstStyle/>
          <a:p>
            <a:r>
              <a:rPr lang="zh-CN" altLang="en-US" sz="2600"/>
              <a:t>向显示器输出字符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2200"/>
              <a:t>⒈  </a:t>
            </a:r>
            <a:r>
              <a:rPr lang="zh-CN" altLang="en-US" sz="2200" b="1">
                <a:solidFill>
                  <a:srgbClr val="009900"/>
                </a:solidFill>
              </a:rPr>
              <a:t>字符的输出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2200"/>
              <a:t>⒉  </a:t>
            </a:r>
            <a:r>
              <a:rPr lang="zh-CN" altLang="en-US" sz="2200" b="1">
                <a:solidFill>
                  <a:srgbClr val="0000FF"/>
                </a:solidFill>
                <a:hlinkClick r:id="rId2" action="ppaction://hlinksldjump"/>
              </a:rPr>
              <a:t>字符串的输出</a:t>
            </a:r>
            <a:endParaRPr lang="zh-CN" altLang="en-US" sz="2200" b="1">
              <a:solidFill>
                <a:srgbClr val="0000FF"/>
              </a:solidFill>
            </a:endParaRPr>
          </a:p>
          <a:p>
            <a:r>
              <a:rPr lang="zh-CN" altLang="en-US" sz="2600"/>
              <a:t>从键盘输入数据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2200"/>
              <a:t>⒊  </a:t>
            </a:r>
            <a:r>
              <a:rPr lang="zh-CN" altLang="en-US" sz="2200" b="1">
                <a:solidFill>
                  <a:schemeClr val="accent2"/>
                </a:solidFill>
                <a:hlinkClick r:id="rId3" action="ppaction://hlinksldjump"/>
              </a:rPr>
              <a:t>字符的输入</a:t>
            </a:r>
            <a:endParaRPr lang="zh-CN" altLang="en-US" sz="2200" b="1">
              <a:solidFill>
                <a:schemeClr val="accent2"/>
              </a:solidFill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2200"/>
              <a:t>⒋  </a:t>
            </a:r>
            <a:r>
              <a:rPr lang="zh-CN" altLang="en-US" sz="2200" b="1">
                <a:solidFill>
                  <a:srgbClr val="0000FF"/>
                </a:solidFill>
                <a:hlinkClick r:id="rId4" action="ppaction://hlinksldjump"/>
              </a:rPr>
              <a:t>字符串的输入</a:t>
            </a:r>
            <a:endParaRPr lang="zh-CN" altLang="en-US" sz="2200" b="1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2200"/>
              <a:t>⒌  </a:t>
            </a:r>
            <a:r>
              <a:rPr lang="en-US" altLang="zh-CN" sz="2200" b="1">
                <a:solidFill>
                  <a:srgbClr val="0000FF"/>
                </a:solidFill>
                <a:hlinkClick r:id="rId5" action="ppaction://hlinksldjump"/>
              </a:rPr>
              <a:t>ROM BIOS</a:t>
            </a:r>
            <a:r>
              <a:rPr lang="zh-CN" altLang="en-US" sz="2200" b="1">
                <a:solidFill>
                  <a:srgbClr val="0000FF"/>
                </a:solidFill>
                <a:hlinkClick r:id="rId5" action="ppaction://hlinksldjump"/>
              </a:rPr>
              <a:t>中断调用</a:t>
            </a:r>
            <a:endParaRPr lang="zh-CN" altLang="en-US" sz="2200" b="1">
              <a:solidFill>
                <a:srgbClr val="0000FF"/>
              </a:solidFill>
            </a:endParaRPr>
          </a:p>
        </p:txBody>
      </p:sp>
      <p:grpSp>
        <p:nvGrpSpPr>
          <p:cNvPr id="47108" name="组合 47107"/>
          <p:cNvGrpSpPr/>
          <p:nvPr/>
        </p:nvGrpSpPr>
        <p:grpSpPr>
          <a:xfrm>
            <a:off x="4724400" y="2514600"/>
            <a:ext cx="4038600" cy="3276600"/>
            <a:chOff x="0" y="0"/>
            <a:chExt cx="2544" cy="2064"/>
          </a:xfrm>
        </p:grpSpPr>
        <p:sp>
          <p:nvSpPr>
            <p:cNvPr id="47109" name="椭圆 47108"/>
            <p:cNvSpPr/>
            <p:nvPr/>
          </p:nvSpPr>
          <p:spPr>
            <a:xfrm>
              <a:off x="768" y="528"/>
              <a:ext cx="1776" cy="1536"/>
            </a:xfrm>
            <a:prstGeom prst="ellipse">
              <a:avLst/>
            </a:prstGeom>
            <a:solidFill>
              <a:schemeClr val="folHlink"/>
            </a:solidFill>
            <a:ln w="28575" cap="sq" cmpd="sng">
              <a:solidFill>
                <a:srgbClr val="7AA3DA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0" name="椭圆 47109"/>
            <p:cNvSpPr/>
            <p:nvPr/>
          </p:nvSpPr>
          <p:spPr>
            <a:xfrm>
              <a:off x="1080" y="996"/>
              <a:ext cx="1104" cy="912"/>
            </a:xfrm>
            <a:prstGeom prst="ellipse">
              <a:avLst/>
            </a:prstGeom>
            <a:solidFill>
              <a:srgbClr val="996600"/>
            </a:solidFill>
            <a:ln w="28575" cap="sq" cmpd="sng">
              <a:solidFill>
                <a:srgbClr val="7AA3DA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1" name="椭圆 47110"/>
            <p:cNvSpPr/>
            <p:nvPr/>
          </p:nvSpPr>
          <p:spPr>
            <a:xfrm>
              <a:off x="1416" y="1392"/>
              <a:ext cx="432" cy="336"/>
            </a:xfrm>
            <a:prstGeom prst="ellipse">
              <a:avLst/>
            </a:prstGeom>
            <a:solidFill>
              <a:schemeClr val="accent1"/>
            </a:solidFill>
            <a:ln w="19050" cap="sq" cmpd="sng">
              <a:solidFill>
                <a:srgbClr val="7AA3DA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2" name="文本框 47111"/>
            <p:cNvSpPr txBox="1"/>
            <p:nvPr/>
          </p:nvSpPr>
          <p:spPr>
            <a:xfrm>
              <a:off x="1320" y="1440"/>
              <a:ext cx="62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>
                  <a:latin typeface="Times New Roman" panose="02020603050405020304" pitchFamily="2" charset="0"/>
                </a:rPr>
                <a:t>裸机</a:t>
              </a:r>
              <a:endParaRPr lang="zh-CN" altLang="en-US" sz="2400" b="1">
                <a:latin typeface="Times New Roman" panose="02020603050405020304" pitchFamily="2" charset="0"/>
              </a:endParaRPr>
            </a:p>
          </p:txBody>
        </p:sp>
        <p:sp>
          <p:nvSpPr>
            <p:cNvPr id="47113" name="矩形 47112"/>
            <p:cNvSpPr/>
            <p:nvPr/>
          </p:nvSpPr>
          <p:spPr>
            <a:xfrm>
              <a:off x="1344" y="1188"/>
              <a:ext cx="577" cy="384"/>
            </a:xfrm>
            <a:prstGeom prst="rect">
              <a:avLst/>
            </a:prstGeom>
          </p:spPr>
          <p:txBody>
            <a:bodyPr wrap="none" fromWordArt="1">
              <a:prstTxWarp prst="textArchUp">
                <a:avLst>
                  <a:gd name="adj" fmla="val 10800000"/>
                </a:avLst>
              </a:prstTxWarp>
              <a:normAutofit/>
            </a:bodyPr>
            <a:lstStyle/>
            <a:p>
              <a:pPr algn="ctr"/>
              <a:r>
                <a:rPr lang="zh-CN" altLang="en-US" sz="2400">
                  <a:ln w="9525" cap="sq" cmpd="sng">
                    <a:solidFill>
                      <a:srgbClr val="0000FF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ROM-BIOS</a:t>
              </a:r>
            </a:p>
          </p:txBody>
        </p:sp>
        <p:sp>
          <p:nvSpPr>
            <p:cNvPr id="47114" name="矩形 47113"/>
            <p:cNvSpPr/>
            <p:nvPr/>
          </p:nvSpPr>
          <p:spPr>
            <a:xfrm>
              <a:off x="1128" y="720"/>
              <a:ext cx="1008" cy="528"/>
            </a:xfrm>
            <a:prstGeom prst="rect">
              <a:avLst/>
            </a:prstGeom>
          </p:spPr>
          <p:txBody>
            <a:bodyPr wrap="none" fromWordArt="1">
              <a:prstTxWarp prst="textArchUp">
                <a:avLst>
                  <a:gd name="adj" fmla="val 11385869"/>
                </a:avLst>
              </a:prstTxWarp>
              <a:normAutofit/>
            </a:bodyPr>
            <a:lstStyle/>
            <a:p>
              <a:pPr algn="ctr"/>
              <a:r>
                <a:rPr lang="zh-CN" altLang="en-US" sz="2800">
                  <a:ln w="9525" cap="sq" cmpd="sng">
                    <a:solidFill>
                      <a:srgbClr val="9933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99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DOS功能调用</a:t>
              </a:r>
            </a:p>
          </p:txBody>
        </p:sp>
        <p:sp>
          <p:nvSpPr>
            <p:cNvPr id="47115" name="文本框 47114"/>
            <p:cNvSpPr txBox="1"/>
            <p:nvPr/>
          </p:nvSpPr>
          <p:spPr>
            <a:xfrm>
              <a:off x="0" y="0"/>
              <a:ext cx="1344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bg2"/>
                  </a:solidFill>
                  <a:latin typeface="Times New Roman" panose="02020603050405020304" pitchFamily="2" charset="0"/>
                  <a:ea typeface="黑体" panose="02010609060101010101" pitchFamily="1" charset="-122"/>
                </a:rPr>
                <a:t>汇编语言程序</a:t>
              </a:r>
              <a:endParaRPr lang="zh-CN" altLang="en-US" sz="2400">
                <a:latin typeface="Times New Roman" panose="02020603050405020304" pitchFamily="2" charset="0"/>
              </a:endParaRPr>
            </a:p>
          </p:txBody>
        </p:sp>
        <p:sp>
          <p:nvSpPr>
            <p:cNvPr id="47116" name="直接连接符 47115"/>
            <p:cNvSpPr/>
            <p:nvPr/>
          </p:nvSpPr>
          <p:spPr>
            <a:xfrm>
              <a:off x="768" y="336"/>
              <a:ext cx="672" cy="288"/>
            </a:xfrm>
            <a:prstGeom prst="line">
              <a:avLst/>
            </a:prstGeom>
            <a:ln w="19050" cap="sq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17" name="直接连接符 47116"/>
            <p:cNvSpPr/>
            <p:nvPr/>
          </p:nvSpPr>
          <p:spPr>
            <a:xfrm>
              <a:off x="720" y="336"/>
              <a:ext cx="528" cy="912"/>
            </a:xfrm>
            <a:prstGeom prst="line">
              <a:avLst/>
            </a:prstGeom>
            <a:ln w="19050" cap="sq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>
    <p:zoom dir="in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48129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字符输出的功能调用</a:t>
            </a:r>
          </a:p>
        </p:txBody>
      </p:sp>
      <p:sp>
        <p:nvSpPr>
          <p:cNvPr id="48131" name="文本占位符 48130"/>
          <p:cNvSpPr>
            <a:spLocks noGrp="1"/>
          </p:cNvSpPr>
          <p:nvPr>
            <p:ph type="body" idx="1"/>
          </p:nvPr>
        </p:nvSpPr>
        <p:spPr>
          <a:xfrm>
            <a:off x="609600" y="1905000"/>
            <a:ext cx="7696200" cy="4648200"/>
          </a:xfrm>
        </p:spPr>
        <p:txBody>
          <a:bodyPr/>
          <a:lstStyle/>
          <a:p>
            <a:r>
              <a:rPr lang="en-US" altLang="zh-CN">
                <a:solidFill>
                  <a:schemeClr val="tx2"/>
                </a:solidFill>
              </a:rPr>
              <a:t>DOS</a:t>
            </a:r>
            <a:r>
              <a:rPr lang="zh-CN" altLang="en-US">
                <a:solidFill>
                  <a:schemeClr val="tx2"/>
                </a:solidFill>
              </a:rPr>
              <a:t>功能调用</a:t>
            </a:r>
            <a:r>
              <a:rPr lang="en-US" altLang="zh-CN">
                <a:solidFill>
                  <a:srgbClr val="FF0000"/>
                </a:solidFill>
              </a:rPr>
              <a:t>INT 21H</a:t>
            </a:r>
          </a:p>
          <a:p>
            <a:pPr lvl="1"/>
            <a:r>
              <a:rPr lang="zh-CN" altLang="en-US"/>
              <a:t>功能号：</a:t>
            </a:r>
            <a:r>
              <a:rPr lang="en-US" altLang="zh-CN">
                <a:solidFill>
                  <a:srgbClr val="0000FF"/>
                </a:solidFill>
              </a:rPr>
              <a:t>AH</a:t>
            </a:r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02H</a:t>
            </a:r>
          </a:p>
          <a:p>
            <a:pPr lvl="1"/>
            <a:r>
              <a:rPr lang="zh-CN" altLang="en-US"/>
              <a:t>入口参数：</a:t>
            </a:r>
            <a:r>
              <a:rPr lang="en-US" altLang="zh-CN" b="1">
                <a:solidFill>
                  <a:srgbClr val="009900"/>
                </a:solidFill>
              </a:rPr>
              <a:t>DL</a:t>
            </a:r>
            <a:r>
              <a:rPr lang="zh-CN" altLang="en-US" b="1">
                <a:solidFill>
                  <a:srgbClr val="009900"/>
                </a:solidFill>
              </a:rPr>
              <a:t>＝字符的</a:t>
            </a:r>
            <a:r>
              <a:rPr lang="en-US" altLang="zh-CN" b="1">
                <a:solidFill>
                  <a:srgbClr val="009900"/>
                </a:solidFill>
              </a:rPr>
              <a:t>ASCII</a:t>
            </a:r>
            <a:r>
              <a:rPr lang="zh-CN" altLang="en-US" b="1">
                <a:solidFill>
                  <a:srgbClr val="009900"/>
                </a:solidFill>
              </a:rPr>
              <a:t>码</a:t>
            </a:r>
          </a:p>
          <a:p>
            <a:pPr lvl="1"/>
            <a:r>
              <a:rPr lang="zh-CN" altLang="en-US"/>
              <a:t>功能：在显示器当前光标位置显示给定的字符，光标右移一个字符位置。如按</a:t>
            </a:r>
            <a:r>
              <a:rPr lang="en-US" altLang="zh-CN"/>
              <a:t>Ctrl-Break</a:t>
            </a:r>
            <a:r>
              <a:rPr lang="zh-CN" altLang="en-US"/>
              <a:t>或</a:t>
            </a:r>
            <a:r>
              <a:rPr lang="en-US" altLang="zh-CN"/>
              <a:t>Ctrl-C</a:t>
            </a:r>
            <a:r>
              <a:rPr lang="zh-CN" altLang="en-US"/>
              <a:t>则退出</a:t>
            </a:r>
          </a:p>
        </p:txBody>
      </p:sp>
      <p:pic>
        <p:nvPicPr>
          <p:cNvPr id="48132" name="图片 48131" descr="v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73700"/>
            <a:ext cx="7467600" cy="673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49153"/>
          <p:cNvSpPr>
            <a:spLocks noGrp="1"/>
          </p:cNvSpPr>
          <p:nvPr>
            <p:ph type="title"/>
          </p:nvPr>
        </p:nvSpPr>
        <p:spPr>
          <a:xfrm>
            <a:off x="1066800" y="685800"/>
            <a:ext cx="370205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4.9</a:t>
            </a:r>
            <a:r>
              <a:rPr lang="zh-CN" altLang="en-US" sz="3000" b="0">
                <a:solidFill>
                  <a:schemeClr val="tx1"/>
                </a:solidFill>
              </a:rPr>
              <a:t>：显示问号</a:t>
            </a:r>
          </a:p>
        </p:txBody>
      </p:sp>
      <p:sp>
        <p:nvSpPr>
          <p:cNvPr id="49155" name="文本占位符 49154"/>
          <p:cNvSpPr>
            <a:spLocks noGrp="1"/>
          </p:cNvSpPr>
          <p:nvPr>
            <p:ph type="body" idx="1"/>
          </p:nvPr>
        </p:nvSpPr>
        <p:spPr>
          <a:xfrm>
            <a:off x="762000" y="1752600"/>
            <a:ext cx="7696200" cy="4343400"/>
          </a:xfrm>
          <a:solidFill>
            <a:schemeClr val="bg1"/>
          </a:solidFill>
        </p:spPr>
        <p:txBody>
          <a:bodyPr/>
          <a:lstStyle/>
          <a:p>
            <a:pPr marL="0" indent="384175" defTabSz="914400">
              <a:lnSpc>
                <a:spcPct val="110000"/>
              </a:lnSpc>
              <a:buNone/>
              <a:tabLst>
                <a:tab pos="2957830" algn="l"/>
              </a:tabLst>
            </a:pPr>
            <a:r>
              <a:rPr lang="zh-CN" altLang="en-US" sz="2500">
                <a:latin typeface="宋体" panose="02010600030101010101" pitchFamily="2" charset="-122"/>
              </a:rPr>
              <a:t>；在当前显示器光标位置显示一个问号</a:t>
            </a:r>
          </a:p>
          <a:p>
            <a:pPr marL="0" indent="384175" defTabSz="914400">
              <a:lnSpc>
                <a:spcPct val="110000"/>
              </a:lnSpc>
              <a:buNone/>
              <a:tabLst>
                <a:tab pos="2957830" algn="l"/>
              </a:tabLst>
            </a:pPr>
            <a:r>
              <a:rPr lang="en-US" altLang="zh-CN" sz="2500" b="1">
                <a:solidFill>
                  <a:srgbClr val="0000FF"/>
                </a:solidFill>
                <a:latin typeface="宋体" panose="02010600030101010101" pitchFamily="2" charset="-122"/>
              </a:rPr>
              <a:t>mov ah,02h</a:t>
            </a:r>
            <a:r>
              <a:rPr lang="en-US" altLang="zh-CN" sz="2500">
                <a:latin typeface="宋体" panose="02010600030101010101" pitchFamily="2" charset="-122"/>
              </a:rPr>
              <a:t>	</a:t>
            </a:r>
            <a:r>
              <a:rPr lang="zh-CN" altLang="en-US" sz="2500">
                <a:latin typeface="宋体" panose="02010600030101010101" pitchFamily="2" charset="-122"/>
              </a:rPr>
              <a:t>；设置功能号：</a:t>
            </a:r>
            <a:r>
              <a:rPr lang="en-US" altLang="zh-CN" sz="2500">
                <a:latin typeface="宋体" panose="02010600030101010101" pitchFamily="2" charset="-122"/>
              </a:rPr>
              <a:t>ah←02h</a:t>
            </a:r>
          </a:p>
          <a:p>
            <a:pPr marL="0" indent="384175" defTabSz="914400">
              <a:lnSpc>
                <a:spcPct val="110000"/>
              </a:lnSpc>
              <a:buNone/>
              <a:tabLst>
                <a:tab pos="2957830" algn="l"/>
              </a:tabLst>
            </a:pPr>
            <a:r>
              <a:rPr lang="en-US" altLang="zh-CN" sz="2500" b="1">
                <a:solidFill>
                  <a:srgbClr val="0000FF"/>
                </a:solidFill>
                <a:latin typeface="宋体" panose="02010600030101010101" pitchFamily="2" charset="-122"/>
              </a:rPr>
              <a:t>mov dl,'?'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latin typeface="宋体" panose="02010600030101010101" pitchFamily="2" charset="-122"/>
              </a:rPr>
              <a:t>；提供入口参数：</a:t>
            </a:r>
            <a:r>
              <a:rPr lang="en-US" altLang="zh-CN" sz="2500">
                <a:latin typeface="宋体" panose="02010600030101010101" pitchFamily="2" charset="-122"/>
              </a:rPr>
              <a:t>dl←'?'</a:t>
            </a:r>
          </a:p>
          <a:p>
            <a:pPr marL="0" indent="384175" defTabSz="914400">
              <a:lnSpc>
                <a:spcPct val="110000"/>
              </a:lnSpc>
              <a:buNone/>
              <a:tabLst>
                <a:tab pos="2957830" algn="l"/>
              </a:tabLst>
            </a:pPr>
            <a:r>
              <a:rPr lang="en-US" altLang="zh-CN" sz="2500" b="1">
                <a:solidFill>
                  <a:srgbClr val="009900"/>
                </a:solidFill>
                <a:latin typeface="宋体" panose="02010600030101010101" pitchFamily="2" charset="-122"/>
              </a:rPr>
              <a:t>int 21h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>
                <a:latin typeface="宋体" panose="02010600030101010101" pitchFamily="2" charset="-122"/>
              </a:rPr>
              <a:t>；</a:t>
            </a:r>
            <a:r>
              <a:rPr lang="en-US" altLang="zh-CN" sz="2500">
                <a:latin typeface="宋体" panose="02010600030101010101" pitchFamily="2" charset="-122"/>
              </a:rPr>
              <a:t>DOS</a:t>
            </a:r>
            <a:r>
              <a:rPr lang="zh-CN" altLang="en-US" sz="2500">
                <a:latin typeface="宋体" panose="02010600030101010101" pitchFamily="2" charset="-122"/>
              </a:rPr>
              <a:t>功能调用：显示</a:t>
            </a:r>
          </a:p>
        </p:txBody>
      </p:sp>
      <p:pic>
        <p:nvPicPr>
          <p:cNvPr id="49156" name="图片 49155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5075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50177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字符串输出的功能调用</a:t>
            </a:r>
          </a:p>
        </p:txBody>
      </p:sp>
      <p:sp>
        <p:nvSpPr>
          <p:cNvPr id="50179" name="文本占位符 5017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600">
                <a:solidFill>
                  <a:schemeClr val="tx2"/>
                </a:solidFill>
              </a:rPr>
              <a:t>DOS</a:t>
            </a:r>
            <a:r>
              <a:rPr lang="zh-CN" altLang="en-US" sz="2600">
                <a:solidFill>
                  <a:schemeClr val="tx2"/>
                </a:solidFill>
              </a:rPr>
              <a:t>功能调用</a:t>
            </a:r>
            <a:r>
              <a:rPr lang="en-US" altLang="zh-CN" sz="2600">
                <a:solidFill>
                  <a:srgbClr val="0000FF"/>
                </a:solidFill>
              </a:rPr>
              <a:t>INT 21H</a:t>
            </a:r>
          </a:p>
          <a:p>
            <a:pPr lvl="1"/>
            <a:r>
              <a:rPr lang="zh-CN" altLang="en-US" sz="2200"/>
              <a:t>功能号：</a:t>
            </a:r>
            <a:r>
              <a:rPr lang="en-US" altLang="zh-CN" sz="2200" b="1">
                <a:solidFill>
                  <a:srgbClr val="009900"/>
                </a:solidFill>
              </a:rPr>
              <a:t>AH</a:t>
            </a:r>
            <a:r>
              <a:rPr lang="zh-CN" altLang="en-US" sz="2200" b="1">
                <a:solidFill>
                  <a:srgbClr val="009900"/>
                </a:solidFill>
              </a:rPr>
              <a:t>＝</a:t>
            </a:r>
            <a:r>
              <a:rPr lang="en-US" altLang="zh-CN" sz="2200" b="1">
                <a:solidFill>
                  <a:srgbClr val="009900"/>
                </a:solidFill>
              </a:rPr>
              <a:t>09H</a:t>
            </a:r>
          </a:p>
          <a:p>
            <a:pPr lvl="1"/>
            <a:r>
              <a:rPr lang="zh-CN" altLang="en-US" sz="2200"/>
              <a:t>入口参数：</a:t>
            </a:r>
          </a:p>
          <a:p>
            <a:pPr lvl="1">
              <a:buNone/>
            </a:pPr>
            <a:r>
              <a:rPr lang="en-US" altLang="zh-CN" sz="2200" b="1">
                <a:solidFill>
                  <a:schemeClr val="tx2"/>
                </a:solidFill>
              </a:rPr>
              <a:t>DS:DX</a:t>
            </a:r>
            <a:r>
              <a:rPr lang="zh-CN" altLang="en-US" sz="2200" b="1">
                <a:solidFill>
                  <a:schemeClr val="tx2"/>
                </a:solidFill>
              </a:rPr>
              <a:t>＝欲显示字符串在主存中的首地址</a:t>
            </a:r>
          </a:p>
          <a:p>
            <a:pPr lvl="1">
              <a:buNone/>
            </a:pPr>
            <a:r>
              <a:rPr lang="zh-CN" altLang="en-US" sz="2200" b="1">
                <a:solidFill>
                  <a:schemeClr val="tx2"/>
                </a:solidFill>
              </a:rPr>
              <a:t>字符串应以</a:t>
            </a:r>
            <a:r>
              <a:rPr lang="en-US" altLang="zh-CN" sz="2200" b="1">
                <a:solidFill>
                  <a:schemeClr val="tx2"/>
                </a:solidFill>
              </a:rPr>
              <a:t>$</a:t>
            </a:r>
            <a:r>
              <a:rPr lang="zh-CN" altLang="en-US" sz="2200" b="1">
                <a:solidFill>
                  <a:schemeClr val="tx2"/>
                </a:solidFill>
              </a:rPr>
              <a:t>（</a:t>
            </a:r>
            <a:r>
              <a:rPr lang="en-US" altLang="zh-CN" sz="2200" b="1">
                <a:solidFill>
                  <a:schemeClr val="tx2"/>
                </a:solidFill>
              </a:rPr>
              <a:t>24H</a:t>
            </a:r>
            <a:r>
              <a:rPr lang="zh-CN" altLang="en-US" sz="2200" b="1">
                <a:solidFill>
                  <a:schemeClr val="tx2"/>
                </a:solidFill>
              </a:rPr>
              <a:t>）结束</a:t>
            </a:r>
          </a:p>
          <a:p>
            <a:pPr lvl="1"/>
            <a:r>
              <a:rPr lang="zh-CN" altLang="en-US" sz="2200"/>
              <a:t>功能：在显示器输出指定的字符串</a:t>
            </a:r>
          </a:p>
          <a:p>
            <a:r>
              <a:rPr lang="zh-CN" altLang="en-US" sz="2600"/>
              <a:t>可以输出回车（</a:t>
            </a:r>
            <a:r>
              <a:rPr lang="en-US" altLang="zh-CN" sz="2600"/>
              <a:t>0DH</a:t>
            </a:r>
            <a:r>
              <a:rPr lang="zh-CN" altLang="en-US" sz="2600"/>
              <a:t>）和换行（</a:t>
            </a:r>
            <a:r>
              <a:rPr lang="en-US" altLang="zh-CN" sz="2600"/>
              <a:t>0AH</a:t>
            </a:r>
            <a:r>
              <a:rPr lang="zh-CN" altLang="en-US" sz="2600"/>
              <a:t>）字符产生回车和换行的作用</a:t>
            </a:r>
          </a:p>
        </p:txBody>
      </p:sp>
      <p:pic>
        <p:nvPicPr>
          <p:cNvPr id="50180" name="图片 50179" descr="v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803900"/>
            <a:ext cx="7467600" cy="673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51201"/>
          <p:cNvSpPr>
            <a:spLocks noGrp="1"/>
          </p:cNvSpPr>
          <p:nvPr>
            <p:ph type="title"/>
          </p:nvPr>
        </p:nvSpPr>
        <p:spPr>
          <a:xfrm>
            <a:off x="762000" y="762000"/>
            <a:ext cx="38862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4.10</a:t>
            </a:r>
            <a:r>
              <a:rPr lang="zh-CN" altLang="en-US" sz="3000" b="0">
                <a:solidFill>
                  <a:schemeClr val="tx1"/>
                </a:solidFill>
              </a:rPr>
              <a:t>：显示字符串</a:t>
            </a:r>
          </a:p>
        </p:txBody>
      </p:sp>
      <p:sp>
        <p:nvSpPr>
          <p:cNvPr id="51203" name="文本占位符 51202"/>
          <p:cNvSpPr>
            <a:spLocks noGrp="1"/>
          </p:cNvSpPr>
          <p:nvPr>
            <p:ph type="body" idx="1"/>
          </p:nvPr>
        </p:nvSpPr>
        <p:spPr>
          <a:xfrm>
            <a:off x="228600" y="1752600"/>
            <a:ext cx="8763000" cy="46482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120000"/>
              </a:lnSpc>
              <a:buNone/>
              <a:tabLst>
                <a:tab pos="952500" algn="l"/>
                <a:tab pos="3710305" algn="l"/>
              </a:tabLst>
            </a:pPr>
            <a:endParaRPr lang="en-US" altLang="zh-CN" sz="21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120000"/>
              </a:lnSpc>
              <a:buNone/>
              <a:tabLst>
                <a:tab pos="952500" algn="l"/>
                <a:tab pos="371030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string db ‘Hello,Everybody !’,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0dh,0ah,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‘$’</a:t>
            </a:r>
            <a:r>
              <a:rPr lang="en-US" altLang="zh-CN" sz="2100">
                <a:latin typeface="宋体" panose="02010600030101010101" pitchFamily="2" charset="-122"/>
              </a:rPr>
              <a:t>   </a:t>
            </a:r>
          </a:p>
          <a:p>
            <a:pPr marL="0" indent="0" defTabSz="914400">
              <a:lnSpc>
                <a:spcPct val="120000"/>
              </a:lnSpc>
              <a:buNone/>
              <a:tabLst>
                <a:tab pos="952500" algn="l"/>
                <a:tab pos="3710305" algn="l"/>
              </a:tabLst>
            </a:pPr>
            <a:r>
              <a:rPr lang="zh-CN" altLang="en-US" sz="2100">
                <a:latin typeface="宋体" panose="02010600030101010101" pitchFamily="2" charset="-122"/>
              </a:rPr>
              <a:t>；在数据段定义要显示的字符串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952500" algn="l"/>
                <a:tab pos="371030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952500" algn="l"/>
                <a:tab pos="371030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...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952500" algn="l"/>
                <a:tab pos="371030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     mov ah,09h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；设置功能号：</a:t>
            </a:r>
            <a:r>
              <a:rPr lang="en-US" altLang="zh-CN" sz="2100">
                <a:latin typeface="宋体" panose="02010600030101010101" pitchFamily="2" charset="-122"/>
              </a:rPr>
              <a:t>ah←09h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952500" algn="l"/>
                <a:tab pos="3710305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mov dx,offset string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；提供入口参数：</a:t>
            </a:r>
            <a:r>
              <a:rPr lang="en-US" altLang="zh-CN" sz="2100">
                <a:latin typeface="宋体" panose="02010600030101010101" pitchFamily="2" charset="-122"/>
              </a:rPr>
              <a:t>dx←</a:t>
            </a:r>
            <a:r>
              <a:rPr lang="zh-CN" altLang="en-US" sz="2100">
                <a:latin typeface="宋体" panose="02010600030101010101" pitchFamily="2" charset="-122"/>
              </a:rPr>
              <a:t>字符串的偏移地址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952500" algn="l"/>
                <a:tab pos="371030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100" b="1">
                <a:solidFill>
                  <a:srgbClr val="009900"/>
                </a:solidFill>
                <a:latin typeface="宋体" panose="02010600030101010101" pitchFamily="2" charset="-122"/>
              </a:rPr>
              <a:t>int 21h</a:t>
            </a:r>
            <a:r>
              <a:rPr lang="en-US" altLang="zh-CN" sz="2100"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</a:t>
            </a:r>
            <a:r>
              <a:rPr lang="en-US" altLang="zh-CN" sz="2100">
                <a:latin typeface="宋体" panose="02010600030101010101" pitchFamily="2" charset="-122"/>
              </a:rPr>
              <a:t>DOS</a:t>
            </a:r>
            <a:r>
              <a:rPr lang="zh-CN" altLang="en-US" sz="2100">
                <a:latin typeface="宋体" panose="02010600030101010101" pitchFamily="2" charset="-122"/>
              </a:rPr>
              <a:t>功能调用：显示</a:t>
            </a:r>
          </a:p>
        </p:txBody>
      </p:sp>
      <p:pic>
        <p:nvPicPr>
          <p:cNvPr id="51204" name="图片 51203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5075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5222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字符输入的功能调用</a:t>
            </a:r>
          </a:p>
        </p:txBody>
      </p:sp>
      <p:sp>
        <p:nvSpPr>
          <p:cNvPr id="52227" name="文本占位符 522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2"/>
                </a:solidFill>
              </a:rPr>
              <a:t>DOS</a:t>
            </a:r>
            <a:r>
              <a:rPr lang="zh-CN" altLang="en-US">
                <a:solidFill>
                  <a:schemeClr val="tx2"/>
                </a:solidFill>
              </a:rPr>
              <a:t>功能调用</a:t>
            </a:r>
            <a:r>
              <a:rPr lang="en-US" altLang="zh-CN">
                <a:solidFill>
                  <a:schemeClr val="tx2"/>
                </a:solidFill>
              </a:rPr>
              <a:t>INT 21H</a:t>
            </a:r>
          </a:p>
          <a:p>
            <a:pPr lvl="1"/>
            <a:r>
              <a:rPr lang="zh-CN" altLang="en-US"/>
              <a:t>功能号：</a:t>
            </a:r>
            <a:r>
              <a:rPr lang="en-US" altLang="zh-CN" b="1">
                <a:solidFill>
                  <a:srgbClr val="0000FF"/>
                </a:solidFill>
              </a:rPr>
              <a:t>AH</a:t>
            </a:r>
            <a:r>
              <a:rPr lang="zh-CN" altLang="en-US" b="1">
                <a:solidFill>
                  <a:srgbClr val="0000FF"/>
                </a:solidFill>
              </a:rPr>
              <a:t>＝</a:t>
            </a:r>
            <a:r>
              <a:rPr lang="en-US" altLang="zh-CN" b="1">
                <a:solidFill>
                  <a:srgbClr val="0000FF"/>
                </a:solidFill>
              </a:rPr>
              <a:t>01H</a:t>
            </a:r>
          </a:p>
          <a:p>
            <a:pPr lvl="1"/>
            <a:r>
              <a:rPr lang="zh-CN" altLang="en-US"/>
              <a:t>出口参数：</a:t>
            </a:r>
            <a:r>
              <a:rPr lang="en-US" altLang="zh-CN" b="1">
                <a:solidFill>
                  <a:srgbClr val="0000FF"/>
                </a:solidFill>
              </a:rPr>
              <a:t>AL</a:t>
            </a:r>
            <a:r>
              <a:rPr lang="zh-CN" altLang="en-US" b="1">
                <a:solidFill>
                  <a:srgbClr val="0000FF"/>
                </a:solidFill>
              </a:rPr>
              <a:t>＝字符的</a:t>
            </a:r>
            <a:r>
              <a:rPr lang="en-US" altLang="zh-CN" b="1">
                <a:solidFill>
                  <a:srgbClr val="0000FF"/>
                </a:solidFill>
              </a:rPr>
              <a:t>ASCII</a:t>
            </a:r>
            <a:r>
              <a:rPr lang="zh-CN" altLang="en-US" b="1">
                <a:solidFill>
                  <a:srgbClr val="0000FF"/>
                </a:solidFill>
              </a:rPr>
              <a:t>码</a:t>
            </a:r>
          </a:p>
          <a:p>
            <a:pPr lvl="1"/>
            <a:r>
              <a:rPr lang="zh-CN" altLang="en-US"/>
              <a:t>功能：获得按键的</a:t>
            </a:r>
            <a:r>
              <a:rPr lang="en-US" altLang="zh-CN"/>
              <a:t>ASCII</a:t>
            </a:r>
            <a:r>
              <a:rPr lang="zh-CN" altLang="en-US"/>
              <a:t>代码值</a:t>
            </a:r>
          </a:p>
          <a:p>
            <a:r>
              <a:rPr lang="zh-CN" altLang="en-US"/>
              <a:t>调用此功能时，若</a:t>
            </a:r>
            <a:r>
              <a:rPr lang="zh-CN" altLang="en-US">
                <a:solidFill>
                  <a:srgbClr val="009900"/>
                </a:solidFill>
              </a:rPr>
              <a:t>无键按下，则会一直等待</a:t>
            </a:r>
            <a:r>
              <a:rPr lang="zh-CN" altLang="en-US"/>
              <a:t>，直到按键后才读取该键值</a:t>
            </a:r>
          </a:p>
        </p:txBody>
      </p:sp>
      <p:pic>
        <p:nvPicPr>
          <p:cNvPr id="52228" name="图片 52227" descr="v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27700"/>
            <a:ext cx="7467600" cy="673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pull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53249"/>
          <p:cNvSpPr>
            <a:spLocks noGrp="1"/>
          </p:cNvSpPr>
          <p:nvPr>
            <p:ph type="title"/>
          </p:nvPr>
        </p:nvSpPr>
        <p:spPr>
          <a:xfrm>
            <a:off x="609600" y="762000"/>
            <a:ext cx="40386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4.11</a:t>
            </a:r>
            <a:r>
              <a:rPr lang="zh-CN" altLang="en-US" sz="3000" b="0">
                <a:solidFill>
                  <a:schemeClr val="tx1"/>
                </a:solidFill>
              </a:rPr>
              <a:t>：判断按键</a:t>
            </a:r>
          </a:p>
        </p:txBody>
      </p:sp>
      <p:sp>
        <p:nvSpPr>
          <p:cNvPr id="53251" name="文本占位符 53250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7696200" cy="46482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11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getkey: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FF0000"/>
                </a:solidFill>
                <a:latin typeface="宋体" panose="02010600030101010101" pitchFamily="2" charset="-122"/>
              </a:rPr>
              <a:t>mov ah,01h</a:t>
            </a:r>
            <a:r>
              <a:rPr lang="en-US" altLang="zh-CN" sz="2100"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；功能号：</a:t>
            </a:r>
            <a:r>
              <a:rPr lang="en-US" altLang="zh-CN" sz="2100">
                <a:latin typeface="宋体" panose="02010600030101010101" pitchFamily="2" charset="-122"/>
              </a:rPr>
              <a:t>ah←01h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FF0000"/>
                </a:solidFill>
                <a:latin typeface="宋体" panose="02010600030101010101" pitchFamily="2" charset="-122"/>
              </a:rPr>
              <a:t>int 21h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；功能调用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cmp al,’Y’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；处理出口参数</a:t>
            </a:r>
            <a:r>
              <a:rPr lang="en-US" altLang="zh-CN" sz="2100">
                <a:latin typeface="宋体" panose="02010600030101010101" pitchFamily="2" charset="-122"/>
              </a:rPr>
              <a:t>al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je yeskey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；是“</a:t>
            </a:r>
            <a:r>
              <a:rPr lang="en-US" altLang="zh-CN" sz="2100">
                <a:latin typeface="宋体" panose="02010600030101010101" pitchFamily="2" charset="-122"/>
              </a:rPr>
              <a:t>Y”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cmp al,’N’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	je nokey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；是“</a:t>
            </a:r>
            <a:r>
              <a:rPr lang="en-US" altLang="zh-CN" sz="2100">
                <a:latin typeface="宋体" panose="02010600030101010101" pitchFamily="2" charset="-122"/>
              </a:rPr>
              <a:t>N”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jmp getkey   </a:t>
            </a: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；重新输入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...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yeskey:	...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520825" algn="l"/>
                <a:tab pos="3810000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nokey:	...</a:t>
            </a:r>
          </a:p>
        </p:txBody>
      </p:sp>
      <p:pic>
        <p:nvPicPr>
          <p:cNvPr id="53252" name="图片 53251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5075"/>
            <a:ext cx="51435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3" name="文本框 53252"/>
          <p:cNvSpPr txBox="1"/>
          <p:nvPr/>
        </p:nvSpPr>
        <p:spPr>
          <a:xfrm>
            <a:off x="838200" y="6400800"/>
            <a:ext cx="7086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Arial" panose="020B0604020202020204" pitchFamily="34" charset="0"/>
              </a:rPr>
              <a:t>举例调试：输入一个字符，接着换行输出</a:t>
            </a:r>
          </a:p>
        </p:txBody>
      </p:sp>
    </p:spTree>
  </p:cSld>
  <p:clrMapOvr>
    <a:masterClrMapping/>
  </p:clrMapOvr>
  <p:transition spd="med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5427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字符串输入的功能调用</a:t>
            </a:r>
          </a:p>
        </p:txBody>
      </p:sp>
      <p:sp>
        <p:nvSpPr>
          <p:cNvPr id="54275" name="文本占位符 54274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8229600" cy="37703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600">
                <a:solidFill>
                  <a:schemeClr val="tx2"/>
                </a:solidFill>
              </a:rPr>
              <a:t>DOS</a:t>
            </a:r>
            <a:r>
              <a:rPr lang="zh-CN" altLang="en-US" sz="2600">
                <a:solidFill>
                  <a:schemeClr val="tx2"/>
                </a:solidFill>
              </a:rPr>
              <a:t>功能调用</a:t>
            </a:r>
            <a:r>
              <a:rPr lang="en-US" altLang="zh-CN" sz="2600">
                <a:solidFill>
                  <a:srgbClr val="009900"/>
                </a:solidFill>
              </a:rPr>
              <a:t>INT 21H</a:t>
            </a:r>
          </a:p>
          <a:p>
            <a:pPr lvl="1">
              <a:lnSpc>
                <a:spcPct val="90000"/>
              </a:lnSpc>
            </a:pPr>
            <a:r>
              <a:rPr lang="zh-CN" altLang="en-US" sz="2200"/>
              <a:t>功能号：</a:t>
            </a:r>
            <a:r>
              <a:rPr lang="en-US" altLang="zh-CN" sz="2200">
                <a:solidFill>
                  <a:srgbClr val="0000FF"/>
                </a:solidFill>
              </a:rPr>
              <a:t>AH</a:t>
            </a:r>
            <a:r>
              <a:rPr lang="zh-CN" altLang="en-US" sz="2200">
                <a:solidFill>
                  <a:srgbClr val="0000FF"/>
                </a:solidFill>
              </a:rPr>
              <a:t>＝</a:t>
            </a:r>
            <a:r>
              <a:rPr lang="en-US" altLang="zh-CN" sz="2200">
                <a:solidFill>
                  <a:srgbClr val="0000FF"/>
                </a:solidFill>
              </a:rPr>
              <a:t>0AH</a:t>
            </a:r>
          </a:p>
          <a:p>
            <a:pPr lvl="1">
              <a:lnSpc>
                <a:spcPct val="90000"/>
              </a:lnSpc>
            </a:pPr>
            <a:r>
              <a:rPr lang="zh-CN" altLang="en-US" sz="2200"/>
              <a:t>入口参数：</a:t>
            </a:r>
            <a:r>
              <a:rPr lang="en-US" altLang="zh-CN" sz="2200">
                <a:solidFill>
                  <a:srgbClr val="0000FF"/>
                </a:solidFill>
              </a:rPr>
              <a:t>DS:DX</a:t>
            </a:r>
            <a:r>
              <a:rPr lang="zh-CN" altLang="en-US" sz="2200">
                <a:solidFill>
                  <a:srgbClr val="0000FF"/>
                </a:solidFill>
              </a:rPr>
              <a:t>＝缓冲区首地址</a:t>
            </a:r>
          </a:p>
          <a:p>
            <a:pPr>
              <a:lnSpc>
                <a:spcPct val="90000"/>
              </a:lnSpc>
            </a:pPr>
            <a:r>
              <a:rPr lang="zh-CN" altLang="en-US" sz="2600"/>
              <a:t>执行该功能调用时，用户按键，最后用回车确认</a:t>
            </a:r>
          </a:p>
          <a:p>
            <a:pPr>
              <a:lnSpc>
                <a:spcPct val="90000"/>
              </a:lnSpc>
            </a:pPr>
            <a:r>
              <a:rPr lang="zh-CN" altLang="en-US" sz="2600"/>
              <a:t>本调用可执行全部标准键盘编辑命令；用户按回车键结束输入，如按</a:t>
            </a:r>
            <a:r>
              <a:rPr lang="en-US" altLang="zh-CN" sz="2600"/>
              <a:t>Ctrl</a:t>
            </a:r>
            <a:r>
              <a:rPr lang="zh-CN" altLang="en-US" sz="2600"/>
              <a:t>＋</a:t>
            </a:r>
            <a:r>
              <a:rPr lang="en-US" altLang="zh-CN" sz="2600"/>
              <a:t>Break</a:t>
            </a:r>
            <a:r>
              <a:rPr lang="zh-CN" altLang="en-US" sz="2600"/>
              <a:t>或</a:t>
            </a:r>
            <a:r>
              <a:rPr lang="en-US" altLang="zh-CN" sz="2600"/>
              <a:t>Ctrl</a:t>
            </a:r>
            <a:r>
              <a:rPr lang="zh-CN" altLang="en-US" sz="2600"/>
              <a:t>＋</a:t>
            </a:r>
            <a:r>
              <a:rPr lang="en-US" altLang="zh-CN" sz="2600"/>
              <a:t>C</a:t>
            </a:r>
            <a:r>
              <a:rPr lang="zh-CN" altLang="en-US" sz="2600"/>
              <a:t>则中止</a:t>
            </a:r>
          </a:p>
        </p:txBody>
      </p:sp>
      <p:pic>
        <p:nvPicPr>
          <p:cNvPr id="54276" name="图片 54275" descr="v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73700"/>
            <a:ext cx="746760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7" name="矩形标注 54276">
            <a:hlinkClick r:id="rId3" action="ppaction://hlinksldjump"/>
          </p:cNvPr>
          <p:cNvSpPr/>
          <p:nvPr/>
        </p:nvSpPr>
        <p:spPr>
          <a:xfrm>
            <a:off x="5867400" y="1676400"/>
            <a:ext cx="3048000" cy="533400"/>
          </a:xfrm>
          <a:prstGeom prst="wedgeRectCallout">
            <a:avLst>
              <a:gd name="adj1" fmla="val -54218"/>
              <a:gd name="adj2" fmla="val 96727"/>
            </a:avLst>
          </a:prstGeom>
          <a:pattFill prst="zigZag">
            <a:fgClr>
              <a:schemeClr val="accent1"/>
            </a:fgClr>
            <a:bgClr>
              <a:srgbClr val="FFFFFF"/>
            </a:bgClr>
          </a:pattFill>
          <a:ln w="19050" cap="sq" cmpd="sng">
            <a:solidFill>
              <a:srgbClr val="7AA3DA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400" b="1">
                <a:solidFill>
                  <a:srgbClr val="009900"/>
                </a:solidFill>
                <a:latin typeface="Times New Roman" panose="02020603050405020304" pitchFamily="2" charset="0"/>
              </a:rPr>
              <a:t>关键要定义好缓冲区</a:t>
            </a:r>
          </a:p>
        </p:txBody>
      </p:sp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55297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/>
              <a:t>缓冲区的定义</a:t>
            </a:r>
          </a:p>
        </p:txBody>
      </p:sp>
      <p:sp>
        <p:nvSpPr>
          <p:cNvPr id="55299" name="文本占位符 55298"/>
          <p:cNvSpPr>
            <a:spLocks noGrp="1"/>
          </p:cNvSpPr>
          <p:nvPr>
            <p:ph type="body" idx="1"/>
          </p:nvPr>
        </p:nvSpPr>
        <p:spPr>
          <a:xfrm>
            <a:off x="457200" y="1760538"/>
            <a:ext cx="7543800" cy="44116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600">
                <a:solidFill>
                  <a:srgbClr val="009900"/>
                </a:solidFill>
              </a:rPr>
              <a:t>第</a:t>
            </a:r>
            <a:r>
              <a:rPr lang="en-US" altLang="zh-CN" sz="2600">
                <a:solidFill>
                  <a:srgbClr val="009900"/>
                </a:solidFill>
              </a:rPr>
              <a:t>1</a:t>
            </a:r>
            <a:r>
              <a:rPr lang="zh-CN" altLang="en-US" sz="2600">
                <a:solidFill>
                  <a:srgbClr val="009900"/>
                </a:solidFill>
              </a:rPr>
              <a:t>字节</a:t>
            </a:r>
            <a:r>
              <a:rPr lang="zh-CN" altLang="en-US" sz="2600"/>
              <a:t>事先填入</a:t>
            </a:r>
            <a:r>
              <a:rPr lang="zh-CN" altLang="en-US" sz="2600">
                <a:solidFill>
                  <a:srgbClr val="009900"/>
                </a:solidFill>
              </a:rPr>
              <a:t>最多欲接收的字符个数</a:t>
            </a:r>
            <a:r>
              <a:rPr lang="zh-CN" altLang="en-US" sz="2600"/>
              <a:t>（包括回车字符，可以是</a:t>
            </a:r>
            <a:r>
              <a:rPr lang="en-US" altLang="zh-CN" sz="2600"/>
              <a:t>1</a:t>
            </a:r>
            <a:r>
              <a:rPr lang="zh-CN" altLang="en-US" sz="2600"/>
              <a:t>～</a:t>
            </a:r>
            <a:r>
              <a:rPr lang="en-US" altLang="zh-CN" sz="2600"/>
              <a:t>255</a:t>
            </a:r>
            <a:r>
              <a:rPr lang="zh-CN" altLang="en-US" sz="2600"/>
              <a:t>）</a:t>
            </a:r>
          </a:p>
          <a:p>
            <a:pPr>
              <a:lnSpc>
                <a:spcPct val="90000"/>
              </a:lnSpc>
            </a:pPr>
            <a:r>
              <a:rPr lang="zh-CN" altLang="en-US" sz="2600">
                <a:solidFill>
                  <a:srgbClr val="009900"/>
                </a:solidFill>
              </a:rPr>
              <a:t>第</a:t>
            </a:r>
            <a:r>
              <a:rPr lang="en-US" altLang="zh-CN" sz="2600">
                <a:solidFill>
                  <a:srgbClr val="009900"/>
                </a:solidFill>
              </a:rPr>
              <a:t>2</a:t>
            </a:r>
            <a:r>
              <a:rPr lang="zh-CN" altLang="en-US" sz="2600">
                <a:solidFill>
                  <a:srgbClr val="009900"/>
                </a:solidFill>
              </a:rPr>
              <a:t>字节</a:t>
            </a:r>
            <a:r>
              <a:rPr lang="zh-CN" altLang="en-US" sz="2600"/>
              <a:t>将存放</a:t>
            </a:r>
            <a:r>
              <a:rPr lang="zh-CN" altLang="en-US" sz="2600">
                <a:solidFill>
                  <a:srgbClr val="009900"/>
                </a:solidFill>
              </a:rPr>
              <a:t>实际输入的字符个数</a:t>
            </a:r>
            <a:r>
              <a:rPr lang="zh-CN" altLang="en-US" sz="2600"/>
              <a:t>（不包括回车符）</a:t>
            </a:r>
          </a:p>
          <a:p>
            <a:pPr>
              <a:lnSpc>
                <a:spcPct val="90000"/>
              </a:lnSpc>
            </a:pPr>
            <a:r>
              <a:rPr lang="zh-CN" altLang="en-US" sz="2600">
                <a:solidFill>
                  <a:srgbClr val="009900"/>
                </a:solidFill>
              </a:rPr>
              <a:t>第</a:t>
            </a:r>
            <a:r>
              <a:rPr lang="en-US" altLang="zh-CN" sz="2600">
                <a:solidFill>
                  <a:srgbClr val="009900"/>
                </a:solidFill>
              </a:rPr>
              <a:t>3</a:t>
            </a:r>
            <a:r>
              <a:rPr lang="zh-CN" altLang="en-US" sz="2600">
                <a:solidFill>
                  <a:srgbClr val="009900"/>
                </a:solidFill>
              </a:rPr>
              <a:t>字节</a:t>
            </a:r>
            <a:r>
              <a:rPr lang="zh-CN" altLang="en-US" sz="2600"/>
              <a:t>开始将存放</a:t>
            </a:r>
            <a:r>
              <a:rPr lang="zh-CN" altLang="en-US" sz="2600">
                <a:solidFill>
                  <a:srgbClr val="009900"/>
                </a:solidFill>
              </a:rPr>
              <a:t>输入的字符串</a:t>
            </a:r>
          </a:p>
          <a:p>
            <a:pPr>
              <a:lnSpc>
                <a:spcPct val="90000"/>
              </a:lnSpc>
            </a:pPr>
            <a:r>
              <a:rPr lang="zh-CN" altLang="en-US" sz="2600"/>
              <a:t>实际输入的字符数多于定义数时，多出的字符丢掉，且响铃</a:t>
            </a:r>
          </a:p>
          <a:p>
            <a:pPr>
              <a:lnSpc>
                <a:spcPct val="90000"/>
              </a:lnSpc>
            </a:pPr>
            <a:r>
              <a:rPr lang="zh-CN" altLang="en-US" sz="2600"/>
              <a:t>扩展</a:t>
            </a:r>
            <a:r>
              <a:rPr lang="en-US" altLang="zh-CN" sz="2600"/>
              <a:t>ASCII</a:t>
            </a:r>
            <a:r>
              <a:rPr lang="zh-CN" altLang="en-US" sz="2600"/>
              <a:t>码（如功能键等）占两个字节，第</a:t>
            </a:r>
            <a:r>
              <a:rPr lang="en-US" altLang="zh-CN" sz="2600"/>
              <a:t>1</a:t>
            </a:r>
            <a:r>
              <a:rPr lang="zh-CN" altLang="en-US" sz="2600"/>
              <a:t>个为</a:t>
            </a:r>
            <a:r>
              <a:rPr lang="en-US" altLang="zh-CN" sz="2600"/>
              <a:t>0</a:t>
            </a:r>
          </a:p>
        </p:txBody>
      </p:sp>
      <p:pic>
        <p:nvPicPr>
          <p:cNvPr id="55300" name="图片 55299" descr="14_6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56321"/>
          <p:cNvSpPr>
            <a:spLocks noGrp="1"/>
          </p:cNvSpPr>
          <p:nvPr>
            <p:ph type="title"/>
          </p:nvPr>
        </p:nvSpPr>
        <p:spPr>
          <a:xfrm>
            <a:off x="762000" y="609600"/>
            <a:ext cx="40386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4.12</a:t>
            </a:r>
            <a:r>
              <a:rPr lang="zh-CN" altLang="en-US" sz="3000" b="0">
                <a:solidFill>
                  <a:schemeClr val="tx1"/>
                </a:solidFill>
              </a:rPr>
              <a:t>：输入字符串</a:t>
            </a:r>
          </a:p>
        </p:txBody>
      </p:sp>
      <p:sp>
        <p:nvSpPr>
          <p:cNvPr id="56323" name="文本占位符 56322"/>
          <p:cNvSpPr>
            <a:spLocks noGrp="1"/>
          </p:cNvSpPr>
          <p:nvPr>
            <p:ph type="body" idx="1"/>
          </p:nvPr>
        </p:nvSpPr>
        <p:spPr>
          <a:xfrm>
            <a:off x="304800" y="1828800"/>
            <a:ext cx="8534400" cy="3962400"/>
          </a:xfrm>
          <a:solidFill>
            <a:schemeClr val="bg1"/>
          </a:solidFill>
        </p:spPr>
        <p:txBody>
          <a:bodyPr/>
          <a:lstStyle/>
          <a:p>
            <a:pPr marL="0" indent="0" defTabSz="914400">
              <a:lnSpc>
                <a:spcPct val="80000"/>
              </a:lnSpc>
              <a:buNone/>
              <a:tabLst>
                <a:tab pos="1052830" algn="l"/>
                <a:tab pos="3342005" algn="l"/>
              </a:tabLst>
            </a:pPr>
            <a:r>
              <a:rPr lang="en-US" altLang="zh-CN" sz="1900">
                <a:solidFill>
                  <a:srgbClr val="0000FF"/>
                </a:solidFill>
                <a:latin typeface="宋体" panose="02010600030101010101" pitchFamily="2" charset="-122"/>
              </a:rPr>
              <a:t>buffer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db 81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            </a:t>
            </a:r>
            <a:r>
              <a:rPr lang="zh-CN" altLang="en-US" sz="2100">
                <a:latin typeface="宋体" panose="02010600030101010101" pitchFamily="2" charset="-122"/>
              </a:rPr>
              <a:t>；定义缓冲区</a:t>
            </a:r>
            <a:endParaRPr lang="zh-CN" altLang="en-US" sz="21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80000"/>
              </a:lnSpc>
              <a:buNone/>
              <a:tabLst>
                <a:tab pos="1052830" algn="l"/>
                <a:tab pos="3342005" algn="l"/>
              </a:tabLst>
            </a:pPr>
            <a:r>
              <a:rPr lang="zh-CN" altLang="en-US" sz="2100">
                <a:latin typeface="宋体" panose="02010600030101010101" pitchFamily="2" charset="-122"/>
              </a:rPr>
              <a:t>                         ；第</a:t>
            </a:r>
            <a:r>
              <a:rPr lang="en-US" altLang="zh-CN" sz="2100">
                <a:latin typeface="宋体" panose="02010600030101010101" pitchFamily="2" charset="-122"/>
              </a:rPr>
              <a:t>1</a:t>
            </a:r>
            <a:r>
              <a:rPr lang="zh-CN" altLang="en-US" sz="2100">
                <a:latin typeface="宋体" panose="02010600030101010101" pitchFamily="2" charset="-122"/>
              </a:rPr>
              <a:t>个字节填入可能输入的最大字符数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052830" algn="l"/>
                <a:tab pos="334200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db 0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；存放实际输入的字符数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052830" algn="l"/>
                <a:tab pos="334200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db 81 dup(0)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；存放输入的字符串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052830" algn="l"/>
                <a:tab pos="334200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...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052830" algn="l"/>
                <a:tab pos="334200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	mov dx,seg buffer</a:t>
            </a:r>
            <a:r>
              <a:rPr lang="en-US" altLang="zh-CN" sz="2100"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；伪指令</a:t>
            </a:r>
            <a:r>
              <a:rPr lang="en-US" altLang="zh-CN" sz="2100">
                <a:latin typeface="宋体" panose="02010600030101010101" pitchFamily="2" charset="-122"/>
              </a:rPr>
              <a:t>seg</a:t>
            </a:r>
            <a:r>
              <a:rPr lang="zh-CN" altLang="en-US" sz="2100">
                <a:latin typeface="宋体" panose="02010600030101010101" pitchFamily="2" charset="-122"/>
              </a:rPr>
              <a:t>取得</a:t>
            </a:r>
            <a:r>
              <a:rPr lang="en-US" altLang="zh-CN" sz="2100">
                <a:latin typeface="宋体" panose="02010600030101010101" pitchFamily="2" charset="-122"/>
              </a:rPr>
              <a:t>buffer</a:t>
            </a:r>
            <a:r>
              <a:rPr lang="zh-CN" altLang="en-US" sz="2100">
                <a:latin typeface="宋体" panose="02010600030101010101" pitchFamily="2" charset="-122"/>
              </a:rPr>
              <a:t>的段地址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052830" algn="l"/>
                <a:tab pos="3342005" algn="l"/>
              </a:tabLst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mov ds,dx</a:t>
            </a:r>
            <a:r>
              <a:rPr lang="en-US" altLang="zh-CN" sz="2100">
                <a:latin typeface="宋体" panose="02010600030101010101" pitchFamily="2" charset="-122"/>
              </a:rPr>
              <a:t>	</a:t>
            </a:r>
            <a:r>
              <a:rPr lang="zh-CN" altLang="en-US" sz="2100">
                <a:latin typeface="宋体" panose="02010600030101010101" pitchFamily="2" charset="-122"/>
              </a:rPr>
              <a:t>；设置数据段</a:t>
            </a:r>
            <a:r>
              <a:rPr lang="en-US" altLang="zh-CN" sz="2100">
                <a:latin typeface="宋体" panose="02010600030101010101" pitchFamily="2" charset="-122"/>
              </a:rPr>
              <a:t>DS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052830" algn="l"/>
                <a:tab pos="3342005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mov dx,offset buffer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052830" algn="l"/>
                <a:tab pos="3342005" algn="l"/>
              </a:tabLst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rgbClr val="FF0000"/>
                </a:solidFill>
                <a:latin typeface="宋体" panose="02010600030101010101" pitchFamily="2" charset="-122"/>
              </a:rPr>
              <a:t>mov ah,0ah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052830" algn="l"/>
                <a:tab pos="3342005" algn="l"/>
              </a:tabLst>
            </a:pPr>
            <a:r>
              <a:rPr lang="en-US" altLang="zh-CN" sz="2100">
                <a:solidFill>
                  <a:srgbClr val="FF0000"/>
                </a:solidFill>
                <a:latin typeface="宋体" panose="02010600030101010101" pitchFamily="2" charset="-122"/>
              </a:rPr>
              <a:t>	int 21h</a:t>
            </a:r>
          </a:p>
        </p:txBody>
      </p:sp>
      <p:pic>
        <p:nvPicPr>
          <p:cNvPr id="56324" name="图片 56323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5075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文本占位符 57345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7391400" cy="4038600"/>
          </a:xfrm>
        </p:spPr>
        <p:txBody>
          <a:bodyPr/>
          <a:lstStyle/>
          <a:p>
            <a:r>
              <a:rPr lang="en-US" altLang="zh-CN">
                <a:latin typeface="楷体" panose="02010609060101010101" pitchFamily="1" charset="-122"/>
                <a:ea typeface="楷体" panose="02010609060101010101" pitchFamily="1" charset="-122"/>
              </a:rPr>
              <a:t>ROM BIOS:</a:t>
            </a:r>
            <a:r>
              <a:rPr lang="zh-CN" altLang="en-US">
                <a:latin typeface="楷体" panose="02010609060101010101" pitchFamily="1" charset="-122"/>
                <a:ea typeface="楷体" panose="02010609060101010101" pitchFamily="1" charset="-122"/>
              </a:rPr>
              <a:t>写在</a:t>
            </a:r>
            <a:r>
              <a:rPr lang="en-US" altLang="zh-CN">
                <a:latin typeface="楷体" panose="02010609060101010101" pitchFamily="1" charset="-122"/>
                <a:ea typeface="楷体" panose="02010609060101010101" pitchFamily="1" charset="-122"/>
              </a:rPr>
              <a:t>ROM</a:t>
            </a:r>
            <a:r>
              <a:rPr lang="zh-CN" altLang="en-US">
                <a:latin typeface="楷体" panose="02010609060101010101" pitchFamily="1" charset="-122"/>
                <a:ea typeface="楷体" panose="02010609060101010101" pitchFamily="1" charset="-122"/>
              </a:rPr>
              <a:t>中的基本输入输出系统</a:t>
            </a:r>
            <a:r>
              <a:rPr lang="en-US" altLang="zh-CN">
                <a:latin typeface="楷体" panose="02010609060101010101" pitchFamily="1" charset="-122"/>
                <a:ea typeface="楷体" panose="02010609060101010101" pitchFamily="1" charset="-122"/>
              </a:rPr>
              <a:t>BIOS,</a:t>
            </a:r>
            <a:r>
              <a:rPr lang="zh-CN" altLang="en-US">
                <a:latin typeface="楷体" panose="02010609060101010101" pitchFamily="1" charset="-122"/>
                <a:ea typeface="楷体" panose="02010609060101010101" pitchFamily="1" charset="-122"/>
              </a:rPr>
              <a:t>其主要功能是驱动系统中所配置的常用外设，如</a:t>
            </a:r>
            <a:r>
              <a:rPr lang="en-US" altLang="zh-CN">
                <a:latin typeface="楷体" panose="02010609060101010101" pitchFamily="1" charset="-122"/>
                <a:ea typeface="楷体" panose="02010609060101010101" pitchFamily="1" charset="-122"/>
              </a:rPr>
              <a:t>:</a:t>
            </a:r>
            <a:r>
              <a:rPr lang="zh-CN" altLang="en-US">
                <a:latin typeface="楷体" panose="02010609060101010101" pitchFamily="1" charset="-122"/>
                <a:ea typeface="楷体" panose="02010609060101010101" pitchFamily="1" charset="-122"/>
              </a:rPr>
              <a:t>显示器、键盘、打印机、磁盘驱动器等</a:t>
            </a:r>
          </a:p>
          <a:p>
            <a:r>
              <a:rPr lang="zh-CN" altLang="en-US">
                <a:latin typeface="楷体" panose="02010609060101010101" pitchFamily="1" charset="-122"/>
                <a:ea typeface="楷体" panose="02010609060101010101" pitchFamily="1" charset="-122"/>
              </a:rPr>
              <a:t>此功能与</a:t>
            </a:r>
            <a:r>
              <a:rPr lang="en-US" altLang="zh-CN">
                <a:latin typeface="楷体" panose="02010609060101010101" pitchFamily="1" charset="-122"/>
                <a:ea typeface="楷体" panose="02010609060101010101" pitchFamily="1" charset="-122"/>
              </a:rPr>
              <a:t>DOS</a:t>
            </a:r>
            <a:r>
              <a:rPr lang="zh-CN" altLang="en-US">
                <a:latin typeface="楷体" panose="02010609060101010101" pitchFamily="1" charset="-122"/>
                <a:ea typeface="楷体" panose="02010609060101010101" pitchFamily="1" charset="-122"/>
              </a:rPr>
              <a:t>系统功能调用相比，能完成更复杂的输入输出操作</a:t>
            </a:r>
          </a:p>
        </p:txBody>
      </p:sp>
      <p:sp>
        <p:nvSpPr>
          <p:cNvPr id="57347" name="标题 57346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/>
              <a:t>ROM BIOS</a:t>
            </a:r>
            <a:r>
              <a:rPr lang="zh-CN" altLang="en-US"/>
              <a:t>中断调用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58369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ROM BIOS</a:t>
            </a:r>
            <a:r>
              <a:rPr lang="zh-CN" altLang="en-US"/>
              <a:t>中断调用举例</a:t>
            </a:r>
          </a:p>
        </p:txBody>
      </p:sp>
      <p:sp>
        <p:nvSpPr>
          <p:cNvPr id="58371" name="文本占位符 58370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975600" cy="4411662"/>
          </a:xfrm>
        </p:spPr>
        <p:txBody>
          <a:bodyPr/>
          <a:lstStyle/>
          <a:p>
            <a:r>
              <a:rPr lang="zh-CN" altLang="en-US">
                <a:solidFill>
                  <a:schemeClr val="tx2"/>
                </a:solidFill>
              </a:rPr>
              <a:t>显示器功能调用</a:t>
            </a:r>
            <a:r>
              <a:rPr lang="en-US" altLang="zh-CN">
                <a:solidFill>
                  <a:srgbClr val="009900"/>
                </a:solidFill>
              </a:rPr>
              <a:t>INT 10H</a:t>
            </a:r>
          </a:p>
          <a:p>
            <a:pPr lvl="1"/>
            <a:r>
              <a:rPr lang="zh-CN" altLang="en-US"/>
              <a:t>功能号：</a:t>
            </a:r>
            <a:r>
              <a:rPr lang="en-US" altLang="zh-CN">
                <a:solidFill>
                  <a:srgbClr val="0000FF"/>
                </a:solidFill>
              </a:rPr>
              <a:t>AH</a:t>
            </a:r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0 </a:t>
            </a:r>
            <a:r>
              <a:rPr lang="zh-CN" altLang="en-US">
                <a:solidFill>
                  <a:srgbClr val="0000FF"/>
                </a:solidFill>
              </a:rPr>
              <a:t>设置显示方式</a:t>
            </a:r>
          </a:p>
          <a:p>
            <a:pPr lvl="1">
              <a:buNone/>
            </a:pPr>
            <a:r>
              <a:rPr lang="zh-CN" altLang="en-US">
                <a:solidFill>
                  <a:srgbClr val="0000FF"/>
                </a:solidFill>
              </a:rPr>
              <a:t> </a:t>
            </a:r>
            <a:r>
              <a:rPr lang="en-US" altLang="zh-CN">
                <a:solidFill>
                  <a:srgbClr val="0000FF"/>
                </a:solidFill>
              </a:rPr>
              <a:t>AH</a:t>
            </a:r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2 </a:t>
            </a:r>
            <a:r>
              <a:rPr lang="zh-CN" altLang="en-US">
                <a:solidFill>
                  <a:srgbClr val="0000FF"/>
                </a:solidFill>
              </a:rPr>
              <a:t>设置光标位置</a:t>
            </a:r>
          </a:p>
          <a:p>
            <a:pPr lvl="1">
              <a:buNone/>
            </a:pPr>
            <a:r>
              <a:rPr lang="en-US" altLang="zh-CN">
                <a:solidFill>
                  <a:srgbClr val="0000FF"/>
                </a:solidFill>
              </a:rPr>
              <a:t>AH</a:t>
            </a:r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0A </a:t>
            </a:r>
            <a:r>
              <a:rPr lang="zh-CN" altLang="en-US">
                <a:solidFill>
                  <a:srgbClr val="0000FF"/>
                </a:solidFill>
              </a:rPr>
              <a:t>在当前光标位置写字符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>
                <a:solidFill>
                  <a:srgbClr val="0000FF"/>
                </a:solidFill>
              </a:rPr>
              <a:t>AH=0B </a:t>
            </a:r>
            <a:r>
              <a:rPr lang="zh-CN" altLang="en-US">
                <a:solidFill>
                  <a:srgbClr val="0000FF"/>
                </a:solidFill>
              </a:rPr>
              <a:t>设置彩色组或背景颜色</a:t>
            </a:r>
          </a:p>
          <a:p>
            <a:pPr lvl="1">
              <a:lnSpc>
                <a:spcPct val="80000"/>
              </a:lnSpc>
              <a:buNone/>
            </a:pPr>
            <a:r>
              <a:rPr lang="zh-CN" altLang="en-US">
                <a:solidFill>
                  <a:srgbClr val="0000FF"/>
                </a:solidFill>
              </a:rPr>
              <a:t>等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zh-CN">
                <a:solidFill>
                  <a:srgbClr val="0000FF"/>
                </a:solidFill>
              </a:rPr>
              <a:t>[</a:t>
            </a:r>
            <a:r>
              <a:rPr lang="zh-CN" altLang="en-US">
                <a:solidFill>
                  <a:srgbClr val="0000FF"/>
                </a:solidFill>
              </a:rPr>
              <a:t>当然还要设置入口参数</a:t>
            </a:r>
            <a:r>
              <a:rPr lang="en-US" altLang="zh-CN">
                <a:solidFill>
                  <a:srgbClr val="0000FF"/>
                </a:solidFill>
              </a:rPr>
              <a:t>]</a:t>
            </a:r>
          </a:p>
        </p:txBody>
      </p:sp>
    </p:spTree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5939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ROM BIOS</a:t>
            </a:r>
            <a:r>
              <a:rPr lang="zh-CN" altLang="en-US"/>
              <a:t>中断调用举例</a:t>
            </a:r>
          </a:p>
        </p:txBody>
      </p:sp>
      <p:sp>
        <p:nvSpPr>
          <p:cNvPr id="59395" name="文本占位符 5939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600">
                <a:solidFill>
                  <a:schemeClr val="tx2"/>
                </a:solidFill>
              </a:rPr>
              <a:t>键盘功能调用</a:t>
            </a:r>
            <a:r>
              <a:rPr lang="en-US" altLang="zh-CN" sz="2600">
                <a:solidFill>
                  <a:srgbClr val="0000FF"/>
                </a:solidFill>
              </a:rPr>
              <a:t>INT 16H</a:t>
            </a:r>
          </a:p>
          <a:p>
            <a:pPr lvl="1">
              <a:lnSpc>
                <a:spcPct val="90000"/>
              </a:lnSpc>
            </a:pPr>
            <a:r>
              <a:rPr lang="zh-CN" altLang="en-US" sz="2200"/>
              <a:t>功能号：</a:t>
            </a:r>
            <a:r>
              <a:rPr lang="en-US" altLang="zh-CN" sz="2200">
                <a:solidFill>
                  <a:srgbClr val="009900"/>
                </a:solidFill>
              </a:rPr>
              <a:t>AH</a:t>
            </a:r>
            <a:r>
              <a:rPr lang="zh-CN" altLang="en-US" sz="2200">
                <a:solidFill>
                  <a:srgbClr val="009900"/>
                </a:solidFill>
              </a:rPr>
              <a:t>＝</a:t>
            </a:r>
            <a:r>
              <a:rPr lang="en-US" altLang="zh-CN" sz="2200">
                <a:solidFill>
                  <a:srgbClr val="009900"/>
                </a:solidFill>
              </a:rPr>
              <a:t>0</a:t>
            </a:r>
          </a:p>
          <a:p>
            <a:pPr lvl="1">
              <a:lnSpc>
                <a:spcPct val="90000"/>
              </a:lnSpc>
            </a:pPr>
            <a:r>
              <a:rPr lang="zh-CN" altLang="en-US" sz="2200"/>
              <a:t>出口参数：</a:t>
            </a:r>
            <a:r>
              <a:rPr lang="en-US" altLang="zh-CN" sz="2200">
                <a:solidFill>
                  <a:srgbClr val="009900"/>
                </a:solidFill>
              </a:rPr>
              <a:t>AX</a:t>
            </a:r>
            <a:r>
              <a:rPr lang="zh-CN" altLang="en-US" sz="2200">
                <a:solidFill>
                  <a:srgbClr val="009900"/>
                </a:solidFill>
              </a:rPr>
              <a:t>＝键值代码</a:t>
            </a:r>
          </a:p>
          <a:p>
            <a:pPr lvl="1">
              <a:lnSpc>
                <a:spcPct val="90000"/>
              </a:lnSpc>
              <a:buNone/>
            </a:pPr>
            <a:r>
              <a:rPr lang="zh-CN" altLang="en-US" sz="2200"/>
              <a:t>对于标准</a:t>
            </a:r>
            <a:r>
              <a:rPr lang="en-US" altLang="zh-CN" sz="2200"/>
              <a:t>ASCII</a:t>
            </a:r>
            <a:r>
              <a:rPr lang="zh-CN" altLang="en-US" sz="2200"/>
              <a:t>码按键：</a:t>
            </a:r>
            <a:r>
              <a:rPr lang="en-US" altLang="zh-CN" sz="2200"/>
              <a:t>AL</a:t>
            </a:r>
            <a:r>
              <a:rPr lang="zh-CN" altLang="en-US" sz="2200"/>
              <a:t>＝</a:t>
            </a:r>
            <a:r>
              <a:rPr lang="en-US" altLang="zh-CN" sz="2200"/>
              <a:t>ASCII</a:t>
            </a:r>
            <a:r>
              <a:rPr lang="zh-CN" altLang="en-US" sz="2200"/>
              <a:t>码，</a:t>
            </a:r>
            <a:r>
              <a:rPr lang="en-US" altLang="zh-CN" sz="2200"/>
              <a:t>AH</a:t>
            </a:r>
            <a:r>
              <a:rPr lang="zh-CN" altLang="en-US" sz="2200"/>
              <a:t>＝扫描码；</a:t>
            </a:r>
          </a:p>
          <a:p>
            <a:pPr lvl="1">
              <a:lnSpc>
                <a:spcPct val="90000"/>
              </a:lnSpc>
              <a:buNone/>
            </a:pPr>
            <a:r>
              <a:rPr lang="zh-CN" altLang="en-US" sz="2200"/>
              <a:t>对于扩展按键：</a:t>
            </a:r>
            <a:r>
              <a:rPr lang="en-US" altLang="zh-CN" sz="2200"/>
              <a:t>AL</a:t>
            </a:r>
            <a:r>
              <a:rPr lang="zh-CN" altLang="en-US" sz="2200"/>
              <a:t>＝</a:t>
            </a:r>
            <a:r>
              <a:rPr lang="en-US" altLang="zh-CN" sz="2200"/>
              <a:t>00H</a:t>
            </a:r>
            <a:r>
              <a:rPr lang="zh-CN" altLang="en-US" sz="2200"/>
              <a:t>，</a:t>
            </a:r>
            <a:r>
              <a:rPr lang="en-US" altLang="zh-CN" sz="2200"/>
              <a:t>AH</a:t>
            </a:r>
            <a:r>
              <a:rPr lang="zh-CN" altLang="en-US" sz="2200"/>
              <a:t>＝键扩展码；</a:t>
            </a:r>
          </a:p>
          <a:p>
            <a:pPr lvl="1">
              <a:lnSpc>
                <a:spcPct val="90000"/>
              </a:lnSpc>
              <a:buNone/>
            </a:pPr>
            <a:r>
              <a:rPr lang="zh-CN" altLang="en-US" sz="2200"/>
              <a:t>对于</a:t>
            </a:r>
            <a:r>
              <a:rPr lang="en-US" altLang="zh-CN" sz="2200"/>
              <a:t>alt</a:t>
            </a:r>
            <a:r>
              <a:rPr lang="zh-CN" altLang="en-US" sz="2200"/>
              <a:t>＋小键盘数字按键：</a:t>
            </a:r>
            <a:r>
              <a:rPr lang="en-US" altLang="zh-CN" sz="2200"/>
              <a:t>AL</a:t>
            </a:r>
            <a:r>
              <a:rPr lang="zh-CN" altLang="en-US" sz="2200"/>
              <a:t>＝</a:t>
            </a:r>
            <a:r>
              <a:rPr lang="en-US" altLang="zh-CN" sz="2200"/>
              <a:t>ASCII</a:t>
            </a:r>
            <a:r>
              <a:rPr lang="zh-CN" altLang="en-US" sz="2200"/>
              <a:t>码，</a:t>
            </a:r>
            <a:r>
              <a:rPr lang="en-US" altLang="zh-CN" sz="2200"/>
              <a:t>AH</a:t>
            </a:r>
            <a:r>
              <a:rPr lang="zh-CN" altLang="en-US" sz="2200"/>
              <a:t>＝</a:t>
            </a:r>
            <a:r>
              <a:rPr lang="en-US" altLang="zh-CN" sz="2200"/>
              <a:t>00H</a:t>
            </a:r>
          </a:p>
          <a:p>
            <a:pPr>
              <a:lnSpc>
                <a:spcPct val="90000"/>
              </a:lnSpc>
            </a:pPr>
            <a:r>
              <a:rPr lang="zh-CN" altLang="en-US" sz="2600"/>
              <a:t>此功能类同</a:t>
            </a:r>
            <a:r>
              <a:rPr lang="en-US" altLang="zh-CN" sz="2600"/>
              <a:t>DOS</a:t>
            </a:r>
            <a:r>
              <a:rPr lang="zh-CN" altLang="en-US" sz="2600"/>
              <a:t>功能</a:t>
            </a:r>
            <a:r>
              <a:rPr lang="en-US" altLang="zh-CN" sz="2600"/>
              <a:t>01H</a:t>
            </a:r>
            <a:r>
              <a:rPr lang="zh-CN" altLang="en-US" sz="2600"/>
              <a:t>，会一直等待按键</a:t>
            </a:r>
          </a:p>
          <a:p>
            <a:pPr>
              <a:lnSpc>
                <a:spcPct val="90000"/>
              </a:lnSpc>
            </a:pPr>
            <a:endParaRPr lang="zh-CN" altLang="en-US" sz="2600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60417"/>
          <p:cNvSpPr>
            <a:spLocks noGrp="1"/>
          </p:cNvSpPr>
          <p:nvPr>
            <p:ph type="title"/>
          </p:nvPr>
        </p:nvSpPr>
        <p:spPr>
          <a:xfrm>
            <a:off x="762000" y="762000"/>
            <a:ext cx="43434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r>
              <a:rPr lang="zh-CN" altLang="en-US" sz="3000" b="0">
                <a:solidFill>
                  <a:schemeClr val="tx1"/>
                </a:solidFill>
              </a:rPr>
              <a:t>例</a:t>
            </a:r>
            <a:r>
              <a:rPr lang="en-US" altLang="zh-CN" sz="3000" b="0">
                <a:solidFill>
                  <a:schemeClr val="tx1"/>
                </a:solidFill>
              </a:rPr>
              <a:t>2.49</a:t>
            </a:r>
            <a:r>
              <a:rPr lang="zh-CN" altLang="en-US" sz="3000" b="0">
                <a:solidFill>
                  <a:schemeClr val="tx1"/>
                </a:solidFill>
              </a:rPr>
              <a:t>：字符输入输出</a:t>
            </a:r>
          </a:p>
        </p:txBody>
      </p:sp>
      <p:sp>
        <p:nvSpPr>
          <p:cNvPr id="60419" name="文本占位符 60418"/>
          <p:cNvSpPr>
            <a:spLocks noGrp="1"/>
          </p:cNvSpPr>
          <p:nvPr>
            <p:ph type="body" idx="1"/>
          </p:nvPr>
        </p:nvSpPr>
        <p:spPr>
          <a:xfrm>
            <a:off x="609600" y="2209800"/>
            <a:ext cx="7696200" cy="3733800"/>
          </a:xfrm>
          <a:solidFill>
            <a:schemeClr val="bg1"/>
          </a:solidFill>
        </p:spPr>
        <p:txBody>
          <a:bodyPr/>
          <a:lstStyle/>
          <a:p>
            <a:pPr marL="0" indent="384175" defTabSz="914400">
              <a:lnSpc>
                <a:spcPct val="130000"/>
              </a:lnSpc>
              <a:buNone/>
              <a:tabLst>
                <a:tab pos="2473325" algn="l"/>
              </a:tabLst>
            </a:pP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mov ah,0</a:t>
            </a:r>
            <a:r>
              <a:rPr lang="en-US" altLang="zh-CN" sz="29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900">
                <a:latin typeface="宋体" panose="02010600030101010101" pitchFamily="2" charset="-122"/>
              </a:rPr>
              <a:t>；键盘功能调用（</a:t>
            </a:r>
            <a:r>
              <a:rPr lang="en-US" altLang="zh-CN" sz="2900">
                <a:latin typeface="宋体" panose="02010600030101010101" pitchFamily="2" charset="-122"/>
              </a:rPr>
              <a:t>int 16h</a:t>
            </a:r>
            <a:r>
              <a:rPr lang="zh-CN" altLang="en-US" sz="2900">
                <a:latin typeface="宋体" panose="02010600030101010101" pitchFamily="2" charset="-122"/>
              </a:rPr>
              <a:t>）</a:t>
            </a:r>
          </a:p>
          <a:p>
            <a:pPr marL="0" indent="384175" defTabSz="914400">
              <a:lnSpc>
                <a:spcPct val="80000"/>
              </a:lnSpc>
              <a:buNone/>
              <a:tabLst>
                <a:tab pos="2473325" algn="l"/>
              </a:tabLst>
            </a:pPr>
            <a:r>
              <a:rPr lang="en-US" altLang="zh-CN" sz="2900">
                <a:solidFill>
                  <a:srgbClr val="009900"/>
                </a:solidFill>
                <a:latin typeface="宋体" panose="02010600030101010101" pitchFamily="2" charset="-122"/>
              </a:rPr>
              <a:t>int 16h</a:t>
            </a:r>
            <a:r>
              <a:rPr lang="en-US" altLang="zh-CN" sz="29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900">
                <a:latin typeface="宋体" panose="02010600030101010101" pitchFamily="2" charset="-122"/>
              </a:rPr>
              <a:t>；</a:t>
            </a:r>
            <a:r>
              <a:rPr lang="en-US" altLang="zh-CN" sz="2900">
                <a:latin typeface="宋体" panose="02010600030101010101" pitchFamily="2" charset="-122"/>
              </a:rPr>
              <a:t>al←</a:t>
            </a:r>
            <a:r>
              <a:rPr lang="zh-CN" altLang="en-US" sz="2900">
                <a:latin typeface="宋体" panose="02010600030101010101" pitchFamily="2" charset="-122"/>
              </a:rPr>
              <a:t>按键的</a:t>
            </a:r>
            <a:r>
              <a:rPr lang="en-US" altLang="zh-CN" sz="2900">
                <a:latin typeface="宋体" panose="02010600030101010101" pitchFamily="2" charset="-122"/>
              </a:rPr>
              <a:t>ASCII</a:t>
            </a:r>
            <a:r>
              <a:rPr lang="zh-CN" altLang="en-US" sz="2900">
                <a:latin typeface="宋体" panose="02010600030101010101" pitchFamily="2" charset="-122"/>
              </a:rPr>
              <a:t>码</a:t>
            </a:r>
          </a:p>
          <a:p>
            <a:pPr marL="0" indent="384175" defTabSz="914400">
              <a:lnSpc>
                <a:spcPct val="80000"/>
              </a:lnSpc>
              <a:buNone/>
              <a:tabLst>
                <a:tab pos="2473325" algn="l"/>
              </a:tabLst>
            </a:pP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mov bx,0</a:t>
            </a:r>
            <a:r>
              <a:rPr lang="en-US" altLang="zh-CN" sz="29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900">
                <a:latin typeface="宋体" panose="02010600030101010101" pitchFamily="2" charset="-122"/>
              </a:rPr>
              <a:t>；显示功能调用（</a:t>
            </a:r>
            <a:r>
              <a:rPr lang="en-US" altLang="zh-CN" sz="2900">
                <a:latin typeface="宋体" panose="02010600030101010101" pitchFamily="2" charset="-122"/>
              </a:rPr>
              <a:t>int 10h</a:t>
            </a:r>
            <a:r>
              <a:rPr lang="zh-CN" altLang="en-US" sz="2900">
                <a:latin typeface="宋体" panose="02010600030101010101" pitchFamily="2" charset="-122"/>
              </a:rPr>
              <a:t>）</a:t>
            </a:r>
          </a:p>
          <a:p>
            <a:pPr marL="0" indent="384175" defTabSz="914400">
              <a:lnSpc>
                <a:spcPct val="80000"/>
              </a:lnSpc>
              <a:buNone/>
              <a:tabLst>
                <a:tab pos="2473325" algn="l"/>
              </a:tabLst>
            </a:pPr>
            <a:r>
              <a:rPr lang="en-US" altLang="zh-CN" sz="2900">
                <a:solidFill>
                  <a:srgbClr val="0000FF"/>
                </a:solidFill>
                <a:latin typeface="宋体" panose="02010600030101010101" pitchFamily="2" charset="-122"/>
              </a:rPr>
              <a:t>mov ah,0eh</a:t>
            </a:r>
          </a:p>
          <a:p>
            <a:pPr marL="0" indent="384175" defTabSz="914400">
              <a:lnSpc>
                <a:spcPct val="80000"/>
              </a:lnSpc>
              <a:buNone/>
              <a:tabLst>
                <a:tab pos="2473325" algn="l"/>
              </a:tabLst>
            </a:pPr>
            <a:r>
              <a:rPr lang="en-US" altLang="zh-CN" sz="2900">
                <a:solidFill>
                  <a:srgbClr val="009900"/>
                </a:solidFill>
                <a:latin typeface="宋体" panose="02010600030101010101" pitchFamily="2" charset="-122"/>
              </a:rPr>
              <a:t>int 10h</a:t>
            </a:r>
            <a:r>
              <a:rPr lang="en-US" altLang="zh-CN" sz="29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900">
                <a:latin typeface="宋体" panose="02010600030101010101" pitchFamily="2" charset="-122"/>
              </a:rPr>
              <a:t>；显示</a:t>
            </a:r>
          </a:p>
        </p:txBody>
      </p:sp>
      <p:pic>
        <p:nvPicPr>
          <p:cNvPr id="60420" name="图片 60419" descr="14_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5075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61441"/>
          <p:cNvSpPr>
            <a:spLocks noGrp="1"/>
          </p:cNvSpPr>
          <p:nvPr>
            <p:ph type="title"/>
          </p:nvPr>
        </p:nvSpPr>
        <p:spPr>
          <a:xfrm>
            <a:off x="0" y="457200"/>
            <a:ext cx="5410200" cy="838200"/>
          </a:xfrm>
        </p:spPr>
        <p:txBody>
          <a:bodyPr anchor="b" anchorCtr="0"/>
          <a:lstStyle/>
          <a:p>
            <a:r>
              <a:rPr lang="en-US" altLang="zh-CN" sz="3000" u="sng"/>
              <a:t>16</a:t>
            </a:r>
            <a:r>
              <a:rPr lang="zh-CN" altLang="en-US" sz="3000" u="sng"/>
              <a:t>位数转换为</a:t>
            </a:r>
            <a:r>
              <a:rPr lang="en-US" altLang="zh-CN" sz="3000" u="sng"/>
              <a:t>ASCII</a:t>
            </a:r>
            <a:r>
              <a:rPr lang="zh-CN" altLang="en-US" sz="3000" u="sng"/>
              <a:t>码</a:t>
            </a:r>
          </a:p>
        </p:txBody>
      </p:sp>
      <p:pic>
        <p:nvPicPr>
          <p:cNvPr id="61443" name="图片 61442" descr="14_6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  <p:controls>
      <mc:AlternateContent xmlns:mc="http://schemas.openxmlformats.org/markup-compatibility/2006">
        <mc:Choice xmlns:v="urn:schemas-microsoft-com:vml" Requires="v">
          <p:control r:id="rId1" imgW="7848600" imgH="5102225"/>
        </mc:Choice>
        <mc:Fallback>
          <p:control r:id="rId1" imgW="7848600" imgH="5102225">
            <p:pic>
              <p:nvPicPr>
                <p:cNvPr id="2" name="Host Control  61443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1000" y="1524000"/>
                  <a:ext cx="7848600" cy="5102225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 advClick="0">
    <p:blinds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ExNzlkMjFhZjg4ZjExZmExNzU0NmRlZDNmMTA1YmEifQ=="/>
</p:tagLst>
</file>

<file path=ppt/theme/theme1.xml><?xml version="1.0" encoding="utf-8"?>
<a:theme xmlns:a="http://schemas.openxmlformats.org/drawingml/2006/main" name="Network">
  <a:themeElements>
    <a:clrScheme name="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B8989"/>
      </a:accent6>
      <a:hlink>
        <a:srgbClr val="7E9CE8"/>
      </a:hlink>
      <a:folHlink>
        <a:srgbClr val="D8D8EC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C0C0C0"/>
        </a:dk2>
        <a:lt2>
          <a:srgbClr val="4F747B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CDCDC"/>
        </a:accent4>
        <a:accent5>
          <a:srgbClr val="C3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D0B0B"/>
        </a:lt1>
        <a:dk2>
          <a:srgbClr val="FFFFFF"/>
        </a:dk2>
        <a:lt2>
          <a:srgbClr val="3C0000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CDCDC"/>
        </a:accent4>
        <a:accent5>
          <a:srgbClr val="B9B9AD"/>
        </a:accent5>
        <a:accent6>
          <a:srgbClr val="B72D00"/>
        </a:accent6>
        <a:hlink>
          <a:srgbClr val="CC9900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15192B"/>
        </a:lt1>
        <a:dk2>
          <a:srgbClr val="CCCCFF"/>
        </a:dk2>
        <a:lt2>
          <a:srgbClr val="666699"/>
        </a:lt2>
        <a:accent1>
          <a:srgbClr val="4F893D"/>
        </a:accent1>
        <a:accent2>
          <a:srgbClr val="666699"/>
        </a:accent2>
        <a:accent3>
          <a:srgbClr val="AAAAAC"/>
        </a:accent3>
        <a:accent4>
          <a:srgbClr val="DCDCDC"/>
        </a:accent4>
        <a:accent5>
          <a:srgbClr val="B3C4AF"/>
        </a:accent5>
        <a:accent6>
          <a:srgbClr val="5B5B89"/>
        </a:accent6>
        <a:hlink>
          <a:srgbClr val="CC9900"/>
        </a:hlink>
        <a:folHlink>
          <a:srgbClr val="4837C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6001A"/>
        </a:lt1>
        <a:dk2>
          <a:srgbClr val="CCCC66"/>
        </a:dk2>
        <a:lt2>
          <a:srgbClr val="666699"/>
        </a:lt2>
        <a:accent1>
          <a:srgbClr val="FF3300"/>
        </a:accent1>
        <a:accent2>
          <a:srgbClr val="FF6600"/>
        </a:accent2>
        <a:accent3>
          <a:srgbClr val="C3AAAA"/>
        </a:accent3>
        <a:accent4>
          <a:srgbClr val="DCDCDC"/>
        </a:accent4>
        <a:accent5>
          <a:srgbClr val="FFADAA"/>
        </a:accent5>
        <a:accent6>
          <a:srgbClr val="E55B00"/>
        </a:accent6>
        <a:hlink>
          <a:srgbClr val="CC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54"/>
        </a:lt1>
        <a:dk2>
          <a:srgbClr val="FFFFFF"/>
        </a:dk2>
        <a:lt2>
          <a:srgbClr val="666699"/>
        </a:lt2>
        <a:accent1>
          <a:srgbClr val="3333FF"/>
        </a:accent1>
        <a:accent2>
          <a:srgbClr val="006699"/>
        </a:accent2>
        <a:accent3>
          <a:srgbClr val="AAAAB4"/>
        </a:accent3>
        <a:accent4>
          <a:srgbClr val="DCDCDC"/>
        </a:accent4>
        <a:accent5>
          <a:srgbClr val="ADADFF"/>
        </a:accent5>
        <a:accent6>
          <a:srgbClr val="005B89"/>
        </a:accent6>
        <a:hlink>
          <a:srgbClr val="669900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0054B"/>
        </a:lt1>
        <a:dk2>
          <a:srgbClr val="FFFFFF"/>
        </a:dk2>
        <a:lt2>
          <a:srgbClr val="808080"/>
        </a:lt2>
        <a:accent1>
          <a:srgbClr val="797B9B"/>
        </a:accent1>
        <a:accent2>
          <a:srgbClr val="6B4FB1"/>
        </a:accent2>
        <a:accent3>
          <a:srgbClr val="ADAAB2"/>
        </a:accent3>
        <a:accent4>
          <a:srgbClr val="DCDCDC"/>
        </a:accent4>
        <a:accent5>
          <a:srgbClr val="BEBFCB"/>
        </a:accent5>
        <a:accent6>
          <a:srgbClr val="5F469E"/>
        </a:accent6>
        <a:hlink>
          <a:srgbClr val="7AACCE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CC"/>
        </a:dk1>
        <a:lt1>
          <a:srgbClr val="29527B"/>
        </a:lt1>
        <a:dk2>
          <a:srgbClr val="FFFFFF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CDCAF"/>
        </a:accent4>
        <a:accent5>
          <a:srgbClr val="E2E2AA"/>
        </a:accent5>
        <a:accent6>
          <a:srgbClr val="5B8989"/>
        </a:accent6>
        <a:hlink>
          <a:srgbClr val="D8D8E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76949"/>
        </a:lt1>
        <a:dk2>
          <a:srgbClr val="FFFFFF"/>
        </a:dk2>
        <a:lt2>
          <a:srgbClr val="666699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CDCDC"/>
        </a:accent4>
        <a:accent5>
          <a:srgbClr val="E2B9AA"/>
        </a:accent5>
        <a:accent6>
          <a:srgbClr val="B78900"/>
        </a:accent6>
        <a:hlink>
          <a:srgbClr val="669900"/>
        </a:hlink>
        <a:folHlink>
          <a:srgbClr val="A45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7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B8989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3</TotalTime>
  <Words>4214</Words>
  <Application>Microsoft Office PowerPoint</Application>
  <PresentationFormat>全屏显示(4:3)</PresentationFormat>
  <Paragraphs>491</Paragraphs>
  <Slides>57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4" baseType="lpstr">
      <vt:lpstr>楷体</vt:lpstr>
      <vt:lpstr>宋体</vt:lpstr>
      <vt:lpstr>Arial</vt:lpstr>
      <vt:lpstr>Courier New</vt:lpstr>
      <vt:lpstr>Times New Roman</vt:lpstr>
      <vt:lpstr>Wingdings</vt:lpstr>
      <vt:lpstr>Network</vt:lpstr>
      <vt:lpstr>4  控制转移类指令</vt:lpstr>
      <vt:lpstr>PowerPoint 演示文稿</vt:lpstr>
      <vt:lpstr>4.1  无条件转移指令</vt:lpstr>
      <vt:lpstr>目标地址的寻址方式</vt:lpstr>
      <vt:lpstr>目标地址的范围：段内</vt:lpstr>
      <vt:lpstr>目标地址的范围：段间</vt:lpstr>
      <vt:lpstr>段内转移、直接寻址</vt:lpstr>
      <vt:lpstr>段内转移、间接寻址</vt:lpstr>
      <vt:lpstr>段间转移、直接寻址</vt:lpstr>
      <vt:lpstr>段间转移、间接寻址</vt:lpstr>
      <vt:lpstr>4.2  条件转移指令</vt:lpstr>
      <vt:lpstr>相对寻址方式</vt:lpstr>
      <vt:lpstr>Jcc指令的分类</vt:lpstr>
      <vt:lpstr>条件转移指令中的条件cc</vt:lpstr>
      <vt:lpstr>1. 判断单个标志位状态</vt:lpstr>
      <vt:lpstr>例4.1：JZ/JNZ指令</vt:lpstr>
      <vt:lpstr>例4.2：JS/JNS指令</vt:lpstr>
      <vt:lpstr>例4.3：JO/JNO指令</vt:lpstr>
      <vt:lpstr>例4.4：JP/JNP指令</vt:lpstr>
      <vt:lpstr>例4.5：JC/JNC指令</vt:lpstr>
      <vt:lpstr>记录BX中“1”的个数</vt:lpstr>
      <vt:lpstr>比较无符号数高低</vt:lpstr>
      <vt:lpstr>例4.6a：比较无符号数</vt:lpstr>
      <vt:lpstr>比较有符号数大小</vt:lpstr>
      <vt:lpstr>例4.6b：比较有符号数</vt:lpstr>
      <vt:lpstr>条件转移指令应用——  分支结构</vt:lpstr>
      <vt:lpstr>PowerPoint 演示文稿</vt:lpstr>
      <vt:lpstr>4.3  循环指令（loop）</vt:lpstr>
      <vt:lpstr>例4.7：记录空格个数</vt:lpstr>
      <vt:lpstr>2.4.4  子程序指令</vt:lpstr>
      <vt:lpstr>主程序与子程序</vt:lpstr>
      <vt:lpstr>子程序调用指令</vt:lpstr>
      <vt:lpstr>子程序返回指令</vt:lpstr>
      <vt:lpstr>返回指令RET的参数</vt:lpstr>
      <vt:lpstr>例4.8：子程序</vt:lpstr>
      <vt:lpstr>2.4.5  中断指令</vt:lpstr>
      <vt:lpstr>中断的过程</vt:lpstr>
      <vt:lpstr>8086的外部中断</vt:lpstr>
      <vt:lpstr>8086的内部中断</vt:lpstr>
      <vt:lpstr>中断指令INT</vt:lpstr>
      <vt:lpstr>2.4.6  系统功能调用</vt:lpstr>
      <vt:lpstr>功能调用的步骤</vt:lpstr>
      <vt:lpstr>输入输出类功能调用</vt:lpstr>
      <vt:lpstr>字符输出的功能调用</vt:lpstr>
      <vt:lpstr>例4.9：显示问号</vt:lpstr>
      <vt:lpstr>字符串输出的功能调用</vt:lpstr>
      <vt:lpstr>例4.10：显示字符串</vt:lpstr>
      <vt:lpstr>字符输入的功能调用</vt:lpstr>
      <vt:lpstr>例4.11：判断按键</vt:lpstr>
      <vt:lpstr>字符串输入的功能调用</vt:lpstr>
      <vt:lpstr>缓冲区的定义</vt:lpstr>
      <vt:lpstr>例4.12：输入字符串</vt:lpstr>
      <vt:lpstr>ROM BIOS中断调用</vt:lpstr>
      <vt:lpstr>ROM BIOS中断调用举例</vt:lpstr>
      <vt:lpstr>ROM BIOS中断调用举例</vt:lpstr>
      <vt:lpstr>例2.49：字符输入输出</vt:lpstr>
      <vt:lpstr>16位数转换为ASCII码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 Jia Hui</dc:creator>
  <cp:lastModifiedBy>Zhao Jiahui</cp:lastModifiedBy>
  <cp:revision>4</cp:revision>
  <dcterms:created xsi:type="dcterms:W3CDTF">2012-09-24T05:17:00Z</dcterms:created>
  <dcterms:modified xsi:type="dcterms:W3CDTF">2022-10-11T06:13:41Z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2052-11.1.0.12302</vt:lpwstr>
  </property>
  <property fmtid="{D5CDD505-2E9C-101B-9397-08002B2CF9AE}" pid="4" name="ICV">
    <vt:lpwstr>F6A56CF5221A48748B6F9471873D765E</vt:lpwstr>
  </property>
</Properties>
</file>