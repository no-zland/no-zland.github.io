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sldIdLst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300" r:id="rId44"/>
  </p:sldIdLst>
  <p:sldSz cx="9144000" cy="6858000" type="screen4x3"/>
  <p:notesSz cx="6858000" cy="9144000"/>
  <p:custDataLst>
    <p:tags r:id="rId49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0000FF"/>
    <a:srgbClr val="FF0000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73" d="100"/>
          <a:sy n="73" d="100"/>
        </p:scale>
        <p:origin x="-76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9" Type="http://schemas.openxmlformats.org/officeDocument/2006/relationships/tags" Target="tags/tag1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notesMaster" Target="notesMasters/notesMaster1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178" name="页眉占位符 5017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zh-CN" altLang="en-US" sz="1200" dirty="0"/>
          </a:p>
        </p:txBody>
      </p:sp>
      <p:sp>
        <p:nvSpPr>
          <p:cNvPr id="50179" name="日期占位符 50178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/>
            <a:endParaRPr lang="zh-CN" altLang="en-US" sz="1200" dirty="0"/>
          </a:p>
        </p:txBody>
      </p:sp>
      <p:sp>
        <p:nvSpPr>
          <p:cNvPr id="50180" name="幻灯片图像占位符 50179"/>
          <p:cNvSpPr>
            <a:spLocks noRo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0181" name="文本占位符 50180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0182" name="页脚占位符 50181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endParaRPr lang="zh-CN" altLang="en-US" sz="1200" dirty="0"/>
          </a:p>
        </p:txBody>
      </p:sp>
      <p:sp>
        <p:nvSpPr>
          <p:cNvPr id="50183" name="灯片编号占位符 50182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2"/>
          </p:nvPr>
        </p:nvSpPr>
        <p:spPr/>
        <p:txBody>
          <a:bodyPr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51202" name="幻灯片图像占位符 51201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1203" name="文本占位符 5120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p>
            <a:pPr lvl="0"/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2034" name="直接连接符 172033"/>
          <p:cNvSpPr/>
          <p:nvPr/>
        </p:nvSpPr>
        <p:spPr>
          <a:xfrm>
            <a:off x="7315200" y="1066800"/>
            <a:ext cx="0" cy="449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2035" name="标题 172034"/>
          <p:cNvSpPr>
            <a:spLocks noGrp="1"/>
          </p:cNvSpPr>
          <p:nvPr>
            <p:ph type="ctrTitle"/>
          </p:nvPr>
        </p:nvSpPr>
        <p:spPr>
          <a:xfrm>
            <a:off x="315913" y="466725"/>
            <a:ext cx="6781800" cy="2133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lvl="0" algn="r">
              <a:buClrTx/>
              <a:buSzTx/>
              <a:buFontTx/>
              <a:defRPr sz="480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72036" name="副标题 172035"/>
          <p:cNvSpPr>
            <a:spLocks noGrp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0" lvl="0" indent="0" algn="r">
              <a:buClr>
                <a:schemeClr val="tx2"/>
              </a:buClr>
              <a:buSzPct val="70000"/>
              <a:buFont typeface="Wingdings" panose="05000000000000000000" pitchFamily="2" charset="2"/>
              <a:buNone/>
              <a:defRPr sz="3200"/>
            </a:lvl1pPr>
            <a:lvl2pPr marL="344805" lvl="1" indent="0" algn="ctr">
              <a:buClr>
                <a:schemeClr val="accent2"/>
              </a:buClr>
              <a:buSzPct val="70000"/>
              <a:buFont typeface="Wingdings" panose="05000000000000000000" pitchFamily="2" charset="2"/>
              <a:buNone/>
              <a:defRPr sz="3200"/>
            </a:lvl2pPr>
            <a:lvl3pPr marL="694055" lvl="2" indent="0" algn="ctr"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 sz="3200"/>
            </a:lvl3pPr>
            <a:lvl4pPr marL="989330" lvl="3" indent="0" algn="ctr"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 sz="3200"/>
            </a:lvl4pPr>
            <a:lvl5pPr marL="1282700" lvl="4" indent="0" algn="ctr">
              <a:buClr>
                <a:schemeClr val="folHlink"/>
              </a:buClr>
              <a:buSzPct val="80000"/>
              <a:buFont typeface="Wingdings" panose="05000000000000000000" pitchFamily="2" charset="2"/>
              <a:buNone/>
              <a:defRPr sz="3200"/>
            </a:lvl5pPr>
          </a:lstStyle>
          <a:p>
            <a:pPr lvl="0"/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72037" name="日期占位符 172036"/>
          <p:cNvSpPr>
            <a:spLocks noGrp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>
              <a:defRPr sz="1000"/>
            </a:lvl1pPr>
          </a:lstStyle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2038" name="页脚占位符 172037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ctr">
              <a:defRPr sz="1000"/>
            </a:lvl1pPr>
          </a:lstStyle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2039" name="灯片编号占位符 172038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r">
              <a:defRPr sz="1000"/>
            </a:lvl1pPr>
          </a:lstStyle>
          <a:p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72040" name="组合 172039"/>
          <p:cNvGrpSpPr/>
          <p:nvPr/>
        </p:nvGrpSpPr>
        <p:grpSpPr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172041" name="椭圆 172040"/>
            <p:cNvSpPr/>
            <p:nvPr/>
          </p:nvSpPr>
          <p:spPr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2042" name="椭圆 172041"/>
            <p:cNvSpPr/>
            <p:nvPr/>
          </p:nvSpPr>
          <p:spPr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2043" name="椭圆 172042"/>
            <p:cNvSpPr/>
            <p:nvPr/>
          </p:nvSpPr>
          <p:spPr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2044" name="椭圆 172043"/>
            <p:cNvSpPr/>
            <p:nvPr/>
          </p:nvSpPr>
          <p:spPr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2045" name="椭圆 172044"/>
            <p:cNvSpPr/>
            <p:nvPr/>
          </p:nvSpPr>
          <p:spPr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2046" name="椭圆 172045"/>
            <p:cNvSpPr/>
            <p:nvPr/>
          </p:nvSpPr>
          <p:spPr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2047" name="椭圆 172046"/>
            <p:cNvSpPr/>
            <p:nvPr/>
          </p:nvSpPr>
          <p:spPr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2048" name="椭圆 172047"/>
            <p:cNvSpPr/>
            <p:nvPr/>
          </p:nvSpPr>
          <p:spPr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2049" name="椭圆 172048"/>
            <p:cNvSpPr/>
            <p:nvPr/>
          </p:nvSpPr>
          <p:spPr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2050" name="椭圆 172049"/>
            <p:cNvSpPr/>
            <p:nvPr/>
          </p:nvSpPr>
          <p:spPr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2051" name="椭圆 172050"/>
            <p:cNvSpPr/>
            <p:nvPr/>
          </p:nvSpPr>
          <p:spPr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2052" name="椭圆 172051"/>
            <p:cNvSpPr/>
            <p:nvPr/>
          </p:nvSpPr>
          <p:spPr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2053" name="椭圆 172052"/>
            <p:cNvSpPr/>
            <p:nvPr/>
          </p:nvSpPr>
          <p:spPr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2054" name="椭圆 172053"/>
            <p:cNvSpPr/>
            <p:nvPr/>
          </p:nvSpPr>
          <p:spPr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2055" name="椭圆 172054"/>
            <p:cNvSpPr/>
            <p:nvPr/>
          </p:nvSpPr>
          <p:spPr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2056" name="椭圆 172055"/>
            <p:cNvSpPr/>
            <p:nvPr/>
          </p:nvSpPr>
          <p:spPr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2057" name="椭圆 172056"/>
            <p:cNvSpPr/>
            <p:nvPr/>
          </p:nvSpPr>
          <p:spPr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2058" name="椭圆 172057"/>
            <p:cNvSpPr/>
            <p:nvPr/>
          </p:nvSpPr>
          <p:spPr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2059" name="椭圆 172058"/>
            <p:cNvSpPr/>
            <p:nvPr/>
          </p:nvSpPr>
          <p:spPr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2060" name="椭圆 172059"/>
            <p:cNvSpPr/>
            <p:nvPr/>
          </p:nvSpPr>
          <p:spPr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2061" name="椭圆 172060"/>
            <p:cNvSpPr/>
            <p:nvPr/>
          </p:nvSpPr>
          <p:spPr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2062" name="椭圆 172061"/>
            <p:cNvSpPr/>
            <p:nvPr/>
          </p:nvSpPr>
          <p:spPr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2063" name="椭圆 172062"/>
            <p:cNvSpPr/>
            <p:nvPr/>
          </p:nvSpPr>
          <p:spPr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2064" name="椭圆 172063"/>
            <p:cNvSpPr/>
            <p:nvPr/>
          </p:nvSpPr>
          <p:spPr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2065" name="椭圆 172064"/>
            <p:cNvSpPr/>
            <p:nvPr/>
          </p:nvSpPr>
          <p:spPr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2066" name="椭圆 172065"/>
            <p:cNvSpPr/>
            <p:nvPr/>
          </p:nvSpPr>
          <p:spPr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2067" name="椭圆 172066"/>
            <p:cNvSpPr/>
            <p:nvPr/>
          </p:nvSpPr>
          <p:spPr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2068" name="椭圆 172067"/>
            <p:cNvSpPr/>
            <p:nvPr/>
          </p:nvSpPr>
          <p:spPr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2069" name="椭圆 172068"/>
            <p:cNvSpPr/>
            <p:nvPr/>
          </p:nvSpPr>
          <p:spPr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2070" name="椭圆 172069"/>
            <p:cNvSpPr/>
            <p:nvPr/>
          </p:nvSpPr>
          <p:spPr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2071" name="椭圆 172070"/>
            <p:cNvSpPr/>
            <p:nvPr/>
          </p:nvSpPr>
          <p:spPr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72072" name="直接连接符 172071"/>
          <p:cNvSpPr/>
          <p:nvPr/>
        </p:nvSpPr>
        <p:spPr>
          <a:xfrm>
            <a:off x="304800" y="2819400"/>
            <a:ext cx="8229600" cy="0"/>
          </a:xfrm>
          <a:prstGeom prst="line">
            <a:avLst/>
          </a:prstGeom>
          <a:ln w="63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2504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719263"/>
            <a:ext cx="4032504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52930" cy="600868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1010" name="直接连接符 171009"/>
          <p:cNvSpPr/>
          <p:nvPr/>
        </p:nvSpPr>
        <p:spPr>
          <a:xfrm>
            <a:off x="7962900" y="152400"/>
            <a:ext cx="0" cy="1524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1011" name="标题 171010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71012" name="文本占位符 171011"/>
          <p:cNvSpPr>
            <a:spLocks noGrp="1"/>
          </p:cNvSpPr>
          <p:nvPr>
            <p:ph type="body" idx="1"/>
          </p:nvPr>
        </p:nvSpPr>
        <p:spPr>
          <a:xfrm>
            <a:off x="457200" y="1719263"/>
            <a:ext cx="8229600" cy="44116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71013" name="日期占位符 171012"/>
          <p:cNvSpPr>
            <a:spLocks noGrp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000"/>
            </a:lvl1pPr>
          </a:lstStyle>
          <a:p>
            <a:pPr lvl="0"/>
            <a:fld id="{BB962C8B-B14F-4D97-AF65-F5344CB8AC3E}" type="datetime1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1014" name="页脚占位符 171013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000"/>
            </a:lvl1pPr>
          </a:lstStyle>
          <a:p>
            <a:pPr lvl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1015" name="灯片编号占位符 171014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0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71016" name="组合 171015"/>
          <p:cNvGrpSpPr/>
          <p:nvPr/>
        </p:nvGrpSpPr>
        <p:grpSpPr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71017" name="椭圆 171016"/>
            <p:cNvSpPr/>
            <p:nvPr/>
          </p:nvSpPr>
          <p:spPr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1018" name="椭圆 171017"/>
            <p:cNvSpPr/>
            <p:nvPr/>
          </p:nvSpPr>
          <p:spPr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1019" name="椭圆 171018"/>
            <p:cNvSpPr/>
            <p:nvPr/>
          </p:nvSpPr>
          <p:spPr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1020" name="椭圆 171019"/>
            <p:cNvSpPr/>
            <p:nvPr/>
          </p:nvSpPr>
          <p:spPr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1021" name="椭圆 171020"/>
            <p:cNvSpPr/>
            <p:nvPr/>
          </p:nvSpPr>
          <p:spPr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1022" name="椭圆 171021"/>
            <p:cNvSpPr/>
            <p:nvPr/>
          </p:nvSpPr>
          <p:spPr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1023" name="椭圆 171022"/>
            <p:cNvSpPr/>
            <p:nvPr/>
          </p:nvSpPr>
          <p:spPr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1024" name="椭圆 171023"/>
            <p:cNvSpPr/>
            <p:nvPr/>
          </p:nvSpPr>
          <p:spPr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1025" name="椭圆 171024"/>
            <p:cNvSpPr/>
            <p:nvPr/>
          </p:nvSpPr>
          <p:spPr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1026" name="椭圆 171025"/>
            <p:cNvSpPr/>
            <p:nvPr/>
          </p:nvSpPr>
          <p:spPr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1027" name="椭圆 171026"/>
            <p:cNvSpPr/>
            <p:nvPr/>
          </p:nvSpPr>
          <p:spPr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1028" name="椭圆 171027"/>
            <p:cNvSpPr/>
            <p:nvPr/>
          </p:nvSpPr>
          <p:spPr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1029" name="椭圆 171028"/>
            <p:cNvSpPr/>
            <p:nvPr/>
          </p:nvSpPr>
          <p:spPr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1030" name="椭圆 171029"/>
            <p:cNvSpPr/>
            <p:nvPr/>
          </p:nvSpPr>
          <p:spPr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1031" name="椭圆 171030"/>
            <p:cNvSpPr/>
            <p:nvPr/>
          </p:nvSpPr>
          <p:spPr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1032" name="椭圆 171031"/>
            <p:cNvSpPr/>
            <p:nvPr/>
          </p:nvSpPr>
          <p:spPr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1033" name="椭圆 171032"/>
            <p:cNvSpPr/>
            <p:nvPr/>
          </p:nvSpPr>
          <p:spPr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1034" name="椭圆 171033"/>
            <p:cNvSpPr/>
            <p:nvPr/>
          </p:nvSpPr>
          <p:spPr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1035" name="椭圆 171034"/>
            <p:cNvSpPr/>
            <p:nvPr/>
          </p:nvSpPr>
          <p:spPr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1036" name="椭圆 171035"/>
            <p:cNvSpPr/>
            <p:nvPr/>
          </p:nvSpPr>
          <p:spPr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1037" name="椭圆 171036"/>
            <p:cNvSpPr/>
            <p:nvPr/>
          </p:nvSpPr>
          <p:spPr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1038" name="椭圆 171037"/>
            <p:cNvSpPr/>
            <p:nvPr/>
          </p:nvSpPr>
          <p:spPr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1039" name="椭圆 171038"/>
            <p:cNvSpPr/>
            <p:nvPr/>
          </p:nvSpPr>
          <p:spPr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1040" name="椭圆 171039"/>
            <p:cNvSpPr/>
            <p:nvPr/>
          </p:nvSpPr>
          <p:spPr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1041" name="椭圆 171040"/>
            <p:cNvSpPr/>
            <p:nvPr/>
          </p:nvSpPr>
          <p:spPr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1042" name="椭圆 171041"/>
            <p:cNvSpPr/>
            <p:nvPr/>
          </p:nvSpPr>
          <p:spPr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1043" name="椭圆 171042"/>
            <p:cNvSpPr/>
            <p:nvPr/>
          </p:nvSpPr>
          <p:spPr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1044" name="椭圆 171043"/>
            <p:cNvSpPr/>
            <p:nvPr/>
          </p:nvSpPr>
          <p:spPr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1045" name="椭圆 171044"/>
            <p:cNvSpPr/>
            <p:nvPr/>
          </p:nvSpPr>
          <p:spPr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1046" name="椭圆 171045"/>
            <p:cNvSpPr/>
            <p:nvPr/>
          </p:nvSpPr>
          <p:spPr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1047" name="椭圆 171046"/>
            <p:cNvSpPr/>
            <p:nvPr/>
          </p:nvSpPr>
          <p:spPr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900" b="1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92150" lvl="1" indent="-347345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87425" lvl="2" indent="-29337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81430" lvl="3" indent="-2921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598930" lvl="4" indent="-31623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4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slide" Target="slide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3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GI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slide" Target="slide3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GIF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slide" Target="slide37.xml"/><Relationship Id="rId2" Type="http://schemas.openxmlformats.org/officeDocument/2006/relationships/slide" Target="slide39.xml"/><Relationship Id="rId1" Type="http://schemas.openxmlformats.org/officeDocument/2006/relationships/slide" Target="slide2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slide" Target="slide4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标题 6145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en-US" altLang="zh-CN"/>
              <a:t>2.  </a:t>
            </a:r>
            <a:r>
              <a:rPr lang="zh-CN" altLang="en-US" dirty="0"/>
              <a:t>算术运算类指令</a:t>
            </a:r>
            <a:endParaRPr lang="zh-CN" altLang="en-US" dirty="0"/>
          </a:p>
        </p:txBody>
      </p:sp>
      <p:sp>
        <p:nvSpPr>
          <p:cNvPr id="6147" name="文本占位符 6146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543800" cy="4411663"/>
          </a:xfrm>
        </p:spPr>
        <p:txBody>
          <a:bodyPr/>
          <a:p>
            <a:r>
              <a:rPr lang="zh-CN" altLang="en-US" sz="2600" b="1" dirty="0">
                <a:solidFill>
                  <a:srgbClr val="0000FF"/>
                </a:solidFill>
                <a:ea typeface="楷体" panose="02010609060101010101" pitchFamily="49" charset="-122"/>
              </a:rPr>
              <a:t>四则运算是计算机经常进行的一种操作。算术运算指令实现二进制（和十进制）数据的四则运算</a:t>
            </a:r>
            <a:endParaRPr lang="zh-CN" altLang="en-US" sz="2600" b="1" dirty="0">
              <a:solidFill>
                <a:srgbClr val="0000FF"/>
              </a:solidFill>
              <a:ea typeface="楷体" panose="02010609060101010101" pitchFamily="49" charset="-122"/>
            </a:endParaRPr>
          </a:p>
          <a:p>
            <a:r>
              <a:rPr lang="zh-CN" altLang="en-US" sz="2600" b="1" dirty="0">
                <a:solidFill>
                  <a:srgbClr val="0000FF"/>
                </a:solidFill>
                <a:ea typeface="楷体" panose="02010609060101010101" pitchFamily="49" charset="-122"/>
              </a:rPr>
              <a:t>请注意算术运算类指令</a:t>
            </a:r>
            <a:r>
              <a:rPr lang="zh-CN" altLang="en-US" sz="2600" b="1" dirty="0">
                <a:solidFill>
                  <a:srgbClr val="009900"/>
                </a:solidFill>
                <a:ea typeface="楷体" panose="02010609060101010101" pitchFamily="49" charset="-122"/>
              </a:rPr>
              <a:t>对标志的影响</a:t>
            </a:r>
            <a:endParaRPr lang="zh-CN" altLang="en-US" sz="2600" b="1" dirty="0">
              <a:solidFill>
                <a:srgbClr val="009900"/>
              </a:solidFill>
              <a:ea typeface="楷体" panose="02010609060101010101" pitchFamily="49" charset="-122"/>
            </a:endParaRPr>
          </a:p>
          <a:p>
            <a:pPr lvl="1"/>
            <a:r>
              <a:rPr lang="zh-CN" altLang="en-US" b="1" dirty="0">
                <a:solidFill>
                  <a:srgbClr val="FF0000"/>
                </a:solidFill>
                <a:ea typeface="楷体" panose="02010609060101010101" pitchFamily="49" charset="-122"/>
              </a:rPr>
              <a:t>掌握</a:t>
            </a:r>
            <a:r>
              <a:rPr lang="zh-CN" altLang="en-US" dirty="0"/>
              <a:t>：</a:t>
            </a:r>
            <a:r>
              <a:rPr lang="en-US" altLang="zh-CN">
                <a:solidFill>
                  <a:schemeClr val="tx2"/>
                </a:solidFill>
              </a:rPr>
              <a:t>ADD/ADC/INC</a:t>
            </a:r>
            <a:r>
              <a:rPr lang="zh-CN" altLang="en-US" dirty="0">
                <a:solidFill>
                  <a:schemeClr val="tx2"/>
                </a:solidFill>
              </a:rPr>
              <a:t>、</a:t>
            </a:r>
            <a:r>
              <a:rPr lang="en-US" altLang="zh-CN">
                <a:solidFill>
                  <a:schemeClr val="tx2"/>
                </a:solidFill>
              </a:rPr>
              <a:t>SUB/SBB/DEC/ NEG/CMP</a:t>
            </a:r>
            <a:endParaRPr lang="en-US" altLang="zh-CN">
              <a:solidFill>
                <a:schemeClr val="tx2"/>
              </a:solidFill>
            </a:endParaRPr>
          </a:p>
          <a:p>
            <a:pPr lvl="1"/>
            <a:r>
              <a:rPr lang="zh-CN" altLang="en-US" b="1" dirty="0">
                <a:solidFill>
                  <a:srgbClr val="FF0000"/>
                </a:solidFill>
                <a:ea typeface="楷体" panose="02010609060101010101" pitchFamily="49" charset="-122"/>
              </a:rPr>
              <a:t>熟悉</a:t>
            </a:r>
            <a:r>
              <a:rPr lang="zh-CN" altLang="en-US" dirty="0"/>
              <a:t>：</a:t>
            </a:r>
            <a:r>
              <a:rPr lang="en-US" altLang="zh-CN">
                <a:solidFill>
                  <a:schemeClr val="tx2"/>
                </a:solidFill>
              </a:rPr>
              <a:t>MUL/IMUL</a:t>
            </a:r>
            <a:r>
              <a:rPr lang="zh-CN" altLang="en-US" dirty="0">
                <a:solidFill>
                  <a:schemeClr val="tx2"/>
                </a:solidFill>
              </a:rPr>
              <a:t>、</a:t>
            </a:r>
            <a:r>
              <a:rPr lang="en-US" altLang="zh-CN">
                <a:solidFill>
                  <a:schemeClr val="tx2"/>
                </a:solidFill>
              </a:rPr>
              <a:t>DIV/IDIV</a:t>
            </a:r>
            <a:endParaRPr lang="en-US" altLang="zh-CN">
              <a:solidFill>
                <a:schemeClr val="tx2"/>
              </a:solidFill>
            </a:endParaRPr>
          </a:p>
          <a:p>
            <a:pPr lvl="1"/>
            <a:r>
              <a:rPr lang="zh-CN" altLang="en-US" b="1" dirty="0">
                <a:solidFill>
                  <a:srgbClr val="FF0000"/>
                </a:solidFill>
                <a:ea typeface="楷体" panose="02010609060101010101" pitchFamily="49" charset="-122"/>
              </a:rPr>
              <a:t>理解</a:t>
            </a:r>
            <a:r>
              <a:rPr lang="zh-CN" altLang="en-US" dirty="0"/>
              <a:t>：</a:t>
            </a:r>
            <a:r>
              <a:rPr lang="en-US" altLang="zh-CN"/>
              <a:t>CBW/CWD</a:t>
            </a:r>
            <a:r>
              <a:rPr lang="zh-CN" altLang="en-US" dirty="0"/>
              <a:t>、</a:t>
            </a:r>
            <a:r>
              <a:rPr lang="en-US" altLang="zh-CN"/>
              <a:t>DAA/DAS</a:t>
            </a:r>
            <a:r>
              <a:rPr lang="zh-CN" altLang="en-US" dirty="0"/>
              <a:t>、 </a:t>
            </a:r>
            <a:r>
              <a:rPr lang="en-US" altLang="zh-CN"/>
              <a:t>AAA/ AAS/AAM/AAD</a:t>
            </a:r>
            <a:endParaRPr lang="en-US" altLang="zh-CN"/>
          </a:p>
        </p:txBody>
      </p:sp>
    </p:spTree>
  </p:cSld>
  <p:clrMapOvr>
    <a:masterClrMapping/>
  </p:clrMapOvr>
  <p:transition spd="med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标题 7169"/>
          <p:cNvSpPr>
            <a:spLocks noGrp="1"/>
          </p:cNvSpPr>
          <p:nvPr>
            <p:ph type="title"/>
          </p:nvPr>
        </p:nvSpPr>
        <p:spPr>
          <a:xfrm>
            <a:off x="457200" y="304800"/>
            <a:ext cx="7543800" cy="1201420"/>
          </a:xfrm>
        </p:spPr>
        <p:txBody>
          <a:bodyPr anchor="b" anchorCtr="0"/>
          <a:p>
            <a:r>
              <a:rPr lang="en-US" altLang="zh-CN" dirty="0"/>
              <a:t>2.1</a:t>
            </a:r>
            <a:r>
              <a:rPr lang="zh-CN" altLang="en-US" dirty="0"/>
              <a:t>加法类指令</a:t>
            </a:r>
            <a:br>
              <a:rPr lang="en-US" altLang="zh-CN" dirty="0"/>
            </a:br>
            <a:r>
              <a:rPr lang="zh-CN" altLang="en-US" dirty="0"/>
              <a:t>加法指令</a:t>
            </a:r>
            <a:r>
              <a:rPr lang="en-US" altLang="zh-CN"/>
              <a:t>ADD   </a:t>
            </a:r>
            <a:r>
              <a:rPr lang="zh-CN" altLang="en-US" dirty="0"/>
              <a:t>（</a:t>
            </a:r>
            <a:r>
              <a:rPr lang="en-US" altLang="zh-CN"/>
              <a:t>addition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7171" name="文本占位符 7170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7543800" cy="1778000"/>
          </a:xfrm>
        </p:spPr>
        <p:txBody>
          <a:bodyPr/>
          <a:p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ADD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指令将源与目的操作数相加，结果送到目的操作数</a:t>
            </a: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ADD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指令按状态标志的定义相应设置</a:t>
            </a: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172" name="流程图: 可选过程 7171"/>
          <p:cNvSpPr/>
          <p:nvPr/>
        </p:nvSpPr>
        <p:spPr>
          <a:xfrm>
            <a:off x="533400" y="3429000"/>
            <a:ext cx="7162800" cy="2286000"/>
          </a:xfrm>
          <a:prstGeom prst="flowChartAlternateProcess">
            <a:avLst/>
          </a:prstGeom>
          <a:gradFill rotWithShape="1">
            <a:gsLst>
              <a:gs pos="0">
                <a:srgbClr val="66FFFF"/>
              </a:gs>
              <a:gs pos="100000">
                <a:schemeClr val="bg1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/>
          <a:p>
            <a:pPr defTabSz="914400">
              <a:spcBef>
                <a:spcPct val="30000"/>
              </a:spcBef>
              <a:tabLst>
                <a:tab pos="2289175" algn="l"/>
              </a:tabLst>
            </a:pPr>
            <a:r>
              <a:rPr lang="en-US" altLang="zh-CN" sz="32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ADD </a:t>
            </a:r>
            <a:r>
              <a:rPr lang="en-US" altLang="zh-CN" sz="3200" b="1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reg,imm/reg/mem</a:t>
            </a:r>
            <a:endParaRPr lang="en-US" altLang="zh-CN" sz="32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defTabSz="914400">
              <a:lnSpc>
                <a:spcPct val="50000"/>
              </a:lnSpc>
              <a:spcBef>
                <a:spcPct val="50000"/>
              </a:spcBef>
              <a:tabLst>
                <a:tab pos="2289175" algn="l"/>
              </a:tabLst>
            </a:pPr>
            <a:r>
              <a:rPr lang="en-US" altLang="zh-CN" sz="28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sz="2800" b="1" err="1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reg←reg</a:t>
            </a:r>
            <a:r>
              <a:rPr lang="zh-CN" altLang="en-US" sz="28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800" b="1" err="1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imm/reg/mem</a:t>
            </a:r>
            <a:endParaRPr lang="en-US" altLang="zh-CN" sz="2800" b="1">
              <a:solidFill>
                <a:srgbClr val="0099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defTabSz="914400">
              <a:spcBef>
                <a:spcPct val="30000"/>
              </a:spcBef>
              <a:tabLst>
                <a:tab pos="2289175" algn="l"/>
              </a:tabLst>
            </a:pPr>
            <a:r>
              <a:rPr lang="en-US" altLang="zh-CN" sz="32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ADD </a:t>
            </a:r>
            <a:r>
              <a:rPr lang="en-US" altLang="zh-CN" sz="3200" b="1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mem,imm/reg</a:t>
            </a:r>
            <a:endParaRPr lang="en-US" altLang="zh-CN" sz="32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defTabSz="914400">
              <a:lnSpc>
                <a:spcPct val="50000"/>
              </a:lnSpc>
              <a:spcBef>
                <a:spcPct val="50000"/>
              </a:spcBef>
              <a:tabLst>
                <a:tab pos="2289175" algn="l"/>
              </a:tabLst>
            </a:pPr>
            <a:r>
              <a:rPr lang="en-US" altLang="zh-CN" sz="28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sz="2800" b="1" err="1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mem←mem</a:t>
            </a:r>
            <a:r>
              <a:rPr lang="zh-CN" altLang="en-US" sz="28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800" b="1" err="1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imm/reg</a:t>
            </a:r>
            <a:endParaRPr lang="en-US" altLang="zh-CN" sz="2800" b="1">
              <a:solidFill>
                <a:srgbClr val="0099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73" name="文本框 7172">
            <a:hlinkClick r:id="rId1" action="ppaction://hlinksldjump"/>
          </p:cNvPr>
          <p:cNvSpPr txBox="1"/>
          <p:nvPr/>
        </p:nvSpPr>
        <p:spPr>
          <a:xfrm>
            <a:off x="7467600" y="6019800"/>
            <a:ext cx="1186815" cy="39878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t" anchorCtr="0">
            <a:spAutoFit/>
          </a:bodyPr>
          <a:p>
            <a:r>
              <a:rPr lang="zh-CN" altLang="en-US" sz="2000" b="1" dirty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例题</a:t>
            </a:r>
            <a:r>
              <a:rPr lang="en-US" altLang="zh-CN" sz="2000" b="1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2.1a</a:t>
            </a:r>
            <a:endParaRPr lang="en-US" altLang="zh-CN" sz="2000" b="1">
              <a:solidFill>
                <a:srgbClr val="66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00" name="标题 8199"/>
          <p:cNvSpPr>
            <a:spLocks noGrp="1"/>
          </p:cNvSpPr>
          <p:nvPr>
            <p:ph type="title"/>
          </p:nvPr>
        </p:nvSpPr>
        <p:spPr>
          <a:xfrm>
            <a:off x="1295400" y="838200"/>
            <a:ext cx="4038600" cy="685800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sz="3000" dirty="0"/>
              <a:t>例</a:t>
            </a:r>
            <a:r>
              <a:rPr lang="en-US" altLang="zh-CN" sz="3000"/>
              <a:t>2.1a</a:t>
            </a:r>
            <a:r>
              <a:rPr lang="zh-CN" altLang="en-US" sz="3000" dirty="0"/>
              <a:t>：加法运算</a:t>
            </a:r>
            <a:endParaRPr lang="zh-CN" altLang="en-US" sz="3000" dirty="0"/>
          </a:p>
        </p:txBody>
      </p:sp>
      <p:sp>
        <p:nvSpPr>
          <p:cNvPr id="8201" name="文本占位符 8200"/>
          <p:cNvSpPr>
            <a:spLocks noGrp="1"/>
          </p:cNvSpPr>
          <p:nvPr>
            <p:ph type="body" idx="1"/>
          </p:nvPr>
        </p:nvSpPr>
        <p:spPr>
          <a:xfrm>
            <a:off x="457200" y="2041525"/>
            <a:ext cx="7940675" cy="4206875"/>
          </a:xfrm>
          <a:solidFill>
            <a:schemeClr val="bg1"/>
          </a:solidFill>
        </p:spPr>
        <p:txBody>
          <a:bodyPr/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al,0fbh</a:t>
            </a:r>
            <a:r>
              <a:rPr lang="en-US" altLang="zh-CN" sz="2600">
                <a:solidFill>
                  <a:schemeClr val="accent2"/>
                </a:solidFill>
                <a:latin typeface="宋体" panose="02010600030101010101" pitchFamily="2" charset="-122"/>
              </a:rPr>
              <a:t>	         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al=0fbh</a:t>
            </a:r>
            <a:endParaRPr lang="en-US" altLang="zh-CN" sz="260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add al,07h</a:t>
            </a:r>
            <a:r>
              <a:rPr lang="en-US" altLang="zh-CN" sz="2600">
                <a:latin typeface="宋体" panose="02010600030101010101" pitchFamily="2" charset="-122"/>
              </a:rPr>
              <a:t>	         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al=02h</a:t>
            </a:r>
            <a:endParaRPr lang="en-US" altLang="zh-CN" sz="260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word 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ptr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[200h],4652h  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[200h]=4652h</a:t>
            </a:r>
            <a:endParaRPr lang="en-US" altLang="zh-CN" sz="260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bx,1feh</a:t>
            </a:r>
            <a:r>
              <a:rPr lang="en-US" altLang="zh-CN" sz="2600">
                <a:latin typeface="宋体" panose="02010600030101010101" pitchFamily="2" charset="-122"/>
              </a:rPr>
              <a:t>	         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 err="1">
                <a:latin typeface="宋体" panose="02010600030101010101" pitchFamily="2" charset="-122"/>
              </a:rPr>
              <a:t>bx</a:t>
            </a:r>
            <a:r>
              <a:rPr lang="en-US" altLang="zh-CN" sz="2600">
                <a:latin typeface="宋体" panose="02010600030101010101" pitchFamily="2" charset="-122"/>
              </a:rPr>
              <a:t>=1feh</a:t>
            </a:r>
            <a:endParaRPr lang="en-US" altLang="zh-CN" sz="260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add </a:t>
            </a:r>
            <a:r>
              <a:rPr lang="en-US" altLang="zh-CN" sz="2600" b="1" err="1">
                <a:solidFill>
                  <a:srgbClr val="0000FF"/>
                </a:solidFill>
                <a:latin typeface="宋体" panose="02010600030101010101" pitchFamily="2" charset="-122"/>
              </a:rPr>
              <a:t>al,bl</a:t>
            </a:r>
            <a:r>
              <a:rPr lang="en-US" altLang="zh-CN" sz="2600">
                <a:solidFill>
                  <a:schemeClr val="accent2"/>
                </a:solidFill>
                <a:latin typeface="宋体" panose="02010600030101010101" pitchFamily="2" charset="-122"/>
              </a:rPr>
              <a:t>	         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al=00h</a:t>
            </a:r>
            <a:endParaRPr lang="en-US" altLang="zh-CN" sz="260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add word </a:t>
            </a:r>
            <a:r>
              <a:rPr lang="en-US" altLang="zh-CN" sz="2600" b="1" err="1">
                <a:solidFill>
                  <a:srgbClr val="0000FF"/>
                </a:solidFill>
                <a:latin typeface="宋体" panose="02010600030101010101" pitchFamily="2" charset="-122"/>
              </a:rPr>
              <a:t>ptr</a:t>
            </a: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 [bx+2],0f0f0h 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[200h]=3742h</a:t>
            </a:r>
            <a:endParaRPr lang="en-US" altLang="zh-CN" sz="2600">
              <a:latin typeface="宋体" panose="02010600030101010101" pitchFamily="2" charset="-122"/>
            </a:endParaRPr>
          </a:p>
        </p:txBody>
      </p:sp>
      <p:sp>
        <p:nvSpPr>
          <p:cNvPr id="8203" name="椭圆 8202" descr="DI-43"/>
          <p:cNvSpPr/>
          <p:nvPr/>
        </p:nvSpPr>
        <p:spPr>
          <a:xfrm>
            <a:off x="76200" y="152400"/>
            <a:ext cx="914400" cy="914400"/>
          </a:xfrm>
          <a:prstGeom prst="ellipse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 b="1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ADD</a:t>
            </a:r>
            <a:endParaRPr lang="en-US" altLang="zh-CN" sz="2400" b="1">
              <a:solidFill>
                <a:schemeClr val="bg2"/>
              </a:solidFill>
              <a:effectLst>
                <a:outerShdw blurRad="38100" dist="38100" dir="2700000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 advClick="0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9217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带进位加法指令</a:t>
            </a:r>
            <a:r>
              <a:rPr lang="en-US" altLang="zh-CN"/>
              <a:t>ADC</a:t>
            </a:r>
            <a:r>
              <a:rPr lang="zh-CN" altLang="en-US" sz="2400" dirty="0"/>
              <a:t>（</a:t>
            </a:r>
            <a:r>
              <a:rPr lang="en-US" altLang="zh-CN" sz="2400"/>
              <a:t>addition with CF</a:t>
            </a:r>
            <a:r>
              <a:rPr lang="zh-CN" altLang="en-US" sz="2400" dirty="0"/>
              <a:t>）</a:t>
            </a:r>
            <a:endParaRPr lang="zh-CN" altLang="en-US" sz="2400" dirty="0"/>
          </a:p>
        </p:txBody>
      </p:sp>
      <p:sp>
        <p:nvSpPr>
          <p:cNvPr id="9219" name="文本占位符 9218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572375" cy="1981200"/>
          </a:xfrm>
        </p:spPr>
        <p:txBody>
          <a:bodyPr/>
          <a:p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ADC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指令将源与目的操作数相加，</a:t>
            </a:r>
            <a:r>
              <a:rPr lang="zh-CN" altLang="en-US" sz="2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再加上进位</a:t>
            </a:r>
            <a:r>
              <a:rPr lang="en-US" altLang="zh-CN" sz="26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CF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标志，结果送到目的操作数</a:t>
            </a:r>
            <a:endParaRPr lang="zh-CN" altLang="en-US" sz="26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ADC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指令按状态标志的定义相应设置</a:t>
            </a:r>
            <a:endParaRPr lang="zh-CN" altLang="en-US" sz="26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ADC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指令主要与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ADD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配合，实现多精度加法运算</a:t>
            </a:r>
            <a:endParaRPr lang="zh-CN" altLang="en-US" sz="26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220" name="流程图: 可选过程 9219"/>
          <p:cNvSpPr/>
          <p:nvPr/>
        </p:nvSpPr>
        <p:spPr>
          <a:xfrm>
            <a:off x="762000" y="3505200"/>
            <a:ext cx="7162800" cy="2286000"/>
          </a:xfrm>
          <a:prstGeom prst="flowChartAlternateProcess">
            <a:avLst/>
          </a:prstGeom>
          <a:gradFill rotWithShape="0">
            <a:gsLst>
              <a:gs pos="0">
                <a:srgbClr val="66FF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/>
          <a:p>
            <a:pPr defTabSz="914400">
              <a:spcBef>
                <a:spcPct val="30000"/>
              </a:spcBef>
              <a:tabLst>
                <a:tab pos="1520825" algn="l"/>
              </a:tabLst>
            </a:pPr>
            <a:r>
              <a:rPr lang="en-US" altLang="zh-CN" sz="32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ADC </a:t>
            </a:r>
            <a:r>
              <a:rPr lang="en-US" altLang="zh-CN" sz="3200" b="1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reg,imm/reg/mem</a:t>
            </a:r>
            <a:endParaRPr lang="en-US" altLang="zh-CN" sz="32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defTabSz="914400">
              <a:lnSpc>
                <a:spcPct val="50000"/>
              </a:lnSpc>
              <a:spcBef>
                <a:spcPct val="50000"/>
              </a:spcBef>
              <a:tabLst>
                <a:tab pos="1520825" algn="l"/>
              </a:tabLst>
            </a:pPr>
            <a:r>
              <a:rPr lang="en-US" altLang="zh-CN" sz="28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sz="2800" b="1" err="1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reg←reg</a:t>
            </a:r>
            <a:r>
              <a:rPr lang="zh-CN" altLang="en-US" sz="28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800" b="1" err="1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imm/reg/mem</a:t>
            </a:r>
            <a:r>
              <a:rPr lang="zh-CN" altLang="en-US" sz="28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800" b="1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CF</a:t>
            </a:r>
            <a:endParaRPr lang="en-US" altLang="zh-CN" sz="2800" b="1">
              <a:solidFill>
                <a:srgbClr val="0099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defTabSz="914400">
              <a:spcBef>
                <a:spcPct val="30000"/>
              </a:spcBef>
              <a:tabLst>
                <a:tab pos="1520825" algn="l"/>
              </a:tabLst>
            </a:pPr>
            <a:r>
              <a:rPr lang="en-US" altLang="zh-CN" sz="32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ADC </a:t>
            </a:r>
            <a:r>
              <a:rPr lang="en-US" altLang="zh-CN" sz="3200" b="1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mem,imm/reg</a:t>
            </a:r>
            <a:endParaRPr lang="en-US" altLang="zh-CN" sz="32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defTabSz="914400">
              <a:lnSpc>
                <a:spcPct val="50000"/>
              </a:lnSpc>
              <a:spcBef>
                <a:spcPct val="50000"/>
              </a:spcBef>
              <a:tabLst>
                <a:tab pos="1520825" algn="l"/>
              </a:tabLst>
            </a:pPr>
            <a:r>
              <a:rPr lang="en-US" altLang="zh-CN" sz="28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sz="2800" b="1" err="1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mem←mem</a:t>
            </a:r>
            <a:r>
              <a:rPr lang="zh-CN" altLang="en-US" sz="28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800" b="1" err="1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imm/reg</a:t>
            </a:r>
            <a:r>
              <a:rPr lang="zh-CN" altLang="en-US" sz="28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800" b="1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CF</a:t>
            </a:r>
            <a:endParaRPr lang="en-US" altLang="zh-CN" sz="2800" b="1">
              <a:solidFill>
                <a:srgbClr val="0099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21" name="文本框 9220">
            <a:hlinkClick r:id="rId1" action="ppaction://hlinksldjump"/>
          </p:cNvPr>
          <p:cNvSpPr txBox="1"/>
          <p:nvPr/>
        </p:nvSpPr>
        <p:spPr>
          <a:xfrm>
            <a:off x="6781800" y="6172200"/>
            <a:ext cx="1200785" cy="39878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t" anchorCtr="0">
            <a:spAutoFit/>
          </a:bodyPr>
          <a:p>
            <a:r>
              <a:rPr lang="zh-CN" altLang="en-US" sz="2000" b="1" dirty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例题</a:t>
            </a:r>
            <a:r>
              <a:rPr lang="en-US" altLang="zh-CN" sz="2000" b="1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2.1b</a:t>
            </a:r>
            <a:endParaRPr lang="en-US" altLang="zh-CN" sz="2000" b="1">
              <a:solidFill>
                <a:srgbClr val="66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8" name="标题 10247"/>
          <p:cNvSpPr>
            <a:spLocks noGrp="1"/>
          </p:cNvSpPr>
          <p:nvPr>
            <p:ph type="title"/>
          </p:nvPr>
        </p:nvSpPr>
        <p:spPr>
          <a:xfrm>
            <a:off x="1371600" y="685800"/>
            <a:ext cx="4267200" cy="517525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sz="3000" dirty="0"/>
              <a:t>例</a:t>
            </a:r>
            <a:r>
              <a:rPr lang="en-US" altLang="zh-CN" sz="3000"/>
              <a:t>2.1b</a:t>
            </a:r>
            <a:r>
              <a:rPr lang="zh-CN" altLang="en-US" sz="3000" dirty="0"/>
              <a:t>：双字加法</a:t>
            </a:r>
            <a:endParaRPr lang="zh-CN" altLang="en-US" sz="3000" dirty="0"/>
          </a:p>
        </p:txBody>
      </p:sp>
      <p:sp>
        <p:nvSpPr>
          <p:cNvPr id="10249" name="文本占位符 10248"/>
          <p:cNvSpPr>
            <a:spLocks noGrp="1"/>
          </p:cNvSpPr>
          <p:nvPr>
            <p:ph type="body" idx="1"/>
          </p:nvPr>
        </p:nvSpPr>
        <p:spPr>
          <a:xfrm>
            <a:off x="749300" y="2041525"/>
            <a:ext cx="7175500" cy="4054475"/>
          </a:xfrm>
          <a:solidFill>
            <a:schemeClr val="bg1"/>
          </a:solidFill>
        </p:spPr>
        <p:txBody>
          <a:bodyPr/>
          <a:p>
            <a:pPr marL="0" indent="390525" defTabSz="914400">
              <a:buNone/>
              <a:tabLst>
                <a:tab pos="2005330" algn="l"/>
                <a:tab pos="3710305" algn="l"/>
              </a:tabLst>
            </a:pPr>
            <a:r>
              <a:rPr lang="en-US" altLang="zh-CN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</a:rPr>
              <a:t> ax,4652h	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ax=4652h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2005330" algn="l"/>
                <a:tab pos="3710305" algn="l"/>
              </a:tabLst>
            </a:pPr>
            <a:r>
              <a:rPr lang="en-US" altLang="zh-CN" b="1">
                <a:solidFill>
                  <a:srgbClr val="009900"/>
                </a:solidFill>
                <a:latin typeface="宋体" panose="02010600030101010101" pitchFamily="2" charset="-122"/>
              </a:rPr>
              <a:t>add ax,0f0f0h</a:t>
            </a: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ax=3742h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CF=1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2005330" algn="l"/>
                <a:tab pos="3710305" algn="l"/>
              </a:tabLst>
            </a:pPr>
            <a:r>
              <a:rPr lang="en-US" altLang="zh-CN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</a:rPr>
              <a:t> dx,0234h	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dx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=0234h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2005330" algn="l"/>
                <a:tab pos="3710305" algn="l"/>
              </a:tabLst>
            </a:pPr>
            <a:r>
              <a:rPr lang="en-US" altLang="zh-CN" b="1" err="1">
                <a:solidFill>
                  <a:srgbClr val="009900"/>
                </a:solidFill>
                <a:latin typeface="宋体" panose="02010600030101010101" pitchFamily="2" charset="-122"/>
              </a:rPr>
              <a:t>adc</a:t>
            </a:r>
            <a:r>
              <a:rPr lang="en-US" altLang="zh-CN" b="1">
                <a:solidFill>
                  <a:srgbClr val="009900"/>
                </a:solidFill>
                <a:latin typeface="宋体" panose="02010600030101010101" pitchFamily="2" charset="-122"/>
              </a:rPr>
              <a:t> dx,0f0f0h</a:t>
            </a: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dx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=f325h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CF=0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2005330" algn="l"/>
                <a:tab pos="3710305" algn="l"/>
              </a:tabLst>
            </a:pPr>
            <a:r>
              <a:rPr lang="en-US" altLang="zh-CN" sz="2600" dirty="0">
                <a:solidFill>
                  <a:srgbClr val="0000FF"/>
                </a:solidFill>
                <a:latin typeface="宋体" panose="02010600030101010101" pitchFamily="2" charset="-122"/>
              </a:rPr>
              <a:t>                    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DX.AX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0234 4652H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2005330" algn="l"/>
                <a:tab pos="3710305" algn="l"/>
              </a:tabLst>
            </a:pP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	                 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＋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F0F0 F0F0H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2005330" algn="l"/>
                <a:tab pos="3710305" algn="l"/>
              </a:tabLst>
            </a:pP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	                 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F325 3742H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10251" name="椭圆 10250" descr="DI-43"/>
          <p:cNvSpPr/>
          <p:nvPr/>
        </p:nvSpPr>
        <p:spPr>
          <a:xfrm>
            <a:off x="76200" y="152400"/>
            <a:ext cx="914400" cy="914400"/>
          </a:xfrm>
          <a:prstGeom prst="ellipse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 b="1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ADC</a:t>
            </a:r>
            <a:endParaRPr lang="en-US" altLang="zh-CN" sz="2400" b="1">
              <a:solidFill>
                <a:schemeClr val="bg2"/>
              </a:solidFill>
              <a:effectLst>
                <a:outerShdw blurRad="38100" dist="38100" dir="2700000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 advClick="0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11265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增量指令</a:t>
            </a:r>
            <a:r>
              <a:rPr lang="en-US" altLang="zh-CN"/>
              <a:t>INC</a:t>
            </a:r>
            <a:r>
              <a:rPr lang="zh-CN" altLang="en-US" sz="3000" b="0" dirty="0">
                <a:solidFill>
                  <a:schemeClr val="tx1"/>
                </a:solidFill>
              </a:rPr>
              <a:t>（</a:t>
            </a:r>
            <a:r>
              <a:rPr lang="en-US" altLang="zh-CN" sz="3000" b="0">
                <a:solidFill>
                  <a:schemeClr val="tx1"/>
                </a:solidFill>
              </a:rPr>
              <a:t>increment</a:t>
            </a:r>
            <a:r>
              <a:rPr lang="zh-CN" altLang="en-US" sz="3000" b="0" dirty="0">
                <a:solidFill>
                  <a:schemeClr val="tx1"/>
                </a:solidFill>
              </a:rPr>
              <a:t>）</a:t>
            </a:r>
            <a:endParaRPr lang="zh-CN" altLang="en-US" sz="3000" b="0" dirty="0">
              <a:solidFill>
                <a:schemeClr val="tx1"/>
              </a:solidFill>
            </a:endParaRPr>
          </a:p>
        </p:txBody>
      </p:sp>
      <p:sp>
        <p:nvSpPr>
          <p:cNvPr id="11267" name="文本占位符 11266"/>
          <p:cNvSpPr>
            <a:spLocks noGrp="1"/>
          </p:cNvSpPr>
          <p:nvPr>
            <p:ph type="body" idx="1"/>
          </p:nvPr>
        </p:nvSpPr>
        <p:spPr>
          <a:xfrm>
            <a:off x="457200" y="1719263"/>
            <a:ext cx="7543800" cy="1778000"/>
          </a:xfrm>
        </p:spPr>
        <p:txBody>
          <a:bodyPr/>
          <a:p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INC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指令对操作数加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（增量）</a:t>
            </a: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INC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指令不影响进位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CF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标志，按定义设置其他状态标志</a:t>
            </a: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268" name="流程图: 可选过程 11267"/>
          <p:cNvSpPr/>
          <p:nvPr/>
        </p:nvSpPr>
        <p:spPr>
          <a:xfrm>
            <a:off x="762000" y="3581400"/>
            <a:ext cx="4873625" cy="1219200"/>
          </a:xfrm>
          <a:prstGeom prst="flowChartAlternateProcess">
            <a:avLst/>
          </a:prstGeom>
          <a:gradFill rotWithShape="0">
            <a:gsLst>
              <a:gs pos="0">
                <a:srgbClr val="66FF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/>
          <a:p>
            <a:pPr defTabSz="914400">
              <a:spcBef>
                <a:spcPct val="30000"/>
              </a:spcBef>
              <a:tabLst>
                <a:tab pos="2289175" algn="l"/>
              </a:tabLst>
            </a:pPr>
            <a:r>
              <a:rPr lang="en-US" altLang="zh-CN" sz="32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INC </a:t>
            </a:r>
            <a:r>
              <a:rPr lang="en-US" altLang="zh-CN" sz="3200" b="1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reg/mem</a:t>
            </a:r>
            <a:endParaRPr lang="en-US" altLang="zh-CN" sz="32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defTabSz="914400">
              <a:lnSpc>
                <a:spcPct val="60000"/>
              </a:lnSpc>
              <a:spcBef>
                <a:spcPct val="50000"/>
              </a:spcBef>
              <a:tabLst>
                <a:tab pos="2289175" algn="l"/>
              </a:tabLst>
            </a:pPr>
            <a:r>
              <a:rPr lang="zh-CN" altLang="en-US" sz="28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sz="2800" b="1" err="1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reg/mem←reg/mem</a:t>
            </a:r>
            <a:r>
              <a:rPr lang="zh-CN" altLang="en-US" sz="28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800" b="1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sz="2800" b="1">
              <a:solidFill>
                <a:srgbClr val="0099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269" name="矩形 11268"/>
          <p:cNvSpPr/>
          <p:nvPr/>
        </p:nvSpPr>
        <p:spPr>
          <a:xfrm>
            <a:off x="914400" y="4953000"/>
            <a:ext cx="3962400" cy="1219200"/>
          </a:xfrm>
          <a:prstGeom prst="rect">
            <a:avLst/>
          </a:prstGeom>
          <a:solidFill>
            <a:schemeClr val="bg1"/>
          </a:solidFill>
          <a:ln w="190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2075" tIns="46038" rIns="92075" bIns="46038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92150" lvl="1" indent="-34734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87425" lvl="2" indent="-29337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81430" lvl="3" indent="-2921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98930" lvl="4" indent="-31623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100330" defTabSz="914400">
              <a:lnSpc>
                <a:spcPct val="90000"/>
              </a:lnSpc>
              <a:buNone/>
              <a:tabLst>
                <a:tab pos="2472055" algn="l"/>
              </a:tabLst>
            </a:pP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inc 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bx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lvl="0" indent="100330" defTabSz="914400">
              <a:lnSpc>
                <a:spcPct val="90000"/>
              </a:lnSpc>
              <a:buNone/>
              <a:tabLst>
                <a:tab pos="2472055" algn="l"/>
              </a:tabLst>
            </a:pP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inc byte 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ptr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[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bx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]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标题 12289"/>
          <p:cNvSpPr>
            <a:spLocks noGrp="1"/>
          </p:cNvSpPr>
          <p:nvPr>
            <p:ph type="title"/>
          </p:nvPr>
        </p:nvSpPr>
        <p:spPr>
          <a:xfrm>
            <a:off x="381000" y="197485"/>
            <a:ext cx="7543800" cy="1428115"/>
          </a:xfrm>
        </p:spPr>
        <p:txBody>
          <a:bodyPr anchor="b" anchorCtr="0"/>
          <a:p>
            <a:br>
              <a:rPr lang="zh-CN" altLang="en-US" dirty="0"/>
            </a:br>
            <a:br>
              <a:rPr lang="zh-CN" altLang="en-US" dirty="0"/>
            </a:br>
            <a:r>
              <a:rPr lang="en-US" altLang="zh-CN" dirty="0"/>
              <a:t>2.2 </a:t>
            </a:r>
            <a:r>
              <a:rPr lang="zh-CN" altLang="en-US" dirty="0"/>
              <a:t>减法类指令</a:t>
            </a:r>
            <a:br>
              <a:rPr lang="en-US" altLang="zh-CN" dirty="0"/>
            </a:br>
            <a:r>
              <a:rPr lang="zh-CN" altLang="en-US" dirty="0"/>
              <a:t>减法指令</a:t>
            </a:r>
            <a:r>
              <a:rPr lang="en-US" altLang="zh-CN"/>
              <a:t>SUB</a:t>
            </a:r>
            <a:r>
              <a:rPr lang="zh-CN" altLang="en-US" sz="3000" b="0" dirty="0">
                <a:solidFill>
                  <a:schemeClr val="tx1"/>
                </a:solidFill>
              </a:rPr>
              <a:t>（</a:t>
            </a:r>
            <a:r>
              <a:rPr lang="en-US" altLang="zh-CN" sz="3000" b="0">
                <a:solidFill>
                  <a:schemeClr val="tx1"/>
                </a:solidFill>
              </a:rPr>
              <a:t>subtract</a:t>
            </a:r>
            <a:r>
              <a:rPr lang="zh-CN" altLang="en-US" sz="3000" b="0" dirty="0">
                <a:solidFill>
                  <a:schemeClr val="tx1"/>
                </a:solidFill>
              </a:rPr>
              <a:t>）</a:t>
            </a:r>
            <a:endParaRPr lang="zh-CN" altLang="en-US" sz="3000" b="0" dirty="0">
              <a:solidFill>
                <a:schemeClr val="tx1"/>
              </a:solidFill>
            </a:endParaRPr>
          </a:p>
        </p:txBody>
      </p:sp>
      <p:sp>
        <p:nvSpPr>
          <p:cNvPr id="12291" name="文本占位符 12290"/>
          <p:cNvSpPr>
            <a:spLocks noGrp="1"/>
          </p:cNvSpPr>
          <p:nvPr>
            <p:ph type="body" idx="1"/>
          </p:nvPr>
        </p:nvSpPr>
        <p:spPr>
          <a:xfrm>
            <a:off x="533400" y="1676400"/>
            <a:ext cx="7467600" cy="1778000"/>
          </a:xfrm>
        </p:spPr>
        <p:txBody>
          <a:bodyPr/>
          <a:p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SUB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指令将目的操作数减去源操作数，结果送到目的操作数</a:t>
            </a: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SUB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指令按照定义相应设置状态标志</a:t>
            </a: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292" name="流程图: 可选过程 12291"/>
          <p:cNvSpPr/>
          <p:nvPr/>
        </p:nvSpPr>
        <p:spPr>
          <a:xfrm>
            <a:off x="685800" y="3505200"/>
            <a:ext cx="7162800" cy="2286000"/>
          </a:xfrm>
          <a:prstGeom prst="flowChartAlternateProcess">
            <a:avLst/>
          </a:prstGeom>
          <a:gradFill rotWithShape="0">
            <a:gsLst>
              <a:gs pos="0">
                <a:srgbClr val="66FF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/>
          <a:p>
            <a:pPr defTabSz="914400">
              <a:spcBef>
                <a:spcPct val="30000"/>
              </a:spcBef>
              <a:tabLst>
                <a:tab pos="2289175" algn="l"/>
              </a:tabLst>
            </a:pPr>
            <a:r>
              <a:rPr lang="en-US" altLang="zh-CN" sz="32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SUB </a:t>
            </a:r>
            <a:r>
              <a:rPr lang="en-US" altLang="zh-CN" sz="3200" b="1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reg,imm/reg/mem</a:t>
            </a:r>
            <a:endParaRPr lang="en-US" altLang="zh-CN" sz="32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defTabSz="914400">
              <a:lnSpc>
                <a:spcPct val="50000"/>
              </a:lnSpc>
              <a:spcBef>
                <a:spcPct val="50000"/>
              </a:spcBef>
              <a:tabLst>
                <a:tab pos="2289175" algn="l"/>
              </a:tabLst>
            </a:pPr>
            <a:r>
              <a:rPr lang="en-US" altLang="zh-CN" sz="28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sz="2800" b="1" err="1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reg←reg</a:t>
            </a:r>
            <a:r>
              <a:rPr lang="zh-CN" altLang="en-US" sz="28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800" b="1" err="1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imm/reg/mem</a:t>
            </a:r>
            <a:endParaRPr lang="en-US" altLang="zh-CN" sz="2800" b="1">
              <a:solidFill>
                <a:srgbClr val="0099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defTabSz="914400">
              <a:spcBef>
                <a:spcPct val="30000"/>
              </a:spcBef>
              <a:tabLst>
                <a:tab pos="2289175" algn="l"/>
              </a:tabLst>
            </a:pPr>
            <a:r>
              <a:rPr lang="en-US" altLang="zh-CN" sz="32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SUB </a:t>
            </a:r>
            <a:r>
              <a:rPr lang="en-US" altLang="zh-CN" sz="3200" b="1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mem,imm/reg</a:t>
            </a:r>
            <a:endParaRPr lang="en-US" altLang="zh-CN" sz="32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defTabSz="914400">
              <a:lnSpc>
                <a:spcPct val="50000"/>
              </a:lnSpc>
              <a:spcBef>
                <a:spcPct val="50000"/>
              </a:spcBef>
              <a:tabLst>
                <a:tab pos="2289175" algn="l"/>
              </a:tabLst>
            </a:pPr>
            <a:r>
              <a:rPr lang="en-US" altLang="zh-CN" sz="28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sz="2800" b="1" err="1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mem←mem</a:t>
            </a:r>
            <a:r>
              <a:rPr lang="zh-CN" altLang="en-US" sz="28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800" b="1" err="1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imm/reg</a:t>
            </a:r>
            <a:endParaRPr lang="en-US" altLang="zh-CN" sz="2800" b="1">
              <a:solidFill>
                <a:srgbClr val="0099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293" name="文本框 12292">
            <a:hlinkClick r:id="rId1" action="ppaction://hlinksldjump"/>
          </p:cNvPr>
          <p:cNvSpPr txBox="1"/>
          <p:nvPr/>
        </p:nvSpPr>
        <p:spPr>
          <a:xfrm>
            <a:off x="6781800" y="6172200"/>
            <a:ext cx="1186815" cy="39878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t" anchorCtr="0">
            <a:spAutoFit/>
          </a:bodyPr>
          <a:p>
            <a:r>
              <a:rPr lang="zh-CN" altLang="en-US" sz="2000" b="1" dirty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例题</a:t>
            </a:r>
            <a:r>
              <a:rPr lang="en-US" altLang="zh-CN" sz="2000" b="1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2.2a</a:t>
            </a:r>
            <a:endParaRPr lang="en-US" altLang="zh-CN" sz="2000" b="1">
              <a:solidFill>
                <a:srgbClr val="66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20" name="标题 13319"/>
          <p:cNvSpPr>
            <a:spLocks noGrp="1"/>
          </p:cNvSpPr>
          <p:nvPr>
            <p:ph type="title"/>
          </p:nvPr>
        </p:nvSpPr>
        <p:spPr>
          <a:xfrm>
            <a:off x="1371600" y="762000"/>
            <a:ext cx="4343400" cy="593725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sz="3000" dirty="0"/>
              <a:t>例</a:t>
            </a:r>
            <a:r>
              <a:rPr lang="en-US" altLang="zh-CN" sz="3000"/>
              <a:t>2.2a</a:t>
            </a:r>
            <a:r>
              <a:rPr lang="zh-CN" altLang="en-US" sz="3000" dirty="0"/>
              <a:t>：减法运算</a:t>
            </a:r>
            <a:endParaRPr lang="zh-CN" altLang="en-US" sz="3000" dirty="0"/>
          </a:p>
        </p:txBody>
      </p:sp>
      <p:sp>
        <p:nvSpPr>
          <p:cNvPr id="13321" name="文本占位符 13320"/>
          <p:cNvSpPr>
            <a:spLocks noGrp="1"/>
          </p:cNvSpPr>
          <p:nvPr>
            <p:ph type="body" idx="1"/>
          </p:nvPr>
        </p:nvSpPr>
        <p:spPr>
          <a:xfrm>
            <a:off x="152400" y="2041525"/>
            <a:ext cx="8610600" cy="4206875"/>
          </a:xfrm>
          <a:solidFill>
            <a:schemeClr val="bg1"/>
          </a:solidFill>
        </p:spPr>
        <p:txBody>
          <a:bodyPr/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al,0fbh</a:t>
            </a:r>
            <a:r>
              <a:rPr lang="en-US" altLang="zh-CN" sz="2600">
                <a:solidFill>
                  <a:schemeClr val="accent2"/>
                </a:solidFill>
                <a:latin typeface="宋体" panose="02010600030101010101" pitchFamily="2" charset="-122"/>
              </a:rPr>
              <a:t>	         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al=0fbh</a:t>
            </a:r>
            <a:endParaRPr lang="en-US" altLang="zh-CN" sz="260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sub al,07h</a:t>
            </a:r>
            <a:r>
              <a:rPr lang="en-US" altLang="zh-CN" sz="2600">
                <a:latin typeface="宋体" panose="02010600030101010101" pitchFamily="2" charset="-122"/>
              </a:rPr>
              <a:t>	         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al=0f4h</a:t>
            </a:r>
            <a:r>
              <a:rPr lang="zh-CN" altLang="en-US" sz="2600" dirty="0">
                <a:latin typeface="宋体" panose="02010600030101010101" pitchFamily="2" charset="-122"/>
              </a:rPr>
              <a:t>，</a:t>
            </a:r>
            <a:r>
              <a:rPr lang="en-US" altLang="zh-CN" sz="2600">
                <a:latin typeface="宋体" panose="02010600030101010101" pitchFamily="2" charset="-122"/>
              </a:rPr>
              <a:t>CF</a:t>
            </a:r>
            <a:r>
              <a:rPr lang="zh-CN" altLang="en-US" sz="2600" dirty="0">
                <a:latin typeface="宋体" panose="02010600030101010101" pitchFamily="2" charset="-122"/>
              </a:rPr>
              <a:t>＝</a:t>
            </a:r>
            <a:r>
              <a:rPr lang="en-US" altLang="zh-CN" sz="2600">
                <a:latin typeface="宋体" panose="02010600030101010101" pitchFamily="2" charset="-122"/>
              </a:rPr>
              <a:t>0</a:t>
            </a:r>
            <a:endParaRPr lang="en-US" altLang="zh-CN" sz="260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word 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ptr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[200h],4652h  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[200h]=4652h</a:t>
            </a:r>
            <a:endParaRPr lang="en-US" altLang="zh-CN" sz="260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bx,1feh</a:t>
            </a:r>
            <a:r>
              <a:rPr lang="en-US" altLang="zh-CN" sz="2600">
                <a:latin typeface="宋体" panose="02010600030101010101" pitchFamily="2" charset="-122"/>
              </a:rPr>
              <a:t>	         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 err="1">
                <a:latin typeface="宋体" panose="02010600030101010101" pitchFamily="2" charset="-122"/>
              </a:rPr>
              <a:t>bx</a:t>
            </a:r>
            <a:r>
              <a:rPr lang="en-US" altLang="zh-CN" sz="2600">
                <a:latin typeface="宋体" panose="02010600030101010101" pitchFamily="2" charset="-122"/>
              </a:rPr>
              <a:t>=1feh</a:t>
            </a:r>
            <a:endParaRPr lang="en-US" altLang="zh-CN" sz="260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sub </a:t>
            </a:r>
            <a:r>
              <a:rPr lang="en-US" altLang="zh-CN" sz="2600" b="1" err="1">
                <a:solidFill>
                  <a:srgbClr val="0000FF"/>
                </a:solidFill>
                <a:latin typeface="宋体" panose="02010600030101010101" pitchFamily="2" charset="-122"/>
              </a:rPr>
              <a:t>al,bl</a:t>
            </a:r>
            <a:r>
              <a:rPr lang="en-US" altLang="zh-CN" sz="2600">
                <a:solidFill>
                  <a:schemeClr val="accent2"/>
                </a:solidFill>
                <a:latin typeface="宋体" panose="02010600030101010101" pitchFamily="2" charset="-122"/>
              </a:rPr>
              <a:t>	         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al=0f6h</a:t>
            </a:r>
            <a:endParaRPr lang="en-US" altLang="zh-CN" sz="260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sub word </a:t>
            </a:r>
            <a:r>
              <a:rPr lang="en-US" altLang="zh-CN" sz="2600" b="1" err="1">
                <a:solidFill>
                  <a:srgbClr val="0000FF"/>
                </a:solidFill>
                <a:latin typeface="宋体" panose="02010600030101010101" pitchFamily="2" charset="-122"/>
              </a:rPr>
              <a:t>ptr</a:t>
            </a: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 [bx+2],0f0f0h 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[200h]=5562h</a:t>
            </a:r>
            <a:r>
              <a:rPr lang="zh-CN" altLang="en-US" sz="2600" dirty="0">
                <a:latin typeface="宋体" panose="02010600030101010101" pitchFamily="2" charset="-122"/>
              </a:rPr>
              <a:t>，</a:t>
            </a:r>
            <a:r>
              <a:rPr lang="en-US" altLang="zh-CN" sz="2600">
                <a:latin typeface="宋体" panose="02010600030101010101" pitchFamily="2" charset="-122"/>
              </a:rPr>
              <a:t>CF</a:t>
            </a:r>
            <a:r>
              <a:rPr lang="zh-CN" altLang="en-US" sz="2600" dirty="0">
                <a:latin typeface="宋体" panose="02010600030101010101" pitchFamily="2" charset="-122"/>
              </a:rPr>
              <a:t>＝</a:t>
            </a:r>
            <a:r>
              <a:rPr lang="en-US" altLang="zh-CN" sz="2600">
                <a:latin typeface="宋体" panose="02010600030101010101" pitchFamily="2" charset="-122"/>
              </a:rPr>
              <a:t>1</a:t>
            </a:r>
            <a:endParaRPr lang="en-US" altLang="zh-CN" sz="2600">
              <a:latin typeface="宋体" panose="02010600030101010101" pitchFamily="2" charset="-122"/>
            </a:endParaRPr>
          </a:p>
        </p:txBody>
      </p:sp>
      <p:sp>
        <p:nvSpPr>
          <p:cNvPr id="13323" name="椭圆 13322" descr="DI-43"/>
          <p:cNvSpPr/>
          <p:nvPr/>
        </p:nvSpPr>
        <p:spPr>
          <a:xfrm>
            <a:off x="76200" y="152400"/>
            <a:ext cx="914400" cy="914400"/>
          </a:xfrm>
          <a:prstGeom prst="ellipse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 b="1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SUB</a:t>
            </a:r>
            <a:endParaRPr lang="en-US" altLang="zh-CN" sz="2400" b="1">
              <a:solidFill>
                <a:schemeClr val="bg2"/>
              </a:solidFill>
              <a:effectLst>
                <a:outerShdw blurRad="38100" dist="38100" dir="2700000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 advClick="0"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4337"/>
          <p:cNvSpPr>
            <a:spLocks noGrp="1"/>
          </p:cNvSpPr>
          <p:nvPr>
            <p:ph type="title"/>
          </p:nvPr>
        </p:nvSpPr>
        <p:spPr>
          <a:xfrm>
            <a:off x="228600" y="122238"/>
            <a:ext cx="7772400" cy="1295400"/>
          </a:xfrm>
        </p:spPr>
        <p:txBody>
          <a:bodyPr anchor="b" anchorCtr="0"/>
          <a:p>
            <a:r>
              <a:rPr lang="zh-CN" altLang="en-US" dirty="0"/>
              <a:t>带借位减法指令</a:t>
            </a:r>
            <a:r>
              <a:rPr lang="en-US" altLang="zh-CN"/>
              <a:t>SBB</a:t>
            </a:r>
            <a:r>
              <a:rPr lang="zh-CN" altLang="en-US" sz="2000" dirty="0"/>
              <a:t>（ </a:t>
            </a:r>
            <a:r>
              <a:rPr lang="en-US" altLang="zh-CN" sz="2000"/>
              <a:t>subtract</a:t>
            </a:r>
            <a:r>
              <a:rPr lang="en-US" altLang="zh-CN" sz="2000" dirty="0"/>
              <a:t> </a:t>
            </a:r>
            <a:r>
              <a:rPr lang="en-US" altLang="zh-CN" sz="2000"/>
              <a:t>with Borrow </a:t>
            </a:r>
            <a:r>
              <a:rPr lang="zh-CN" altLang="en-US" sz="2000" dirty="0"/>
              <a:t>）</a:t>
            </a:r>
            <a:endParaRPr lang="zh-CN" altLang="en-US" sz="2000" dirty="0"/>
          </a:p>
        </p:txBody>
      </p:sp>
      <p:sp>
        <p:nvSpPr>
          <p:cNvPr id="14339" name="文本占位符 14338"/>
          <p:cNvSpPr>
            <a:spLocks noGrp="1"/>
          </p:cNvSpPr>
          <p:nvPr>
            <p:ph type="body" idx="1"/>
          </p:nvPr>
        </p:nvSpPr>
        <p:spPr>
          <a:xfrm>
            <a:off x="304800" y="1600200"/>
            <a:ext cx="8153400" cy="2286000"/>
          </a:xfrm>
        </p:spPr>
        <p:txBody>
          <a:bodyPr/>
          <a:p>
            <a:r>
              <a:rPr lang="en-US" altLang="zh-CN" sz="29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SBB</a:t>
            </a:r>
            <a:r>
              <a:rPr lang="zh-CN" altLang="en-US" sz="29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指令将目的操作数减去源操作数，再减去借位</a:t>
            </a:r>
            <a:r>
              <a:rPr lang="en-US" altLang="zh-CN" sz="29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CF</a:t>
            </a:r>
            <a:r>
              <a:rPr lang="zh-CN" altLang="en-US" sz="29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（进位），结果送到目的操作数。</a:t>
            </a:r>
            <a:endParaRPr lang="zh-CN" altLang="en-US" sz="29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9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SBB</a:t>
            </a:r>
            <a:r>
              <a:rPr lang="zh-CN" altLang="en-US" sz="29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指令按照定义相应设置状态标志</a:t>
            </a:r>
            <a:endParaRPr lang="zh-CN" altLang="en-US" sz="29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9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SBB</a:t>
            </a:r>
            <a:r>
              <a:rPr lang="zh-CN" altLang="en-US" sz="29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指令主要与</a:t>
            </a:r>
            <a:r>
              <a:rPr lang="en-US" altLang="zh-CN" sz="29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SUB</a:t>
            </a:r>
            <a:r>
              <a:rPr lang="zh-CN" altLang="en-US" sz="29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配合，实现多精度减法运算</a:t>
            </a:r>
            <a:endParaRPr lang="zh-CN" altLang="en-US" sz="29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340" name="流程图: 可选过程 14339"/>
          <p:cNvSpPr/>
          <p:nvPr/>
        </p:nvSpPr>
        <p:spPr>
          <a:xfrm>
            <a:off x="457200" y="3810000"/>
            <a:ext cx="7162800" cy="2286000"/>
          </a:xfrm>
          <a:prstGeom prst="flowChartAlternateProcess">
            <a:avLst/>
          </a:prstGeom>
          <a:gradFill rotWithShape="0">
            <a:gsLst>
              <a:gs pos="0">
                <a:srgbClr val="66FF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/>
          <a:p>
            <a:pPr defTabSz="914400">
              <a:spcBef>
                <a:spcPct val="30000"/>
              </a:spcBef>
              <a:tabLst>
                <a:tab pos="1520825" algn="l"/>
              </a:tabLst>
            </a:pPr>
            <a:r>
              <a:rPr lang="en-US" altLang="zh-CN" sz="32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SBB </a:t>
            </a:r>
            <a:r>
              <a:rPr lang="en-US" altLang="zh-CN" sz="3200" b="1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reg,imm/reg/mem</a:t>
            </a:r>
            <a:endParaRPr lang="en-US" altLang="zh-CN" sz="32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defTabSz="914400">
              <a:lnSpc>
                <a:spcPct val="50000"/>
              </a:lnSpc>
              <a:spcBef>
                <a:spcPct val="50000"/>
              </a:spcBef>
              <a:tabLst>
                <a:tab pos="1520825" algn="l"/>
              </a:tabLst>
            </a:pPr>
            <a:r>
              <a:rPr lang="en-US" altLang="zh-CN" sz="28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sz="2800" b="1" err="1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reg←reg</a:t>
            </a:r>
            <a:r>
              <a:rPr lang="zh-CN" altLang="en-US" sz="28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800" b="1" err="1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imm/reg/mem</a:t>
            </a:r>
            <a:r>
              <a:rPr lang="zh-CN" altLang="en-US" sz="28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800" b="1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CF</a:t>
            </a:r>
            <a:endParaRPr lang="en-US" altLang="zh-CN" sz="2800" b="1">
              <a:solidFill>
                <a:srgbClr val="0099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defTabSz="914400">
              <a:spcBef>
                <a:spcPct val="30000"/>
              </a:spcBef>
              <a:tabLst>
                <a:tab pos="1520825" algn="l"/>
              </a:tabLst>
            </a:pPr>
            <a:r>
              <a:rPr lang="en-US" altLang="zh-CN" sz="32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SBB </a:t>
            </a:r>
            <a:r>
              <a:rPr lang="en-US" altLang="zh-CN" sz="3200" b="1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mem,imm/reg</a:t>
            </a:r>
            <a:endParaRPr lang="en-US" altLang="zh-CN" sz="32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defTabSz="914400">
              <a:lnSpc>
                <a:spcPct val="50000"/>
              </a:lnSpc>
              <a:spcBef>
                <a:spcPct val="50000"/>
              </a:spcBef>
              <a:tabLst>
                <a:tab pos="1520825" algn="l"/>
              </a:tabLst>
            </a:pPr>
            <a:r>
              <a:rPr lang="en-US" altLang="zh-CN" sz="28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sz="2800" b="1" err="1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mem←mem</a:t>
            </a:r>
            <a:r>
              <a:rPr lang="zh-CN" altLang="en-US" sz="28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800" b="1" err="1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imm/reg</a:t>
            </a:r>
            <a:r>
              <a:rPr lang="zh-CN" altLang="en-US" sz="28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800" b="1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CF</a:t>
            </a:r>
            <a:endParaRPr lang="en-US" altLang="zh-CN" sz="2800" b="1">
              <a:solidFill>
                <a:srgbClr val="0099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341" name="文本框 14340">
            <a:hlinkClick r:id="rId1" action="ppaction://hlinksldjump"/>
          </p:cNvPr>
          <p:cNvSpPr txBox="1"/>
          <p:nvPr/>
        </p:nvSpPr>
        <p:spPr>
          <a:xfrm>
            <a:off x="6934200" y="6096000"/>
            <a:ext cx="1200785" cy="39878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t" anchorCtr="0">
            <a:spAutoFit/>
          </a:bodyPr>
          <a:p>
            <a:r>
              <a:rPr lang="zh-CN" altLang="en-US" sz="2000" b="1" dirty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例题</a:t>
            </a:r>
            <a:r>
              <a:rPr lang="en-US" altLang="zh-CN" sz="2000" b="1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2.2b</a:t>
            </a:r>
            <a:endParaRPr lang="en-US" altLang="zh-CN" sz="2000" b="1">
              <a:solidFill>
                <a:srgbClr val="66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8" name="标题 15367"/>
          <p:cNvSpPr>
            <a:spLocks noGrp="1"/>
          </p:cNvSpPr>
          <p:nvPr>
            <p:ph type="title"/>
          </p:nvPr>
        </p:nvSpPr>
        <p:spPr>
          <a:xfrm>
            <a:off x="1219200" y="838200"/>
            <a:ext cx="4114800" cy="669925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sz="3000" dirty="0"/>
              <a:t>例</a:t>
            </a:r>
            <a:r>
              <a:rPr lang="en-US" altLang="zh-CN" sz="3000"/>
              <a:t>2.2b</a:t>
            </a:r>
            <a:r>
              <a:rPr lang="zh-CN" altLang="en-US" sz="3000" dirty="0"/>
              <a:t>：双字减法</a:t>
            </a:r>
            <a:endParaRPr lang="zh-CN" altLang="en-US" sz="3000" dirty="0"/>
          </a:p>
        </p:txBody>
      </p:sp>
      <p:sp>
        <p:nvSpPr>
          <p:cNvPr id="15369" name="文本占位符 15368"/>
          <p:cNvSpPr>
            <a:spLocks noGrp="1"/>
          </p:cNvSpPr>
          <p:nvPr>
            <p:ph type="body" idx="1"/>
          </p:nvPr>
        </p:nvSpPr>
        <p:spPr>
          <a:xfrm>
            <a:off x="749300" y="2041525"/>
            <a:ext cx="7648575" cy="3797300"/>
          </a:xfrm>
          <a:solidFill>
            <a:schemeClr val="bg1"/>
          </a:solidFill>
        </p:spPr>
        <p:txBody>
          <a:bodyPr/>
          <a:p>
            <a:pPr marL="0" indent="390525" defTabSz="914400">
              <a:buNone/>
              <a:tabLst>
                <a:tab pos="2005330" algn="l"/>
                <a:tab pos="3710305" algn="l"/>
              </a:tabLst>
            </a:pPr>
            <a:r>
              <a:rPr lang="en-US" altLang="zh-CN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</a:rPr>
              <a:t> ax,4652h	</a:t>
            </a: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ax=4652h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2005330" algn="l"/>
                <a:tab pos="3710305" algn="l"/>
              </a:tabLst>
            </a:pPr>
            <a:r>
              <a:rPr lang="en-US" altLang="zh-CN" b="1">
                <a:solidFill>
                  <a:srgbClr val="009900"/>
                </a:solidFill>
                <a:latin typeface="宋体" panose="02010600030101010101" pitchFamily="2" charset="-122"/>
              </a:rPr>
              <a:t>sub ax,0f0f0h</a:t>
            </a: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ax=5562h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CF=1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2005330" algn="l"/>
                <a:tab pos="3710305" algn="l"/>
              </a:tabLst>
            </a:pPr>
            <a:r>
              <a:rPr lang="en-US" altLang="zh-CN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</a:rPr>
              <a:t> dx,0234h	</a:t>
            </a: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dx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=0234h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2005330" algn="l"/>
                <a:tab pos="3710305" algn="l"/>
              </a:tabLst>
            </a:pPr>
            <a:r>
              <a:rPr lang="en-US" altLang="zh-CN" b="1" err="1">
                <a:solidFill>
                  <a:srgbClr val="009900"/>
                </a:solidFill>
                <a:latin typeface="宋体" panose="02010600030101010101" pitchFamily="2" charset="-122"/>
              </a:rPr>
              <a:t>sbb</a:t>
            </a:r>
            <a:r>
              <a:rPr lang="en-US" altLang="zh-CN" b="1">
                <a:solidFill>
                  <a:srgbClr val="009900"/>
                </a:solidFill>
                <a:latin typeface="宋体" panose="02010600030101010101" pitchFamily="2" charset="-122"/>
              </a:rPr>
              <a:t> dx,0f0f0h</a:t>
            </a: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dx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=1143h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CF=1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2005330" algn="l"/>
                <a:tab pos="371030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宋体" panose="02010600030101010101" pitchFamily="2" charset="-122"/>
              </a:rPr>
              <a:t>                  </a:t>
            </a: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</a:rPr>
              <a:t>； 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DX.AX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0234 4652H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2005330" algn="l"/>
                <a:tab pos="3710305" algn="l"/>
              </a:tabLst>
            </a:pP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	                   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－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F0F0 F0F0H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2005330" algn="l"/>
                <a:tab pos="3710305" algn="l"/>
              </a:tabLst>
            </a:pP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	                   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1143 5562H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15371" name="椭圆 15370" descr="DI-43"/>
          <p:cNvSpPr/>
          <p:nvPr/>
        </p:nvSpPr>
        <p:spPr>
          <a:xfrm>
            <a:off x="76200" y="152400"/>
            <a:ext cx="914400" cy="914400"/>
          </a:xfrm>
          <a:prstGeom prst="ellipse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 b="1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SBB</a:t>
            </a:r>
            <a:endParaRPr lang="en-US" altLang="zh-CN" sz="2400" b="1">
              <a:solidFill>
                <a:schemeClr val="bg2"/>
              </a:solidFill>
              <a:effectLst>
                <a:outerShdw blurRad="38100" dist="38100" dir="2700000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 advClick="0"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6385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减量指令</a:t>
            </a:r>
            <a:r>
              <a:rPr lang="en-US" altLang="zh-CN"/>
              <a:t>DEC</a:t>
            </a:r>
            <a:r>
              <a:rPr lang="zh-CN" altLang="en-US" sz="3000" b="0" dirty="0">
                <a:solidFill>
                  <a:schemeClr val="tx1"/>
                </a:solidFill>
              </a:rPr>
              <a:t>（</a:t>
            </a:r>
            <a:r>
              <a:rPr lang="en-US" altLang="zh-CN" sz="3000" b="0">
                <a:solidFill>
                  <a:schemeClr val="tx1"/>
                </a:solidFill>
              </a:rPr>
              <a:t>decrement</a:t>
            </a:r>
            <a:r>
              <a:rPr lang="zh-CN" altLang="en-US" sz="3000" b="0" dirty="0">
                <a:solidFill>
                  <a:schemeClr val="tx1"/>
                </a:solidFill>
              </a:rPr>
              <a:t>）</a:t>
            </a:r>
            <a:endParaRPr lang="zh-CN" altLang="en-US" sz="3000" b="0" dirty="0">
              <a:solidFill>
                <a:schemeClr val="tx1"/>
              </a:solidFill>
            </a:endParaRPr>
          </a:p>
        </p:txBody>
      </p:sp>
      <p:sp>
        <p:nvSpPr>
          <p:cNvPr id="16387" name="文本占位符 16386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229600" cy="1778000"/>
          </a:xfrm>
        </p:spPr>
        <p:txBody>
          <a:bodyPr/>
          <a:p>
            <a:r>
              <a:rPr lang="en-US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DEC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指令对操作数减</a:t>
            </a:r>
            <a:r>
              <a:rPr lang="en-US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（减量）</a:t>
            </a:r>
            <a:endParaRPr lang="zh-CN" altLang="en-US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DEC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指令不影响进位</a:t>
            </a:r>
            <a:r>
              <a:rPr lang="en-US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CF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标志，按定义设置其他状态标志</a:t>
            </a:r>
            <a:endParaRPr lang="zh-CN" altLang="en-US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388" name="流程图: 可选过程 16387"/>
          <p:cNvSpPr/>
          <p:nvPr/>
        </p:nvSpPr>
        <p:spPr>
          <a:xfrm>
            <a:off x="762000" y="3352800"/>
            <a:ext cx="5449888" cy="1219200"/>
          </a:xfrm>
          <a:prstGeom prst="flowChartAlternateProcess">
            <a:avLst/>
          </a:prstGeom>
          <a:gradFill rotWithShape="0">
            <a:gsLst>
              <a:gs pos="0">
                <a:srgbClr val="66FF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/>
          <a:p>
            <a:pPr defTabSz="914400">
              <a:spcBef>
                <a:spcPct val="30000"/>
              </a:spcBef>
              <a:tabLst>
                <a:tab pos="2289175" algn="l"/>
              </a:tabLst>
            </a:pPr>
            <a:r>
              <a:rPr lang="en-US" altLang="zh-CN" sz="32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DEC </a:t>
            </a:r>
            <a:r>
              <a:rPr lang="en-US" altLang="zh-CN" sz="3200" b="1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reg/mem</a:t>
            </a:r>
            <a:endParaRPr lang="en-US" altLang="zh-CN" sz="32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defTabSz="914400">
              <a:lnSpc>
                <a:spcPct val="60000"/>
              </a:lnSpc>
              <a:spcBef>
                <a:spcPct val="50000"/>
              </a:spcBef>
              <a:tabLst>
                <a:tab pos="2289175" algn="l"/>
              </a:tabLst>
            </a:pPr>
            <a:r>
              <a:rPr lang="zh-CN" altLang="en-US" sz="28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sz="2800" b="1" err="1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reg/mem←reg/mem</a:t>
            </a:r>
            <a:r>
              <a:rPr lang="zh-CN" altLang="en-US" sz="28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800" b="1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sz="2800" b="1">
              <a:solidFill>
                <a:srgbClr val="0099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389" name="矩形 16388"/>
          <p:cNvSpPr/>
          <p:nvPr/>
        </p:nvSpPr>
        <p:spPr>
          <a:xfrm>
            <a:off x="4419600" y="4953000"/>
            <a:ext cx="3962400" cy="1219200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2075" tIns="46038" rIns="92075" bIns="46038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92150" lvl="1" indent="-34734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87425" lvl="2" indent="-29337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81430" lvl="3" indent="-2921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98930" lvl="4" indent="-31623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100330" defTabSz="914400">
              <a:lnSpc>
                <a:spcPct val="90000"/>
              </a:lnSpc>
              <a:buNone/>
              <a:tabLst>
                <a:tab pos="2472055" algn="l"/>
              </a:tabLst>
            </a:pPr>
            <a:r>
              <a:rPr lang="en-US" altLang="zh-CN" sz="2600" err="1">
                <a:solidFill>
                  <a:schemeClr val="accent2"/>
                </a:solidFill>
                <a:latin typeface="宋体" panose="02010600030101010101" pitchFamily="2" charset="-122"/>
              </a:rPr>
              <a:t>dec</a:t>
            </a:r>
            <a:r>
              <a:rPr lang="en-US" altLang="zh-CN" sz="260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600" err="1">
                <a:solidFill>
                  <a:schemeClr val="accent2"/>
                </a:solidFill>
                <a:latin typeface="宋体" panose="02010600030101010101" pitchFamily="2" charset="-122"/>
              </a:rPr>
              <a:t>cx</a:t>
            </a:r>
            <a:endParaRPr lang="en-US" altLang="zh-CN" sz="260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lvl="0" indent="100330" defTabSz="914400">
              <a:lnSpc>
                <a:spcPct val="90000"/>
              </a:lnSpc>
              <a:buNone/>
              <a:tabLst>
                <a:tab pos="2472055" algn="l"/>
              </a:tabLst>
            </a:pPr>
            <a:r>
              <a:rPr lang="en-US" altLang="zh-CN" sz="2600" err="1">
                <a:solidFill>
                  <a:schemeClr val="accent2"/>
                </a:solidFill>
                <a:latin typeface="宋体" panose="02010600030101010101" pitchFamily="2" charset="-122"/>
              </a:rPr>
              <a:t>dec</a:t>
            </a:r>
            <a:r>
              <a:rPr lang="en-US" altLang="zh-CN" sz="2600">
                <a:solidFill>
                  <a:schemeClr val="accent2"/>
                </a:solidFill>
                <a:latin typeface="宋体" panose="02010600030101010101" pitchFamily="2" charset="-122"/>
              </a:rPr>
              <a:t> word </a:t>
            </a:r>
            <a:r>
              <a:rPr lang="en-US" altLang="zh-CN" sz="2600" err="1">
                <a:solidFill>
                  <a:schemeClr val="accent2"/>
                </a:solidFill>
                <a:latin typeface="宋体" panose="02010600030101010101" pitchFamily="2" charset="-122"/>
              </a:rPr>
              <a:t>ptr</a:t>
            </a:r>
            <a:r>
              <a:rPr lang="en-US" altLang="zh-CN" sz="2600">
                <a:solidFill>
                  <a:schemeClr val="accent2"/>
                </a:solidFill>
                <a:latin typeface="宋体" panose="02010600030101010101" pitchFamily="2" charset="-122"/>
              </a:rPr>
              <a:t> [</a:t>
            </a:r>
            <a:r>
              <a:rPr lang="en-US" altLang="zh-CN" sz="2600" err="1">
                <a:solidFill>
                  <a:schemeClr val="accent2"/>
                </a:solidFill>
                <a:latin typeface="宋体" panose="02010600030101010101" pitchFamily="2" charset="-122"/>
              </a:rPr>
              <a:t>si</a:t>
            </a:r>
            <a:r>
              <a:rPr lang="en-US" altLang="zh-CN" sz="2600">
                <a:solidFill>
                  <a:schemeClr val="accent2"/>
                </a:solidFill>
                <a:latin typeface="宋体" panose="02010600030101010101" pitchFamily="2" charset="-122"/>
              </a:rPr>
              <a:t>]</a:t>
            </a:r>
            <a:endParaRPr lang="en-US" altLang="zh-CN" sz="260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6390" name="圆角矩形 16389" descr="画布"/>
          <p:cNvSpPr/>
          <p:nvPr/>
        </p:nvSpPr>
        <p:spPr>
          <a:xfrm>
            <a:off x="762000" y="4876800"/>
            <a:ext cx="7696200" cy="1371600"/>
          </a:xfrm>
          <a:prstGeom prst="roundRect">
            <a:avLst>
              <a:gd name="adj" fmla="val 16667"/>
            </a:avLst>
          </a:prstGeom>
          <a:blipFill rotWithShape="0">
            <a:blip r:embed="rId1"/>
          </a:blipFill>
          <a:ln w="9525">
            <a:noFill/>
          </a:ln>
        </p:spPr>
        <p:txBody>
          <a:bodyPr anchor="ctr" anchorCtr="0"/>
          <a:p>
            <a:pPr algn="just">
              <a:buBlip>
                <a:blip r:embed="rId2"/>
              </a:buBlip>
            </a:pPr>
            <a:r>
              <a:rPr lang="en-US" altLang="zh-CN" sz="32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INC</a:t>
            </a:r>
            <a:r>
              <a:rPr lang="zh-CN" altLang="en-US" sz="3200" b="1" dirty="0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指令和</a:t>
            </a:r>
            <a:r>
              <a:rPr lang="en-US" altLang="zh-CN" sz="3200" b="1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DEC</a:t>
            </a:r>
            <a:r>
              <a:rPr lang="zh-CN" altLang="en-US" sz="3200" b="1" dirty="0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指令都是单操作数指令</a:t>
            </a:r>
            <a:endParaRPr lang="zh-CN" altLang="en-US" sz="3200" b="1" dirty="0">
              <a:solidFill>
                <a:srgbClr val="0099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>
              <a:buBlip>
                <a:blip r:embed="rId2"/>
              </a:buBlip>
            </a:pPr>
            <a:r>
              <a:rPr lang="zh-CN" altLang="en-US" sz="3200" b="1" dirty="0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主要用于对计数器和地址指针的调整</a:t>
            </a:r>
            <a:endParaRPr lang="zh-CN" altLang="en-US" sz="3200" b="1" dirty="0">
              <a:solidFill>
                <a:srgbClr val="0099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7409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求补指令</a:t>
            </a:r>
            <a:r>
              <a:rPr lang="en-US" altLang="zh-CN"/>
              <a:t>NEG</a:t>
            </a:r>
            <a:r>
              <a:rPr lang="zh-CN" altLang="en-US" sz="3000" b="0" dirty="0">
                <a:solidFill>
                  <a:schemeClr val="tx1"/>
                </a:solidFill>
              </a:rPr>
              <a:t>（</a:t>
            </a:r>
            <a:r>
              <a:rPr lang="en-US" altLang="zh-CN" sz="3000" b="0">
                <a:solidFill>
                  <a:schemeClr val="tx1"/>
                </a:solidFill>
              </a:rPr>
              <a:t>negative</a:t>
            </a:r>
            <a:r>
              <a:rPr lang="zh-CN" altLang="en-US" sz="3000" b="0" dirty="0">
                <a:solidFill>
                  <a:schemeClr val="tx1"/>
                </a:solidFill>
              </a:rPr>
              <a:t>）</a:t>
            </a:r>
            <a:endParaRPr lang="zh-CN" altLang="en-US" sz="3000" b="0" dirty="0">
              <a:solidFill>
                <a:schemeClr val="tx1"/>
              </a:solidFill>
            </a:endParaRPr>
          </a:p>
        </p:txBody>
      </p:sp>
      <p:sp>
        <p:nvSpPr>
          <p:cNvPr id="17411" name="文本占位符 17410"/>
          <p:cNvSpPr>
            <a:spLocks noGrp="1"/>
          </p:cNvSpPr>
          <p:nvPr>
            <p:ph type="body" idx="1"/>
          </p:nvPr>
        </p:nvSpPr>
        <p:spPr>
          <a:xfrm>
            <a:off x="457200" y="1719263"/>
            <a:ext cx="7620000" cy="2705100"/>
          </a:xfrm>
        </p:spPr>
        <p:txBody>
          <a:bodyPr/>
          <a:p>
            <a:pPr>
              <a:lnSpc>
                <a:spcPct val="90000"/>
              </a:lnSpc>
            </a:pP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NEG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指令对操作数执行求补运算：用零减去操作数，然后结果返回操作数</a:t>
            </a: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求补运算也可以表达成：将操作数按位取反后加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endParaRPr lang="en-US" altLang="zh-CN" b="1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NEG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指令对标志的影响与用零作减法的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SUB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指令一样</a:t>
            </a: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412" name="流程图: 可选过程 17411"/>
          <p:cNvSpPr/>
          <p:nvPr/>
        </p:nvSpPr>
        <p:spPr>
          <a:xfrm>
            <a:off x="990600" y="4724400"/>
            <a:ext cx="4937125" cy="1233488"/>
          </a:xfrm>
          <a:prstGeom prst="flowChartAlternateProcess">
            <a:avLst/>
          </a:prstGeom>
          <a:gradFill rotWithShape="0">
            <a:gsLst>
              <a:gs pos="0">
                <a:srgbClr val="66FF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/>
          <a:p>
            <a:pPr defTabSz="914400">
              <a:spcBef>
                <a:spcPct val="30000"/>
              </a:spcBef>
              <a:tabLst>
                <a:tab pos="2289175" algn="l"/>
              </a:tabLst>
            </a:pPr>
            <a:r>
              <a:rPr lang="en-US" altLang="zh-CN" sz="32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NEG </a:t>
            </a:r>
            <a:r>
              <a:rPr lang="en-US" altLang="zh-CN" sz="3200" b="1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reg/mem</a:t>
            </a:r>
            <a:endParaRPr lang="en-US" altLang="zh-CN" sz="32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defTabSz="914400">
              <a:lnSpc>
                <a:spcPct val="60000"/>
              </a:lnSpc>
              <a:spcBef>
                <a:spcPct val="50000"/>
              </a:spcBef>
              <a:tabLst>
                <a:tab pos="2289175" algn="l"/>
              </a:tabLst>
            </a:pPr>
            <a:r>
              <a:rPr lang="zh-CN" altLang="en-US" sz="28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sz="2800" b="1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reg/mem←0</a:t>
            </a:r>
            <a:r>
              <a:rPr lang="zh-CN" altLang="en-US" sz="28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800" b="1" err="1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reg/mem</a:t>
            </a:r>
            <a:endParaRPr lang="en-US" altLang="zh-CN" sz="2800" b="1">
              <a:solidFill>
                <a:srgbClr val="0099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413" name="文本框 17412">
            <a:hlinkClick r:id="rId1" action="ppaction://hlinksldjump"/>
          </p:cNvPr>
          <p:cNvSpPr txBox="1"/>
          <p:nvPr/>
        </p:nvSpPr>
        <p:spPr>
          <a:xfrm>
            <a:off x="6629400" y="4953000"/>
            <a:ext cx="1045845" cy="39878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t" anchorCtr="0">
            <a:spAutoFit/>
          </a:bodyPr>
          <a:p>
            <a:r>
              <a:rPr lang="zh-CN" altLang="en-US" sz="2000" b="1" dirty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例题</a:t>
            </a:r>
            <a:r>
              <a:rPr lang="en-US" altLang="zh-CN" sz="2000" b="1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2.3</a:t>
            </a:r>
            <a:endParaRPr lang="en-US" altLang="zh-CN" sz="2000" b="1">
              <a:solidFill>
                <a:srgbClr val="66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40" name="标题 18439"/>
          <p:cNvSpPr>
            <a:spLocks noGrp="1"/>
          </p:cNvSpPr>
          <p:nvPr>
            <p:ph type="title"/>
          </p:nvPr>
        </p:nvSpPr>
        <p:spPr>
          <a:xfrm>
            <a:off x="1524000" y="685800"/>
            <a:ext cx="3422650" cy="517525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sz="3000" dirty="0"/>
              <a:t>例</a:t>
            </a:r>
            <a:r>
              <a:rPr lang="en-US" altLang="zh-CN" sz="3000"/>
              <a:t>2.3</a:t>
            </a:r>
            <a:r>
              <a:rPr lang="zh-CN" altLang="en-US" sz="3000" dirty="0"/>
              <a:t>：求补运算</a:t>
            </a:r>
            <a:endParaRPr lang="zh-CN" altLang="en-US" sz="3000" dirty="0"/>
          </a:p>
        </p:txBody>
      </p:sp>
      <p:sp>
        <p:nvSpPr>
          <p:cNvPr id="18441" name="文本占位符 18440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7924800" cy="4267200"/>
          </a:xfrm>
          <a:solidFill>
            <a:schemeClr val="bg1"/>
          </a:solidFill>
        </p:spPr>
        <p:txBody>
          <a:bodyPr/>
          <a:p>
            <a:pPr marL="0" indent="184150" defTabSz="914400">
              <a:lnSpc>
                <a:spcPct val="70000"/>
              </a:lnSpc>
              <a:buNone/>
              <a:tabLst>
                <a:tab pos="3342005" algn="l"/>
              </a:tabLst>
            </a:pPr>
            <a:r>
              <a:rPr lang="en-US" altLang="zh-CN" b="1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</a:rPr>
              <a:t> ax,0ff64h</a:t>
            </a:r>
            <a:endParaRPr lang="en-US" altLang="zh-CN" b="1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184150" defTabSz="914400">
              <a:lnSpc>
                <a:spcPct val="70000"/>
              </a:lnSpc>
              <a:buNone/>
              <a:tabLst>
                <a:tab pos="3342005" algn="l"/>
              </a:tabLst>
            </a:pPr>
            <a:r>
              <a:rPr lang="en-US" altLang="zh-CN" b="1" err="1">
                <a:solidFill>
                  <a:schemeClr val="tx2"/>
                </a:solidFill>
                <a:latin typeface="宋体" panose="02010600030101010101" pitchFamily="2" charset="-122"/>
              </a:rPr>
              <a:t>neg</a:t>
            </a:r>
            <a:r>
              <a:rPr lang="en-US" altLang="zh-CN" b="1">
                <a:solidFill>
                  <a:schemeClr val="tx2"/>
                </a:solidFill>
                <a:latin typeface="宋体" panose="02010600030101010101" pitchFamily="2" charset="-122"/>
              </a:rPr>
              <a:t> al     </a:t>
            </a:r>
            <a:r>
              <a:rPr lang="zh-CN" altLang="en-US" sz="2100" dirty="0">
                <a:latin typeface="宋体" panose="02010600030101010101" pitchFamily="2" charset="-122"/>
              </a:rPr>
              <a:t>；</a:t>
            </a:r>
            <a:r>
              <a:rPr lang="en-US" altLang="zh-CN" sz="2100">
                <a:latin typeface="宋体" panose="02010600030101010101" pitchFamily="2" charset="-122"/>
              </a:rPr>
              <a:t>ax=ff9ch</a:t>
            </a:r>
            <a:r>
              <a:rPr lang="zh-CN" altLang="en-US" sz="2100" dirty="0">
                <a:latin typeface="宋体" panose="02010600030101010101" pitchFamily="2" charset="-122"/>
              </a:rPr>
              <a:t>，</a:t>
            </a:r>
            <a:r>
              <a:rPr lang="en-US" altLang="zh-CN" sz="2100">
                <a:latin typeface="宋体" panose="02010600030101010101" pitchFamily="2" charset="-122"/>
              </a:rPr>
              <a:t>OF=0</a:t>
            </a:r>
            <a:r>
              <a:rPr lang="zh-CN" altLang="en-US" sz="2100" dirty="0">
                <a:latin typeface="宋体" panose="02010600030101010101" pitchFamily="2" charset="-122"/>
              </a:rPr>
              <a:t>、</a:t>
            </a:r>
            <a:r>
              <a:rPr lang="en-US" altLang="zh-CN" sz="2100">
                <a:latin typeface="宋体" panose="02010600030101010101" pitchFamily="2" charset="-122"/>
              </a:rPr>
              <a:t>SF=1</a:t>
            </a:r>
            <a:r>
              <a:rPr lang="zh-CN" altLang="en-US" sz="2100" dirty="0">
                <a:latin typeface="宋体" panose="02010600030101010101" pitchFamily="2" charset="-122"/>
              </a:rPr>
              <a:t>、</a:t>
            </a:r>
            <a:r>
              <a:rPr lang="en-US" altLang="zh-CN" sz="2100">
                <a:latin typeface="宋体" panose="02010600030101010101" pitchFamily="2" charset="-122"/>
              </a:rPr>
              <a:t>ZF=0</a:t>
            </a:r>
            <a:r>
              <a:rPr lang="zh-CN" altLang="en-US" sz="2100" dirty="0">
                <a:latin typeface="宋体" panose="02010600030101010101" pitchFamily="2" charset="-122"/>
              </a:rPr>
              <a:t>、</a:t>
            </a:r>
            <a:r>
              <a:rPr lang="en-US" altLang="zh-CN" sz="2100">
                <a:latin typeface="宋体" panose="02010600030101010101" pitchFamily="2" charset="-122"/>
              </a:rPr>
              <a:t>PF=1</a:t>
            </a:r>
            <a:r>
              <a:rPr lang="zh-CN" altLang="en-US" sz="2100" dirty="0">
                <a:latin typeface="宋体" panose="02010600030101010101" pitchFamily="2" charset="-122"/>
              </a:rPr>
              <a:t>、</a:t>
            </a:r>
            <a:r>
              <a:rPr lang="en-US" altLang="zh-CN" sz="2100">
                <a:latin typeface="宋体" panose="02010600030101010101" pitchFamily="2" charset="-122"/>
              </a:rPr>
              <a:t>CF=1</a:t>
            </a:r>
            <a:endParaRPr lang="en-US" altLang="zh-CN" sz="2100">
              <a:latin typeface="宋体" panose="02010600030101010101" pitchFamily="2" charset="-122"/>
            </a:endParaRPr>
          </a:p>
          <a:p>
            <a:pPr marL="0" indent="184150" defTabSz="914400">
              <a:lnSpc>
                <a:spcPct val="70000"/>
              </a:lnSpc>
              <a:buNone/>
              <a:tabLst>
                <a:tab pos="3342005" algn="l"/>
              </a:tabLst>
            </a:pP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sub al,9dh   </a:t>
            </a:r>
            <a:r>
              <a:rPr lang="zh-CN" altLang="en-US" sz="2100" dirty="0">
                <a:latin typeface="宋体" panose="02010600030101010101" pitchFamily="2" charset="-122"/>
              </a:rPr>
              <a:t>；</a:t>
            </a:r>
            <a:r>
              <a:rPr lang="en-US" altLang="zh-CN" sz="2100">
                <a:latin typeface="宋体" panose="02010600030101010101" pitchFamily="2" charset="-122"/>
              </a:rPr>
              <a:t>ax=</a:t>
            </a:r>
            <a:r>
              <a:rPr lang="en-US" altLang="zh-CN" sz="2100" err="1">
                <a:latin typeface="宋体" panose="02010600030101010101" pitchFamily="2" charset="-122"/>
              </a:rPr>
              <a:t>ffffh</a:t>
            </a:r>
            <a:r>
              <a:rPr lang="zh-CN" altLang="en-US" sz="2100" dirty="0">
                <a:latin typeface="宋体" panose="02010600030101010101" pitchFamily="2" charset="-122"/>
              </a:rPr>
              <a:t>，</a:t>
            </a:r>
            <a:r>
              <a:rPr lang="en-US" altLang="zh-CN" sz="2100">
                <a:latin typeface="宋体" panose="02010600030101010101" pitchFamily="2" charset="-122"/>
              </a:rPr>
              <a:t>OF=0</a:t>
            </a:r>
            <a:r>
              <a:rPr lang="zh-CN" altLang="en-US" sz="2100" dirty="0">
                <a:latin typeface="宋体" panose="02010600030101010101" pitchFamily="2" charset="-122"/>
              </a:rPr>
              <a:t>、</a:t>
            </a:r>
            <a:r>
              <a:rPr lang="en-US" altLang="zh-CN" sz="2100">
                <a:latin typeface="宋体" panose="02010600030101010101" pitchFamily="2" charset="-122"/>
              </a:rPr>
              <a:t>SF=1</a:t>
            </a:r>
            <a:r>
              <a:rPr lang="zh-CN" altLang="en-US" sz="2100" dirty="0">
                <a:latin typeface="宋体" panose="02010600030101010101" pitchFamily="2" charset="-122"/>
              </a:rPr>
              <a:t>、</a:t>
            </a:r>
            <a:r>
              <a:rPr lang="en-US" altLang="zh-CN" sz="2100">
                <a:latin typeface="宋体" panose="02010600030101010101" pitchFamily="2" charset="-122"/>
              </a:rPr>
              <a:t>ZF=0</a:t>
            </a:r>
            <a:r>
              <a:rPr lang="zh-CN" altLang="en-US" sz="2100" dirty="0">
                <a:latin typeface="宋体" panose="02010600030101010101" pitchFamily="2" charset="-122"/>
              </a:rPr>
              <a:t>、</a:t>
            </a:r>
            <a:r>
              <a:rPr lang="en-US" altLang="zh-CN" sz="2100">
                <a:latin typeface="宋体" panose="02010600030101010101" pitchFamily="2" charset="-122"/>
              </a:rPr>
              <a:t>PF=1</a:t>
            </a:r>
            <a:r>
              <a:rPr lang="zh-CN" altLang="en-US" sz="2100" dirty="0">
                <a:latin typeface="宋体" panose="02010600030101010101" pitchFamily="2" charset="-122"/>
              </a:rPr>
              <a:t>、</a:t>
            </a:r>
            <a:r>
              <a:rPr lang="en-US" altLang="zh-CN" sz="2100">
                <a:latin typeface="宋体" panose="02010600030101010101" pitchFamily="2" charset="-122"/>
              </a:rPr>
              <a:t>CF=1</a:t>
            </a:r>
            <a:endParaRPr lang="en-US" altLang="zh-CN" sz="2100">
              <a:latin typeface="宋体" panose="02010600030101010101" pitchFamily="2" charset="-122"/>
            </a:endParaRPr>
          </a:p>
          <a:p>
            <a:pPr marL="0" indent="184150" defTabSz="914400">
              <a:lnSpc>
                <a:spcPct val="70000"/>
              </a:lnSpc>
              <a:buNone/>
              <a:tabLst>
                <a:tab pos="3342005" algn="l"/>
              </a:tabLst>
            </a:pPr>
            <a:r>
              <a:rPr lang="en-US" altLang="zh-CN" sz="2600" b="1" err="1">
                <a:solidFill>
                  <a:schemeClr val="tx2"/>
                </a:solidFill>
                <a:latin typeface="宋体" panose="02010600030101010101" pitchFamily="2" charset="-122"/>
              </a:rPr>
              <a:t>neg</a:t>
            </a:r>
            <a:r>
              <a:rPr lang="en-US" altLang="zh-CN" sz="2600" b="1">
                <a:solidFill>
                  <a:schemeClr val="tx2"/>
                </a:solidFill>
                <a:latin typeface="宋体" panose="02010600030101010101" pitchFamily="2" charset="-122"/>
              </a:rPr>
              <a:t> ax       </a:t>
            </a:r>
            <a:r>
              <a:rPr lang="zh-CN" altLang="en-US" sz="2100" dirty="0">
                <a:latin typeface="宋体" panose="02010600030101010101" pitchFamily="2" charset="-122"/>
              </a:rPr>
              <a:t>；</a:t>
            </a:r>
            <a:r>
              <a:rPr lang="en-US" altLang="zh-CN" sz="2100">
                <a:latin typeface="宋体" panose="02010600030101010101" pitchFamily="2" charset="-122"/>
              </a:rPr>
              <a:t>ax=0001h</a:t>
            </a:r>
            <a:r>
              <a:rPr lang="zh-CN" altLang="en-US" sz="2100" dirty="0">
                <a:latin typeface="宋体" panose="02010600030101010101" pitchFamily="2" charset="-122"/>
              </a:rPr>
              <a:t>，</a:t>
            </a:r>
            <a:r>
              <a:rPr lang="en-US" altLang="zh-CN" sz="2100">
                <a:latin typeface="宋体" panose="02010600030101010101" pitchFamily="2" charset="-122"/>
              </a:rPr>
              <a:t>OF=0</a:t>
            </a:r>
            <a:r>
              <a:rPr lang="zh-CN" altLang="en-US" sz="2100" dirty="0">
                <a:latin typeface="宋体" panose="02010600030101010101" pitchFamily="2" charset="-122"/>
              </a:rPr>
              <a:t>、</a:t>
            </a:r>
            <a:r>
              <a:rPr lang="en-US" altLang="zh-CN" sz="2100">
                <a:latin typeface="宋体" panose="02010600030101010101" pitchFamily="2" charset="-122"/>
              </a:rPr>
              <a:t>SF=0</a:t>
            </a:r>
            <a:r>
              <a:rPr lang="zh-CN" altLang="en-US" sz="2100" dirty="0">
                <a:latin typeface="宋体" panose="02010600030101010101" pitchFamily="2" charset="-122"/>
              </a:rPr>
              <a:t>、</a:t>
            </a:r>
            <a:r>
              <a:rPr lang="en-US" altLang="zh-CN" sz="2100">
                <a:latin typeface="宋体" panose="02010600030101010101" pitchFamily="2" charset="-122"/>
              </a:rPr>
              <a:t>ZF=0</a:t>
            </a:r>
            <a:r>
              <a:rPr lang="zh-CN" altLang="en-US" sz="2100" dirty="0">
                <a:latin typeface="宋体" panose="02010600030101010101" pitchFamily="2" charset="-122"/>
              </a:rPr>
              <a:t>、</a:t>
            </a:r>
            <a:r>
              <a:rPr lang="en-US" altLang="zh-CN" sz="2100">
                <a:latin typeface="宋体" panose="02010600030101010101" pitchFamily="2" charset="-122"/>
              </a:rPr>
              <a:t>PF=0</a:t>
            </a:r>
            <a:r>
              <a:rPr lang="zh-CN" altLang="en-US" sz="2100" dirty="0">
                <a:latin typeface="宋体" panose="02010600030101010101" pitchFamily="2" charset="-122"/>
              </a:rPr>
              <a:t>、</a:t>
            </a:r>
            <a:r>
              <a:rPr lang="en-US" altLang="zh-CN" sz="2100">
                <a:latin typeface="宋体" panose="02010600030101010101" pitchFamily="2" charset="-122"/>
              </a:rPr>
              <a:t>CF=1</a:t>
            </a:r>
            <a:endParaRPr lang="en-US" altLang="zh-CN" sz="2100">
              <a:latin typeface="宋体" panose="02010600030101010101" pitchFamily="2" charset="-122"/>
            </a:endParaRPr>
          </a:p>
          <a:p>
            <a:pPr marL="0" indent="184150" defTabSz="914400">
              <a:lnSpc>
                <a:spcPct val="70000"/>
              </a:lnSpc>
              <a:buNone/>
              <a:tabLst>
                <a:tab pos="3342005" algn="l"/>
              </a:tabLst>
            </a:pPr>
            <a:r>
              <a:rPr lang="en-US" altLang="zh-CN" b="1" err="1">
                <a:solidFill>
                  <a:srgbClr val="0000FF"/>
                </a:solidFill>
                <a:latin typeface="宋体" panose="02010600030101010101" pitchFamily="2" charset="-122"/>
              </a:rPr>
              <a:t>dec</a:t>
            </a: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</a:rPr>
              <a:t> al     </a:t>
            </a:r>
            <a:r>
              <a:rPr lang="zh-CN" altLang="en-US" sz="2100" dirty="0">
                <a:latin typeface="宋体" panose="02010600030101010101" pitchFamily="2" charset="-122"/>
              </a:rPr>
              <a:t>；</a:t>
            </a:r>
            <a:r>
              <a:rPr lang="en-US" altLang="zh-CN" sz="2100">
                <a:latin typeface="宋体" panose="02010600030101010101" pitchFamily="2" charset="-122"/>
              </a:rPr>
              <a:t>ax=0000h</a:t>
            </a:r>
            <a:r>
              <a:rPr lang="zh-CN" altLang="en-US" sz="2100" dirty="0">
                <a:latin typeface="宋体" panose="02010600030101010101" pitchFamily="2" charset="-122"/>
              </a:rPr>
              <a:t>，</a:t>
            </a:r>
            <a:r>
              <a:rPr lang="en-US" altLang="zh-CN" sz="2100">
                <a:latin typeface="宋体" panose="02010600030101010101" pitchFamily="2" charset="-122"/>
              </a:rPr>
              <a:t>OF=0</a:t>
            </a:r>
            <a:r>
              <a:rPr lang="zh-CN" altLang="en-US" sz="2100" dirty="0">
                <a:latin typeface="宋体" panose="02010600030101010101" pitchFamily="2" charset="-122"/>
              </a:rPr>
              <a:t>、</a:t>
            </a:r>
            <a:r>
              <a:rPr lang="en-US" altLang="zh-CN" sz="2100">
                <a:latin typeface="宋体" panose="02010600030101010101" pitchFamily="2" charset="-122"/>
              </a:rPr>
              <a:t>SF=0</a:t>
            </a:r>
            <a:r>
              <a:rPr lang="zh-CN" altLang="en-US" sz="2100" dirty="0">
                <a:latin typeface="宋体" panose="02010600030101010101" pitchFamily="2" charset="-122"/>
              </a:rPr>
              <a:t>、</a:t>
            </a:r>
            <a:r>
              <a:rPr lang="en-US" altLang="zh-CN" sz="2100">
                <a:latin typeface="宋体" panose="02010600030101010101" pitchFamily="2" charset="-122"/>
              </a:rPr>
              <a:t>ZF=1</a:t>
            </a:r>
            <a:r>
              <a:rPr lang="zh-CN" altLang="en-US" sz="2100" dirty="0">
                <a:latin typeface="宋体" panose="02010600030101010101" pitchFamily="2" charset="-122"/>
              </a:rPr>
              <a:t>、</a:t>
            </a:r>
            <a:r>
              <a:rPr lang="en-US" altLang="zh-CN" sz="2100">
                <a:latin typeface="宋体" panose="02010600030101010101" pitchFamily="2" charset="-122"/>
              </a:rPr>
              <a:t>PF=1</a:t>
            </a:r>
            <a:r>
              <a:rPr lang="zh-CN" altLang="en-US" sz="2100" dirty="0">
                <a:latin typeface="宋体" panose="02010600030101010101" pitchFamily="2" charset="-122"/>
              </a:rPr>
              <a:t>、</a:t>
            </a:r>
            <a:r>
              <a:rPr lang="en-US" altLang="zh-CN" sz="2100">
                <a:latin typeface="宋体" panose="02010600030101010101" pitchFamily="2" charset="-122"/>
              </a:rPr>
              <a:t>CF=1</a:t>
            </a:r>
            <a:endParaRPr lang="en-US" altLang="zh-CN" sz="2100">
              <a:latin typeface="宋体" panose="02010600030101010101" pitchFamily="2" charset="-122"/>
            </a:endParaRPr>
          </a:p>
          <a:p>
            <a:pPr marL="0" indent="184150" defTabSz="914400">
              <a:lnSpc>
                <a:spcPct val="70000"/>
              </a:lnSpc>
              <a:buNone/>
              <a:tabLst>
                <a:tab pos="3342005" algn="l"/>
              </a:tabLst>
            </a:pPr>
            <a:r>
              <a:rPr lang="en-US" altLang="zh-CN" b="1" err="1">
                <a:solidFill>
                  <a:schemeClr val="tx2"/>
                </a:solidFill>
                <a:latin typeface="宋体" panose="02010600030101010101" pitchFamily="2" charset="-122"/>
              </a:rPr>
              <a:t>neg</a:t>
            </a:r>
            <a:r>
              <a:rPr lang="en-US" altLang="zh-CN" b="1">
                <a:solidFill>
                  <a:schemeClr val="tx2"/>
                </a:solidFill>
                <a:latin typeface="宋体" panose="02010600030101010101" pitchFamily="2" charset="-122"/>
              </a:rPr>
              <a:t> ax     </a:t>
            </a:r>
            <a:r>
              <a:rPr lang="zh-CN" altLang="en-US" sz="2100" dirty="0">
                <a:latin typeface="宋体" panose="02010600030101010101" pitchFamily="2" charset="-122"/>
              </a:rPr>
              <a:t>；</a:t>
            </a:r>
            <a:r>
              <a:rPr lang="en-US" altLang="zh-CN" sz="2100">
                <a:latin typeface="宋体" panose="02010600030101010101" pitchFamily="2" charset="-122"/>
              </a:rPr>
              <a:t>ax=0000h</a:t>
            </a:r>
            <a:r>
              <a:rPr lang="zh-CN" altLang="en-US" sz="2100" dirty="0">
                <a:latin typeface="宋体" panose="02010600030101010101" pitchFamily="2" charset="-122"/>
              </a:rPr>
              <a:t>，</a:t>
            </a:r>
            <a:r>
              <a:rPr lang="en-US" altLang="zh-CN" sz="2100">
                <a:latin typeface="宋体" panose="02010600030101010101" pitchFamily="2" charset="-122"/>
              </a:rPr>
              <a:t>OF=0</a:t>
            </a:r>
            <a:r>
              <a:rPr lang="zh-CN" altLang="en-US" sz="2100" dirty="0">
                <a:latin typeface="宋体" panose="02010600030101010101" pitchFamily="2" charset="-122"/>
              </a:rPr>
              <a:t>、</a:t>
            </a:r>
            <a:r>
              <a:rPr lang="en-US" altLang="zh-CN" sz="2100">
                <a:latin typeface="宋体" panose="02010600030101010101" pitchFamily="2" charset="-122"/>
              </a:rPr>
              <a:t>SF=0</a:t>
            </a:r>
            <a:r>
              <a:rPr lang="zh-CN" altLang="en-US" sz="2100" dirty="0">
                <a:latin typeface="宋体" panose="02010600030101010101" pitchFamily="2" charset="-122"/>
              </a:rPr>
              <a:t>、</a:t>
            </a:r>
            <a:r>
              <a:rPr lang="en-US" altLang="zh-CN" sz="2100">
                <a:latin typeface="宋体" panose="02010600030101010101" pitchFamily="2" charset="-122"/>
              </a:rPr>
              <a:t>ZF=1</a:t>
            </a:r>
            <a:r>
              <a:rPr lang="zh-CN" altLang="en-US" sz="2100" dirty="0">
                <a:latin typeface="宋体" panose="02010600030101010101" pitchFamily="2" charset="-122"/>
              </a:rPr>
              <a:t>、</a:t>
            </a:r>
            <a:r>
              <a:rPr lang="en-US" altLang="zh-CN" sz="2100">
                <a:latin typeface="宋体" panose="02010600030101010101" pitchFamily="2" charset="-122"/>
              </a:rPr>
              <a:t>PF=1</a:t>
            </a:r>
            <a:r>
              <a:rPr lang="zh-CN" altLang="en-US" sz="2100" dirty="0">
                <a:latin typeface="宋体" panose="02010600030101010101" pitchFamily="2" charset="-122"/>
              </a:rPr>
              <a:t>、</a:t>
            </a:r>
            <a:r>
              <a:rPr lang="en-US" altLang="zh-CN" sz="2100">
                <a:latin typeface="宋体" panose="02010600030101010101" pitchFamily="2" charset="-122"/>
              </a:rPr>
              <a:t>CF=0</a:t>
            </a:r>
            <a:endParaRPr lang="en-US" altLang="zh-CN" sz="2100">
              <a:latin typeface="宋体" panose="02010600030101010101" pitchFamily="2" charset="-122"/>
            </a:endParaRPr>
          </a:p>
        </p:txBody>
      </p:sp>
      <p:sp>
        <p:nvSpPr>
          <p:cNvPr id="18443" name="椭圆 18442" descr="DI-43"/>
          <p:cNvSpPr/>
          <p:nvPr/>
        </p:nvSpPr>
        <p:spPr>
          <a:xfrm>
            <a:off x="76200" y="152400"/>
            <a:ext cx="914400" cy="914400"/>
          </a:xfrm>
          <a:prstGeom prst="ellipse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 b="1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NEG</a:t>
            </a:r>
            <a:endParaRPr lang="en-US" altLang="zh-CN" sz="2400" b="1">
              <a:solidFill>
                <a:schemeClr val="bg2"/>
              </a:solidFill>
              <a:effectLst>
                <a:outerShdw blurRad="38100" dist="38100" dir="2700000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 advClick="0"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标题 19457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比较指令</a:t>
            </a:r>
            <a:r>
              <a:rPr lang="en-US" altLang="zh-CN"/>
              <a:t>CMP</a:t>
            </a:r>
            <a:r>
              <a:rPr lang="zh-CN" altLang="en-US" sz="3000" b="0" dirty="0">
                <a:solidFill>
                  <a:schemeClr val="tx1"/>
                </a:solidFill>
              </a:rPr>
              <a:t>（</a:t>
            </a:r>
            <a:r>
              <a:rPr lang="en-US" altLang="zh-CN" sz="3000" b="0">
                <a:solidFill>
                  <a:schemeClr val="tx1"/>
                </a:solidFill>
              </a:rPr>
              <a:t>compare</a:t>
            </a:r>
            <a:r>
              <a:rPr lang="zh-CN" altLang="en-US" sz="3000" b="0" dirty="0">
                <a:solidFill>
                  <a:schemeClr val="tx1"/>
                </a:solidFill>
              </a:rPr>
              <a:t>）</a:t>
            </a:r>
            <a:endParaRPr lang="zh-CN" altLang="en-US" sz="3000" b="0" dirty="0">
              <a:solidFill>
                <a:schemeClr val="tx1"/>
              </a:solidFill>
            </a:endParaRPr>
          </a:p>
        </p:txBody>
      </p:sp>
      <p:sp>
        <p:nvSpPr>
          <p:cNvPr id="19459" name="文本占位符 19458"/>
          <p:cNvSpPr>
            <a:spLocks noGrp="1"/>
          </p:cNvSpPr>
          <p:nvPr>
            <p:ph type="body" idx="1"/>
          </p:nvPr>
        </p:nvSpPr>
        <p:spPr>
          <a:xfrm>
            <a:off x="457200" y="1719263"/>
            <a:ext cx="7543800" cy="2135187"/>
          </a:xfrm>
        </p:spPr>
        <p:txBody>
          <a:bodyPr/>
          <a:p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CMP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指令将目的操作数减去源操作数，按照定义相应设置状态标志</a:t>
            </a:r>
            <a:endParaRPr lang="zh-CN" altLang="en-US" sz="26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CMP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指令执行的功能与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SUB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指令，但结果不回送目的操作数</a:t>
            </a:r>
            <a:endParaRPr lang="zh-CN" altLang="en-US" sz="26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460" name="流程图: 可选过程 19459"/>
          <p:cNvSpPr/>
          <p:nvPr/>
        </p:nvSpPr>
        <p:spPr>
          <a:xfrm>
            <a:off x="990600" y="3581400"/>
            <a:ext cx="6248400" cy="2743200"/>
          </a:xfrm>
          <a:prstGeom prst="flowChartAlternateProcess">
            <a:avLst/>
          </a:prstGeom>
          <a:gradFill rotWithShape="0">
            <a:gsLst>
              <a:gs pos="0">
                <a:srgbClr val="66FF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/>
          <a:p>
            <a:pPr defTabSz="914400">
              <a:spcBef>
                <a:spcPct val="30000"/>
              </a:spcBef>
              <a:tabLst>
                <a:tab pos="2289175" algn="l"/>
              </a:tabLst>
            </a:pPr>
            <a:r>
              <a:rPr lang="en-US" altLang="zh-CN" sz="32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CMP </a:t>
            </a:r>
            <a:r>
              <a:rPr lang="en-US" altLang="zh-CN" sz="3200" b="1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reg,imm/reg/mem</a:t>
            </a:r>
            <a:endParaRPr lang="en-US" altLang="zh-CN" sz="32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defTabSz="914400">
              <a:lnSpc>
                <a:spcPct val="50000"/>
              </a:lnSpc>
              <a:spcBef>
                <a:spcPct val="50000"/>
              </a:spcBef>
              <a:tabLst>
                <a:tab pos="2289175" algn="l"/>
              </a:tabLst>
            </a:pPr>
            <a:r>
              <a:rPr lang="en-US" altLang="zh-CN" sz="28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sz="2800" b="1" err="1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reg</a:t>
            </a:r>
            <a:r>
              <a:rPr lang="zh-CN" altLang="en-US" sz="28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800" b="1" err="1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imm/reg/mem</a:t>
            </a:r>
            <a:endParaRPr lang="en-US" altLang="zh-CN" sz="2800" b="1">
              <a:solidFill>
                <a:srgbClr val="0099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defTabSz="914400">
              <a:spcBef>
                <a:spcPct val="30000"/>
              </a:spcBef>
              <a:tabLst>
                <a:tab pos="2289175" algn="l"/>
              </a:tabLst>
            </a:pPr>
            <a:r>
              <a:rPr lang="en-US" altLang="zh-CN" sz="32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CMP </a:t>
            </a:r>
            <a:r>
              <a:rPr lang="en-US" altLang="zh-CN" sz="3200" b="1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mem,imm/reg</a:t>
            </a:r>
            <a:endParaRPr lang="en-US" altLang="zh-CN" sz="3200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defTabSz="914400">
              <a:spcBef>
                <a:spcPct val="30000"/>
              </a:spcBef>
              <a:tabLst>
                <a:tab pos="2289175" algn="l"/>
              </a:tabLst>
            </a:pPr>
            <a:r>
              <a:rPr lang="en-US" altLang="zh-CN" sz="32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sz="2800" b="1" err="1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mem</a:t>
            </a:r>
            <a:r>
              <a:rPr lang="zh-CN" altLang="en-US" sz="28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800" b="1" err="1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imm/reg</a:t>
            </a:r>
            <a:endParaRPr lang="en-US" altLang="zh-CN" sz="2800" b="1">
              <a:solidFill>
                <a:srgbClr val="0099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461" name="文本框 19460">
            <a:hlinkClick r:id="rId1" action="ppaction://hlinksldjump"/>
          </p:cNvPr>
          <p:cNvSpPr txBox="1"/>
          <p:nvPr/>
        </p:nvSpPr>
        <p:spPr>
          <a:xfrm>
            <a:off x="7010400" y="6096000"/>
            <a:ext cx="1045845" cy="39878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t" anchorCtr="0">
            <a:spAutoFit/>
          </a:bodyPr>
          <a:p>
            <a:r>
              <a:rPr lang="zh-CN" altLang="en-US" sz="2000" b="1" dirty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例题</a:t>
            </a:r>
            <a:r>
              <a:rPr lang="en-US" altLang="zh-CN" sz="2000" b="1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2.4</a:t>
            </a:r>
            <a:endParaRPr lang="en-US" altLang="zh-CN" sz="2000" b="1">
              <a:solidFill>
                <a:srgbClr val="66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8" name="标题 20487"/>
          <p:cNvSpPr>
            <a:spLocks noGrp="1"/>
          </p:cNvSpPr>
          <p:nvPr>
            <p:ph type="title"/>
          </p:nvPr>
        </p:nvSpPr>
        <p:spPr>
          <a:xfrm>
            <a:off x="1447800" y="838200"/>
            <a:ext cx="4648200" cy="533400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sz="3000" dirty="0"/>
              <a:t>例</a:t>
            </a:r>
            <a:r>
              <a:rPr lang="en-US" altLang="zh-CN" sz="3000"/>
              <a:t>2.4</a:t>
            </a:r>
            <a:r>
              <a:rPr lang="zh-CN" altLang="en-US" sz="3000" dirty="0"/>
              <a:t>：比较</a:t>
            </a:r>
            <a:r>
              <a:rPr lang="en-US" altLang="zh-CN" sz="3000"/>
              <a:t>AL</a:t>
            </a:r>
            <a:r>
              <a:rPr lang="zh-CN" altLang="en-US" sz="3000" dirty="0"/>
              <a:t>与</a:t>
            </a:r>
            <a:r>
              <a:rPr lang="en-US" altLang="zh-CN" sz="3000"/>
              <a:t>100</a:t>
            </a:r>
            <a:endParaRPr lang="en-US" altLang="zh-CN" sz="3000"/>
          </a:p>
        </p:txBody>
      </p:sp>
      <p:sp>
        <p:nvSpPr>
          <p:cNvPr id="20489" name="文本占位符 20488"/>
          <p:cNvSpPr>
            <a:spLocks noGrp="1"/>
          </p:cNvSpPr>
          <p:nvPr>
            <p:ph type="body" idx="1"/>
          </p:nvPr>
        </p:nvSpPr>
        <p:spPr>
          <a:xfrm>
            <a:off x="304800" y="1981200"/>
            <a:ext cx="8458200" cy="2971800"/>
          </a:xfrm>
          <a:solidFill>
            <a:schemeClr val="bg1"/>
          </a:solidFill>
        </p:spPr>
        <p:txBody>
          <a:bodyPr/>
          <a:p>
            <a:pPr marL="0" indent="0" defTabSz="914400">
              <a:lnSpc>
                <a:spcPct val="90000"/>
              </a:lnSpc>
              <a:buNone/>
              <a:tabLst>
                <a:tab pos="1520825" algn="l"/>
                <a:tab pos="4578350" algn="l"/>
              </a:tabLst>
            </a:pPr>
            <a:r>
              <a:rPr lang="en-US" altLang="zh-CN" dirty="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b="1" err="1">
                <a:solidFill>
                  <a:schemeClr val="tx2"/>
                </a:solidFill>
                <a:latin typeface="宋体" panose="02010600030101010101" pitchFamily="2" charset="-122"/>
              </a:rPr>
              <a:t>cmp</a:t>
            </a:r>
            <a:r>
              <a:rPr lang="en-US" altLang="zh-CN" b="1">
                <a:solidFill>
                  <a:schemeClr val="tx2"/>
                </a:solidFill>
                <a:latin typeface="宋体" panose="02010600030101010101" pitchFamily="2" charset="-122"/>
              </a:rPr>
              <a:t> al,100</a:t>
            </a:r>
            <a:r>
              <a:rPr lang="en-US" altLang="zh-CN" sz="2100">
                <a:latin typeface="宋体" panose="02010600030101010101" pitchFamily="2" charset="-122"/>
              </a:rPr>
              <a:t>    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al-100</a:t>
            </a:r>
            <a:endParaRPr lang="en-US" altLang="zh-CN" sz="2600">
              <a:latin typeface="宋体" panose="02010600030101010101" pitchFamily="2" charset="-122"/>
            </a:endParaRPr>
          </a:p>
          <a:p>
            <a:pPr marL="0" indent="0" defTabSz="914400">
              <a:lnSpc>
                <a:spcPct val="90000"/>
              </a:lnSpc>
              <a:buNone/>
              <a:tabLst>
                <a:tab pos="1520825" algn="l"/>
                <a:tab pos="4578350" algn="l"/>
              </a:tabLst>
            </a:pP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err="1">
                <a:solidFill>
                  <a:srgbClr val="0000FF"/>
                </a:solidFill>
                <a:latin typeface="宋体" panose="02010600030101010101" pitchFamily="2" charset="-122"/>
              </a:rPr>
              <a:t>jb</a:t>
            </a: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</a:rPr>
              <a:t> below</a:t>
            </a:r>
            <a:r>
              <a:rPr lang="en-US" altLang="zh-CN" sz="2100">
                <a:latin typeface="宋体" panose="02010600030101010101" pitchFamily="2" charset="-122"/>
              </a:rPr>
              <a:t>       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al&lt;100</a:t>
            </a:r>
            <a:r>
              <a:rPr lang="zh-CN" altLang="en-US" sz="2600" dirty="0">
                <a:latin typeface="宋体" panose="02010600030101010101" pitchFamily="2" charset="-122"/>
              </a:rPr>
              <a:t>，跳转到</a:t>
            </a:r>
            <a:r>
              <a:rPr lang="en-US" altLang="zh-CN" sz="2600">
                <a:latin typeface="宋体" panose="02010600030101010101" pitchFamily="2" charset="-122"/>
              </a:rPr>
              <a:t>below</a:t>
            </a:r>
            <a:r>
              <a:rPr lang="zh-CN" altLang="en-US" sz="2600" dirty="0">
                <a:latin typeface="宋体" panose="02010600030101010101" pitchFamily="2" charset="-122"/>
              </a:rPr>
              <a:t>执行</a:t>
            </a:r>
            <a:endParaRPr lang="zh-CN" altLang="en-US" sz="2600" dirty="0">
              <a:latin typeface="宋体" panose="02010600030101010101" pitchFamily="2" charset="-122"/>
            </a:endParaRPr>
          </a:p>
          <a:p>
            <a:pPr marL="0" indent="0" defTabSz="914400">
              <a:lnSpc>
                <a:spcPct val="90000"/>
              </a:lnSpc>
              <a:buNone/>
              <a:tabLst>
                <a:tab pos="1520825" algn="l"/>
                <a:tab pos="4578350" algn="l"/>
              </a:tabLst>
            </a:pPr>
            <a:r>
              <a:rPr lang="zh-CN" altLang="en-US" dirty="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</a:rPr>
              <a:t>sub al,100</a:t>
            </a:r>
            <a:r>
              <a:rPr lang="en-US" altLang="zh-CN" sz="2100">
                <a:latin typeface="宋体" panose="02010600030101010101" pitchFamily="2" charset="-122"/>
              </a:rPr>
              <a:t>    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al≥100</a:t>
            </a:r>
            <a:r>
              <a:rPr lang="zh-CN" altLang="en-US" sz="2600" dirty="0">
                <a:latin typeface="宋体" panose="02010600030101010101" pitchFamily="2" charset="-122"/>
              </a:rPr>
              <a:t>，</a:t>
            </a:r>
            <a:r>
              <a:rPr lang="en-US" altLang="zh-CN" sz="2600">
                <a:latin typeface="宋体" panose="02010600030101010101" pitchFamily="2" charset="-122"/>
              </a:rPr>
              <a:t>al←al-100</a:t>
            </a:r>
            <a:endParaRPr lang="en-US" altLang="zh-CN" sz="2600">
              <a:latin typeface="宋体" panose="02010600030101010101" pitchFamily="2" charset="-122"/>
            </a:endParaRPr>
          </a:p>
          <a:p>
            <a:pPr marL="0" indent="0" defTabSz="914400">
              <a:lnSpc>
                <a:spcPct val="90000"/>
              </a:lnSpc>
              <a:buNone/>
              <a:tabLst>
                <a:tab pos="1520825" algn="l"/>
                <a:tab pos="4578350" algn="l"/>
              </a:tabLst>
            </a:pP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</a:rPr>
              <a:t>inc ah</a:t>
            </a:r>
            <a:r>
              <a:rPr lang="en-US" altLang="zh-CN">
                <a:latin typeface="宋体" panose="02010600030101010101" pitchFamily="2" charset="-122"/>
              </a:rPr>
              <a:t>       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ah←ah+1</a:t>
            </a:r>
            <a:endParaRPr lang="en-US" altLang="zh-CN" sz="2600">
              <a:latin typeface="宋体" panose="02010600030101010101" pitchFamily="2" charset="-122"/>
            </a:endParaRPr>
          </a:p>
          <a:p>
            <a:pPr marL="0" indent="0" defTabSz="914400">
              <a:lnSpc>
                <a:spcPct val="90000"/>
              </a:lnSpc>
              <a:buNone/>
              <a:tabLst>
                <a:tab pos="1520825" algn="l"/>
                <a:tab pos="4578350" algn="l"/>
              </a:tabLst>
            </a:pP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</a:rPr>
              <a:t>below:</a:t>
            </a: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</a:rPr>
              <a:t>...</a:t>
            </a:r>
            <a:endParaRPr lang="en-US" altLang="zh-CN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20490" name="圆角矩形 20489" descr="画布"/>
          <p:cNvSpPr/>
          <p:nvPr/>
        </p:nvSpPr>
        <p:spPr>
          <a:xfrm>
            <a:off x="762000" y="5334000"/>
            <a:ext cx="6934200" cy="1196975"/>
          </a:xfrm>
          <a:prstGeom prst="roundRect">
            <a:avLst>
              <a:gd name="adj" fmla="val 16667"/>
            </a:avLst>
          </a:prstGeom>
          <a:blipFill rotWithShape="0">
            <a:blip r:embed="rId1"/>
          </a:blipFill>
          <a:ln w="9525">
            <a:noFill/>
          </a:ln>
        </p:spPr>
        <p:txBody>
          <a:bodyPr anchor="ctr" anchorCtr="0"/>
          <a:p>
            <a:pPr algn="just">
              <a:spcBef>
                <a:spcPct val="20000"/>
              </a:spcBef>
              <a:buBlip>
                <a:blip r:embed="rId2"/>
              </a:buBlip>
            </a:pPr>
            <a:r>
              <a:rPr lang="en-US" altLang="zh-CN" sz="32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solidFill>
                  <a:srgbClr val="0099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执行比较指令之后，可以根据标志判断两个数是否相等、大小关系等</a:t>
            </a:r>
            <a:endParaRPr lang="zh-CN" altLang="en-US" sz="3200" b="1" dirty="0">
              <a:solidFill>
                <a:srgbClr val="009900"/>
              </a:solidFill>
              <a:latin typeface="Arial" panose="020B0604020202020204" pitchFamily="34" charset="0"/>
              <a:ea typeface="楷体" panose="02010609060101010101" pitchFamily="49" charset="-122"/>
            </a:endParaRPr>
          </a:p>
        </p:txBody>
      </p:sp>
      <p:sp>
        <p:nvSpPr>
          <p:cNvPr id="20492" name="椭圆 20491" descr="DI-43"/>
          <p:cNvSpPr/>
          <p:nvPr/>
        </p:nvSpPr>
        <p:spPr>
          <a:xfrm>
            <a:off x="76200" y="152400"/>
            <a:ext cx="914400" cy="914400"/>
          </a:xfrm>
          <a:prstGeom prst="ellipse">
            <a:avLst/>
          </a:prstGeom>
          <a:blipFill rotWithShape="0">
            <a:blip r:embed="rId3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 b="1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CMP</a:t>
            </a:r>
            <a:endParaRPr lang="en-US" altLang="zh-CN" sz="2400" b="1">
              <a:solidFill>
                <a:schemeClr val="bg2"/>
              </a:solidFill>
              <a:effectLst>
                <a:outerShdw blurRad="38100" dist="38100" dir="2700000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 advClick="0"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标题 21505"/>
          <p:cNvSpPr>
            <a:spLocks noGrp="1"/>
          </p:cNvSpPr>
          <p:nvPr>
            <p:ph type="title"/>
          </p:nvPr>
        </p:nvSpPr>
        <p:spPr>
          <a:xfrm>
            <a:off x="457200" y="609600"/>
            <a:ext cx="7239000" cy="808038"/>
          </a:xfrm>
        </p:spPr>
        <p:txBody>
          <a:bodyPr anchor="b" anchorCtr="0"/>
          <a:p>
            <a:r>
              <a:rPr lang="en-US" altLang="zh-CN"/>
              <a:t>2.3  </a:t>
            </a:r>
            <a:r>
              <a:rPr lang="zh-CN" altLang="en-US" dirty="0"/>
              <a:t>乘法指令   </a:t>
            </a:r>
            <a:r>
              <a:rPr lang="zh-CN" altLang="en-US" sz="2400" dirty="0"/>
              <a:t>（</a:t>
            </a:r>
            <a:r>
              <a:rPr lang="en-US" altLang="zh-CN" sz="2400"/>
              <a:t>multiplication</a:t>
            </a:r>
            <a:r>
              <a:rPr lang="zh-CN" altLang="en-US" sz="2400" dirty="0"/>
              <a:t>）</a:t>
            </a:r>
            <a:endParaRPr lang="zh-CN" altLang="zh-CN" sz="2400" dirty="0"/>
          </a:p>
        </p:txBody>
      </p:sp>
      <p:sp>
        <p:nvSpPr>
          <p:cNvPr id="21507" name="文本占位符 21506"/>
          <p:cNvSpPr>
            <a:spLocks noGrp="1"/>
          </p:cNvSpPr>
          <p:nvPr>
            <p:ph type="body" sz="half" idx="1"/>
          </p:nvPr>
        </p:nvSpPr>
        <p:spPr>
          <a:xfrm>
            <a:off x="381000" y="1828800"/>
            <a:ext cx="3951288" cy="2701925"/>
          </a:xfrm>
          <a:solidFill>
            <a:schemeClr val="bg1"/>
          </a:solidFill>
          <a:ln>
            <a:solidFill>
              <a:schemeClr val="accent2"/>
            </a:solidFill>
            <a:miter/>
          </a:ln>
        </p:spPr>
        <p:txBody>
          <a:bodyPr/>
          <a:p>
            <a:pPr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600" b="1">
                <a:solidFill>
                  <a:schemeClr val="tx2"/>
                </a:solidFill>
                <a:latin typeface="宋体" panose="02010600030101010101" pitchFamily="2" charset="-122"/>
              </a:rPr>
              <a:t>MUL r8/m8</a:t>
            </a:r>
            <a:endParaRPr lang="en-US" altLang="zh-CN" sz="2600" b="1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0000FF"/>
                </a:solidFill>
                <a:latin typeface="宋体" panose="02010600030101010101" pitchFamily="2" charset="-122"/>
              </a:rPr>
              <a:t>；无符号字节乘法</a:t>
            </a:r>
            <a:endParaRPr lang="zh-CN" altLang="en-US" sz="22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zh-CN" sz="2200" b="1" dirty="0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200" b="1">
                <a:solidFill>
                  <a:srgbClr val="0000FF"/>
                </a:solidFill>
                <a:latin typeface="宋体" panose="02010600030101010101" pitchFamily="2" charset="-122"/>
              </a:rPr>
              <a:t>AX←AL×r8/m8</a:t>
            </a:r>
            <a:endParaRPr lang="en-US" altLang="zh-CN" sz="2200" b="1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600" b="1">
                <a:solidFill>
                  <a:schemeClr val="tx2"/>
                </a:solidFill>
                <a:latin typeface="宋体" panose="02010600030101010101" pitchFamily="2" charset="-122"/>
              </a:rPr>
              <a:t>MUL r16/m16</a:t>
            </a:r>
            <a:endParaRPr lang="en-US" altLang="zh-CN" sz="2600" b="1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0000FF"/>
                </a:solidFill>
                <a:latin typeface="宋体" panose="02010600030101010101" pitchFamily="2" charset="-122"/>
              </a:rPr>
              <a:t>；无符号字乘法</a:t>
            </a:r>
            <a:endParaRPr lang="zh-CN" altLang="en-US" sz="22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zh-CN" sz="2200" b="1" dirty="0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200" b="1">
                <a:solidFill>
                  <a:srgbClr val="0000FF"/>
                </a:solidFill>
                <a:latin typeface="宋体" panose="02010600030101010101" pitchFamily="2" charset="-122"/>
              </a:rPr>
              <a:t>DX.AX←AX×r16/m16</a:t>
            </a:r>
            <a:endParaRPr lang="en-US" altLang="zh-CN" sz="22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21508" name="文本占位符 21507"/>
          <p:cNvSpPr>
            <a:spLocks noGrp="1"/>
          </p:cNvSpPr>
          <p:nvPr>
            <p:ph type="body" sz="half" idx="2"/>
          </p:nvPr>
        </p:nvSpPr>
        <p:spPr>
          <a:xfrm>
            <a:off x="4724400" y="1828800"/>
            <a:ext cx="4010025" cy="3352800"/>
          </a:xfrm>
          <a:solidFill>
            <a:schemeClr val="bg1"/>
          </a:solidFill>
          <a:ln>
            <a:solidFill>
              <a:schemeClr val="accent2"/>
            </a:solidFill>
            <a:miter/>
          </a:ln>
        </p:spPr>
        <p:txBody>
          <a:bodyPr/>
          <a:p>
            <a:pPr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600" b="1">
                <a:solidFill>
                  <a:schemeClr val="tx2"/>
                </a:solidFill>
                <a:latin typeface="宋体" panose="02010600030101010101" pitchFamily="2" charset="-122"/>
              </a:rPr>
              <a:t>IMUL r8/m8</a:t>
            </a:r>
            <a:endParaRPr lang="en-US" altLang="zh-CN" sz="2600" b="1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0000FF"/>
                </a:solidFill>
                <a:latin typeface="宋体" panose="02010600030101010101" pitchFamily="2" charset="-122"/>
              </a:rPr>
              <a:t>；有符号字节乘法</a:t>
            </a:r>
            <a:endParaRPr lang="zh-CN" altLang="en-US" sz="22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zh-CN" sz="2200" b="1" dirty="0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200" b="1">
                <a:solidFill>
                  <a:srgbClr val="0000FF"/>
                </a:solidFill>
                <a:latin typeface="宋体" panose="02010600030101010101" pitchFamily="2" charset="-122"/>
              </a:rPr>
              <a:t>AX←AL×r8/m8</a:t>
            </a:r>
            <a:endParaRPr lang="en-US" altLang="zh-CN" sz="2200" b="1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600" b="1">
                <a:solidFill>
                  <a:schemeClr val="tx2"/>
                </a:solidFill>
                <a:latin typeface="宋体" panose="02010600030101010101" pitchFamily="2" charset="-122"/>
              </a:rPr>
              <a:t>IMUL r16/m16</a:t>
            </a:r>
            <a:endParaRPr lang="en-US" altLang="zh-CN" sz="2600" b="1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0000FF"/>
                </a:solidFill>
                <a:latin typeface="宋体" panose="02010600030101010101" pitchFamily="2" charset="-122"/>
              </a:rPr>
              <a:t>；有符号字乘法</a:t>
            </a:r>
            <a:endParaRPr lang="zh-CN" altLang="en-US" sz="22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zh-CN" sz="2200" b="1" dirty="0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200" b="1">
                <a:solidFill>
                  <a:srgbClr val="0000FF"/>
                </a:solidFill>
                <a:latin typeface="宋体" panose="02010600030101010101" pitchFamily="2" charset="-122"/>
              </a:rPr>
              <a:t>DX.AX←AX×r16/m16</a:t>
            </a:r>
            <a:endParaRPr lang="en-US" altLang="zh-CN" sz="22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21509" name="文本框 21508">
            <a:hlinkClick r:id="rId1" action="ppaction://hlinksldjump"/>
          </p:cNvPr>
          <p:cNvSpPr txBox="1"/>
          <p:nvPr/>
        </p:nvSpPr>
        <p:spPr>
          <a:xfrm>
            <a:off x="5715000" y="5686425"/>
            <a:ext cx="1045845" cy="39878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t" anchorCtr="0">
            <a:spAutoFit/>
          </a:bodyPr>
          <a:p>
            <a:r>
              <a:rPr lang="zh-CN" altLang="en-US" sz="2000" b="1" dirty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例题</a:t>
            </a:r>
            <a:r>
              <a:rPr lang="en-US" altLang="zh-CN" sz="2000" b="1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2.5</a:t>
            </a:r>
            <a:endParaRPr lang="en-US" altLang="zh-CN" sz="2000" b="1">
              <a:solidFill>
                <a:srgbClr val="66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标题 22529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乘法指令的功能</a:t>
            </a:r>
            <a:endParaRPr lang="zh-CN" altLang="en-US" dirty="0"/>
          </a:p>
        </p:txBody>
      </p:sp>
      <p:sp>
        <p:nvSpPr>
          <p:cNvPr id="22531" name="文本占位符 22530"/>
          <p:cNvSpPr>
            <a:spLocks noGrp="1"/>
          </p:cNvSpPr>
          <p:nvPr>
            <p:ph type="body" idx="1"/>
          </p:nvPr>
        </p:nvSpPr>
        <p:spPr>
          <a:xfrm>
            <a:off x="457200" y="1719263"/>
            <a:ext cx="7543800" cy="4757737"/>
          </a:xfrm>
        </p:spPr>
        <p:txBody>
          <a:bodyPr/>
          <a:p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乘法指令</a:t>
            </a:r>
            <a:r>
              <a:rPr lang="zh-CN" altLang="en-US" b="1" dirty="0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分无符号和有符号乘法指令</a:t>
            </a:r>
            <a:endParaRPr lang="zh-CN" altLang="en-US" b="1" dirty="0">
              <a:solidFill>
                <a:srgbClr val="009900"/>
              </a:solidFill>
              <a:latin typeface="楷体" panose="02010609060101010101" pitchFamily="49" charset="-122"/>
              <a:ea typeface="楷体" panose="02010609060101010101" pitchFamily="49" charset="-122"/>
              <a:hlinkClick r:id="rId1" action="ppaction://hlinksldjump"/>
            </a:endParaRPr>
          </a:p>
          <a:p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乘法指令的源操作数显式给出，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隐含</a:t>
            </a:r>
            <a:r>
              <a:rPr lang="zh-CN" altLang="en-US" b="1" dirty="0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使用另一个操作数</a:t>
            </a:r>
            <a:r>
              <a:rPr lang="en-US" altLang="zh-CN" b="1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AX</a:t>
            </a:r>
            <a:r>
              <a:rPr lang="zh-CN" altLang="en-US" b="1" dirty="0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b="1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DX</a:t>
            </a:r>
            <a:endParaRPr lang="en-US" altLang="zh-CN" b="1">
              <a:solidFill>
                <a:srgbClr val="0099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字节量相乘：</a:t>
            </a:r>
            <a:r>
              <a:rPr lang="en-US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与</a:t>
            </a:r>
            <a:r>
              <a:rPr lang="en-US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r8/m8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相乘，得到</a:t>
            </a:r>
            <a:r>
              <a:rPr lang="en-US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位的结果，存入</a:t>
            </a:r>
            <a:r>
              <a:rPr lang="en-US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AX</a:t>
            </a:r>
            <a:endParaRPr lang="en-US" altLang="zh-CN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字量相乘：</a:t>
            </a:r>
            <a:r>
              <a:rPr lang="en-US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AX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与</a:t>
            </a:r>
            <a:r>
              <a:rPr lang="en-US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r16/m16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相乘，得到</a:t>
            </a:r>
            <a:r>
              <a:rPr lang="en-US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32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位的结果，其高字存入</a:t>
            </a:r>
            <a:r>
              <a:rPr lang="en-US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DX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，低字存入</a:t>
            </a:r>
            <a:r>
              <a:rPr lang="en-US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AX</a:t>
            </a:r>
            <a:endParaRPr lang="en-US" altLang="zh-CN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乘法指令</a:t>
            </a:r>
            <a:r>
              <a:rPr lang="zh-CN" altLang="en-US" b="1" dirty="0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利用</a:t>
            </a:r>
            <a:r>
              <a:rPr lang="en-US" altLang="zh-CN" b="1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OF</a:t>
            </a:r>
            <a:r>
              <a:rPr lang="zh-CN" altLang="en-US" b="1" dirty="0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b="1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CF</a:t>
            </a:r>
            <a:r>
              <a:rPr lang="zh-CN" altLang="en-US" b="1" dirty="0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判断乘积的高一半是否具有有效数值</a:t>
            </a:r>
            <a:endParaRPr lang="zh-CN" altLang="en-US" b="1" dirty="0">
              <a:solidFill>
                <a:srgbClr val="0099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 advClick="0"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标题 23553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乘法指令对标志的影响</a:t>
            </a:r>
            <a:endParaRPr lang="zh-CN" altLang="en-US" dirty="0"/>
          </a:p>
        </p:txBody>
      </p:sp>
      <p:sp>
        <p:nvSpPr>
          <p:cNvPr id="23555" name="文本占位符 23554"/>
          <p:cNvSpPr>
            <a:spLocks noGrp="1"/>
          </p:cNvSpPr>
          <p:nvPr>
            <p:ph type="body" idx="1"/>
          </p:nvPr>
        </p:nvSpPr>
        <p:spPr>
          <a:xfrm>
            <a:off x="457200" y="1719263"/>
            <a:ext cx="8229600" cy="2776537"/>
          </a:xfrm>
        </p:spPr>
        <p:txBody>
          <a:bodyPr/>
          <a:p>
            <a:pPr>
              <a:lnSpc>
                <a:spcPct val="90000"/>
              </a:lnSpc>
            </a:pP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乘法指令如下影响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OF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CF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标志：</a:t>
            </a: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MUL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若乘积的高一半（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AH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DX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）为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，则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OF=CF=0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；否则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OF=CF=1</a:t>
            </a:r>
            <a:endParaRPr lang="en-US" altLang="zh-CN" b="1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IMUL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若乘积的高一半是低一半的</a:t>
            </a:r>
            <a:r>
              <a:rPr lang="zh-CN" altLang="en-US" b="1" dirty="0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符号扩展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，则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OF=CF=0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；否则均为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endParaRPr lang="en-US" altLang="zh-CN" b="1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乘法指令对其他状态标志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没有定义</a:t>
            </a:r>
            <a:endParaRPr lang="zh-CN" altLang="en-US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556" name="圆角矩形 23555" descr="画布"/>
          <p:cNvSpPr/>
          <p:nvPr/>
        </p:nvSpPr>
        <p:spPr>
          <a:xfrm>
            <a:off x="228600" y="4437063"/>
            <a:ext cx="8686800" cy="1887537"/>
          </a:xfrm>
          <a:prstGeom prst="roundRect">
            <a:avLst>
              <a:gd name="adj" fmla="val 16667"/>
            </a:avLst>
          </a:prstGeom>
          <a:blipFill rotWithShape="0">
            <a:blip r:embed="rId1"/>
          </a:blipFill>
          <a:ln w="9525">
            <a:noFill/>
          </a:ln>
        </p:spPr>
        <p:txBody>
          <a:bodyPr anchor="ctr" anchorCtr="0"/>
          <a:p>
            <a:pPr algn="just">
              <a:spcBef>
                <a:spcPct val="20000"/>
              </a:spcBef>
              <a:buBlip>
                <a:blip r:embed="rId2"/>
              </a:buBlip>
            </a:pPr>
            <a:r>
              <a:rPr lang="en-US" altLang="zh-CN" sz="32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对标志没有定义：指令执行后这些标志是任意的、不可预测（就是谁也不知道是</a:t>
            </a:r>
            <a:r>
              <a:rPr lang="en-US" altLang="zh-CN" sz="3200" b="1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3200" b="1" dirty="0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还是</a:t>
            </a:r>
            <a:r>
              <a:rPr lang="en-US" altLang="zh-CN" sz="3200" b="1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3200" b="1" dirty="0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zh-CN" altLang="en-US" sz="3200" b="1" dirty="0">
              <a:solidFill>
                <a:srgbClr val="0099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>
              <a:spcBef>
                <a:spcPct val="20000"/>
              </a:spcBef>
              <a:buBlip>
                <a:blip r:embed="rId2"/>
              </a:buBlip>
            </a:pPr>
            <a:r>
              <a:rPr lang="zh-CN" altLang="en-US" sz="3200" b="1" dirty="0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对标志没有影响：指令执行不改变标志状态</a:t>
            </a:r>
            <a:endParaRPr lang="zh-CN" altLang="en-US" sz="3200" b="1" dirty="0">
              <a:solidFill>
                <a:srgbClr val="0099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84" name="标题 24583"/>
          <p:cNvSpPr>
            <a:spLocks noGrp="1"/>
          </p:cNvSpPr>
          <p:nvPr>
            <p:ph type="title"/>
          </p:nvPr>
        </p:nvSpPr>
        <p:spPr>
          <a:xfrm>
            <a:off x="1066800" y="838200"/>
            <a:ext cx="3422650" cy="517525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sz="3000" dirty="0"/>
              <a:t>例</a:t>
            </a:r>
            <a:r>
              <a:rPr lang="en-US" altLang="zh-CN" sz="3000"/>
              <a:t>2.5</a:t>
            </a:r>
            <a:r>
              <a:rPr lang="zh-CN" altLang="en-US" sz="3000" dirty="0"/>
              <a:t>：乘法运算</a:t>
            </a:r>
            <a:endParaRPr lang="zh-CN" altLang="en-US" sz="3000" dirty="0"/>
          </a:p>
        </p:txBody>
      </p:sp>
      <p:sp>
        <p:nvSpPr>
          <p:cNvPr id="24585" name="文本占位符 24584"/>
          <p:cNvSpPr>
            <a:spLocks noGrp="1"/>
          </p:cNvSpPr>
          <p:nvPr>
            <p:ph type="body" idx="1"/>
          </p:nvPr>
        </p:nvSpPr>
        <p:spPr>
          <a:xfrm>
            <a:off x="749300" y="2041525"/>
            <a:ext cx="7648575" cy="3797300"/>
          </a:xfrm>
          <a:solidFill>
            <a:schemeClr val="bg1"/>
          </a:solidFill>
        </p:spPr>
        <p:txBody>
          <a:bodyPr/>
          <a:p>
            <a:pPr marL="0" indent="390525" defTabSz="914400">
              <a:lnSpc>
                <a:spcPct val="90000"/>
              </a:lnSpc>
              <a:buNone/>
              <a:tabLst>
                <a:tab pos="3342005" algn="l"/>
              </a:tabLst>
            </a:pP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al,0b4h	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al=b4h=180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lnSpc>
                <a:spcPct val="90000"/>
              </a:lnSpc>
              <a:buNone/>
              <a:tabLst>
                <a:tab pos="3342005" algn="l"/>
              </a:tabLst>
            </a:pP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bl,11h	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bl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=11h=17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lnSpc>
                <a:spcPct val="90000"/>
              </a:lnSpc>
              <a:buNone/>
              <a:tabLst>
                <a:tab pos="3342005" algn="l"/>
              </a:tabLst>
            </a:pPr>
            <a:r>
              <a:rPr lang="en-US" altLang="zh-CN" sz="2600" b="1" err="1">
                <a:solidFill>
                  <a:srgbClr val="009900"/>
                </a:solidFill>
                <a:latin typeface="宋体" panose="02010600030101010101" pitchFamily="2" charset="-122"/>
              </a:rPr>
              <a:t>mul</a:t>
            </a:r>
            <a:r>
              <a:rPr lang="en-US" altLang="zh-CN" sz="2600" b="1">
                <a:solidFill>
                  <a:srgbClr val="0099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600" b="1" err="1">
                <a:solidFill>
                  <a:srgbClr val="009900"/>
                </a:solidFill>
                <a:latin typeface="宋体" panose="02010600030101010101" pitchFamily="2" charset="-122"/>
              </a:rPr>
              <a:t>bl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ax=Obf4h=3060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lnSpc>
                <a:spcPct val="90000"/>
              </a:lnSpc>
              <a:buNone/>
              <a:tabLst>
                <a:tab pos="3342005" algn="l"/>
              </a:tabLst>
            </a:pP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OF=CF=1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AX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高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8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位不为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0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lnSpc>
                <a:spcPct val="90000"/>
              </a:lnSpc>
              <a:spcBef>
                <a:spcPct val="90000"/>
              </a:spcBef>
              <a:buNone/>
              <a:tabLst>
                <a:tab pos="3342005" algn="l"/>
              </a:tabLst>
            </a:pP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al,0b4h	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al=b4h=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－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76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lnSpc>
                <a:spcPct val="90000"/>
              </a:lnSpc>
              <a:buNone/>
              <a:tabLst>
                <a:tab pos="3342005" algn="l"/>
              </a:tabLst>
            </a:pP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bl,11h	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bl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=11h=17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lnSpc>
                <a:spcPct val="90000"/>
              </a:lnSpc>
              <a:buNone/>
              <a:tabLst>
                <a:tab pos="3342005" algn="l"/>
              </a:tabLst>
            </a:pPr>
            <a:r>
              <a:rPr lang="en-US" altLang="zh-CN" sz="2600" b="1" err="1">
                <a:solidFill>
                  <a:srgbClr val="009900"/>
                </a:solidFill>
                <a:latin typeface="宋体" panose="02010600030101010101" pitchFamily="2" charset="-122"/>
              </a:rPr>
              <a:t>imul</a:t>
            </a:r>
            <a:r>
              <a:rPr lang="en-US" altLang="zh-CN" sz="2600" b="1">
                <a:solidFill>
                  <a:srgbClr val="0099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600" b="1" err="1">
                <a:solidFill>
                  <a:srgbClr val="009900"/>
                </a:solidFill>
                <a:latin typeface="宋体" panose="02010600030101010101" pitchFamily="2" charset="-122"/>
              </a:rPr>
              <a:t>bl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ax=faf4h=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－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1292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lnSpc>
                <a:spcPct val="90000"/>
              </a:lnSpc>
              <a:buNone/>
              <a:tabLst>
                <a:tab pos="3342005" algn="l"/>
              </a:tabLst>
            </a:pP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OF=CF=1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AX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高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8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位含有效数字</a:t>
            </a:r>
            <a:endParaRPr lang="zh-CN" altLang="en-US" sz="2600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pic>
        <p:nvPicPr>
          <p:cNvPr id="24587" name="图片 24586" descr="1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86200"/>
            <a:ext cx="7848600" cy="76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 advClick="0"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标题 25601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en-US" altLang="zh-CN"/>
              <a:t>2.4  </a:t>
            </a:r>
            <a:r>
              <a:rPr lang="zh-CN" altLang="en-US" dirty="0"/>
              <a:t>除法指令  </a:t>
            </a:r>
            <a:r>
              <a:rPr lang="zh-CN" altLang="en-US" sz="2400" dirty="0"/>
              <a:t>（</a:t>
            </a:r>
            <a:r>
              <a:rPr lang="en-US" altLang="zh-CN" sz="2400"/>
              <a:t>division </a:t>
            </a:r>
            <a:r>
              <a:rPr lang="zh-CN" altLang="en-US" sz="2400" dirty="0"/>
              <a:t>）</a:t>
            </a:r>
            <a:endParaRPr lang="zh-CN" altLang="zh-CN" sz="2400" dirty="0"/>
          </a:p>
        </p:txBody>
      </p:sp>
      <p:sp>
        <p:nvSpPr>
          <p:cNvPr id="25603" name="文本占位符 25602"/>
          <p:cNvSpPr>
            <a:spLocks noGrp="1"/>
          </p:cNvSpPr>
          <p:nvPr>
            <p:ph type="body" sz="half" idx="1"/>
          </p:nvPr>
        </p:nvSpPr>
        <p:spPr>
          <a:xfrm>
            <a:off x="381000" y="1524000"/>
            <a:ext cx="8382000" cy="2057400"/>
          </a:xfrm>
          <a:solidFill>
            <a:schemeClr val="bg1"/>
          </a:solidFill>
          <a:ln w="12700">
            <a:solidFill>
              <a:schemeClr val="accent2"/>
            </a:solidFill>
            <a:miter/>
          </a:ln>
        </p:spPr>
        <p:txBody>
          <a:bodyPr/>
          <a:p>
            <a:pPr marL="0" indent="184150"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2"/>
                </a:solidFill>
                <a:latin typeface="宋体" panose="02010600030101010101" pitchFamily="2" charset="-122"/>
              </a:rPr>
              <a:t>DIV r8/m8</a:t>
            </a:r>
            <a:r>
              <a:rPr lang="en-US" altLang="zh-CN" sz="2600">
                <a:solidFill>
                  <a:schemeClr val="bg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100" dirty="0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zh-CN" altLang="en-US" sz="2800" b="1" dirty="0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无符号字节除法：</a:t>
            </a:r>
            <a:endParaRPr lang="zh-CN" altLang="en-US" sz="2800" b="1" dirty="0">
              <a:solidFill>
                <a:srgbClr val="0099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184150"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AL</a:t>
            </a:r>
            <a:r>
              <a:rPr lang="en-US" altLang="zh-CN" sz="2400">
                <a:solidFill>
                  <a:srgbClr val="0000FF"/>
                </a:solidFill>
                <a:latin typeface="宋体" panose="02010600030101010101" pitchFamily="2" charset="-122"/>
              </a:rPr>
              <a:t>←AX÷r8/m8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</a:rPr>
              <a:t>的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商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400" b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</a:rPr>
              <a:t>AH</a:t>
            </a:r>
            <a:r>
              <a:rPr lang="en-US" altLang="zh-CN" sz="2400">
                <a:solidFill>
                  <a:srgbClr val="0000FF"/>
                </a:solidFill>
                <a:latin typeface="宋体" panose="02010600030101010101" pitchFamily="2" charset="-122"/>
              </a:rPr>
              <a:t>←AX÷r8/m8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</a:rPr>
              <a:t>的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余数</a:t>
            </a:r>
            <a:endParaRPr lang="zh-CN" altLang="en-US" sz="24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184150"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600" b="1">
                <a:solidFill>
                  <a:schemeClr val="tx2"/>
                </a:solidFill>
                <a:latin typeface="宋体" panose="02010600030101010101" pitchFamily="2" charset="-122"/>
              </a:rPr>
              <a:t>DIV r16/m16</a:t>
            </a:r>
            <a:r>
              <a:rPr lang="en-US" altLang="zh-CN" sz="2600">
                <a:solidFill>
                  <a:schemeClr val="tx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</a:rPr>
              <a:t>；无符号字除法：</a:t>
            </a:r>
            <a:endParaRPr lang="zh-CN" altLang="en-US" sz="2400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184150"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zh-CN" sz="2400" dirty="0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AX</a:t>
            </a:r>
            <a:r>
              <a:rPr lang="en-US" altLang="zh-CN" sz="2400">
                <a:solidFill>
                  <a:srgbClr val="0000FF"/>
                </a:solidFill>
                <a:latin typeface="宋体" panose="02010600030101010101" pitchFamily="2" charset="-122"/>
              </a:rPr>
              <a:t>←DX.AX÷r16/m16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</a:rPr>
              <a:t>的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商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DX</a:t>
            </a:r>
            <a:r>
              <a:rPr lang="en-US" altLang="zh-CN" sz="2400">
                <a:solidFill>
                  <a:srgbClr val="0000FF"/>
                </a:solidFill>
                <a:latin typeface="宋体" panose="02010600030101010101" pitchFamily="2" charset="-122"/>
              </a:rPr>
              <a:t>←DX.AX÷r16/m16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</a:rPr>
              <a:t>的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余数</a:t>
            </a:r>
            <a:endParaRPr lang="zh-CN" altLang="en-US" sz="2400" b="1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25604" name="矩形 25603"/>
          <p:cNvSpPr/>
          <p:nvPr/>
        </p:nvSpPr>
        <p:spPr>
          <a:xfrm>
            <a:off x="381000" y="3962400"/>
            <a:ext cx="8382000" cy="20574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2075" tIns="46038" rIns="92075" bIns="46038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6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92150" lvl="1" indent="-34734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87425" lvl="2" indent="-29337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1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81430" lvl="3" indent="-2921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98930" lvl="4" indent="-31623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184150">
              <a:buNone/>
            </a:pPr>
            <a:r>
              <a:rPr lang="en-US" altLang="zh-CN" sz="3000" b="1">
                <a:solidFill>
                  <a:schemeClr val="tx2"/>
                </a:solidFill>
                <a:latin typeface="宋体" panose="02010600030101010101" pitchFamily="2" charset="-122"/>
              </a:rPr>
              <a:t>IDIV r8/m8</a:t>
            </a:r>
            <a:r>
              <a:rPr lang="en-US" altLang="zh-CN" sz="3000">
                <a:solidFill>
                  <a:schemeClr val="tx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800" dirty="0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zh-CN" altLang="en-US" sz="2800" b="1" dirty="0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有符号字节除法：</a:t>
            </a:r>
            <a:endParaRPr lang="zh-CN" altLang="en-US" sz="2800" b="1" dirty="0">
              <a:solidFill>
                <a:srgbClr val="0099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184150">
              <a:buNone/>
            </a:pPr>
            <a:r>
              <a:rPr lang="en-US" altLang="zh-CN" sz="2400">
                <a:solidFill>
                  <a:srgbClr val="0000FF"/>
                </a:solidFill>
                <a:latin typeface="宋体" panose="02010600030101010101" pitchFamily="2" charset="-122"/>
              </a:rPr>
              <a:t>AL←AX÷r8/m8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</a:rPr>
              <a:t>的商，</a:t>
            </a:r>
            <a:r>
              <a:rPr lang="en-US" altLang="zh-CN" sz="2400">
                <a:solidFill>
                  <a:srgbClr val="0000FF"/>
                </a:solidFill>
                <a:latin typeface="宋体" panose="02010600030101010101" pitchFamily="2" charset="-122"/>
              </a:rPr>
              <a:t>Ah←AX÷r8/m8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</a:rPr>
              <a:t>的余数</a:t>
            </a:r>
            <a:endParaRPr lang="zh-CN" altLang="en-US" sz="2400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lvl="0" indent="184150">
              <a:buNone/>
            </a:pPr>
            <a:r>
              <a:rPr lang="en-US" altLang="zh-CN" b="1">
                <a:solidFill>
                  <a:schemeClr val="tx2"/>
                </a:solidFill>
                <a:latin typeface="宋体" panose="02010600030101010101" pitchFamily="2" charset="-122"/>
              </a:rPr>
              <a:t>IDIV r16/m16</a:t>
            </a:r>
            <a:r>
              <a:rPr lang="en-US" altLang="zh-CN">
                <a:solidFill>
                  <a:schemeClr val="bg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</a:rPr>
              <a:t>；有符号字除法：</a:t>
            </a:r>
            <a:endParaRPr lang="zh-CN" altLang="en-US" sz="2400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lvl="0" indent="184150">
              <a:buNone/>
            </a:pPr>
            <a:r>
              <a:rPr lang="zh-CN" altLang="zh-CN" sz="2400" dirty="0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400">
                <a:solidFill>
                  <a:srgbClr val="0000FF"/>
                </a:solidFill>
                <a:latin typeface="宋体" panose="02010600030101010101" pitchFamily="2" charset="-122"/>
              </a:rPr>
              <a:t>AX←DX.AX÷r16/m16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</a:rPr>
              <a:t>的商，</a:t>
            </a:r>
            <a:r>
              <a:rPr lang="en-US" altLang="zh-CN" sz="2400">
                <a:solidFill>
                  <a:srgbClr val="0000FF"/>
                </a:solidFill>
                <a:latin typeface="宋体" panose="02010600030101010101" pitchFamily="2" charset="-122"/>
              </a:rPr>
              <a:t>DX←DX.AX÷r16/m16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</a:rPr>
              <a:t>的余数</a:t>
            </a:r>
            <a:endParaRPr lang="zh-CN" altLang="en-US" sz="2400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25605" name="文本框 25604">
            <a:hlinkClick r:id="rId1" action="ppaction://hlinksldjump"/>
          </p:cNvPr>
          <p:cNvSpPr txBox="1"/>
          <p:nvPr/>
        </p:nvSpPr>
        <p:spPr>
          <a:xfrm>
            <a:off x="7515225" y="3990975"/>
            <a:ext cx="1045845" cy="39878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t" anchorCtr="0">
            <a:spAutoFit/>
          </a:bodyPr>
          <a:p>
            <a:r>
              <a:rPr lang="zh-CN" altLang="en-US" sz="2000" b="1" dirty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例题</a:t>
            </a:r>
            <a:r>
              <a:rPr lang="en-US" altLang="zh-CN" sz="2000" b="1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2.6</a:t>
            </a:r>
            <a:endParaRPr lang="en-US" altLang="zh-CN" sz="2000" b="1">
              <a:solidFill>
                <a:srgbClr val="66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标题 26625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除法指令的功能</a:t>
            </a:r>
            <a:endParaRPr lang="zh-CN" altLang="en-US" dirty="0"/>
          </a:p>
        </p:txBody>
      </p:sp>
      <p:sp>
        <p:nvSpPr>
          <p:cNvPr id="26627" name="文本占位符 26626"/>
          <p:cNvSpPr>
            <a:spLocks noGrp="1"/>
          </p:cNvSpPr>
          <p:nvPr>
            <p:ph type="body" idx="1"/>
          </p:nvPr>
        </p:nvSpPr>
        <p:spPr>
          <a:xfrm>
            <a:off x="457200" y="1719263"/>
            <a:ext cx="7543800" cy="4411662"/>
          </a:xfrm>
        </p:spPr>
        <p:txBody>
          <a:bodyPr/>
          <a:p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除法指令分无符号和有符号除法指令</a:t>
            </a: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除法指令的除数显式给出，隐含使用另一个操作数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AX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DX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作为被除数</a:t>
            </a: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字节量除法：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AX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除以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r8/m8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位商存入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位余数存入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AH</a:t>
            </a:r>
            <a:endParaRPr lang="en-US" altLang="zh-CN" b="1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字量除法：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DX.AX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除以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r16/m16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位商存入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AX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位余数存入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DX</a:t>
            </a:r>
            <a:endParaRPr lang="en-US" altLang="zh-CN" b="1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除法指令对标志没有定义</a:t>
            </a: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除法指令</a:t>
            </a:r>
            <a:r>
              <a:rPr lang="zh-CN" altLang="en-US" b="1" dirty="0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会产生结果溢出</a:t>
            </a:r>
            <a:endParaRPr lang="zh-CN" altLang="en-US" b="1" dirty="0">
              <a:solidFill>
                <a:srgbClr val="0099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 advClick="0"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标题 27649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除法错中断</a:t>
            </a:r>
            <a:endParaRPr lang="zh-CN" altLang="en-US" dirty="0"/>
          </a:p>
        </p:txBody>
      </p:sp>
      <p:sp>
        <p:nvSpPr>
          <p:cNvPr id="27651" name="文本占位符 27650"/>
          <p:cNvSpPr>
            <a:spLocks noGrp="1"/>
          </p:cNvSpPr>
          <p:nvPr>
            <p:ph type="body" idx="1"/>
          </p:nvPr>
        </p:nvSpPr>
        <p:spPr>
          <a:xfrm>
            <a:off x="228600" y="1828800"/>
            <a:ext cx="7772400" cy="5543550"/>
          </a:xfrm>
        </p:spPr>
        <p:txBody>
          <a:bodyPr/>
          <a:p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当被除数远大于除数时，所得的商就有可能超出它所能表达的范围。如果存放商的寄存器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AL/AX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不能表达，便产生溢出，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8086CPU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中就产生</a:t>
            </a:r>
            <a:r>
              <a:rPr lang="zh-CN" altLang="en-US" sz="2600" b="1" dirty="0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编号为</a:t>
            </a:r>
            <a:r>
              <a:rPr lang="en-US" altLang="zh-CN" sz="2600" b="1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的内部中断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2600" b="1" dirty="0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除法错中断</a:t>
            </a:r>
            <a:endParaRPr lang="zh-CN" altLang="en-US" sz="2600" b="1" dirty="0">
              <a:solidFill>
                <a:srgbClr val="0099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DIV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指令，除数为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，或者在字节除时商超过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位，或者在字除时商超过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</a:t>
            </a: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IDIV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指令，除数为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，或者在字节除时商不在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-128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127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范围内，或者在字除时商不在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-32768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32767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范围内</a:t>
            </a: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 advClick="0"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80" name="标题 28679"/>
          <p:cNvSpPr>
            <a:spLocks noGrp="1"/>
          </p:cNvSpPr>
          <p:nvPr>
            <p:ph type="title"/>
          </p:nvPr>
        </p:nvSpPr>
        <p:spPr>
          <a:xfrm>
            <a:off x="990600" y="609600"/>
            <a:ext cx="3657600" cy="609600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sz="3000" dirty="0"/>
              <a:t>例</a:t>
            </a:r>
            <a:r>
              <a:rPr lang="en-US" altLang="zh-CN" sz="3000"/>
              <a:t>2.6</a:t>
            </a:r>
            <a:r>
              <a:rPr lang="zh-CN" altLang="en-US" sz="3000" dirty="0"/>
              <a:t>：除法运算</a:t>
            </a:r>
            <a:endParaRPr lang="zh-CN" altLang="en-US" sz="3000" dirty="0"/>
          </a:p>
        </p:txBody>
      </p:sp>
      <p:sp>
        <p:nvSpPr>
          <p:cNvPr id="28681" name="文本占位符 28680"/>
          <p:cNvSpPr>
            <a:spLocks noGrp="1"/>
          </p:cNvSpPr>
          <p:nvPr>
            <p:ph type="body" idx="1"/>
          </p:nvPr>
        </p:nvSpPr>
        <p:spPr>
          <a:xfrm>
            <a:off x="762000" y="2057400"/>
            <a:ext cx="7648575" cy="3797300"/>
          </a:xfrm>
          <a:solidFill>
            <a:schemeClr val="bg1"/>
          </a:solidFill>
        </p:spPr>
        <p:txBody>
          <a:bodyPr/>
          <a:p>
            <a:pPr marL="0" indent="390525" defTabSz="914400">
              <a:lnSpc>
                <a:spcPct val="90000"/>
              </a:lnSpc>
              <a:buNone/>
              <a:tabLst>
                <a:tab pos="3342005" algn="l"/>
              </a:tabLst>
            </a:pP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ax,0400h	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ax=400h=1024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lnSpc>
                <a:spcPct val="90000"/>
              </a:lnSpc>
              <a:buNone/>
              <a:tabLst>
                <a:tab pos="3342005" algn="l"/>
              </a:tabLst>
            </a:pP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bl,0b4h	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bl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=b4h=180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lnSpc>
                <a:spcPct val="90000"/>
              </a:lnSpc>
              <a:buNone/>
              <a:tabLst>
                <a:tab pos="3342005" algn="l"/>
              </a:tabLst>
            </a:pPr>
            <a:r>
              <a:rPr lang="en-US" altLang="zh-CN" sz="2600" b="1">
                <a:solidFill>
                  <a:srgbClr val="009900"/>
                </a:solidFill>
                <a:latin typeface="宋体" panose="02010600030101010101" pitchFamily="2" charset="-122"/>
              </a:rPr>
              <a:t>div </a:t>
            </a:r>
            <a:r>
              <a:rPr lang="en-US" altLang="zh-CN" sz="2600" b="1" err="1">
                <a:solidFill>
                  <a:srgbClr val="009900"/>
                </a:solidFill>
                <a:latin typeface="宋体" panose="02010600030101010101" pitchFamily="2" charset="-122"/>
              </a:rPr>
              <a:t>bl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；商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al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05h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5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lnSpc>
                <a:spcPct val="90000"/>
              </a:lnSpc>
              <a:buNone/>
              <a:tabLst>
                <a:tab pos="3342005" algn="l"/>
              </a:tabLst>
            </a:pP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；余数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ah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7ch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124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lnSpc>
                <a:spcPct val="90000"/>
              </a:lnSpc>
              <a:spcBef>
                <a:spcPct val="90000"/>
              </a:spcBef>
              <a:buNone/>
              <a:tabLst>
                <a:tab pos="3342005" algn="l"/>
              </a:tabLst>
            </a:pP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ax,0400h	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ax=400h=1024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lnSpc>
                <a:spcPct val="90000"/>
              </a:lnSpc>
              <a:buNone/>
              <a:tabLst>
                <a:tab pos="3342005" algn="l"/>
              </a:tabLst>
            </a:pP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bl,0b4h	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bl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=b4h=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－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76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lnSpc>
                <a:spcPct val="90000"/>
              </a:lnSpc>
              <a:buNone/>
              <a:tabLst>
                <a:tab pos="3342005" algn="l"/>
              </a:tabLst>
            </a:pPr>
            <a:r>
              <a:rPr lang="en-US" altLang="zh-CN" sz="2600" b="1" err="1">
                <a:solidFill>
                  <a:srgbClr val="009900"/>
                </a:solidFill>
                <a:latin typeface="宋体" panose="02010600030101010101" pitchFamily="2" charset="-122"/>
              </a:rPr>
              <a:t>idiv</a:t>
            </a:r>
            <a:r>
              <a:rPr lang="en-US" altLang="zh-CN" sz="2600" b="1">
                <a:solidFill>
                  <a:srgbClr val="0099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600" b="1" err="1">
                <a:solidFill>
                  <a:srgbClr val="009900"/>
                </a:solidFill>
                <a:latin typeface="宋体" panose="02010600030101010101" pitchFamily="2" charset="-122"/>
              </a:rPr>
              <a:t>bl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；商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al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f3h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＝－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13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lnSpc>
                <a:spcPct val="90000"/>
              </a:lnSpc>
              <a:buNone/>
              <a:tabLst>
                <a:tab pos="3342005" algn="l"/>
              </a:tabLst>
            </a:pP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；余数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ah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24h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36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pic>
        <p:nvPicPr>
          <p:cNvPr id="28683" name="图片 28682" descr="1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3886200"/>
            <a:ext cx="7848600" cy="76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 advClick="0"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标题 29697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en-US" altLang="zh-CN"/>
              <a:t>2.5  </a:t>
            </a:r>
            <a:r>
              <a:rPr lang="zh-CN" altLang="en-US" dirty="0"/>
              <a:t>符号扩展指令</a:t>
            </a:r>
            <a:endParaRPr lang="zh-CN" altLang="zh-CN" dirty="0"/>
          </a:p>
        </p:txBody>
      </p:sp>
      <p:sp>
        <p:nvSpPr>
          <p:cNvPr id="29699" name="文本占位符 29698"/>
          <p:cNvSpPr>
            <a:spLocks noGrp="1"/>
          </p:cNvSpPr>
          <p:nvPr>
            <p:ph type="body" sz="half" idx="1"/>
          </p:nvPr>
        </p:nvSpPr>
        <p:spPr>
          <a:xfrm>
            <a:off x="381000" y="1447800"/>
            <a:ext cx="7620000" cy="1600200"/>
          </a:xfrm>
          <a:solidFill>
            <a:schemeClr val="bg1"/>
          </a:solidFill>
          <a:ln>
            <a:solidFill>
              <a:schemeClr val="accent2"/>
            </a:solidFill>
            <a:miter/>
          </a:ln>
        </p:spPr>
        <p:txBody>
          <a:bodyPr/>
          <a:p>
            <a:pPr marL="0" indent="190500">
              <a:lnSpc>
                <a:spcPct val="90000"/>
              </a:lnSpc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tx2"/>
                </a:solidFill>
                <a:latin typeface="宋体" panose="02010600030101010101" pitchFamily="2" charset="-122"/>
              </a:rPr>
              <a:t>CBW		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的符号扩展至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AH</a:t>
            </a:r>
            <a:endParaRPr lang="en-US" altLang="zh-CN" sz="2600" b="1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190500">
              <a:lnSpc>
                <a:spcPct val="90000"/>
              </a:lnSpc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；如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的最高有效位是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，则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AH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＝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00</a:t>
            </a:r>
            <a:endParaRPr lang="en-US" altLang="zh-CN" sz="2600" b="1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190500">
              <a:lnSpc>
                <a:spcPct val="90000"/>
              </a:lnSpc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的最高有效位为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，则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AH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＝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FFH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不变</a:t>
            </a:r>
            <a:endParaRPr lang="zh-CN" altLang="zh-CN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9700" name="文本占位符 29699"/>
          <p:cNvSpPr>
            <a:spLocks noGrp="1"/>
          </p:cNvSpPr>
          <p:nvPr>
            <p:ph type="body" sz="half" idx="2"/>
          </p:nvPr>
        </p:nvSpPr>
        <p:spPr>
          <a:xfrm>
            <a:off x="381000" y="3200400"/>
            <a:ext cx="7620000" cy="1752600"/>
          </a:xfrm>
          <a:solidFill>
            <a:schemeClr val="bg1"/>
          </a:solidFill>
          <a:ln>
            <a:solidFill>
              <a:schemeClr val="accent2"/>
            </a:solidFill>
            <a:miter/>
          </a:ln>
        </p:spPr>
        <p:txBody>
          <a:bodyPr/>
          <a:p>
            <a:pPr marL="0" indent="190500"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tx2"/>
                </a:solidFill>
                <a:latin typeface="宋体" panose="02010600030101010101" pitchFamily="2" charset="-122"/>
              </a:rPr>
              <a:t>CWD</a:t>
            </a:r>
            <a:r>
              <a:rPr lang="en-US" altLang="zh-CN" sz="2200">
                <a:solidFill>
                  <a:schemeClr val="tx2"/>
                </a:solidFill>
                <a:latin typeface="宋体" panose="02010600030101010101" pitchFamily="2" charset="-122"/>
              </a:rPr>
              <a:t>		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AX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的符号扩展至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DX</a:t>
            </a:r>
            <a:endParaRPr lang="en-US" altLang="zh-CN" sz="2600" b="1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190500"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；如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AX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的最高有效位是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，则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DX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＝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00</a:t>
            </a:r>
            <a:endParaRPr lang="en-US" altLang="zh-CN" sz="2600" b="1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190500"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AX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的最高有效位为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，则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DX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＝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FFFFH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AX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不变</a:t>
            </a:r>
            <a:endParaRPr lang="zh-CN" altLang="en-US" sz="26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9701" name="矩形 29700"/>
          <p:cNvSpPr/>
          <p:nvPr/>
        </p:nvSpPr>
        <p:spPr>
          <a:xfrm>
            <a:off x="457200" y="5257800"/>
            <a:ext cx="6553200" cy="1066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6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92150" lvl="1" indent="-34734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87425" lvl="2" indent="-29337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1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81430" lvl="3" indent="-2921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98930" lvl="4" indent="-31623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sz="2200" dirty="0">
                <a:latin typeface="宋体" panose="02010600030101010101" pitchFamily="2" charset="-122"/>
              </a:rPr>
              <a:t>什么是</a:t>
            </a:r>
            <a:r>
              <a:rPr lang="zh-CN" altLang="en-US" sz="2200" dirty="0">
                <a:solidFill>
                  <a:srgbClr val="009900"/>
                </a:solidFill>
                <a:latin typeface="宋体" panose="02010600030101010101" pitchFamily="2" charset="-122"/>
                <a:hlinkClick r:id="rId1" action="ppaction://hlinksldjump"/>
              </a:rPr>
              <a:t>符号扩展</a:t>
            </a:r>
            <a:endParaRPr lang="zh-CN" altLang="en-US" sz="2200" dirty="0">
              <a:solidFill>
                <a:srgbClr val="009900"/>
              </a:solidFill>
              <a:latin typeface="宋体" panose="02010600030101010101" pitchFamily="2" charset="-122"/>
            </a:endParaRPr>
          </a:p>
          <a:p>
            <a:pPr lvl="0"/>
            <a:r>
              <a:rPr lang="zh-CN" altLang="en-US" sz="2200" dirty="0">
                <a:latin typeface="宋体" panose="02010600030101010101" pitchFamily="2" charset="-122"/>
              </a:rPr>
              <a:t>符号扩展指令常用于获得</a:t>
            </a:r>
            <a:r>
              <a:rPr lang="zh-CN" altLang="en-US" sz="2200" dirty="0">
                <a:latin typeface="宋体" panose="02010600030101010101" pitchFamily="2" charset="-122"/>
              </a:rPr>
              <a:t>倍长的数据</a:t>
            </a:r>
            <a:endParaRPr lang="zh-CN" altLang="en-US" sz="2200" dirty="0">
              <a:latin typeface="宋体" panose="02010600030101010101" pitchFamily="2" charset="-122"/>
            </a:endParaRPr>
          </a:p>
        </p:txBody>
      </p:sp>
      <p:sp>
        <p:nvSpPr>
          <p:cNvPr id="29702" name="文本框 29701">
            <a:hlinkClick r:id="rId2" action="ppaction://hlinksldjump"/>
          </p:cNvPr>
          <p:cNvSpPr txBox="1"/>
          <p:nvPr/>
        </p:nvSpPr>
        <p:spPr>
          <a:xfrm>
            <a:off x="5791200" y="5181600"/>
            <a:ext cx="1045845" cy="39878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t" anchorCtr="0">
            <a:spAutoFit/>
          </a:bodyPr>
          <a:p>
            <a:r>
              <a:rPr lang="zh-CN" altLang="en-US" sz="2000" b="1" dirty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例题</a:t>
            </a:r>
            <a:r>
              <a:rPr lang="en-US" altLang="zh-CN" sz="2000" b="1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2.7</a:t>
            </a:r>
            <a:endParaRPr lang="en-US" altLang="zh-CN" sz="2000" b="1">
              <a:solidFill>
                <a:srgbClr val="66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3" name="文本框 29702">
            <a:hlinkClick r:id="rId3" action="ppaction://hlinksldjump"/>
          </p:cNvPr>
          <p:cNvSpPr txBox="1"/>
          <p:nvPr/>
        </p:nvSpPr>
        <p:spPr>
          <a:xfrm>
            <a:off x="5791200" y="5791200"/>
            <a:ext cx="1045845" cy="39878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t" anchorCtr="0">
            <a:spAutoFit/>
          </a:bodyPr>
          <a:p>
            <a:r>
              <a:rPr lang="zh-CN" altLang="en-US" sz="2000" b="1" dirty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例题</a:t>
            </a:r>
            <a:r>
              <a:rPr lang="en-US" altLang="zh-CN" sz="2000" b="1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2.8</a:t>
            </a:r>
            <a:endParaRPr lang="en-US" altLang="zh-CN" sz="2000" b="1">
              <a:solidFill>
                <a:srgbClr val="66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标题 30721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符号扩展的概念</a:t>
            </a:r>
            <a:endParaRPr lang="zh-CN" altLang="en-US" dirty="0"/>
          </a:p>
        </p:txBody>
      </p:sp>
      <p:sp>
        <p:nvSpPr>
          <p:cNvPr id="30723" name="文本占位符 30722"/>
          <p:cNvSpPr>
            <a:spLocks noGrp="1"/>
          </p:cNvSpPr>
          <p:nvPr>
            <p:ph type="body" idx="1"/>
          </p:nvPr>
        </p:nvSpPr>
        <p:spPr>
          <a:xfrm>
            <a:off x="304800" y="1622425"/>
            <a:ext cx="7620000" cy="4702175"/>
          </a:xfrm>
        </p:spPr>
        <p:txBody>
          <a:bodyPr/>
          <a:p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符号扩展是指用一个操作数的符号位（即最高位）形成另一个操作数，后一个操作数的各位是全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（正数）或全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（负数）。</a:t>
            </a:r>
            <a:r>
              <a:rPr lang="zh-CN" altLang="en-US" sz="2600" b="1" dirty="0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符号扩展不改变数据大小</a:t>
            </a:r>
            <a:endParaRPr lang="zh-CN" altLang="en-US" sz="2600" b="1" dirty="0">
              <a:solidFill>
                <a:srgbClr val="0099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对于数据</a:t>
            </a:r>
            <a:r>
              <a:rPr lang="en-US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64H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（表示数据</a:t>
            </a:r>
            <a:r>
              <a:rPr lang="en-US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100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），其最高位</a:t>
            </a:r>
            <a:r>
              <a:rPr lang="en-US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en-US" altLang="zh-CN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en-US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，符号扩展后高</a:t>
            </a:r>
            <a:r>
              <a:rPr lang="en-US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位都是</a:t>
            </a:r>
            <a:r>
              <a:rPr lang="en-US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，成为</a:t>
            </a:r>
            <a:r>
              <a:rPr lang="zh-CN" altLang="zh-CN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0064</a:t>
            </a:r>
            <a:r>
              <a:rPr lang="en-US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（仍表示数据</a:t>
            </a:r>
            <a:r>
              <a:rPr lang="en-US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100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zh-CN" altLang="en-US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对于数据</a:t>
            </a:r>
            <a:r>
              <a:rPr lang="en-US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FF00H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（表示有符号数</a:t>
            </a:r>
            <a:r>
              <a:rPr lang="en-US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-256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），其最高位</a:t>
            </a:r>
            <a:r>
              <a:rPr lang="en-US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en-US" altLang="zh-CN" sz="22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15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en-US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，符号扩展后高</a:t>
            </a:r>
            <a:r>
              <a:rPr lang="en-US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位都是</a:t>
            </a:r>
            <a:r>
              <a:rPr lang="en-US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，成为</a:t>
            </a:r>
            <a:r>
              <a:rPr lang="en-US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FFFFFF00H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（仍表示有符号数</a:t>
            </a:r>
            <a:r>
              <a:rPr lang="en-US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-256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zh-CN" altLang="zh-CN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 advClick="0"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52" name="标题 31751"/>
          <p:cNvSpPr>
            <a:spLocks noGrp="1"/>
          </p:cNvSpPr>
          <p:nvPr>
            <p:ph type="title"/>
          </p:nvPr>
        </p:nvSpPr>
        <p:spPr>
          <a:xfrm>
            <a:off x="914400" y="762000"/>
            <a:ext cx="3505200" cy="609600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sz="3000" dirty="0"/>
              <a:t>例</a:t>
            </a:r>
            <a:r>
              <a:rPr lang="en-US" altLang="zh-CN" sz="3000"/>
              <a:t>2.7</a:t>
            </a:r>
            <a:r>
              <a:rPr lang="zh-CN" altLang="en-US" sz="3000" dirty="0"/>
              <a:t>：符号扩展</a:t>
            </a:r>
            <a:endParaRPr lang="zh-CN" altLang="en-US" sz="3000" dirty="0"/>
          </a:p>
        </p:txBody>
      </p:sp>
      <p:sp>
        <p:nvSpPr>
          <p:cNvPr id="31753" name="文本占位符 31752"/>
          <p:cNvSpPr>
            <a:spLocks noGrp="1"/>
          </p:cNvSpPr>
          <p:nvPr>
            <p:ph type="body" idx="1"/>
          </p:nvPr>
        </p:nvSpPr>
        <p:spPr>
          <a:xfrm>
            <a:off x="762000" y="2057400"/>
            <a:ext cx="7648575" cy="3797300"/>
          </a:xfrm>
          <a:solidFill>
            <a:schemeClr val="bg1"/>
          </a:solidFill>
        </p:spPr>
        <p:txBody>
          <a:bodyPr/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</a:rPr>
              <a:t> al,80h</a:t>
            </a:r>
            <a:r>
              <a:rPr lang="en-US" altLang="zh-CN">
                <a:latin typeface="宋体" panose="02010600030101010101" pitchFamily="2" charset="-122"/>
              </a:rPr>
              <a:t>	</a:t>
            </a:r>
            <a:r>
              <a:rPr lang="zh-CN" altLang="en-US" dirty="0">
                <a:latin typeface="宋体" panose="02010600030101010101" pitchFamily="2" charset="-122"/>
              </a:rPr>
              <a:t>；</a:t>
            </a:r>
            <a:r>
              <a:rPr lang="en-US" altLang="zh-CN">
                <a:latin typeface="宋体" panose="02010600030101010101" pitchFamily="2" charset="-122"/>
              </a:rPr>
              <a:t>al=80h</a:t>
            </a:r>
            <a:endParaRPr lang="en-US" altLang="zh-CN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b="1" err="1">
                <a:solidFill>
                  <a:schemeClr val="tx2"/>
                </a:solidFill>
                <a:latin typeface="宋体" panose="02010600030101010101" pitchFamily="2" charset="-122"/>
              </a:rPr>
              <a:t>cbw</a:t>
            </a: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dirty="0">
                <a:latin typeface="宋体" panose="02010600030101010101" pitchFamily="2" charset="-122"/>
              </a:rPr>
              <a:t>；</a:t>
            </a:r>
            <a:r>
              <a:rPr lang="en-US" altLang="zh-CN">
                <a:latin typeface="宋体" panose="02010600030101010101" pitchFamily="2" charset="-122"/>
              </a:rPr>
              <a:t>ax=ff80h</a:t>
            </a:r>
            <a:endParaRPr lang="en-US" altLang="zh-CN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</a:rPr>
              <a:t>add al,255</a:t>
            </a: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dirty="0">
                <a:latin typeface="宋体" panose="02010600030101010101" pitchFamily="2" charset="-122"/>
              </a:rPr>
              <a:t>；</a:t>
            </a:r>
            <a:r>
              <a:rPr lang="en-US" altLang="zh-CN">
                <a:latin typeface="宋体" panose="02010600030101010101" pitchFamily="2" charset="-122"/>
              </a:rPr>
              <a:t>al=7fh</a:t>
            </a:r>
            <a:endParaRPr lang="en-US" altLang="zh-CN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b="1" err="1">
                <a:solidFill>
                  <a:schemeClr val="tx2"/>
                </a:solidFill>
                <a:latin typeface="宋体" panose="02010600030101010101" pitchFamily="2" charset="-122"/>
              </a:rPr>
              <a:t>cbw</a:t>
            </a: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dirty="0">
                <a:latin typeface="宋体" panose="02010600030101010101" pitchFamily="2" charset="-122"/>
              </a:rPr>
              <a:t>；</a:t>
            </a:r>
            <a:r>
              <a:rPr lang="en-US" altLang="zh-CN">
                <a:latin typeface="宋体" panose="02010600030101010101" pitchFamily="2" charset="-122"/>
              </a:rPr>
              <a:t>ax=007fh</a:t>
            </a:r>
            <a:endParaRPr lang="en-US" altLang="zh-CN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 advClick="0"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6" name="标题 32775"/>
          <p:cNvSpPr>
            <a:spLocks noGrp="1"/>
          </p:cNvSpPr>
          <p:nvPr>
            <p:ph type="title"/>
          </p:nvPr>
        </p:nvSpPr>
        <p:spPr>
          <a:xfrm>
            <a:off x="914400" y="762000"/>
            <a:ext cx="3657600" cy="609600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sz="3000" dirty="0"/>
              <a:t>例</a:t>
            </a:r>
            <a:r>
              <a:rPr lang="en-US" altLang="zh-CN" sz="3000"/>
              <a:t>2.8</a:t>
            </a:r>
            <a:r>
              <a:rPr lang="zh-CN" altLang="en-US" sz="3000" dirty="0"/>
              <a:t>：</a:t>
            </a:r>
            <a:r>
              <a:rPr lang="en-US" altLang="zh-CN" sz="3000"/>
              <a:t>AX÷BX</a:t>
            </a:r>
            <a:endParaRPr lang="en-US" altLang="zh-CN" sz="3000"/>
          </a:p>
        </p:txBody>
      </p:sp>
      <p:sp>
        <p:nvSpPr>
          <p:cNvPr id="32777" name="文本占位符 32776"/>
          <p:cNvSpPr>
            <a:spLocks noGrp="1"/>
          </p:cNvSpPr>
          <p:nvPr>
            <p:ph type="body" idx="1"/>
          </p:nvPr>
        </p:nvSpPr>
        <p:spPr>
          <a:xfrm>
            <a:off x="762000" y="1600200"/>
            <a:ext cx="7648575" cy="1219200"/>
          </a:xfrm>
          <a:solidFill>
            <a:schemeClr val="bg1"/>
          </a:solidFill>
        </p:spPr>
        <p:txBody>
          <a:bodyPr/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b="1" err="1">
                <a:solidFill>
                  <a:schemeClr val="tx2"/>
                </a:solidFill>
                <a:latin typeface="宋体" panose="02010600030101010101" pitchFamily="2" charset="-122"/>
              </a:rPr>
              <a:t>cwd</a:t>
            </a: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dirty="0">
                <a:latin typeface="宋体" panose="02010600030101010101" pitchFamily="2" charset="-122"/>
              </a:rPr>
              <a:t>；</a:t>
            </a:r>
            <a:r>
              <a:rPr lang="en-US" altLang="zh-CN">
                <a:latin typeface="宋体" panose="02010600030101010101" pitchFamily="2" charset="-122"/>
              </a:rPr>
              <a:t>DX.AX←AX</a:t>
            </a:r>
            <a:endParaRPr lang="en-US" altLang="zh-CN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b="1" err="1">
                <a:solidFill>
                  <a:srgbClr val="0000FF"/>
                </a:solidFill>
                <a:latin typeface="宋体" panose="02010600030101010101" pitchFamily="2" charset="-122"/>
              </a:rPr>
              <a:t>idiv</a:t>
            </a: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err="1">
                <a:solidFill>
                  <a:srgbClr val="0000FF"/>
                </a:solidFill>
                <a:latin typeface="宋体" panose="02010600030101010101" pitchFamily="2" charset="-122"/>
              </a:rPr>
              <a:t>bx</a:t>
            </a: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dirty="0">
                <a:latin typeface="宋体" panose="02010600030101010101" pitchFamily="2" charset="-122"/>
              </a:rPr>
              <a:t>；</a:t>
            </a:r>
            <a:r>
              <a:rPr lang="en-US" altLang="zh-CN">
                <a:latin typeface="宋体" panose="02010600030101010101" pitchFamily="2" charset="-122"/>
              </a:rPr>
              <a:t>AX←DX.AX÷BX</a:t>
            </a:r>
            <a:endParaRPr lang="en-US" altLang="zh-CN">
              <a:latin typeface="宋体" panose="02010600030101010101" pitchFamily="2" charset="-122"/>
            </a:endParaRPr>
          </a:p>
        </p:txBody>
      </p:sp>
      <p:sp>
        <p:nvSpPr>
          <p:cNvPr id="32778" name="圆角矩形 32777" descr="画布"/>
          <p:cNvSpPr/>
          <p:nvPr/>
        </p:nvSpPr>
        <p:spPr>
          <a:xfrm>
            <a:off x="838200" y="3048000"/>
            <a:ext cx="7239000" cy="3124200"/>
          </a:xfrm>
          <a:prstGeom prst="roundRect">
            <a:avLst>
              <a:gd name="adj" fmla="val 16667"/>
            </a:avLst>
          </a:prstGeom>
          <a:blipFill rotWithShape="0">
            <a:blip r:embed="rId1"/>
          </a:blipFill>
          <a:ln w="9525">
            <a:noFill/>
          </a:ln>
        </p:spPr>
        <p:txBody>
          <a:bodyPr anchor="ctr" anchorCtr="0"/>
          <a:p>
            <a:pPr algn="just">
              <a:spcBef>
                <a:spcPct val="20000"/>
              </a:spcBef>
              <a:buBlip>
                <a:blip r:embed="rId2"/>
              </a:buBlip>
            </a:pPr>
            <a:r>
              <a:rPr lang="en-US" altLang="zh-CN" sz="32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对有符号数除法，可以利用符号扩展指令得到倍长于除数的被除数</a:t>
            </a:r>
            <a:endParaRPr lang="zh-CN" altLang="en-US" sz="3200" b="1" dirty="0">
              <a:solidFill>
                <a:srgbClr val="0099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>
              <a:spcBef>
                <a:spcPct val="20000"/>
              </a:spcBef>
              <a:buBlip>
                <a:blip r:embed="rId2"/>
              </a:buBlip>
            </a:pPr>
            <a:r>
              <a:rPr lang="zh-CN" altLang="en-US" sz="3200" b="1" dirty="0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对无符号数除法，采用直接使高</a:t>
            </a:r>
            <a:r>
              <a:rPr lang="en-US" altLang="zh-CN" sz="3200" b="1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3200" b="1" dirty="0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位或高</a:t>
            </a:r>
            <a:r>
              <a:rPr lang="en-US" altLang="zh-CN" sz="3200" b="1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3200" b="1" dirty="0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位清</a:t>
            </a:r>
            <a:r>
              <a:rPr lang="en-US" altLang="zh-CN" sz="3200" b="1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3200" b="1" dirty="0">
                <a:solidFill>
                  <a:srgbClr val="0099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，获得倍长的被除数。这就是</a:t>
            </a: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零位扩展</a:t>
            </a:r>
            <a:endParaRPr lang="zh-CN" altLang="en-US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 advClick="0"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标题 33793"/>
          <p:cNvSpPr>
            <a:spLocks noGrp="1"/>
          </p:cNvSpPr>
          <p:nvPr>
            <p:ph type="title"/>
          </p:nvPr>
        </p:nvSpPr>
        <p:spPr>
          <a:xfrm>
            <a:off x="457200" y="685800"/>
            <a:ext cx="6629400" cy="731838"/>
          </a:xfrm>
        </p:spPr>
        <p:txBody>
          <a:bodyPr anchor="b" anchorCtr="0"/>
          <a:p>
            <a:r>
              <a:rPr lang="en-US" altLang="zh-CN"/>
              <a:t>2.6  </a:t>
            </a:r>
            <a:r>
              <a:rPr lang="zh-CN" altLang="en-US" dirty="0"/>
              <a:t>十进制调整指令</a:t>
            </a:r>
            <a:endParaRPr lang="zh-CN" altLang="zh-CN" dirty="0"/>
          </a:p>
        </p:txBody>
      </p:sp>
      <p:sp>
        <p:nvSpPr>
          <p:cNvPr id="33795" name="文本占位符 33794"/>
          <p:cNvSpPr>
            <a:spLocks noGrp="1"/>
          </p:cNvSpPr>
          <p:nvPr>
            <p:ph type="body" sz="half" idx="1"/>
          </p:nvPr>
        </p:nvSpPr>
        <p:spPr>
          <a:xfrm>
            <a:off x="381000" y="3429000"/>
            <a:ext cx="4038600" cy="2819400"/>
          </a:xfrm>
          <a:ln>
            <a:solidFill>
              <a:schemeClr val="accent2"/>
            </a:solidFill>
            <a:miter/>
          </a:ln>
        </p:spPr>
        <p:txBody>
          <a:bodyPr/>
          <a:p>
            <a:pPr>
              <a:buClr>
                <a:schemeClr val="bg2"/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600" b="1" dirty="0">
                <a:solidFill>
                  <a:srgbClr val="009900"/>
                </a:solidFill>
              </a:rPr>
              <a:t>压缩</a:t>
            </a:r>
            <a:r>
              <a:rPr lang="en-US" altLang="zh-CN" sz="2600" b="1">
                <a:solidFill>
                  <a:srgbClr val="009900"/>
                </a:solidFill>
              </a:rPr>
              <a:t>BCD</a:t>
            </a:r>
            <a:r>
              <a:rPr lang="zh-CN" altLang="en-US" sz="2600" b="1" dirty="0">
                <a:solidFill>
                  <a:srgbClr val="009900"/>
                </a:solidFill>
              </a:rPr>
              <a:t>码</a:t>
            </a:r>
            <a:r>
              <a:rPr lang="zh-CN" altLang="en-US" sz="2600" dirty="0">
                <a:solidFill>
                  <a:srgbClr val="009900"/>
                </a:solidFill>
              </a:rPr>
              <a:t>就是通常的</a:t>
            </a:r>
            <a:r>
              <a:rPr lang="en-US" altLang="zh-CN" sz="2600">
                <a:solidFill>
                  <a:srgbClr val="009900"/>
                </a:solidFill>
              </a:rPr>
              <a:t>8421</a:t>
            </a:r>
            <a:r>
              <a:rPr lang="zh-CN" altLang="en-US" sz="2600" dirty="0">
                <a:solidFill>
                  <a:srgbClr val="009900"/>
                </a:solidFill>
              </a:rPr>
              <a:t>码；它用</a:t>
            </a:r>
            <a:r>
              <a:rPr lang="en-US" altLang="zh-CN" sz="2600">
                <a:solidFill>
                  <a:srgbClr val="009900"/>
                </a:solidFill>
              </a:rPr>
              <a:t>4</a:t>
            </a:r>
            <a:r>
              <a:rPr lang="zh-CN" altLang="en-US" sz="2600" dirty="0">
                <a:solidFill>
                  <a:srgbClr val="009900"/>
                </a:solidFill>
              </a:rPr>
              <a:t>个二进制位表示一个十进制位，一个字节可以表示两个十进制位，即</a:t>
            </a:r>
            <a:r>
              <a:rPr lang="en-US" altLang="zh-CN" sz="2600">
                <a:solidFill>
                  <a:srgbClr val="009900"/>
                </a:solidFill>
              </a:rPr>
              <a:t>00</a:t>
            </a:r>
            <a:r>
              <a:rPr lang="zh-CN" altLang="en-US" sz="2600" dirty="0">
                <a:solidFill>
                  <a:srgbClr val="009900"/>
                </a:solidFill>
              </a:rPr>
              <a:t>～</a:t>
            </a:r>
            <a:r>
              <a:rPr lang="en-US" altLang="zh-CN" sz="2600">
                <a:solidFill>
                  <a:srgbClr val="009900"/>
                </a:solidFill>
              </a:rPr>
              <a:t>99</a:t>
            </a:r>
            <a:endParaRPr lang="zh-CN" altLang="zh-CN" sz="2600" dirty="0">
              <a:solidFill>
                <a:srgbClr val="009900"/>
              </a:solidFill>
            </a:endParaRPr>
          </a:p>
        </p:txBody>
      </p:sp>
      <p:sp>
        <p:nvSpPr>
          <p:cNvPr id="33796" name="文本占位符 33795"/>
          <p:cNvSpPr>
            <a:spLocks noGrp="1"/>
          </p:cNvSpPr>
          <p:nvPr>
            <p:ph type="body" sz="half" idx="2"/>
          </p:nvPr>
        </p:nvSpPr>
        <p:spPr>
          <a:xfrm>
            <a:off x="4724400" y="3429000"/>
            <a:ext cx="3900488" cy="2786063"/>
          </a:xfrm>
          <a:ln>
            <a:solidFill>
              <a:schemeClr val="accent2"/>
            </a:solidFill>
            <a:miter/>
          </a:ln>
        </p:spPr>
        <p:txBody>
          <a:bodyPr/>
          <a:p>
            <a:pPr>
              <a:buClr>
                <a:schemeClr val="bg2"/>
              </a:buClr>
              <a:buSzPct val="70000"/>
              <a:buFont typeface="Wingdings" panose="05000000000000000000" pitchFamily="2" charset="2"/>
              <a:buChar char="q"/>
            </a:pPr>
            <a:r>
              <a:rPr lang="zh-CN" altLang="en-US" sz="2600" b="1" dirty="0">
                <a:solidFill>
                  <a:schemeClr val="tx2"/>
                </a:solidFill>
              </a:rPr>
              <a:t>非压缩</a:t>
            </a:r>
            <a:r>
              <a:rPr lang="en-US" altLang="zh-CN" sz="2600" b="1">
                <a:solidFill>
                  <a:schemeClr val="tx2"/>
                </a:solidFill>
              </a:rPr>
              <a:t>BCD</a:t>
            </a:r>
            <a:r>
              <a:rPr lang="zh-CN" altLang="en-US" sz="2600" b="1" dirty="0">
                <a:solidFill>
                  <a:schemeClr val="tx2"/>
                </a:solidFill>
              </a:rPr>
              <a:t>码</a:t>
            </a:r>
            <a:r>
              <a:rPr lang="zh-CN" altLang="en-US" sz="2600" dirty="0">
                <a:solidFill>
                  <a:schemeClr val="tx2"/>
                </a:solidFill>
              </a:rPr>
              <a:t>用</a:t>
            </a:r>
            <a:r>
              <a:rPr lang="en-US" altLang="zh-CN" sz="2600">
                <a:solidFill>
                  <a:schemeClr val="tx2"/>
                </a:solidFill>
              </a:rPr>
              <a:t>8</a:t>
            </a:r>
            <a:r>
              <a:rPr lang="zh-CN" altLang="en-US" sz="2600" dirty="0">
                <a:solidFill>
                  <a:schemeClr val="tx2"/>
                </a:solidFill>
              </a:rPr>
              <a:t>个二进制位表示一个十进制位，只用低</a:t>
            </a:r>
            <a:r>
              <a:rPr lang="en-US" altLang="zh-CN" sz="2600">
                <a:solidFill>
                  <a:schemeClr val="tx2"/>
                </a:solidFill>
              </a:rPr>
              <a:t>4</a:t>
            </a:r>
            <a:r>
              <a:rPr lang="zh-CN" altLang="en-US" sz="2600" dirty="0">
                <a:solidFill>
                  <a:schemeClr val="tx2"/>
                </a:solidFill>
              </a:rPr>
              <a:t>个二进制位表示一个十进制位</a:t>
            </a:r>
            <a:r>
              <a:rPr lang="en-US" altLang="zh-CN" sz="2600">
                <a:solidFill>
                  <a:schemeClr val="tx2"/>
                </a:solidFill>
              </a:rPr>
              <a:t>0</a:t>
            </a:r>
            <a:r>
              <a:rPr lang="zh-CN" altLang="en-US" sz="2600" dirty="0">
                <a:solidFill>
                  <a:schemeClr val="tx2"/>
                </a:solidFill>
              </a:rPr>
              <a:t>～</a:t>
            </a:r>
            <a:r>
              <a:rPr lang="en-US" altLang="zh-CN" sz="2600">
                <a:solidFill>
                  <a:schemeClr val="tx2"/>
                </a:solidFill>
              </a:rPr>
              <a:t>9</a:t>
            </a:r>
            <a:r>
              <a:rPr lang="zh-CN" altLang="en-US" sz="2600" dirty="0">
                <a:solidFill>
                  <a:schemeClr val="tx2"/>
                </a:solidFill>
              </a:rPr>
              <a:t>，高</a:t>
            </a:r>
            <a:r>
              <a:rPr lang="en-US" altLang="zh-CN" sz="2600">
                <a:solidFill>
                  <a:schemeClr val="tx2"/>
                </a:solidFill>
              </a:rPr>
              <a:t>4</a:t>
            </a:r>
            <a:r>
              <a:rPr lang="zh-CN" altLang="en-US" sz="2600" dirty="0">
                <a:solidFill>
                  <a:schemeClr val="tx2"/>
                </a:solidFill>
              </a:rPr>
              <a:t>位任意，通常默认为</a:t>
            </a:r>
            <a:r>
              <a:rPr lang="en-US" altLang="zh-CN" sz="2600">
                <a:solidFill>
                  <a:schemeClr val="tx2"/>
                </a:solidFill>
              </a:rPr>
              <a:t>0</a:t>
            </a:r>
            <a:endParaRPr lang="en-US" altLang="zh-CN" sz="2600">
              <a:solidFill>
                <a:schemeClr val="tx2"/>
              </a:solidFill>
            </a:endParaRPr>
          </a:p>
        </p:txBody>
      </p:sp>
      <p:sp>
        <p:nvSpPr>
          <p:cNvPr id="33797" name="矩形 33796"/>
          <p:cNvSpPr/>
          <p:nvPr/>
        </p:nvSpPr>
        <p:spPr>
          <a:xfrm>
            <a:off x="457200" y="1600200"/>
            <a:ext cx="7543800" cy="1447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6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92150" lvl="1" indent="-34734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87425" lvl="2" indent="-29337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1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81430" lvl="3" indent="-2921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98930" lvl="4" indent="-31623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十进制数调整指令对二进制运算的结果进行十进制调整，以得到十进制的运算结果</a:t>
            </a: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/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分成压缩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BCD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和非压缩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BCD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码调整</a:t>
            </a: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标题 34817"/>
          <p:cNvSpPr>
            <a:spLocks noGrp="1"/>
          </p:cNvSpPr>
          <p:nvPr>
            <p:ph type="title"/>
          </p:nvPr>
        </p:nvSpPr>
        <p:spPr>
          <a:xfrm>
            <a:off x="457200" y="609600"/>
            <a:ext cx="7543800" cy="647700"/>
          </a:xfrm>
        </p:spPr>
        <p:txBody>
          <a:bodyPr anchor="b" anchorCtr="0"/>
          <a:p>
            <a:r>
              <a:rPr lang="en-US" altLang="zh-CN" sz="4300"/>
              <a:t>BCD</a:t>
            </a:r>
            <a:r>
              <a:rPr lang="zh-CN" altLang="en-US" sz="4300" dirty="0"/>
              <a:t>码</a:t>
            </a:r>
            <a:r>
              <a:rPr lang="zh-CN" altLang="en-US" sz="3500" b="0" dirty="0"/>
              <a:t>（</a:t>
            </a:r>
            <a:r>
              <a:rPr lang="en-US" altLang="zh-CN" sz="3500" b="0"/>
              <a:t>Binary Coded Decimal</a:t>
            </a:r>
            <a:r>
              <a:rPr lang="zh-CN" altLang="en-US" sz="3500" b="0" dirty="0"/>
              <a:t>）</a:t>
            </a:r>
            <a:endParaRPr lang="zh-CN" altLang="en-US" sz="3500" b="0" dirty="0"/>
          </a:p>
        </p:txBody>
      </p:sp>
      <p:sp>
        <p:nvSpPr>
          <p:cNvPr id="34819" name="文本占位符 34818"/>
          <p:cNvSpPr>
            <a:spLocks noGrp="1"/>
          </p:cNvSpPr>
          <p:nvPr>
            <p:ph type="body" idx="1"/>
          </p:nvPr>
        </p:nvSpPr>
        <p:spPr>
          <a:xfrm>
            <a:off x="685800" y="1676400"/>
            <a:ext cx="7239000" cy="4411663"/>
          </a:xfrm>
        </p:spPr>
        <p:txBody>
          <a:bodyPr/>
          <a:p>
            <a:pPr defTabSz="914400">
              <a:lnSpc>
                <a:spcPct val="90000"/>
              </a:lnSpc>
              <a:tabLst>
                <a:tab pos="3942080" algn="l"/>
                <a:tab pos="5742305" algn="l"/>
              </a:tabLst>
            </a:pP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二进制编码的十进制数：一位十进制数用</a:t>
            </a:r>
            <a:r>
              <a:rPr lang="en-US" altLang="zh-CN" sz="28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位二进制编码来表示</a:t>
            </a:r>
            <a:endParaRPr lang="zh-CN" altLang="en-US" sz="28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defTabSz="914400">
              <a:lnSpc>
                <a:spcPct val="90000"/>
              </a:lnSpc>
              <a:tabLst>
                <a:tab pos="3942080" algn="l"/>
                <a:tab pos="5742305" algn="l"/>
              </a:tabLst>
            </a:pPr>
            <a:r>
              <a:rPr lang="en-US" altLang="zh-CN" sz="28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支持压缩</a:t>
            </a:r>
            <a:r>
              <a:rPr lang="en-US" altLang="zh-CN" sz="28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BCD</a:t>
            </a: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码和非压缩</a:t>
            </a:r>
            <a:r>
              <a:rPr lang="en-US" altLang="zh-CN" sz="28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BCD</a:t>
            </a: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码的调整运算</a:t>
            </a:r>
            <a:endParaRPr lang="zh-CN" altLang="en-US" sz="28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2" defTabSz="914400">
              <a:lnSpc>
                <a:spcPct val="90000"/>
              </a:lnSpc>
              <a:buNone/>
              <a:tabLst>
                <a:tab pos="3942080" algn="l"/>
                <a:tab pos="5742305" algn="l"/>
              </a:tabLst>
            </a:pPr>
            <a:endParaRPr lang="zh-CN" altLang="en-US" sz="2800" dirty="0">
              <a:solidFill>
                <a:srgbClr val="009900"/>
              </a:solidFill>
            </a:endParaRPr>
          </a:p>
          <a:p>
            <a:pPr lvl="2" defTabSz="914400">
              <a:lnSpc>
                <a:spcPct val="90000"/>
              </a:lnSpc>
              <a:buNone/>
              <a:tabLst>
                <a:tab pos="3942080" algn="l"/>
                <a:tab pos="5742305" algn="l"/>
              </a:tabLst>
            </a:pPr>
            <a:r>
              <a:rPr lang="zh-CN" altLang="en-US" sz="2800" dirty="0">
                <a:solidFill>
                  <a:srgbClr val="009900"/>
                </a:solidFill>
              </a:rPr>
              <a:t>真值</a:t>
            </a:r>
            <a:r>
              <a:rPr lang="zh-CN" altLang="en-US" sz="2800" dirty="0"/>
              <a:t>	</a:t>
            </a:r>
            <a:r>
              <a:rPr lang="en-US" altLang="zh-CN" sz="2800"/>
              <a:t>8	64</a:t>
            </a:r>
            <a:endParaRPr lang="en-US" altLang="zh-CN" sz="2800"/>
          </a:p>
          <a:p>
            <a:pPr lvl="2" defTabSz="914400">
              <a:lnSpc>
                <a:spcPct val="90000"/>
              </a:lnSpc>
              <a:buNone/>
              <a:tabLst>
                <a:tab pos="3942080" algn="l"/>
                <a:tab pos="5742305" algn="l"/>
              </a:tabLst>
            </a:pPr>
            <a:r>
              <a:rPr lang="zh-CN" altLang="en-US" sz="2800" dirty="0">
                <a:solidFill>
                  <a:srgbClr val="009900"/>
                </a:solidFill>
              </a:rPr>
              <a:t>二进制编码</a:t>
            </a:r>
            <a:r>
              <a:rPr lang="zh-CN" altLang="en-US" sz="2800" dirty="0"/>
              <a:t>	</a:t>
            </a:r>
            <a:r>
              <a:rPr lang="en-US" altLang="zh-CN" sz="2800">
                <a:solidFill>
                  <a:schemeClr val="tx2"/>
                </a:solidFill>
              </a:rPr>
              <a:t>08H</a:t>
            </a:r>
            <a:r>
              <a:rPr lang="en-US" altLang="zh-CN" sz="2800"/>
              <a:t>	</a:t>
            </a:r>
            <a:r>
              <a:rPr lang="en-US" altLang="zh-CN" sz="2800">
                <a:solidFill>
                  <a:schemeClr val="accent2"/>
                </a:solidFill>
              </a:rPr>
              <a:t>40H</a:t>
            </a:r>
            <a:endParaRPr lang="en-US" altLang="zh-CN" sz="2800">
              <a:solidFill>
                <a:schemeClr val="accent2"/>
              </a:solidFill>
            </a:endParaRPr>
          </a:p>
          <a:p>
            <a:pPr lvl="2" defTabSz="914400">
              <a:lnSpc>
                <a:spcPct val="90000"/>
              </a:lnSpc>
              <a:buNone/>
              <a:tabLst>
                <a:tab pos="3942080" algn="l"/>
                <a:tab pos="5742305" algn="l"/>
              </a:tabLst>
            </a:pPr>
            <a:r>
              <a:rPr lang="zh-CN" altLang="en-US" sz="2800" dirty="0">
                <a:solidFill>
                  <a:srgbClr val="009900"/>
                </a:solidFill>
              </a:rPr>
              <a:t>压缩</a:t>
            </a:r>
            <a:r>
              <a:rPr lang="en-US" altLang="zh-CN" sz="2800">
                <a:solidFill>
                  <a:srgbClr val="009900"/>
                </a:solidFill>
              </a:rPr>
              <a:t>BCD</a:t>
            </a:r>
            <a:r>
              <a:rPr lang="zh-CN" altLang="en-US" sz="2800" dirty="0">
                <a:solidFill>
                  <a:srgbClr val="009900"/>
                </a:solidFill>
              </a:rPr>
              <a:t>码</a:t>
            </a:r>
            <a:r>
              <a:rPr lang="zh-CN" altLang="en-US" sz="2800" dirty="0"/>
              <a:t>	</a:t>
            </a:r>
            <a:r>
              <a:rPr lang="en-US" altLang="zh-CN" sz="2800">
                <a:solidFill>
                  <a:schemeClr val="tx2"/>
                </a:solidFill>
              </a:rPr>
              <a:t>08H</a:t>
            </a:r>
            <a:r>
              <a:rPr lang="en-US" altLang="zh-CN" sz="2800"/>
              <a:t>	</a:t>
            </a:r>
            <a:r>
              <a:rPr lang="en-US" altLang="zh-CN" sz="2800">
                <a:solidFill>
                  <a:schemeClr val="accent2"/>
                </a:solidFill>
              </a:rPr>
              <a:t>64H</a:t>
            </a:r>
            <a:endParaRPr lang="en-US" altLang="zh-CN" sz="2800">
              <a:solidFill>
                <a:schemeClr val="accent2"/>
              </a:solidFill>
            </a:endParaRPr>
          </a:p>
          <a:p>
            <a:pPr lvl="2" defTabSz="914400">
              <a:lnSpc>
                <a:spcPct val="90000"/>
              </a:lnSpc>
              <a:buNone/>
              <a:tabLst>
                <a:tab pos="3942080" algn="l"/>
                <a:tab pos="5742305" algn="l"/>
              </a:tabLst>
            </a:pPr>
            <a:r>
              <a:rPr lang="zh-CN" altLang="en-US" sz="2800" dirty="0">
                <a:solidFill>
                  <a:srgbClr val="009900"/>
                </a:solidFill>
              </a:rPr>
              <a:t>非压缩</a:t>
            </a:r>
            <a:r>
              <a:rPr lang="en-US" altLang="zh-CN" sz="2800">
                <a:solidFill>
                  <a:srgbClr val="009900"/>
                </a:solidFill>
              </a:rPr>
              <a:t>BCD</a:t>
            </a:r>
            <a:r>
              <a:rPr lang="zh-CN" altLang="en-US" sz="2800" dirty="0">
                <a:solidFill>
                  <a:srgbClr val="009900"/>
                </a:solidFill>
              </a:rPr>
              <a:t>码</a:t>
            </a:r>
            <a:r>
              <a:rPr lang="zh-CN" altLang="en-US" sz="2800" dirty="0"/>
              <a:t>	</a:t>
            </a:r>
            <a:r>
              <a:rPr lang="en-US" altLang="zh-CN" sz="2800">
                <a:solidFill>
                  <a:schemeClr val="tx2"/>
                </a:solidFill>
              </a:rPr>
              <a:t>08H</a:t>
            </a:r>
            <a:r>
              <a:rPr lang="en-US" altLang="zh-CN" sz="2800"/>
              <a:t>	</a:t>
            </a:r>
            <a:r>
              <a:rPr lang="en-US" altLang="zh-CN" sz="2800">
                <a:solidFill>
                  <a:schemeClr val="accent2"/>
                </a:solidFill>
              </a:rPr>
              <a:t>0604H</a:t>
            </a:r>
            <a:endParaRPr lang="en-US" altLang="zh-CN" sz="2800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 spd="med"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标题 35841"/>
          <p:cNvSpPr>
            <a:spLocks noGrp="1"/>
          </p:cNvSpPr>
          <p:nvPr>
            <p:ph type="title"/>
          </p:nvPr>
        </p:nvSpPr>
        <p:spPr>
          <a:xfrm>
            <a:off x="457200" y="838200"/>
            <a:ext cx="7537450" cy="639763"/>
          </a:xfrm>
        </p:spPr>
        <p:txBody>
          <a:bodyPr anchor="b" anchorCtr="0"/>
          <a:p>
            <a:r>
              <a:rPr lang="zh-CN" altLang="en-US" dirty="0"/>
              <a:t>压缩</a:t>
            </a:r>
            <a:r>
              <a:rPr lang="en-US" altLang="zh-CN"/>
              <a:t>BCD</a:t>
            </a:r>
            <a:r>
              <a:rPr lang="zh-CN" altLang="en-US" dirty="0"/>
              <a:t>码加、减调整指令</a:t>
            </a:r>
            <a:endParaRPr lang="zh-CN" altLang="zh-CN" dirty="0"/>
          </a:p>
        </p:txBody>
      </p:sp>
      <p:sp>
        <p:nvSpPr>
          <p:cNvPr id="35843" name="文本占位符 35842"/>
          <p:cNvSpPr>
            <a:spLocks noGrp="1"/>
          </p:cNvSpPr>
          <p:nvPr>
            <p:ph type="body" sz="half" idx="1"/>
          </p:nvPr>
        </p:nvSpPr>
        <p:spPr>
          <a:xfrm>
            <a:off x="304800" y="1752600"/>
            <a:ext cx="4152900" cy="2514600"/>
          </a:xfrm>
          <a:ln>
            <a:solidFill>
              <a:schemeClr val="accent2"/>
            </a:solidFill>
            <a:miter/>
          </a:ln>
        </p:spPr>
        <p:txBody>
          <a:bodyPr/>
          <a:p>
            <a:pPr marL="0" indent="184150">
              <a:lnSpc>
                <a:spcPct val="90000"/>
              </a:lnSpc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zh-CN" sz="2600" dirty="0">
                <a:solidFill>
                  <a:srgbClr val="0099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600">
                <a:solidFill>
                  <a:srgbClr val="009900"/>
                </a:solidFill>
                <a:latin typeface="宋体" panose="02010600030101010101" pitchFamily="2" charset="-122"/>
              </a:rPr>
              <a:t>ADD AL,i8/r8/m8</a:t>
            </a:r>
            <a:r>
              <a:rPr lang="zh-CN" altLang="en-US" sz="2600" dirty="0">
                <a:solidFill>
                  <a:srgbClr val="009900"/>
                </a:solidFill>
                <a:latin typeface="宋体" panose="02010600030101010101" pitchFamily="2" charset="-122"/>
              </a:rPr>
              <a:t>）</a:t>
            </a:r>
            <a:endParaRPr lang="zh-CN" altLang="en-US" sz="2600" dirty="0">
              <a:solidFill>
                <a:srgbClr val="009900"/>
              </a:solidFill>
              <a:latin typeface="宋体" panose="02010600030101010101" pitchFamily="2" charset="-122"/>
            </a:endParaRPr>
          </a:p>
          <a:p>
            <a:pPr marL="0" indent="184150">
              <a:lnSpc>
                <a:spcPct val="90000"/>
              </a:lnSpc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600" dirty="0">
                <a:solidFill>
                  <a:srgbClr val="0099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600">
                <a:solidFill>
                  <a:srgbClr val="009900"/>
                </a:solidFill>
                <a:latin typeface="宋体" panose="02010600030101010101" pitchFamily="2" charset="-122"/>
              </a:rPr>
              <a:t>ADC AL,i8/r8/m8</a:t>
            </a:r>
            <a:r>
              <a:rPr lang="zh-CN" altLang="en-US" sz="2600" dirty="0">
                <a:solidFill>
                  <a:srgbClr val="009900"/>
                </a:solidFill>
                <a:latin typeface="宋体" panose="02010600030101010101" pitchFamily="2" charset="-122"/>
              </a:rPr>
              <a:t>）</a:t>
            </a:r>
            <a:endParaRPr lang="zh-CN" altLang="en-US" sz="2600" dirty="0">
              <a:solidFill>
                <a:srgbClr val="009900"/>
              </a:solidFill>
              <a:latin typeface="宋体" panose="02010600030101010101" pitchFamily="2" charset="-122"/>
            </a:endParaRPr>
          </a:p>
          <a:p>
            <a:pPr marL="0" indent="184150">
              <a:lnSpc>
                <a:spcPct val="90000"/>
              </a:lnSpc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2"/>
                </a:solidFill>
                <a:latin typeface="宋体" panose="02010600030101010101" pitchFamily="2" charset="-122"/>
              </a:rPr>
              <a:t>DAA</a:t>
            </a:r>
            <a:endParaRPr lang="en-US" altLang="zh-CN" b="1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marL="0" indent="184150">
              <a:lnSpc>
                <a:spcPct val="90000"/>
              </a:lnSpc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200" dirty="0">
                <a:latin typeface="宋体" panose="02010600030101010101" pitchFamily="2" charset="-122"/>
              </a:rPr>
              <a:t>；</a:t>
            </a:r>
            <a:r>
              <a:rPr lang="en-US" altLang="zh-CN" sz="2200">
                <a:latin typeface="宋体" panose="02010600030101010101" pitchFamily="2" charset="-122"/>
              </a:rPr>
              <a:t>AL←</a:t>
            </a:r>
            <a:r>
              <a:rPr lang="zh-CN" altLang="en-US" sz="2200" dirty="0">
                <a:latin typeface="宋体" panose="02010600030101010101" pitchFamily="2" charset="-122"/>
              </a:rPr>
              <a:t>将</a:t>
            </a:r>
            <a:r>
              <a:rPr lang="en-US" altLang="zh-CN" sz="2200">
                <a:latin typeface="宋体" panose="02010600030101010101" pitchFamily="2" charset="-122"/>
              </a:rPr>
              <a:t>AL</a:t>
            </a:r>
            <a:r>
              <a:rPr lang="zh-CN" altLang="en-US" sz="2200" dirty="0">
                <a:latin typeface="宋体" panose="02010600030101010101" pitchFamily="2" charset="-122"/>
              </a:rPr>
              <a:t>的加和调整为压缩</a:t>
            </a:r>
            <a:r>
              <a:rPr lang="en-US" altLang="zh-CN" sz="2200">
                <a:latin typeface="宋体" panose="02010600030101010101" pitchFamily="2" charset="-122"/>
              </a:rPr>
              <a:t>BCD</a:t>
            </a:r>
            <a:r>
              <a:rPr lang="zh-CN" altLang="en-US" sz="2200" dirty="0">
                <a:latin typeface="宋体" panose="02010600030101010101" pitchFamily="2" charset="-122"/>
              </a:rPr>
              <a:t>码</a:t>
            </a:r>
            <a:endParaRPr lang="zh-CN" altLang="en-US" sz="2200" dirty="0">
              <a:latin typeface="宋体" panose="02010600030101010101" pitchFamily="2" charset="-122"/>
            </a:endParaRPr>
          </a:p>
        </p:txBody>
      </p:sp>
      <p:sp>
        <p:nvSpPr>
          <p:cNvPr id="35844" name="文本占位符 35843"/>
          <p:cNvSpPr>
            <a:spLocks noGrp="1"/>
          </p:cNvSpPr>
          <p:nvPr>
            <p:ph type="body" sz="half" idx="2"/>
          </p:nvPr>
        </p:nvSpPr>
        <p:spPr>
          <a:xfrm>
            <a:off x="4724400" y="1752600"/>
            <a:ext cx="4152900" cy="2514600"/>
          </a:xfrm>
          <a:ln>
            <a:solidFill>
              <a:schemeClr val="accent2"/>
            </a:solidFill>
            <a:miter/>
          </a:ln>
        </p:spPr>
        <p:txBody>
          <a:bodyPr/>
          <a:p>
            <a:pPr marL="0" indent="184150"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zh-CN" sz="2600" dirty="0">
                <a:solidFill>
                  <a:srgbClr val="0099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600">
                <a:solidFill>
                  <a:srgbClr val="009900"/>
                </a:solidFill>
                <a:latin typeface="宋体" panose="02010600030101010101" pitchFamily="2" charset="-122"/>
              </a:rPr>
              <a:t>SUB AL,i8/r8/m8</a:t>
            </a:r>
            <a:r>
              <a:rPr lang="zh-CN" altLang="en-US" sz="2600" dirty="0">
                <a:solidFill>
                  <a:srgbClr val="009900"/>
                </a:solidFill>
                <a:latin typeface="宋体" panose="02010600030101010101" pitchFamily="2" charset="-122"/>
              </a:rPr>
              <a:t>）</a:t>
            </a:r>
            <a:endParaRPr lang="zh-CN" altLang="en-US" sz="2600" dirty="0">
              <a:solidFill>
                <a:srgbClr val="009900"/>
              </a:solidFill>
              <a:latin typeface="宋体" panose="02010600030101010101" pitchFamily="2" charset="-122"/>
            </a:endParaRPr>
          </a:p>
          <a:p>
            <a:pPr marL="0" indent="184150"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600" dirty="0">
                <a:solidFill>
                  <a:srgbClr val="0099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600">
                <a:solidFill>
                  <a:srgbClr val="009900"/>
                </a:solidFill>
                <a:latin typeface="宋体" panose="02010600030101010101" pitchFamily="2" charset="-122"/>
              </a:rPr>
              <a:t>SBB AL,i8/r8/m8</a:t>
            </a:r>
            <a:r>
              <a:rPr lang="zh-CN" altLang="en-US" sz="2600" dirty="0">
                <a:solidFill>
                  <a:srgbClr val="009900"/>
                </a:solidFill>
                <a:latin typeface="宋体" panose="02010600030101010101" pitchFamily="2" charset="-122"/>
              </a:rPr>
              <a:t>）</a:t>
            </a:r>
            <a:endParaRPr lang="zh-CN" altLang="en-US" sz="2600" dirty="0">
              <a:solidFill>
                <a:srgbClr val="009900"/>
              </a:solidFill>
              <a:latin typeface="宋体" panose="02010600030101010101" pitchFamily="2" charset="-122"/>
            </a:endParaRPr>
          </a:p>
          <a:p>
            <a:pPr marL="0" indent="184150"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2"/>
                </a:solidFill>
                <a:latin typeface="宋体" panose="02010600030101010101" pitchFamily="2" charset="-122"/>
              </a:rPr>
              <a:t>DAS</a:t>
            </a:r>
            <a:endParaRPr lang="en-US" altLang="zh-CN" b="1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marL="0" indent="184150"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200" dirty="0">
                <a:latin typeface="宋体" panose="02010600030101010101" pitchFamily="2" charset="-122"/>
              </a:rPr>
              <a:t>；</a:t>
            </a:r>
            <a:r>
              <a:rPr lang="en-US" altLang="zh-CN" sz="2200">
                <a:latin typeface="宋体" panose="02010600030101010101" pitchFamily="2" charset="-122"/>
              </a:rPr>
              <a:t>AL←</a:t>
            </a:r>
            <a:r>
              <a:rPr lang="zh-CN" altLang="en-US" sz="2200" dirty="0">
                <a:latin typeface="宋体" panose="02010600030101010101" pitchFamily="2" charset="-122"/>
              </a:rPr>
              <a:t>将</a:t>
            </a:r>
            <a:r>
              <a:rPr lang="en-US" altLang="zh-CN" sz="2200">
                <a:latin typeface="宋体" panose="02010600030101010101" pitchFamily="2" charset="-122"/>
              </a:rPr>
              <a:t>AL</a:t>
            </a:r>
            <a:r>
              <a:rPr lang="zh-CN" altLang="en-US" sz="2200" dirty="0">
                <a:latin typeface="宋体" panose="02010600030101010101" pitchFamily="2" charset="-122"/>
              </a:rPr>
              <a:t>的减差调整为压缩</a:t>
            </a:r>
            <a:r>
              <a:rPr lang="en-US" altLang="zh-CN" sz="2200">
                <a:latin typeface="宋体" panose="02010600030101010101" pitchFamily="2" charset="-122"/>
              </a:rPr>
              <a:t>BCD</a:t>
            </a:r>
            <a:r>
              <a:rPr lang="zh-CN" altLang="en-US" sz="2200" dirty="0">
                <a:latin typeface="宋体" panose="02010600030101010101" pitchFamily="2" charset="-122"/>
              </a:rPr>
              <a:t>码</a:t>
            </a:r>
            <a:endParaRPr lang="zh-CN" altLang="en-US" sz="2100" dirty="0">
              <a:latin typeface="宋体" panose="02010600030101010101" pitchFamily="2" charset="-122"/>
            </a:endParaRPr>
          </a:p>
        </p:txBody>
      </p:sp>
      <p:sp>
        <p:nvSpPr>
          <p:cNvPr id="35845" name="矩形 35844"/>
          <p:cNvSpPr/>
          <p:nvPr/>
        </p:nvSpPr>
        <p:spPr>
          <a:xfrm>
            <a:off x="304800" y="4419600"/>
            <a:ext cx="8305800" cy="225742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6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92150" lvl="1" indent="-34734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87425" lvl="2" indent="-29337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1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81430" lvl="3" indent="-2921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98930" lvl="4" indent="-31623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使用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DAA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DAS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指令前，应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先执行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以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为目的操作数的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加法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或减法指令</a:t>
            </a:r>
            <a:endParaRPr lang="zh-CN" altLang="en-US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/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DAA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DAS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</a:t>
            </a:r>
            <a:r>
              <a:rPr lang="en-US" altLang="zh-CN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OF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标志无定义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，按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结果影响其他标志，例如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CF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反映压缩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BCD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码相加或减的进位或借位状态</a:t>
            </a:r>
            <a:endParaRPr lang="zh-CN" altLang="en-US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5846" name="文本框 35845">
            <a:hlinkClick r:id="" action="ppaction://noaction"/>
          </p:cNvPr>
          <p:cNvSpPr txBox="1"/>
          <p:nvPr/>
        </p:nvSpPr>
        <p:spPr>
          <a:xfrm>
            <a:off x="3048000" y="3733800"/>
            <a:ext cx="1186815" cy="39878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t" anchorCtr="0">
            <a:spAutoFit/>
          </a:bodyPr>
          <a:p>
            <a:r>
              <a:rPr lang="zh-CN" altLang="en-US" sz="2000" b="1" dirty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例题</a:t>
            </a:r>
            <a:r>
              <a:rPr lang="en-US" altLang="zh-CN" sz="2000" b="1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2.9a</a:t>
            </a:r>
            <a:endParaRPr lang="en-US" altLang="zh-CN" sz="2000" b="1">
              <a:solidFill>
                <a:srgbClr val="66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47" name="文本框 35846">
            <a:hlinkClick r:id="" action="ppaction://noaction"/>
          </p:cNvPr>
          <p:cNvSpPr txBox="1"/>
          <p:nvPr/>
        </p:nvSpPr>
        <p:spPr>
          <a:xfrm>
            <a:off x="7467600" y="3810000"/>
            <a:ext cx="1200785" cy="39878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t" anchorCtr="0">
            <a:spAutoFit/>
          </a:bodyPr>
          <a:p>
            <a:r>
              <a:rPr lang="zh-CN" altLang="en-US" sz="2000" b="1" dirty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例题</a:t>
            </a:r>
            <a:r>
              <a:rPr lang="en-US" altLang="zh-CN" sz="2000" b="1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2.9b</a:t>
            </a:r>
            <a:endParaRPr lang="en-US" altLang="zh-CN" sz="2000" b="1">
              <a:solidFill>
                <a:srgbClr val="66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48" name="文本框 35847">
            <a:hlinkClick r:id="" action="ppaction://noaction"/>
          </p:cNvPr>
          <p:cNvSpPr txBox="1"/>
          <p:nvPr/>
        </p:nvSpPr>
        <p:spPr>
          <a:xfrm>
            <a:off x="7543800" y="6248400"/>
            <a:ext cx="1186815" cy="39878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t" anchorCtr="0">
            <a:spAutoFit/>
          </a:bodyPr>
          <a:p>
            <a:r>
              <a:rPr lang="zh-CN" altLang="en-US" sz="2000" b="1" dirty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例题</a:t>
            </a:r>
            <a:r>
              <a:rPr lang="en-US" altLang="zh-CN" sz="2000" b="1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2.10</a:t>
            </a:r>
            <a:endParaRPr lang="en-US" altLang="zh-CN" sz="2000" b="1">
              <a:solidFill>
                <a:srgbClr val="66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72" name="标题 36871"/>
          <p:cNvSpPr>
            <a:spLocks noGrp="1"/>
          </p:cNvSpPr>
          <p:nvPr>
            <p:ph type="title"/>
          </p:nvPr>
        </p:nvSpPr>
        <p:spPr>
          <a:xfrm>
            <a:off x="609600" y="762000"/>
            <a:ext cx="4648200" cy="609600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sz="3000" dirty="0"/>
              <a:t>例</a:t>
            </a:r>
            <a:r>
              <a:rPr lang="en-US" altLang="zh-CN" sz="3000"/>
              <a:t>2.9a</a:t>
            </a:r>
            <a:r>
              <a:rPr lang="zh-CN" altLang="en-US" sz="3000" dirty="0"/>
              <a:t>：压缩</a:t>
            </a:r>
            <a:r>
              <a:rPr lang="en-US" altLang="zh-CN" sz="3000"/>
              <a:t>BCD</a:t>
            </a:r>
            <a:r>
              <a:rPr lang="zh-CN" altLang="en-US" sz="3000" dirty="0"/>
              <a:t>加法</a:t>
            </a:r>
            <a:endParaRPr lang="zh-CN" altLang="en-US" sz="3000" dirty="0"/>
          </a:p>
        </p:txBody>
      </p:sp>
      <p:sp>
        <p:nvSpPr>
          <p:cNvPr id="36873" name="文本占位符 36872"/>
          <p:cNvSpPr>
            <a:spLocks noGrp="1"/>
          </p:cNvSpPr>
          <p:nvPr>
            <p:ph type="body" idx="1"/>
          </p:nvPr>
        </p:nvSpPr>
        <p:spPr>
          <a:xfrm>
            <a:off x="304800" y="1981200"/>
            <a:ext cx="8077200" cy="3276600"/>
          </a:xfrm>
          <a:solidFill>
            <a:schemeClr val="bg1"/>
          </a:solidFill>
        </p:spPr>
        <p:txBody>
          <a:bodyPr/>
          <a:p>
            <a:pPr marL="0" indent="390525" defTabSz="914400">
              <a:buNone/>
              <a:tabLst>
                <a:tab pos="2673350" algn="l"/>
              </a:tabLst>
            </a:pP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al,68h</a:t>
            </a:r>
            <a:r>
              <a:rPr lang="en-US" altLang="zh-CN" sz="260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al=68h</a:t>
            </a:r>
            <a:r>
              <a:rPr lang="zh-CN" altLang="en-US" sz="2600" dirty="0">
                <a:latin typeface="宋体" panose="02010600030101010101" pitchFamily="2" charset="-122"/>
              </a:rPr>
              <a:t>，压缩</a:t>
            </a:r>
            <a:r>
              <a:rPr lang="en-US" altLang="zh-CN" sz="2600">
                <a:latin typeface="宋体" panose="02010600030101010101" pitchFamily="2" charset="-122"/>
              </a:rPr>
              <a:t>BCD</a:t>
            </a:r>
            <a:r>
              <a:rPr lang="zh-CN" altLang="en-US" sz="2600" dirty="0">
                <a:latin typeface="宋体" panose="02010600030101010101" pitchFamily="2" charset="-122"/>
              </a:rPr>
              <a:t>码表示真值</a:t>
            </a:r>
            <a:r>
              <a:rPr lang="en-US" altLang="zh-CN" sz="2600">
                <a:latin typeface="宋体" panose="02010600030101010101" pitchFamily="2" charset="-122"/>
              </a:rPr>
              <a:t>68</a:t>
            </a:r>
            <a:endParaRPr lang="en-US" altLang="zh-CN" sz="260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2673350" algn="l"/>
              </a:tabLst>
            </a:pP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bl,28h</a:t>
            </a:r>
            <a:r>
              <a:rPr lang="en-US" altLang="zh-CN" sz="260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 err="1">
                <a:latin typeface="宋体" panose="02010600030101010101" pitchFamily="2" charset="-122"/>
              </a:rPr>
              <a:t>bl</a:t>
            </a:r>
            <a:r>
              <a:rPr lang="en-US" altLang="zh-CN" sz="2600">
                <a:latin typeface="宋体" panose="02010600030101010101" pitchFamily="2" charset="-122"/>
              </a:rPr>
              <a:t>=28h</a:t>
            </a:r>
            <a:r>
              <a:rPr lang="zh-CN" altLang="en-US" sz="2600" dirty="0">
                <a:latin typeface="宋体" panose="02010600030101010101" pitchFamily="2" charset="-122"/>
              </a:rPr>
              <a:t>，压缩</a:t>
            </a:r>
            <a:r>
              <a:rPr lang="en-US" altLang="zh-CN" sz="2600">
                <a:latin typeface="宋体" panose="02010600030101010101" pitchFamily="2" charset="-122"/>
              </a:rPr>
              <a:t>BCD</a:t>
            </a:r>
            <a:r>
              <a:rPr lang="zh-CN" altLang="en-US" sz="2600" dirty="0">
                <a:latin typeface="宋体" panose="02010600030101010101" pitchFamily="2" charset="-122"/>
              </a:rPr>
              <a:t>码表示真值</a:t>
            </a:r>
            <a:r>
              <a:rPr lang="en-US" altLang="zh-CN" sz="2600">
                <a:latin typeface="宋体" panose="02010600030101010101" pitchFamily="2" charset="-122"/>
              </a:rPr>
              <a:t>28</a:t>
            </a:r>
            <a:endParaRPr lang="en-US" altLang="zh-CN" sz="260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2673350" algn="l"/>
              </a:tabLst>
            </a:pPr>
            <a:r>
              <a:rPr lang="en-US" altLang="zh-CN" sz="2600" b="1">
                <a:solidFill>
                  <a:schemeClr val="tx2"/>
                </a:solidFill>
                <a:latin typeface="宋体" panose="02010600030101010101" pitchFamily="2" charset="-122"/>
              </a:rPr>
              <a:t>add </a:t>
            </a:r>
            <a:r>
              <a:rPr lang="en-US" altLang="zh-CN" sz="2600" b="1" err="1">
                <a:solidFill>
                  <a:schemeClr val="tx2"/>
                </a:solidFill>
                <a:latin typeface="宋体" panose="02010600030101010101" pitchFamily="2" charset="-122"/>
              </a:rPr>
              <a:t>al,bl</a:t>
            </a:r>
            <a:r>
              <a:rPr lang="en-US" altLang="zh-CN" sz="2600">
                <a:solidFill>
                  <a:schemeClr val="tx2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600" dirty="0">
                <a:latin typeface="宋体" panose="02010600030101010101" pitchFamily="2" charset="-122"/>
              </a:rPr>
              <a:t>；二进制加法：</a:t>
            </a:r>
            <a:r>
              <a:rPr lang="en-US" altLang="zh-CN" sz="2600">
                <a:latin typeface="宋体" panose="02010600030101010101" pitchFamily="2" charset="-122"/>
              </a:rPr>
              <a:t>al=68h+28h=90h</a:t>
            </a:r>
            <a:endParaRPr lang="en-US" altLang="zh-CN" sz="260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2673350" algn="l"/>
              </a:tabLst>
            </a:pPr>
            <a:r>
              <a:rPr lang="en-US" altLang="zh-CN" sz="2600" b="1" err="1">
                <a:solidFill>
                  <a:schemeClr val="tx2"/>
                </a:solidFill>
                <a:latin typeface="宋体" panose="02010600030101010101" pitchFamily="2" charset="-122"/>
              </a:rPr>
              <a:t>daa</a:t>
            </a:r>
            <a:r>
              <a:rPr lang="en-US" altLang="zh-CN" sz="2600"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latin typeface="宋体" panose="02010600030101010101" pitchFamily="2" charset="-122"/>
              </a:rPr>
              <a:t>；十进制调整：</a:t>
            </a:r>
            <a:r>
              <a:rPr lang="en-US" altLang="zh-CN" sz="2600">
                <a:latin typeface="宋体" panose="02010600030101010101" pitchFamily="2" charset="-122"/>
              </a:rPr>
              <a:t>al=96h</a:t>
            </a:r>
            <a:endParaRPr lang="en-US" altLang="zh-CN" sz="260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2673350" algn="l"/>
              </a:tabLst>
            </a:pPr>
            <a:r>
              <a:rPr lang="en-US" altLang="zh-CN" sz="2600" dirty="0">
                <a:latin typeface="宋体" panose="02010600030101010101" pitchFamily="2" charset="-122"/>
              </a:rPr>
              <a:t>              </a:t>
            </a:r>
            <a:r>
              <a:rPr lang="zh-CN" altLang="en-US" sz="2600" dirty="0">
                <a:latin typeface="宋体" panose="02010600030101010101" pitchFamily="2" charset="-122"/>
              </a:rPr>
              <a:t>；实现压缩</a:t>
            </a:r>
            <a:r>
              <a:rPr lang="en-US" altLang="zh-CN" sz="2600">
                <a:latin typeface="宋体" panose="02010600030101010101" pitchFamily="2" charset="-122"/>
              </a:rPr>
              <a:t>BCD</a:t>
            </a:r>
            <a:r>
              <a:rPr lang="zh-CN" altLang="en-US" sz="2600" dirty="0">
                <a:latin typeface="宋体" panose="02010600030101010101" pitchFamily="2" charset="-122"/>
              </a:rPr>
              <a:t>码加法：</a:t>
            </a:r>
            <a:r>
              <a:rPr lang="en-US" altLang="zh-CN" sz="2600">
                <a:latin typeface="宋体" panose="02010600030101010101" pitchFamily="2" charset="-122"/>
              </a:rPr>
              <a:t>68</a:t>
            </a:r>
            <a:r>
              <a:rPr lang="zh-CN" altLang="en-US" sz="2600" dirty="0">
                <a:latin typeface="宋体" panose="02010600030101010101" pitchFamily="2" charset="-122"/>
              </a:rPr>
              <a:t>＋</a:t>
            </a:r>
            <a:r>
              <a:rPr lang="en-US" altLang="zh-CN" sz="2600">
                <a:latin typeface="宋体" panose="02010600030101010101" pitchFamily="2" charset="-122"/>
              </a:rPr>
              <a:t>28</a:t>
            </a:r>
            <a:r>
              <a:rPr lang="zh-CN" altLang="en-US" sz="2600" dirty="0">
                <a:latin typeface="宋体" panose="02010600030101010101" pitchFamily="2" charset="-122"/>
              </a:rPr>
              <a:t>＝</a:t>
            </a:r>
            <a:r>
              <a:rPr lang="en-US" altLang="zh-CN" sz="2600">
                <a:latin typeface="宋体" panose="02010600030101010101" pitchFamily="2" charset="-122"/>
              </a:rPr>
              <a:t>96</a:t>
            </a:r>
            <a:endParaRPr lang="en-US" altLang="zh-CN" sz="260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 advClick="0"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6" name="标题 37895"/>
          <p:cNvSpPr>
            <a:spLocks noGrp="1"/>
          </p:cNvSpPr>
          <p:nvPr>
            <p:ph type="title"/>
          </p:nvPr>
        </p:nvSpPr>
        <p:spPr>
          <a:xfrm>
            <a:off x="1066800" y="762000"/>
            <a:ext cx="4724400" cy="609600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sz="3000" dirty="0"/>
              <a:t>例</a:t>
            </a:r>
            <a:r>
              <a:rPr lang="en-US" altLang="zh-CN" sz="3000"/>
              <a:t>2.9b</a:t>
            </a:r>
            <a:r>
              <a:rPr lang="zh-CN" altLang="en-US" sz="3000" dirty="0"/>
              <a:t>：压缩</a:t>
            </a:r>
            <a:r>
              <a:rPr lang="en-US" altLang="zh-CN" sz="3000"/>
              <a:t>BCD</a:t>
            </a:r>
            <a:r>
              <a:rPr lang="zh-CN" altLang="en-US" sz="3000" dirty="0"/>
              <a:t>减法</a:t>
            </a:r>
            <a:endParaRPr lang="zh-CN" altLang="en-US" sz="3000" dirty="0"/>
          </a:p>
        </p:txBody>
      </p:sp>
      <p:sp>
        <p:nvSpPr>
          <p:cNvPr id="37897" name="文本占位符 37896"/>
          <p:cNvSpPr>
            <a:spLocks noGrp="1"/>
          </p:cNvSpPr>
          <p:nvPr>
            <p:ph type="body" idx="1"/>
          </p:nvPr>
        </p:nvSpPr>
        <p:spPr>
          <a:xfrm>
            <a:off x="533400" y="2041525"/>
            <a:ext cx="7864475" cy="3797300"/>
          </a:xfrm>
          <a:solidFill>
            <a:schemeClr val="bg1"/>
          </a:solidFill>
        </p:spPr>
        <p:txBody>
          <a:bodyPr/>
          <a:p>
            <a:pPr marL="0" indent="390525" defTabSz="914400">
              <a:buNone/>
              <a:tabLst>
                <a:tab pos="2673350" algn="l"/>
              </a:tabLst>
            </a:pP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al,68h    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al=68h</a:t>
            </a:r>
            <a:r>
              <a:rPr lang="zh-CN" altLang="en-US" sz="2600" dirty="0">
                <a:latin typeface="宋体" panose="02010600030101010101" pitchFamily="2" charset="-122"/>
              </a:rPr>
              <a:t>，压缩</a:t>
            </a:r>
            <a:r>
              <a:rPr lang="en-US" altLang="zh-CN" sz="2600">
                <a:latin typeface="宋体" panose="02010600030101010101" pitchFamily="2" charset="-122"/>
              </a:rPr>
              <a:t>BCD</a:t>
            </a:r>
            <a:r>
              <a:rPr lang="zh-CN" altLang="en-US" sz="2600" dirty="0">
                <a:latin typeface="宋体" panose="02010600030101010101" pitchFamily="2" charset="-122"/>
              </a:rPr>
              <a:t>码表示真值</a:t>
            </a:r>
            <a:r>
              <a:rPr lang="en-US" altLang="zh-CN" sz="2600">
                <a:latin typeface="宋体" panose="02010600030101010101" pitchFamily="2" charset="-122"/>
              </a:rPr>
              <a:t>68</a:t>
            </a:r>
            <a:endParaRPr lang="en-US" altLang="zh-CN" sz="260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2673350" algn="l"/>
              </a:tabLst>
            </a:pP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bl,28h    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 err="1">
                <a:latin typeface="宋体" panose="02010600030101010101" pitchFamily="2" charset="-122"/>
              </a:rPr>
              <a:t>bl</a:t>
            </a:r>
            <a:r>
              <a:rPr lang="en-US" altLang="zh-CN" sz="2600">
                <a:latin typeface="宋体" panose="02010600030101010101" pitchFamily="2" charset="-122"/>
              </a:rPr>
              <a:t>=28h</a:t>
            </a:r>
            <a:r>
              <a:rPr lang="zh-CN" altLang="en-US" sz="2600" dirty="0">
                <a:latin typeface="宋体" panose="02010600030101010101" pitchFamily="2" charset="-122"/>
              </a:rPr>
              <a:t>，压缩</a:t>
            </a:r>
            <a:r>
              <a:rPr lang="en-US" altLang="zh-CN" sz="2600">
                <a:latin typeface="宋体" panose="02010600030101010101" pitchFamily="2" charset="-122"/>
              </a:rPr>
              <a:t>BCD</a:t>
            </a:r>
            <a:r>
              <a:rPr lang="zh-CN" altLang="en-US" sz="2600" dirty="0">
                <a:latin typeface="宋体" panose="02010600030101010101" pitchFamily="2" charset="-122"/>
              </a:rPr>
              <a:t>码表示真值</a:t>
            </a:r>
            <a:r>
              <a:rPr lang="en-US" altLang="zh-CN" sz="2600">
                <a:latin typeface="宋体" panose="02010600030101010101" pitchFamily="2" charset="-122"/>
              </a:rPr>
              <a:t>28</a:t>
            </a:r>
            <a:endParaRPr lang="en-US" altLang="zh-CN" sz="260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2673350" algn="l"/>
              </a:tabLst>
            </a:pPr>
            <a:r>
              <a:rPr lang="en-US" altLang="zh-CN" sz="2600" b="1">
                <a:solidFill>
                  <a:schemeClr val="tx2"/>
                </a:solidFill>
                <a:latin typeface="宋体" panose="02010600030101010101" pitchFamily="2" charset="-122"/>
              </a:rPr>
              <a:t>sub </a:t>
            </a:r>
            <a:r>
              <a:rPr lang="en-US" altLang="zh-CN" sz="2600" b="1" err="1">
                <a:solidFill>
                  <a:schemeClr val="tx2"/>
                </a:solidFill>
                <a:latin typeface="宋体" panose="02010600030101010101" pitchFamily="2" charset="-122"/>
              </a:rPr>
              <a:t>al,bl</a:t>
            </a:r>
            <a:r>
              <a:rPr lang="en-US" altLang="zh-CN" sz="2600">
                <a:solidFill>
                  <a:schemeClr val="tx2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600" dirty="0">
                <a:latin typeface="宋体" panose="02010600030101010101" pitchFamily="2" charset="-122"/>
              </a:rPr>
              <a:t>；二进制减法：</a:t>
            </a:r>
            <a:r>
              <a:rPr lang="en-US" altLang="zh-CN" sz="2600">
                <a:latin typeface="宋体" panose="02010600030101010101" pitchFamily="2" charset="-122"/>
              </a:rPr>
              <a:t>al=68h-28h=40h</a:t>
            </a:r>
            <a:endParaRPr lang="en-US" altLang="zh-CN" sz="260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2673350" algn="l"/>
              </a:tabLst>
            </a:pPr>
            <a:r>
              <a:rPr lang="en-US" altLang="zh-CN" sz="2600" b="1">
                <a:solidFill>
                  <a:schemeClr val="tx2"/>
                </a:solidFill>
                <a:latin typeface="宋体" panose="02010600030101010101" pitchFamily="2" charset="-122"/>
              </a:rPr>
              <a:t>das</a:t>
            </a:r>
            <a:r>
              <a:rPr lang="en-US" altLang="zh-CN" sz="2600"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latin typeface="宋体" panose="02010600030101010101" pitchFamily="2" charset="-122"/>
              </a:rPr>
              <a:t>；十进制调整：</a:t>
            </a:r>
            <a:r>
              <a:rPr lang="en-US" altLang="zh-CN" sz="2600">
                <a:latin typeface="宋体" panose="02010600030101010101" pitchFamily="2" charset="-122"/>
              </a:rPr>
              <a:t>al=40h</a:t>
            </a:r>
            <a:endParaRPr lang="en-US" altLang="zh-CN" sz="260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2673350" algn="l"/>
              </a:tabLst>
            </a:pPr>
            <a:r>
              <a:rPr lang="en-US" altLang="zh-CN" sz="2600" dirty="0">
                <a:latin typeface="宋体" panose="02010600030101010101" pitchFamily="2" charset="-122"/>
              </a:rPr>
              <a:t>              </a:t>
            </a:r>
            <a:r>
              <a:rPr lang="zh-CN" altLang="en-US" sz="2600" dirty="0">
                <a:latin typeface="宋体" panose="02010600030101010101" pitchFamily="2" charset="-122"/>
              </a:rPr>
              <a:t>；实现压缩</a:t>
            </a:r>
            <a:r>
              <a:rPr lang="en-US" altLang="zh-CN" sz="2600">
                <a:latin typeface="宋体" panose="02010600030101010101" pitchFamily="2" charset="-122"/>
              </a:rPr>
              <a:t>BCD</a:t>
            </a:r>
            <a:r>
              <a:rPr lang="zh-CN" altLang="en-US" sz="2600" dirty="0">
                <a:latin typeface="宋体" panose="02010600030101010101" pitchFamily="2" charset="-122"/>
              </a:rPr>
              <a:t>码加法：</a:t>
            </a:r>
            <a:r>
              <a:rPr lang="en-US" altLang="zh-CN" sz="2600">
                <a:latin typeface="宋体" panose="02010600030101010101" pitchFamily="2" charset="-122"/>
              </a:rPr>
              <a:t>68-28</a:t>
            </a:r>
            <a:r>
              <a:rPr lang="zh-CN" altLang="en-US" sz="2600" dirty="0">
                <a:latin typeface="宋体" panose="02010600030101010101" pitchFamily="2" charset="-122"/>
              </a:rPr>
              <a:t>＝</a:t>
            </a:r>
            <a:r>
              <a:rPr lang="en-US" altLang="zh-CN" sz="2600">
                <a:latin typeface="宋体" panose="02010600030101010101" pitchFamily="2" charset="-122"/>
              </a:rPr>
              <a:t>40</a:t>
            </a:r>
            <a:endParaRPr lang="en-US" altLang="zh-CN" sz="260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 advClick="0"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20" name="标题 38919"/>
          <p:cNvSpPr>
            <a:spLocks noGrp="1"/>
          </p:cNvSpPr>
          <p:nvPr>
            <p:ph type="title"/>
          </p:nvPr>
        </p:nvSpPr>
        <p:spPr>
          <a:xfrm>
            <a:off x="1066800" y="685800"/>
            <a:ext cx="4495800" cy="609600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sz="3000" dirty="0"/>
              <a:t>例</a:t>
            </a:r>
            <a:r>
              <a:rPr lang="en-US" altLang="zh-CN" sz="3000"/>
              <a:t>2.10</a:t>
            </a:r>
            <a:r>
              <a:rPr lang="zh-CN" altLang="en-US" sz="3000" dirty="0"/>
              <a:t>：压缩</a:t>
            </a:r>
            <a:r>
              <a:rPr lang="en-US" altLang="zh-CN" sz="3000"/>
              <a:t>BCD</a:t>
            </a:r>
            <a:r>
              <a:rPr lang="zh-CN" altLang="en-US" sz="3000" dirty="0"/>
              <a:t>减法</a:t>
            </a:r>
            <a:endParaRPr lang="zh-CN" altLang="en-US" sz="3000" dirty="0"/>
          </a:p>
        </p:txBody>
      </p:sp>
      <p:sp>
        <p:nvSpPr>
          <p:cNvPr id="38921" name="文本占位符 38920"/>
          <p:cNvSpPr>
            <a:spLocks noGrp="1"/>
          </p:cNvSpPr>
          <p:nvPr>
            <p:ph type="body" idx="1"/>
          </p:nvPr>
        </p:nvSpPr>
        <p:spPr>
          <a:xfrm>
            <a:off x="762000" y="2057400"/>
            <a:ext cx="7239000" cy="4038600"/>
          </a:xfrm>
          <a:solidFill>
            <a:schemeClr val="bg1"/>
          </a:solidFill>
        </p:spPr>
        <p:txBody>
          <a:bodyPr/>
          <a:p>
            <a:pPr marL="0" indent="390525" defTabSz="914400">
              <a:buNone/>
              <a:tabLst>
                <a:tab pos="2673350" algn="l"/>
              </a:tabLst>
            </a:pP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ax,1234h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2673350" algn="l"/>
              </a:tabLst>
            </a:pP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bx,4612h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2673350" algn="l"/>
              </a:tabLst>
            </a:pPr>
            <a:r>
              <a:rPr lang="en-US" altLang="zh-CN" sz="2600" b="1">
                <a:solidFill>
                  <a:schemeClr val="tx2"/>
                </a:solidFill>
                <a:latin typeface="宋体" panose="02010600030101010101" pitchFamily="2" charset="-122"/>
              </a:rPr>
              <a:t>sub </a:t>
            </a:r>
            <a:r>
              <a:rPr lang="en-US" altLang="zh-CN" sz="2600" b="1" err="1">
                <a:solidFill>
                  <a:schemeClr val="tx2"/>
                </a:solidFill>
                <a:latin typeface="宋体" panose="02010600030101010101" pitchFamily="2" charset="-122"/>
              </a:rPr>
              <a:t>al,bl</a:t>
            </a:r>
            <a:endParaRPr lang="en-US" altLang="zh-CN" sz="2600" b="1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2673350" algn="l"/>
              </a:tabLst>
            </a:pPr>
            <a:r>
              <a:rPr lang="en-US" altLang="zh-CN" sz="2600" b="1">
                <a:solidFill>
                  <a:schemeClr val="tx2"/>
                </a:solidFill>
                <a:latin typeface="宋体" panose="02010600030101010101" pitchFamily="2" charset="-122"/>
              </a:rPr>
              <a:t>das</a:t>
            </a:r>
            <a:r>
              <a:rPr lang="en-US" altLang="zh-CN" sz="2600">
                <a:latin typeface="宋体" panose="02010600030101010101" pitchFamily="2" charset="-122"/>
              </a:rPr>
              <a:t>	    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34-12</a:t>
            </a:r>
            <a:r>
              <a:rPr lang="zh-CN" altLang="en-US" sz="2600" dirty="0">
                <a:latin typeface="宋体" panose="02010600030101010101" pitchFamily="2" charset="-122"/>
              </a:rPr>
              <a:t>＝</a:t>
            </a:r>
            <a:r>
              <a:rPr lang="en-US" altLang="zh-CN" sz="2600">
                <a:latin typeface="宋体" panose="02010600030101010101" pitchFamily="2" charset="-122"/>
              </a:rPr>
              <a:t>22</a:t>
            </a:r>
            <a:r>
              <a:rPr lang="zh-CN" altLang="en-US" sz="2600" dirty="0">
                <a:latin typeface="宋体" panose="02010600030101010101" pitchFamily="2" charset="-122"/>
              </a:rPr>
              <a:t>，</a:t>
            </a:r>
            <a:r>
              <a:rPr lang="en-US" altLang="zh-CN" sz="2600">
                <a:latin typeface="宋体" panose="02010600030101010101" pitchFamily="2" charset="-122"/>
              </a:rPr>
              <a:t>CF</a:t>
            </a:r>
            <a:r>
              <a:rPr lang="zh-CN" altLang="en-US" sz="2600" dirty="0">
                <a:latin typeface="宋体" panose="02010600030101010101" pitchFamily="2" charset="-122"/>
              </a:rPr>
              <a:t>＝</a:t>
            </a:r>
            <a:r>
              <a:rPr lang="en-US" altLang="zh-CN" sz="2600">
                <a:latin typeface="宋体" panose="02010600030101010101" pitchFamily="2" charset="-122"/>
              </a:rPr>
              <a:t>0</a:t>
            </a:r>
            <a:endParaRPr lang="en-US" altLang="zh-CN" sz="260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2673350" algn="l"/>
              </a:tabLst>
            </a:pPr>
            <a:r>
              <a:rPr lang="en-US" altLang="zh-CN" sz="2600" err="1">
                <a:latin typeface="宋体" panose="02010600030101010101" pitchFamily="2" charset="-122"/>
              </a:rPr>
              <a:t>xchg</a:t>
            </a:r>
            <a:r>
              <a:rPr lang="en-US" altLang="zh-CN" sz="2600">
                <a:latin typeface="宋体" panose="02010600030101010101" pitchFamily="2" charset="-122"/>
              </a:rPr>
              <a:t> </a:t>
            </a:r>
            <a:r>
              <a:rPr lang="en-US" altLang="zh-CN" sz="2600" err="1">
                <a:latin typeface="宋体" panose="02010600030101010101" pitchFamily="2" charset="-122"/>
              </a:rPr>
              <a:t>al,ah</a:t>
            </a:r>
            <a:endParaRPr lang="en-US" altLang="zh-CN" sz="260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2673350" algn="l"/>
              </a:tabLst>
            </a:pPr>
            <a:r>
              <a:rPr lang="en-US" altLang="zh-CN" sz="2600" b="1" err="1">
                <a:solidFill>
                  <a:schemeClr val="tx2"/>
                </a:solidFill>
                <a:latin typeface="宋体" panose="02010600030101010101" pitchFamily="2" charset="-122"/>
              </a:rPr>
              <a:t>sbb</a:t>
            </a:r>
            <a:r>
              <a:rPr lang="en-US" altLang="zh-CN" sz="2600" b="1">
                <a:solidFill>
                  <a:schemeClr val="tx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600" b="1" err="1">
                <a:solidFill>
                  <a:schemeClr val="tx2"/>
                </a:solidFill>
                <a:latin typeface="宋体" panose="02010600030101010101" pitchFamily="2" charset="-122"/>
              </a:rPr>
              <a:t>al,bh</a:t>
            </a:r>
            <a:endParaRPr lang="en-US" altLang="zh-CN" sz="2600" b="1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2673350" algn="l"/>
              </a:tabLst>
            </a:pPr>
            <a:r>
              <a:rPr lang="en-US" altLang="zh-CN" sz="2600" b="1">
                <a:solidFill>
                  <a:schemeClr val="tx2"/>
                </a:solidFill>
                <a:latin typeface="宋体" panose="02010600030101010101" pitchFamily="2" charset="-122"/>
              </a:rPr>
              <a:t>das</a:t>
            </a:r>
            <a:r>
              <a:rPr lang="en-US" altLang="zh-CN" sz="2600">
                <a:latin typeface="宋体" panose="02010600030101010101" pitchFamily="2" charset="-122"/>
              </a:rPr>
              <a:t>	    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12-46</a:t>
            </a:r>
            <a:r>
              <a:rPr lang="zh-CN" altLang="en-US" sz="2600" dirty="0">
                <a:latin typeface="宋体" panose="02010600030101010101" pitchFamily="2" charset="-122"/>
              </a:rPr>
              <a:t>＝</a:t>
            </a:r>
            <a:r>
              <a:rPr lang="en-US" altLang="zh-CN" sz="2600">
                <a:latin typeface="宋体" panose="02010600030101010101" pitchFamily="2" charset="-122"/>
              </a:rPr>
              <a:t>66</a:t>
            </a:r>
            <a:r>
              <a:rPr lang="zh-CN" altLang="en-US" sz="2600" dirty="0">
                <a:latin typeface="宋体" panose="02010600030101010101" pitchFamily="2" charset="-122"/>
              </a:rPr>
              <a:t>，</a:t>
            </a:r>
            <a:r>
              <a:rPr lang="en-US" altLang="zh-CN" sz="2600">
                <a:latin typeface="宋体" panose="02010600030101010101" pitchFamily="2" charset="-122"/>
              </a:rPr>
              <a:t>CF=1</a:t>
            </a:r>
            <a:endParaRPr lang="en-US" altLang="zh-CN" sz="260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2673350" algn="l"/>
              </a:tabLst>
            </a:pPr>
            <a:r>
              <a:rPr lang="en-US" altLang="zh-CN" sz="2600" err="1">
                <a:latin typeface="宋体" panose="02010600030101010101" pitchFamily="2" charset="-122"/>
              </a:rPr>
              <a:t>xchg</a:t>
            </a:r>
            <a:r>
              <a:rPr lang="en-US" altLang="zh-CN" sz="2600">
                <a:latin typeface="宋体" panose="02010600030101010101" pitchFamily="2" charset="-122"/>
              </a:rPr>
              <a:t> </a:t>
            </a:r>
            <a:r>
              <a:rPr lang="en-US" altLang="zh-CN" sz="2600" err="1">
                <a:latin typeface="宋体" panose="02010600030101010101" pitchFamily="2" charset="-122"/>
              </a:rPr>
              <a:t>al,ah</a:t>
            </a:r>
            <a:r>
              <a:rPr lang="en-US" altLang="zh-CN" sz="2600">
                <a:latin typeface="宋体" panose="02010600030101010101" pitchFamily="2" charset="-122"/>
              </a:rPr>
              <a:t>	    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1 1234</a:t>
            </a:r>
            <a:r>
              <a:rPr lang="zh-CN" altLang="en-US" sz="2600" dirty="0">
                <a:latin typeface="宋体" panose="02010600030101010101" pitchFamily="2" charset="-122"/>
              </a:rPr>
              <a:t>－</a:t>
            </a:r>
            <a:r>
              <a:rPr lang="en-US" altLang="zh-CN" sz="2600">
                <a:latin typeface="宋体" panose="02010600030101010101" pitchFamily="2" charset="-122"/>
              </a:rPr>
              <a:t>4612</a:t>
            </a:r>
            <a:r>
              <a:rPr lang="zh-CN" altLang="en-US" sz="2600" dirty="0">
                <a:latin typeface="宋体" panose="02010600030101010101" pitchFamily="2" charset="-122"/>
              </a:rPr>
              <a:t>＝</a:t>
            </a:r>
            <a:r>
              <a:rPr lang="en-US" altLang="zh-CN" sz="2600">
                <a:latin typeface="宋体" panose="02010600030101010101" pitchFamily="2" charset="-122"/>
              </a:rPr>
              <a:t>6622</a:t>
            </a:r>
            <a:endParaRPr lang="en-US" altLang="zh-CN" sz="260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 advClick="0"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标题 39937"/>
          <p:cNvSpPr>
            <a:spLocks noGrp="1"/>
          </p:cNvSpPr>
          <p:nvPr>
            <p:ph type="title"/>
          </p:nvPr>
        </p:nvSpPr>
        <p:spPr>
          <a:xfrm>
            <a:off x="304800" y="609600"/>
            <a:ext cx="8002588" cy="615950"/>
          </a:xfrm>
        </p:spPr>
        <p:txBody>
          <a:bodyPr anchor="b" anchorCtr="0"/>
          <a:p>
            <a:r>
              <a:rPr lang="zh-CN" altLang="en-US" dirty="0"/>
              <a:t>非压缩</a:t>
            </a:r>
            <a:r>
              <a:rPr lang="en-US" altLang="zh-CN"/>
              <a:t>BCD</a:t>
            </a:r>
            <a:r>
              <a:rPr lang="zh-CN" altLang="en-US" dirty="0"/>
              <a:t>码加、减调整指令</a:t>
            </a:r>
            <a:endParaRPr lang="zh-CN" altLang="zh-CN" dirty="0"/>
          </a:p>
        </p:txBody>
      </p:sp>
      <p:sp>
        <p:nvSpPr>
          <p:cNvPr id="39939" name="文本占位符 39938"/>
          <p:cNvSpPr>
            <a:spLocks noGrp="1"/>
          </p:cNvSpPr>
          <p:nvPr>
            <p:ph type="body" sz="half" idx="1"/>
          </p:nvPr>
        </p:nvSpPr>
        <p:spPr>
          <a:xfrm>
            <a:off x="304800" y="1600200"/>
            <a:ext cx="4305300" cy="2952750"/>
          </a:xfrm>
          <a:ln>
            <a:solidFill>
              <a:schemeClr val="accent2"/>
            </a:solidFill>
            <a:miter/>
          </a:ln>
        </p:spPr>
        <p:txBody>
          <a:bodyPr/>
          <a:p>
            <a:pPr marL="0" indent="184150">
              <a:lnSpc>
                <a:spcPct val="90000"/>
              </a:lnSpc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zh-CN" sz="2200" b="1" dirty="0">
                <a:solidFill>
                  <a:srgbClr val="0000FF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200" b="1">
                <a:solidFill>
                  <a:srgbClr val="0000FF"/>
                </a:solidFill>
                <a:latin typeface="宋体" panose="02010600030101010101" pitchFamily="2" charset="-122"/>
              </a:rPr>
              <a:t>ADD AL,i8/r8/m8</a:t>
            </a:r>
            <a:r>
              <a:rPr lang="zh-CN" altLang="en-US" sz="2200" b="1" dirty="0">
                <a:solidFill>
                  <a:srgbClr val="0000FF"/>
                </a:solidFill>
                <a:latin typeface="宋体" panose="02010600030101010101" pitchFamily="2" charset="-122"/>
              </a:rPr>
              <a:t>）</a:t>
            </a:r>
            <a:endParaRPr lang="zh-CN" altLang="en-US" sz="22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184150">
              <a:lnSpc>
                <a:spcPct val="90000"/>
              </a:lnSpc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0000FF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200" b="1">
                <a:solidFill>
                  <a:srgbClr val="0000FF"/>
                </a:solidFill>
                <a:latin typeface="宋体" panose="02010600030101010101" pitchFamily="2" charset="-122"/>
              </a:rPr>
              <a:t>ADC AL,i8/r8/m8</a:t>
            </a:r>
            <a:r>
              <a:rPr lang="zh-CN" altLang="en-US" sz="2200" b="1" dirty="0">
                <a:solidFill>
                  <a:srgbClr val="0000FF"/>
                </a:solidFill>
                <a:latin typeface="宋体" panose="02010600030101010101" pitchFamily="2" charset="-122"/>
              </a:rPr>
              <a:t>）</a:t>
            </a:r>
            <a:endParaRPr lang="zh-CN" altLang="en-US" sz="22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184150">
              <a:lnSpc>
                <a:spcPct val="90000"/>
              </a:lnSpc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600" b="1">
                <a:solidFill>
                  <a:schemeClr val="tx2"/>
                </a:solidFill>
                <a:latin typeface="宋体" panose="02010600030101010101" pitchFamily="2" charset="-122"/>
              </a:rPr>
              <a:t>AAA</a:t>
            </a:r>
            <a:endParaRPr lang="en-US" altLang="zh-CN" sz="2600" b="1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marL="0" indent="184150">
              <a:lnSpc>
                <a:spcPct val="90000"/>
              </a:lnSpc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009900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200" b="1">
                <a:solidFill>
                  <a:srgbClr val="009900"/>
                </a:solidFill>
                <a:latin typeface="宋体" panose="02010600030101010101" pitchFamily="2" charset="-122"/>
              </a:rPr>
              <a:t>AL←</a:t>
            </a:r>
            <a:r>
              <a:rPr lang="zh-CN" altLang="en-US" sz="2200" b="1" dirty="0">
                <a:solidFill>
                  <a:srgbClr val="009900"/>
                </a:solidFill>
                <a:latin typeface="宋体" panose="02010600030101010101" pitchFamily="2" charset="-122"/>
              </a:rPr>
              <a:t>将</a:t>
            </a:r>
            <a:r>
              <a:rPr lang="en-US" altLang="zh-CN" sz="2200" b="1">
                <a:solidFill>
                  <a:srgbClr val="009900"/>
                </a:solidFill>
                <a:latin typeface="宋体" panose="02010600030101010101" pitchFamily="2" charset="-122"/>
              </a:rPr>
              <a:t>AL</a:t>
            </a:r>
            <a:r>
              <a:rPr lang="zh-CN" altLang="en-US" sz="2200" b="1" dirty="0">
                <a:solidFill>
                  <a:srgbClr val="009900"/>
                </a:solidFill>
                <a:latin typeface="宋体" panose="02010600030101010101" pitchFamily="2" charset="-122"/>
              </a:rPr>
              <a:t>的加和调整为非压缩</a:t>
            </a:r>
            <a:r>
              <a:rPr lang="en-US" altLang="zh-CN" sz="2200" b="1">
                <a:solidFill>
                  <a:srgbClr val="009900"/>
                </a:solidFill>
                <a:latin typeface="宋体" panose="02010600030101010101" pitchFamily="2" charset="-122"/>
              </a:rPr>
              <a:t>BCD</a:t>
            </a:r>
            <a:r>
              <a:rPr lang="zh-CN" altLang="en-US" sz="2200" b="1" dirty="0">
                <a:solidFill>
                  <a:srgbClr val="009900"/>
                </a:solidFill>
                <a:latin typeface="宋体" panose="02010600030101010101" pitchFamily="2" charset="-122"/>
              </a:rPr>
              <a:t>码</a:t>
            </a:r>
            <a:endParaRPr lang="zh-CN" altLang="en-US" sz="2200" b="1" dirty="0">
              <a:solidFill>
                <a:srgbClr val="009900"/>
              </a:solidFill>
              <a:latin typeface="宋体" panose="02010600030101010101" pitchFamily="2" charset="-122"/>
            </a:endParaRPr>
          </a:p>
          <a:p>
            <a:pPr marL="0" indent="184150">
              <a:lnSpc>
                <a:spcPct val="90000"/>
              </a:lnSpc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009900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200" b="1">
                <a:solidFill>
                  <a:srgbClr val="009900"/>
                </a:solidFill>
                <a:latin typeface="宋体" panose="02010600030101010101" pitchFamily="2" charset="-122"/>
              </a:rPr>
              <a:t>AH←AH</a:t>
            </a:r>
            <a:r>
              <a:rPr lang="zh-CN" altLang="en-US" sz="2200" b="1" dirty="0">
                <a:solidFill>
                  <a:srgbClr val="009900"/>
                </a:solidFill>
                <a:latin typeface="宋体" panose="02010600030101010101" pitchFamily="2" charset="-122"/>
              </a:rPr>
              <a:t>＋调整的进位</a:t>
            </a:r>
            <a:endParaRPr lang="zh-CN" altLang="en-US" sz="2200" b="1" dirty="0">
              <a:solidFill>
                <a:srgbClr val="009900"/>
              </a:solidFill>
              <a:latin typeface="宋体" panose="02010600030101010101" pitchFamily="2" charset="-122"/>
            </a:endParaRPr>
          </a:p>
        </p:txBody>
      </p:sp>
      <p:sp>
        <p:nvSpPr>
          <p:cNvPr id="39940" name="文本占位符 39939"/>
          <p:cNvSpPr>
            <a:spLocks noGrp="1"/>
          </p:cNvSpPr>
          <p:nvPr>
            <p:ph type="body" sz="half" idx="2"/>
          </p:nvPr>
        </p:nvSpPr>
        <p:spPr>
          <a:xfrm>
            <a:off x="4800600" y="1600200"/>
            <a:ext cx="4152900" cy="2952750"/>
          </a:xfrm>
          <a:ln>
            <a:solidFill>
              <a:schemeClr val="accent2"/>
            </a:solidFill>
            <a:miter/>
          </a:ln>
        </p:spPr>
        <p:txBody>
          <a:bodyPr/>
          <a:p>
            <a:pPr marL="0" indent="184150"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zh-CN" sz="2200" b="1" dirty="0">
                <a:solidFill>
                  <a:srgbClr val="0000FF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200" b="1">
                <a:solidFill>
                  <a:srgbClr val="0000FF"/>
                </a:solidFill>
                <a:latin typeface="宋体" panose="02010600030101010101" pitchFamily="2" charset="-122"/>
              </a:rPr>
              <a:t>SUB AL,i8/r8/m8</a:t>
            </a:r>
            <a:r>
              <a:rPr lang="zh-CN" altLang="en-US" sz="2200" b="1" dirty="0">
                <a:solidFill>
                  <a:srgbClr val="0000FF"/>
                </a:solidFill>
                <a:latin typeface="宋体" panose="02010600030101010101" pitchFamily="2" charset="-122"/>
              </a:rPr>
              <a:t>）</a:t>
            </a:r>
            <a:endParaRPr lang="zh-CN" altLang="en-US" sz="22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184150"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0000FF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200" b="1">
                <a:solidFill>
                  <a:srgbClr val="0000FF"/>
                </a:solidFill>
                <a:latin typeface="宋体" panose="02010600030101010101" pitchFamily="2" charset="-122"/>
              </a:rPr>
              <a:t>SBB AL,i8/r8/m8</a:t>
            </a:r>
            <a:r>
              <a:rPr lang="zh-CN" altLang="en-US" sz="2200" b="1" dirty="0">
                <a:solidFill>
                  <a:srgbClr val="0000FF"/>
                </a:solidFill>
                <a:latin typeface="宋体" panose="02010600030101010101" pitchFamily="2" charset="-122"/>
              </a:rPr>
              <a:t>）</a:t>
            </a:r>
            <a:endParaRPr lang="zh-CN" altLang="en-US" sz="22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184150"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600" b="1">
                <a:solidFill>
                  <a:schemeClr val="tx2"/>
                </a:solidFill>
                <a:latin typeface="宋体" panose="02010600030101010101" pitchFamily="2" charset="-122"/>
              </a:rPr>
              <a:t>AAS</a:t>
            </a:r>
            <a:endParaRPr lang="en-US" altLang="zh-CN" sz="2600" b="1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marL="0" indent="184150"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009900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200" b="1">
                <a:solidFill>
                  <a:srgbClr val="009900"/>
                </a:solidFill>
                <a:latin typeface="宋体" panose="02010600030101010101" pitchFamily="2" charset="-122"/>
              </a:rPr>
              <a:t>AL←</a:t>
            </a:r>
            <a:r>
              <a:rPr lang="zh-CN" altLang="en-US" sz="2200" b="1" dirty="0">
                <a:solidFill>
                  <a:srgbClr val="009900"/>
                </a:solidFill>
                <a:latin typeface="宋体" panose="02010600030101010101" pitchFamily="2" charset="-122"/>
              </a:rPr>
              <a:t>将</a:t>
            </a:r>
            <a:r>
              <a:rPr lang="en-US" altLang="zh-CN" sz="2200" b="1">
                <a:solidFill>
                  <a:srgbClr val="009900"/>
                </a:solidFill>
                <a:latin typeface="宋体" panose="02010600030101010101" pitchFamily="2" charset="-122"/>
              </a:rPr>
              <a:t>AL</a:t>
            </a:r>
            <a:r>
              <a:rPr lang="zh-CN" altLang="en-US" sz="2200" b="1" dirty="0">
                <a:solidFill>
                  <a:srgbClr val="009900"/>
                </a:solidFill>
                <a:latin typeface="宋体" panose="02010600030101010101" pitchFamily="2" charset="-122"/>
              </a:rPr>
              <a:t>的减差调整为非压缩</a:t>
            </a:r>
            <a:r>
              <a:rPr lang="en-US" altLang="zh-CN" sz="2200" b="1">
                <a:solidFill>
                  <a:srgbClr val="009900"/>
                </a:solidFill>
                <a:latin typeface="宋体" panose="02010600030101010101" pitchFamily="2" charset="-122"/>
              </a:rPr>
              <a:t>BCD</a:t>
            </a:r>
            <a:r>
              <a:rPr lang="zh-CN" altLang="en-US" sz="2200" b="1" dirty="0">
                <a:solidFill>
                  <a:srgbClr val="009900"/>
                </a:solidFill>
                <a:latin typeface="宋体" panose="02010600030101010101" pitchFamily="2" charset="-122"/>
              </a:rPr>
              <a:t>码</a:t>
            </a:r>
            <a:endParaRPr lang="zh-CN" altLang="en-US" sz="2200" b="1" dirty="0">
              <a:solidFill>
                <a:srgbClr val="009900"/>
              </a:solidFill>
              <a:latin typeface="宋体" panose="02010600030101010101" pitchFamily="2" charset="-122"/>
            </a:endParaRPr>
          </a:p>
          <a:p>
            <a:pPr marL="0" indent="184150"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009900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200" b="1">
                <a:solidFill>
                  <a:srgbClr val="009900"/>
                </a:solidFill>
                <a:latin typeface="宋体" panose="02010600030101010101" pitchFamily="2" charset="-122"/>
              </a:rPr>
              <a:t>AH←AH</a:t>
            </a:r>
            <a:r>
              <a:rPr lang="zh-CN" altLang="en-US" sz="2200" b="1" dirty="0">
                <a:solidFill>
                  <a:srgbClr val="009900"/>
                </a:solidFill>
                <a:latin typeface="宋体" panose="02010600030101010101" pitchFamily="2" charset="-122"/>
              </a:rPr>
              <a:t>－调整的借位</a:t>
            </a:r>
            <a:endParaRPr lang="zh-CN" altLang="en-US" sz="2600" b="1" dirty="0">
              <a:solidFill>
                <a:srgbClr val="009900"/>
              </a:solidFill>
              <a:latin typeface="宋体" panose="02010600030101010101" pitchFamily="2" charset="-122"/>
            </a:endParaRPr>
          </a:p>
        </p:txBody>
      </p:sp>
      <p:sp>
        <p:nvSpPr>
          <p:cNvPr id="39941" name="矩形 39940"/>
          <p:cNvSpPr/>
          <p:nvPr/>
        </p:nvSpPr>
        <p:spPr>
          <a:xfrm>
            <a:off x="381000" y="4572000"/>
            <a:ext cx="8534400" cy="1981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6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92150" lvl="1" indent="-34734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87425" lvl="2" indent="-29337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1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81430" lvl="3" indent="-2921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98930" lvl="4" indent="-31623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使用</a:t>
            </a:r>
            <a:r>
              <a:rPr lang="en-US" altLang="zh-CN" sz="24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AAA</a:t>
            </a:r>
            <a:r>
              <a:rPr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lang="en-US" altLang="zh-CN" sz="24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AAS</a:t>
            </a:r>
            <a:r>
              <a:rPr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指令前，应先执行以</a:t>
            </a:r>
            <a:r>
              <a:rPr lang="en-US" altLang="zh-CN" sz="24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</a:t>
            </a:r>
            <a:r>
              <a:rPr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为目的操作数的加法或减法指令</a:t>
            </a:r>
            <a:endParaRPr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/>
            <a:r>
              <a:rPr lang="en-US" altLang="zh-CN" sz="24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AAA</a:t>
            </a:r>
            <a:r>
              <a:rPr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4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AAS</a:t>
            </a:r>
            <a:r>
              <a:rPr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指令在调整中产生了进位或借位，则</a:t>
            </a:r>
            <a:r>
              <a:rPr lang="en-US" altLang="zh-CN" sz="24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AH</a:t>
            </a:r>
            <a:r>
              <a:rPr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要加上进位或减去借位，同时</a:t>
            </a:r>
            <a:r>
              <a:rPr lang="en-US" altLang="zh-CN" sz="24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CF=AF=1</a:t>
            </a:r>
            <a:r>
              <a:rPr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，否则</a:t>
            </a:r>
            <a:r>
              <a:rPr lang="en-US" altLang="zh-CN" sz="24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CF=AF=0</a:t>
            </a:r>
            <a:r>
              <a:rPr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；它们对其他标志无定义</a:t>
            </a:r>
            <a:endParaRPr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9942" name="文本框 39941">
            <a:hlinkClick r:id="" action="ppaction://noaction"/>
          </p:cNvPr>
          <p:cNvSpPr txBox="1"/>
          <p:nvPr/>
        </p:nvSpPr>
        <p:spPr>
          <a:xfrm>
            <a:off x="3048000" y="4038600"/>
            <a:ext cx="1313180" cy="39878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t" anchorCtr="0">
            <a:spAutoFit/>
          </a:bodyPr>
          <a:p>
            <a:r>
              <a:rPr lang="zh-CN" altLang="en-US" sz="2000" b="1" dirty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例题</a:t>
            </a:r>
            <a:r>
              <a:rPr lang="en-US" altLang="zh-CN" sz="2000" b="1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2.11a</a:t>
            </a:r>
            <a:endParaRPr lang="en-US" altLang="zh-CN" sz="2000" b="1">
              <a:solidFill>
                <a:srgbClr val="66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43" name="文本框 39942">
            <a:hlinkClick r:id="" action="ppaction://noaction"/>
          </p:cNvPr>
          <p:cNvSpPr txBox="1"/>
          <p:nvPr/>
        </p:nvSpPr>
        <p:spPr>
          <a:xfrm>
            <a:off x="7543800" y="4038600"/>
            <a:ext cx="1327150" cy="39878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t" anchorCtr="0">
            <a:spAutoFit/>
          </a:bodyPr>
          <a:p>
            <a:r>
              <a:rPr lang="zh-CN" altLang="en-US" sz="2000" b="1" dirty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例题</a:t>
            </a:r>
            <a:r>
              <a:rPr lang="en-US" altLang="zh-CN" sz="2000" b="1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2.11b</a:t>
            </a:r>
            <a:endParaRPr lang="en-US" altLang="zh-CN" sz="2000" b="1">
              <a:solidFill>
                <a:srgbClr val="66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8" name="标题 40967"/>
          <p:cNvSpPr>
            <a:spLocks noGrp="1"/>
          </p:cNvSpPr>
          <p:nvPr>
            <p:ph type="title"/>
          </p:nvPr>
        </p:nvSpPr>
        <p:spPr>
          <a:xfrm>
            <a:off x="1066800" y="685800"/>
            <a:ext cx="4876800" cy="609600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sz="3000" dirty="0"/>
              <a:t>例</a:t>
            </a:r>
            <a:r>
              <a:rPr lang="en-US" altLang="zh-CN" sz="3000"/>
              <a:t>2.11a</a:t>
            </a:r>
            <a:r>
              <a:rPr lang="zh-CN" altLang="en-US" sz="3000" dirty="0"/>
              <a:t>：非压缩</a:t>
            </a:r>
            <a:r>
              <a:rPr lang="en-US" altLang="zh-CN" sz="3000"/>
              <a:t>BCD</a:t>
            </a:r>
            <a:r>
              <a:rPr lang="zh-CN" altLang="en-US" sz="3000" dirty="0"/>
              <a:t>加法</a:t>
            </a:r>
            <a:endParaRPr lang="zh-CN" altLang="en-US" sz="3000"/>
          </a:p>
        </p:txBody>
      </p:sp>
      <p:sp>
        <p:nvSpPr>
          <p:cNvPr id="40969" name="文本占位符 40968"/>
          <p:cNvSpPr>
            <a:spLocks noGrp="1"/>
          </p:cNvSpPr>
          <p:nvPr>
            <p:ph type="body" idx="1"/>
          </p:nvPr>
        </p:nvSpPr>
        <p:spPr>
          <a:xfrm>
            <a:off x="381000" y="2133600"/>
            <a:ext cx="8258175" cy="3797300"/>
          </a:xfrm>
          <a:solidFill>
            <a:schemeClr val="bg1"/>
          </a:solidFill>
        </p:spPr>
        <p:txBody>
          <a:bodyPr/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ax,0608h  </a:t>
            </a:r>
            <a:r>
              <a:rPr lang="zh-CN" altLang="en-US" sz="2400" dirty="0">
                <a:latin typeface="宋体" panose="02010600030101010101" pitchFamily="2" charset="-122"/>
              </a:rPr>
              <a:t>；</a:t>
            </a:r>
            <a:r>
              <a:rPr lang="en-US" altLang="zh-CN" sz="2400">
                <a:latin typeface="宋体" panose="02010600030101010101" pitchFamily="2" charset="-122"/>
              </a:rPr>
              <a:t>ax=0608h</a:t>
            </a:r>
            <a:r>
              <a:rPr lang="zh-CN" altLang="en-US" sz="2400" dirty="0">
                <a:latin typeface="宋体" panose="02010600030101010101" pitchFamily="2" charset="-122"/>
              </a:rPr>
              <a:t>，非压缩</a:t>
            </a:r>
            <a:r>
              <a:rPr lang="en-US" altLang="zh-CN" sz="2400">
                <a:latin typeface="宋体" panose="02010600030101010101" pitchFamily="2" charset="-122"/>
              </a:rPr>
              <a:t>BCD</a:t>
            </a:r>
            <a:r>
              <a:rPr lang="zh-CN" altLang="en-US" sz="2400" dirty="0">
                <a:latin typeface="宋体" panose="02010600030101010101" pitchFamily="2" charset="-122"/>
              </a:rPr>
              <a:t>码表示真值</a:t>
            </a:r>
            <a:r>
              <a:rPr lang="en-US" altLang="zh-CN" sz="2400">
                <a:latin typeface="宋体" panose="02010600030101010101" pitchFamily="2" charset="-122"/>
              </a:rPr>
              <a:t>68</a:t>
            </a:r>
            <a:endParaRPr lang="en-US" altLang="zh-CN" sz="240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bl,09h    </a:t>
            </a:r>
            <a:r>
              <a:rPr lang="zh-CN" altLang="en-US" sz="2400" dirty="0">
                <a:latin typeface="宋体" panose="02010600030101010101" pitchFamily="2" charset="-122"/>
              </a:rPr>
              <a:t>；</a:t>
            </a:r>
            <a:r>
              <a:rPr lang="en-US" altLang="zh-CN" sz="2400" err="1">
                <a:latin typeface="宋体" panose="02010600030101010101" pitchFamily="2" charset="-122"/>
              </a:rPr>
              <a:t>bl</a:t>
            </a:r>
            <a:r>
              <a:rPr lang="en-US" altLang="zh-CN" sz="2400">
                <a:latin typeface="宋体" panose="02010600030101010101" pitchFamily="2" charset="-122"/>
              </a:rPr>
              <a:t>=09h</a:t>
            </a:r>
            <a:r>
              <a:rPr lang="zh-CN" altLang="en-US" sz="2400" dirty="0">
                <a:latin typeface="宋体" panose="02010600030101010101" pitchFamily="2" charset="-122"/>
              </a:rPr>
              <a:t>，非压缩</a:t>
            </a:r>
            <a:r>
              <a:rPr lang="en-US" altLang="zh-CN" sz="2400">
                <a:latin typeface="宋体" panose="02010600030101010101" pitchFamily="2" charset="-122"/>
              </a:rPr>
              <a:t>BCD</a:t>
            </a:r>
            <a:r>
              <a:rPr lang="zh-CN" altLang="en-US" sz="2400" dirty="0">
                <a:latin typeface="宋体" panose="02010600030101010101" pitchFamily="2" charset="-122"/>
              </a:rPr>
              <a:t>码表示真值</a:t>
            </a:r>
            <a:r>
              <a:rPr lang="en-US" altLang="zh-CN" sz="2400">
                <a:latin typeface="宋体" panose="02010600030101010101" pitchFamily="2" charset="-122"/>
              </a:rPr>
              <a:t>9</a:t>
            </a:r>
            <a:endParaRPr lang="en-US" altLang="zh-CN" sz="240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b="1">
                <a:solidFill>
                  <a:schemeClr val="tx2"/>
                </a:solidFill>
                <a:latin typeface="宋体" panose="02010600030101010101" pitchFamily="2" charset="-122"/>
              </a:rPr>
              <a:t>add </a:t>
            </a:r>
            <a:r>
              <a:rPr lang="en-US" altLang="zh-CN" sz="2600" b="1" err="1">
                <a:solidFill>
                  <a:schemeClr val="tx2"/>
                </a:solidFill>
                <a:latin typeface="宋体" panose="02010600030101010101" pitchFamily="2" charset="-122"/>
              </a:rPr>
              <a:t>al,bl</a:t>
            </a:r>
            <a:r>
              <a:rPr lang="en-US" altLang="zh-CN" sz="2600" b="1">
                <a:solidFill>
                  <a:schemeClr val="tx2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400" dirty="0">
                <a:latin typeface="宋体" panose="02010600030101010101" pitchFamily="2" charset="-122"/>
              </a:rPr>
              <a:t>；二进制加法：</a:t>
            </a:r>
            <a:r>
              <a:rPr lang="en-US" altLang="zh-CN" sz="2400">
                <a:latin typeface="宋体" panose="02010600030101010101" pitchFamily="2" charset="-122"/>
              </a:rPr>
              <a:t>al=08h+09h=11h</a:t>
            </a:r>
            <a:endParaRPr lang="en-US" altLang="zh-CN" sz="240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b="1" err="1">
                <a:solidFill>
                  <a:schemeClr val="tx2"/>
                </a:solidFill>
                <a:latin typeface="宋体" panose="02010600030101010101" pitchFamily="2" charset="-122"/>
              </a:rPr>
              <a:t>aaa</a:t>
            </a:r>
            <a:r>
              <a:rPr lang="en-US" altLang="zh-CN" sz="2600" b="1">
                <a:solidFill>
                  <a:schemeClr val="tx2"/>
                </a:solidFill>
                <a:latin typeface="宋体" panose="02010600030101010101" pitchFamily="2" charset="-122"/>
              </a:rPr>
              <a:t>           </a:t>
            </a:r>
            <a:r>
              <a:rPr lang="zh-CN" altLang="en-US" sz="2400" dirty="0">
                <a:latin typeface="宋体" panose="02010600030101010101" pitchFamily="2" charset="-122"/>
              </a:rPr>
              <a:t>；十进制调整：</a:t>
            </a:r>
            <a:r>
              <a:rPr lang="en-US" altLang="zh-CN" sz="2400">
                <a:latin typeface="宋体" panose="02010600030101010101" pitchFamily="2" charset="-122"/>
              </a:rPr>
              <a:t>ax=0707h</a:t>
            </a:r>
            <a:endParaRPr lang="en-US" altLang="zh-CN" sz="240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400" dirty="0">
                <a:latin typeface="宋体" panose="02010600030101010101" pitchFamily="2" charset="-122"/>
              </a:rPr>
              <a:t>               </a:t>
            </a:r>
            <a:r>
              <a:rPr lang="zh-CN" altLang="en-US" sz="2400" dirty="0">
                <a:latin typeface="宋体" panose="02010600030101010101" pitchFamily="2" charset="-122"/>
              </a:rPr>
              <a:t>；实现非压缩</a:t>
            </a:r>
            <a:r>
              <a:rPr lang="en-US" altLang="zh-CN" sz="2400">
                <a:latin typeface="宋体" panose="02010600030101010101" pitchFamily="2" charset="-122"/>
              </a:rPr>
              <a:t>BCD</a:t>
            </a:r>
            <a:r>
              <a:rPr lang="zh-CN" altLang="en-US" sz="2400" dirty="0">
                <a:latin typeface="宋体" panose="02010600030101010101" pitchFamily="2" charset="-122"/>
              </a:rPr>
              <a:t>码加法：</a:t>
            </a:r>
            <a:r>
              <a:rPr lang="en-US" altLang="zh-CN" sz="2400">
                <a:latin typeface="宋体" panose="02010600030101010101" pitchFamily="2" charset="-122"/>
              </a:rPr>
              <a:t>68</a:t>
            </a:r>
            <a:r>
              <a:rPr lang="zh-CN" altLang="en-US" sz="2400" dirty="0">
                <a:latin typeface="宋体" panose="02010600030101010101" pitchFamily="2" charset="-122"/>
              </a:rPr>
              <a:t>＋</a:t>
            </a:r>
            <a:r>
              <a:rPr lang="en-US" altLang="zh-CN" sz="2400">
                <a:latin typeface="宋体" panose="02010600030101010101" pitchFamily="2" charset="-122"/>
              </a:rPr>
              <a:t>9</a:t>
            </a:r>
            <a:r>
              <a:rPr lang="zh-CN" altLang="en-US" sz="2400" dirty="0">
                <a:latin typeface="宋体" panose="02010600030101010101" pitchFamily="2" charset="-122"/>
              </a:rPr>
              <a:t>＝</a:t>
            </a:r>
            <a:r>
              <a:rPr lang="en-US" altLang="zh-CN" sz="2400">
                <a:latin typeface="宋体" panose="02010600030101010101" pitchFamily="2" charset="-122"/>
              </a:rPr>
              <a:t>77</a:t>
            </a:r>
            <a:endParaRPr lang="en-US" altLang="zh-CN" sz="240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 advClick="0">
    <p:rand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92" name="标题 41991"/>
          <p:cNvSpPr>
            <a:spLocks noGrp="1"/>
          </p:cNvSpPr>
          <p:nvPr>
            <p:ph type="title"/>
          </p:nvPr>
        </p:nvSpPr>
        <p:spPr>
          <a:xfrm>
            <a:off x="1066800" y="533400"/>
            <a:ext cx="5181600" cy="685800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sz="3000" dirty="0"/>
              <a:t>例</a:t>
            </a:r>
            <a:r>
              <a:rPr lang="en-US" altLang="zh-CN" sz="3000"/>
              <a:t>2.11b</a:t>
            </a:r>
            <a:r>
              <a:rPr lang="zh-CN" altLang="en-US" sz="3000" dirty="0"/>
              <a:t>：非压缩</a:t>
            </a:r>
            <a:r>
              <a:rPr lang="en-US" altLang="zh-CN" sz="3000"/>
              <a:t>BCD</a:t>
            </a:r>
            <a:r>
              <a:rPr lang="zh-CN" altLang="en-US" sz="3000" dirty="0"/>
              <a:t>减法</a:t>
            </a:r>
            <a:endParaRPr lang="zh-CN" altLang="en-US" sz="3000" dirty="0"/>
          </a:p>
        </p:txBody>
      </p:sp>
      <p:sp>
        <p:nvSpPr>
          <p:cNvPr id="41993" name="文本占位符 41992"/>
          <p:cNvSpPr>
            <a:spLocks noGrp="1"/>
          </p:cNvSpPr>
          <p:nvPr>
            <p:ph type="body" idx="1"/>
          </p:nvPr>
        </p:nvSpPr>
        <p:spPr>
          <a:xfrm>
            <a:off x="457200" y="2362200"/>
            <a:ext cx="7924800" cy="3797300"/>
          </a:xfrm>
          <a:solidFill>
            <a:schemeClr val="bg1"/>
          </a:solidFill>
        </p:spPr>
        <p:txBody>
          <a:bodyPr/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ax,0608h  </a:t>
            </a:r>
            <a:r>
              <a:rPr lang="zh-CN" altLang="en-US" sz="2400" dirty="0">
                <a:latin typeface="宋体" panose="02010600030101010101" pitchFamily="2" charset="-122"/>
              </a:rPr>
              <a:t>；</a:t>
            </a:r>
            <a:r>
              <a:rPr lang="en-US" altLang="zh-CN" sz="2400">
                <a:latin typeface="宋体" panose="02010600030101010101" pitchFamily="2" charset="-122"/>
              </a:rPr>
              <a:t>ax=0608h</a:t>
            </a:r>
            <a:r>
              <a:rPr lang="zh-CN" altLang="en-US" sz="2400" dirty="0">
                <a:latin typeface="宋体" panose="02010600030101010101" pitchFamily="2" charset="-122"/>
              </a:rPr>
              <a:t>，非压缩</a:t>
            </a:r>
            <a:r>
              <a:rPr lang="en-US" altLang="zh-CN" sz="2400">
                <a:latin typeface="宋体" panose="02010600030101010101" pitchFamily="2" charset="-122"/>
              </a:rPr>
              <a:t>BCD</a:t>
            </a:r>
            <a:r>
              <a:rPr lang="zh-CN" altLang="en-US" sz="2400" dirty="0">
                <a:latin typeface="宋体" panose="02010600030101010101" pitchFamily="2" charset="-122"/>
              </a:rPr>
              <a:t>码表示真值</a:t>
            </a:r>
            <a:r>
              <a:rPr lang="en-US" altLang="zh-CN" sz="2400">
                <a:latin typeface="宋体" panose="02010600030101010101" pitchFamily="2" charset="-122"/>
              </a:rPr>
              <a:t>68</a:t>
            </a:r>
            <a:endParaRPr lang="en-US" altLang="zh-CN" sz="240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bl,09h    </a:t>
            </a:r>
            <a:r>
              <a:rPr lang="zh-CN" altLang="en-US" sz="2400" dirty="0">
                <a:latin typeface="宋体" panose="02010600030101010101" pitchFamily="2" charset="-122"/>
              </a:rPr>
              <a:t>；</a:t>
            </a:r>
            <a:r>
              <a:rPr lang="en-US" altLang="zh-CN" sz="2400" err="1">
                <a:latin typeface="宋体" panose="02010600030101010101" pitchFamily="2" charset="-122"/>
              </a:rPr>
              <a:t>bl</a:t>
            </a:r>
            <a:r>
              <a:rPr lang="en-US" altLang="zh-CN" sz="2400">
                <a:latin typeface="宋体" panose="02010600030101010101" pitchFamily="2" charset="-122"/>
              </a:rPr>
              <a:t>=09h</a:t>
            </a:r>
            <a:r>
              <a:rPr lang="zh-CN" altLang="en-US" sz="2400" dirty="0">
                <a:latin typeface="宋体" panose="02010600030101010101" pitchFamily="2" charset="-122"/>
              </a:rPr>
              <a:t>，非压缩</a:t>
            </a:r>
            <a:r>
              <a:rPr lang="en-US" altLang="zh-CN" sz="2400">
                <a:latin typeface="宋体" panose="02010600030101010101" pitchFamily="2" charset="-122"/>
              </a:rPr>
              <a:t>BCD</a:t>
            </a:r>
            <a:r>
              <a:rPr lang="zh-CN" altLang="en-US" sz="2400" dirty="0">
                <a:latin typeface="宋体" panose="02010600030101010101" pitchFamily="2" charset="-122"/>
              </a:rPr>
              <a:t>码表示真值</a:t>
            </a:r>
            <a:r>
              <a:rPr lang="en-US" altLang="zh-CN" sz="2400">
                <a:latin typeface="宋体" panose="02010600030101010101" pitchFamily="2" charset="-122"/>
              </a:rPr>
              <a:t>9</a:t>
            </a:r>
            <a:endParaRPr lang="en-US" altLang="zh-CN" sz="240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b="1">
                <a:solidFill>
                  <a:schemeClr val="tx2"/>
                </a:solidFill>
                <a:latin typeface="宋体" panose="02010600030101010101" pitchFamily="2" charset="-122"/>
              </a:rPr>
              <a:t>sub </a:t>
            </a:r>
            <a:r>
              <a:rPr lang="en-US" altLang="zh-CN" sz="2600" b="1" err="1">
                <a:solidFill>
                  <a:schemeClr val="tx2"/>
                </a:solidFill>
                <a:latin typeface="宋体" panose="02010600030101010101" pitchFamily="2" charset="-122"/>
              </a:rPr>
              <a:t>al,bl</a:t>
            </a:r>
            <a:r>
              <a:rPr lang="en-US" altLang="zh-CN" sz="2600" b="1">
                <a:solidFill>
                  <a:schemeClr val="tx2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400" dirty="0">
                <a:latin typeface="宋体" panose="02010600030101010101" pitchFamily="2" charset="-122"/>
              </a:rPr>
              <a:t>；二进制减法：</a:t>
            </a:r>
            <a:r>
              <a:rPr lang="en-US" altLang="zh-CN" sz="2400">
                <a:latin typeface="宋体" panose="02010600030101010101" pitchFamily="2" charset="-122"/>
              </a:rPr>
              <a:t>al=08h-09h=</a:t>
            </a:r>
            <a:r>
              <a:rPr lang="en-US" altLang="zh-CN" sz="2400" err="1">
                <a:latin typeface="宋体" panose="02010600030101010101" pitchFamily="2" charset="-122"/>
              </a:rPr>
              <a:t>ffh</a:t>
            </a:r>
            <a:endParaRPr lang="en-US" altLang="zh-CN" sz="240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b="1" err="1">
                <a:solidFill>
                  <a:schemeClr val="tx2"/>
                </a:solidFill>
                <a:latin typeface="宋体" panose="02010600030101010101" pitchFamily="2" charset="-122"/>
              </a:rPr>
              <a:t>aas</a:t>
            </a:r>
            <a:r>
              <a:rPr lang="en-US" altLang="zh-CN" sz="2600" b="1">
                <a:solidFill>
                  <a:schemeClr val="tx2"/>
                </a:solidFill>
                <a:latin typeface="宋体" panose="02010600030101010101" pitchFamily="2" charset="-122"/>
              </a:rPr>
              <a:t>           </a:t>
            </a:r>
            <a:r>
              <a:rPr lang="zh-CN" altLang="en-US" sz="2400" dirty="0">
                <a:latin typeface="宋体" panose="02010600030101010101" pitchFamily="2" charset="-122"/>
              </a:rPr>
              <a:t>；十进制调整：</a:t>
            </a:r>
            <a:r>
              <a:rPr lang="en-US" altLang="zh-CN" sz="2400">
                <a:latin typeface="宋体" panose="02010600030101010101" pitchFamily="2" charset="-122"/>
              </a:rPr>
              <a:t>ax=0509h</a:t>
            </a:r>
            <a:endParaRPr lang="en-US" altLang="zh-CN" sz="240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400" dirty="0">
                <a:latin typeface="宋体" panose="02010600030101010101" pitchFamily="2" charset="-122"/>
              </a:rPr>
              <a:t>               </a:t>
            </a:r>
            <a:r>
              <a:rPr lang="zh-CN" altLang="en-US" sz="2400" dirty="0">
                <a:latin typeface="宋体" panose="02010600030101010101" pitchFamily="2" charset="-122"/>
              </a:rPr>
              <a:t>；实现非压缩</a:t>
            </a:r>
            <a:r>
              <a:rPr lang="en-US" altLang="zh-CN" sz="2400">
                <a:latin typeface="宋体" panose="02010600030101010101" pitchFamily="2" charset="-122"/>
              </a:rPr>
              <a:t>BCD</a:t>
            </a:r>
            <a:r>
              <a:rPr lang="zh-CN" altLang="en-US" sz="2400" dirty="0">
                <a:latin typeface="宋体" panose="02010600030101010101" pitchFamily="2" charset="-122"/>
              </a:rPr>
              <a:t>码减法：</a:t>
            </a:r>
            <a:r>
              <a:rPr lang="en-US" altLang="zh-CN" sz="2400">
                <a:latin typeface="宋体" panose="02010600030101010101" pitchFamily="2" charset="-122"/>
              </a:rPr>
              <a:t>68-9</a:t>
            </a:r>
            <a:r>
              <a:rPr lang="zh-CN" altLang="en-US" sz="2400" dirty="0">
                <a:latin typeface="宋体" panose="02010600030101010101" pitchFamily="2" charset="-122"/>
              </a:rPr>
              <a:t>＝</a:t>
            </a:r>
            <a:r>
              <a:rPr lang="en-US" altLang="zh-CN" sz="2400">
                <a:latin typeface="宋体" panose="02010600030101010101" pitchFamily="2" charset="-122"/>
              </a:rPr>
              <a:t>59</a:t>
            </a:r>
            <a:endParaRPr lang="en-US" altLang="zh-CN" sz="240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 advClick="0"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标题 43009"/>
          <p:cNvSpPr>
            <a:spLocks noGrp="1"/>
          </p:cNvSpPr>
          <p:nvPr>
            <p:ph type="title"/>
          </p:nvPr>
        </p:nvSpPr>
        <p:spPr>
          <a:xfrm>
            <a:off x="457200" y="609600"/>
            <a:ext cx="7162800" cy="615950"/>
          </a:xfrm>
        </p:spPr>
        <p:txBody>
          <a:bodyPr anchor="b" anchorCtr="0"/>
          <a:p>
            <a:r>
              <a:rPr lang="zh-CN" altLang="en-US" dirty="0"/>
              <a:t>非压缩</a:t>
            </a:r>
            <a:r>
              <a:rPr lang="en-US" altLang="zh-CN"/>
              <a:t>BCD</a:t>
            </a:r>
            <a:r>
              <a:rPr lang="zh-CN" altLang="en-US" dirty="0"/>
              <a:t>码乘、除调整指令</a:t>
            </a:r>
            <a:endParaRPr lang="zh-CN" altLang="zh-CN" dirty="0"/>
          </a:p>
        </p:txBody>
      </p:sp>
      <p:sp>
        <p:nvSpPr>
          <p:cNvPr id="43011" name="文本占位符 43010"/>
          <p:cNvSpPr>
            <a:spLocks noGrp="1"/>
          </p:cNvSpPr>
          <p:nvPr>
            <p:ph type="body" sz="half" idx="1"/>
          </p:nvPr>
        </p:nvSpPr>
        <p:spPr>
          <a:xfrm>
            <a:off x="457200" y="1828800"/>
            <a:ext cx="4090988" cy="2362200"/>
          </a:xfrm>
          <a:ln>
            <a:solidFill>
              <a:schemeClr val="accent2"/>
            </a:solidFill>
            <a:miter/>
          </a:ln>
        </p:spPr>
        <p:txBody>
          <a:bodyPr/>
          <a:p>
            <a:pPr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zh-CN" sz="2600" dirty="0">
                <a:solidFill>
                  <a:srgbClr val="0000FF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MUL r8/m8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）</a:t>
            </a:r>
            <a:endParaRPr lang="zh-CN" altLang="en-US" sz="2600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2"/>
                </a:solidFill>
                <a:latin typeface="宋体" panose="02010600030101010101" pitchFamily="2" charset="-122"/>
              </a:rPr>
              <a:t>AAM</a:t>
            </a:r>
            <a:endParaRPr lang="en-US" altLang="zh-CN" b="1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600" dirty="0">
                <a:solidFill>
                  <a:srgbClr val="009900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600">
                <a:solidFill>
                  <a:srgbClr val="009900"/>
                </a:solidFill>
                <a:latin typeface="宋体" panose="02010600030101010101" pitchFamily="2" charset="-122"/>
              </a:rPr>
              <a:t>AX←</a:t>
            </a:r>
            <a:r>
              <a:rPr lang="zh-CN" altLang="en-US" sz="2600" dirty="0">
                <a:solidFill>
                  <a:srgbClr val="009900"/>
                </a:solidFill>
                <a:latin typeface="宋体" panose="02010600030101010101" pitchFamily="2" charset="-122"/>
              </a:rPr>
              <a:t>将</a:t>
            </a:r>
            <a:r>
              <a:rPr lang="en-US" altLang="zh-CN" sz="2600">
                <a:solidFill>
                  <a:srgbClr val="009900"/>
                </a:solidFill>
                <a:latin typeface="宋体" panose="02010600030101010101" pitchFamily="2" charset="-122"/>
              </a:rPr>
              <a:t>AX</a:t>
            </a:r>
            <a:r>
              <a:rPr lang="zh-CN" altLang="en-US" sz="2600" dirty="0">
                <a:solidFill>
                  <a:srgbClr val="009900"/>
                </a:solidFill>
                <a:latin typeface="宋体" panose="02010600030101010101" pitchFamily="2" charset="-122"/>
              </a:rPr>
              <a:t>的乘积调整为非压缩</a:t>
            </a:r>
            <a:r>
              <a:rPr lang="en-US" altLang="zh-CN" sz="2600">
                <a:solidFill>
                  <a:srgbClr val="009900"/>
                </a:solidFill>
                <a:latin typeface="宋体" panose="02010600030101010101" pitchFamily="2" charset="-122"/>
              </a:rPr>
              <a:t>BCD</a:t>
            </a:r>
            <a:r>
              <a:rPr lang="zh-CN" altLang="en-US" sz="2600" dirty="0">
                <a:solidFill>
                  <a:srgbClr val="009900"/>
                </a:solidFill>
                <a:latin typeface="宋体" panose="02010600030101010101" pitchFamily="2" charset="-122"/>
              </a:rPr>
              <a:t>码</a:t>
            </a:r>
            <a:endParaRPr lang="zh-CN" altLang="en-US" sz="2600" dirty="0">
              <a:solidFill>
                <a:srgbClr val="009900"/>
              </a:solidFill>
              <a:latin typeface="宋体" panose="02010600030101010101" pitchFamily="2" charset="-122"/>
            </a:endParaRPr>
          </a:p>
        </p:txBody>
      </p:sp>
      <p:sp>
        <p:nvSpPr>
          <p:cNvPr id="43012" name="文本占位符 43011"/>
          <p:cNvSpPr>
            <a:spLocks noGrp="1"/>
          </p:cNvSpPr>
          <p:nvPr>
            <p:ph type="body" sz="half" idx="2"/>
          </p:nvPr>
        </p:nvSpPr>
        <p:spPr>
          <a:xfrm>
            <a:off x="4724400" y="1828800"/>
            <a:ext cx="4152900" cy="2362200"/>
          </a:xfrm>
          <a:ln>
            <a:solidFill>
              <a:schemeClr val="accent2"/>
            </a:solidFill>
            <a:miter/>
          </a:ln>
        </p:spPr>
        <p:txBody>
          <a:bodyPr/>
          <a:p>
            <a:pPr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2"/>
                </a:solidFill>
                <a:latin typeface="宋体" panose="02010600030101010101" pitchFamily="2" charset="-122"/>
              </a:rPr>
              <a:t>AAD</a:t>
            </a:r>
            <a:endParaRPr lang="en-US" altLang="zh-CN" b="1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600" dirty="0">
                <a:solidFill>
                  <a:srgbClr val="009900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600">
                <a:solidFill>
                  <a:srgbClr val="009900"/>
                </a:solidFill>
                <a:latin typeface="宋体" panose="02010600030101010101" pitchFamily="2" charset="-122"/>
              </a:rPr>
              <a:t>AX←</a:t>
            </a:r>
            <a:r>
              <a:rPr lang="zh-CN" altLang="en-US" sz="2600" dirty="0">
                <a:solidFill>
                  <a:srgbClr val="009900"/>
                </a:solidFill>
                <a:latin typeface="宋体" panose="02010600030101010101" pitchFamily="2" charset="-122"/>
              </a:rPr>
              <a:t>将</a:t>
            </a:r>
            <a:r>
              <a:rPr lang="en-US" altLang="zh-CN" sz="2600">
                <a:solidFill>
                  <a:srgbClr val="009900"/>
                </a:solidFill>
                <a:latin typeface="宋体" panose="02010600030101010101" pitchFamily="2" charset="-122"/>
              </a:rPr>
              <a:t>AX</a:t>
            </a:r>
            <a:r>
              <a:rPr lang="zh-CN" altLang="en-US" sz="2600" dirty="0">
                <a:solidFill>
                  <a:srgbClr val="009900"/>
                </a:solidFill>
                <a:latin typeface="宋体" panose="02010600030101010101" pitchFamily="2" charset="-122"/>
              </a:rPr>
              <a:t>中非压缩</a:t>
            </a:r>
            <a:r>
              <a:rPr lang="en-US" altLang="zh-CN" sz="2600">
                <a:solidFill>
                  <a:srgbClr val="009900"/>
                </a:solidFill>
                <a:latin typeface="宋体" panose="02010600030101010101" pitchFamily="2" charset="-122"/>
              </a:rPr>
              <a:t>BCD</a:t>
            </a:r>
            <a:r>
              <a:rPr lang="zh-CN" altLang="en-US" sz="2600" dirty="0">
                <a:solidFill>
                  <a:srgbClr val="009900"/>
                </a:solidFill>
                <a:latin typeface="宋体" panose="02010600030101010101" pitchFamily="2" charset="-122"/>
              </a:rPr>
              <a:t>码扩展成二进制数</a:t>
            </a:r>
            <a:endParaRPr lang="zh-CN" altLang="en-US" sz="2600" dirty="0">
              <a:solidFill>
                <a:srgbClr val="009900"/>
              </a:solidFill>
              <a:latin typeface="宋体" panose="02010600030101010101" pitchFamily="2" charset="-122"/>
            </a:endParaRPr>
          </a:p>
          <a:p>
            <a:pPr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zh-CN" sz="2600" dirty="0">
                <a:solidFill>
                  <a:srgbClr val="0000FF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DIV r8/m8</a:t>
            </a:r>
            <a:r>
              <a:rPr lang="zh-CN" altLang="en-US" sz="2600" dirty="0">
                <a:solidFill>
                  <a:srgbClr val="0000FF"/>
                </a:solidFill>
                <a:latin typeface="宋体" panose="02010600030101010101" pitchFamily="2" charset="-122"/>
              </a:rPr>
              <a:t>）</a:t>
            </a:r>
            <a:endParaRPr lang="zh-CN" altLang="en-US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43013" name="矩形 43012"/>
          <p:cNvSpPr/>
          <p:nvPr/>
        </p:nvSpPr>
        <p:spPr>
          <a:xfrm>
            <a:off x="381000" y="4267200"/>
            <a:ext cx="8305800" cy="21336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6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92150" lvl="1" indent="-34734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87425" lvl="2" indent="-29337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1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81430" lvl="3" indent="-2921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98930" lvl="4" indent="-31623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 sz="24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AAM</a:t>
            </a:r>
            <a:r>
              <a:rPr lang="zh-CN" altLang="en-US" sz="24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指令跟在字节乘</a:t>
            </a:r>
            <a:r>
              <a:rPr lang="en-US" altLang="zh-CN" sz="24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MUL</a:t>
            </a:r>
            <a:r>
              <a:rPr lang="zh-CN" altLang="en-US" sz="24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之后，将乘积调整为非压缩</a:t>
            </a:r>
            <a:r>
              <a:rPr lang="en-US" altLang="zh-CN" sz="24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BCD</a:t>
            </a:r>
            <a:r>
              <a:rPr lang="zh-CN" altLang="en-US" sz="24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</a:t>
            </a:r>
            <a:endParaRPr lang="zh-CN" altLang="en-US" sz="24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/>
            <a:r>
              <a:rPr lang="en-US" altLang="zh-CN" sz="24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AAD</a:t>
            </a:r>
            <a:r>
              <a:rPr lang="zh-CN" altLang="en-US" sz="24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指令跟在字节除</a:t>
            </a:r>
            <a:r>
              <a:rPr lang="en-US" altLang="zh-CN" sz="24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DIV</a:t>
            </a:r>
            <a:r>
              <a:rPr lang="zh-CN" altLang="en-US" sz="24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之前，先将非压缩</a:t>
            </a:r>
            <a:r>
              <a:rPr lang="en-US" altLang="zh-CN" sz="24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BCD</a:t>
            </a:r>
            <a:r>
              <a:rPr lang="zh-CN" altLang="en-US" sz="24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码的被除数调整为二进制数</a:t>
            </a:r>
            <a:endParaRPr lang="zh-CN" altLang="en-US" sz="24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/>
            <a:r>
              <a:rPr lang="en-US" altLang="zh-CN" sz="24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AAM</a:t>
            </a:r>
            <a:r>
              <a:rPr lang="zh-CN" altLang="en-US" sz="24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4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AAD</a:t>
            </a:r>
            <a:r>
              <a:rPr lang="zh-CN" altLang="en-US" sz="24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指令根据结果设置</a:t>
            </a:r>
            <a:r>
              <a:rPr lang="en-US" altLang="zh-CN" sz="24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SF</a:t>
            </a:r>
            <a:r>
              <a:rPr lang="zh-CN" altLang="en-US" sz="24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ZF</a:t>
            </a:r>
            <a:r>
              <a:rPr lang="zh-CN" altLang="en-US" sz="24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4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PF</a:t>
            </a:r>
            <a:r>
              <a:rPr lang="zh-CN" altLang="en-US" sz="24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，但对</a:t>
            </a:r>
            <a:r>
              <a:rPr lang="en-US" altLang="zh-CN" sz="24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OF</a:t>
            </a:r>
            <a:r>
              <a:rPr lang="zh-CN" altLang="en-US" sz="24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CF</a:t>
            </a:r>
            <a:r>
              <a:rPr lang="zh-CN" altLang="en-US" sz="24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4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AF</a:t>
            </a:r>
            <a:r>
              <a:rPr lang="zh-CN" altLang="en-US" sz="24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无定义</a:t>
            </a:r>
            <a:endParaRPr lang="zh-CN" altLang="en-US" sz="24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3014" name="文本框 43013">
            <a:hlinkClick r:id="rId1" action="ppaction://hlinksldjump"/>
          </p:cNvPr>
          <p:cNvSpPr txBox="1"/>
          <p:nvPr/>
        </p:nvSpPr>
        <p:spPr>
          <a:xfrm>
            <a:off x="3124200" y="3657600"/>
            <a:ext cx="1313180" cy="39878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t" anchorCtr="0">
            <a:spAutoFit/>
          </a:bodyPr>
          <a:p>
            <a:r>
              <a:rPr lang="zh-CN" altLang="en-US" sz="2000" b="1" dirty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例题</a:t>
            </a:r>
            <a:r>
              <a:rPr lang="en-US" altLang="zh-CN" sz="2000" b="1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2.11c</a:t>
            </a:r>
            <a:endParaRPr lang="en-US" altLang="zh-CN" sz="2000" b="1">
              <a:solidFill>
                <a:srgbClr val="66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15" name="文本框 43014">
            <a:hlinkClick r:id="" action="ppaction://noaction"/>
          </p:cNvPr>
          <p:cNvSpPr txBox="1"/>
          <p:nvPr/>
        </p:nvSpPr>
        <p:spPr>
          <a:xfrm>
            <a:off x="7391400" y="3657600"/>
            <a:ext cx="1327150" cy="39878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t" anchorCtr="0">
            <a:spAutoFit/>
          </a:bodyPr>
          <a:p>
            <a:r>
              <a:rPr lang="zh-CN" altLang="en-US" sz="2000" b="1" dirty="0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例题</a:t>
            </a:r>
            <a:r>
              <a:rPr lang="en-US" altLang="zh-CN" sz="2000" b="1">
                <a:solidFill>
                  <a:srgbClr val="66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2.11d</a:t>
            </a:r>
            <a:endParaRPr lang="en-US" altLang="zh-CN" sz="2000" b="1">
              <a:solidFill>
                <a:srgbClr val="66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40" name="标题 44039"/>
          <p:cNvSpPr>
            <a:spLocks noGrp="1"/>
          </p:cNvSpPr>
          <p:nvPr>
            <p:ph type="title"/>
          </p:nvPr>
        </p:nvSpPr>
        <p:spPr>
          <a:xfrm>
            <a:off x="1219200" y="685800"/>
            <a:ext cx="4953000" cy="685800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sz="3000" dirty="0"/>
              <a:t>例</a:t>
            </a:r>
            <a:r>
              <a:rPr lang="en-US" altLang="zh-CN" sz="3000"/>
              <a:t>2.11c</a:t>
            </a:r>
            <a:r>
              <a:rPr lang="zh-CN" altLang="en-US" sz="3000" dirty="0"/>
              <a:t>：非压缩</a:t>
            </a:r>
            <a:r>
              <a:rPr lang="en-US" altLang="zh-CN" sz="3000"/>
              <a:t>BCD</a:t>
            </a:r>
            <a:r>
              <a:rPr lang="zh-CN" altLang="en-US" sz="3000" dirty="0"/>
              <a:t>乘法</a:t>
            </a:r>
            <a:endParaRPr lang="zh-CN" altLang="en-US" sz="3000" dirty="0"/>
          </a:p>
        </p:txBody>
      </p:sp>
      <p:sp>
        <p:nvSpPr>
          <p:cNvPr id="44041" name="文本占位符 44040"/>
          <p:cNvSpPr>
            <a:spLocks noGrp="1"/>
          </p:cNvSpPr>
          <p:nvPr>
            <p:ph type="body" idx="1"/>
          </p:nvPr>
        </p:nvSpPr>
        <p:spPr>
          <a:xfrm>
            <a:off x="304800" y="2041525"/>
            <a:ext cx="8458200" cy="4130675"/>
          </a:xfrm>
          <a:solidFill>
            <a:schemeClr val="bg1"/>
          </a:solidFill>
        </p:spPr>
        <p:txBody>
          <a:bodyPr/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ax,0608h</a:t>
            </a:r>
            <a:r>
              <a:rPr lang="en-US" altLang="zh-CN" sz="260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ax=0608h</a:t>
            </a:r>
            <a:r>
              <a:rPr lang="zh-CN" altLang="en-US" sz="2600" dirty="0">
                <a:latin typeface="宋体" panose="02010600030101010101" pitchFamily="2" charset="-122"/>
              </a:rPr>
              <a:t>，非压缩</a:t>
            </a:r>
            <a:r>
              <a:rPr lang="en-US" altLang="zh-CN" sz="2600">
                <a:latin typeface="宋体" panose="02010600030101010101" pitchFamily="2" charset="-122"/>
              </a:rPr>
              <a:t>BCD</a:t>
            </a:r>
            <a:r>
              <a:rPr lang="zh-CN" altLang="en-US" sz="2600" dirty="0">
                <a:latin typeface="宋体" panose="02010600030101010101" pitchFamily="2" charset="-122"/>
              </a:rPr>
              <a:t>码表示真值</a:t>
            </a:r>
            <a:r>
              <a:rPr lang="en-US" altLang="zh-CN" sz="2600">
                <a:latin typeface="宋体" panose="02010600030101010101" pitchFamily="2" charset="-122"/>
              </a:rPr>
              <a:t>68</a:t>
            </a:r>
            <a:endParaRPr lang="en-US" altLang="zh-CN" sz="260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bl,09h</a:t>
            </a:r>
            <a:r>
              <a:rPr lang="en-US" altLang="zh-CN" sz="260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 err="1">
                <a:latin typeface="宋体" panose="02010600030101010101" pitchFamily="2" charset="-122"/>
              </a:rPr>
              <a:t>bl</a:t>
            </a:r>
            <a:r>
              <a:rPr lang="en-US" altLang="zh-CN" sz="2600">
                <a:latin typeface="宋体" panose="02010600030101010101" pitchFamily="2" charset="-122"/>
              </a:rPr>
              <a:t>=09h</a:t>
            </a:r>
            <a:r>
              <a:rPr lang="zh-CN" altLang="en-US" sz="2600" dirty="0">
                <a:latin typeface="宋体" panose="02010600030101010101" pitchFamily="2" charset="-122"/>
              </a:rPr>
              <a:t>，非压缩</a:t>
            </a:r>
            <a:r>
              <a:rPr lang="en-US" altLang="zh-CN" sz="2600">
                <a:latin typeface="宋体" panose="02010600030101010101" pitchFamily="2" charset="-122"/>
              </a:rPr>
              <a:t>BCD</a:t>
            </a:r>
            <a:r>
              <a:rPr lang="zh-CN" altLang="en-US" sz="2600" dirty="0">
                <a:latin typeface="宋体" panose="02010600030101010101" pitchFamily="2" charset="-122"/>
              </a:rPr>
              <a:t>码表示真值</a:t>
            </a:r>
            <a:r>
              <a:rPr lang="en-US" altLang="zh-CN" sz="2600">
                <a:latin typeface="宋体" panose="02010600030101010101" pitchFamily="2" charset="-122"/>
              </a:rPr>
              <a:t>9</a:t>
            </a:r>
            <a:endParaRPr lang="en-US" altLang="zh-CN" sz="260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b="1" err="1">
                <a:solidFill>
                  <a:schemeClr val="tx2"/>
                </a:solidFill>
                <a:latin typeface="宋体" panose="02010600030101010101" pitchFamily="2" charset="-122"/>
              </a:rPr>
              <a:t>mul</a:t>
            </a:r>
            <a:r>
              <a:rPr lang="en-US" altLang="zh-CN" sz="2600" b="1">
                <a:solidFill>
                  <a:schemeClr val="tx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600" b="1" err="1">
                <a:solidFill>
                  <a:schemeClr val="tx2"/>
                </a:solidFill>
                <a:latin typeface="宋体" panose="02010600030101010101" pitchFamily="2" charset="-122"/>
              </a:rPr>
              <a:t>bl</a:t>
            </a:r>
            <a:r>
              <a:rPr lang="en-US" altLang="zh-CN" sz="2600">
                <a:solidFill>
                  <a:schemeClr val="tx2"/>
                </a:solidFill>
                <a:latin typeface="宋体" panose="02010600030101010101" pitchFamily="2" charset="-122"/>
              </a:rPr>
              <a:t>       </a:t>
            </a:r>
            <a:r>
              <a:rPr lang="zh-CN" altLang="en-US" sz="2600" dirty="0">
                <a:latin typeface="宋体" panose="02010600030101010101" pitchFamily="2" charset="-122"/>
              </a:rPr>
              <a:t>；二进制乘法：</a:t>
            </a:r>
            <a:r>
              <a:rPr lang="en-US" altLang="zh-CN" sz="2600">
                <a:latin typeface="宋体" panose="02010600030101010101" pitchFamily="2" charset="-122"/>
              </a:rPr>
              <a:t>al=08h×09h=0048h</a:t>
            </a:r>
            <a:endParaRPr lang="en-US" altLang="zh-CN" sz="260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b="1" err="1">
                <a:solidFill>
                  <a:schemeClr val="tx2"/>
                </a:solidFill>
                <a:latin typeface="宋体" panose="02010600030101010101" pitchFamily="2" charset="-122"/>
              </a:rPr>
              <a:t>aam</a:t>
            </a:r>
            <a:r>
              <a:rPr lang="en-US" altLang="zh-CN" sz="2600" b="1">
                <a:solidFill>
                  <a:schemeClr val="tx2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2600">
                <a:solidFill>
                  <a:schemeClr val="tx2"/>
                </a:solidFill>
                <a:latin typeface="宋体" panose="02010600030101010101" pitchFamily="2" charset="-122"/>
              </a:rPr>
              <a:t>        </a:t>
            </a:r>
            <a:r>
              <a:rPr lang="zh-CN" altLang="en-US" sz="2600" dirty="0">
                <a:latin typeface="宋体" panose="02010600030101010101" pitchFamily="2" charset="-122"/>
              </a:rPr>
              <a:t>；十进制调整：</a:t>
            </a:r>
            <a:r>
              <a:rPr lang="en-US" altLang="zh-CN" sz="2600">
                <a:latin typeface="宋体" panose="02010600030101010101" pitchFamily="2" charset="-122"/>
              </a:rPr>
              <a:t>ax=0702h</a:t>
            </a:r>
            <a:endParaRPr lang="en-US" altLang="zh-CN" sz="260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dirty="0">
                <a:latin typeface="宋体" panose="02010600030101010101" pitchFamily="2" charset="-122"/>
              </a:rPr>
              <a:t>             </a:t>
            </a:r>
            <a:r>
              <a:rPr lang="zh-CN" altLang="en-US" sz="2600" dirty="0">
                <a:latin typeface="宋体" panose="02010600030101010101" pitchFamily="2" charset="-122"/>
              </a:rPr>
              <a:t>；实现非压缩</a:t>
            </a:r>
            <a:r>
              <a:rPr lang="en-US" altLang="zh-CN" sz="2600">
                <a:latin typeface="宋体" panose="02010600030101010101" pitchFamily="2" charset="-122"/>
              </a:rPr>
              <a:t>BCD</a:t>
            </a:r>
            <a:r>
              <a:rPr lang="zh-CN" altLang="en-US" sz="2600" dirty="0">
                <a:latin typeface="宋体" panose="02010600030101010101" pitchFamily="2" charset="-122"/>
              </a:rPr>
              <a:t>码乘法：</a:t>
            </a:r>
            <a:r>
              <a:rPr lang="en-US" altLang="zh-CN" sz="2600">
                <a:latin typeface="宋体" panose="02010600030101010101" pitchFamily="2" charset="-122"/>
              </a:rPr>
              <a:t>8×9</a:t>
            </a:r>
            <a:r>
              <a:rPr lang="zh-CN" altLang="en-US" sz="2600" dirty="0">
                <a:latin typeface="宋体" panose="02010600030101010101" pitchFamily="2" charset="-122"/>
              </a:rPr>
              <a:t>＝</a:t>
            </a:r>
            <a:r>
              <a:rPr lang="en-US" altLang="zh-CN" sz="2600">
                <a:latin typeface="宋体" panose="02010600030101010101" pitchFamily="2" charset="-122"/>
              </a:rPr>
              <a:t>72</a:t>
            </a:r>
            <a:endParaRPr lang="en-US" altLang="zh-CN" sz="260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 advClick="0">
    <p:rand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64" name="标题 45063"/>
          <p:cNvSpPr>
            <a:spLocks noGrp="1"/>
          </p:cNvSpPr>
          <p:nvPr>
            <p:ph type="title"/>
          </p:nvPr>
        </p:nvSpPr>
        <p:spPr>
          <a:xfrm>
            <a:off x="990600" y="685800"/>
            <a:ext cx="4876800" cy="609600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sz="3000" dirty="0"/>
              <a:t>例</a:t>
            </a:r>
            <a:r>
              <a:rPr lang="en-US" altLang="zh-CN" sz="3000"/>
              <a:t>2.11d</a:t>
            </a:r>
            <a:r>
              <a:rPr lang="zh-CN" altLang="en-US" sz="3000" dirty="0"/>
              <a:t>：非压缩</a:t>
            </a:r>
            <a:r>
              <a:rPr lang="en-US" altLang="zh-CN" sz="3000"/>
              <a:t>BCD</a:t>
            </a:r>
            <a:r>
              <a:rPr lang="zh-CN" altLang="en-US" sz="3000" dirty="0"/>
              <a:t>除法</a:t>
            </a:r>
            <a:endParaRPr lang="zh-CN" altLang="en-US" sz="3000" dirty="0"/>
          </a:p>
        </p:txBody>
      </p:sp>
      <p:sp>
        <p:nvSpPr>
          <p:cNvPr id="45065" name="文本占位符 45064"/>
          <p:cNvSpPr>
            <a:spLocks noGrp="1"/>
          </p:cNvSpPr>
          <p:nvPr>
            <p:ph type="body" idx="1"/>
          </p:nvPr>
        </p:nvSpPr>
        <p:spPr>
          <a:xfrm>
            <a:off x="533400" y="2362200"/>
            <a:ext cx="7924800" cy="3797300"/>
          </a:xfrm>
          <a:solidFill>
            <a:schemeClr val="bg1"/>
          </a:solidFill>
        </p:spPr>
        <p:txBody>
          <a:bodyPr/>
          <a:p>
            <a:pPr marL="0" indent="184150" defTabSz="914400">
              <a:lnSpc>
                <a:spcPct val="80000"/>
              </a:lnSpc>
              <a:buNone/>
              <a:tabLst>
                <a:tab pos="3342005" algn="l"/>
              </a:tabLst>
            </a:pP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ax,0608h</a:t>
            </a:r>
            <a:r>
              <a:rPr lang="en-US" altLang="zh-CN" sz="260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</a:rPr>
              <a:t>；</a:t>
            </a:r>
            <a:r>
              <a:rPr lang="en-US" altLang="zh-CN" sz="2400">
                <a:latin typeface="宋体" panose="02010600030101010101" pitchFamily="2" charset="-122"/>
              </a:rPr>
              <a:t>ax=0608h</a:t>
            </a:r>
            <a:r>
              <a:rPr lang="zh-CN" altLang="en-US" sz="2400" dirty="0">
                <a:latin typeface="宋体" panose="02010600030101010101" pitchFamily="2" charset="-122"/>
              </a:rPr>
              <a:t>，非压缩</a:t>
            </a:r>
            <a:r>
              <a:rPr lang="en-US" altLang="zh-CN" sz="2400">
                <a:latin typeface="宋体" panose="02010600030101010101" pitchFamily="2" charset="-122"/>
              </a:rPr>
              <a:t>BCD</a:t>
            </a:r>
            <a:r>
              <a:rPr lang="zh-CN" altLang="en-US" sz="2400" dirty="0">
                <a:latin typeface="宋体" panose="02010600030101010101" pitchFamily="2" charset="-122"/>
              </a:rPr>
              <a:t>码表示真值</a:t>
            </a:r>
            <a:r>
              <a:rPr lang="en-US" altLang="zh-CN" sz="2400">
                <a:latin typeface="宋体" panose="02010600030101010101" pitchFamily="2" charset="-122"/>
              </a:rPr>
              <a:t>68</a:t>
            </a:r>
            <a:endParaRPr lang="en-US" altLang="zh-CN" sz="2400">
              <a:latin typeface="宋体" panose="02010600030101010101" pitchFamily="2" charset="-122"/>
            </a:endParaRPr>
          </a:p>
          <a:p>
            <a:pPr marL="0" indent="184150" defTabSz="914400">
              <a:lnSpc>
                <a:spcPct val="80000"/>
              </a:lnSpc>
              <a:buNone/>
              <a:tabLst>
                <a:tab pos="3342005" algn="l"/>
              </a:tabLst>
            </a:pP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bl,09h</a:t>
            </a:r>
            <a:r>
              <a:rPr lang="en-US" altLang="zh-CN" sz="260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400" dirty="0">
                <a:latin typeface="宋体" panose="02010600030101010101" pitchFamily="2" charset="-122"/>
              </a:rPr>
              <a:t>；</a:t>
            </a:r>
            <a:r>
              <a:rPr lang="en-US" altLang="zh-CN" sz="2400" err="1">
                <a:latin typeface="宋体" panose="02010600030101010101" pitchFamily="2" charset="-122"/>
              </a:rPr>
              <a:t>bl</a:t>
            </a:r>
            <a:r>
              <a:rPr lang="en-US" altLang="zh-CN" sz="2400">
                <a:latin typeface="宋体" panose="02010600030101010101" pitchFamily="2" charset="-122"/>
              </a:rPr>
              <a:t>=09h</a:t>
            </a:r>
            <a:r>
              <a:rPr lang="zh-CN" altLang="en-US" sz="2400" dirty="0">
                <a:latin typeface="宋体" panose="02010600030101010101" pitchFamily="2" charset="-122"/>
              </a:rPr>
              <a:t>，非压缩</a:t>
            </a:r>
            <a:r>
              <a:rPr lang="en-US" altLang="zh-CN" sz="2400">
                <a:latin typeface="宋体" panose="02010600030101010101" pitchFamily="2" charset="-122"/>
              </a:rPr>
              <a:t>BCD</a:t>
            </a:r>
            <a:r>
              <a:rPr lang="zh-CN" altLang="en-US" sz="2400" dirty="0">
                <a:latin typeface="宋体" panose="02010600030101010101" pitchFamily="2" charset="-122"/>
              </a:rPr>
              <a:t>码表示真值</a:t>
            </a:r>
            <a:r>
              <a:rPr lang="en-US" altLang="zh-CN" sz="2400">
                <a:latin typeface="宋体" panose="02010600030101010101" pitchFamily="2" charset="-122"/>
              </a:rPr>
              <a:t>9</a:t>
            </a:r>
            <a:endParaRPr lang="en-US" altLang="zh-CN" sz="2400">
              <a:latin typeface="宋体" panose="02010600030101010101" pitchFamily="2" charset="-122"/>
            </a:endParaRPr>
          </a:p>
          <a:p>
            <a:pPr marL="0" indent="184150" defTabSz="914400">
              <a:lnSpc>
                <a:spcPct val="80000"/>
              </a:lnSpc>
              <a:buNone/>
              <a:tabLst>
                <a:tab pos="3342005" algn="l"/>
              </a:tabLst>
            </a:pPr>
            <a:r>
              <a:rPr lang="en-US" altLang="zh-CN" sz="2600" b="1" err="1">
                <a:solidFill>
                  <a:schemeClr val="tx2"/>
                </a:solidFill>
                <a:latin typeface="宋体" panose="02010600030101010101" pitchFamily="2" charset="-122"/>
              </a:rPr>
              <a:t>aam</a:t>
            </a:r>
            <a:r>
              <a:rPr lang="en-US" altLang="zh-CN" sz="2600" b="1">
                <a:solidFill>
                  <a:schemeClr val="tx2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2600">
                <a:solidFill>
                  <a:schemeClr val="tx2"/>
                </a:solidFill>
                <a:latin typeface="宋体" panose="02010600030101010101" pitchFamily="2" charset="-122"/>
              </a:rPr>
              <a:t>        </a:t>
            </a:r>
            <a:r>
              <a:rPr lang="zh-CN" altLang="en-US" sz="2400" dirty="0">
                <a:latin typeface="宋体" panose="02010600030101010101" pitchFamily="2" charset="-122"/>
              </a:rPr>
              <a:t>；二进制扩展：</a:t>
            </a:r>
            <a:r>
              <a:rPr lang="en-US" altLang="zh-CN" sz="2400">
                <a:latin typeface="宋体" panose="02010600030101010101" pitchFamily="2" charset="-122"/>
              </a:rPr>
              <a:t>ax=68</a:t>
            </a:r>
            <a:r>
              <a:rPr lang="zh-CN" altLang="en-US" sz="2400" dirty="0">
                <a:latin typeface="宋体" panose="02010600030101010101" pitchFamily="2" charset="-122"/>
              </a:rPr>
              <a:t>＝</a:t>
            </a:r>
            <a:r>
              <a:rPr lang="en-US" altLang="zh-CN" sz="2400">
                <a:latin typeface="宋体" panose="02010600030101010101" pitchFamily="2" charset="-122"/>
              </a:rPr>
              <a:t>0044h</a:t>
            </a:r>
            <a:endParaRPr lang="en-US" altLang="zh-CN" sz="2400">
              <a:latin typeface="宋体" panose="02010600030101010101" pitchFamily="2" charset="-122"/>
            </a:endParaRPr>
          </a:p>
          <a:p>
            <a:pPr marL="0" indent="184150" defTabSz="914400">
              <a:lnSpc>
                <a:spcPct val="80000"/>
              </a:lnSpc>
              <a:buNone/>
              <a:tabLst>
                <a:tab pos="3342005" algn="l"/>
              </a:tabLst>
            </a:pPr>
            <a:r>
              <a:rPr lang="en-US" altLang="zh-CN" sz="2600" b="1">
                <a:solidFill>
                  <a:schemeClr val="tx2"/>
                </a:solidFill>
                <a:latin typeface="宋体" panose="02010600030101010101" pitchFamily="2" charset="-122"/>
              </a:rPr>
              <a:t>div </a:t>
            </a:r>
            <a:r>
              <a:rPr lang="en-US" altLang="zh-CN" sz="2600" b="1" err="1">
                <a:solidFill>
                  <a:schemeClr val="tx2"/>
                </a:solidFill>
                <a:latin typeface="宋体" panose="02010600030101010101" pitchFamily="2" charset="-122"/>
              </a:rPr>
              <a:t>bl</a:t>
            </a:r>
            <a:r>
              <a:rPr lang="en-US" altLang="zh-CN" sz="2600">
                <a:solidFill>
                  <a:schemeClr val="tx2"/>
                </a:solidFill>
                <a:latin typeface="宋体" panose="02010600030101010101" pitchFamily="2" charset="-122"/>
              </a:rPr>
              <a:t>       </a:t>
            </a:r>
            <a:r>
              <a:rPr lang="zh-CN" altLang="en-US" sz="2400" dirty="0">
                <a:latin typeface="宋体" panose="02010600030101010101" pitchFamily="2" charset="-122"/>
              </a:rPr>
              <a:t>；除法运算：商</a:t>
            </a:r>
            <a:r>
              <a:rPr lang="en-US" altLang="zh-CN" sz="2400">
                <a:latin typeface="宋体" panose="02010600030101010101" pitchFamily="2" charset="-122"/>
              </a:rPr>
              <a:t>al=07h</a:t>
            </a:r>
            <a:r>
              <a:rPr lang="zh-CN" altLang="en-US" sz="2400" dirty="0">
                <a:latin typeface="宋体" panose="02010600030101010101" pitchFamily="2" charset="-122"/>
              </a:rPr>
              <a:t>，余数</a:t>
            </a:r>
            <a:r>
              <a:rPr lang="en-US" altLang="zh-CN" sz="2400">
                <a:latin typeface="宋体" panose="02010600030101010101" pitchFamily="2" charset="-122"/>
              </a:rPr>
              <a:t>ah=05h</a:t>
            </a:r>
            <a:endParaRPr lang="en-US" altLang="zh-CN" sz="2400">
              <a:latin typeface="宋体" panose="02010600030101010101" pitchFamily="2" charset="-122"/>
            </a:endParaRPr>
          </a:p>
          <a:p>
            <a:pPr marL="0" indent="184150" defTabSz="914400">
              <a:lnSpc>
                <a:spcPct val="80000"/>
              </a:lnSpc>
              <a:buNone/>
              <a:tabLst>
                <a:tab pos="3342005" algn="l"/>
              </a:tabLst>
            </a:pPr>
            <a:r>
              <a:rPr lang="en-US" altLang="zh-CN" sz="2400" dirty="0">
                <a:latin typeface="宋体" panose="02010600030101010101" pitchFamily="2" charset="-122"/>
              </a:rPr>
              <a:t>              </a:t>
            </a:r>
            <a:r>
              <a:rPr lang="zh-CN" altLang="en-US" sz="2400" dirty="0">
                <a:latin typeface="宋体" panose="02010600030101010101" pitchFamily="2" charset="-122"/>
              </a:rPr>
              <a:t>；实现非压缩</a:t>
            </a:r>
            <a:r>
              <a:rPr lang="en-US" altLang="zh-CN" sz="2400">
                <a:latin typeface="宋体" panose="02010600030101010101" pitchFamily="2" charset="-122"/>
              </a:rPr>
              <a:t>BCD</a:t>
            </a:r>
            <a:r>
              <a:rPr lang="zh-CN" altLang="en-US" sz="2400" dirty="0">
                <a:latin typeface="宋体" panose="02010600030101010101" pitchFamily="2" charset="-122"/>
              </a:rPr>
              <a:t>码初法：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marL="0" indent="184150" defTabSz="914400">
              <a:lnSpc>
                <a:spcPct val="80000"/>
              </a:lnSpc>
              <a:buNone/>
              <a:tabLst>
                <a:tab pos="3342005" algn="l"/>
              </a:tabLst>
            </a:pPr>
            <a:r>
              <a:rPr lang="zh-CN" altLang="en-US" sz="2400">
                <a:latin typeface="宋体" panose="02010600030101010101" pitchFamily="2" charset="-122"/>
              </a:rPr>
              <a:t>                    </a:t>
            </a:r>
            <a:r>
              <a:rPr lang="en-US" altLang="zh-CN" sz="2400">
                <a:latin typeface="宋体" panose="02010600030101010101" pitchFamily="2" charset="-122"/>
              </a:rPr>
              <a:t>68÷9</a:t>
            </a:r>
            <a:r>
              <a:rPr lang="zh-CN" altLang="en-US" sz="2400" dirty="0">
                <a:latin typeface="宋体" panose="02010600030101010101" pitchFamily="2" charset="-122"/>
              </a:rPr>
              <a:t>＝</a:t>
            </a:r>
            <a:r>
              <a:rPr lang="en-US" altLang="zh-CN" sz="2400">
                <a:latin typeface="宋体" panose="02010600030101010101" pitchFamily="2" charset="-122"/>
              </a:rPr>
              <a:t>7</a:t>
            </a:r>
            <a:r>
              <a:rPr lang="zh-CN" altLang="en-US" sz="2400" dirty="0">
                <a:latin typeface="宋体" panose="02010600030101010101" pitchFamily="2" charset="-122"/>
              </a:rPr>
              <a:t>（余</a:t>
            </a:r>
            <a:r>
              <a:rPr lang="en-US" altLang="zh-CN" sz="2400">
                <a:latin typeface="宋体" panose="02010600030101010101" pitchFamily="2" charset="-122"/>
              </a:rPr>
              <a:t>5</a:t>
            </a:r>
            <a:r>
              <a:rPr lang="zh-CN" altLang="en-US" sz="2400" dirty="0">
                <a:latin typeface="宋体" panose="02010600030101010101" pitchFamily="2" charset="-122"/>
              </a:rPr>
              <a:t>）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 advClick="0">
    <p:rand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标题 46081"/>
          <p:cNvSpPr>
            <a:spLocks noGrp="1"/>
          </p:cNvSpPr>
          <p:nvPr>
            <p:ph type="title"/>
          </p:nvPr>
        </p:nvSpPr>
        <p:spPr>
          <a:xfrm>
            <a:off x="457200" y="533400"/>
            <a:ext cx="5029200" cy="884238"/>
          </a:xfrm>
        </p:spPr>
        <p:txBody>
          <a:bodyPr anchor="b" anchorCtr="0"/>
          <a:p>
            <a:r>
              <a:rPr lang="zh-CN" altLang="en-US" dirty="0"/>
              <a:t>习题</a:t>
            </a:r>
            <a:r>
              <a:rPr lang="en-US" altLang="zh-CN"/>
              <a:t>3</a:t>
            </a:r>
            <a:r>
              <a:rPr lang="en-US" altLang="zh-CN"/>
              <a:t>.17</a:t>
            </a:r>
            <a:endParaRPr lang="en-US" altLang="zh-CN"/>
          </a:p>
        </p:txBody>
      </p:sp>
      <p:sp>
        <p:nvSpPr>
          <p:cNvPr id="46083" name="文本占位符 46082"/>
          <p:cNvSpPr>
            <a:spLocks noGrp="1"/>
          </p:cNvSpPr>
          <p:nvPr>
            <p:ph type="body" idx="1"/>
          </p:nvPr>
        </p:nvSpPr>
        <p:spPr>
          <a:xfrm>
            <a:off x="457200" y="1719263"/>
            <a:ext cx="5534025" cy="4411662"/>
          </a:xfrm>
        </p:spPr>
        <p:txBody>
          <a:bodyPr/>
          <a:p>
            <a:r>
              <a:rPr lang="zh-CN" altLang="en-US" b="1" dirty="0">
                <a:solidFill>
                  <a:srgbClr val="0000FF"/>
                </a:solidFill>
              </a:rPr>
              <a:t>设</a:t>
            </a:r>
            <a:r>
              <a:rPr lang="en-US" altLang="zh-CN" b="1">
                <a:solidFill>
                  <a:srgbClr val="0000FF"/>
                </a:solidFill>
              </a:rPr>
              <a:t>X</a:t>
            </a:r>
            <a:r>
              <a:rPr lang="zh-CN" altLang="en-US" b="1" dirty="0">
                <a:solidFill>
                  <a:srgbClr val="0000FF"/>
                </a:solidFill>
              </a:rPr>
              <a:t>、</a:t>
            </a:r>
            <a:r>
              <a:rPr lang="en-US" altLang="zh-CN" b="1">
                <a:solidFill>
                  <a:srgbClr val="0000FF"/>
                </a:solidFill>
              </a:rPr>
              <a:t>Y</a:t>
            </a:r>
            <a:r>
              <a:rPr lang="zh-CN" altLang="en-US" b="1" dirty="0">
                <a:solidFill>
                  <a:srgbClr val="0000FF"/>
                </a:solidFill>
              </a:rPr>
              <a:t>、</a:t>
            </a:r>
            <a:r>
              <a:rPr lang="en-US" altLang="zh-CN" b="1">
                <a:solidFill>
                  <a:srgbClr val="0000FF"/>
                </a:solidFill>
              </a:rPr>
              <a:t>Z</a:t>
            </a:r>
            <a:r>
              <a:rPr lang="zh-CN" altLang="en-US" b="1" dirty="0">
                <a:solidFill>
                  <a:srgbClr val="0000FF"/>
                </a:solidFill>
              </a:rPr>
              <a:t>、</a:t>
            </a:r>
            <a:r>
              <a:rPr lang="en-US" altLang="zh-CN" b="1">
                <a:solidFill>
                  <a:srgbClr val="0000FF"/>
                </a:solidFill>
              </a:rPr>
              <a:t>V</a:t>
            </a:r>
            <a:r>
              <a:rPr lang="zh-CN" altLang="en-US" b="1" dirty="0">
                <a:solidFill>
                  <a:srgbClr val="0000FF"/>
                </a:solidFill>
              </a:rPr>
              <a:t>均为</a:t>
            </a:r>
            <a:r>
              <a:rPr lang="en-US" altLang="zh-CN" b="1">
                <a:solidFill>
                  <a:srgbClr val="0000FF"/>
                </a:solidFill>
              </a:rPr>
              <a:t>16</a:t>
            </a:r>
            <a:r>
              <a:rPr lang="zh-CN" altLang="en-US" b="1" dirty="0">
                <a:solidFill>
                  <a:srgbClr val="0000FF"/>
                </a:solidFill>
              </a:rPr>
              <a:t>位带符号数，分别存放在</a:t>
            </a:r>
            <a:r>
              <a:rPr lang="en-US" altLang="zh-CN" b="1">
                <a:solidFill>
                  <a:srgbClr val="0000FF"/>
                </a:solidFill>
              </a:rPr>
              <a:t>X</a:t>
            </a:r>
            <a:r>
              <a:rPr lang="zh-CN" altLang="en-US" b="1" dirty="0">
                <a:solidFill>
                  <a:srgbClr val="0000FF"/>
                </a:solidFill>
              </a:rPr>
              <a:t>、</a:t>
            </a:r>
            <a:r>
              <a:rPr lang="en-US" altLang="zh-CN" b="1">
                <a:solidFill>
                  <a:srgbClr val="0000FF"/>
                </a:solidFill>
              </a:rPr>
              <a:t>Y</a:t>
            </a:r>
            <a:r>
              <a:rPr lang="zh-CN" altLang="en-US" b="1" dirty="0">
                <a:solidFill>
                  <a:srgbClr val="0000FF"/>
                </a:solidFill>
              </a:rPr>
              <a:t>、</a:t>
            </a:r>
            <a:r>
              <a:rPr lang="en-US" altLang="zh-CN" b="1">
                <a:solidFill>
                  <a:srgbClr val="0000FF"/>
                </a:solidFill>
              </a:rPr>
              <a:t>Z</a:t>
            </a:r>
            <a:r>
              <a:rPr lang="zh-CN" altLang="en-US" b="1" dirty="0">
                <a:solidFill>
                  <a:srgbClr val="0000FF"/>
                </a:solidFill>
              </a:rPr>
              <a:t>、</a:t>
            </a:r>
            <a:r>
              <a:rPr lang="en-US" altLang="zh-CN" b="1">
                <a:solidFill>
                  <a:srgbClr val="0000FF"/>
                </a:solidFill>
              </a:rPr>
              <a:t>V</a:t>
            </a:r>
            <a:r>
              <a:rPr lang="zh-CN" altLang="en-US" b="1" dirty="0">
                <a:solidFill>
                  <a:srgbClr val="0000FF"/>
                </a:solidFill>
              </a:rPr>
              <a:t>存储单元中，阅读如下程序段，得出它的运算公式，并说明运算结果存于何处？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46084" name="矩形 46083"/>
          <p:cNvSpPr/>
          <p:nvPr/>
        </p:nvSpPr>
        <p:spPr>
          <a:xfrm>
            <a:off x="7010400" y="1447800"/>
            <a:ext cx="990600" cy="4800600"/>
          </a:xfrm>
          <a:prstGeom prst="rect">
            <a:avLst/>
          </a:prstGeom>
          <a:solidFill>
            <a:schemeClr val="accent1"/>
          </a:solidFill>
          <a:ln w="9525">
            <a:noFill/>
          </a:ln>
          <a:effectLst>
            <a:outerShdw dist="35921" dir="2699999" algn="ctr" rotWithShape="0">
              <a:schemeClr val="folHlink"/>
            </a:outerShdw>
          </a:effectLst>
        </p:spPr>
        <p:txBody>
          <a:bodyPr wrap="none" anchor="ctr" anchorCtr="0"/>
          <a:p>
            <a:pPr algn="ctr"/>
            <a:endParaRPr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085" name="文本框 46084"/>
          <p:cNvSpPr txBox="1"/>
          <p:nvPr/>
        </p:nvSpPr>
        <p:spPr>
          <a:xfrm>
            <a:off x="8172450" y="2276475"/>
            <a:ext cx="441325" cy="26336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spcBef>
                <a:spcPct val="65000"/>
              </a:spcBef>
            </a:pPr>
            <a:r>
              <a:rPr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endParaRPr lang="en-US" altLang="zh-CN" sz="2800" b="1">
              <a:solidFill>
                <a:srgbClr val="0000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65000"/>
              </a:spcBef>
            </a:pPr>
            <a:r>
              <a:rPr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endParaRPr lang="en-US" altLang="zh-CN" sz="2800" b="1">
              <a:solidFill>
                <a:srgbClr val="0000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65000"/>
              </a:spcBef>
            </a:pPr>
            <a:r>
              <a:rPr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endParaRPr lang="en-US" altLang="zh-CN" sz="2800" b="1">
              <a:solidFill>
                <a:srgbClr val="0000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65000"/>
              </a:spcBef>
            </a:pPr>
            <a:r>
              <a:rPr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endParaRPr lang="en-US" altLang="zh-CN" sz="2800" b="1">
              <a:solidFill>
                <a:srgbClr val="0000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086" name="文本框 46085"/>
          <p:cNvSpPr txBox="1"/>
          <p:nvPr/>
        </p:nvSpPr>
        <p:spPr>
          <a:xfrm>
            <a:off x="7280275" y="1989138"/>
            <a:ext cx="609600" cy="28305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65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F3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02 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00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24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E0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05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00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6087" name="组合 46086"/>
          <p:cNvGrpSpPr/>
          <p:nvPr/>
        </p:nvGrpSpPr>
        <p:grpSpPr>
          <a:xfrm>
            <a:off x="7051675" y="1916113"/>
            <a:ext cx="990600" cy="4321175"/>
            <a:chOff x="4442" y="1286"/>
            <a:chExt cx="624" cy="2304"/>
          </a:xfrm>
        </p:grpSpPr>
        <p:sp>
          <p:nvSpPr>
            <p:cNvPr id="46088" name="直接连接符 46087"/>
            <p:cNvSpPr/>
            <p:nvPr/>
          </p:nvSpPr>
          <p:spPr>
            <a:xfrm>
              <a:off x="4442" y="1286"/>
              <a:ext cx="6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89" name="直接连接符 46088"/>
            <p:cNvSpPr/>
            <p:nvPr/>
          </p:nvSpPr>
          <p:spPr>
            <a:xfrm>
              <a:off x="4442" y="1478"/>
              <a:ext cx="6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90" name="直接连接符 46089"/>
            <p:cNvSpPr/>
            <p:nvPr/>
          </p:nvSpPr>
          <p:spPr>
            <a:xfrm>
              <a:off x="4442" y="2822"/>
              <a:ext cx="6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91" name="直接连接符 46090"/>
            <p:cNvSpPr/>
            <p:nvPr/>
          </p:nvSpPr>
          <p:spPr>
            <a:xfrm>
              <a:off x="4442" y="2630"/>
              <a:ext cx="6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92" name="直接连接符 46091"/>
            <p:cNvSpPr/>
            <p:nvPr/>
          </p:nvSpPr>
          <p:spPr>
            <a:xfrm>
              <a:off x="4442" y="1670"/>
              <a:ext cx="6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93" name="直接连接符 46092"/>
            <p:cNvSpPr/>
            <p:nvPr/>
          </p:nvSpPr>
          <p:spPr>
            <a:xfrm>
              <a:off x="4442" y="1862"/>
              <a:ext cx="6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94" name="直接连接符 46093"/>
            <p:cNvSpPr/>
            <p:nvPr/>
          </p:nvSpPr>
          <p:spPr>
            <a:xfrm>
              <a:off x="4442" y="2054"/>
              <a:ext cx="6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95" name="直接连接符 46094"/>
            <p:cNvSpPr/>
            <p:nvPr/>
          </p:nvSpPr>
          <p:spPr>
            <a:xfrm>
              <a:off x="4442" y="2246"/>
              <a:ext cx="6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96" name="直接连接符 46095"/>
            <p:cNvSpPr/>
            <p:nvPr/>
          </p:nvSpPr>
          <p:spPr>
            <a:xfrm>
              <a:off x="4442" y="2438"/>
              <a:ext cx="6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97" name="直接连接符 46096"/>
            <p:cNvSpPr/>
            <p:nvPr/>
          </p:nvSpPr>
          <p:spPr>
            <a:xfrm>
              <a:off x="4442" y="3014"/>
              <a:ext cx="6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98" name="直接连接符 46097"/>
            <p:cNvSpPr/>
            <p:nvPr/>
          </p:nvSpPr>
          <p:spPr>
            <a:xfrm>
              <a:off x="4442" y="3206"/>
              <a:ext cx="6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99" name="直接连接符 46098"/>
            <p:cNvSpPr/>
            <p:nvPr/>
          </p:nvSpPr>
          <p:spPr>
            <a:xfrm>
              <a:off x="4442" y="3398"/>
              <a:ext cx="6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00" name="直接连接符 46099"/>
            <p:cNvSpPr/>
            <p:nvPr/>
          </p:nvSpPr>
          <p:spPr>
            <a:xfrm>
              <a:off x="4442" y="3590"/>
              <a:ext cx="6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01" name="直接连接符 46100"/>
            <p:cNvSpPr/>
            <p:nvPr/>
          </p:nvSpPr>
          <p:spPr>
            <a:xfrm>
              <a:off x="4730" y="2966"/>
              <a:ext cx="0" cy="240"/>
            </a:xfrm>
            <a:prstGeom prst="line">
              <a:avLst/>
            </a:prstGeom>
            <a:ln w="28575" cap="rnd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12" name="标题 47111"/>
          <p:cNvSpPr>
            <a:spLocks noGrp="1"/>
          </p:cNvSpPr>
          <p:nvPr>
            <p:ph type="title"/>
          </p:nvPr>
        </p:nvSpPr>
        <p:spPr>
          <a:xfrm>
            <a:off x="533400" y="152400"/>
            <a:ext cx="5638800" cy="517525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sz="3000" b="0" dirty="0">
                <a:solidFill>
                  <a:schemeClr val="tx1"/>
                </a:solidFill>
              </a:rPr>
              <a:t>习题</a:t>
            </a:r>
            <a:r>
              <a:rPr lang="en-US" altLang="zh-CN" sz="3000" b="0">
                <a:solidFill>
                  <a:schemeClr val="tx1"/>
                </a:solidFill>
              </a:rPr>
              <a:t>3</a:t>
            </a:r>
            <a:r>
              <a:rPr lang="en-US" altLang="zh-CN" sz="3000" b="0">
                <a:solidFill>
                  <a:schemeClr val="tx1"/>
                </a:solidFill>
              </a:rPr>
              <a:t>.17</a:t>
            </a:r>
            <a:r>
              <a:rPr lang="zh-CN" altLang="en-US" sz="3000" b="0" dirty="0">
                <a:solidFill>
                  <a:schemeClr val="tx1"/>
                </a:solidFill>
              </a:rPr>
              <a:t>：算术运算</a:t>
            </a:r>
            <a:endParaRPr lang="zh-CN" altLang="en-US" sz="3000" b="0">
              <a:solidFill>
                <a:schemeClr val="tx1"/>
              </a:solidFill>
            </a:endParaRPr>
          </a:p>
        </p:txBody>
      </p:sp>
      <p:sp>
        <p:nvSpPr>
          <p:cNvPr id="47113" name="文本占位符 47112"/>
          <p:cNvSpPr>
            <a:spLocks noGrp="1"/>
          </p:cNvSpPr>
          <p:nvPr>
            <p:ph type="body" idx="1"/>
          </p:nvPr>
        </p:nvSpPr>
        <p:spPr>
          <a:xfrm>
            <a:off x="381000" y="762000"/>
            <a:ext cx="8382000" cy="5867400"/>
          </a:xfrm>
          <a:solidFill>
            <a:schemeClr val="bg1"/>
          </a:solidFill>
        </p:spPr>
        <p:txBody>
          <a:bodyPr/>
          <a:p>
            <a:pPr marL="0" indent="184150" defTabSz="914400">
              <a:buNone/>
              <a:tabLst>
                <a:tab pos="3342005" algn="l"/>
              </a:tabLst>
            </a:pPr>
            <a:r>
              <a:rPr lang="en-US" altLang="zh-CN" sz="24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4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err="1">
                <a:solidFill>
                  <a:srgbClr val="0000FF"/>
                </a:solidFill>
                <a:latin typeface="宋体" panose="02010600030101010101" pitchFamily="2" charset="-122"/>
              </a:rPr>
              <a:t>ax,X</a:t>
            </a:r>
            <a:endParaRPr lang="en-US" altLang="zh-CN" sz="24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184150" defTabSz="914400">
              <a:buNone/>
              <a:tabLst>
                <a:tab pos="3342005" algn="l"/>
              </a:tabLst>
            </a:pPr>
            <a:r>
              <a:rPr lang="en-US" altLang="zh-CN" sz="2400" b="1" err="1">
                <a:solidFill>
                  <a:schemeClr val="tx2"/>
                </a:solidFill>
                <a:latin typeface="宋体" panose="02010600030101010101" pitchFamily="2" charset="-122"/>
              </a:rPr>
              <a:t>imul</a:t>
            </a: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</a:rPr>
              <a:t> Y</a:t>
            </a:r>
            <a:r>
              <a:rPr lang="en-US" altLang="zh-CN" sz="2400">
                <a:solidFill>
                  <a:schemeClr val="hlink"/>
                </a:solidFill>
                <a:latin typeface="宋体" panose="02010600030101010101" pitchFamily="2" charset="-122"/>
              </a:rPr>
              <a:t>            </a:t>
            </a:r>
            <a:r>
              <a:rPr lang="zh-CN" altLang="en-US" sz="2400" dirty="0">
                <a:solidFill>
                  <a:srgbClr val="009900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400">
                <a:solidFill>
                  <a:srgbClr val="009900"/>
                </a:solidFill>
                <a:latin typeface="宋体" panose="02010600030101010101" pitchFamily="2" charset="-122"/>
              </a:rPr>
              <a:t>DX.AX</a:t>
            </a:r>
            <a:r>
              <a:rPr lang="zh-CN" altLang="en-US" sz="2400" dirty="0">
                <a:solidFill>
                  <a:srgbClr val="009900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400">
                <a:solidFill>
                  <a:srgbClr val="009900"/>
                </a:solidFill>
                <a:latin typeface="宋体" panose="02010600030101010101" pitchFamily="2" charset="-122"/>
              </a:rPr>
              <a:t>X×Y</a:t>
            </a:r>
            <a:endParaRPr lang="en-US" altLang="zh-CN" sz="2400">
              <a:solidFill>
                <a:srgbClr val="009900"/>
              </a:solidFill>
              <a:latin typeface="宋体" panose="02010600030101010101" pitchFamily="2" charset="-122"/>
            </a:endParaRPr>
          </a:p>
          <a:p>
            <a:pPr marL="0" indent="184150" defTabSz="914400">
              <a:buNone/>
              <a:tabLst>
                <a:tab pos="3342005" algn="l"/>
              </a:tabLst>
            </a:pPr>
            <a:r>
              <a:rPr lang="en-US" altLang="zh-CN" sz="24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4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err="1">
                <a:solidFill>
                  <a:srgbClr val="0000FF"/>
                </a:solidFill>
                <a:latin typeface="宋体" panose="02010600030101010101" pitchFamily="2" charset="-122"/>
              </a:rPr>
              <a:t>cx,ax</a:t>
            </a:r>
            <a:endParaRPr lang="en-US" altLang="zh-CN" sz="24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184150" defTabSz="914400">
              <a:buNone/>
              <a:tabLst>
                <a:tab pos="3342005" algn="l"/>
              </a:tabLst>
            </a:pPr>
            <a:r>
              <a:rPr lang="en-US" altLang="zh-CN" sz="24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4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err="1">
                <a:solidFill>
                  <a:srgbClr val="0000FF"/>
                </a:solidFill>
                <a:latin typeface="宋体" panose="02010600030101010101" pitchFamily="2" charset="-122"/>
              </a:rPr>
              <a:t>bx,dx</a:t>
            </a:r>
            <a:r>
              <a:rPr lang="en-US" altLang="zh-CN" sz="2400">
                <a:solidFill>
                  <a:schemeClr val="hlink"/>
                </a:solidFill>
                <a:latin typeface="宋体" panose="02010600030101010101" pitchFamily="2" charset="-122"/>
              </a:rPr>
              <a:t>         </a:t>
            </a:r>
            <a:r>
              <a:rPr lang="zh-CN" altLang="en-US" sz="2400" dirty="0">
                <a:solidFill>
                  <a:srgbClr val="009900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400">
                <a:solidFill>
                  <a:srgbClr val="009900"/>
                </a:solidFill>
                <a:latin typeface="宋体" panose="02010600030101010101" pitchFamily="2" charset="-122"/>
              </a:rPr>
              <a:t>BX.CX</a:t>
            </a:r>
            <a:r>
              <a:rPr lang="zh-CN" altLang="en-US" sz="2400" dirty="0">
                <a:solidFill>
                  <a:srgbClr val="009900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400">
                <a:solidFill>
                  <a:srgbClr val="009900"/>
                </a:solidFill>
                <a:latin typeface="宋体" panose="02010600030101010101" pitchFamily="2" charset="-122"/>
              </a:rPr>
              <a:t>X×Y</a:t>
            </a:r>
            <a:endParaRPr lang="en-US" altLang="zh-CN" sz="2400">
              <a:solidFill>
                <a:srgbClr val="009900"/>
              </a:solidFill>
              <a:latin typeface="宋体" panose="02010600030101010101" pitchFamily="2" charset="-122"/>
            </a:endParaRPr>
          </a:p>
          <a:p>
            <a:pPr marL="0" indent="184150" defTabSz="914400">
              <a:buNone/>
              <a:tabLst>
                <a:tab pos="3342005" algn="l"/>
              </a:tabLst>
            </a:pPr>
            <a:r>
              <a:rPr lang="en-US" altLang="zh-CN" sz="24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4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err="1">
                <a:solidFill>
                  <a:srgbClr val="0000FF"/>
                </a:solidFill>
                <a:latin typeface="宋体" panose="02010600030101010101" pitchFamily="2" charset="-122"/>
              </a:rPr>
              <a:t>ax,Z</a:t>
            </a:r>
            <a:endParaRPr lang="en-US" altLang="zh-CN" sz="24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184150" defTabSz="914400">
              <a:buNone/>
              <a:tabLst>
                <a:tab pos="3342005" algn="l"/>
              </a:tabLst>
            </a:pPr>
            <a:r>
              <a:rPr lang="en-US" altLang="zh-CN" sz="2400" b="1" err="1">
                <a:solidFill>
                  <a:schemeClr val="tx2"/>
                </a:solidFill>
                <a:latin typeface="宋体" panose="02010600030101010101" pitchFamily="2" charset="-122"/>
              </a:rPr>
              <a:t>cwd</a:t>
            </a:r>
            <a:endParaRPr lang="en-US" altLang="zh-CN" sz="2400" b="1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marL="0" indent="184150" defTabSz="914400">
              <a:buNone/>
              <a:tabLst>
                <a:tab pos="3342005" algn="l"/>
              </a:tabLst>
            </a:pPr>
            <a:r>
              <a:rPr lang="en-US" altLang="zh-CN" sz="2400">
                <a:solidFill>
                  <a:srgbClr val="0000FF"/>
                </a:solidFill>
                <a:latin typeface="宋体" panose="02010600030101010101" pitchFamily="2" charset="-122"/>
              </a:rPr>
              <a:t>add </a:t>
            </a:r>
            <a:r>
              <a:rPr lang="en-US" altLang="zh-CN" sz="2400" err="1">
                <a:solidFill>
                  <a:srgbClr val="0000FF"/>
                </a:solidFill>
                <a:latin typeface="宋体" panose="02010600030101010101" pitchFamily="2" charset="-122"/>
              </a:rPr>
              <a:t>cx,ax</a:t>
            </a:r>
            <a:endParaRPr lang="en-US" altLang="zh-CN" sz="24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184150" defTabSz="914400">
              <a:buNone/>
              <a:tabLst>
                <a:tab pos="3342005" algn="l"/>
              </a:tabLst>
            </a:pPr>
            <a:r>
              <a:rPr lang="en-US" altLang="zh-CN" sz="2400" b="1" err="1">
                <a:solidFill>
                  <a:schemeClr val="tx2"/>
                </a:solidFill>
                <a:latin typeface="宋体" panose="02010600030101010101" pitchFamily="2" charset="-122"/>
              </a:rPr>
              <a:t>adc</a:t>
            </a: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="1" err="1">
                <a:solidFill>
                  <a:schemeClr val="tx2"/>
                </a:solidFill>
                <a:latin typeface="宋体" panose="02010600030101010101" pitchFamily="2" charset="-122"/>
              </a:rPr>
              <a:t>bx,dx</a:t>
            </a:r>
            <a:r>
              <a:rPr lang="en-US" altLang="zh-CN" sz="2400">
                <a:solidFill>
                  <a:schemeClr val="hlink"/>
                </a:solidFill>
                <a:latin typeface="宋体" panose="02010600030101010101" pitchFamily="2" charset="-122"/>
              </a:rPr>
              <a:t>        </a:t>
            </a:r>
            <a:r>
              <a:rPr lang="zh-CN" altLang="en-US" sz="2400" dirty="0">
                <a:solidFill>
                  <a:srgbClr val="009900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400">
                <a:solidFill>
                  <a:srgbClr val="009900"/>
                </a:solidFill>
                <a:latin typeface="宋体" panose="02010600030101010101" pitchFamily="2" charset="-122"/>
              </a:rPr>
              <a:t>BX.CX</a:t>
            </a:r>
            <a:r>
              <a:rPr lang="zh-CN" altLang="en-US" sz="2400" dirty="0">
                <a:solidFill>
                  <a:srgbClr val="009900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400">
                <a:solidFill>
                  <a:srgbClr val="009900"/>
                </a:solidFill>
                <a:latin typeface="宋体" panose="02010600030101010101" pitchFamily="2" charset="-122"/>
              </a:rPr>
              <a:t>X×Y</a:t>
            </a:r>
            <a:r>
              <a:rPr lang="zh-CN" altLang="en-US" sz="2400" dirty="0">
                <a:solidFill>
                  <a:srgbClr val="009900"/>
                </a:solidFill>
                <a:latin typeface="宋体" panose="02010600030101010101" pitchFamily="2" charset="-122"/>
              </a:rPr>
              <a:t>＋</a:t>
            </a:r>
            <a:r>
              <a:rPr lang="en-US" altLang="zh-CN" sz="2400">
                <a:solidFill>
                  <a:srgbClr val="009900"/>
                </a:solidFill>
                <a:latin typeface="宋体" panose="02010600030101010101" pitchFamily="2" charset="-122"/>
              </a:rPr>
              <a:t>Z</a:t>
            </a:r>
            <a:endParaRPr lang="en-US" altLang="zh-CN" sz="2400">
              <a:solidFill>
                <a:srgbClr val="009900"/>
              </a:solidFill>
              <a:latin typeface="宋体" panose="02010600030101010101" pitchFamily="2" charset="-122"/>
            </a:endParaRPr>
          </a:p>
          <a:p>
            <a:pPr marL="0" indent="184150" defTabSz="914400">
              <a:lnSpc>
                <a:spcPct val="70000"/>
              </a:lnSpc>
              <a:buNone/>
              <a:tabLst>
                <a:tab pos="3342005" algn="l"/>
              </a:tabLst>
            </a:pPr>
            <a:r>
              <a:rPr lang="en-US" altLang="zh-CN" sz="2400">
                <a:solidFill>
                  <a:srgbClr val="0000FF"/>
                </a:solidFill>
                <a:latin typeface="宋体" panose="02010600030101010101" pitchFamily="2" charset="-122"/>
              </a:rPr>
              <a:t>sub cx,540</a:t>
            </a:r>
            <a:endParaRPr lang="en-US" altLang="zh-CN" sz="24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184150" defTabSz="914400">
              <a:lnSpc>
                <a:spcPct val="70000"/>
              </a:lnSpc>
              <a:buNone/>
              <a:tabLst>
                <a:tab pos="3342005" algn="l"/>
              </a:tabLst>
            </a:pPr>
            <a:r>
              <a:rPr lang="en-US" altLang="zh-CN" sz="2400" b="1" err="1">
                <a:solidFill>
                  <a:schemeClr val="tx2"/>
                </a:solidFill>
                <a:latin typeface="宋体" panose="02010600030101010101" pitchFamily="2" charset="-122"/>
              </a:rPr>
              <a:t>sbb</a:t>
            </a: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</a:rPr>
              <a:t> bx,0</a:t>
            </a:r>
            <a:r>
              <a:rPr lang="en-US" altLang="zh-CN" sz="2400">
                <a:solidFill>
                  <a:schemeClr val="tx2"/>
                </a:solidFill>
                <a:latin typeface="宋体" panose="02010600030101010101" pitchFamily="2" charset="-122"/>
              </a:rPr>
              <a:t>         </a:t>
            </a:r>
            <a:r>
              <a:rPr lang="zh-CN" altLang="en-US" sz="2400" dirty="0">
                <a:solidFill>
                  <a:srgbClr val="009900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400">
                <a:solidFill>
                  <a:srgbClr val="009900"/>
                </a:solidFill>
                <a:latin typeface="宋体" panose="02010600030101010101" pitchFamily="2" charset="-122"/>
              </a:rPr>
              <a:t>BX.CX</a:t>
            </a:r>
            <a:r>
              <a:rPr lang="zh-CN" altLang="en-US" sz="2400" dirty="0">
                <a:solidFill>
                  <a:srgbClr val="009900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400">
                <a:solidFill>
                  <a:srgbClr val="009900"/>
                </a:solidFill>
                <a:latin typeface="宋体" panose="02010600030101010101" pitchFamily="2" charset="-122"/>
              </a:rPr>
              <a:t>X×Y</a:t>
            </a:r>
            <a:r>
              <a:rPr lang="zh-CN" altLang="en-US" sz="2400" dirty="0">
                <a:solidFill>
                  <a:srgbClr val="009900"/>
                </a:solidFill>
                <a:latin typeface="宋体" panose="02010600030101010101" pitchFamily="2" charset="-122"/>
              </a:rPr>
              <a:t>＋</a:t>
            </a:r>
            <a:r>
              <a:rPr lang="en-US" altLang="zh-CN" sz="2400">
                <a:solidFill>
                  <a:srgbClr val="009900"/>
                </a:solidFill>
                <a:latin typeface="宋体" panose="02010600030101010101" pitchFamily="2" charset="-122"/>
              </a:rPr>
              <a:t>Z</a:t>
            </a:r>
            <a:r>
              <a:rPr lang="zh-CN" altLang="en-US" sz="2400" dirty="0">
                <a:solidFill>
                  <a:srgbClr val="009900"/>
                </a:solidFill>
                <a:latin typeface="宋体" panose="02010600030101010101" pitchFamily="2" charset="-122"/>
              </a:rPr>
              <a:t>－</a:t>
            </a:r>
            <a:r>
              <a:rPr lang="en-US" altLang="zh-CN" sz="2400">
                <a:solidFill>
                  <a:srgbClr val="009900"/>
                </a:solidFill>
                <a:latin typeface="宋体" panose="02010600030101010101" pitchFamily="2" charset="-122"/>
              </a:rPr>
              <a:t>540</a:t>
            </a:r>
            <a:endParaRPr lang="en-US" altLang="zh-CN" sz="2400">
              <a:solidFill>
                <a:srgbClr val="009900"/>
              </a:solidFill>
              <a:latin typeface="宋体" panose="02010600030101010101" pitchFamily="2" charset="-122"/>
            </a:endParaRPr>
          </a:p>
          <a:p>
            <a:pPr marL="0" indent="184150" defTabSz="914400">
              <a:lnSpc>
                <a:spcPct val="70000"/>
              </a:lnSpc>
              <a:buNone/>
              <a:tabLst>
                <a:tab pos="3342005" algn="l"/>
              </a:tabLst>
            </a:pPr>
            <a:r>
              <a:rPr lang="en-US" altLang="zh-CN" sz="24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4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err="1">
                <a:solidFill>
                  <a:srgbClr val="0000FF"/>
                </a:solidFill>
                <a:latin typeface="宋体" panose="02010600030101010101" pitchFamily="2" charset="-122"/>
              </a:rPr>
              <a:t>ax,V</a:t>
            </a:r>
            <a:endParaRPr lang="en-US" altLang="zh-CN" sz="24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184150" defTabSz="914400">
              <a:lnSpc>
                <a:spcPct val="70000"/>
              </a:lnSpc>
              <a:buNone/>
              <a:tabLst>
                <a:tab pos="3342005" algn="l"/>
              </a:tabLst>
            </a:pPr>
            <a:r>
              <a:rPr lang="en-US" altLang="zh-CN" sz="2400" err="1">
                <a:solidFill>
                  <a:srgbClr val="0000FF"/>
                </a:solidFill>
                <a:latin typeface="宋体" panose="02010600030101010101" pitchFamily="2" charset="-122"/>
              </a:rPr>
              <a:t>cwd</a:t>
            </a:r>
            <a:endParaRPr lang="en-US" altLang="zh-CN" sz="24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184150" defTabSz="914400">
              <a:lnSpc>
                <a:spcPct val="70000"/>
              </a:lnSpc>
              <a:buNone/>
              <a:tabLst>
                <a:tab pos="3342005" algn="l"/>
              </a:tabLst>
            </a:pPr>
            <a:r>
              <a:rPr lang="en-US" altLang="zh-CN" sz="2400">
                <a:solidFill>
                  <a:srgbClr val="0000FF"/>
                </a:solidFill>
                <a:latin typeface="宋体" panose="02010600030101010101" pitchFamily="2" charset="-122"/>
              </a:rPr>
              <a:t>sub </a:t>
            </a:r>
            <a:r>
              <a:rPr lang="en-US" altLang="zh-CN" sz="2400" err="1">
                <a:solidFill>
                  <a:srgbClr val="0000FF"/>
                </a:solidFill>
                <a:latin typeface="宋体" panose="02010600030101010101" pitchFamily="2" charset="-122"/>
              </a:rPr>
              <a:t>ax,cx</a:t>
            </a:r>
            <a:endParaRPr lang="en-US" altLang="zh-CN" sz="24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184150" defTabSz="914400">
              <a:lnSpc>
                <a:spcPct val="70000"/>
              </a:lnSpc>
              <a:buNone/>
              <a:tabLst>
                <a:tab pos="3342005" algn="l"/>
              </a:tabLst>
            </a:pPr>
            <a:r>
              <a:rPr lang="en-US" altLang="zh-CN" sz="2400" b="1" err="1">
                <a:solidFill>
                  <a:schemeClr val="tx2"/>
                </a:solidFill>
                <a:latin typeface="宋体" panose="02010600030101010101" pitchFamily="2" charset="-122"/>
              </a:rPr>
              <a:t>sbb</a:t>
            </a: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="1" err="1">
                <a:solidFill>
                  <a:schemeClr val="tx2"/>
                </a:solidFill>
                <a:latin typeface="宋体" panose="02010600030101010101" pitchFamily="2" charset="-122"/>
              </a:rPr>
              <a:t>dx,bx</a:t>
            </a:r>
            <a:r>
              <a:rPr lang="en-US" altLang="zh-CN" sz="2400">
                <a:solidFill>
                  <a:schemeClr val="tx2"/>
                </a:solidFill>
                <a:latin typeface="宋体" panose="02010600030101010101" pitchFamily="2" charset="-122"/>
              </a:rPr>
              <a:t>        </a:t>
            </a:r>
            <a:r>
              <a:rPr lang="zh-CN" altLang="en-US" sz="2400" dirty="0">
                <a:solidFill>
                  <a:srgbClr val="009900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400">
                <a:solidFill>
                  <a:srgbClr val="009900"/>
                </a:solidFill>
                <a:latin typeface="宋体" panose="02010600030101010101" pitchFamily="2" charset="-122"/>
              </a:rPr>
              <a:t>DX.AX</a:t>
            </a:r>
            <a:r>
              <a:rPr lang="zh-CN" altLang="en-US" sz="2400" dirty="0">
                <a:solidFill>
                  <a:srgbClr val="009900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400">
                <a:solidFill>
                  <a:srgbClr val="009900"/>
                </a:solidFill>
                <a:latin typeface="宋体" panose="02010600030101010101" pitchFamily="2" charset="-122"/>
              </a:rPr>
              <a:t>V</a:t>
            </a:r>
            <a:r>
              <a:rPr lang="zh-CN" altLang="en-US" sz="2400" dirty="0">
                <a:solidFill>
                  <a:srgbClr val="009900"/>
                </a:solidFill>
                <a:latin typeface="宋体" panose="02010600030101010101" pitchFamily="2" charset="-122"/>
              </a:rPr>
              <a:t>－（</a:t>
            </a:r>
            <a:r>
              <a:rPr lang="en-US" altLang="zh-CN" sz="2400">
                <a:solidFill>
                  <a:srgbClr val="009900"/>
                </a:solidFill>
                <a:latin typeface="宋体" panose="02010600030101010101" pitchFamily="2" charset="-122"/>
              </a:rPr>
              <a:t>X×Y</a:t>
            </a:r>
            <a:r>
              <a:rPr lang="zh-CN" altLang="en-US" sz="2400" dirty="0">
                <a:solidFill>
                  <a:srgbClr val="009900"/>
                </a:solidFill>
                <a:latin typeface="宋体" panose="02010600030101010101" pitchFamily="2" charset="-122"/>
              </a:rPr>
              <a:t>＋</a:t>
            </a:r>
            <a:r>
              <a:rPr lang="en-US" altLang="zh-CN" sz="2400">
                <a:solidFill>
                  <a:srgbClr val="009900"/>
                </a:solidFill>
                <a:latin typeface="宋体" panose="02010600030101010101" pitchFamily="2" charset="-122"/>
              </a:rPr>
              <a:t>Z</a:t>
            </a:r>
            <a:r>
              <a:rPr lang="zh-CN" altLang="en-US" sz="2400" dirty="0">
                <a:solidFill>
                  <a:srgbClr val="009900"/>
                </a:solidFill>
                <a:latin typeface="宋体" panose="02010600030101010101" pitchFamily="2" charset="-122"/>
              </a:rPr>
              <a:t>－</a:t>
            </a:r>
            <a:r>
              <a:rPr lang="en-US" altLang="zh-CN" sz="2400">
                <a:solidFill>
                  <a:srgbClr val="009900"/>
                </a:solidFill>
                <a:latin typeface="宋体" panose="02010600030101010101" pitchFamily="2" charset="-122"/>
              </a:rPr>
              <a:t>540</a:t>
            </a:r>
            <a:r>
              <a:rPr lang="zh-CN" altLang="en-US" sz="2400" dirty="0">
                <a:solidFill>
                  <a:srgbClr val="009900"/>
                </a:solidFill>
                <a:latin typeface="宋体" panose="02010600030101010101" pitchFamily="2" charset="-122"/>
              </a:rPr>
              <a:t>）</a:t>
            </a:r>
            <a:endParaRPr lang="zh-CN" altLang="en-US" sz="2400" dirty="0">
              <a:solidFill>
                <a:srgbClr val="009900"/>
              </a:solidFill>
              <a:latin typeface="宋体" panose="02010600030101010101" pitchFamily="2" charset="-122"/>
            </a:endParaRPr>
          </a:p>
          <a:p>
            <a:pPr marL="0" indent="184150" defTabSz="914400">
              <a:lnSpc>
                <a:spcPct val="70000"/>
              </a:lnSpc>
              <a:buNone/>
              <a:tabLst>
                <a:tab pos="3342005" algn="l"/>
              </a:tabLst>
            </a:pPr>
            <a:r>
              <a:rPr lang="en-US" altLang="zh-CN" sz="2400" b="1" err="1">
                <a:solidFill>
                  <a:schemeClr val="tx2"/>
                </a:solidFill>
                <a:latin typeface="宋体" panose="02010600030101010101" pitchFamily="2" charset="-122"/>
              </a:rPr>
              <a:t>idiv</a:t>
            </a:r>
            <a:r>
              <a:rPr lang="en-US" altLang="zh-CN" sz="2400" b="1">
                <a:solidFill>
                  <a:schemeClr val="tx2"/>
                </a:solidFill>
                <a:latin typeface="宋体" panose="02010600030101010101" pitchFamily="2" charset="-122"/>
              </a:rPr>
              <a:t> X</a:t>
            </a:r>
            <a:r>
              <a:rPr lang="en-US" altLang="zh-CN" sz="2400">
                <a:solidFill>
                  <a:schemeClr val="tx2"/>
                </a:solidFill>
                <a:latin typeface="宋体" panose="02010600030101010101" pitchFamily="2" charset="-122"/>
              </a:rPr>
              <a:t>           </a:t>
            </a:r>
            <a:r>
              <a:rPr lang="zh-CN" altLang="en-US" sz="2400" dirty="0">
                <a:solidFill>
                  <a:srgbClr val="009900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400">
                <a:solidFill>
                  <a:srgbClr val="009900"/>
                </a:solidFill>
                <a:latin typeface="宋体" panose="02010600030101010101" pitchFamily="2" charset="-122"/>
              </a:rPr>
              <a:t>DX.AX</a:t>
            </a:r>
            <a:r>
              <a:rPr lang="zh-CN" altLang="en-US" sz="2400" dirty="0">
                <a:solidFill>
                  <a:srgbClr val="009900"/>
                </a:solidFill>
                <a:latin typeface="宋体" panose="02010600030101010101" pitchFamily="2" charset="-122"/>
              </a:rPr>
              <a:t>＝（</a:t>
            </a:r>
            <a:r>
              <a:rPr lang="en-US" altLang="zh-CN" sz="2400">
                <a:solidFill>
                  <a:srgbClr val="009900"/>
                </a:solidFill>
                <a:latin typeface="宋体" panose="02010600030101010101" pitchFamily="2" charset="-122"/>
              </a:rPr>
              <a:t>V</a:t>
            </a:r>
            <a:r>
              <a:rPr lang="zh-CN" altLang="en-US" sz="2400" dirty="0">
                <a:solidFill>
                  <a:srgbClr val="009900"/>
                </a:solidFill>
                <a:latin typeface="宋体" panose="02010600030101010101" pitchFamily="2" charset="-122"/>
              </a:rPr>
              <a:t>－（</a:t>
            </a:r>
            <a:r>
              <a:rPr lang="en-US" altLang="zh-CN" sz="2400">
                <a:solidFill>
                  <a:srgbClr val="009900"/>
                </a:solidFill>
                <a:latin typeface="宋体" panose="02010600030101010101" pitchFamily="2" charset="-122"/>
              </a:rPr>
              <a:t>X×Y</a:t>
            </a:r>
            <a:r>
              <a:rPr lang="zh-CN" altLang="en-US" sz="2400" dirty="0">
                <a:solidFill>
                  <a:srgbClr val="009900"/>
                </a:solidFill>
                <a:latin typeface="宋体" panose="02010600030101010101" pitchFamily="2" charset="-122"/>
              </a:rPr>
              <a:t>＋</a:t>
            </a:r>
            <a:r>
              <a:rPr lang="en-US" altLang="zh-CN" sz="2400">
                <a:solidFill>
                  <a:srgbClr val="009900"/>
                </a:solidFill>
                <a:latin typeface="宋体" panose="02010600030101010101" pitchFamily="2" charset="-122"/>
              </a:rPr>
              <a:t>Z</a:t>
            </a:r>
            <a:r>
              <a:rPr lang="zh-CN" altLang="en-US" sz="2400" dirty="0">
                <a:solidFill>
                  <a:srgbClr val="009900"/>
                </a:solidFill>
                <a:latin typeface="宋体" panose="02010600030101010101" pitchFamily="2" charset="-122"/>
              </a:rPr>
              <a:t>－</a:t>
            </a:r>
            <a:r>
              <a:rPr lang="en-US" altLang="zh-CN" sz="2400">
                <a:solidFill>
                  <a:srgbClr val="009900"/>
                </a:solidFill>
                <a:latin typeface="宋体" panose="02010600030101010101" pitchFamily="2" charset="-122"/>
              </a:rPr>
              <a:t>540</a:t>
            </a:r>
            <a:r>
              <a:rPr lang="zh-CN" altLang="en-US" sz="2400" dirty="0">
                <a:solidFill>
                  <a:srgbClr val="009900"/>
                </a:solidFill>
                <a:latin typeface="宋体" panose="02010600030101010101" pitchFamily="2" charset="-122"/>
              </a:rPr>
              <a:t>））</a:t>
            </a:r>
            <a:r>
              <a:rPr lang="en-US" altLang="zh-CN" sz="2400">
                <a:solidFill>
                  <a:srgbClr val="009900"/>
                </a:solidFill>
                <a:latin typeface="宋体" panose="02010600030101010101" pitchFamily="2" charset="-122"/>
              </a:rPr>
              <a:t>÷X</a:t>
            </a:r>
            <a:endParaRPr lang="en-US" altLang="zh-CN" sz="2400">
              <a:solidFill>
                <a:srgbClr val="009900"/>
              </a:solidFill>
              <a:latin typeface="宋体" panose="02010600030101010101" pitchFamily="2" charset="-122"/>
            </a:endParaRPr>
          </a:p>
          <a:p>
            <a:pPr marL="0" indent="184150" defTabSz="914400">
              <a:buNone/>
              <a:tabLst>
                <a:tab pos="3342005" algn="l"/>
              </a:tabLst>
            </a:pPr>
            <a:endParaRPr lang="en-US" altLang="zh-CN" sz="2400">
              <a:solidFill>
                <a:schemeClr val="hlink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6" name="副标题 49155"/>
          <p:cNvSpPr>
            <a:spLocks noGrp="1"/>
          </p:cNvSpPr>
          <p:nvPr>
            <p:ph type="subTitle" idx="1"/>
          </p:nvPr>
        </p:nvSpPr>
        <p:spPr>
          <a:xfrm>
            <a:off x="1219200" y="3352800"/>
            <a:ext cx="5257800" cy="1905000"/>
          </a:xfrm>
        </p:spPr>
        <p:txBody>
          <a:bodyPr anchor="t" anchorCtr="0"/>
          <a:p>
            <a:pPr algn="just" defTabSz="914400">
              <a:lnSpc>
                <a:spcPct val="120000"/>
              </a:lnSpc>
              <a:buSzPct val="70000"/>
            </a:pPr>
            <a:r>
              <a:rPr lang="zh-CN" altLang="en-US" b="1" kern="1200" baseline="0" dirty="0">
                <a:solidFill>
                  <a:srgbClr val="0000FF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在正确理解每条指令的功能基础上，可以阅读和编写有实际意义的程序段。</a:t>
            </a:r>
            <a:endParaRPr lang="zh-CN" altLang="en-US" b="1" kern="1200" baseline="0" dirty="0">
              <a:solidFill>
                <a:srgbClr val="0000FF"/>
              </a:solidFill>
              <a:latin typeface="宋体" panose="02010600030101010101" pitchFamily="2" charset="-122"/>
              <a:ea typeface="楷体" panose="02010609060101010101" pitchFamily="49" charset="-122"/>
            </a:endParaRPr>
          </a:p>
        </p:txBody>
      </p:sp>
      <p:sp>
        <p:nvSpPr>
          <p:cNvPr id="49162" name="矩形 49161"/>
          <p:cNvSpPr/>
          <p:nvPr/>
        </p:nvSpPr>
        <p:spPr>
          <a:xfrm>
            <a:off x="1143000" y="1524000"/>
            <a:ext cx="4648200" cy="990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/>
            <a:r>
              <a:rPr lang="zh-CN" altLang="en-US" sz="3200">
                <a:ln w="12700" cap="sq" cmpd="sng">
                  <a:solidFill>
                    <a:srgbClr val="EAEAEA"/>
                  </a:solidFill>
                  <a:prstDash val="solid"/>
                  <a:headEnd type="none" w="sm" len="sm"/>
                  <a:tailEnd type="none" w="sm" len="sm"/>
                </a:ln>
                <a:gradFill rotWithShape="0">
                  <a:gsLst>
                    <a:gs pos="0">
                      <a:srgbClr val="A603AB">
                        <a:alpha val="100000"/>
                      </a:srgbClr>
                    </a:gs>
                    <a:gs pos="12000">
                      <a:srgbClr val="E81766">
                        <a:alpha val="100000"/>
                      </a:srgbClr>
                    </a:gs>
                    <a:gs pos="27000">
                      <a:srgbClr val="EE3F17">
                        <a:alpha val="100000"/>
                      </a:srgbClr>
                    </a:gs>
                    <a:gs pos="48000">
                      <a:srgbClr val="FFFF00">
                        <a:alpha val="100000"/>
                      </a:srgbClr>
                    </a:gs>
                    <a:gs pos="64999">
                      <a:srgbClr val="1A8D48">
                        <a:alpha val="100000"/>
                      </a:srgbClr>
                    </a:gs>
                    <a:gs pos="78999">
                      <a:srgbClr val="0819FB">
                        <a:alpha val="100000"/>
                      </a:srgbClr>
                    </a:gs>
                    <a:gs pos="100000">
                      <a:srgbClr val="A603AB">
                        <a:alpha val="100000"/>
                      </a:srgbClr>
                    </a:gs>
                  </a:gsLst>
                  <a:lin ang="0" scaled="1"/>
                  <a:tileRect/>
                </a:gradFill>
                <a:effectLst>
                  <a:outerShdw dist="35921" dir="2699999" sy="50000" kx="2115830" algn="bl" rotWithShape="0">
                    <a:srgbClr val="C0C0C0"/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多多阅读程序段</a:t>
            </a:r>
            <a:endParaRPr lang="zh-CN" altLang="en-US" sz="3200">
              <a:ln w="12700" cap="sq" cmpd="sng">
                <a:solidFill>
                  <a:srgbClr val="EAEAEA"/>
                </a:solidFill>
                <a:prstDash val="solid"/>
                <a:headEnd type="none" w="sm" len="sm"/>
                <a:tailEnd type="none" w="sm" len="sm"/>
              </a:ln>
              <a:gradFill rotWithShape="0">
                <a:gsLst>
                  <a:gs pos="0">
                    <a:srgbClr val="A603AB">
                      <a:alpha val="100000"/>
                    </a:srgbClr>
                  </a:gs>
                  <a:gs pos="12000">
                    <a:srgbClr val="E81766">
                      <a:alpha val="100000"/>
                    </a:srgbClr>
                  </a:gs>
                  <a:gs pos="27000">
                    <a:srgbClr val="EE3F17">
                      <a:alpha val="100000"/>
                    </a:srgbClr>
                  </a:gs>
                  <a:gs pos="48000">
                    <a:srgbClr val="FFFF00">
                      <a:alpha val="100000"/>
                    </a:srgbClr>
                  </a:gs>
                  <a:gs pos="64999">
                    <a:srgbClr val="1A8D48">
                      <a:alpha val="100000"/>
                    </a:srgbClr>
                  </a:gs>
                  <a:gs pos="78999">
                    <a:srgbClr val="0819FB">
                      <a:alpha val="100000"/>
                    </a:srgbClr>
                  </a:gs>
                  <a:gs pos="100000">
                    <a:srgbClr val="A603AB">
                      <a:alpha val="100000"/>
                    </a:srgbClr>
                  </a:gs>
                </a:gsLst>
                <a:lin ang="0" scaled="1"/>
                <a:tileRect/>
              </a:gradFill>
              <a:effectLst>
                <a:outerShdw dist="35921" dir="2699999" sy="50000" kx="2115830" algn="bl" rotWithShape="0">
                  <a:srgbClr val="C0C0C0"/>
                </a:outerShdw>
              </a:effectLst>
              <a:latin typeface="隶书" panose="02010509060101010101" charset="-122"/>
              <a:ea typeface="隶书" panose="02010509060101010101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49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49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COMMONDATA" val="eyJoZGlkIjoiN2ExNzlkMjFhZjg4ZjExZmExNzU0NmRlZDNmMTA1YmEifQ=="/>
</p:tagLst>
</file>

<file path=ppt/theme/theme1.xml><?xml version="1.0" encoding="utf-8"?>
<a:theme xmlns:a="http://schemas.openxmlformats.org/drawingml/2006/main" name="Network">
  <a:themeElements>
    <a:clrScheme name="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B8989"/>
      </a:accent6>
      <a:hlink>
        <a:srgbClr val="7E9CE8"/>
      </a:hlink>
      <a:folHlink>
        <a:srgbClr val="D8D8EC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000000"/>
        </a:lt1>
        <a:dk2>
          <a:srgbClr val="C0C0C0"/>
        </a:dk2>
        <a:lt2>
          <a:srgbClr val="4F747B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CDCDC"/>
        </a:accent4>
        <a:accent5>
          <a:srgbClr val="C3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D0B0B"/>
        </a:lt1>
        <a:dk2>
          <a:srgbClr val="FFFFFF"/>
        </a:dk2>
        <a:lt2>
          <a:srgbClr val="3C0000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CDCDC"/>
        </a:accent4>
        <a:accent5>
          <a:srgbClr val="B9B9AD"/>
        </a:accent5>
        <a:accent6>
          <a:srgbClr val="B72D00"/>
        </a:accent6>
        <a:hlink>
          <a:srgbClr val="CC9900"/>
        </a:hlink>
        <a:folHlink>
          <a:srgbClr val="CCCC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15192B"/>
        </a:lt1>
        <a:dk2>
          <a:srgbClr val="CCCCFF"/>
        </a:dk2>
        <a:lt2>
          <a:srgbClr val="666699"/>
        </a:lt2>
        <a:accent1>
          <a:srgbClr val="4F893D"/>
        </a:accent1>
        <a:accent2>
          <a:srgbClr val="666699"/>
        </a:accent2>
        <a:accent3>
          <a:srgbClr val="AAAAAC"/>
        </a:accent3>
        <a:accent4>
          <a:srgbClr val="DCDCDC"/>
        </a:accent4>
        <a:accent5>
          <a:srgbClr val="B3C4AF"/>
        </a:accent5>
        <a:accent6>
          <a:srgbClr val="5B5B89"/>
        </a:accent6>
        <a:hlink>
          <a:srgbClr val="CC9900"/>
        </a:hlink>
        <a:folHlink>
          <a:srgbClr val="4837C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6001A"/>
        </a:lt1>
        <a:dk2>
          <a:srgbClr val="CCCC66"/>
        </a:dk2>
        <a:lt2>
          <a:srgbClr val="666699"/>
        </a:lt2>
        <a:accent1>
          <a:srgbClr val="FF3300"/>
        </a:accent1>
        <a:accent2>
          <a:srgbClr val="FF6600"/>
        </a:accent2>
        <a:accent3>
          <a:srgbClr val="C3AAAA"/>
        </a:accent3>
        <a:accent4>
          <a:srgbClr val="DCDCDC"/>
        </a:accent4>
        <a:accent5>
          <a:srgbClr val="FFADAA"/>
        </a:accent5>
        <a:accent6>
          <a:srgbClr val="E55B00"/>
        </a:accent6>
        <a:hlink>
          <a:srgbClr val="CC9900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54"/>
        </a:lt1>
        <a:dk2>
          <a:srgbClr val="FFFFFF"/>
        </a:dk2>
        <a:lt2>
          <a:srgbClr val="666699"/>
        </a:lt2>
        <a:accent1>
          <a:srgbClr val="3333FF"/>
        </a:accent1>
        <a:accent2>
          <a:srgbClr val="006699"/>
        </a:accent2>
        <a:accent3>
          <a:srgbClr val="AAAAB4"/>
        </a:accent3>
        <a:accent4>
          <a:srgbClr val="DCDCDC"/>
        </a:accent4>
        <a:accent5>
          <a:srgbClr val="ADADFF"/>
        </a:accent5>
        <a:accent6>
          <a:srgbClr val="005B89"/>
        </a:accent6>
        <a:hlink>
          <a:srgbClr val="669900"/>
        </a:hlink>
        <a:folHlink>
          <a:srgbClr val="0000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0054B"/>
        </a:lt1>
        <a:dk2>
          <a:srgbClr val="FFFFFF"/>
        </a:dk2>
        <a:lt2>
          <a:srgbClr val="808080"/>
        </a:lt2>
        <a:accent1>
          <a:srgbClr val="797B9B"/>
        </a:accent1>
        <a:accent2>
          <a:srgbClr val="6B4FB1"/>
        </a:accent2>
        <a:accent3>
          <a:srgbClr val="ADAAB2"/>
        </a:accent3>
        <a:accent4>
          <a:srgbClr val="DCDCDC"/>
        </a:accent4>
        <a:accent5>
          <a:srgbClr val="BEBFCB"/>
        </a:accent5>
        <a:accent6>
          <a:srgbClr val="5F469E"/>
        </a:accent6>
        <a:hlink>
          <a:srgbClr val="7AACCE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CC"/>
        </a:dk1>
        <a:lt1>
          <a:srgbClr val="29527B"/>
        </a:lt1>
        <a:dk2>
          <a:srgbClr val="FFFFFF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CDCAF"/>
        </a:accent4>
        <a:accent5>
          <a:srgbClr val="E2E2AA"/>
        </a:accent5>
        <a:accent6>
          <a:srgbClr val="5B8989"/>
        </a:accent6>
        <a:hlink>
          <a:srgbClr val="D8D8E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76949"/>
        </a:lt1>
        <a:dk2>
          <a:srgbClr val="FFFFFF"/>
        </a:dk2>
        <a:lt2>
          <a:srgbClr val="666699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CDCDC"/>
        </a:accent4>
        <a:accent5>
          <a:srgbClr val="E2B9AA"/>
        </a:accent5>
        <a:accent6>
          <a:srgbClr val="B78900"/>
        </a:accent6>
        <a:hlink>
          <a:srgbClr val="669900"/>
        </a:hlink>
        <a:folHlink>
          <a:srgbClr val="A452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7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B8989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0</TotalTime>
  <Words>7239</Words>
  <Application>WPS 演示</Application>
  <PresentationFormat>在屏幕上显示</PresentationFormat>
  <Paragraphs>480</Paragraphs>
  <Slides>42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1" baseType="lpstr">
      <vt:lpstr>Arial</vt:lpstr>
      <vt:lpstr>宋体</vt:lpstr>
      <vt:lpstr>Wingdings</vt:lpstr>
      <vt:lpstr>楷体</vt:lpstr>
      <vt:lpstr>微软雅黑</vt:lpstr>
      <vt:lpstr>Arial Unicode MS</vt:lpstr>
      <vt:lpstr>Times New Roman</vt:lpstr>
      <vt:lpstr>隶书</vt:lpstr>
      <vt:lpstr>Network</vt:lpstr>
      <vt:lpstr>2.  算术运算类指令</vt:lpstr>
      <vt:lpstr>加法指令ADD   （addition）</vt:lpstr>
      <vt:lpstr>例2.1a：加法运算</vt:lpstr>
      <vt:lpstr>带进位加法指令ADC（addition with CF）</vt:lpstr>
      <vt:lpstr>例2.1b：双字加法</vt:lpstr>
      <vt:lpstr>增量指令INC（increment）</vt:lpstr>
      <vt:lpstr>减法指令SUB（subtract）</vt:lpstr>
      <vt:lpstr>例2.2a：减法运算</vt:lpstr>
      <vt:lpstr>带借位减法指令SBB（ subtract with Borrow ）</vt:lpstr>
      <vt:lpstr>例2.2b：双字减法</vt:lpstr>
      <vt:lpstr>减量指令DEC（decrement）</vt:lpstr>
      <vt:lpstr>求补指令NEG（negative）</vt:lpstr>
      <vt:lpstr>例2.19：求补运算</vt:lpstr>
      <vt:lpstr>比较指令CMP（compare）</vt:lpstr>
      <vt:lpstr>例2.20：比较AL与100</vt:lpstr>
      <vt:lpstr>2.2.3  乘法指令   （multiplication）</vt:lpstr>
      <vt:lpstr>乘法指令的功能</vt:lpstr>
      <vt:lpstr>乘法指令对标志的影响</vt:lpstr>
      <vt:lpstr>例2.21：乘法运算</vt:lpstr>
      <vt:lpstr>2.2.4  除法指令  （division ）</vt:lpstr>
      <vt:lpstr>除法指令的功能</vt:lpstr>
      <vt:lpstr>除法错中断</vt:lpstr>
      <vt:lpstr>例2.22：除法运算</vt:lpstr>
      <vt:lpstr>2.2.5  符号扩展指令</vt:lpstr>
      <vt:lpstr>符号扩展的概念</vt:lpstr>
      <vt:lpstr>例2.23：符号扩展</vt:lpstr>
      <vt:lpstr>例2.24：AX÷BX</vt:lpstr>
      <vt:lpstr>2.2.6  十进制调整指令</vt:lpstr>
      <vt:lpstr>BCD码（Binary Coded Decimal）</vt:lpstr>
      <vt:lpstr>压缩BCD码加、减调整指令</vt:lpstr>
      <vt:lpstr>例2.25a：压缩BCD加法</vt:lpstr>
      <vt:lpstr>例2.25b：压缩BCD减法</vt:lpstr>
      <vt:lpstr>例2.26：压缩BCD减法</vt:lpstr>
      <vt:lpstr>非压缩BCD码加、减调整指令</vt:lpstr>
      <vt:lpstr>例2.27a：非压缩BCD加法</vt:lpstr>
      <vt:lpstr>例2.27b：非压缩BCD减法</vt:lpstr>
      <vt:lpstr>非压缩BCD码乘、除调整指令</vt:lpstr>
      <vt:lpstr>例2.27c：非压缩BCD乘法</vt:lpstr>
      <vt:lpstr>例2.27d：非压缩BCD除法</vt:lpstr>
      <vt:lpstr>习题2.9</vt:lpstr>
      <vt:lpstr>习题2.9：算术运算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 Jia Hui</dc:creator>
  <cp:lastModifiedBy>ZHJH</cp:lastModifiedBy>
  <cp:revision>8</cp:revision>
  <dcterms:created xsi:type="dcterms:W3CDTF">2012-09-10T07:03:00Z</dcterms:created>
  <dcterms:modified xsi:type="dcterms:W3CDTF">2022-08-25T09:09:12Z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B2957EBD9905426BAE18D46305DBA914</vt:lpwstr>
  </property>
  <property fmtid="{D5CDD505-2E9C-101B-9397-08002B2CF9AE}" pid="4" name="KSOProductBuildVer">
    <vt:lpwstr>2052-11.1.0.12302</vt:lpwstr>
  </property>
</Properties>
</file>