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618" r:id="rId24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0000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0000"/>
    <a:srgbClr val="66FF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272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页眉占位符 614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z="1200" b="0" strike="noStrike" noProof="1"/>
          </a:p>
        </p:txBody>
      </p:sp>
      <p:sp>
        <p:nvSpPr>
          <p:cNvPr id="6147" name="日期占位符 6146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fontAlgn="base"/>
            <a:endParaRPr lang="zh-CN" altLang="en-US" sz="1200" b="0" strike="noStrike" noProof="1"/>
          </a:p>
        </p:txBody>
      </p:sp>
      <p:sp>
        <p:nvSpPr>
          <p:cNvPr id="12292" name="幻灯片图像占位符 6147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293" name="文本占位符 6148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150" name="页脚占位符 6149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fontAlgn="base"/>
            <a:endParaRPr lang="zh-CN" altLang="en-US" sz="1200" b="0" strike="noStrike" noProof="1"/>
          </a:p>
        </p:txBody>
      </p:sp>
      <p:sp>
        <p:nvSpPr>
          <p:cNvPr id="6151" name="灯片编号占位符 6150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fontAlgn="base"/>
            <a:fld id="{9A0DB2DC-4C9A-4742-B13C-FB6460FD3503}" type="slidenum">
              <a:rPr lang="zh-CN" altLang="en-US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b="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108545"/>
          <p:cNvSpPr/>
          <p:nvPr/>
        </p:nvSpPr>
        <p:spPr>
          <a:xfrm>
            <a:off x="7315200" y="1066800"/>
            <a:ext cx="0" cy="449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051" name="组合 108551"/>
          <p:cNvGrpSpPr/>
          <p:nvPr/>
        </p:nvGrpSpPr>
        <p:grpSpPr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2052" name="椭圆 108552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3" name="椭圆 108553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4" name="椭圆 108554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5" name="椭圆 108555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6" name="椭圆 108556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7" name="椭圆 108557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8" name="椭圆 108558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9" name="椭圆 108559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0" name="椭圆 108560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1" name="椭圆 108561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2" name="椭圆 108562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3" name="椭圆 108563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4" name="椭圆 108564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5" name="椭圆 108565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6" name="椭圆 108566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7" name="椭圆 108567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8" name="椭圆 108568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9" name="椭圆 108569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0" name="椭圆 108570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1" name="椭圆 108571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2" name="椭圆 108572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3" name="椭圆 108573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4" name="椭圆 108574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5" name="椭圆 108575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6" name="椭圆 108576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7" name="椭圆 108577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8" name="椭圆 108578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79" name="椭圆 108579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0" name="椭圆 108580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1" name="椭圆 108581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82" name="椭圆 108582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83" name="直接连接符 108583"/>
          <p:cNvSpPr/>
          <p:nvPr/>
        </p:nvSpPr>
        <p:spPr>
          <a:xfrm>
            <a:off x="304800" y="281940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8547" name="标题 108546"/>
          <p:cNvSpPr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 algn="r">
              <a:buClrTx/>
              <a:buSzTx/>
              <a:buFontTx/>
              <a:defRPr sz="4800"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08548" name="副标题 108547"/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/>
            </a:lvl1pPr>
            <a:lvl2pPr marL="344805" lvl="1" indent="0" algn="ctr"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/>
            </a:lvl2pPr>
            <a:lvl3pPr marL="69405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/>
            </a:lvl3pPr>
            <a:lvl4pPr marL="989330" lvl="3" indent="0" algn="ctr"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/>
            </a:lvl4pPr>
            <a:lvl5pPr marL="1282700" lvl="4" indent="0" algn="ctr"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08549" name="日期占位符 108548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l">
              <a:defRPr sz="1000" b="0"/>
            </a:lvl1pPr>
          </a:lstStyle>
          <a:p>
            <a:pPr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8550" name="页脚占位符 108549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000" b="0"/>
            </a:lvl1pPr>
          </a:lstStyle>
          <a:p>
            <a:pPr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8551" name="灯片编号占位符 108550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000" b="0"/>
            </a:lvl1pPr>
          </a:lstStyle>
          <a:p>
            <a:pPr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2022/9/21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2504" cy="44116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719263"/>
            <a:ext cx="4032504" cy="44116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52930" cy="60086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107521"/>
          <p:cNvSpPr/>
          <p:nvPr/>
        </p:nvSpPr>
        <p:spPr>
          <a:xfrm>
            <a:off x="7962900" y="152400"/>
            <a:ext cx="0" cy="1524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7" name="标题 107522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文本占位符 107523"/>
          <p:cNvSpPr>
            <a:spLocks noGrp="1"/>
          </p:cNvSpPr>
          <p:nvPr>
            <p:ph type="body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7525" name="日期占位符 107524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>
              <a:defRPr sz="1000" b="0"/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2022/9/21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7526" name="页脚占位符 107525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 b="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7527" name="灯片编号占位符 107526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 b="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grpSp>
        <p:nvGrpSpPr>
          <p:cNvPr id="1032" name="组合 107527"/>
          <p:cNvGrpSpPr/>
          <p:nvPr/>
        </p:nvGrpSpPr>
        <p:grpSpPr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椭圆 107528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" name="椭圆 107529"/>
            <p:cNvSpPr/>
            <p:nvPr/>
          </p:nvSpPr>
          <p:spPr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5" name="椭圆 107530"/>
            <p:cNvSpPr/>
            <p:nvPr/>
          </p:nvSpPr>
          <p:spPr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6" name="椭圆 107531"/>
            <p:cNvSpPr/>
            <p:nvPr/>
          </p:nvSpPr>
          <p:spPr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7" name="椭圆 107532"/>
            <p:cNvSpPr/>
            <p:nvPr/>
          </p:nvSpPr>
          <p:spPr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8" name="椭圆 107533"/>
            <p:cNvSpPr/>
            <p:nvPr/>
          </p:nvSpPr>
          <p:spPr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9" name="椭圆 107534"/>
            <p:cNvSpPr/>
            <p:nvPr/>
          </p:nvSpPr>
          <p:spPr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0" name="椭圆 107535"/>
            <p:cNvSpPr/>
            <p:nvPr/>
          </p:nvSpPr>
          <p:spPr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1" name="椭圆 107536"/>
            <p:cNvSpPr/>
            <p:nvPr/>
          </p:nvSpPr>
          <p:spPr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2" name="椭圆 107537"/>
            <p:cNvSpPr/>
            <p:nvPr/>
          </p:nvSpPr>
          <p:spPr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3" name="椭圆 107538"/>
            <p:cNvSpPr/>
            <p:nvPr/>
          </p:nvSpPr>
          <p:spPr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4" name="椭圆 107539"/>
            <p:cNvSpPr/>
            <p:nvPr/>
          </p:nvSpPr>
          <p:spPr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5" name="椭圆 107540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6" name="椭圆 107541"/>
            <p:cNvSpPr/>
            <p:nvPr/>
          </p:nvSpPr>
          <p:spPr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7" name="椭圆 107542"/>
            <p:cNvSpPr/>
            <p:nvPr/>
          </p:nvSpPr>
          <p:spPr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8" name="椭圆 107543"/>
            <p:cNvSpPr/>
            <p:nvPr/>
          </p:nvSpPr>
          <p:spPr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9" name="椭圆 107544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0" name="椭圆 107545"/>
            <p:cNvSpPr/>
            <p:nvPr/>
          </p:nvSpPr>
          <p:spPr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1" name="椭圆 107546"/>
            <p:cNvSpPr/>
            <p:nvPr/>
          </p:nvSpPr>
          <p:spPr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2" name="椭圆 107547"/>
            <p:cNvSpPr/>
            <p:nvPr/>
          </p:nvSpPr>
          <p:spPr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3" name="椭圆 107548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4" name="椭圆 107549"/>
            <p:cNvSpPr/>
            <p:nvPr/>
          </p:nvSpPr>
          <p:spPr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5" name="椭圆 107550"/>
            <p:cNvSpPr/>
            <p:nvPr/>
          </p:nvSpPr>
          <p:spPr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6" name="椭圆 107551"/>
            <p:cNvSpPr/>
            <p:nvPr/>
          </p:nvSpPr>
          <p:spPr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7" name="椭圆 107552"/>
            <p:cNvSpPr/>
            <p:nvPr/>
          </p:nvSpPr>
          <p:spPr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8" name="椭圆 107553"/>
            <p:cNvSpPr/>
            <p:nvPr/>
          </p:nvSpPr>
          <p:spPr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9" name="椭圆 107554"/>
            <p:cNvSpPr/>
            <p:nvPr/>
          </p:nvSpPr>
          <p:spPr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0" name="椭圆 107555"/>
            <p:cNvSpPr/>
            <p:nvPr/>
          </p:nvSpPr>
          <p:spPr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1" name="椭圆 107556"/>
            <p:cNvSpPr/>
            <p:nvPr/>
          </p:nvSpPr>
          <p:spPr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2" name="椭圆 107557"/>
            <p:cNvSpPr/>
            <p:nvPr/>
          </p:nvSpPr>
          <p:spPr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3" name="椭圆 107558"/>
            <p:cNvSpPr/>
            <p:nvPr/>
          </p:nvSpPr>
          <p:spPr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9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92150" lvl="1" indent="-3473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87425" lvl="2" indent="-2933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81430" lvl="3" indent="-2921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98930" lvl="4" indent="-31623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just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200" b="1" i="0" u="none" kern="1200" baseline="0">
          <a:solidFill>
            <a:srgbClr val="0000FF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819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altLang="zh-CN"/>
              <a:t>3  </a:t>
            </a:r>
            <a:r>
              <a:rPr lang="zh-CN" altLang="en-US" dirty="0"/>
              <a:t>位操作类指令</a:t>
            </a:r>
          </a:p>
        </p:txBody>
      </p:sp>
      <p:sp>
        <p:nvSpPr>
          <p:cNvPr id="13314" name="文本占位符 8194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位操作类指令以二进制位为基本单位进行数据的操作；这是一类常用的指令，都应该特别掌握</a:t>
            </a:r>
          </a:p>
          <a:p>
            <a:pPr>
              <a:lnSpc>
                <a:spcPct val="9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注意这些指令对标志位的影响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200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、逻辑运算指令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2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AND  OR  XOR  NOT   TEST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200" b="1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、移位指令</a:t>
            </a:r>
            <a:endParaRPr lang="zh-CN" altLang="en-US" sz="2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2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SHL  SHR  SAL  SAR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sz="2200" b="1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200" b="1" dirty="0">
                <a:latin typeface="楷体" panose="02010609060101010101" pitchFamily="49" charset="-122"/>
                <a:ea typeface="楷体" panose="02010609060101010101" pitchFamily="49" charset="-122"/>
              </a:rPr>
              <a:t>、循环移位指令</a:t>
            </a:r>
            <a:endParaRPr lang="zh-CN" altLang="en-US" sz="22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sz="22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ROL  ROR  RCL  RCR</a:t>
            </a: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9217"/>
          <p:cNvSpPr>
            <a:spLocks noGrp="1"/>
          </p:cNvSpPr>
          <p:nvPr>
            <p:ph type="title"/>
          </p:nvPr>
        </p:nvSpPr>
        <p:spPr>
          <a:xfrm>
            <a:off x="381000" y="304800"/>
            <a:ext cx="7543800" cy="1295400"/>
          </a:xfrm>
        </p:spPr>
        <p:txBody>
          <a:bodyPr anchor="b" anchorCtr="0"/>
          <a:lstStyle/>
          <a:p>
            <a:r>
              <a:rPr lang="zh-CN" altLang="en-US" dirty="0"/>
              <a:t>逻辑与指令</a:t>
            </a:r>
            <a:r>
              <a:rPr lang="en-US" altLang="zh-CN"/>
              <a:t>AND</a:t>
            </a:r>
          </a:p>
        </p:txBody>
      </p:sp>
      <p:sp>
        <p:nvSpPr>
          <p:cNvPr id="14338" name="文本占位符 9218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925512"/>
          </a:xfrm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ea typeface="楷体" panose="02010609060101010101" pitchFamily="49" charset="-122"/>
              </a:rPr>
              <a:t>对两个操作数执行逻辑与运算，结果送到目的操作数</a:t>
            </a:r>
          </a:p>
        </p:txBody>
      </p:sp>
      <p:sp>
        <p:nvSpPr>
          <p:cNvPr id="14339" name="矩形 9219"/>
          <p:cNvSpPr/>
          <p:nvPr/>
        </p:nvSpPr>
        <p:spPr>
          <a:xfrm>
            <a:off x="609600" y="5334000"/>
            <a:ext cx="75438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指令设置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CF = OF = 0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根据结果设置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SF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ZF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PF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状态，而对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未定义</a:t>
            </a:r>
            <a:endParaRPr lang="zh-CN" altLang="en-US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4340" name="组合 9220"/>
          <p:cNvGrpSpPr/>
          <p:nvPr/>
        </p:nvGrpSpPr>
        <p:grpSpPr>
          <a:xfrm>
            <a:off x="533400" y="2590800"/>
            <a:ext cx="8153400" cy="1265238"/>
            <a:chOff x="336" y="1747"/>
            <a:chExt cx="5136" cy="797"/>
          </a:xfrm>
        </p:grpSpPr>
        <p:sp>
          <p:nvSpPr>
            <p:cNvPr id="14341" name="流程图: 可选过程 9221"/>
            <p:cNvSpPr/>
            <p:nvPr/>
          </p:nvSpPr>
          <p:spPr>
            <a:xfrm>
              <a:off x="336" y="1747"/>
              <a:ext cx="5136" cy="365"/>
            </a:xfrm>
            <a:prstGeom prst="flowChartAlternateProcess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AND</a:t>
              </a:r>
              <a:r>
                <a:rPr lang="en-US" altLang="zh-CN" sz="2800">
                  <a:solidFill>
                    <a:schemeClr val="bg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reg,imm/reg/mem</a:t>
              </a:r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reg←reg</a:t>
              </a:r>
              <a:r>
                <a:rPr lang="en-US" altLang="zh-CN" sz="2400" err="1">
                  <a:solidFill>
                    <a:srgbClr val="0099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imm/reg/mem</a:t>
              </a:r>
              <a:endParaRPr lang="en-US" altLang="zh-CN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342" name="流程图: 可选过程 9222"/>
            <p:cNvSpPr/>
            <p:nvPr/>
          </p:nvSpPr>
          <p:spPr>
            <a:xfrm>
              <a:off x="336" y="2160"/>
              <a:ext cx="4290" cy="384"/>
            </a:xfrm>
            <a:prstGeom prst="flowChartAlternateProcess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AND 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mem,imm/reg</a:t>
              </a:r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mem←mem</a:t>
              </a:r>
              <a:r>
                <a:rPr lang="en-US" altLang="zh-CN" sz="2400" err="1">
                  <a:solidFill>
                    <a:srgbClr val="0099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imm/reg</a:t>
              </a:r>
              <a:endParaRPr lang="en-US" altLang="zh-CN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9224" name="圆角矩形 9223" descr="画布"/>
          <p:cNvSpPr/>
          <p:nvPr/>
        </p:nvSpPr>
        <p:spPr>
          <a:xfrm>
            <a:off x="1343025" y="3932238"/>
            <a:ext cx="6810375" cy="1249362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只有相“与”的两位都是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，结果才是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；否则，“与”的结果为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9228" name="椭圆 9227" descr="DI-43">
            <a:hlinkClick r:id="" action="ppaction://noaction"/>
          </p:cNvPr>
          <p:cNvSpPr/>
          <p:nvPr/>
        </p:nvSpPr>
        <p:spPr>
          <a:xfrm>
            <a:off x="6781800" y="381000"/>
            <a:ext cx="914400" cy="914400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AND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024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逻辑或指令</a:t>
            </a:r>
            <a:r>
              <a:rPr lang="en-US" altLang="zh-CN"/>
              <a:t>OR</a:t>
            </a:r>
          </a:p>
        </p:txBody>
      </p:sp>
      <p:sp>
        <p:nvSpPr>
          <p:cNvPr id="15362" name="文本占位符 10242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925512"/>
          </a:xfrm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对两个操作数执行逻辑或运算，结果送到目的操作数</a:t>
            </a:r>
          </a:p>
        </p:txBody>
      </p:sp>
      <p:sp>
        <p:nvSpPr>
          <p:cNvPr id="15363" name="矩形 10243"/>
          <p:cNvSpPr/>
          <p:nvPr/>
        </p:nvSpPr>
        <p:spPr>
          <a:xfrm>
            <a:off x="609600" y="5334000"/>
            <a:ext cx="75438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OR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指令设置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CF = OF = 0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根据结果设置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SF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ZF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PF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状态，而对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未定义</a:t>
            </a:r>
            <a:endParaRPr lang="zh-CN" altLang="en-US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5364" name="组合 10244"/>
          <p:cNvGrpSpPr/>
          <p:nvPr/>
        </p:nvGrpSpPr>
        <p:grpSpPr>
          <a:xfrm>
            <a:off x="533400" y="2590800"/>
            <a:ext cx="8153400" cy="1265238"/>
            <a:chOff x="336" y="1747"/>
            <a:chExt cx="5136" cy="797"/>
          </a:xfrm>
        </p:grpSpPr>
        <p:sp>
          <p:nvSpPr>
            <p:cNvPr id="15365" name="流程图: 可选过程 10245"/>
            <p:cNvSpPr/>
            <p:nvPr/>
          </p:nvSpPr>
          <p:spPr>
            <a:xfrm>
              <a:off x="336" y="1747"/>
              <a:ext cx="5136" cy="365"/>
            </a:xfrm>
            <a:prstGeom prst="flowChartAlternateProcess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OR </a:t>
              </a:r>
              <a:r>
                <a:rPr lang="en-US" altLang="zh-CN" sz="28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reg,imm</a:t>
              </a:r>
              <a:r>
                <a: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/mem/reg 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reg ←</a:t>
              </a:r>
              <a:r>
                <a:rPr lang="en-US" altLang="zh-CN" sz="28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reg</a:t>
              </a:r>
              <a:r>
                <a:rPr lang="en-US" altLang="zh-CN" sz="24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∨</a:t>
              </a:r>
              <a:r>
                <a:rPr lang="en-US" altLang="zh-CN" sz="28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imm</a:t>
              </a:r>
              <a:r>
                <a: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/reg/mem</a:t>
              </a:r>
            </a:p>
          </p:txBody>
        </p:sp>
        <p:sp>
          <p:nvSpPr>
            <p:cNvPr id="15366" name="流程图: 可选过程 10246"/>
            <p:cNvSpPr/>
            <p:nvPr/>
          </p:nvSpPr>
          <p:spPr>
            <a:xfrm>
              <a:off x="336" y="2160"/>
              <a:ext cx="4290" cy="384"/>
            </a:xfrm>
            <a:prstGeom prst="flowChartAlternateProcess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OR </a:t>
              </a:r>
              <a:r>
                <a:rPr lang="en-US" altLang="zh-CN" sz="28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mem,imm</a:t>
              </a:r>
              <a:r>
                <a: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/reg 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mem←mem</a:t>
              </a:r>
              <a:r>
                <a:rPr lang="en-US" altLang="zh-CN" sz="2400" dirty="0" err="1">
                  <a:solidFill>
                    <a:srgbClr val="0099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∨</a:t>
              </a:r>
              <a:r>
                <a:rPr lang="en-US" altLang="zh-CN" sz="28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imm</a:t>
              </a:r>
              <a:r>
                <a:rPr lang="en-US" altLang="zh-CN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/reg</a:t>
              </a:r>
            </a:p>
          </p:txBody>
        </p:sp>
      </p:grpSp>
      <p:sp>
        <p:nvSpPr>
          <p:cNvPr id="10248" name="圆角矩形 10247" descr="画布"/>
          <p:cNvSpPr/>
          <p:nvPr/>
        </p:nvSpPr>
        <p:spPr>
          <a:xfrm>
            <a:off x="762000" y="4038600"/>
            <a:ext cx="6934200" cy="11430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只要相“或”的两位有一位是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，结果就是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；否则，结果为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252" name="椭圆 10251" descr="DI-43">
            <a:hlinkClick r:id="" action="ppaction://noaction"/>
          </p:cNvPr>
          <p:cNvSpPr/>
          <p:nvPr/>
        </p:nvSpPr>
        <p:spPr>
          <a:xfrm>
            <a:off x="6934200" y="304800"/>
            <a:ext cx="914400" cy="914400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OR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126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逻辑异或指令</a:t>
            </a:r>
            <a:r>
              <a:rPr lang="en-US" altLang="zh-CN"/>
              <a:t>XOR</a:t>
            </a:r>
          </a:p>
        </p:txBody>
      </p:sp>
      <p:sp>
        <p:nvSpPr>
          <p:cNvPr id="16386" name="文本占位符 11266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925512"/>
          </a:xfrm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ea typeface="楷体" panose="02010609060101010101" pitchFamily="49" charset="-122"/>
              </a:rPr>
              <a:t>对两个操作数执行逻辑异或运算，结果送到目的操作数</a:t>
            </a:r>
          </a:p>
        </p:txBody>
      </p:sp>
      <p:sp>
        <p:nvSpPr>
          <p:cNvPr id="16387" name="矩形 11267"/>
          <p:cNvSpPr/>
          <p:nvPr/>
        </p:nvSpPr>
        <p:spPr>
          <a:xfrm>
            <a:off x="609600" y="5334000"/>
            <a:ext cx="75438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XOR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指令设置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CF = OF = 0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根据结果设置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SF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ZF</a:t>
            </a:r>
            <a:r>
              <a:rPr lang="zh-CN" altLang="en-US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PF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状态，而对</a:t>
            </a: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未定义</a:t>
            </a:r>
            <a:endParaRPr lang="zh-CN" altLang="en-US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6388" name="组合 11268"/>
          <p:cNvGrpSpPr/>
          <p:nvPr/>
        </p:nvGrpSpPr>
        <p:grpSpPr>
          <a:xfrm>
            <a:off x="533400" y="2590800"/>
            <a:ext cx="8153400" cy="1265238"/>
            <a:chOff x="336" y="1747"/>
            <a:chExt cx="5136" cy="797"/>
          </a:xfrm>
        </p:grpSpPr>
        <p:sp>
          <p:nvSpPr>
            <p:cNvPr id="16389" name="流程图: 可选过程 11269"/>
            <p:cNvSpPr/>
            <p:nvPr/>
          </p:nvSpPr>
          <p:spPr>
            <a:xfrm>
              <a:off x="336" y="1747"/>
              <a:ext cx="5136" cy="365"/>
            </a:xfrm>
            <a:prstGeom prst="flowChartAlternateProcess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XOR 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reg,imm/reg/mem</a:t>
              </a:r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reg←reg</a:t>
              </a:r>
              <a:r>
                <a:rPr lang="en-US" altLang="zh-CN" sz="2800" err="1">
                  <a:solidFill>
                    <a:srgbClr val="0099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⊕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imm/reg/mem</a:t>
              </a:r>
              <a:endParaRPr lang="en-US" altLang="zh-CN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390" name="流程图: 可选过程 11270"/>
            <p:cNvSpPr/>
            <p:nvPr/>
          </p:nvSpPr>
          <p:spPr>
            <a:xfrm>
              <a:off x="336" y="2160"/>
              <a:ext cx="4290" cy="384"/>
            </a:xfrm>
            <a:prstGeom prst="flowChartAlternateProcess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XOR 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mem,imm/reg</a:t>
              </a:r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mem←mem</a:t>
              </a:r>
              <a:r>
                <a:rPr lang="en-US" altLang="zh-CN" sz="2800" err="1">
                  <a:solidFill>
                    <a:srgbClr val="0099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⊕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imm/reg</a:t>
              </a:r>
              <a:endParaRPr lang="en-US" altLang="zh-CN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1272" name="圆角矩形 11271" descr="画布"/>
          <p:cNvSpPr/>
          <p:nvPr/>
        </p:nvSpPr>
        <p:spPr>
          <a:xfrm>
            <a:off x="609600" y="3962400"/>
            <a:ext cx="6400800" cy="11430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只有相“异或”的两位不相同，结果才是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；否则，结果为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276" name="椭圆 11275" descr="DI-43">
            <a:hlinkClick r:id="" action="ppaction://noaction"/>
          </p:cNvPr>
          <p:cNvSpPr/>
          <p:nvPr/>
        </p:nvSpPr>
        <p:spPr>
          <a:xfrm>
            <a:off x="6781800" y="381000"/>
            <a:ext cx="914400" cy="914400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XOR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2289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逻辑非指令</a:t>
            </a:r>
            <a:r>
              <a:rPr lang="en-US" altLang="zh-CN"/>
              <a:t>NOT</a:t>
            </a:r>
          </a:p>
        </p:txBody>
      </p:sp>
      <p:sp>
        <p:nvSpPr>
          <p:cNvPr id="17410" name="文本占位符 12290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711200"/>
          </a:xfrm>
        </p:spPr>
        <p:txBody>
          <a:bodyPr anchor="t" anchorCtr="0"/>
          <a:lstStyle/>
          <a:p>
            <a:r>
              <a:rPr lang="zh-CN" altLang="en-US" b="1" dirty="0">
                <a:ea typeface="楷体" panose="02010609060101010101" pitchFamily="49" charset="-122"/>
              </a:rPr>
              <a:t>对一个操作数执行逻辑非运算</a:t>
            </a:r>
          </a:p>
        </p:txBody>
      </p:sp>
      <p:sp>
        <p:nvSpPr>
          <p:cNvPr id="17411" name="矩形 12291"/>
          <p:cNvSpPr/>
          <p:nvPr/>
        </p:nvSpPr>
        <p:spPr>
          <a:xfrm>
            <a:off x="609600" y="5105400"/>
            <a:ext cx="7543800" cy="1295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NOT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指令是一个单操作数指令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NOT</a:t>
            </a:r>
            <a:r>
              <a:rPr lang="zh-CN" altLang="en-US" sz="26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指令不影响标志位</a:t>
            </a:r>
          </a:p>
        </p:txBody>
      </p:sp>
      <p:sp>
        <p:nvSpPr>
          <p:cNvPr id="17412" name="流程图: 可选过程 12292"/>
          <p:cNvSpPr/>
          <p:nvPr/>
        </p:nvSpPr>
        <p:spPr>
          <a:xfrm>
            <a:off x="1143000" y="2514600"/>
            <a:ext cx="6810375" cy="6096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NOT </a:t>
            </a:r>
            <a:r>
              <a:rPr lang="en-US" altLang="zh-CN" sz="2800" err="1"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2800" err="1"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←</a:t>
            </a:r>
            <a:r>
              <a:rPr lang="zh-CN" altLang="en-US" sz="240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800" err="1">
                <a:latin typeface="宋体" panose="02010600030101010101" pitchFamily="2" charset="-122"/>
                <a:ea typeface="宋体" panose="02010600030101010101" pitchFamily="2" charset="-122"/>
              </a:rPr>
              <a:t>reg/mem</a:t>
            </a:r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4" name="圆角矩形 12293" descr="画布"/>
          <p:cNvSpPr/>
          <p:nvPr/>
        </p:nvSpPr>
        <p:spPr>
          <a:xfrm>
            <a:off x="1066800" y="3581400"/>
            <a:ext cx="6629318" cy="11430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按位取反，原来是“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0”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的位变为“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1”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；原来是“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1”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的位变为“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0”</a:t>
            </a:r>
          </a:p>
        </p:txBody>
      </p:sp>
      <p:sp>
        <p:nvSpPr>
          <p:cNvPr id="12298" name="椭圆 12297" descr="DI-43">
            <a:hlinkClick r:id="" action="ppaction://noaction"/>
          </p:cNvPr>
          <p:cNvSpPr/>
          <p:nvPr/>
        </p:nvSpPr>
        <p:spPr>
          <a:xfrm>
            <a:off x="6858000" y="304800"/>
            <a:ext cx="914400" cy="914400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NOT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0" name="标题 13319"/>
          <p:cNvSpPr>
            <a:spLocks noGrp="1"/>
          </p:cNvSpPr>
          <p:nvPr>
            <p:ph type="title"/>
          </p:nvPr>
        </p:nvSpPr>
        <p:spPr>
          <a:xfrm>
            <a:off x="914400" y="685800"/>
            <a:ext cx="342265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例题：逻辑运算</a:t>
            </a:r>
          </a:p>
        </p:txBody>
      </p:sp>
      <p:sp>
        <p:nvSpPr>
          <p:cNvPr id="13321" name="内容占位符 13320"/>
          <p:cNvSpPr>
            <a:spLocks noGrp="1"/>
          </p:cNvSpPr>
          <p:nvPr>
            <p:ph idx="1"/>
          </p:nvPr>
        </p:nvSpPr>
        <p:spPr>
          <a:xfrm>
            <a:off x="762000" y="1447800"/>
            <a:ext cx="7696200" cy="4648200"/>
          </a:xfrm>
          <a:solidFill>
            <a:schemeClr val="bg1"/>
          </a:solidFill>
        </p:spPr>
        <p:txBody>
          <a:bodyPr anchor="t" anchorCtr="0"/>
          <a:lstStyle/>
          <a:p>
            <a:pPr marL="0" indent="184150" defTabSz="914400">
              <a:buNone/>
              <a:tabLst>
                <a:tab pos="2473325" algn="l"/>
              </a:tabLst>
            </a:pPr>
            <a:endParaRPr lang="en-US" altLang="zh-CN" sz="21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al,45h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；逻辑与 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al=01h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and al,31h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CF=OF=0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SF=0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ZF=0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PF=0</a:t>
            </a:r>
          </a:p>
          <a:p>
            <a:pPr marL="0" indent="184150" defTabSz="914400">
              <a:spcBef>
                <a:spcPct val="50000"/>
              </a:spcBef>
              <a:buNone/>
              <a:tabLst>
                <a:tab pos="2473325" algn="l"/>
              </a:tabLst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al,45h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；逻辑或 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al=75h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or al,31h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CF=OF=0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SF=0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ZF=0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PF=0</a:t>
            </a:r>
          </a:p>
          <a:p>
            <a:pPr marL="0" indent="184150" defTabSz="914400">
              <a:spcBef>
                <a:spcPct val="50000"/>
              </a:spcBef>
              <a:buNone/>
              <a:tabLst>
                <a:tab pos="2473325" algn="l"/>
              </a:tabLst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al,45h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；逻辑异或 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al=74h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xor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al,31h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CF=OF=0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SF=0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ZF=0</a:t>
            </a:r>
            <a:r>
              <a:rPr lang="zh-CN" altLang="en-US" sz="2100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PF=1</a:t>
            </a:r>
          </a:p>
          <a:p>
            <a:pPr marL="0" indent="184150" defTabSz="914400">
              <a:spcBef>
                <a:spcPct val="50000"/>
              </a:spcBef>
              <a:buNone/>
              <a:tabLst>
                <a:tab pos="2473325" algn="l"/>
              </a:tabLst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al,45h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；逻辑非 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al=0bah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not al	</a:t>
            </a:r>
            <a:r>
              <a:rPr lang="zh-CN" altLang="en-US" sz="2100" dirty="0">
                <a:solidFill>
                  <a:srgbClr val="0000FF"/>
                </a:solidFill>
                <a:latin typeface="宋体" panose="02010600030101010101" pitchFamily="2" charset="-122"/>
              </a:rPr>
              <a:t>；标志不变</a:t>
            </a:r>
          </a:p>
        </p:txBody>
      </p:sp>
      <p:pic>
        <p:nvPicPr>
          <p:cNvPr id="18435" name="图片 13322" descr="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7848600" cy="76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36" name="图片 13323" descr="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486400"/>
            <a:ext cx="7848600" cy="7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3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3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33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3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33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3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标题 14343"/>
          <p:cNvSpPr>
            <a:spLocks noGrp="1"/>
          </p:cNvSpPr>
          <p:nvPr>
            <p:ph type="title"/>
          </p:nvPr>
        </p:nvSpPr>
        <p:spPr>
          <a:xfrm>
            <a:off x="914400" y="685800"/>
            <a:ext cx="41910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例题：逻辑指令应用</a:t>
            </a:r>
          </a:p>
        </p:txBody>
      </p:sp>
      <p:sp>
        <p:nvSpPr>
          <p:cNvPr id="14345" name="内容占位符 14344"/>
          <p:cNvSpPr>
            <a:spLocks noGrp="1"/>
          </p:cNvSpPr>
          <p:nvPr>
            <p:ph idx="1"/>
          </p:nvPr>
        </p:nvSpPr>
        <p:spPr>
          <a:xfrm>
            <a:off x="609600" y="1905000"/>
            <a:ext cx="7696200" cy="4267200"/>
          </a:xfrm>
          <a:solidFill>
            <a:schemeClr val="bg1"/>
          </a:solidFill>
        </p:spPr>
        <p:txBody>
          <a:bodyPr anchor="t" anchorCtr="0"/>
          <a:lstStyle/>
          <a:p>
            <a:pPr marL="0" indent="184150" defTabSz="914400">
              <a:buNone/>
              <a:tabLst>
                <a:tab pos="2473325" algn="l"/>
              </a:tabLst>
            </a:pP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AND</a:t>
            </a:r>
            <a:r>
              <a:rPr lang="zh-CN" altLang="en-US" sz="2600" b="1" dirty="0">
                <a:latin typeface="宋体" panose="02010600030101010101" pitchFamily="2" charset="-122"/>
              </a:rPr>
              <a:t>指令可用于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复位某些位（同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相与）</a:t>
            </a:r>
            <a:r>
              <a:rPr lang="zh-CN" altLang="en-US" sz="2600" b="1" dirty="0">
                <a:latin typeface="宋体" panose="02010600030101010101" pitchFamily="2" charset="-122"/>
              </a:rPr>
              <a:t>，不影响其他位。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zh-CN" altLang="en-US" sz="2600" b="1" dirty="0">
                <a:latin typeface="宋体" panose="02010600030101010101" pitchFamily="2" charset="-122"/>
              </a:rPr>
              <a:t>例：将</a:t>
            </a:r>
            <a:r>
              <a:rPr lang="en-US" altLang="zh-CN" sz="2600" b="1">
                <a:latin typeface="宋体" panose="02010600030101010101" pitchFamily="2" charset="-122"/>
              </a:rPr>
              <a:t>BL</a:t>
            </a:r>
            <a:r>
              <a:rPr lang="zh-CN" altLang="en-US" sz="2600" b="1">
                <a:latin typeface="宋体" panose="02010600030101010101" pitchFamily="2" charset="-122"/>
              </a:rPr>
              <a:t>中</a:t>
            </a:r>
            <a:r>
              <a:rPr lang="en-US" altLang="zh-CN" sz="2600" b="1">
                <a:latin typeface="宋体" panose="02010600030101010101" pitchFamily="2" charset="-122"/>
              </a:rPr>
              <a:t>D</a:t>
            </a:r>
            <a:r>
              <a:rPr lang="en-US" altLang="zh-CN" sz="2100" b="1">
                <a:latin typeface="宋体" panose="02010600030101010101" pitchFamily="2" charset="-122"/>
              </a:rPr>
              <a:t>3</a:t>
            </a:r>
            <a:r>
              <a:rPr lang="zh-CN" altLang="en-US" sz="2600" b="1">
                <a:latin typeface="宋体" panose="02010600030101010101" pitchFamily="2" charset="-122"/>
              </a:rPr>
              <a:t>和</a:t>
            </a:r>
            <a:r>
              <a:rPr lang="en-US" altLang="zh-CN" sz="2600" b="1">
                <a:latin typeface="宋体" panose="02010600030101010101" pitchFamily="2" charset="-122"/>
              </a:rPr>
              <a:t>D</a:t>
            </a:r>
            <a:r>
              <a:rPr lang="en-US" altLang="zh-CN" sz="2100" b="1">
                <a:latin typeface="宋体" panose="02010600030101010101" pitchFamily="2" charset="-122"/>
              </a:rPr>
              <a:t>0</a:t>
            </a:r>
            <a:r>
              <a:rPr lang="zh-CN" altLang="en-US" sz="2600" b="1" dirty="0">
                <a:latin typeface="宋体" panose="02010600030101010101" pitchFamily="2" charset="-122"/>
              </a:rPr>
              <a:t>位清</a:t>
            </a:r>
            <a:r>
              <a:rPr lang="en-US" altLang="zh-CN" sz="2600" b="1">
                <a:latin typeface="宋体" panose="02010600030101010101" pitchFamily="2" charset="-122"/>
              </a:rPr>
              <a:t>0</a:t>
            </a:r>
            <a:r>
              <a:rPr lang="zh-CN" altLang="en-US" sz="2600" b="1" dirty="0">
                <a:latin typeface="宋体" panose="02010600030101010101" pitchFamily="2" charset="-122"/>
              </a:rPr>
              <a:t>，其他位不变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zh-CN" altLang="en-US" sz="2600" b="1">
                <a:solidFill>
                  <a:schemeClr val="bg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600" b="1">
                <a:solidFill>
                  <a:srgbClr val="FF0000"/>
                </a:solidFill>
                <a:latin typeface="宋体" panose="02010600030101010101" pitchFamily="2" charset="-122"/>
              </a:rPr>
              <a:t>and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bl,11110110B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zh-CN" altLang="en-US" sz="2600" b="1" dirty="0">
                <a:latin typeface="宋体" panose="02010600030101010101" pitchFamily="2" charset="-122"/>
              </a:rPr>
              <a:t>例：将</a:t>
            </a:r>
            <a:r>
              <a:rPr lang="en-US" altLang="zh-CN" sz="2600" b="1">
                <a:latin typeface="宋体" panose="02010600030101010101" pitchFamily="2" charset="-122"/>
              </a:rPr>
              <a:t>AL</a:t>
            </a:r>
            <a:r>
              <a:rPr lang="zh-CN" altLang="en-US" sz="2600" b="1" dirty="0">
                <a:latin typeface="宋体" panose="02010600030101010101" pitchFamily="2" charset="-122"/>
              </a:rPr>
              <a:t>中的字符‘</a:t>
            </a:r>
            <a:r>
              <a:rPr lang="en-US" altLang="zh-CN" sz="2600" b="1">
                <a:latin typeface="宋体" panose="02010600030101010101" pitchFamily="2" charset="-122"/>
              </a:rPr>
              <a:t>8’</a:t>
            </a:r>
            <a:r>
              <a:rPr lang="zh-CN" altLang="en-US" sz="2600" b="1" dirty="0">
                <a:latin typeface="宋体" panose="02010600030101010101" pitchFamily="2" charset="-122"/>
              </a:rPr>
              <a:t>转换成对应的数字</a:t>
            </a:r>
            <a:r>
              <a:rPr lang="en-US" altLang="zh-CN" sz="2600" b="1">
                <a:latin typeface="宋体" panose="02010600030101010101" pitchFamily="2" charset="-122"/>
              </a:rPr>
              <a:t>8</a:t>
            </a:r>
            <a:endParaRPr lang="en-US" altLang="zh-CN" sz="2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 al, ‘8’   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600" b="1">
                <a:solidFill>
                  <a:srgbClr val="FF0000"/>
                </a:solidFill>
                <a:latin typeface="宋体" panose="02010600030101010101" pitchFamily="2" charset="-122"/>
              </a:rPr>
              <a:t>and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 al, 0fh  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；方法一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sub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 al, ‘0’   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；方法二</a:t>
            </a:r>
            <a:endParaRPr lang="zh-CN" altLang="en-US" sz="26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4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4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4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43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标题 15367"/>
          <p:cNvSpPr>
            <a:spLocks noGrp="1"/>
          </p:cNvSpPr>
          <p:nvPr>
            <p:ph type="title"/>
          </p:nvPr>
        </p:nvSpPr>
        <p:spPr>
          <a:xfrm>
            <a:off x="838200" y="762000"/>
            <a:ext cx="43434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例题：逻辑指令应用</a:t>
            </a:r>
          </a:p>
        </p:txBody>
      </p:sp>
      <p:sp>
        <p:nvSpPr>
          <p:cNvPr id="15369" name="内容占位符 15368"/>
          <p:cNvSpPr>
            <a:spLocks noGrp="1"/>
          </p:cNvSpPr>
          <p:nvPr>
            <p:ph idx="1"/>
          </p:nvPr>
        </p:nvSpPr>
        <p:spPr>
          <a:xfrm>
            <a:off x="457200" y="1828800"/>
            <a:ext cx="7543800" cy="4419600"/>
          </a:xfrm>
          <a:solidFill>
            <a:schemeClr val="bg1"/>
          </a:solidFill>
        </p:spPr>
        <p:txBody>
          <a:bodyPr anchor="t" anchorCtr="0"/>
          <a:lstStyle/>
          <a:p>
            <a:pPr marL="0" indent="184150" defTabSz="914400">
              <a:lnSpc>
                <a:spcPct val="90000"/>
              </a:lnSpc>
              <a:spcBef>
                <a:spcPct val="50000"/>
              </a:spcBef>
              <a:buNone/>
              <a:tabLst>
                <a:tab pos="2473325" algn="l"/>
              </a:tabLst>
            </a:pP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OR</a:t>
            </a:r>
            <a:r>
              <a:rPr lang="zh-CN" altLang="en-US" sz="2600" b="1" dirty="0">
                <a:latin typeface="宋体" panose="02010600030101010101" pitchFamily="2" charset="-122"/>
              </a:rPr>
              <a:t>指令可用于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置位某些位</a:t>
            </a:r>
            <a:r>
              <a:rPr lang="zh-CN" altLang="en-US" sz="2600" b="1" dirty="0">
                <a:latin typeface="宋体" panose="02010600030101010101" pitchFamily="2" charset="-122"/>
              </a:rPr>
              <a:t>（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同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相或</a:t>
            </a:r>
            <a:r>
              <a:rPr lang="zh-CN" altLang="en-US" sz="2600" b="1" dirty="0">
                <a:latin typeface="宋体" panose="02010600030101010101" pitchFamily="2" charset="-122"/>
              </a:rPr>
              <a:t>），不影响其他位。</a:t>
            </a:r>
          </a:p>
          <a:p>
            <a:pPr marL="0" indent="184150" defTabSz="914400">
              <a:lnSpc>
                <a:spcPct val="90000"/>
              </a:lnSpc>
              <a:spcBef>
                <a:spcPct val="50000"/>
              </a:spcBef>
              <a:buNone/>
              <a:tabLst>
                <a:tab pos="2473325" algn="l"/>
              </a:tabLst>
            </a:pPr>
            <a:r>
              <a:rPr lang="zh-CN" altLang="en-US" sz="2600" b="1" dirty="0">
                <a:latin typeface="宋体" panose="02010600030101010101" pitchFamily="2" charset="-122"/>
              </a:rPr>
              <a:t>例：将</a:t>
            </a:r>
            <a:r>
              <a:rPr lang="en-US" altLang="zh-CN" sz="2600" b="1">
                <a:latin typeface="宋体" panose="02010600030101010101" pitchFamily="2" charset="-122"/>
              </a:rPr>
              <a:t>BL</a:t>
            </a:r>
            <a:r>
              <a:rPr lang="zh-CN" altLang="en-US" sz="2600" b="1">
                <a:latin typeface="宋体" panose="02010600030101010101" pitchFamily="2" charset="-122"/>
              </a:rPr>
              <a:t>中</a:t>
            </a:r>
            <a:r>
              <a:rPr lang="en-US" altLang="zh-CN" sz="2600" b="1">
                <a:latin typeface="宋体" panose="02010600030101010101" pitchFamily="2" charset="-122"/>
              </a:rPr>
              <a:t>D</a:t>
            </a:r>
            <a:r>
              <a:rPr lang="en-US" altLang="zh-CN" sz="2100" b="1">
                <a:latin typeface="宋体" panose="02010600030101010101" pitchFamily="2" charset="-122"/>
              </a:rPr>
              <a:t>3</a:t>
            </a:r>
            <a:r>
              <a:rPr lang="zh-CN" altLang="en-US" sz="2600" b="1">
                <a:latin typeface="宋体" panose="02010600030101010101" pitchFamily="2" charset="-122"/>
              </a:rPr>
              <a:t>和</a:t>
            </a:r>
            <a:r>
              <a:rPr lang="en-US" altLang="zh-CN" sz="2600" b="1">
                <a:latin typeface="宋体" panose="02010600030101010101" pitchFamily="2" charset="-122"/>
              </a:rPr>
              <a:t>D</a:t>
            </a:r>
            <a:r>
              <a:rPr lang="en-US" altLang="zh-CN" sz="2100" b="1">
                <a:latin typeface="宋体" panose="02010600030101010101" pitchFamily="2" charset="-122"/>
              </a:rPr>
              <a:t>0</a:t>
            </a:r>
            <a:r>
              <a:rPr lang="zh-CN" altLang="en-US" sz="2600" b="1" dirty="0">
                <a:latin typeface="宋体" panose="02010600030101010101" pitchFamily="2" charset="-122"/>
              </a:rPr>
              <a:t>位置</a:t>
            </a:r>
            <a:r>
              <a:rPr lang="en-US" altLang="zh-CN" sz="2600" b="1">
                <a:latin typeface="宋体" panose="02010600030101010101" pitchFamily="2" charset="-122"/>
              </a:rPr>
              <a:t>1</a:t>
            </a:r>
            <a:r>
              <a:rPr lang="zh-CN" altLang="en-US" sz="2600" b="1" dirty="0">
                <a:latin typeface="宋体" panose="02010600030101010101" pitchFamily="2" charset="-122"/>
              </a:rPr>
              <a:t>，其他位不变</a:t>
            </a:r>
          </a:p>
          <a:p>
            <a:pPr marL="0" indent="184150" defTabSz="914400">
              <a:lnSpc>
                <a:spcPct val="90000"/>
              </a:lnSpc>
              <a:buNone/>
              <a:tabLst>
                <a:tab pos="2473325" algn="l"/>
              </a:tabLst>
            </a:pPr>
            <a:r>
              <a:rPr lang="en-US" altLang="zh-CN" sz="2600" b="1">
                <a:solidFill>
                  <a:srgbClr val="009900"/>
                </a:solidFill>
                <a:latin typeface="宋体" panose="02010600030101010101" pitchFamily="2" charset="-122"/>
              </a:rPr>
              <a:t>or</a:t>
            </a:r>
            <a:r>
              <a:rPr lang="en-US" altLang="zh-CN" sz="2600" b="1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, 00001001B</a:t>
            </a:r>
          </a:p>
          <a:p>
            <a:pPr marL="0" indent="184150" defTabSz="914400">
              <a:lnSpc>
                <a:spcPct val="90000"/>
              </a:lnSpc>
              <a:spcBef>
                <a:spcPct val="50000"/>
              </a:spcBef>
              <a:buNone/>
              <a:tabLst>
                <a:tab pos="2473325" algn="l"/>
              </a:tabLst>
            </a:pPr>
            <a:r>
              <a:rPr lang="zh-CN" altLang="en-US" sz="2600" b="1" dirty="0">
                <a:latin typeface="宋体" panose="02010600030101010101" pitchFamily="2" charset="-122"/>
              </a:rPr>
              <a:t>；</a:t>
            </a:r>
            <a:r>
              <a:rPr lang="en-US" altLang="zh-CN" sz="2600" b="1">
                <a:latin typeface="宋体" panose="02010600030101010101" pitchFamily="2" charset="-122"/>
              </a:rPr>
              <a:t>XOR</a:t>
            </a:r>
            <a:r>
              <a:rPr lang="zh-CN" altLang="en-US" sz="2600" b="1" dirty="0">
                <a:latin typeface="宋体" panose="02010600030101010101" pitchFamily="2" charset="-122"/>
              </a:rPr>
              <a:t>指令可用于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求反某些位</a:t>
            </a:r>
            <a:r>
              <a:rPr lang="zh-CN" altLang="en-US" sz="2600" b="1" dirty="0">
                <a:latin typeface="宋体" panose="02010600030101010101" pitchFamily="2" charset="-122"/>
              </a:rPr>
              <a:t>（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同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相异或</a:t>
            </a:r>
            <a:r>
              <a:rPr lang="zh-CN" altLang="en-US" sz="2600" b="1" dirty="0">
                <a:latin typeface="宋体" panose="02010600030101010101" pitchFamily="2" charset="-122"/>
              </a:rPr>
              <a:t>），不影响其他位。</a:t>
            </a:r>
          </a:p>
          <a:p>
            <a:pPr marL="0" indent="184150" defTabSz="914400">
              <a:lnSpc>
                <a:spcPct val="90000"/>
              </a:lnSpc>
              <a:spcBef>
                <a:spcPct val="50000"/>
              </a:spcBef>
              <a:buNone/>
              <a:tabLst>
                <a:tab pos="2473325" algn="l"/>
              </a:tabLst>
            </a:pPr>
            <a:r>
              <a:rPr lang="zh-CN" altLang="en-US" sz="2600" b="1" dirty="0">
                <a:latin typeface="宋体" panose="02010600030101010101" pitchFamily="2" charset="-122"/>
              </a:rPr>
              <a:t>例：将</a:t>
            </a:r>
            <a:r>
              <a:rPr lang="en-US" altLang="zh-CN" sz="2600" b="1">
                <a:latin typeface="宋体" panose="02010600030101010101" pitchFamily="2" charset="-122"/>
              </a:rPr>
              <a:t>BL</a:t>
            </a:r>
            <a:r>
              <a:rPr lang="zh-CN" altLang="en-US" sz="2600" b="1">
                <a:latin typeface="宋体" panose="02010600030101010101" pitchFamily="2" charset="-122"/>
              </a:rPr>
              <a:t>中</a:t>
            </a:r>
            <a:r>
              <a:rPr lang="en-US" altLang="zh-CN" sz="2600" b="1">
                <a:latin typeface="宋体" panose="02010600030101010101" pitchFamily="2" charset="-122"/>
              </a:rPr>
              <a:t>D</a:t>
            </a:r>
            <a:r>
              <a:rPr lang="en-US" altLang="zh-CN" sz="2100" b="1">
                <a:latin typeface="宋体" panose="02010600030101010101" pitchFamily="2" charset="-122"/>
              </a:rPr>
              <a:t>3</a:t>
            </a:r>
            <a:r>
              <a:rPr lang="zh-CN" altLang="en-US" sz="2600" b="1">
                <a:latin typeface="宋体" panose="02010600030101010101" pitchFamily="2" charset="-122"/>
              </a:rPr>
              <a:t>和</a:t>
            </a:r>
            <a:r>
              <a:rPr lang="en-US" altLang="zh-CN" sz="2600" b="1">
                <a:latin typeface="宋体" panose="02010600030101010101" pitchFamily="2" charset="-122"/>
              </a:rPr>
              <a:t>D</a:t>
            </a:r>
            <a:r>
              <a:rPr lang="en-US" altLang="zh-CN" sz="2100" b="1">
                <a:latin typeface="宋体" panose="02010600030101010101" pitchFamily="2" charset="-122"/>
              </a:rPr>
              <a:t>0</a:t>
            </a:r>
            <a:r>
              <a:rPr lang="zh-CN" altLang="en-US" sz="2600" b="1" dirty="0">
                <a:latin typeface="宋体" panose="02010600030101010101" pitchFamily="2" charset="-122"/>
              </a:rPr>
              <a:t>位求反，其他不变</a:t>
            </a:r>
          </a:p>
          <a:p>
            <a:pPr marL="0" indent="184150" defTabSz="914400">
              <a:lnSpc>
                <a:spcPct val="90000"/>
              </a:lnSpc>
              <a:buNone/>
              <a:tabLst>
                <a:tab pos="2473325" algn="l"/>
              </a:tabLst>
            </a:pPr>
            <a:r>
              <a:rPr lang="en-US" altLang="zh-CN" sz="2600" b="1" err="1">
                <a:solidFill>
                  <a:srgbClr val="009900"/>
                </a:solidFill>
                <a:latin typeface="宋体" panose="02010600030101010101" pitchFamily="2" charset="-122"/>
              </a:rPr>
              <a:t>xor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bl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, 00001001B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638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测试指令</a:t>
            </a:r>
            <a:r>
              <a:rPr lang="en-US" altLang="zh-CN"/>
              <a:t>TEST</a:t>
            </a:r>
          </a:p>
        </p:txBody>
      </p:sp>
      <p:sp>
        <p:nvSpPr>
          <p:cNvPr id="21506" name="文本占位符 16386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925512"/>
          </a:xfrm>
          <a:gradFill rotWithShape="1">
            <a:gsLst>
              <a:gs pos="0">
                <a:srgbClr val="66FFFF"/>
              </a:gs>
              <a:gs pos="100000">
                <a:schemeClr val="bg1"/>
              </a:gs>
            </a:gsLst>
            <a:lin ang="5400000" scaled="1"/>
            <a:tileRect/>
          </a:gradFill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dirty="0"/>
              <a:t>对两个操作数执行逻辑与运算，</a:t>
            </a:r>
            <a:r>
              <a:rPr lang="zh-CN" altLang="en-US" sz="2600" dirty="0">
                <a:solidFill>
                  <a:srgbClr val="0000FF"/>
                </a:solidFill>
              </a:rPr>
              <a:t>结果不回送到目的操作数</a:t>
            </a:r>
          </a:p>
        </p:txBody>
      </p:sp>
      <p:sp>
        <p:nvSpPr>
          <p:cNvPr id="21507" name="矩形 16387"/>
          <p:cNvSpPr/>
          <p:nvPr/>
        </p:nvSpPr>
        <p:spPr>
          <a:xfrm>
            <a:off x="609600" y="5334000"/>
            <a:ext cx="75438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AND</a:t>
            </a:r>
            <a:r>
              <a:rPr lang="zh-CN" altLang="en-US" sz="26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指令设置</a:t>
            </a:r>
            <a:r>
              <a:rPr lang="en-US" altLang="zh-CN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CF = OF = 0</a:t>
            </a:r>
            <a:r>
              <a:rPr lang="zh-CN" altLang="en-US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6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根据结果设置</a:t>
            </a:r>
            <a:r>
              <a:rPr lang="en-US" altLang="zh-CN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SF</a:t>
            </a:r>
            <a:r>
              <a:rPr lang="zh-CN" altLang="en-US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ZF</a:t>
            </a:r>
            <a:r>
              <a:rPr lang="zh-CN" altLang="en-US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PF</a:t>
            </a:r>
            <a:r>
              <a:rPr lang="zh-CN" altLang="en-US" sz="26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状态，而对</a:t>
            </a:r>
            <a:r>
              <a:rPr lang="en-US" altLang="zh-CN" sz="26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AF</a:t>
            </a:r>
            <a:r>
              <a:rPr lang="zh-CN" altLang="en-US" sz="26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未定义</a:t>
            </a:r>
            <a:endParaRPr lang="zh-CN" altLang="en-US" sz="2100" b="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1508" name="组合 16388"/>
          <p:cNvGrpSpPr/>
          <p:nvPr/>
        </p:nvGrpSpPr>
        <p:grpSpPr>
          <a:xfrm>
            <a:off x="457200" y="2590800"/>
            <a:ext cx="8153400" cy="1265238"/>
            <a:chOff x="336" y="1747"/>
            <a:chExt cx="5136" cy="797"/>
          </a:xfrm>
        </p:grpSpPr>
        <p:sp>
          <p:nvSpPr>
            <p:cNvPr id="21509" name="流程图: 可选过程 16389"/>
            <p:cNvSpPr/>
            <p:nvPr/>
          </p:nvSpPr>
          <p:spPr>
            <a:xfrm>
              <a:off x="336" y="1747"/>
              <a:ext cx="5136" cy="365"/>
            </a:xfrm>
            <a:prstGeom prst="flowChartAlternateProcess">
              <a:avLst/>
            </a:prstGeom>
            <a:gradFill rotWithShape="1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TEST 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reg,imm/reg/mem</a:t>
              </a:r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		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reg</a:t>
              </a:r>
              <a:r>
                <a:rPr lang="en-US" altLang="zh-CN" sz="2400" err="1">
                  <a:solidFill>
                    <a:srgbClr val="0099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imm/reg/mem</a:t>
              </a:r>
              <a:endParaRPr lang="en-US" altLang="zh-CN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10" name="流程图: 可选过程 16390"/>
            <p:cNvSpPr/>
            <p:nvPr/>
          </p:nvSpPr>
          <p:spPr>
            <a:xfrm>
              <a:off x="336" y="2160"/>
              <a:ext cx="4290" cy="384"/>
            </a:xfrm>
            <a:prstGeom prst="flowChartAlternateProcess">
              <a:avLst/>
            </a:prstGeom>
            <a:gradFill rotWithShape="0">
              <a:gsLst>
                <a:gs pos="0">
                  <a:srgbClr val="66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>
              <a:noFill/>
            </a:ln>
            <a:effectLst>
              <a:prstShdw prst="shdw13" dist="53882" dir="13499999">
                <a:srgbClr val="808080"/>
              </a:prstShdw>
            </a:effectLst>
          </p:spPr>
          <p:txBody>
            <a:bodyPr anchor="t" anchorCtr="0"/>
            <a:lstStyle/>
            <a:p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TEST 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mem,imm/reg</a:t>
              </a:r>
              <a:r>
                <a:rPr lang="en-US" altLang="zh-CN" sz="2800">
                  <a:latin typeface="宋体" panose="02010600030101010101" pitchFamily="2" charset="-122"/>
                  <a:ea typeface="宋体" panose="02010600030101010101" pitchFamily="2" charset="-122"/>
                </a:rPr>
                <a:t>	</a:t>
              </a:r>
              <a:r>
                <a:rPr lang="zh-CN" altLang="en-US" sz="2800" dirty="0">
                  <a:latin typeface="宋体" panose="02010600030101010101" pitchFamily="2" charset="-122"/>
                  <a:ea typeface="宋体" panose="02010600030101010101" pitchFamily="2" charset="-122"/>
                </a:rPr>
                <a:t>；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mem</a:t>
              </a:r>
              <a:r>
                <a:rPr lang="en-US" altLang="zh-CN" sz="2400" err="1">
                  <a:solidFill>
                    <a:srgbClr val="0099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∧</a:t>
              </a:r>
              <a:r>
                <a:rPr lang="en-US" altLang="zh-CN" sz="2800" err="1">
                  <a:latin typeface="宋体" panose="02010600030101010101" pitchFamily="2" charset="-122"/>
                  <a:ea typeface="宋体" panose="02010600030101010101" pitchFamily="2" charset="-122"/>
                </a:rPr>
                <a:t>imm/reg</a:t>
              </a:r>
              <a:endParaRPr lang="en-US" altLang="zh-CN" sz="2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6392" name="圆角矩形 16391" descr="画布"/>
          <p:cNvSpPr/>
          <p:nvPr/>
        </p:nvSpPr>
        <p:spPr>
          <a:xfrm>
            <a:off x="914400" y="4114800"/>
            <a:ext cx="7010400" cy="11430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只有相“与”的两位都是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，结果才是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；否则，“与”的结果为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6396" name="椭圆 16395" descr="DI-43">
            <a:hlinkClick r:id="" action="ppaction://noaction"/>
          </p:cNvPr>
          <p:cNvSpPr/>
          <p:nvPr/>
        </p:nvSpPr>
        <p:spPr>
          <a:xfrm>
            <a:off x="7010400" y="381000"/>
            <a:ext cx="914400" cy="914400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TEST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标题 17415"/>
          <p:cNvSpPr>
            <a:spLocks noGrp="1"/>
          </p:cNvSpPr>
          <p:nvPr>
            <p:ph type="title"/>
          </p:nvPr>
        </p:nvSpPr>
        <p:spPr>
          <a:xfrm>
            <a:off x="1295400" y="762000"/>
            <a:ext cx="39624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3.1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：测试为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0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或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22530" name="文本占位符 17416"/>
          <p:cNvSpPr>
            <a:spLocks noGrp="1"/>
          </p:cNvSpPr>
          <p:nvPr>
            <p:ph idx="1"/>
          </p:nvPr>
        </p:nvSpPr>
        <p:spPr>
          <a:xfrm>
            <a:off x="762000" y="1447800"/>
            <a:ext cx="7696200" cy="4648200"/>
          </a:xfrm>
          <a:solidFill>
            <a:schemeClr val="bg1"/>
          </a:solidFill>
        </p:spPr>
        <p:txBody>
          <a:bodyPr anchor="t" anchorCtr="0"/>
          <a:lstStyle/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test al,01h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latin typeface="宋体" panose="02010600030101010101" pitchFamily="2" charset="-122"/>
              </a:rPr>
              <a:t>；测试</a:t>
            </a:r>
            <a:r>
              <a:rPr lang="en-US" altLang="zh-CN" sz="2100">
                <a:latin typeface="宋体" panose="02010600030101010101" pitchFamily="2" charset="-122"/>
              </a:rPr>
              <a:t>AL</a:t>
            </a:r>
            <a:r>
              <a:rPr lang="zh-CN" altLang="en-US" sz="2100" dirty="0">
                <a:latin typeface="宋体" panose="02010600030101010101" pitchFamily="2" charset="-122"/>
              </a:rPr>
              <a:t>的最低位</a:t>
            </a:r>
            <a:r>
              <a:rPr lang="en-US" altLang="zh-CN" sz="2100">
                <a:latin typeface="宋体" panose="02010600030101010101" pitchFamily="2" charset="-122"/>
              </a:rPr>
              <a:t>D</a:t>
            </a:r>
            <a:r>
              <a:rPr lang="en-US" altLang="zh-CN" sz="1900">
                <a:latin typeface="宋体" panose="02010600030101010101" pitchFamily="2" charset="-122"/>
              </a:rPr>
              <a:t>0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 err="1">
                <a:solidFill>
                  <a:srgbClr val="0000FF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 there</a:t>
            </a:r>
            <a:r>
              <a:rPr lang="en-US" altLang="zh-CN" sz="21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rgbClr val="009900"/>
                </a:solidFill>
                <a:latin typeface="宋体" panose="02010600030101010101" pitchFamily="2" charset="-122"/>
              </a:rPr>
              <a:t>；标志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ZF=0</a:t>
            </a:r>
            <a:r>
              <a:rPr lang="zh-CN" altLang="en-US" sz="2100">
                <a:solidFill>
                  <a:srgbClr val="009900"/>
                </a:solidFill>
                <a:latin typeface="宋体" panose="02010600030101010101" pitchFamily="2" charset="-122"/>
              </a:rPr>
              <a:t>，即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D</a:t>
            </a:r>
            <a:r>
              <a:rPr lang="en-US" altLang="zh-CN" sz="1900">
                <a:solidFill>
                  <a:srgbClr val="0099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=1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100" dirty="0">
                <a:solidFill>
                  <a:srgbClr val="009900"/>
                </a:solidFill>
                <a:latin typeface="宋体" panose="02010600030101010101" pitchFamily="2" charset="-122"/>
              </a:rPr>
              <a:t>；则程序转移到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there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...	</a:t>
            </a:r>
            <a:r>
              <a:rPr lang="zh-CN" altLang="en-US" sz="2100" dirty="0">
                <a:solidFill>
                  <a:srgbClr val="009900"/>
                </a:solidFill>
                <a:latin typeface="宋体" panose="02010600030101010101" pitchFamily="2" charset="-122"/>
              </a:rPr>
              <a:t>；否则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ZF=1</a:t>
            </a:r>
            <a:r>
              <a:rPr lang="zh-CN" altLang="en-US" sz="2100">
                <a:solidFill>
                  <a:srgbClr val="009900"/>
                </a:solidFill>
                <a:latin typeface="宋体" panose="02010600030101010101" pitchFamily="2" charset="-122"/>
              </a:rPr>
              <a:t>，即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D</a:t>
            </a:r>
            <a:r>
              <a:rPr lang="en-US" altLang="zh-CN" sz="1900">
                <a:solidFill>
                  <a:srgbClr val="0099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100">
                <a:solidFill>
                  <a:srgbClr val="009900"/>
                </a:solidFill>
                <a:latin typeface="宋体" panose="02010600030101010101" pitchFamily="2" charset="-122"/>
              </a:rPr>
              <a:t>=0</a:t>
            </a:r>
            <a:r>
              <a:rPr lang="zh-CN" altLang="en-US" sz="2100">
                <a:solidFill>
                  <a:srgbClr val="0099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100" dirty="0">
                <a:solidFill>
                  <a:srgbClr val="009900"/>
                </a:solidFill>
                <a:latin typeface="宋体" panose="02010600030101010101" pitchFamily="2" charset="-122"/>
              </a:rPr>
              <a:t>顺序执行</a:t>
            </a:r>
          </a:p>
          <a:p>
            <a:pPr marL="0" indent="184150" defTabSz="914400">
              <a:buNone/>
              <a:tabLst>
                <a:tab pos="2473325" algn="l"/>
              </a:tabLst>
            </a:pPr>
            <a:r>
              <a:rPr lang="en-US" altLang="zh-CN" sz="2100">
                <a:solidFill>
                  <a:srgbClr val="0000FF"/>
                </a:solidFill>
                <a:latin typeface="宋体" panose="02010600030101010101" pitchFamily="2" charset="-122"/>
              </a:rPr>
              <a:t>there: ...</a:t>
            </a:r>
          </a:p>
        </p:txBody>
      </p:sp>
      <p:sp>
        <p:nvSpPr>
          <p:cNvPr id="17418" name="圆角矩形 17417" descr="画布"/>
          <p:cNvSpPr/>
          <p:nvPr/>
        </p:nvSpPr>
        <p:spPr>
          <a:xfrm>
            <a:off x="609600" y="4267200"/>
            <a:ext cx="7543800" cy="13716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TEST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指令通常用于检测一些条件是否满足，但又不希望改变原操作数的情况</a:t>
            </a:r>
          </a:p>
        </p:txBody>
      </p:sp>
      <p:sp>
        <p:nvSpPr>
          <p:cNvPr id="17419" name="椭圆 17418" descr="DI-43"/>
          <p:cNvSpPr/>
          <p:nvPr/>
        </p:nvSpPr>
        <p:spPr>
          <a:xfrm>
            <a:off x="76200" y="168275"/>
            <a:ext cx="914400" cy="914400"/>
          </a:xfrm>
          <a:prstGeom prst="ellipse">
            <a:avLst/>
          </a:prstGeom>
          <a:blipFill rotWithShape="0">
            <a:blip r:embed="rId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TEST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843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endParaRPr lang="zh-CN" dirty="0"/>
          </a:p>
        </p:txBody>
      </p:sp>
      <p:sp>
        <p:nvSpPr>
          <p:cNvPr id="18435" name="内容占位符 18434"/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r>
              <a:rPr lang="zh-CN" altLang="en-US" sz="2600" dirty="0"/>
              <a:t>思考：</a:t>
            </a:r>
          </a:p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若要测试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中的第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位是否同时为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，如何实现？</a:t>
            </a:r>
          </a:p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第一步：将第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位翻转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600" b="1" err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xor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ax, 0500h </a:t>
            </a:r>
          </a:p>
          <a:p>
            <a:pPr>
              <a:lnSpc>
                <a:spcPct val="120000"/>
              </a:lnSpc>
            </a:pP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第二步：测试第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位是否同时为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test ax, 0500h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若结果为 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6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则说明以上两位同时为</a:t>
            </a:r>
            <a:r>
              <a:rPr lang="en-US" altLang="zh-CN" sz="2600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9457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移位指令</a:t>
            </a:r>
            <a:r>
              <a:rPr lang="zh-CN" altLang="zh-CN" sz="3000" b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shift</a:t>
            </a:r>
            <a:r>
              <a:rPr lang="zh-CN" altLang="en-US" sz="3000" b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24578" name="文本占位符 19458"/>
          <p:cNvSpPr>
            <a:spLocks noGrp="1"/>
          </p:cNvSpPr>
          <p:nvPr>
            <p:ph idx="1"/>
          </p:nvPr>
        </p:nvSpPr>
        <p:spPr>
          <a:xfrm>
            <a:off x="457200" y="1719263"/>
            <a:ext cx="7543800" cy="996950"/>
          </a:xfrm>
        </p:spPr>
        <p:txBody>
          <a:bodyPr anchor="t" anchorCtr="0"/>
          <a:lstStyle/>
          <a:p>
            <a:r>
              <a:rPr lang="zh-CN" altLang="en-US" sz="2600" b="1" dirty="0">
                <a:ea typeface="楷体" panose="02010609060101010101" pitchFamily="49" charset="-122"/>
              </a:rPr>
              <a:t>将操作数移动一位或多位，分成逻辑移位和算术移位，分别具有左移或右移操作</a:t>
            </a:r>
          </a:p>
        </p:txBody>
      </p:sp>
      <p:sp>
        <p:nvSpPr>
          <p:cNvPr id="19460" name="流程图: 可选过程 19459"/>
          <p:cNvSpPr/>
          <p:nvPr/>
        </p:nvSpPr>
        <p:spPr>
          <a:xfrm>
            <a:off x="457200" y="2743200"/>
            <a:ext cx="8153400" cy="1143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SHL reg/mem,1/CL</a:t>
            </a:r>
          </a:p>
          <a:p>
            <a:pPr algn="r"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；逻辑左移，最高位进入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最低位补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461" name="流程图: 可选过程 19460"/>
          <p:cNvSpPr/>
          <p:nvPr/>
        </p:nvSpPr>
        <p:spPr>
          <a:xfrm>
            <a:off x="457200" y="3429000"/>
            <a:ext cx="8153400" cy="1143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SHR reg/mem,1/CL</a:t>
            </a:r>
          </a:p>
          <a:p>
            <a:pPr algn="r"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；逻辑右移，最低位进入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最高位补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462" name="流程图: 可选过程 19461"/>
          <p:cNvSpPr/>
          <p:nvPr/>
        </p:nvSpPr>
        <p:spPr>
          <a:xfrm>
            <a:off x="457200" y="4114800"/>
            <a:ext cx="8153400" cy="1143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SAL reg/mem,1/CL</a:t>
            </a:r>
          </a:p>
          <a:p>
            <a:pPr algn="r"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；算术左移，最高位进入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最低位补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9463" name="流程图: 可选过程 19462"/>
          <p:cNvSpPr/>
          <p:nvPr/>
        </p:nvSpPr>
        <p:spPr>
          <a:xfrm>
            <a:off x="457200" y="4800600"/>
            <a:ext cx="8153400" cy="11430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SAR reg/mem,1/CL</a:t>
            </a:r>
          </a:p>
          <a:p>
            <a:pPr algn="r">
              <a:lnSpc>
                <a:spcPct val="110000"/>
              </a:lnSpc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；算术右移，最低位进入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CF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最高位不变</a:t>
            </a:r>
          </a:p>
        </p:txBody>
      </p:sp>
      <p:sp>
        <p:nvSpPr>
          <p:cNvPr id="19464" name="右弧形箭头 19463"/>
          <p:cNvSpPr/>
          <p:nvPr/>
        </p:nvSpPr>
        <p:spPr>
          <a:xfrm>
            <a:off x="3708400" y="2971800"/>
            <a:ext cx="1066800" cy="1752600"/>
          </a:xfrm>
          <a:prstGeom prst="curvedLeftArrow">
            <a:avLst>
              <a:gd name="adj1" fmla="val 14884"/>
              <a:gd name="adj2" fmla="val 53872"/>
              <a:gd name="adj3" fmla="val 2722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just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矩形 19464"/>
          <p:cNvSpPr/>
          <p:nvPr/>
        </p:nvSpPr>
        <p:spPr>
          <a:xfrm>
            <a:off x="5003800" y="3429000"/>
            <a:ext cx="2362200" cy="609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t" anchorCtr="0"/>
          <a:lstStyle/>
          <a:p>
            <a:pPr marL="342900" indent="-342900" algn="ctr">
              <a:lnSpc>
                <a:spcPct val="11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</a:pPr>
            <a:r>
              <a:rPr lang="en-US" altLang="zh-CN" sz="21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SAL</a:t>
            </a:r>
            <a:r>
              <a:rPr lang="zh-CN" altLang="en-US" sz="21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100" b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SHL</a:t>
            </a:r>
            <a:r>
              <a:rPr lang="zh-CN" altLang="en-US" sz="2100" b="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相同</a:t>
            </a:r>
            <a:endParaRPr lang="zh-CN" altLang="en-US" sz="2600" b="0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37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1" grpId="0" animBg="1"/>
      <p:bldP spid="19462" grpId="0" animBg="1"/>
      <p:bldP spid="19463" grpId="0" animBg="1"/>
      <p:bldP spid="1946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2048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移位指令的操作数</a:t>
            </a:r>
          </a:p>
        </p:txBody>
      </p:sp>
      <p:sp>
        <p:nvSpPr>
          <p:cNvPr id="25602" name="文本占位符 20482"/>
          <p:cNvSpPr>
            <a:spLocks noGrp="1"/>
          </p:cNvSpPr>
          <p:nvPr>
            <p:ph idx="1"/>
          </p:nvPr>
        </p:nvSpPr>
        <p:spPr>
          <a:xfrm>
            <a:off x="457200" y="1719263"/>
            <a:ext cx="8382000" cy="4411662"/>
          </a:xfrm>
        </p:spPr>
        <p:txBody>
          <a:bodyPr anchor="t" anchorCtr="0"/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移位指令的第一个操作数是指定的被移位的操作数，可以是寄存器或存储单元</a:t>
            </a:r>
          </a:p>
          <a:p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后一个操作数表示移位位数</a:t>
            </a:r>
          </a:p>
          <a:p>
            <a:pPr>
              <a:buNone/>
            </a:pP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，表示移动一位；</a:t>
            </a:r>
          </a:p>
          <a:p>
            <a:pPr>
              <a:buNone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） 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</a:t>
            </a:r>
            <a:r>
              <a:rPr lang="zh-CN" altLang="en-US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移位位数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大于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，用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CL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寄存器值表示</a:t>
            </a:r>
            <a:endParaRPr lang="zh-CN" altLang="en-US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2150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移位指令对标志的影响</a:t>
            </a:r>
          </a:p>
        </p:txBody>
      </p:sp>
      <p:sp>
        <p:nvSpPr>
          <p:cNvPr id="26626" name="文本占位符 21506"/>
          <p:cNvSpPr>
            <a:spLocks noGrp="1"/>
          </p:cNvSpPr>
          <p:nvPr>
            <p:ph idx="1"/>
          </p:nvPr>
        </p:nvSpPr>
        <p:spPr>
          <a:xfrm>
            <a:off x="457200" y="1719263"/>
            <a:ext cx="7543800" cy="4411662"/>
          </a:xfrm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按照移入的位设置进位标志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</a:p>
          <a:p>
            <a:pPr>
              <a:lnSpc>
                <a:spcPct val="90000"/>
              </a:lnSpc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根据移位后的结果影响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SF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ZF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PF</a:t>
            </a:r>
          </a:p>
          <a:p>
            <a:pPr>
              <a:lnSpc>
                <a:spcPct val="90000"/>
              </a:lnSpc>
            </a:pP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AF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没有定义</a:t>
            </a:r>
          </a:p>
          <a:p>
            <a:pPr>
              <a:lnSpc>
                <a:spcPct val="90000"/>
              </a:lnSpc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如果进行一位移动，则按照操作数的最高符号位是否改变，相应设置溢出标志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如果移位前的操作数最高位与移位后操作数的最高位不同（有变化），则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 = 1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；否则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 = 0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当移位次数大于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不确定</a:t>
            </a:r>
          </a:p>
        </p:txBody>
      </p: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标题 22535"/>
          <p:cNvSpPr>
            <a:spLocks noGrp="1"/>
          </p:cNvSpPr>
          <p:nvPr>
            <p:ph type="title"/>
          </p:nvPr>
        </p:nvSpPr>
        <p:spPr>
          <a:xfrm>
            <a:off x="1143000" y="609600"/>
            <a:ext cx="35814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：移位指令</a:t>
            </a:r>
          </a:p>
        </p:txBody>
      </p:sp>
      <p:sp>
        <p:nvSpPr>
          <p:cNvPr id="27650" name="文本占位符 22536"/>
          <p:cNvSpPr>
            <a:spLocks noGrp="1"/>
          </p:cNvSpPr>
          <p:nvPr>
            <p:ph idx="1"/>
          </p:nvPr>
        </p:nvSpPr>
        <p:spPr>
          <a:xfrm>
            <a:off x="685800" y="1981200"/>
            <a:ext cx="6781800" cy="4038600"/>
          </a:xfrm>
          <a:solidFill>
            <a:schemeClr val="bg1"/>
          </a:solidFill>
        </p:spPr>
        <p:txBody>
          <a:bodyPr anchor="t" anchorCtr="0"/>
          <a:lstStyle/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cl,4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al,0f0h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al=f0h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shl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 al,1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al=e0h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CF=1</a:t>
            </a:r>
            <a:r>
              <a:rPr lang="zh-CN" altLang="en-US" sz="260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SF=1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ZF=0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PF=0</a:t>
            </a:r>
            <a:r>
              <a:rPr lang="zh-CN" altLang="en-US" sz="260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OF=0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shr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 al,1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al=70h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CF=0</a:t>
            </a:r>
            <a:r>
              <a:rPr lang="zh-CN" altLang="en-US" sz="260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SF=0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ZF=0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PF=0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OF=1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sar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 al,1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al=38h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CF=0</a:t>
            </a:r>
            <a:r>
              <a:rPr lang="zh-CN" altLang="en-US" sz="260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SF=0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ZF=0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PF=0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OF=0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sar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al,cl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al=03h</a:t>
            </a:r>
          </a:p>
          <a:p>
            <a:pPr marL="0" indent="390525" defTabSz="914400">
              <a:lnSpc>
                <a:spcPct val="70000"/>
              </a:lnSpc>
              <a:buNone/>
              <a:tabLst>
                <a:tab pos="3342005" algn="l"/>
              </a:tabLst>
            </a:pP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CF=1</a:t>
            </a:r>
            <a:r>
              <a:rPr lang="zh-CN" altLang="en-US" sz="2600">
                <a:latin typeface="宋体" panose="02010600030101010101" pitchFamily="2" charset="-122"/>
              </a:rPr>
              <a:t>，</a:t>
            </a:r>
            <a:r>
              <a:rPr lang="en-US" altLang="zh-CN" sz="2600">
                <a:latin typeface="宋体" panose="02010600030101010101" pitchFamily="2" charset="-122"/>
              </a:rPr>
              <a:t>SF=0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ZF=0</a:t>
            </a:r>
            <a:r>
              <a:rPr lang="zh-CN" altLang="en-US" sz="2600">
                <a:latin typeface="宋体" panose="02010600030101010101" pitchFamily="2" charset="-122"/>
              </a:rPr>
              <a:t>、</a:t>
            </a:r>
            <a:r>
              <a:rPr lang="en-US" altLang="zh-CN" sz="2600">
                <a:latin typeface="宋体" panose="02010600030101010101" pitchFamily="2" charset="-122"/>
              </a:rPr>
              <a:t>PF=1</a:t>
            </a:r>
          </a:p>
        </p:txBody>
      </p:sp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2355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endParaRPr lang="zh-CN" dirty="0"/>
          </a:p>
        </p:txBody>
      </p:sp>
      <p:sp>
        <p:nvSpPr>
          <p:cNvPr id="28674" name="文本占位符 23554"/>
          <p:cNvSpPr>
            <a:spLocks noGrp="1"/>
          </p:cNvSpPr>
          <p:nvPr>
            <p:ph idx="1"/>
          </p:nvPr>
        </p:nvSpPr>
        <p:spPr>
          <a:xfrm>
            <a:off x="381000" y="1981200"/>
            <a:ext cx="8229600" cy="4411663"/>
          </a:xfrm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分析下面每次移位后，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</a:t>
            </a:r>
            <a:r>
              <a:rPr lang="zh-CN" altLang="en-US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中的值各是多少？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MOV AH, 11H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SHL  AH, 1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MOV CL, 2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SHL  AH, CL</a:t>
            </a:r>
          </a:p>
          <a:p>
            <a:pPr>
              <a:lnSpc>
                <a:spcPct val="90000"/>
              </a:lnSpc>
              <a:buNone/>
            </a:pPr>
            <a:endParaRPr lang="en-US" altLang="zh-CN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b="1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思考：左移一位相当于乘以几？</a:t>
            </a:r>
            <a:endParaRPr lang="zh-CN" altLang="en-US" b="1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4" name="标题 24583"/>
          <p:cNvSpPr>
            <a:spLocks noGrp="1"/>
          </p:cNvSpPr>
          <p:nvPr>
            <p:ph type="title"/>
          </p:nvPr>
        </p:nvSpPr>
        <p:spPr>
          <a:xfrm>
            <a:off x="1066800" y="609600"/>
            <a:ext cx="4191000" cy="5937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3.3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：移位实现乘</a:t>
            </a:r>
          </a:p>
        </p:txBody>
      </p:sp>
      <p:sp>
        <p:nvSpPr>
          <p:cNvPr id="29698" name="文本占位符 24584"/>
          <p:cNvSpPr>
            <a:spLocks noGrp="1"/>
          </p:cNvSpPr>
          <p:nvPr>
            <p:ph idx="1"/>
          </p:nvPr>
        </p:nvSpPr>
        <p:spPr>
          <a:xfrm>
            <a:off x="762000" y="1447800"/>
            <a:ext cx="7696200" cy="4648200"/>
          </a:xfrm>
          <a:solidFill>
            <a:schemeClr val="bg1"/>
          </a:solidFill>
        </p:spPr>
        <p:txBody>
          <a:bodyPr anchor="t" anchorCtr="0"/>
          <a:lstStyle/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si,ax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shl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 si,1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si←2×ax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add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si,ax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si←3×ax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dx,bx</a:t>
            </a:r>
            <a:endParaRPr lang="en-US" altLang="zh-CN" sz="260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 cl,03h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shl</a:t>
            </a:r>
            <a:r>
              <a:rPr lang="en-US" altLang="zh-CN" sz="2600">
                <a:solidFill>
                  <a:srgbClr val="0099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solidFill>
                  <a:srgbClr val="009900"/>
                </a:solidFill>
                <a:latin typeface="宋体" panose="02010600030101010101" pitchFamily="2" charset="-122"/>
              </a:rPr>
              <a:t>dx,cl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dx←8×bx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sub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dx,bx</a:t>
            </a: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dx←7×bx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>
                <a:solidFill>
                  <a:srgbClr val="0000FF"/>
                </a:solidFill>
                <a:latin typeface="宋体" panose="02010600030101010101" pitchFamily="2" charset="-122"/>
              </a:rPr>
              <a:t>add </a:t>
            </a:r>
            <a:r>
              <a:rPr lang="en-US" altLang="zh-CN" sz="2600" err="1">
                <a:solidFill>
                  <a:srgbClr val="0000FF"/>
                </a:solidFill>
                <a:latin typeface="宋体" panose="02010600030101010101" pitchFamily="2" charset="-122"/>
              </a:rPr>
              <a:t>dx,si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</a:t>
            </a:r>
            <a:r>
              <a:rPr lang="en-US" altLang="zh-CN" sz="2600">
                <a:latin typeface="宋体" panose="02010600030101010101" pitchFamily="2" charset="-122"/>
              </a:rPr>
              <a:t>dx←7×bx</a:t>
            </a:r>
            <a:r>
              <a:rPr lang="zh-CN" altLang="en-US" sz="2600">
                <a:latin typeface="宋体" panose="02010600030101010101" pitchFamily="2" charset="-122"/>
              </a:rPr>
              <a:t>＋</a:t>
            </a:r>
            <a:r>
              <a:rPr lang="en-US" altLang="zh-CN" sz="2600">
                <a:latin typeface="宋体" panose="02010600030101010101" pitchFamily="2" charset="-122"/>
              </a:rPr>
              <a:t>3×ax</a:t>
            </a:r>
          </a:p>
        </p:txBody>
      </p:sp>
      <p:sp>
        <p:nvSpPr>
          <p:cNvPr id="24586" name="圆角矩形 24585" descr="画布"/>
          <p:cNvSpPr/>
          <p:nvPr/>
        </p:nvSpPr>
        <p:spPr>
          <a:xfrm>
            <a:off x="914400" y="5181600"/>
            <a:ext cx="7086600" cy="1371600"/>
          </a:xfrm>
          <a:prstGeom prst="roundRect">
            <a:avLst>
              <a:gd name="adj" fmla="val 16667"/>
            </a:avLst>
          </a:prstGeom>
          <a:blipFill rotWithShape="0">
            <a:blip r:embed="rId2"/>
          </a:blip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just">
              <a:buBlip>
                <a:blip r:embed="rId3"/>
              </a:buBlip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逻辑左移一位相当于无符号数乘以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  <a:p>
            <a:pPr algn="just">
              <a:buBlip>
                <a:blip r:embed="rId3"/>
              </a:buBlip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逻辑右移一位相当于无符号数除以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25601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循环移位指令</a:t>
            </a:r>
            <a:r>
              <a:rPr lang="zh-CN" altLang="zh-CN" sz="3000" b="0">
                <a:solidFill>
                  <a:schemeClr val="tx1"/>
                </a:solidFill>
              </a:rPr>
              <a:t>（</a:t>
            </a:r>
            <a:r>
              <a:rPr lang="en-US" altLang="zh-CN" sz="3000" b="0">
                <a:solidFill>
                  <a:schemeClr val="tx1"/>
                </a:solidFill>
              </a:rPr>
              <a:t>rotate</a:t>
            </a:r>
            <a:r>
              <a:rPr lang="zh-CN" altLang="en-US" sz="3000" b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30722" name="文本占位符 25602"/>
          <p:cNvSpPr>
            <a:spLocks noGrp="1"/>
          </p:cNvSpPr>
          <p:nvPr>
            <p:ph idx="1"/>
          </p:nvPr>
        </p:nvSpPr>
        <p:spPr>
          <a:xfrm>
            <a:off x="457200" y="1719263"/>
            <a:ext cx="7848600" cy="1423987"/>
          </a:xfrm>
        </p:spPr>
        <p:txBody>
          <a:bodyPr anchor="t" anchorCtr="0"/>
          <a:lstStyle/>
          <a:p>
            <a:pPr>
              <a:lnSpc>
                <a:spcPct val="90000"/>
              </a:lnSpc>
            </a:pPr>
            <a:r>
              <a:rPr lang="zh-CN" altLang="en-US" sz="2600" b="1" dirty="0">
                <a:ea typeface="楷体" panose="02010609060101010101" pitchFamily="49" charset="-122"/>
              </a:rPr>
              <a:t>将操作数从一端移出的位返回到另一端形成循环，分成不带进位和带进位，分别具有左移或右移操作</a:t>
            </a:r>
          </a:p>
        </p:txBody>
      </p:sp>
      <p:sp>
        <p:nvSpPr>
          <p:cNvPr id="25604" name="流程图: 可选过程 25603"/>
          <p:cNvSpPr/>
          <p:nvPr/>
        </p:nvSpPr>
        <p:spPr>
          <a:xfrm>
            <a:off x="609600" y="3276600"/>
            <a:ext cx="7239000" cy="6096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ROL reg/mem,1/CL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；不带进位循环左移</a:t>
            </a:r>
          </a:p>
        </p:txBody>
      </p:sp>
      <p:sp>
        <p:nvSpPr>
          <p:cNvPr id="25605" name="流程图: 可选过程 25604"/>
          <p:cNvSpPr/>
          <p:nvPr/>
        </p:nvSpPr>
        <p:spPr>
          <a:xfrm>
            <a:off x="609600" y="3886200"/>
            <a:ext cx="7239000" cy="6096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ROR reg/mem,1/CL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；不带进位循环右移</a:t>
            </a:r>
          </a:p>
        </p:txBody>
      </p:sp>
      <p:sp>
        <p:nvSpPr>
          <p:cNvPr id="25606" name="流程图: 可选过程 25605"/>
          <p:cNvSpPr/>
          <p:nvPr/>
        </p:nvSpPr>
        <p:spPr>
          <a:xfrm>
            <a:off x="609600" y="4495800"/>
            <a:ext cx="7239000" cy="6096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RCL reg/mem,1/CL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；带进位循环左移</a:t>
            </a:r>
          </a:p>
        </p:txBody>
      </p:sp>
      <p:sp>
        <p:nvSpPr>
          <p:cNvPr id="25607" name="流程图: 可选过程 25606"/>
          <p:cNvSpPr/>
          <p:nvPr/>
        </p:nvSpPr>
        <p:spPr>
          <a:xfrm>
            <a:off x="609600" y="5105400"/>
            <a:ext cx="7239000" cy="609600"/>
          </a:xfrm>
          <a:prstGeom prst="flowChartAlternateProcess">
            <a:avLst/>
          </a:prstGeom>
          <a:gradFill rotWithShape="0">
            <a:gsLst>
              <a:gs pos="0">
                <a:srgbClr val="66FFFF"/>
              </a:gs>
              <a:gs pos="100000">
                <a:srgbClr val="FFFFFF"/>
              </a:gs>
            </a:gsLst>
            <a:lin ang="5400000" scaled="1"/>
            <a:tileRect/>
          </a:gradFill>
          <a:ln w="12700">
            <a:noFill/>
          </a:ln>
          <a:effectLst>
            <a:prstShdw prst="shdw13" dist="53882" dir="13499999">
              <a:srgbClr val="808080"/>
            </a:prstShdw>
          </a:effectLst>
        </p:spPr>
        <p:txBody>
          <a:bodyPr anchor="t" anchorCtr="0"/>
          <a:lstStyle/>
          <a:p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RCR reg/mem,1/CL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；带进位循环右移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  <p:bldP spid="25605" grpId="0" animBg="1"/>
      <p:bldP spid="25606" grpId="0" animBg="1"/>
      <p:bldP spid="2560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26625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zh-CN" altLang="en-US" dirty="0"/>
              <a:t>循环移位指令对标志的影响</a:t>
            </a:r>
          </a:p>
        </p:txBody>
      </p:sp>
      <p:sp>
        <p:nvSpPr>
          <p:cNvPr id="31746" name="文本占位符 26626"/>
          <p:cNvSpPr>
            <a:spLocks noGrp="1"/>
          </p:cNvSpPr>
          <p:nvPr>
            <p:ph idx="1"/>
          </p:nvPr>
        </p:nvSpPr>
        <p:spPr>
          <a:xfrm>
            <a:off x="457200" y="1719263"/>
            <a:ext cx="7543800" cy="4411662"/>
          </a:xfrm>
        </p:spPr>
        <p:txBody>
          <a:bodyPr anchor="t" anchorCtr="0"/>
          <a:lstStyle/>
          <a:p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按照指令功能设置进位标志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CF</a:t>
            </a:r>
          </a:p>
          <a:p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不影响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SF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ZF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PF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AF</a:t>
            </a:r>
          </a:p>
          <a:p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如果进行一位移动，则按照操作数的最高符号位是否改变，相应设置溢出标志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如果移位前的操作数最高位与移位后操作数的最高位不同（有变化），则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 = 1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；否则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 = 0</a:t>
            </a:r>
            <a:r>
              <a:rPr lang="zh-CN" altLang="en-US" sz="2600" b="1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当移位次数大于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时，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OF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不确定</a:t>
            </a:r>
          </a:p>
        </p:txBody>
      </p:sp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标题 27655"/>
          <p:cNvSpPr>
            <a:spLocks noGrp="1"/>
          </p:cNvSpPr>
          <p:nvPr>
            <p:ph type="title"/>
          </p:nvPr>
        </p:nvSpPr>
        <p:spPr>
          <a:xfrm>
            <a:off x="1143000" y="685800"/>
            <a:ext cx="41148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3.4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32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位数移位</a:t>
            </a:r>
          </a:p>
        </p:txBody>
      </p:sp>
      <p:sp>
        <p:nvSpPr>
          <p:cNvPr id="32770" name="文本占位符 27656"/>
          <p:cNvSpPr>
            <a:spLocks noGrp="1"/>
          </p:cNvSpPr>
          <p:nvPr>
            <p:ph idx="1"/>
          </p:nvPr>
        </p:nvSpPr>
        <p:spPr>
          <a:xfrm>
            <a:off x="762000" y="1447800"/>
            <a:ext cx="7696200" cy="2057400"/>
          </a:xfrm>
          <a:solidFill>
            <a:schemeClr val="bg1"/>
          </a:solidFill>
        </p:spPr>
        <p:txBody>
          <a:bodyPr anchor="t" anchorCtr="0"/>
          <a:lstStyle/>
          <a:p>
            <a:pPr marL="0" indent="390525" defTabSz="914400">
              <a:buNone/>
              <a:tabLst>
                <a:tab pos="3342005" algn="l"/>
              </a:tabLst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；将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DX.AX</a:t>
            </a:r>
            <a:r>
              <a:rPr lang="zh-CN" altLang="en-US" b="1"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lang="en-US" altLang="zh-CN" b="1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位数值左移一位</a:t>
            </a: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shl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 ax,1</a:t>
            </a: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b="1" err="1">
                <a:solidFill>
                  <a:srgbClr val="0000FF"/>
                </a:solidFill>
                <a:latin typeface="宋体" panose="02010600030101010101" pitchFamily="2" charset="-122"/>
              </a:rPr>
              <a:t>rcl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</a:rPr>
              <a:t> dx,1</a:t>
            </a:r>
          </a:p>
        </p:txBody>
      </p:sp>
      <p:sp>
        <p:nvSpPr>
          <p:cNvPr id="27658" name="任意多边形 27657"/>
          <p:cNvSpPr/>
          <p:nvPr/>
        </p:nvSpPr>
        <p:spPr>
          <a:xfrm>
            <a:off x="3276600" y="2438400"/>
            <a:ext cx="2895600" cy="1295400"/>
          </a:xfrm>
          <a:custGeom>
            <a:avLst/>
            <a:gdLst/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0" t="0" r="0" b="0"/>
            <a:pathLst>
              <a:path w="21600" h="21600" fill="none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  <a:path w="21600" h="21600" stroke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2772" name="组合 27658"/>
          <p:cNvGrpSpPr/>
          <p:nvPr/>
        </p:nvGrpSpPr>
        <p:grpSpPr>
          <a:xfrm>
            <a:off x="1447800" y="3886200"/>
            <a:ext cx="6934200" cy="1844675"/>
            <a:chOff x="912" y="2448"/>
            <a:chExt cx="4368" cy="1162"/>
          </a:xfrm>
        </p:grpSpPr>
        <p:sp>
          <p:nvSpPr>
            <p:cNvPr id="32773" name="矩形 27659"/>
            <p:cNvSpPr/>
            <p:nvPr/>
          </p:nvSpPr>
          <p:spPr>
            <a:xfrm>
              <a:off x="1200" y="3034"/>
              <a:ext cx="139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74" name="直接连接符 27660"/>
            <p:cNvSpPr/>
            <p:nvPr/>
          </p:nvSpPr>
          <p:spPr>
            <a:xfrm>
              <a:off x="1296" y="3178"/>
              <a:ext cx="115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2775" name="直接连接符 27661"/>
            <p:cNvSpPr/>
            <p:nvPr/>
          </p:nvSpPr>
          <p:spPr>
            <a:xfrm>
              <a:off x="1008" y="3178"/>
              <a:ext cx="19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2776" name="直接连接符 27662"/>
            <p:cNvSpPr/>
            <p:nvPr/>
          </p:nvSpPr>
          <p:spPr>
            <a:xfrm>
              <a:off x="1008" y="3178"/>
              <a:ext cx="0" cy="432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7" name="直接连接符 27663"/>
            <p:cNvSpPr/>
            <p:nvPr/>
          </p:nvSpPr>
          <p:spPr>
            <a:xfrm>
              <a:off x="1008" y="3610"/>
              <a:ext cx="2170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8" name="直接连接符 27664"/>
            <p:cNvSpPr/>
            <p:nvPr/>
          </p:nvSpPr>
          <p:spPr>
            <a:xfrm>
              <a:off x="3168" y="3168"/>
              <a:ext cx="0" cy="432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779" name="直接连接符 27665"/>
            <p:cNvSpPr/>
            <p:nvPr/>
          </p:nvSpPr>
          <p:spPr>
            <a:xfrm>
              <a:off x="2592" y="3178"/>
              <a:ext cx="240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2780" name="文本框 27666"/>
            <p:cNvSpPr txBox="1"/>
            <p:nvPr/>
          </p:nvSpPr>
          <p:spPr>
            <a:xfrm>
              <a:off x="1728" y="2698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DX</a:t>
              </a:r>
            </a:p>
          </p:txBody>
        </p:sp>
        <p:sp>
          <p:nvSpPr>
            <p:cNvPr id="32781" name="矩形 27667"/>
            <p:cNvSpPr/>
            <p:nvPr/>
          </p:nvSpPr>
          <p:spPr>
            <a:xfrm>
              <a:off x="3216" y="3024"/>
              <a:ext cx="139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2" name="矩形 27668"/>
            <p:cNvSpPr/>
            <p:nvPr/>
          </p:nvSpPr>
          <p:spPr>
            <a:xfrm>
              <a:off x="2832" y="3024"/>
              <a:ext cx="19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83" name="直接连接符 27669"/>
            <p:cNvSpPr/>
            <p:nvPr/>
          </p:nvSpPr>
          <p:spPr>
            <a:xfrm>
              <a:off x="3312" y="3168"/>
              <a:ext cx="115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2784" name="直接连接符 27670"/>
            <p:cNvSpPr/>
            <p:nvPr/>
          </p:nvSpPr>
          <p:spPr>
            <a:xfrm>
              <a:off x="3024" y="3168"/>
              <a:ext cx="19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2785" name="直接连接符 27671"/>
            <p:cNvSpPr/>
            <p:nvPr/>
          </p:nvSpPr>
          <p:spPr>
            <a:xfrm>
              <a:off x="4608" y="3168"/>
              <a:ext cx="240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2786" name="文本框 27672"/>
            <p:cNvSpPr txBox="1"/>
            <p:nvPr/>
          </p:nvSpPr>
          <p:spPr>
            <a:xfrm>
              <a:off x="3696" y="2688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AX</a:t>
              </a:r>
            </a:p>
          </p:txBody>
        </p:sp>
        <p:sp>
          <p:nvSpPr>
            <p:cNvPr id="32787" name="文本框 27673"/>
            <p:cNvSpPr txBox="1"/>
            <p:nvPr/>
          </p:nvSpPr>
          <p:spPr>
            <a:xfrm>
              <a:off x="2784" y="2784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00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CF</a:t>
              </a:r>
            </a:p>
          </p:txBody>
        </p:sp>
        <p:sp>
          <p:nvSpPr>
            <p:cNvPr id="32788" name="文本框 27674"/>
            <p:cNvSpPr txBox="1"/>
            <p:nvPr/>
          </p:nvSpPr>
          <p:spPr>
            <a:xfrm>
              <a:off x="4896" y="3044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2789" name="左大括号 27675"/>
            <p:cNvSpPr/>
            <p:nvPr/>
          </p:nvSpPr>
          <p:spPr>
            <a:xfrm rot="5400000">
              <a:off x="3744" y="1488"/>
              <a:ext cx="384" cy="2304"/>
            </a:xfrm>
            <a:prstGeom prst="leftBrace">
              <a:avLst>
                <a:gd name="adj1" fmla="val 50500"/>
                <a:gd name="adj2" fmla="val 49866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左大括号 27676"/>
            <p:cNvSpPr/>
            <p:nvPr/>
          </p:nvSpPr>
          <p:spPr>
            <a:xfrm rot="5400000">
              <a:off x="1872" y="1488"/>
              <a:ext cx="384" cy="2304"/>
            </a:xfrm>
            <a:prstGeom prst="leftBrace">
              <a:avLst>
                <a:gd name="adj1" fmla="val 50500"/>
                <a:gd name="adj2" fmla="val 49866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678" name="任意多边形 27677"/>
          <p:cNvSpPr/>
          <p:nvPr/>
        </p:nvSpPr>
        <p:spPr>
          <a:xfrm>
            <a:off x="3200400" y="3128963"/>
            <a:ext cx="76200" cy="1295400"/>
          </a:xfrm>
          <a:custGeom>
            <a:avLst/>
            <a:gdLst/>
            <a:ahLst/>
            <a:cxnLst>
              <a:cxn ang="270">
                <a:pos x="0" y="0"/>
              </a:cxn>
              <a:cxn ang="0">
                <a:pos x="18924" y="11187"/>
              </a:cxn>
              <a:cxn ang="90">
                <a:pos x="0" y="21600"/>
              </a:cxn>
            </a:cxnLst>
            <a:rect l="0" t="0" r="0" b="0"/>
            <a:pathLst>
              <a:path w="18925" h="21600" fill="none">
                <a:moveTo>
                  <a:pt x="0" y="0"/>
                </a:moveTo>
                <a:cubicBezTo>
                  <a:pt x="8153" y="0"/>
                  <a:pt x="15250" y="4517"/>
                  <a:pt x="18926" y="11183"/>
                </a:cubicBezTo>
              </a:path>
              <a:path w="18925" h="21600" stroke="0">
                <a:moveTo>
                  <a:pt x="0" y="0"/>
                </a:moveTo>
                <a:cubicBezTo>
                  <a:pt x="8153" y="0"/>
                  <a:pt x="15250" y="4517"/>
                  <a:pt x="18926" y="11183"/>
                </a:cubicBezTo>
                <a:lnTo>
                  <a:pt x="0" y="21600"/>
                </a:lnTo>
                <a:close/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8" grpId="0" animBg="1"/>
      <p:bldP spid="2767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0" name="标题 28679"/>
          <p:cNvSpPr>
            <a:spLocks noGrp="1"/>
          </p:cNvSpPr>
          <p:nvPr>
            <p:ph type="title"/>
          </p:nvPr>
        </p:nvSpPr>
        <p:spPr>
          <a:xfrm>
            <a:off x="1066800" y="762000"/>
            <a:ext cx="342265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3.5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：位传送</a:t>
            </a:r>
          </a:p>
        </p:txBody>
      </p:sp>
      <p:sp>
        <p:nvSpPr>
          <p:cNvPr id="33794" name="文本占位符 28680"/>
          <p:cNvSpPr>
            <a:spLocks noGrp="1"/>
          </p:cNvSpPr>
          <p:nvPr>
            <p:ph idx="1"/>
          </p:nvPr>
        </p:nvSpPr>
        <p:spPr>
          <a:xfrm>
            <a:off x="762000" y="1447800"/>
            <a:ext cx="7696200" cy="4648200"/>
          </a:xfrm>
          <a:solidFill>
            <a:schemeClr val="bg1"/>
          </a:solidFill>
        </p:spPr>
        <p:txBody>
          <a:bodyPr anchor="t" anchorCtr="0"/>
          <a:lstStyle/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；把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最低位送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BL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最低位，保持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不变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ror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bl,1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endParaRPr lang="en-US" altLang="zh-CN" sz="26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ror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al,1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rcl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bl,1</a:t>
            </a: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endParaRPr lang="en-US" altLang="zh-CN" sz="260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0" indent="390525" defTabSz="914400">
              <a:lnSpc>
                <a:spcPct val="90000"/>
              </a:lnSpc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rol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al,1</a:t>
            </a:r>
          </a:p>
        </p:txBody>
      </p:sp>
      <p:grpSp>
        <p:nvGrpSpPr>
          <p:cNvPr id="33795" name="组合 28681"/>
          <p:cNvGrpSpPr/>
          <p:nvPr/>
        </p:nvGrpSpPr>
        <p:grpSpPr>
          <a:xfrm>
            <a:off x="4495800" y="2105025"/>
            <a:ext cx="3352800" cy="1019175"/>
            <a:chOff x="2832" y="1182"/>
            <a:chExt cx="2112" cy="642"/>
          </a:xfrm>
        </p:grpSpPr>
        <p:sp>
          <p:nvSpPr>
            <p:cNvPr id="33796" name="矩形 28682"/>
            <p:cNvSpPr/>
            <p:nvPr/>
          </p:nvSpPr>
          <p:spPr>
            <a:xfrm>
              <a:off x="3024" y="1422"/>
              <a:ext cx="139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797" name="矩形 28683"/>
            <p:cNvSpPr/>
            <p:nvPr/>
          </p:nvSpPr>
          <p:spPr>
            <a:xfrm>
              <a:off x="4666" y="1422"/>
              <a:ext cx="19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798" name="直接连接符 28684"/>
            <p:cNvSpPr/>
            <p:nvPr/>
          </p:nvSpPr>
          <p:spPr>
            <a:xfrm flipH="1">
              <a:off x="3120" y="1566"/>
              <a:ext cx="115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799" name="直接连接符 28685"/>
            <p:cNvSpPr/>
            <p:nvPr/>
          </p:nvSpPr>
          <p:spPr>
            <a:xfrm flipH="1">
              <a:off x="2832" y="1566"/>
              <a:ext cx="19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00" name="直接连接符 28686"/>
            <p:cNvSpPr/>
            <p:nvPr/>
          </p:nvSpPr>
          <p:spPr>
            <a:xfrm flipH="1">
              <a:off x="4416" y="1566"/>
              <a:ext cx="240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01" name="文本框 28687"/>
            <p:cNvSpPr txBox="1"/>
            <p:nvPr/>
          </p:nvSpPr>
          <p:spPr>
            <a:xfrm>
              <a:off x="3312" y="1182"/>
              <a:ext cx="8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AL</a:t>
              </a:r>
              <a:r>
                <a:rPr lang="zh-CN" altLang="en-US" sz="2000"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BL</a:t>
              </a:r>
            </a:p>
          </p:txBody>
        </p:sp>
        <p:sp>
          <p:nvSpPr>
            <p:cNvPr id="33802" name="文本框 28688"/>
            <p:cNvSpPr txBox="1"/>
            <p:nvPr/>
          </p:nvSpPr>
          <p:spPr>
            <a:xfrm>
              <a:off x="4614" y="1204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00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CF</a:t>
              </a:r>
            </a:p>
          </p:txBody>
        </p:sp>
        <p:sp>
          <p:nvSpPr>
            <p:cNvPr id="33803" name="直接连接符 28689"/>
            <p:cNvSpPr/>
            <p:nvPr/>
          </p:nvSpPr>
          <p:spPr>
            <a:xfrm>
              <a:off x="2832" y="1824"/>
              <a:ext cx="1680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3804" name="组合 28690"/>
            <p:cNvGrpSpPr/>
            <p:nvPr/>
          </p:nvGrpSpPr>
          <p:grpSpPr>
            <a:xfrm>
              <a:off x="2842" y="1566"/>
              <a:ext cx="1660" cy="258"/>
              <a:chOff x="2842" y="1566"/>
              <a:chExt cx="1660" cy="432"/>
            </a:xfrm>
          </p:grpSpPr>
          <p:sp>
            <p:nvSpPr>
              <p:cNvPr id="33805" name="直接连接符 28691"/>
              <p:cNvSpPr/>
              <p:nvPr/>
            </p:nvSpPr>
            <p:spPr>
              <a:xfrm>
                <a:off x="2842" y="1566"/>
                <a:ext cx="0" cy="43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6" name="直接连接符 28692"/>
              <p:cNvSpPr/>
              <p:nvPr/>
            </p:nvSpPr>
            <p:spPr>
              <a:xfrm>
                <a:off x="4502" y="1566"/>
                <a:ext cx="0" cy="43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3807" name="组合 28693"/>
          <p:cNvGrpSpPr/>
          <p:nvPr/>
        </p:nvGrpSpPr>
        <p:grpSpPr>
          <a:xfrm>
            <a:off x="4343400" y="3565525"/>
            <a:ext cx="3505200" cy="1006475"/>
            <a:chOff x="2544" y="2168"/>
            <a:chExt cx="2208" cy="634"/>
          </a:xfrm>
        </p:grpSpPr>
        <p:sp>
          <p:nvSpPr>
            <p:cNvPr id="33808" name="矩形 28694"/>
            <p:cNvSpPr/>
            <p:nvPr/>
          </p:nvSpPr>
          <p:spPr>
            <a:xfrm>
              <a:off x="2736" y="2400"/>
              <a:ext cx="139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09" name="直接连接符 28695"/>
            <p:cNvSpPr/>
            <p:nvPr/>
          </p:nvSpPr>
          <p:spPr>
            <a:xfrm>
              <a:off x="2832" y="2544"/>
              <a:ext cx="115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10" name="直接连接符 28696"/>
            <p:cNvSpPr/>
            <p:nvPr/>
          </p:nvSpPr>
          <p:spPr>
            <a:xfrm>
              <a:off x="2544" y="2544"/>
              <a:ext cx="19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11" name="直接连接符 28697"/>
            <p:cNvSpPr/>
            <p:nvPr/>
          </p:nvSpPr>
          <p:spPr>
            <a:xfrm>
              <a:off x="2544" y="2794"/>
              <a:ext cx="2208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12" name="直接连接符 28698"/>
            <p:cNvSpPr/>
            <p:nvPr/>
          </p:nvSpPr>
          <p:spPr>
            <a:xfrm>
              <a:off x="4128" y="2544"/>
              <a:ext cx="240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13" name="文本框 28699"/>
            <p:cNvSpPr txBox="1"/>
            <p:nvPr/>
          </p:nvSpPr>
          <p:spPr>
            <a:xfrm>
              <a:off x="3264" y="2168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BL</a:t>
              </a:r>
            </a:p>
          </p:txBody>
        </p:sp>
        <p:sp>
          <p:nvSpPr>
            <p:cNvPr id="33814" name="矩形 28700"/>
            <p:cNvSpPr/>
            <p:nvPr/>
          </p:nvSpPr>
          <p:spPr>
            <a:xfrm>
              <a:off x="4368" y="2390"/>
              <a:ext cx="19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15" name="直接连接符 28701"/>
            <p:cNvSpPr/>
            <p:nvPr/>
          </p:nvSpPr>
          <p:spPr>
            <a:xfrm>
              <a:off x="4560" y="2534"/>
              <a:ext cx="19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16" name="文本框 28702"/>
            <p:cNvSpPr txBox="1"/>
            <p:nvPr/>
          </p:nvSpPr>
          <p:spPr>
            <a:xfrm>
              <a:off x="4310" y="2170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00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CF</a:t>
              </a:r>
            </a:p>
          </p:txBody>
        </p:sp>
        <p:grpSp>
          <p:nvGrpSpPr>
            <p:cNvPr id="33817" name="组合 28703"/>
            <p:cNvGrpSpPr/>
            <p:nvPr/>
          </p:nvGrpSpPr>
          <p:grpSpPr>
            <a:xfrm>
              <a:off x="2544" y="2544"/>
              <a:ext cx="2208" cy="258"/>
              <a:chOff x="2842" y="1566"/>
              <a:chExt cx="1660" cy="432"/>
            </a:xfrm>
          </p:grpSpPr>
          <p:sp>
            <p:nvSpPr>
              <p:cNvPr id="33818" name="直接连接符 28704"/>
              <p:cNvSpPr/>
              <p:nvPr/>
            </p:nvSpPr>
            <p:spPr>
              <a:xfrm>
                <a:off x="2842" y="1566"/>
                <a:ext cx="0" cy="43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9" name="直接连接符 28705"/>
              <p:cNvSpPr/>
              <p:nvPr/>
            </p:nvSpPr>
            <p:spPr>
              <a:xfrm>
                <a:off x="4502" y="1566"/>
                <a:ext cx="0" cy="43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3820" name="组合 28706"/>
          <p:cNvGrpSpPr/>
          <p:nvPr/>
        </p:nvGrpSpPr>
        <p:grpSpPr>
          <a:xfrm>
            <a:off x="4191000" y="4924425"/>
            <a:ext cx="3505200" cy="1019175"/>
            <a:chOff x="2160" y="2928"/>
            <a:chExt cx="2208" cy="642"/>
          </a:xfrm>
        </p:grpSpPr>
        <p:sp>
          <p:nvSpPr>
            <p:cNvPr id="33821" name="矩形 28707"/>
            <p:cNvSpPr/>
            <p:nvPr/>
          </p:nvSpPr>
          <p:spPr>
            <a:xfrm>
              <a:off x="2736" y="3168"/>
              <a:ext cx="139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22" name="直接连接符 28708"/>
            <p:cNvSpPr/>
            <p:nvPr/>
          </p:nvSpPr>
          <p:spPr>
            <a:xfrm>
              <a:off x="2832" y="3312"/>
              <a:ext cx="1152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23" name="直接连接符 28709"/>
            <p:cNvSpPr/>
            <p:nvPr/>
          </p:nvSpPr>
          <p:spPr>
            <a:xfrm>
              <a:off x="2400" y="3312"/>
              <a:ext cx="336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24" name="直接连接符 28710"/>
            <p:cNvSpPr/>
            <p:nvPr/>
          </p:nvSpPr>
          <p:spPr>
            <a:xfrm>
              <a:off x="2544" y="3562"/>
              <a:ext cx="1824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825" name="直接连接符 28711"/>
            <p:cNvSpPr/>
            <p:nvPr/>
          </p:nvSpPr>
          <p:spPr>
            <a:xfrm>
              <a:off x="4128" y="3312"/>
              <a:ext cx="240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3826" name="文本框 28712"/>
            <p:cNvSpPr txBox="1"/>
            <p:nvPr/>
          </p:nvSpPr>
          <p:spPr>
            <a:xfrm>
              <a:off x="3264" y="2928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AL</a:t>
              </a:r>
            </a:p>
          </p:txBody>
        </p:sp>
        <p:sp>
          <p:nvSpPr>
            <p:cNvPr id="33827" name="矩形 28713"/>
            <p:cNvSpPr/>
            <p:nvPr/>
          </p:nvSpPr>
          <p:spPr>
            <a:xfrm>
              <a:off x="2208" y="3168"/>
              <a:ext cx="192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28" name="文本框 28714"/>
            <p:cNvSpPr txBox="1"/>
            <p:nvPr/>
          </p:nvSpPr>
          <p:spPr>
            <a:xfrm>
              <a:off x="2160" y="2958"/>
              <a:ext cx="3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en-US" altLang="zh-CN" sz="200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CF</a:t>
              </a:r>
            </a:p>
          </p:txBody>
        </p:sp>
        <p:grpSp>
          <p:nvGrpSpPr>
            <p:cNvPr id="33829" name="组合 28715"/>
            <p:cNvGrpSpPr/>
            <p:nvPr/>
          </p:nvGrpSpPr>
          <p:grpSpPr>
            <a:xfrm>
              <a:off x="2544" y="3312"/>
              <a:ext cx="1824" cy="258"/>
              <a:chOff x="2842" y="1566"/>
              <a:chExt cx="1660" cy="432"/>
            </a:xfrm>
          </p:grpSpPr>
          <p:sp>
            <p:nvSpPr>
              <p:cNvPr id="33830" name="直接连接符 28716"/>
              <p:cNvSpPr/>
              <p:nvPr/>
            </p:nvSpPr>
            <p:spPr>
              <a:xfrm>
                <a:off x="2842" y="1566"/>
                <a:ext cx="0" cy="43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31" name="直接连接符 28717"/>
              <p:cNvSpPr/>
              <p:nvPr/>
            </p:nvSpPr>
            <p:spPr>
              <a:xfrm>
                <a:off x="4502" y="1566"/>
                <a:ext cx="0" cy="43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28719" name="文本框 28718"/>
          <p:cNvSpPr txBox="1"/>
          <p:nvPr/>
        </p:nvSpPr>
        <p:spPr>
          <a:xfrm>
            <a:off x="7162800" y="3098800"/>
            <a:ext cx="1260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之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8720" name="直接连接符 28719"/>
          <p:cNvSpPr/>
          <p:nvPr/>
        </p:nvSpPr>
        <p:spPr>
          <a:xfrm flipH="1" flipV="1">
            <a:off x="7543800" y="2743200"/>
            <a:ext cx="533400" cy="3810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28721" name="直接连接符 28720"/>
          <p:cNvSpPr/>
          <p:nvPr/>
        </p:nvSpPr>
        <p:spPr>
          <a:xfrm flipH="1" flipV="1">
            <a:off x="4876800" y="2743200"/>
            <a:ext cx="2209800" cy="569913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28722" name="直接连接符 28721"/>
          <p:cNvSpPr/>
          <p:nvPr/>
        </p:nvSpPr>
        <p:spPr>
          <a:xfrm flipH="1">
            <a:off x="7391400" y="3505200"/>
            <a:ext cx="533400" cy="5334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28723" name="直接连接符 28722"/>
          <p:cNvSpPr/>
          <p:nvPr/>
        </p:nvSpPr>
        <p:spPr>
          <a:xfrm>
            <a:off x="4876800" y="2819400"/>
            <a:ext cx="2362200" cy="23622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oval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2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" dur="500"/>
                                        <p:tgtEl>
                                          <p:spTgt spid="2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4" name="标题 29703"/>
          <p:cNvSpPr>
            <a:spLocks noGrp="1"/>
          </p:cNvSpPr>
          <p:nvPr>
            <p:ph type="title"/>
          </p:nvPr>
        </p:nvSpPr>
        <p:spPr>
          <a:xfrm>
            <a:off x="1066800" y="838200"/>
            <a:ext cx="4114800" cy="517525"/>
          </a:xfrm>
          <a:prstGeom prst="flowChartAlternateProcess">
            <a:avLst/>
          </a:prstGeom>
          <a:ln w="28575">
            <a:solidFill>
              <a:schemeClr val="accent1"/>
            </a:solidFill>
            <a:miter/>
          </a:ln>
        </p:spPr>
        <p:txBody>
          <a:bodyPr anchor="b" anchorCtr="0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  <a:r>
              <a:rPr kumimoji="0" 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6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：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BCD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码合并</a:t>
            </a:r>
          </a:p>
        </p:txBody>
      </p:sp>
      <p:sp>
        <p:nvSpPr>
          <p:cNvPr id="34818" name="文本占位符 29704"/>
          <p:cNvSpPr>
            <a:spLocks noGrp="1"/>
          </p:cNvSpPr>
          <p:nvPr>
            <p:ph idx="1"/>
          </p:nvPr>
        </p:nvSpPr>
        <p:spPr>
          <a:xfrm>
            <a:off x="762000" y="1905000"/>
            <a:ext cx="7696200" cy="4648200"/>
          </a:xfrm>
          <a:solidFill>
            <a:schemeClr val="bg1"/>
          </a:solidFill>
        </p:spPr>
        <p:txBody>
          <a:bodyPr anchor="t" anchorCtr="0"/>
          <a:lstStyle/>
          <a:p>
            <a:pPr marL="0" indent="390525" defTabSz="914400">
              <a:buNone/>
              <a:tabLst>
                <a:tab pos="3342005" algn="l"/>
              </a:tabLst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AH.AL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分别存放着非压缩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码的两位</a:t>
            </a: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；将它们合并成为一个压缩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BCD</a:t>
            </a:r>
            <a:r>
              <a:rPr lang="zh-CN" altLang="en-US" sz="2600" b="1" dirty="0">
                <a:latin typeface="楷体" panose="02010609060101010101" pitchFamily="49" charset="-122"/>
                <a:ea typeface="楷体" panose="02010609060101010101" pitchFamily="49" charset="-122"/>
              </a:rPr>
              <a:t>码存</a:t>
            </a:r>
            <a:r>
              <a:rPr lang="en-US" altLang="zh-CN" sz="2600" b="1">
                <a:latin typeface="楷体" panose="02010609060101010101" pitchFamily="49" charset="-122"/>
                <a:ea typeface="楷体" panose="02010609060101010101" pitchFamily="49" charset="-122"/>
              </a:rPr>
              <a:t>AL</a:t>
            </a: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and ax,0f0fh</a:t>
            </a:r>
            <a:r>
              <a:rPr lang="en-US" altLang="zh-CN" sz="2600">
                <a:solidFill>
                  <a:schemeClr val="accent2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；保证高</a:t>
            </a:r>
            <a:r>
              <a:rPr lang="en-US" altLang="zh-CN" sz="2600">
                <a:latin typeface="宋体" panose="02010600030101010101" pitchFamily="2" charset="-122"/>
              </a:rPr>
              <a:t>4</a:t>
            </a:r>
            <a:r>
              <a:rPr lang="zh-CN" altLang="en-US" sz="2600" dirty="0">
                <a:latin typeface="宋体" panose="02010600030101010101" pitchFamily="2" charset="-122"/>
              </a:rPr>
              <a:t>位为</a:t>
            </a:r>
            <a:r>
              <a:rPr lang="en-US" altLang="zh-CN" sz="2600">
                <a:latin typeface="宋体" panose="02010600030101010101" pitchFamily="2" charset="-122"/>
              </a:rPr>
              <a:t>0</a:t>
            </a: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cl,4</a:t>
            </a: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rol</a:t>
            </a: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600" b="1" err="1">
                <a:solidFill>
                  <a:srgbClr val="0000FF"/>
                </a:solidFill>
                <a:latin typeface="宋体" panose="02010600030101010101" pitchFamily="2" charset="-122"/>
              </a:rPr>
              <a:t>ah,cl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；也可以用</a:t>
            </a:r>
            <a:r>
              <a:rPr lang="en-US" altLang="zh-CN" sz="2600" err="1">
                <a:latin typeface="宋体" panose="02010600030101010101" pitchFamily="2" charset="-122"/>
              </a:rPr>
              <a:t>shl</a:t>
            </a:r>
            <a:r>
              <a:rPr lang="en-US" altLang="zh-CN" sz="2600">
                <a:latin typeface="宋体" panose="02010600030101010101" pitchFamily="2" charset="-122"/>
              </a:rPr>
              <a:t> </a:t>
            </a:r>
            <a:r>
              <a:rPr lang="en-US" altLang="zh-CN" sz="2600" err="1">
                <a:latin typeface="宋体" panose="02010600030101010101" pitchFamily="2" charset="-122"/>
              </a:rPr>
              <a:t>ah,cl</a:t>
            </a:r>
            <a:endParaRPr lang="en-US" altLang="zh-CN" sz="2600">
              <a:latin typeface="宋体" panose="02010600030101010101" pitchFamily="2" charset="-122"/>
            </a:endParaRPr>
          </a:p>
          <a:p>
            <a:pPr marL="0" indent="390525" defTabSz="914400">
              <a:buNone/>
              <a:tabLst>
                <a:tab pos="3342005" algn="l"/>
              </a:tabLst>
            </a:pPr>
            <a:r>
              <a:rPr lang="en-US" altLang="zh-CN" sz="2600" b="1">
                <a:solidFill>
                  <a:srgbClr val="0000FF"/>
                </a:solidFill>
                <a:latin typeface="宋体" panose="02010600030101010101" pitchFamily="2" charset="-122"/>
              </a:rPr>
              <a:t>add al,ah</a:t>
            </a:r>
            <a:r>
              <a:rPr lang="en-US" altLang="zh-CN" sz="2600">
                <a:latin typeface="宋体" panose="02010600030101010101" pitchFamily="2" charset="-122"/>
              </a:rPr>
              <a:t>	</a:t>
            </a:r>
            <a:r>
              <a:rPr lang="zh-CN" altLang="en-US" sz="2600" dirty="0">
                <a:latin typeface="宋体" panose="02010600030101010101" pitchFamily="2" charset="-122"/>
              </a:rPr>
              <a:t>；也可以用</a:t>
            </a:r>
            <a:r>
              <a:rPr lang="en-US" altLang="zh-CN" sz="2600">
                <a:latin typeface="宋体" panose="02010600030101010101" pitchFamily="2" charset="-122"/>
              </a:rPr>
              <a:t>or al,ah</a:t>
            </a:r>
          </a:p>
        </p:txBody>
      </p:sp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内容占位符 2">
            <a:extLst>
              <a:ext uri="{FF2B5EF4-FFF2-40B4-BE49-F238E27FC236}">
                <a16:creationId xmlns:a16="http://schemas.microsoft.com/office/drawing/2014/main" id="{D832DFA3-EAEA-4F7C-51C7-BB473C077F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2938" y="0"/>
            <a:ext cx="7772400" cy="46863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．移位与循环移位指令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80898" name="Picture 2">
            <a:extLst>
              <a:ext uri="{FF2B5EF4-FFF2-40B4-BE49-F238E27FC236}">
                <a16:creationId xmlns:a16="http://schemas.microsoft.com/office/drawing/2014/main" id="{6A7B9F6E-89A5-D914-76CA-2E673D20B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3" y="928688"/>
            <a:ext cx="4332287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ExNzlkMjFhZjg4ZjExZmExNzU0NmRlZDNmMTA1YmEifQ=="/>
</p:tagLst>
</file>

<file path=ppt/theme/theme1.xml><?xml version="1.0" encoding="utf-8"?>
<a:theme xmlns:a="http://schemas.openxmlformats.org/drawingml/2006/main" name="Network">
  <a:themeElements>
    <a:clrScheme name="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B8989"/>
      </a:accent6>
      <a:hlink>
        <a:srgbClr val="7E9CE8"/>
      </a:hlink>
      <a:folHlink>
        <a:srgbClr val="D8D8EC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C0C0C0"/>
        </a:dk2>
        <a:lt2>
          <a:srgbClr val="4F747B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CDCDC"/>
        </a:accent4>
        <a:accent5>
          <a:srgbClr val="C3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D0B0B"/>
        </a:lt1>
        <a:dk2>
          <a:srgbClr val="FFFFFF"/>
        </a:dk2>
        <a:lt2>
          <a:srgbClr val="3C0000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CDCDC"/>
        </a:accent4>
        <a:accent5>
          <a:srgbClr val="B9B9AD"/>
        </a:accent5>
        <a:accent6>
          <a:srgbClr val="B72D00"/>
        </a:accent6>
        <a:hlink>
          <a:srgbClr val="CC9900"/>
        </a:hlink>
        <a:folHlink>
          <a:srgbClr val="CC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15192B"/>
        </a:lt1>
        <a:dk2>
          <a:srgbClr val="CCCCFF"/>
        </a:dk2>
        <a:lt2>
          <a:srgbClr val="666699"/>
        </a:lt2>
        <a:accent1>
          <a:srgbClr val="4F893D"/>
        </a:accent1>
        <a:accent2>
          <a:srgbClr val="666699"/>
        </a:accent2>
        <a:accent3>
          <a:srgbClr val="AAAAAC"/>
        </a:accent3>
        <a:accent4>
          <a:srgbClr val="DCDCDC"/>
        </a:accent4>
        <a:accent5>
          <a:srgbClr val="B3C4AF"/>
        </a:accent5>
        <a:accent6>
          <a:srgbClr val="5B5B89"/>
        </a:accent6>
        <a:hlink>
          <a:srgbClr val="CC9900"/>
        </a:hlink>
        <a:folHlink>
          <a:srgbClr val="4837C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6001A"/>
        </a:lt1>
        <a:dk2>
          <a:srgbClr val="CCCC66"/>
        </a:dk2>
        <a:lt2>
          <a:srgbClr val="666699"/>
        </a:lt2>
        <a:accent1>
          <a:srgbClr val="FF3300"/>
        </a:accent1>
        <a:accent2>
          <a:srgbClr val="FF6600"/>
        </a:accent2>
        <a:accent3>
          <a:srgbClr val="C3AAAA"/>
        </a:accent3>
        <a:accent4>
          <a:srgbClr val="DCDCDC"/>
        </a:accent4>
        <a:accent5>
          <a:srgbClr val="FFADAA"/>
        </a:accent5>
        <a:accent6>
          <a:srgbClr val="E55B00"/>
        </a:accent6>
        <a:hlink>
          <a:srgbClr val="CC9900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54"/>
        </a:lt1>
        <a:dk2>
          <a:srgbClr val="FFFFFF"/>
        </a:dk2>
        <a:lt2>
          <a:srgbClr val="666699"/>
        </a:lt2>
        <a:accent1>
          <a:srgbClr val="3333FF"/>
        </a:accent1>
        <a:accent2>
          <a:srgbClr val="006699"/>
        </a:accent2>
        <a:accent3>
          <a:srgbClr val="AAAAB4"/>
        </a:accent3>
        <a:accent4>
          <a:srgbClr val="DCDCDC"/>
        </a:accent4>
        <a:accent5>
          <a:srgbClr val="ADADFF"/>
        </a:accent5>
        <a:accent6>
          <a:srgbClr val="005B89"/>
        </a:accent6>
        <a:hlink>
          <a:srgbClr val="669900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0054B"/>
        </a:lt1>
        <a:dk2>
          <a:srgbClr val="FFFFFF"/>
        </a:dk2>
        <a:lt2>
          <a:srgbClr val="808080"/>
        </a:lt2>
        <a:accent1>
          <a:srgbClr val="797B9B"/>
        </a:accent1>
        <a:accent2>
          <a:srgbClr val="6B4FB1"/>
        </a:accent2>
        <a:accent3>
          <a:srgbClr val="ADAAB2"/>
        </a:accent3>
        <a:accent4>
          <a:srgbClr val="DCDCDC"/>
        </a:accent4>
        <a:accent5>
          <a:srgbClr val="BEBFCB"/>
        </a:accent5>
        <a:accent6>
          <a:srgbClr val="5F469E"/>
        </a:accent6>
        <a:hlink>
          <a:srgbClr val="7AACCE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CC"/>
        </a:dk1>
        <a:lt1>
          <a:srgbClr val="29527B"/>
        </a:lt1>
        <a:dk2>
          <a:srgbClr val="FFFFFF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CDCAF"/>
        </a:accent4>
        <a:accent5>
          <a:srgbClr val="E2E2AA"/>
        </a:accent5>
        <a:accent6>
          <a:srgbClr val="5B8989"/>
        </a:accent6>
        <a:hlink>
          <a:srgbClr val="D8D8E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76949"/>
        </a:lt1>
        <a:dk2>
          <a:srgbClr val="FFFFFF"/>
        </a:dk2>
        <a:lt2>
          <a:srgbClr val="666699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CDCDC"/>
        </a:accent4>
        <a:accent5>
          <a:srgbClr val="E2B9AA"/>
        </a:accent5>
        <a:accent6>
          <a:srgbClr val="B78900"/>
        </a:accent6>
        <a:hlink>
          <a:srgbClr val="669900"/>
        </a:hlink>
        <a:folHlink>
          <a:srgbClr val="A452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7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B8989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7</TotalTime>
  <Words>1751</Words>
  <Application>Microsoft Office PowerPoint</Application>
  <PresentationFormat>全屏显示(4:3)</PresentationFormat>
  <Paragraphs>176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黑体</vt:lpstr>
      <vt:lpstr>楷体</vt:lpstr>
      <vt:lpstr>宋体</vt:lpstr>
      <vt:lpstr>Arial</vt:lpstr>
      <vt:lpstr>Times New Roman</vt:lpstr>
      <vt:lpstr>Wingdings</vt:lpstr>
      <vt:lpstr>Network</vt:lpstr>
      <vt:lpstr>3  位操作类指令</vt:lpstr>
      <vt:lpstr>逻辑与指令AND</vt:lpstr>
      <vt:lpstr>逻辑或指令OR</vt:lpstr>
      <vt:lpstr>逻辑异或指令XOR</vt:lpstr>
      <vt:lpstr>逻辑非指令NOT</vt:lpstr>
      <vt:lpstr>例题：逻辑运算</vt:lpstr>
      <vt:lpstr>例题：逻辑指令应用</vt:lpstr>
      <vt:lpstr>例题：逻辑指令应用</vt:lpstr>
      <vt:lpstr>测试指令TEST</vt:lpstr>
      <vt:lpstr>例3.1：测试为0或1</vt:lpstr>
      <vt:lpstr>PowerPoint 演示文稿</vt:lpstr>
      <vt:lpstr>移位指令（shift）</vt:lpstr>
      <vt:lpstr>移位指令的操作数</vt:lpstr>
      <vt:lpstr>移位指令对标志的影响</vt:lpstr>
      <vt:lpstr>例3.2：移位指令</vt:lpstr>
      <vt:lpstr>PowerPoint 演示文稿</vt:lpstr>
      <vt:lpstr>例3.3：移位实现乘</vt:lpstr>
      <vt:lpstr>循环移位指令（rotate）</vt:lpstr>
      <vt:lpstr>循环移位指令对标志的影响</vt:lpstr>
      <vt:lpstr>例3.4：32位数移位</vt:lpstr>
      <vt:lpstr>例3.5：位传送</vt:lpstr>
      <vt:lpstr>例3.6：BCD码合并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 Jia Hui</dc:creator>
  <cp:lastModifiedBy>Zhao Jiahui</cp:lastModifiedBy>
  <cp:revision>10</cp:revision>
  <dcterms:created xsi:type="dcterms:W3CDTF">2012-09-24T03:13:00Z</dcterms:created>
  <dcterms:modified xsi:type="dcterms:W3CDTF">2022-09-21T00:26:28Z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ICV">
    <vt:lpwstr>9619243096584093B162162847005C81</vt:lpwstr>
  </property>
  <property fmtid="{D5CDD505-2E9C-101B-9397-08002B2CF9AE}" pid="4" name="KSOProductBuildVer">
    <vt:lpwstr>2052-11.1.0.12302</vt:lpwstr>
  </property>
</Properties>
</file>