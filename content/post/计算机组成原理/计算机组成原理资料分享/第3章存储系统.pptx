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61"/>
  </p:notesMasterIdLst>
  <p:sldIdLst>
    <p:sldId id="256" r:id="rId4"/>
    <p:sldId id="257" r:id="rId5"/>
    <p:sldId id="555" r:id="rId6"/>
    <p:sldId id="258" r:id="rId7"/>
    <p:sldId id="259" r:id="rId8"/>
    <p:sldId id="717" r:id="rId9"/>
    <p:sldId id="260" r:id="rId10"/>
    <p:sldId id="719" r:id="rId11"/>
    <p:sldId id="263" r:id="rId12"/>
    <p:sldId id="261" r:id="rId13"/>
    <p:sldId id="265" r:id="rId14"/>
    <p:sldId id="267" r:id="rId15"/>
    <p:sldId id="268" r:id="rId16"/>
    <p:sldId id="269" r:id="rId17"/>
    <p:sldId id="721" r:id="rId18"/>
    <p:sldId id="270" r:id="rId19"/>
    <p:sldId id="271" r:id="rId20"/>
    <p:sldId id="272" r:id="rId21"/>
    <p:sldId id="273" r:id="rId22"/>
    <p:sldId id="877" r:id="rId23"/>
    <p:sldId id="274" r:id="rId24"/>
    <p:sldId id="275" r:id="rId25"/>
    <p:sldId id="276" r:id="rId26"/>
    <p:sldId id="277" r:id="rId27"/>
    <p:sldId id="278" r:id="rId28"/>
    <p:sldId id="279" r:id="rId29"/>
    <p:sldId id="280" r:id="rId30"/>
    <p:sldId id="281" r:id="rId31"/>
    <p:sldId id="282" r:id="rId32"/>
    <p:sldId id="283" r:id="rId33"/>
    <p:sldId id="725" r:id="rId34"/>
    <p:sldId id="284" r:id="rId35"/>
    <p:sldId id="723" r:id="rId36"/>
    <p:sldId id="285" r:id="rId37"/>
    <p:sldId id="286" r:id="rId38"/>
    <p:sldId id="287" r:id="rId39"/>
    <p:sldId id="288" r:id="rId40"/>
    <p:sldId id="289" r:id="rId41"/>
    <p:sldId id="290" r:id="rId42"/>
    <p:sldId id="291" r:id="rId43"/>
    <p:sldId id="724" r:id="rId44"/>
    <p:sldId id="720" r:id="rId45"/>
    <p:sldId id="722" r:id="rId46"/>
    <p:sldId id="314" r:id="rId47"/>
    <p:sldId id="315" r:id="rId48"/>
    <p:sldId id="316" r:id="rId49"/>
    <p:sldId id="317" r:id="rId50"/>
    <p:sldId id="320" r:id="rId51"/>
    <p:sldId id="318" r:id="rId52"/>
    <p:sldId id="319" r:id="rId53"/>
    <p:sldId id="321" r:id="rId54"/>
    <p:sldId id="323" r:id="rId55"/>
    <p:sldId id="452" r:id="rId56"/>
    <p:sldId id="324" r:id="rId57"/>
    <p:sldId id="325" r:id="rId58"/>
    <p:sldId id="326" r:id="rId59"/>
    <p:sldId id="327" r:id="rId60"/>
    <p:sldId id="328" r:id="rId61"/>
    <p:sldId id="424" r:id="rId62"/>
    <p:sldId id="1029" r:id="rId63"/>
    <p:sldId id="329" r:id="rId64"/>
    <p:sldId id="330" r:id="rId65"/>
    <p:sldId id="331" r:id="rId66"/>
    <p:sldId id="332" r:id="rId67"/>
    <p:sldId id="333" r:id="rId68"/>
    <p:sldId id="334" r:id="rId69"/>
    <p:sldId id="335" r:id="rId70"/>
    <p:sldId id="339" r:id="rId71"/>
    <p:sldId id="341" r:id="rId72"/>
    <p:sldId id="336" r:id="rId73"/>
    <p:sldId id="337" r:id="rId74"/>
    <p:sldId id="338" r:id="rId75"/>
    <p:sldId id="342" r:id="rId76"/>
    <p:sldId id="343" r:id="rId77"/>
    <p:sldId id="344" r:id="rId78"/>
    <p:sldId id="345" r:id="rId79"/>
    <p:sldId id="346" r:id="rId80"/>
    <p:sldId id="878" r:id="rId81"/>
    <p:sldId id="349" r:id="rId82"/>
    <p:sldId id="350" r:id="rId83"/>
    <p:sldId id="351" r:id="rId84"/>
    <p:sldId id="352" r:id="rId85"/>
    <p:sldId id="353" r:id="rId86"/>
    <p:sldId id="454" r:id="rId87"/>
    <p:sldId id="455" r:id="rId88"/>
    <p:sldId id="470" r:id="rId89"/>
    <p:sldId id="879" r:id="rId90"/>
    <p:sldId id="456" r:id="rId91"/>
    <p:sldId id="457" r:id="rId92"/>
    <p:sldId id="458" r:id="rId93"/>
    <p:sldId id="459" r:id="rId94"/>
    <p:sldId id="460" r:id="rId95"/>
    <p:sldId id="461" r:id="rId96"/>
    <p:sldId id="462" r:id="rId97"/>
    <p:sldId id="463" r:id="rId98"/>
    <p:sldId id="464" r:id="rId99"/>
    <p:sldId id="465" r:id="rId100"/>
    <p:sldId id="466" r:id="rId101"/>
    <p:sldId id="469" r:id="rId102"/>
    <p:sldId id="467" r:id="rId103"/>
    <p:sldId id="468" r:id="rId104"/>
    <p:sldId id="427" r:id="rId105"/>
    <p:sldId id="428" r:id="rId106"/>
    <p:sldId id="429" r:id="rId107"/>
    <p:sldId id="430" r:id="rId108"/>
    <p:sldId id="431" r:id="rId109"/>
    <p:sldId id="432" r:id="rId110"/>
    <p:sldId id="433" r:id="rId111"/>
    <p:sldId id="434" r:id="rId112"/>
    <p:sldId id="435" r:id="rId113"/>
    <p:sldId id="436" r:id="rId114"/>
    <p:sldId id="437" r:id="rId115"/>
    <p:sldId id="438" r:id="rId116"/>
    <p:sldId id="439" r:id="rId117"/>
    <p:sldId id="440" r:id="rId118"/>
    <p:sldId id="441" r:id="rId119"/>
    <p:sldId id="442" r:id="rId120"/>
    <p:sldId id="443" r:id="rId121"/>
    <p:sldId id="444" r:id="rId122"/>
    <p:sldId id="445" r:id="rId123"/>
    <p:sldId id="446" r:id="rId124"/>
    <p:sldId id="447" r:id="rId125"/>
    <p:sldId id="1026" r:id="rId126"/>
    <p:sldId id="1025" r:id="rId127"/>
    <p:sldId id="448" r:id="rId128"/>
    <p:sldId id="449" r:id="rId129"/>
    <p:sldId id="450" r:id="rId130"/>
    <p:sldId id="451" r:id="rId131"/>
    <p:sldId id="398" r:id="rId132"/>
    <p:sldId id="399" r:id="rId133"/>
    <p:sldId id="400" r:id="rId134"/>
    <p:sldId id="1027" r:id="rId135"/>
    <p:sldId id="401" r:id="rId136"/>
    <p:sldId id="1028" r:id="rId137"/>
    <p:sldId id="402" r:id="rId138"/>
    <p:sldId id="403" r:id="rId139"/>
    <p:sldId id="404" r:id="rId140"/>
    <p:sldId id="405" r:id="rId141"/>
    <p:sldId id="406" r:id="rId142"/>
    <p:sldId id="407" r:id="rId143"/>
    <p:sldId id="408" r:id="rId144"/>
    <p:sldId id="409" r:id="rId145"/>
    <p:sldId id="410" r:id="rId146"/>
    <p:sldId id="471" r:id="rId147"/>
    <p:sldId id="411" r:id="rId148"/>
    <p:sldId id="412" r:id="rId149"/>
    <p:sldId id="413" r:id="rId150"/>
    <p:sldId id="414" r:id="rId151"/>
    <p:sldId id="415" r:id="rId152"/>
    <p:sldId id="416" r:id="rId153"/>
    <p:sldId id="417" r:id="rId154"/>
    <p:sldId id="472" r:id="rId155"/>
    <p:sldId id="418" r:id="rId156"/>
    <p:sldId id="419" r:id="rId157"/>
    <p:sldId id="420" r:id="rId158"/>
    <p:sldId id="421" r:id="rId159"/>
    <p:sldId id="422" r:id="rId16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华文新魏" panose="020108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3366"/>
    <a:srgbClr val="800000"/>
    <a:srgbClr val="666699"/>
    <a:srgbClr val="FFFFFF"/>
    <a:srgbClr val="CCFFCC"/>
    <a:srgbClr val="CCE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2" d="100"/>
          <a:sy n="62" d="100"/>
        </p:scale>
        <p:origin x="1400" y="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4" Type="http://schemas.openxmlformats.org/officeDocument/2006/relationships/tableStyles" Target="tableStyles.xml"/><Relationship Id="rId163" Type="http://schemas.openxmlformats.org/officeDocument/2006/relationships/viewProps" Target="viewProps.xml"/><Relationship Id="rId162" Type="http://schemas.openxmlformats.org/officeDocument/2006/relationships/presProps" Target="presProps.xml"/><Relationship Id="rId161" Type="http://schemas.openxmlformats.org/officeDocument/2006/relationships/notesMaster" Target="notesMasters/notesMaster1.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p:cNvSpPr>
          <p:nvPr>
            <p:ph type="sldImg" idx="2"/>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rgbClr val="666699"/>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73087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730875"/>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rgbClr val="666699"/>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73087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730875"/>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blipFill>
        <a:effectLst/>
      </p:bgPr>
    </p:bg>
    <p:spTree>
      <p:nvGrpSpPr>
        <p:cNvPr id="1" name=""/>
        <p:cNvGrpSpPr/>
        <p:nvPr/>
      </p:nvGrpSpPr>
      <p:grpSpPr/>
      <p:sp>
        <p:nvSpPr>
          <p:cNvPr id="1026" name="Rectangle 2"/>
          <p:cNvSpPr>
            <a:spLocks noGrp="1"/>
          </p:cNvSpPr>
          <p:nvPr>
            <p:ph type="body" idx="1"/>
          </p:nvPr>
        </p:nvSpPr>
        <p:spPr>
          <a:xfrm>
            <a:off x="685800" y="1981200"/>
            <a:ext cx="7772400" cy="41148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7" name="Rectangle 3"/>
          <p:cNvSpPr>
            <a:spLocks noChangeArrowheads="1"/>
          </p:cNvSpPr>
          <p:nvPr/>
        </p:nvSpPr>
        <p:spPr bwMode="auto">
          <a:xfrm>
            <a:off x="0" y="1752600"/>
            <a:ext cx="3124200" cy="111125"/>
          </a:xfrm>
          <a:prstGeom prst="rect">
            <a:avLst/>
          </a:prstGeom>
          <a:solidFill>
            <a:srgbClr val="00CCFF">
              <a:alpha val="50000"/>
            </a:srgbClr>
          </a:solidFill>
          <a:ln>
            <a:noFill/>
          </a:ln>
        </p:spPr>
        <p:txBody>
          <a:bodyPr/>
          <a:lstStyle>
            <a:lvl1pPr eaLnBrk="0" hangingPunct="0">
              <a:defRPr sz="24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sz="24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sz="24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sz="24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sz="2400">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028" name="Rectangle 4"/>
          <p:cNvSpPr>
            <a:spLocks noChangeArrowheads="1"/>
          </p:cNvSpPr>
          <p:nvPr/>
        </p:nvSpPr>
        <p:spPr bwMode="auto">
          <a:xfrm>
            <a:off x="0" y="1752600"/>
            <a:ext cx="3124200" cy="111125"/>
          </a:xfrm>
          <a:prstGeom prst="rect">
            <a:avLst/>
          </a:prstGeom>
          <a:solidFill>
            <a:srgbClr val="00CCFF">
              <a:alpha val="50000"/>
            </a:srgbClr>
          </a:solidFill>
          <a:ln>
            <a:noFill/>
          </a:ln>
        </p:spPr>
        <p:txBody>
          <a:bodyPr/>
          <a:lstStyle>
            <a:lvl1pPr eaLnBrk="0" hangingPunct="0">
              <a:defRPr sz="24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sz="24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sz="24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sz="24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sz="2400">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029" name="Rectangle 5"/>
          <p:cNvSpPr>
            <a:spLocks noChangeArrowheads="1"/>
          </p:cNvSpPr>
          <p:nvPr/>
        </p:nvSpPr>
        <p:spPr bwMode="auto">
          <a:xfrm>
            <a:off x="609600" y="1066800"/>
            <a:ext cx="7696200" cy="609600"/>
          </a:xfrm>
          <a:prstGeom prst="rect">
            <a:avLst/>
          </a:prstGeom>
          <a:noFill/>
          <a:ln>
            <a:noFill/>
          </a:ln>
        </p:spPr>
        <p:txBody>
          <a:bodyPr anchor="ctr"/>
          <a:lstStyle>
            <a:lvl1pPr eaLnBrk="0" hangingPunct="0">
              <a:defRPr sz="24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sz="24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sz="24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sz="24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sz="2400">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600" b="0" i="0" u="none" strike="noStrike" kern="1200" cap="none" spc="0" normalizeH="0" baseline="0" noProof="0">
                <a:ln>
                  <a:noFill/>
                </a:ln>
                <a:solidFill>
                  <a:schemeClr val="tx2"/>
                </a:solidFill>
                <a:effectLst/>
                <a:uLnTx/>
                <a:uFillTx/>
                <a:latin typeface="Times New Roman" panose="02020603050405020304" pitchFamily="18" charset="0"/>
                <a:ea typeface="华文新魏" panose="02010800040101010101" pitchFamily="2" charset="-122"/>
                <a:cs typeface="+mn-cs"/>
              </a:rPr>
              <a:t> </a:t>
            </a:r>
            <a:endParaRPr kumimoji="0" lang="zh-CN" altLang="en-US" sz="3600" b="0" i="0" u="none" strike="noStrike" kern="1200" cap="none" spc="0" normalizeH="0" baseline="0" noProof="0">
              <a:ln>
                <a:noFill/>
              </a:ln>
              <a:solidFill>
                <a:schemeClr val="tx2"/>
              </a:solidFill>
              <a:effectLst/>
              <a:uLnTx/>
              <a:uFillTx/>
              <a:latin typeface="Times New Roman" panose="02020603050405020304" pitchFamily="18" charset="0"/>
              <a:ea typeface="华文新魏" panose="02010800040101010101" pitchFamily="2" charset="-122"/>
              <a:cs typeface="+mn-cs"/>
            </a:endParaRPr>
          </a:p>
        </p:txBody>
      </p:sp>
      <p:sp>
        <p:nvSpPr>
          <p:cNvPr id="1030" name="Rectangle 6"/>
          <p:cNvSpPr>
            <a:spLocks noChangeArrowheads="1"/>
          </p:cNvSpPr>
          <p:nvPr/>
        </p:nvSpPr>
        <p:spPr bwMode="auto">
          <a:xfrm>
            <a:off x="990600" y="1066800"/>
            <a:ext cx="7315200" cy="685800"/>
          </a:xfrm>
          <a:prstGeom prst="rect">
            <a:avLst/>
          </a:prstGeom>
          <a:noFill/>
          <a:ln>
            <a:noFill/>
          </a:ln>
        </p:spPr>
        <p:txBody>
          <a:bodyPr anchor="ctr"/>
          <a:lstStyle>
            <a:lvl1pPr eaLnBrk="0" hangingPunct="0">
              <a:defRPr sz="24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sz="24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sz="24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sz="24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sz="2400">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6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auto">
          <a:xfrm>
            <a:off x="838200" y="990600"/>
            <a:ext cx="7696200" cy="762000"/>
          </a:xfrm>
          <a:prstGeom prst="rect">
            <a:avLst/>
          </a:prstGeom>
          <a:noFill/>
          <a:ln>
            <a:noFill/>
          </a:ln>
        </p:spPr>
        <p:txBody>
          <a:bodyPr anchor="ctr"/>
          <a:lstStyle>
            <a:lvl1pPr eaLnBrk="0" hangingPunct="0">
              <a:defRPr sz="24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sz="24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sz="24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sz="24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sz="2400">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华文新魏"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6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5pPr>
      <a:lvl6pPr marL="4572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blipFill>
        <a:effectLst/>
      </p:bgPr>
    </p:bg>
    <p:spTree>
      <p:nvGrpSpPr>
        <p:cNvPr id="1" name=""/>
        <p:cNvGrpSpPr/>
        <p:nvPr/>
      </p:nvGrpSpPr>
      <p:grpSpPr/>
      <p:sp>
        <p:nvSpPr>
          <p:cNvPr id="2050" name="Rectangle 2"/>
          <p:cNvSpPr>
            <a:spLocks noGrp="1"/>
          </p:cNvSpPr>
          <p:nvPr>
            <p:ph type="body" idx="1"/>
          </p:nvPr>
        </p:nvSpPr>
        <p:spPr>
          <a:xfrm>
            <a:off x="685800" y="1981200"/>
            <a:ext cx="7772400" cy="41148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5pPr>
      <a:lvl6pPr marL="4572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jpe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1.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oleObject" Target="../embeddings/oleObject2.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24.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3.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9.wmf"/><Relationship Id="rId1" Type="http://schemas.openxmlformats.org/officeDocument/2006/relationships/oleObject" Target="../embeddings/oleObject4.bin"/></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file:///H:\&#36828;&#31243;&#25945;&#32946;&#32452;&#25104;&#21407;&#29702;\Chap03\3.5.htm"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jpe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xu/&#35838;&#31243;/&#32452;&#25104;&#21407;&#29702;/xu/&#25945;&#23398;/&#35745;&#31639;&#26426;&#32452;&#25104;&#21407;&#29702;/&#32452;&#25104;&#21407;&#29702;&#22791;&#35838;&#36164;&#26009;/&#32452;&#25104;&#21407;&#29702;&#35838;&#20214;A/Chap03/3.7.htm" TargetMode="External"/></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jpeg"/></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jpeg"/></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jpeg"/></Relationships>
</file>

<file path=ppt/slides/_rels/slide1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jpeg"/><Relationship Id="rId1" Type="http://schemas.openxmlformats.org/officeDocument/2006/relationships/hyperlink" Target="../../../../../xu/&#35838;&#31243;/&#32452;&#25104;&#21407;&#29702;/xu/&#25945;&#23398;/&#35745;&#31639;&#26426;&#32452;&#25104;&#21407;&#29702;/&#32452;&#25104;&#21407;&#29702;&#22791;&#35838;&#36164;&#26009;/&#32452;&#25104;&#21407;&#29702;&#35838;&#20214;A/Chap03/3.7.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zh-CN" dirty="0"/>
              <a:t>第</a:t>
            </a:r>
            <a:r>
              <a:rPr lang="en-US" altLang="zh-CN" dirty="0"/>
              <a:t>3</a:t>
            </a:r>
            <a:r>
              <a:rPr lang="zh-CN" altLang="zh-CN" dirty="0"/>
              <a:t>章  存储系统</a:t>
            </a:r>
            <a:endParaRPr lang="zh-CN" altLang="zh-CN" dirty="0"/>
          </a:p>
        </p:txBody>
      </p:sp>
      <p:sp>
        <p:nvSpPr>
          <p:cNvPr id="4099" name="Rectangle 3"/>
          <p:cNvSpPr>
            <a:spLocks noGrp="1" noChangeArrowheads="1"/>
          </p:cNvSpPr>
          <p:nvPr>
            <p:ph type="body" idx="1"/>
          </p:nvPr>
        </p:nvSpPr>
        <p:spPr>
          <a:xfrm>
            <a:off x="685800" y="1981200"/>
            <a:ext cx="7772400" cy="39624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1200" cap="none" spc="0" normalizeH="0" baseline="0" noProof="0" dirty="0">
                <a:ln>
                  <a:noFill/>
                </a:ln>
                <a:solidFill>
                  <a:srgbClr val="666699"/>
                </a:solidFill>
                <a:effectLst/>
                <a:uLnTx/>
                <a:uFillTx/>
                <a:latin typeface="+mn-lt"/>
                <a:ea typeface="+mn-ea"/>
                <a:cs typeface="+mn-cs"/>
              </a:rPr>
              <a:t>主要内容：</a:t>
            </a:r>
            <a:endParaRPr kumimoji="0" lang="en-US" altLang="zh-CN" sz="3200" b="1" i="0" u="none" strike="noStrike" kern="1200" cap="none" spc="0" normalizeH="0" baseline="0" noProof="0" dirty="0">
              <a:ln>
                <a:noFill/>
              </a:ln>
              <a:solidFill>
                <a:srgbClr val="66669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666699"/>
                </a:solidFill>
                <a:effectLst/>
                <a:uLnTx/>
                <a:uFillTx/>
                <a:latin typeface="+mn-lt"/>
                <a:ea typeface="+mn-ea"/>
                <a:cs typeface="+mn-cs"/>
              </a:rPr>
              <a:t>概述</a:t>
            </a:r>
            <a:endParaRPr kumimoji="0" lang="zh-CN" altLang="en-US" sz="3200" b="1" i="0" u="none" strike="noStrike" kern="1200" cap="none" spc="0" normalizeH="0" baseline="0" noProof="0" dirty="0">
              <a:ln>
                <a:noFill/>
              </a:ln>
              <a:solidFill>
                <a:srgbClr val="66669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666699"/>
                </a:solidFill>
                <a:effectLst/>
                <a:uLnTx/>
                <a:uFillTx/>
                <a:latin typeface="+mn-lt"/>
                <a:ea typeface="+mn-ea"/>
                <a:cs typeface="+mn-cs"/>
              </a:rPr>
              <a:t>随机读写存储器</a:t>
            </a:r>
            <a:endParaRPr kumimoji="0" lang="zh-CN" altLang="en-US" sz="3200" b="1" i="0" u="none" strike="noStrike" kern="1200" cap="none" spc="0" normalizeH="0" baseline="0" noProof="0" dirty="0">
              <a:ln>
                <a:noFill/>
              </a:ln>
              <a:solidFill>
                <a:srgbClr val="66669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666699"/>
                </a:solidFill>
                <a:effectLst/>
                <a:uLnTx/>
                <a:uFillTx/>
                <a:latin typeface="+mn-lt"/>
                <a:ea typeface="+mn-ea"/>
                <a:cs typeface="+mn-cs"/>
              </a:rPr>
              <a:t>只读存储器</a:t>
            </a:r>
            <a:endParaRPr kumimoji="0" lang="zh-CN" altLang="en-US" sz="3200" b="1" i="0" u="none" strike="noStrike" kern="1200" cap="none" spc="0" normalizeH="0" baseline="0" noProof="0" dirty="0">
              <a:ln>
                <a:noFill/>
              </a:ln>
              <a:solidFill>
                <a:srgbClr val="66669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666699"/>
                </a:solidFill>
                <a:effectLst/>
                <a:uLnTx/>
                <a:uFillTx/>
                <a:latin typeface="+mn-lt"/>
                <a:ea typeface="+mn-ea"/>
                <a:cs typeface="+mn-cs"/>
              </a:rPr>
              <a:t>高速存储器</a:t>
            </a:r>
            <a:endParaRPr kumimoji="0" lang="zh-CN" altLang="en-US" sz="3200" b="1" i="0" u="none" strike="noStrike" kern="1200" cap="none" spc="0" normalizeH="0" baseline="0" noProof="0" dirty="0">
              <a:ln>
                <a:noFill/>
              </a:ln>
              <a:solidFill>
                <a:srgbClr val="66669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666699"/>
                </a:solidFill>
                <a:effectLst/>
                <a:uLnTx/>
                <a:uFillTx/>
                <a:latin typeface="+mn-lt"/>
                <a:ea typeface="+mn-ea"/>
                <a:cs typeface="+mn-cs"/>
              </a:rPr>
              <a:t>CACHE存储器</a:t>
            </a:r>
            <a:endParaRPr kumimoji="0" lang="zh-CN" altLang="en-US" sz="3200" b="1" i="0" u="none" strike="noStrike" kern="1200" cap="none" spc="0" normalizeH="0" baseline="0" noProof="0" dirty="0">
              <a:ln>
                <a:noFill/>
              </a:ln>
              <a:solidFill>
                <a:srgbClr val="66669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rgbClr val="666699"/>
                </a:solidFill>
                <a:effectLst/>
                <a:uLnTx/>
                <a:uFillTx/>
                <a:latin typeface="+mn-lt"/>
                <a:ea typeface="+mn-ea"/>
                <a:cs typeface="+mn-cs"/>
              </a:rPr>
              <a:t>虚拟存储器</a:t>
            </a:r>
            <a:endParaRPr kumimoji="0" lang="zh-CN" altLang="en-US" sz="3200" b="1" i="0" u="none" strike="noStrike" kern="1200" cap="none" spc="0" normalizeH="0" baseline="0" noProof="0" dirty="0">
              <a:ln>
                <a:noFill/>
              </a:ln>
              <a:solidFill>
                <a:srgbClr val="666699"/>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3.1 概述——</a:t>
            </a:r>
            <a:r>
              <a:rPr lang="zh-CN" altLang="en-US" sz="2400" dirty="0"/>
              <a:t>基本概念</a:t>
            </a:r>
            <a:endParaRPr lang="zh-CN" altLang="en-US" sz="2400" dirty="0"/>
          </a:p>
        </p:txBody>
      </p:sp>
      <p:sp>
        <p:nvSpPr>
          <p:cNvPr id="5123" name="Rectangle 3"/>
          <p:cNvSpPr>
            <a:spLocks noGrp="1"/>
          </p:cNvSpPr>
          <p:nvPr>
            <p:ph type="body" idx="4294967295"/>
          </p:nvPr>
        </p:nvSpPr>
        <p:spPr>
          <a:ln/>
        </p:spPr>
        <p:txBody>
          <a:bodyPr vert="horz" wrap="square" lIns="91440" tIns="45720" rIns="91440" bIns="45720" anchor="t" anchorCtr="0"/>
          <a:p>
            <a:pPr eaLnBrk="1" hangingPunct="1"/>
            <a:r>
              <a:rPr lang="zh-CN" altLang="en-US" sz="2800" b="1" dirty="0"/>
              <a:t>基本概念</a:t>
            </a:r>
            <a:endParaRPr lang="zh-CN" altLang="en-US" sz="2800" b="1" dirty="0"/>
          </a:p>
          <a:p>
            <a:pPr eaLnBrk="1" hangingPunct="1"/>
            <a:r>
              <a:rPr lang="zh-CN" altLang="en-US" sz="2800" b="1" dirty="0"/>
              <a:t>存储元件：用一个具有两种稳定状态，并且在一定条件下状态可相互转换的物理器件来表示二进制数码0和1，这种器件称为存储元件。</a:t>
            </a:r>
            <a:endParaRPr lang="zh-CN" altLang="en-US" sz="2800" b="1" dirty="0"/>
          </a:p>
          <a:p>
            <a:pPr eaLnBrk="1" hangingPunct="1"/>
            <a:r>
              <a:rPr lang="zh-CN" altLang="en-US" sz="2800" b="1" dirty="0"/>
              <a:t>存储单元：由若干个存储元组成一个存储单元。</a:t>
            </a:r>
            <a:endParaRPr lang="zh-CN" altLang="en-US" sz="2800" b="1" dirty="0"/>
          </a:p>
          <a:p>
            <a:pPr eaLnBrk="1" hangingPunct="1"/>
            <a:r>
              <a:rPr lang="zh-CN" altLang="en-US" sz="2800" b="1" dirty="0"/>
              <a:t>存储器：由若干个存储单元组成了存储器。</a:t>
            </a:r>
            <a:endParaRPr lang="zh-CN" altLang="en-US" sz="2800" b="1" dirty="0"/>
          </a:p>
          <a:p>
            <a:pPr eaLnBrk="1" hangingPunct="1"/>
            <a:endParaRPr lang="zh-CN" altLang="en-US" sz="28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body" idx="4294967295"/>
          </p:nvPr>
        </p:nvSpPr>
        <p:spPr>
          <a:ln/>
        </p:spPr>
        <p:txBody>
          <a:bodyPr vert="horz" wrap="square" lIns="91440" tIns="45720" rIns="91440" bIns="45720" anchor="t" anchorCtr="0"/>
          <a:p>
            <a:pPr marL="0" indent="0" eaLnBrk="1" hangingPunct="1">
              <a:buNone/>
            </a:pPr>
            <a:r>
              <a:rPr lang="zh-CN" altLang="en-US" sz="3600" b="1" dirty="0">
                <a:ea typeface="华文新魏" panose="02010800040101010101" pitchFamily="2" charset="-122"/>
                <a:sym typeface="Arial" panose="020B0604020202020204" pitchFamily="34" charset="0"/>
              </a:rPr>
              <a:t>存储器的基本操作</a:t>
            </a:r>
            <a:endParaRPr lang="zh-CN" altLang="en-US" sz="3600" b="1" dirty="0">
              <a:ea typeface="华文新魏" panose="02010800040101010101" pitchFamily="2" charset="-122"/>
              <a:sym typeface="Arial" panose="020B0604020202020204" pitchFamily="34" charset="0"/>
            </a:endParaRPr>
          </a:p>
          <a:p>
            <a:pPr marL="0" indent="0" eaLnBrk="1" hangingPunct="1">
              <a:buNone/>
            </a:pPr>
            <a:endParaRPr lang="zh-CN" altLang="en-US" sz="3600" b="1" dirty="0">
              <a:ea typeface="华文新魏" panose="02010800040101010101" pitchFamily="2" charset="-122"/>
              <a:sym typeface="Arial" panose="020B0604020202020204" pitchFamily="34" charset="0"/>
            </a:endParaRPr>
          </a:p>
          <a:p>
            <a:pPr marL="0" indent="0" eaLnBrk="1" hangingPunct="1"/>
            <a:r>
              <a:rPr lang="zh-CN" altLang="en-US" b="1" dirty="0"/>
              <a:t>读：内容固定不变</a:t>
            </a:r>
            <a:endParaRPr lang="zh-CN" altLang="en-US" b="1" dirty="0">
              <a:sym typeface="Arial" panose="020B0604020202020204" pitchFamily="34" charset="0"/>
            </a:endParaRPr>
          </a:p>
          <a:p>
            <a:pPr marL="0" indent="0" eaLnBrk="1" hangingPunct="1"/>
            <a:r>
              <a:rPr lang="zh-CN" altLang="en-US" b="1" dirty="0"/>
              <a:t>写：内容改变</a:t>
            </a:r>
            <a:endParaRPr lang="zh-CN" altLang="en-US" b="1" dirty="0"/>
          </a:p>
          <a:p>
            <a:pPr marL="0" indent="0" eaLnBrk="1" hangingPunct="1">
              <a:buNone/>
            </a:pPr>
            <a:endParaRPr lang="zh-CN" altLang="en-US" dirty="0"/>
          </a:p>
        </p:txBody>
      </p:sp>
      <p:grpSp>
        <p:nvGrpSpPr>
          <p:cNvPr id="6147" name="Group 3"/>
          <p:cNvGrpSpPr/>
          <p:nvPr/>
        </p:nvGrpSpPr>
        <p:grpSpPr>
          <a:xfrm>
            <a:off x="4572000" y="3498850"/>
            <a:ext cx="1946275" cy="936625"/>
            <a:chOff x="0" y="0"/>
            <a:chExt cx="3064" cy="1474"/>
          </a:xfrm>
        </p:grpSpPr>
        <p:sp>
          <p:nvSpPr>
            <p:cNvPr id="6149" name="AutoShape 4"/>
            <p:cNvSpPr/>
            <p:nvPr/>
          </p:nvSpPr>
          <p:spPr>
            <a:xfrm>
              <a:off x="0" y="0"/>
              <a:ext cx="340" cy="1475"/>
            </a:xfrm>
            <a:prstGeom prst="rightBrace">
              <a:avLst>
                <a:gd name="adj1" fmla="val 36151"/>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6150" name="Text Box 5"/>
            <p:cNvSpPr txBox="1"/>
            <p:nvPr/>
          </p:nvSpPr>
          <p:spPr>
            <a:xfrm>
              <a:off x="680" y="227"/>
              <a:ext cx="2385" cy="9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b="1" dirty="0">
                  <a:solidFill>
                    <a:srgbClr val="0000FF"/>
                  </a:solidFill>
                  <a:ea typeface="华文新魏" panose="02010800040101010101" pitchFamily="2" charset="-122"/>
                </a:rPr>
                <a:t>访问</a:t>
              </a:r>
              <a:endParaRPr lang="zh-CN" altLang="en-US" b="1" dirty="0">
                <a:solidFill>
                  <a:srgbClr val="0000FF"/>
                </a:solidFill>
                <a:ea typeface="华文新魏" panose="02010800040101010101" pitchFamily="2" charset="-122"/>
              </a:endParaRPr>
            </a:p>
          </p:txBody>
        </p:sp>
      </p:grpSp>
      <p:sp>
        <p:nvSpPr>
          <p:cNvPr id="6148" name="Rectangle 6"/>
          <p:cNvSpPr/>
          <p:nvPr/>
        </p:nvSpPr>
        <p:spPr>
          <a:xfrm>
            <a:off x="684213" y="909638"/>
            <a:ext cx="7772400" cy="8382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3600" b="1" dirty="0">
                <a:solidFill>
                  <a:schemeClr val="tx2"/>
                </a:solidFill>
              </a:rPr>
              <a:t>3.1 概述——</a:t>
            </a:r>
            <a:r>
              <a:rPr lang="zh-CN" altLang="en-US" sz="2400" b="1" dirty="0">
                <a:solidFill>
                  <a:schemeClr val="tx2"/>
                </a:solidFill>
              </a:rPr>
              <a:t>存储器的基本操作</a:t>
            </a:r>
            <a:endParaRPr lang="zh-CN" altLang="en-US" sz="2400" b="1" dirty="0">
              <a:solidFill>
                <a:schemeClr val="tx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p:nvPr>
            <p:ph type="title" idx="4294967295"/>
          </p:nvPr>
        </p:nvSpPr>
        <p:spPr>
          <a:xfrm>
            <a:off x="542925" y="774700"/>
            <a:ext cx="7772400" cy="7620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3.1 概 述——</a:t>
            </a:r>
            <a:r>
              <a:rPr lang="zh-CN" altLang="en-US" sz="2400" dirty="0"/>
              <a:t>存储器分类</a:t>
            </a:r>
            <a:endParaRPr lang="zh-CN" altLang="en-US" sz="2400" dirty="0"/>
          </a:p>
        </p:txBody>
      </p:sp>
      <p:sp>
        <p:nvSpPr>
          <p:cNvPr id="7171" name="Rectangle 3"/>
          <p:cNvSpPr>
            <a:spLocks noGrp="1"/>
          </p:cNvSpPr>
          <p:nvPr>
            <p:ph type="body" idx="4294967295"/>
          </p:nvPr>
        </p:nvSpPr>
        <p:spPr>
          <a:xfrm>
            <a:off x="468313" y="1774825"/>
            <a:ext cx="7921625" cy="4751388"/>
          </a:xfrm>
          <a:ln/>
        </p:spPr>
        <p:txBody>
          <a:bodyPr vert="horz" wrap="square" lIns="91440" tIns="45720" rIns="91440" bIns="45720" anchor="t" anchorCtr="0"/>
          <a:p>
            <a:pPr eaLnBrk="1" hangingPunct="1"/>
            <a:r>
              <a:rPr lang="zh-CN" altLang="en-US" sz="3600" b="1" dirty="0">
                <a:ea typeface="华文新魏" panose="02010800040101010101" pitchFamily="2" charset="-122"/>
              </a:rPr>
              <a:t>存储器分类</a:t>
            </a:r>
            <a:endParaRPr lang="zh-CN" altLang="en-US" sz="3600" b="1" dirty="0">
              <a:ea typeface="华文新魏" panose="02010800040101010101" pitchFamily="2" charset="-122"/>
            </a:endParaRPr>
          </a:p>
          <a:p>
            <a:pPr lvl="1" eaLnBrk="1" hangingPunct="1"/>
            <a:r>
              <a:rPr lang="zh-CN" altLang="en-US" b="1" dirty="0">
                <a:solidFill>
                  <a:schemeClr val="tx1"/>
                </a:solidFill>
              </a:rPr>
              <a:t>按存储介质分：磁表面、半导体、光盘</a:t>
            </a:r>
            <a:endParaRPr lang="zh-CN" altLang="en-US" b="1" dirty="0">
              <a:solidFill>
                <a:schemeClr val="tx1"/>
              </a:solidFill>
            </a:endParaRPr>
          </a:p>
          <a:p>
            <a:pPr lvl="1" eaLnBrk="1" hangingPunct="1"/>
            <a:r>
              <a:rPr lang="zh-CN" altLang="en-US" b="1" dirty="0">
                <a:solidFill>
                  <a:schemeClr val="tx1"/>
                </a:solidFill>
              </a:rPr>
              <a:t>按存取方式分：随机、顺序</a:t>
            </a:r>
            <a:endParaRPr lang="zh-CN" altLang="en-US" b="1" dirty="0">
              <a:solidFill>
                <a:schemeClr val="tx1"/>
              </a:solidFill>
            </a:endParaRPr>
          </a:p>
          <a:p>
            <a:pPr lvl="1" eaLnBrk="1" hangingPunct="1"/>
            <a:r>
              <a:rPr lang="zh-CN" altLang="en-US" b="1" dirty="0">
                <a:solidFill>
                  <a:schemeClr val="tx1"/>
                </a:solidFill>
              </a:rPr>
              <a:t>按存储器的读写功能分：只读、随机读写</a:t>
            </a:r>
            <a:endParaRPr lang="zh-CN" altLang="en-US" b="1" dirty="0">
              <a:solidFill>
                <a:schemeClr val="tx1"/>
              </a:solidFill>
            </a:endParaRPr>
          </a:p>
          <a:p>
            <a:pPr lvl="1" eaLnBrk="1" hangingPunct="1"/>
            <a:r>
              <a:rPr lang="zh-CN" altLang="en-US" b="1" dirty="0">
                <a:solidFill>
                  <a:schemeClr val="tx1"/>
                </a:solidFill>
              </a:rPr>
              <a:t>按信息的可保存性分：易失（挥发/非永久）性、非易失性</a:t>
            </a:r>
            <a:endParaRPr lang="zh-CN" altLang="en-US" b="1" dirty="0">
              <a:solidFill>
                <a:schemeClr val="tx1"/>
              </a:solidFill>
            </a:endParaRPr>
          </a:p>
          <a:p>
            <a:pPr lvl="1" eaLnBrk="1" hangingPunct="1"/>
            <a:r>
              <a:rPr lang="zh-CN" altLang="en-US" b="1" dirty="0">
                <a:solidFill>
                  <a:schemeClr val="tx1"/>
                </a:solidFill>
              </a:rPr>
              <a:t>按在计算机系统中的作用分：控制存储器、高速缓存、主存、辅存</a:t>
            </a:r>
            <a:endParaRPr lang="zh-CN" altLang="en-US" b="1" dirty="0">
              <a:solidFill>
                <a:schemeClr val="tx1"/>
              </a:solidFill>
            </a:endParaRPr>
          </a:p>
          <a:p>
            <a:pPr lvl="1" eaLnBrk="1" hangingPunct="1"/>
            <a:r>
              <a:rPr lang="zh-CN" altLang="en-US" b="1" dirty="0">
                <a:solidFill>
                  <a:schemeClr val="tx1"/>
                </a:solidFill>
              </a:rPr>
              <a:t>按制造工艺分：双极型、MOS型</a:t>
            </a:r>
            <a:endParaRPr lang="zh-CN" altLang="en-US" b="1" dirty="0">
              <a:solidFill>
                <a:schemeClr val="tx1"/>
              </a:solidFill>
            </a:endParaRPr>
          </a:p>
        </p:txBody>
      </p:sp>
      <p:sp>
        <p:nvSpPr>
          <p:cNvPr id="7172" name="Text Box 4"/>
          <p:cNvSpPr txBox="1"/>
          <p:nvPr/>
        </p:nvSpPr>
        <p:spPr>
          <a:xfrm>
            <a:off x="4343400" y="2667000"/>
            <a:ext cx="3962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a:t>
            </a:r>
            <a:endParaRPr lang="zh-CN" altLang="en-US" sz="2400" dirty="0">
              <a:solidFill>
                <a:schemeClr val="tx1"/>
              </a:solidFill>
              <a:latin typeface="Tahom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3.1   概述——</a:t>
            </a:r>
            <a:r>
              <a:rPr lang="zh-CN" altLang="en-US" sz="2400" dirty="0"/>
              <a:t>存储系统的层次结构</a:t>
            </a:r>
            <a:endParaRPr lang="zh-CN" altLang="en-US" sz="2400" dirty="0"/>
          </a:p>
        </p:txBody>
      </p:sp>
      <p:sp>
        <p:nvSpPr>
          <p:cNvPr id="8195" name="Rectangle 3"/>
          <p:cNvSpPr>
            <a:spLocks noGrp="1"/>
          </p:cNvSpPr>
          <p:nvPr>
            <p:ph type="body" idx="4294967295"/>
          </p:nvPr>
        </p:nvSpPr>
        <p:spPr>
          <a:xfrm>
            <a:off x="325438" y="1917700"/>
            <a:ext cx="8424862" cy="4535488"/>
          </a:xfrm>
          <a:ln/>
        </p:spPr>
        <p:txBody>
          <a:bodyPr vert="horz" wrap="square" lIns="91440" tIns="45720" rIns="91440" bIns="45720" anchor="t" anchorCtr="0"/>
          <a:p>
            <a:pPr eaLnBrk="1" hangingPunct="1">
              <a:lnSpc>
                <a:spcPct val="90000"/>
              </a:lnSpc>
            </a:pPr>
            <a:r>
              <a:rPr lang="zh-CN" altLang="en-US" b="1" dirty="0">
                <a:ea typeface="华文新魏" panose="02010800040101010101" pitchFamily="2" charset="-122"/>
                <a:sym typeface="Arial" panose="020B0604020202020204" pitchFamily="34" charset="0"/>
              </a:rPr>
              <a:t>存储系统的层次结构</a:t>
            </a:r>
            <a:endParaRPr lang="zh-CN" altLang="en-US" b="1" dirty="0">
              <a:ea typeface="华文新魏" panose="02010800040101010101" pitchFamily="2" charset="-122"/>
              <a:sym typeface="Arial" panose="020B0604020202020204" pitchFamily="34" charset="0"/>
            </a:endParaRPr>
          </a:p>
          <a:p>
            <a:pPr eaLnBrk="1" hangingPunct="1">
              <a:lnSpc>
                <a:spcPct val="90000"/>
              </a:lnSpc>
              <a:buNone/>
            </a:pPr>
            <a:r>
              <a:rPr lang="zh-CN" altLang="en-US" sz="2800" b="1" dirty="0">
                <a:solidFill>
                  <a:srgbClr val="0000FF"/>
                </a:solidFill>
              </a:rPr>
              <a:t>存储器系统是计算机中用于</a:t>
            </a:r>
            <a:r>
              <a:rPr lang="zh-CN" altLang="en-US" sz="2800" b="1" dirty="0">
                <a:solidFill>
                  <a:srgbClr val="FF0000"/>
                </a:solidFill>
              </a:rPr>
              <a:t>存储程序和数据</a:t>
            </a:r>
            <a:r>
              <a:rPr lang="zh-CN" altLang="en-US" sz="2800" b="1" dirty="0">
                <a:solidFill>
                  <a:srgbClr val="0000FF"/>
                </a:solidFill>
              </a:rPr>
              <a:t>的部件，很重要。</a:t>
            </a:r>
            <a:endParaRPr lang="zh-CN" altLang="en-US" sz="2800" b="1" dirty="0">
              <a:solidFill>
                <a:srgbClr val="0000FF"/>
              </a:solidFill>
            </a:endParaRPr>
          </a:p>
          <a:p>
            <a:pPr eaLnBrk="1" hangingPunct="1">
              <a:lnSpc>
                <a:spcPct val="90000"/>
              </a:lnSpc>
              <a:buClr>
                <a:schemeClr val="tx1"/>
              </a:buClr>
              <a:buNone/>
            </a:pPr>
            <a:r>
              <a:rPr lang="zh-CN" altLang="en-US" sz="2800" b="1" dirty="0">
                <a:solidFill>
                  <a:srgbClr val="0000FF"/>
                </a:solidFill>
              </a:rPr>
              <a:t> 对其要求是：</a:t>
            </a:r>
            <a:endParaRPr lang="zh-CN" altLang="en-US" sz="2800" b="1" dirty="0">
              <a:solidFill>
                <a:srgbClr val="0000FF"/>
              </a:solidFill>
            </a:endParaRPr>
          </a:p>
          <a:p>
            <a:pPr eaLnBrk="1" hangingPunct="1">
              <a:lnSpc>
                <a:spcPct val="90000"/>
              </a:lnSpc>
              <a:buClr>
                <a:schemeClr val="tx1"/>
              </a:buClr>
              <a:buNone/>
            </a:pPr>
            <a:r>
              <a:rPr lang="zh-CN" altLang="en-US" sz="2800" b="1" dirty="0">
                <a:solidFill>
                  <a:srgbClr val="0000FF"/>
                </a:solidFill>
              </a:rPr>
              <a:t>　　尽可能快的读写速度</a:t>
            </a:r>
            <a:endParaRPr lang="zh-CN" altLang="en-US" sz="2800" b="1" dirty="0">
              <a:solidFill>
                <a:srgbClr val="0000FF"/>
              </a:solidFill>
            </a:endParaRPr>
          </a:p>
          <a:p>
            <a:pPr eaLnBrk="1" hangingPunct="1">
              <a:lnSpc>
                <a:spcPct val="90000"/>
              </a:lnSpc>
              <a:buClr>
                <a:schemeClr val="tx1"/>
              </a:buClr>
              <a:buNone/>
            </a:pPr>
            <a:r>
              <a:rPr lang="zh-CN" altLang="en-US" sz="2800" b="1" dirty="0">
                <a:solidFill>
                  <a:srgbClr val="0000FF"/>
                </a:solidFill>
              </a:rPr>
              <a:t>　　尽可能大的存储容量</a:t>
            </a:r>
            <a:endParaRPr lang="zh-CN" altLang="en-US" sz="2800" b="1" dirty="0">
              <a:solidFill>
                <a:srgbClr val="0000FF"/>
              </a:solidFill>
            </a:endParaRPr>
          </a:p>
          <a:p>
            <a:pPr eaLnBrk="1" hangingPunct="1">
              <a:lnSpc>
                <a:spcPct val="90000"/>
              </a:lnSpc>
              <a:buClr>
                <a:schemeClr val="tx1"/>
              </a:buClr>
              <a:buNone/>
            </a:pPr>
            <a:r>
              <a:rPr lang="zh-CN" altLang="en-US" sz="2800" b="1" dirty="0">
                <a:solidFill>
                  <a:srgbClr val="0000FF"/>
                </a:solidFill>
              </a:rPr>
              <a:t>　　尽可能低的费用成本</a:t>
            </a:r>
            <a:endParaRPr lang="zh-CN" altLang="en-US" sz="2800" b="1" dirty="0">
              <a:solidFill>
                <a:srgbClr val="0000FF"/>
              </a:solidFill>
            </a:endParaRPr>
          </a:p>
          <a:p>
            <a:pPr eaLnBrk="1" hangingPunct="1">
              <a:lnSpc>
                <a:spcPct val="90000"/>
              </a:lnSpc>
              <a:buClr>
                <a:schemeClr val="tx1"/>
              </a:buClr>
              <a:buNone/>
            </a:pPr>
            <a:r>
              <a:rPr lang="zh-CN" altLang="en-US" sz="2800" b="1" dirty="0">
                <a:solidFill>
                  <a:srgbClr val="0000FF"/>
                </a:solidFill>
              </a:rPr>
              <a:t>在同样的技术条件下，这些要求往往是相互矛盾，彼此制约的，怎样才能更好地实现这些要求呢？</a:t>
            </a:r>
            <a:endParaRPr lang="zh-CN" altLang="en-US" sz="2800" dirty="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body" idx="4294967295"/>
          </p:nvPr>
        </p:nvSpPr>
        <p:spPr>
          <a:xfrm>
            <a:off x="180975" y="1847850"/>
            <a:ext cx="8712200" cy="4608513"/>
          </a:xfrm>
          <a:ln/>
        </p:spPr>
        <p:txBody>
          <a:bodyPr vert="horz" wrap="square" lIns="91440" tIns="45720" rIns="91440" bIns="45720" anchor="t" anchorCtr="0"/>
          <a:p>
            <a:pPr marL="0" indent="0" algn="ctr" eaLnBrk="1" hangingPunct="1">
              <a:lnSpc>
                <a:spcPct val="80000"/>
              </a:lnSpc>
              <a:buNone/>
            </a:pPr>
            <a:r>
              <a:rPr lang="zh-CN" altLang="en-US" b="1" dirty="0">
                <a:solidFill>
                  <a:srgbClr val="0000FF"/>
                </a:solidFill>
              </a:rPr>
              <a:t>访问局部性原理</a:t>
            </a:r>
            <a:endParaRPr lang="zh-CN" altLang="en-US" b="1" dirty="0">
              <a:solidFill>
                <a:srgbClr val="0000FF"/>
              </a:solidFill>
            </a:endParaRPr>
          </a:p>
          <a:p>
            <a:pPr marL="0" indent="0" eaLnBrk="1" hangingPunct="1">
              <a:lnSpc>
                <a:spcPct val="90000"/>
              </a:lnSpc>
            </a:pPr>
            <a:r>
              <a:rPr lang="zh-CN" altLang="en-US" b="1" dirty="0">
                <a:ea typeface="华文新魏" panose="02010800040101010101" pitchFamily="2" charset="-122"/>
                <a:sym typeface="Arial" panose="020B0604020202020204" pitchFamily="34" charset="0"/>
              </a:rPr>
              <a:t>程序对存储空间访问的具有不均匀分布的特点，程序对存储空间的90%访问不大于10%的区域内。</a:t>
            </a:r>
            <a:endParaRPr lang="zh-CN" altLang="en-US" b="1" dirty="0">
              <a:ea typeface="华文新魏" panose="02010800040101010101" pitchFamily="2" charset="-122"/>
              <a:sym typeface="Arial" panose="020B0604020202020204" pitchFamily="34" charset="0"/>
            </a:endParaRPr>
          </a:p>
          <a:p>
            <a:pPr marL="0" indent="0" eaLnBrk="1" hangingPunct="1">
              <a:lnSpc>
                <a:spcPct val="90000"/>
              </a:lnSpc>
            </a:pPr>
            <a:r>
              <a:rPr lang="zh-CN" altLang="en-US" b="1" dirty="0">
                <a:ea typeface="华文新魏" panose="02010800040101010101" pitchFamily="2" charset="-122"/>
                <a:sym typeface="Arial" panose="020B0604020202020204" pitchFamily="34" charset="0"/>
              </a:rPr>
              <a:t>时间局部性：如果一个存储单元被访问，则可能这个存储单元会很快再次被访问。</a:t>
            </a:r>
            <a:endParaRPr lang="zh-CN" altLang="en-US" b="1" dirty="0">
              <a:ea typeface="华文新魏" panose="02010800040101010101" pitchFamily="2" charset="-122"/>
              <a:sym typeface="Arial" panose="020B0604020202020204" pitchFamily="34" charset="0"/>
            </a:endParaRPr>
          </a:p>
          <a:p>
            <a:pPr marL="0" indent="0" eaLnBrk="1" hangingPunct="1">
              <a:lnSpc>
                <a:spcPct val="90000"/>
              </a:lnSpc>
            </a:pPr>
            <a:r>
              <a:rPr lang="zh-CN" altLang="en-US" b="1" dirty="0">
                <a:ea typeface="华文新魏" panose="02010800040101010101" pitchFamily="2" charset="-122"/>
                <a:sym typeface="Arial" panose="020B0604020202020204" pitchFamily="34" charset="0"/>
              </a:rPr>
              <a:t>空间局部性：如果一个存储单元被访问，则这个存储单元及其邻近的单元可能很快被访问。</a:t>
            </a:r>
            <a:endParaRPr lang="zh-CN" altLang="en-US" b="1" dirty="0">
              <a:ea typeface="华文新魏" panose="02010800040101010101" pitchFamily="2" charset="-122"/>
              <a:sym typeface="Arial" panose="020B0604020202020204" pitchFamily="34" charset="0"/>
            </a:endParaRPr>
          </a:p>
        </p:txBody>
      </p:sp>
      <p:sp>
        <p:nvSpPr>
          <p:cNvPr id="9219" name="Rectangle 3"/>
          <p:cNvSpPr/>
          <p:nvPr/>
        </p:nvSpPr>
        <p:spPr>
          <a:xfrm>
            <a:off x="611188" y="762000"/>
            <a:ext cx="7772400" cy="8382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3600" b="1" dirty="0">
                <a:solidFill>
                  <a:schemeClr val="tx2"/>
                </a:solidFill>
              </a:rPr>
              <a:t>3.1   概述——</a:t>
            </a:r>
            <a:r>
              <a:rPr lang="zh-CN" altLang="en-US" sz="2400" b="1" dirty="0">
                <a:solidFill>
                  <a:schemeClr val="tx2"/>
                </a:solidFill>
              </a:rPr>
              <a:t>存储系统的层次结构</a:t>
            </a:r>
            <a:endParaRPr lang="zh-CN" altLang="en-US" sz="2400" b="1" dirty="0">
              <a:solidFill>
                <a:schemeClr val="tx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body" idx="4294967295"/>
          </p:nvPr>
        </p:nvSpPr>
        <p:spPr>
          <a:xfrm>
            <a:off x="609600" y="1828800"/>
            <a:ext cx="8139113" cy="4191000"/>
          </a:xfrm>
          <a:ln/>
        </p:spPr>
        <p:txBody>
          <a:bodyPr vert="horz" wrap="square" lIns="91440" tIns="45720" rIns="91440" bIns="45720" anchor="t" anchorCtr="0"/>
          <a:p>
            <a:pPr marL="0" indent="665480" eaLnBrk="1" hangingPunct="1">
              <a:buClr>
                <a:schemeClr val="tx1"/>
              </a:buClr>
            </a:pPr>
            <a:r>
              <a:rPr lang="zh-CN" altLang="en-US" b="1" dirty="0">
                <a:solidFill>
                  <a:srgbClr val="0000FF"/>
                </a:solidFill>
              </a:rPr>
              <a:t>解决方案—</a:t>
            </a:r>
            <a:r>
              <a:rPr lang="zh-CN" altLang="en-US" b="1" dirty="0">
                <a:solidFill>
                  <a:srgbClr val="0000FF"/>
                </a:solidFill>
                <a:ea typeface="华文新魏" panose="02010800040101010101" pitchFamily="2" charset="-122"/>
              </a:rPr>
              <a:t>多级存储器体系结构</a:t>
            </a:r>
            <a:endParaRPr lang="zh-CN" altLang="en-US" b="1" dirty="0">
              <a:solidFill>
                <a:srgbClr val="0000FF"/>
              </a:solidFill>
              <a:ea typeface="华文新魏" panose="02010800040101010101" pitchFamily="2" charset="-122"/>
            </a:endParaRPr>
          </a:p>
          <a:p>
            <a:pPr marL="0" indent="665480" eaLnBrk="1" hangingPunct="1">
              <a:buClr>
                <a:schemeClr val="tx1"/>
              </a:buClr>
              <a:buNone/>
            </a:pPr>
            <a:r>
              <a:rPr lang="zh-CN" altLang="en-US" b="1" dirty="0">
                <a:solidFill>
                  <a:srgbClr val="0000FF"/>
                </a:solidFill>
              </a:rPr>
              <a:t>根据这个规律优化设计存储系统，</a:t>
            </a:r>
            <a:r>
              <a:rPr lang="zh-CN" altLang="en-US" b="1" dirty="0">
                <a:solidFill>
                  <a:srgbClr val="0000FF"/>
                </a:solidFill>
                <a:ea typeface="楷体_GB2312" pitchFamily="1" charset="-122"/>
              </a:rPr>
              <a:t>用生产成本与运行</a:t>
            </a:r>
            <a:r>
              <a:rPr lang="zh-CN" altLang="en-US" b="1" dirty="0">
                <a:solidFill>
                  <a:srgbClr val="FF3300"/>
                </a:solidFill>
                <a:ea typeface="楷体_GB2312" pitchFamily="1" charset="-122"/>
              </a:rPr>
              <a:t>成本不同</a:t>
            </a:r>
            <a:r>
              <a:rPr lang="zh-CN" altLang="en-US" b="1" dirty="0">
                <a:solidFill>
                  <a:srgbClr val="0000FF"/>
                </a:solidFill>
                <a:ea typeface="楷体_GB2312" pitchFamily="1" charset="-122"/>
              </a:rPr>
              <a:t>的存储</a:t>
            </a:r>
            <a:r>
              <a:rPr lang="zh-CN" altLang="en-US" b="1" dirty="0">
                <a:solidFill>
                  <a:srgbClr val="FF3300"/>
                </a:solidFill>
                <a:ea typeface="楷体_GB2312" pitchFamily="1" charset="-122"/>
                <a:sym typeface="Arial" panose="020B0604020202020204" pitchFamily="34" charset="0"/>
              </a:rPr>
              <a:t>容量不同</a:t>
            </a:r>
            <a:r>
              <a:rPr lang="zh-CN" altLang="en-US" b="1" dirty="0">
                <a:solidFill>
                  <a:srgbClr val="0000FF"/>
                </a:solidFill>
                <a:ea typeface="楷体_GB2312" pitchFamily="1" charset="-122"/>
              </a:rPr>
              <a:t>，读写</a:t>
            </a:r>
            <a:r>
              <a:rPr lang="zh-CN" altLang="en-US" b="1" dirty="0">
                <a:solidFill>
                  <a:srgbClr val="FF3300"/>
                </a:solidFill>
                <a:ea typeface="楷体_GB2312" pitchFamily="1" charset="-122"/>
                <a:sym typeface="Arial" panose="020B0604020202020204" pitchFamily="34" charset="0"/>
              </a:rPr>
              <a:t>速度不同</a:t>
            </a:r>
            <a:r>
              <a:rPr lang="zh-CN" altLang="en-US" b="1" dirty="0">
                <a:solidFill>
                  <a:srgbClr val="0000FF"/>
                </a:solidFill>
                <a:ea typeface="楷体_GB2312" pitchFamily="1" charset="-122"/>
              </a:rPr>
              <a:t>的多种存储介质，</a:t>
            </a:r>
            <a:r>
              <a:rPr lang="zh-CN" altLang="en-US" b="1" dirty="0">
                <a:solidFill>
                  <a:srgbClr val="FF3300"/>
                </a:solidFill>
                <a:ea typeface="楷体_GB2312" pitchFamily="1" charset="-122"/>
                <a:sym typeface="Arial" panose="020B0604020202020204" pitchFamily="34" charset="0"/>
              </a:rPr>
              <a:t>组成一个</a:t>
            </a:r>
            <a:r>
              <a:rPr lang="zh-CN" altLang="en-US" b="1" dirty="0">
                <a:solidFill>
                  <a:srgbClr val="0000FF"/>
                </a:solidFill>
                <a:ea typeface="楷体_GB2312" pitchFamily="1" charset="-122"/>
              </a:rPr>
              <a:t>统一的</a:t>
            </a:r>
            <a:r>
              <a:rPr lang="zh-CN" altLang="en-US" b="1" dirty="0">
                <a:solidFill>
                  <a:srgbClr val="FF3300"/>
                </a:solidFill>
                <a:ea typeface="楷体_GB2312" pitchFamily="1" charset="-122"/>
                <a:sym typeface="Arial" panose="020B0604020202020204" pitchFamily="34" charset="0"/>
              </a:rPr>
              <a:t>存储器系统</a:t>
            </a:r>
            <a:r>
              <a:rPr lang="zh-CN" altLang="en-US" b="1" dirty="0">
                <a:solidFill>
                  <a:srgbClr val="0000FF"/>
                </a:solidFill>
                <a:ea typeface="楷体_GB2312" pitchFamily="1" charset="-122"/>
              </a:rPr>
              <a:t>，使每种介质都处于不同的地位，发挥不同的作用，充分发挥各自在速度、容量、成本方面的优势，从而达到最优性能价格比，满足使用要求。</a:t>
            </a:r>
            <a:endParaRPr lang="zh-CN" altLang="en-US" dirty="0">
              <a:solidFill>
                <a:srgbClr val="0000FF"/>
              </a:solidFill>
              <a:ea typeface="楷体_GB2312" pitchFamily="1" charset="-122"/>
            </a:endParaRPr>
          </a:p>
        </p:txBody>
      </p:sp>
      <p:sp>
        <p:nvSpPr>
          <p:cNvPr id="10243" name="Rectangle 3"/>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3.1 概述——</a:t>
            </a:r>
            <a:r>
              <a:rPr lang="zh-CN" altLang="en-US" sz="2400" dirty="0"/>
              <a:t>存储系统的层次结构</a:t>
            </a:r>
            <a:endParaRPr lang="zh-CN" altLang="en-US" sz="2400" dirty="0"/>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10242">
                                            <p:txEl>
                                              <p:charRg st="0" end="15"/>
                                            </p:txEl>
                                          </p:spTgt>
                                        </p:tgtEl>
                                        <p:attrNameLst>
                                          <p:attrName>style.visibility</p:attrName>
                                        </p:attrNameLst>
                                      </p:cBhvr>
                                      <p:to>
                                        <p:strVal val="visible"/>
                                      </p:to>
                                    </p:set>
                                    <p:anim calcmode="lin" valueType="num">
                                      <p:cBhvr>
                                        <p:cTn id="7" dur="1000" fill="hold"/>
                                        <p:tgtEl>
                                          <p:spTgt spid="10242">
                                            <p:txEl>
                                              <p:charRg st="0" end="15"/>
                                            </p:txEl>
                                          </p:spTgt>
                                        </p:tgtEl>
                                        <p:attrNameLst>
                                          <p:attrName>ppt_w</p:attrName>
                                        </p:attrNameLst>
                                      </p:cBhvr>
                                      <p:tavLst>
                                        <p:tav tm="0">
                                          <p:val>
                                            <p:fltVal val="0.000000"/>
                                          </p:val>
                                        </p:tav>
                                        <p:tav tm="100000">
                                          <p:val>
                                            <p:strVal val="#ppt_w"/>
                                          </p:val>
                                        </p:tav>
                                      </p:tavLst>
                                    </p:anim>
                                    <p:anim calcmode="lin" valueType="num">
                                      <p:cBhvr>
                                        <p:cTn id="8" dur="1000" fill="hold"/>
                                        <p:tgtEl>
                                          <p:spTgt spid="10242">
                                            <p:txEl>
                                              <p:charRg st="0" end="15"/>
                                            </p:txEl>
                                          </p:spTgt>
                                        </p:tgtEl>
                                        <p:attrNameLst>
                                          <p:attrName>ppt_h</p:attrName>
                                        </p:attrNameLst>
                                      </p:cBhvr>
                                      <p:tavLst>
                                        <p:tav tm="0">
                                          <p:val>
                                            <p:fltVal val="0.000000"/>
                                          </p:val>
                                        </p:tav>
                                        <p:tav tm="100000">
                                          <p:val>
                                            <p:strVal val="#ppt_h"/>
                                          </p:val>
                                        </p:tav>
                                      </p:tavLst>
                                    </p:anim>
                                    <p:anim calcmode="lin" valueType="num">
                                      <p:cBhvr>
                                        <p:cTn id="9" dur="1000" fill="hold"/>
                                        <p:tgtEl>
                                          <p:spTgt spid="10242">
                                            <p:txEl>
                                              <p:charRg st="0" end="15"/>
                                            </p:txEl>
                                          </p:spTgt>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0242">
                                            <p:txEl>
                                              <p:charRg st="0" end="15"/>
                                            </p:txEl>
                                          </p:spTgt>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10242">
                                            <p:txEl>
                                              <p:charRg st="15" end="140"/>
                                            </p:txEl>
                                          </p:spTgt>
                                        </p:tgtEl>
                                        <p:attrNameLst>
                                          <p:attrName>style.visibility</p:attrName>
                                        </p:attrNameLst>
                                      </p:cBhvr>
                                      <p:to>
                                        <p:strVal val="visible"/>
                                      </p:to>
                                    </p:set>
                                    <p:anim calcmode="lin" valueType="num">
                                      <p:cBhvr>
                                        <p:cTn id="15" dur="1000" fill="hold"/>
                                        <p:tgtEl>
                                          <p:spTgt spid="10242">
                                            <p:txEl>
                                              <p:charRg st="15" end="140"/>
                                            </p:txEl>
                                          </p:spTgt>
                                        </p:tgtEl>
                                        <p:attrNameLst>
                                          <p:attrName>ppt_w</p:attrName>
                                        </p:attrNameLst>
                                      </p:cBhvr>
                                      <p:tavLst>
                                        <p:tav tm="0">
                                          <p:val>
                                            <p:fltVal val="0.000000"/>
                                          </p:val>
                                        </p:tav>
                                        <p:tav tm="100000">
                                          <p:val>
                                            <p:strVal val="#ppt_w"/>
                                          </p:val>
                                        </p:tav>
                                      </p:tavLst>
                                    </p:anim>
                                    <p:anim calcmode="lin" valueType="num">
                                      <p:cBhvr>
                                        <p:cTn id="16" dur="1000" fill="hold"/>
                                        <p:tgtEl>
                                          <p:spTgt spid="10242">
                                            <p:txEl>
                                              <p:charRg st="15" end="140"/>
                                            </p:txEl>
                                          </p:spTgt>
                                        </p:tgtEl>
                                        <p:attrNameLst>
                                          <p:attrName>ppt_h</p:attrName>
                                        </p:attrNameLst>
                                      </p:cBhvr>
                                      <p:tavLst>
                                        <p:tav tm="0">
                                          <p:val>
                                            <p:fltVal val="0.000000"/>
                                          </p:val>
                                        </p:tav>
                                        <p:tav tm="100000">
                                          <p:val>
                                            <p:strVal val="#ppt_h"/>
                                          </p:val>
                                        </p:tav>
                                      </p:tavLst>
                                    </p:anim>
                                    <p:anim calcmode="lin" valueType="num">
                                      <p:cBhvr>
                                        <p:cTn id="17" dur="1000" fill="hold"/>
                                        <p:tgtEl>
                                          <p:spTgt spid="10242">
                                            <p:txEl>
                                              <p:charRg st="15" end="140"/>
                                            </p:txEl>
                                          </p:spTgt>
                                        </p:tgtEl>
                                        <p:attrNameLst>
                                          <p:attrName>ppt_x</p:attrName>
                                        </p:attrNameLst>
                                      </p:cBhvr>
                                      <p:tavLst>
                                        <p:tav tm="0" fmla="#ppt_x+(cos(-2*pi*(1-$))*-#ppt_x-sin(-2*pi*(1-$))*(1-#ppt_y))*(1-$)">
                                          <p:val>
                                            <p:fltVal val="0.000000"/>
                                          </p:val>
                                        </p:tav>
                                        <p:tav tm="100000">
                                          <p:val>
                                            <p:fltVal val="1.000000"/>
                                          </p:val>
                                        </p:tav>
                                      </p:tavLst>
                                    </p:anim>
                                    <p:anim calcmode="lin" valueType="num">
                                      <p:cBhvr>
                                        <p:cTn id="18" dur="1000" fill="hold"/>
                                        <p:tgtEl>
                                          <p:spTgt spid="10242">
                                            <p:txEl>
                                              <p:charRg st="15" end="140"/>
                                            </p:txEl>
                                          </p:spTgt>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sz="4000" dirty="0"/>
              <a:t>3.1 概述——</a:t>
            </a:r>
            <a:r>
              <a:rPr lang="zh-CN" altLang="en-US" sz="2400" dirty="0"/>
              <a:t>存储系统的层次结构</a:t>
            </a:r>
            <a:endParaRPr lang="zh-CN" altLang="en-US" sz="2400" dirty="0"/>
          </a:p>
        </p:txBody>
      </p:sp>
      <p:sp>
        <p:nvSpPr>
          <p:cNvPr id="11267" name="AutoShape 3"/>
          <p:cNvSpPr/>
          <p:nvPr/>
        </p:nvSpPr>
        <p:spPr>
          <a:xfrm>
            <a:off x="2590800" y="2057400"/>
            <a:ext cx="2514600" cy="457200"/>
          </a:xfrm>
          <a:prstGeom prst="flowChartProcess">
            <a:avLst/>
          </a:prstGeom>
          <a:solidFill>
            <a:srgbClr val="0099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CPU</a:t>
            </a:r>
            <a:endParaRPr lang="zh-CN" altLang="en-US" sz="2400" dirty="0">
              <a:solidFill>
                <a:schemeClr val="tx1"/>
              </a:solidFill>
              <a:latin typeface="Tahoma" panose="020B0604030504040204" pitchFamily="34" charset="0"/>
            </a:endParaRPr>
          </a:p>
        </p:txBody>
      </p:sp>
      <p:sp>
        <p:nvSpPr>
          <p:cNvPr id="11268" name="AutoShape 4"/>
          <p:cNvSpPr/>
          <p:nvPr/>
        </p:nvSpPr>
        <p:spPr>
          <a:xfrm>
            <a:off x="2667000" y="2895600"/>
            <a:ext cx="2514600" cy="457200"/>
          </a:xfrm>
          <a:prstGeom prst="flowChartProcess">
            <a:avLst/>
          </a:prstGeom>
          <a:solidFill>
            <a:srgbClr val="0099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Cache</a:t>
            </a:r>
            <a:endParaRPr lang="zh-CN" altLang="en-US" sz="2400" dirty="0">
              <a:solidFill>
                <a:schemeClr val="tx1"/>
              </a:solidFill>
              <a:latin typeface="Tahoma" panose="020B0604030504040204" pitchFamily="34" charset="0"/>
            </a:endParaRPr>
          </a:p>
        </p:txBody>
      </p:sp>
      <p:sp>
        <p:nvSpPr>
          <p:cNvPr id="11269" name="AutoShape 5"/>
          <p:cNvSpPr/>
          <p:nvPr/>
        </p:nvSpPr>
        <p:spPr>
          <a:xfrm>
            <a:off x="2667000" y="3886200"/>
            <a:ext cx="2514600" cy="457200"/>
          </a:xfrm>
          <a:prstGeom prst="flowChartProcess">
            <a:avLst/>
          </a:prstGeom>
          <a:solidFill>
            <a:srgbClr val="0099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Memory</a:t>
            </a:r>
            <a:endParaRPr lang="zh-CN" altLang="en-US" sz="2400" dirty="0">
              <a:solidFill>
                <a:schemeClr val="tx1"/>
              </a:solidFill>
              <a:latin typeface="Tahoma" panose="020B0604030504040204" pitchFamily="34" charset="0"/>
            </a:endParaRPr>
          </a:p>
        </p:txBody>
      </p:sp>
      <p:sp>
        <p:nvSpPr>
          <p:cNvPr id="11270" name="AutoShape 6"/>
          <p:cNvSpPr/>
          <p:nvPr/>
        </p:nvSpPr>
        <p:spPr>
          <a:xfrm>
            <a:off x="2667000" y="4800600"/>
            <a:ext cx="2514600" cy="457200"/>
          </a:xfrm>
          <a:prstGeom prst="flowChartProcess">
            <a:avLst/>
          </a:prstGeom>
          <a:solidFill>
            <a:srgbClr val="0099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dirty="0">
                <a:solidFill>
                  <a:schemeClr val="tx1"/>
                </a:solidFill>
                <a:latin typeface="Tahoma" panose="020B0604030504040204" pitchFamily="34" charset="0"/>
              </a:rPr>
              <a:t>辅存</a:t>
            </a:r>
            <a:endParaRPr lang="zh-CN" altLang="zh-CN" sz="2400" dirty="0">
              <a:solidFill>
                <a:schemeClr val="tx1"/>
              </a:solidFill>
              <a:latin typeface="Tahoma" panose="020B0604030504040204" pitchFamily="34" charset="0"/>
            </a:endParaRPr>
          </a:p>
        </p:txBody>
      </p:sp>
      <p:sp>
        <p:nvSpPr>
          <p:cNvPr id="11271" name="AutoShape 7"/>
          <p:cNvSpPr/>
          <p:nvPr/>
        </p:nvSpPr>
        <p:spPr>
          <a:xfrm>
            <a:off x="3810000" y="2514600"/>
            <a:ext cx="228600" cy="381000"/>
          </a:xfrm>
          <a:prstGeom prst="upDownArrow">
            <a:avLst>
              <a:gd name="adj1" fmla="val 50000"/>
              <a:gd name="adj2"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1272" name="AutoShape 8"/>
          <p:cNvSpPr/>
          <p:nvPr/>
        </p:nvSpPr>
        <p:spPr>
          <a:xfrm>
            <a:off x="3810000" y="3352800"/>
            <a:ext cx="228600" cy="533400"/>
          </a:xfrm>
          <a:prstGeom prst="upDownArrow">
            <a:avLst>
              <a:gd name="adj1" fmla="val 50000"/>
              <a:gd name="adj2" fmla="val 46666"/>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1273" name="AutoShape 9"/>
          <p:cNvSpPr/>
          <p:nvPr/>
        </p:nvSpPr>
        <p:spPr>
          <a:xfrm>
            <a:off x="3810000" y="4419600"/>
            <a:ext cx="228600" cy="381000"/>
          </a:xfrm>
          <a:prstGeom prst="upDownArrow">
            <a:avLst>
              <a:gd name="adj1" fmla="val 50000"/>
              <a:gd name="adj2"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1274" name="Text Box 10"/>
          <p:cNvSpPr txBox="1"/>
          <p:nvPr/>
        </p:nvSpPr>
        <p:spPr>
          <a:xfrm>
            <a:off x="6324600" y="4191000"/>
            <a:ext cx="1905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2400" dirty="0">
                <a:solidFill>
                  <a:schemeClr val="tx1"/>
                </a:solidFill>
                <a:latin typeface="Tahoma" panose="020B0604030504040204" pitchFamily="34" charset="0"/>
              </a:rPr>
              <a:t>虚拟存储器</a:t>
            </a:r>
            <a:endParaRPr lang="zh-CN" altLang="zh-CN" sz="2400" dirty="0">
              <a:solidFill>
                <a:schemeClr val="tx1"/>
              </a:solidFill>
              <a:latin typeface="Tahoma" panose="020B0604030504040204" pitchFamily="34" charset="0"/>
            </a:endParaRPr>
          </a:p>
        </p:txBody>
      </p:sp>
      <p:sp>
        <p:nvSpPr>
          <p:cNvPr id="11275" name="Text Box 11"/>
          <p:cNvSpPr txBox="1"/>
          <p:nvPr/>
        </p:nvSpPr>
        <p:spPr>
          <a:xfrm>
            <a:off x="5546725" y="3733800"/>
            <a:ext cx="549275" cy="1752600"/>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2400" dirty="0">
                <a:solidFill>
                  <a:schemeClr val="tx1"/>
                </a:solidFill>
                <a:latin typeface="Tahoma" panose="020B0604030504040204" pitchFamily="34" charset="0"/>
              </a:rPr>
              <a:t>软件、硬件</a:t>
            </a:r>
            <a:endParaRPr lang="zh-CN" altLang="zh-CN" sz="2400" dirty="0">
              <a:solidFill>
                <a:schemeClr val="tx1"/>
              </a:solidFill>
              <a:latin typeface="Tahoma" panose="020B0604030504040204" pitchFamily="34" charset="0"/>
            </a:endParaRPr>
          </a:p>
        </p:txBody>
      </p:sp>
      <p:sp>
        <p:nvSpPr>
          <p:cNvPr id="11276" name="Line 12"/>
          <p:cNvSpPr/>
          <p:nvPr/>
        </p:nvSpPr>
        <p:spPr>
          <a:xfrm>
            <a:off x="3962400" y="3581400"/>
            <a:ext cx="2514600" cy="0"/>
          </a:xfrm>
          <a:prstGeom prst="line">
            <a:avLst/>
          </a:prstGeom>
          <a:ln w="9525" cap="flat" cmpd="sng">
            <a:solidFill>
              <a:schemeClr val="tx1"/>
            </a:solidFill>
            <a:prstDash val="solid"/>
            <a:headEnd type="none" w="med" len="med"/>
            <a:tailEnd type="none" w="med" len="med"/>
          </a:ln>
        </p:spPr>
      </p:sp>
      <p:sp>
        <p:nvSpPr>
          <p:cNvPr id="11277" name="Line 13"/>
          <p:cNvSpPr/>
          <p:nvPr/>
        </p:nvSpPr>
        <p:spPr>
          <a:xfrm>
            <a:off x="3886200" y="5562600"/>
            <a:ext cx="2743200" cy="0"/>
          </a:xfrm>
          <a:prstGeom prst="line">
            <a:avLst/>
          </a:prstGeom>
          <a:ln w="9525" cap="flat" cmpd="sng">
            <a:solidFill>
              <a:schemeClr val="tx1"/>
            </a:solidFill>
            <a:prstDash val="solid"/>
            <a:headEnd type="none" w="med" len="med"/>
            <a:tailEnd type="none" w="med" len="med"/>
          </a:ln>
        </p:spPr>
      </p:sp>
      <p:sp>
        <p:nvSpPr>
          <p:cNvPr id="11278" name="Line 14"/>
          <p:cNvSpPr/>
          <p:nvPr/>
        </p:nvSpPr>
        <p:spPr>
          <a:xfrm flipH="1">
            <a:off x="1371600" y="2667000"/>
            <a:ext cx="2514600" cy="0"/>
          </a:xfrm>
          <a:prstGeom prst="line">
            <a:avLst/>
          </a:prstGeom>
          <a:ln w="9525" cap="flat" cmpd="sng">
            <a:solidFill>
              <a:schemeClr val="tx1"/>
            </a:solidFill>
            <a:prstDash val="solid"/>
            <a:headEnd type="none" w="med" len="med"/>
            <a:tailEnd type="none" w="med" len="med"/>
          </a:ln>
        </p:spPr>
      </p:sp>
      <p:sp>
        <p:nvSpPr>
          <p:cNvPr id="11279" name="Line 15"/>
          <p:cNvSpPr/>
          <p:nvPr/>
        </p:nvSpPr>
        <p:spPr>
          <a:xfrm flipH="1">
            <a:off x="1371600" y="4572000"/>
            <a:ext cx="2514600" cy="0"/>
          </a:xfrm>
          <a:prstGeom prst="line">
            <a:avLst/>
          </a:prstGeom>
          <a:ln w="9525" cap="flat" cmpd="sng">
            <a:solidFill>
              <a:schemeClr val="tx1"/>
            </a:solidFill>
            <a:prstDash val="solid"/>
            <a:headEnd type="none" w="med" len="med"/>
            <a:tailEnd type="none" w="med" len="med"/>
          </a:ln>
        </p:spPr>
      </p:sp>
      <p:sp>
        <p:nvSpPr>
          <p:cNvPr id="11280" name="Text Box 16"/>
          <p:cNvSpPr txBox="1"/>
          <p:nvPr/>
        </p:nvSpPr>
        <p:spPr>
          <a:xfrm>
            <a:off x="1600200" y="3124200"/>
            <a:ext cx="549275" cy="1066800"/>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2400" dirty="0">
                <a:solidFill>
                  <a:schemeClr val="tx1"/>
                </a:solidFill>
                <a:latin typeface="Tahoma" panose="020B0604030504040204" pitchFamily="34" charset="0"/>
              </a:rPr>
              <a:t>硬件</a:t>
            </a:r>
            <a:endParaRPr lang="zh-CN" altLang="zh-CN" sz="2400" dirty="0">
              <a:solidFill>
                <a:schemeClr val="tx1"/>
              </a:solidFill>
              <a:latin typeface="Tahoma" panose="020B0604030504040204" pitchFamily="34" charset="0"/>
            </a:endParaRPr>
          </a:p>
        </p:txBody>
      </p:sp>
      <p:sp>
        <p:nvSpPr>
          <p:cNvPr id="11281" name="Line 17"/>
          <p:cNvSpPr/>
          <p:nvPr/>
        </p:nvSpPr>
        <p:spPr>
          <a:xfrm>
            <a:off x="1828800" y="2667000"/>
            <a:ext cx="0" cy="304800"/>
          </a:xfrm>
          <a:prstGeom prst="line">
            <a:avLst/>
          </a:prstGeom>
          <a:ln w="9525" cap="flat" cmpd="sng">
            <a:solidFill>
              <a:schemeClr val="tx1"/>
            </a:solidFill>
            <a:prstDash val="solid"/>
            <a:headEnd type="none" w="med" len="med"/>
            <a:tailEnd type="triangle" w="med" len="med"/>
          </a:ln>
        </p:spPr>
      </p:sp>
      <p:sp>
        <p:nvSpPr>
          <p:cNvPr id="11282" name="Line 18"/>
          <p:cNvSpPr/>
          <p:nvPr/>
        </p:nvSpPr>
        <p:spPr>
          <a:xfrm flipV="1">
            <a:off x="1828800" y="3962400"/>
            <a:ext cx="0" cy="609600"/>
          </a:xfrm>
          <a:prstGeom prst="line">
            <a:avLst/>
          </a:prstGeom>
          <a:ln w="9525" cap="flat" cmpd="sng">
            <a:solidFill>
              <a:schemeClr val="tx1"/>
            </a:solidFill>
            <a:prstDash val="solid"/>
            <a:headEnd type="none" w="med" len="med"/>
            <a:tailEnd type="triangle" w="med" len="med"/>
          </a:ln>
        </p:spPr>
      </p:sp>
      <p:sp>
        <p:nvSpPr>
          <p:cNvPr id="11283" name="AutoShape 19"/>
          <p:cNvSpPr/>
          <p:nvPr/>
        </p:nvSpPr>
        <p:spPr>
          <a:xfrm>
            <a:off x="5791200" y="1828800"/>
            <a:ext cx="2667000" cy="1143000"/>
          </a:xfrm>
          <a:prstGeom prst="flowChartAlternateProcess">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800" b="1" dirty="0">
                <a:solidFill>
                  <a:schemeClr val="tx1"/>
                </a:solidFill>
                <a:latin typeface="Tahoma" panose="020B0604030504040204" pitchFamily="34" charset="0"/>
              </a:rPr>
              <a:t>计算机存储</a:t>
            </a:r>
            <a:endParaRPr lang="zh-CN" altLang="zh-CN" sz="2800" b="1" dirty="0">
              <a:solidFill>
                <a:schemeClr val="tx1"/>
              </a:solidFill>
              <a:latin typeface="Tahoma" panose="020B0604030504040204" pitchFamily="34" charset="0"/>
            </a:endParaRPr>
          </a:p>
          <a:p>
            <a:pPr marL="0" lvl="0" indent="0" algn="ctr" eaLnBrk="1" hangingPunct="1">
              <a:spcBef>
                <a:spcPct val="0"/>
              </a:spcBef>
              <a:buNone/>
            </a:pPr>
            <a:r>
              <a:rPr lang="zh-CN" altLang="zh-CN" sz="2800" b="1" dirty="0">
                <a:solidFill>
                  <a:schemeClr val="tx1"/>
                </a:solidFill>
                <a:latin typeface="Tahoma" panose="020B0604030504040204" pitchFamily="34" charset="0"/>
              </a:rPr>
              <a:t>系统的层次结构</a:t>
            </a:r>
            <a:endParaRPr lang="zh-CN" altLang="zh-CN" sz="2800" b="1" dirty="0">
              <a:solidFill>
                <a:schemeClr val="tx1"/>
              </a:solidFill>
              <a:latin typeface="Tahom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body" idx="4294967295"/>
          </p:nvPr>
        </p:nvSpPr>
        <p:spPr>
          <a:xfrm>
            <a:off x="533400" y="2438400"/>
            <a:ext cx="8077200" cy="3733800"/>
          </a:xfrm>
          <a:ln/>
        </p:spPr>
        <p:txBody>
          <a:bodyPr vert="horz" wrap="square" lIns="91440" tIns="45720" rIns="91440" bIns="45720" anchor="t" anchorCtr="0"/>
          <a:p>
            <a:pPr marL="609600" indent="-609600" eaLnBrk="1" hangingPunct="1">
              <a:buClr>
                <a:schemeClr val="tx1"/>
              </a:buClr>
              <a:buFontTx/>
              <a:buAutoNum type="arabicPeriod"/>
            </a:pPr>
            <a:r>
              <a:rPr lang="zh-CN" altLang="en-US" b="1" dirty="0">
                <a:solidFill>
                  <a:schemeClr val="tx1"/>
                </a:solidFill>
              </a:rPr>
              <a:t>一致性原则</a:t>
            </a:r>
            <a:r>
              <a:rPr lang="zh-CN" altLang="en-US" b="1" dirty="0"/>
              <a:t>：</a:t>
            </a:r>
            <a:endParaRPr lang="zh-CN" altLang="en-US" b="1" dirty="0"/>
          </a:p>
          <a:p>
            <a:pPr marL="609600" indent="-609600" eaLnBrk="1" hangingPunct="1">
              <a:buClr>
                <a:schemeClr val="tx1"/>
              </a:buClr>
              <a:buNone/>
            </a:pPr>
            <a:r>
              <a:rPr lang="zh-CN" altLang="en-US" sz="2800" b="1" dirty="0">
                <a:latin typeface="楷体_GB2312" pitchFamily="1" charset="-122"/>
                <a:ea typeface="楷体_GB2312" pitchFamily="1" charset="-122"/>
              </a:rPr>
              <a:t>    处在不同层次的同一个信息应保持相同的值。</a:t>
            </a:r>
            <a:endParaRPr lang="zh-CN" altLang="en-US" sz="2800" b="1" dirty="0">
              <a:latin typeface="楷体_GB2312" pitchFamily="1" charset="-122"/>
              <a:ea typeface="楷体_GB2312" pitchFamily="1" charset="-122"/>
            </a:endParaRPr>
          </a:p>
          <a:p>
            <a:pPr marL="609600" indent="-609600" eaLnBrk="1" hangingPunct="1">
              <a:buClr>
                <a:schemeClr val="tx1"/>
              </a:buClr>
              <a:buFontTx/>
              <a:buAutoNum type="arabicPeriod" startAt="2"/>
            </a:pPr>
            <a:r>
              <a:rPr lang="zh-CN" altLang="en-US" b="1" dirty="0">
                <a:solidFill>
                  <a:schemeClr val="tx1"/>
                </a:solidFill>
              </a:rPr>
              <a:t>包含性原则</a:t>
            </a:r>
            <a:r>
              <a:rPr lang="zh-CN" altLang="en-US" b="1" dirty="0"/>
              <a:t>： </a:t>
            </a:r>
            <a:endParaRPr lang="zh-CN" altLang="en-US" b="1" dirty="0"/>
          </a:p>
          <a:p>
            <a:pPr marL="609600" indent="-609600" eaLnBrk="1" hangingPunct="1">
              <a:buClr>
                <a:schemeClr val="tx1"/>
              </a:buClr>
              <a:buNone/>
            </a:pPr>
            <a:r>
              <a:rPr lang="zh-CN" altLang="en-US" sz="2800" b="1" dirty="0">
                <a:latin typeface="楷体_GB2312" pitchFamily="1" charset="-122"/>
                <a:ea typeface="楷体_GB2312" pitchFamily="1" charset="-122"/>
              </a:rPr>
              <a:t>    处在内层的信息一定被包含在其外层的存储器中，反之则不成立，即内层存储器的全部信息，是其相邻外层信息的一部分的复制品 。</a:t>
            </a:r>
            <a:r>
              <a:rPr lang="zh-CN" altLang="en-US" dirty="0"/>
              <a:t>     </a:t>
            </a:r>
            <a:endParaRPr lang="zh-CN" altLang="en-US" dirty="0"/>
          </a:p>
        </p:txBody>
      </p:sp>
      <p:sp>
        <p:nvSpPr>
          <p:cNvPr id="12291" name="Text Box 3"/>
          <p:cNvSpPr txBox="1"/>
          <p:nvPr/>
        </p:nvSpPr>
        <p:spPr>
          <a:xfrm>
            <a:off x="838200" y="1828800"/>
            <a:ext cx="7086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pPr>
            <a:r>
              <a:rPr lang="zh-CN" altLang="zh-CN" sz="2800" b="1" dirty="0">
                <a:solidFill>
                  <a:schemeClr val="tx1"/>
                </a:solidFill>
                <a:latin typeface="Tahoma" panose="020B0604030504040204" pitchFamily="34" charset="0"/>
              </a:rPr>
              <a:t>层次间应满足的原则</a:t>
            </a:r>
            <a:endParaRPr lang="zh-CN" altLang="zh-CN" sz="2800" b="1" dirty="0">
              <a:solidFill>
                <a:schemeClr val="tx1"/>
              </a:solidFill>
              <a:latin typeface="Tahoma" panose="020B0604030504040204" pitchFamily="34" charset="0"/>
            </a:endParaRPr>
          </a:p>
        </p:txBody>
      </p:sp>
      <p:sp>
        <p:nvSpPr>
          <p:cNvPr id="12292" name="Rectangle 4"/>
          <p:cNvSpPr/>
          <p:nvPr>
            <p:ph type="title" idx="4294967295"/>
          </p:nvPr>
        </p:nvSpPr>
        <p:spPr>
          <a:xfrm>
            <a:off x="612775" y="765175"/>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3.1 概述</a:t>
            </a:r>
            <a:r>
              <a:rPr lang="zh-CN" altLang="en-US" sz="4000" dirty="0"/>
              <a:t>——</a:t>
            </a:r>
            <a:r>
              <a:rPr lang="zh-CN" altLang="en-US" sz="2400" dirty="0"/>
              <a:t>存储系统的层次结构</a:t>
            </a:r>
            <a:endParaRPr lang="zh-CN" altLang="en-US" sz="2400" dirty="0"/>
          </a:p>
        </p:txBody>
      </p:sp>
    </p:spTree>
  </p:cSld>
  <p:clrMapOvr>
    <a:masterClrMapping/>
  </p:clrMapOvr>
  <p:transition>
    <p:pull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12290">
                                            <p:txEl>
                                              <p:charRg st="0" end="7"/>
                                            </p:txEl>
                                          </p:spTgt>
                                        </p:tgtEl>
                                        <p:attrNameLst>
                                          <p:attrName>style.visibility</p:attrName>
                                        </p:attrNameLst>
                                      </p:cBhvr>
                                      <p:to>
                                        <p:strVal val="visible"/>
                                      </p:to>
                                    </p:set>
                                    <p:anim calcmode="lin" valueType="num">
                                      <p:cBhvr>
                                        <p:cTn id="7" dur="1000" fill="hold"/>
                                        <p:tgtEl>
                                          <p:spTgt spid="12290">
                                            <p:txEl>
                                              <p:charRg st="0" end="7"/>
                                            </p:txEl>
                                          </p:spTgt>
                                        </p:tgtEl>
                                        <p:attrNameLst>
                                          <p:attrName>ppt_w</p:attrName>
                                        </p:attrNameLst>
                                      </p:cBhvr>
                                      <p:tavLst>
                                        <p:tav tm="0">
                                          <p:val>
                                            <p:fltVal val="0.000000"/>
                                          </p:val>
                                        </p:tav>
                                        <p:tav tm="100000">
                                          <p:val>
                                            <p:strVal val="#ppt_w"/>
                                          </p:val>
                                        </p:tav>
                                      </p:tavLst>
                                    </p:anim>
                                    <p:anim calcmode="lin" valueType="num">
                                      <p:cBhvr>
                                        <p:cTn id="8" dur="1000" fill="hold"/>
                                        <p:tgtEl>
                                          <p:spTgt spid="12290">
                                            <p:txEl>
                                              <p:charRg st="0" end="7"/>
                                            </p:txEl>
                                          </p:spTgt>
                                        </p:tgtEl>
                                        <p:attrNameLst>
                                          <p:attrName>ppt_h</p:attrName>
                                        </p:attrNameLst>
                                      </p:cBhvr>
                                      <p:tavLst>
                                        <p:tav tm="0">
                                          <p:val>
                                            <p:fltVal val="0.000000"/>
                                          </p:val>
                                        </p:tav>
                                        <p:tav tm="100000">
                                          <p:val>
                                            <p:strVal val="#ppt_h"/>
                                          </p:val>
                                        </p:tav>
                                      </p:tavLst>
                                    </p:anim>
                                    <p:anim calcmode="lin" valueType="num">
                                      <p:cBhvr>
                                        <p:cTn id="9" dur="1000" fill="hold"/>
                                        <p:tgtEl>
                                          <p:spTgt spid="12290">
                                            <p:txEl>
                                              <p:charRg st="0" end="7"/>
                                            </p:txEl>
                                          </p:spTgt>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2290">
                                            <p:txEl>
                                              <p:charRg st="0" end="7"/>
                                            </p:txEl>
                                          </p:spTgt>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12290">
                                            <p:txEl>
                                              <p:charRg st="7" end="32"/>
                                            </p:txEl>
                                          </p:spTgt>
                                        </p:tgtEl>
                                        <p:attrNameLst>
                                          <p:attrName>style.visibility</p:attrName>
                                        </p:attrNameLst>
                                      </p:cBhvr>
                                      <p:to>
                                        <p:strVal val="visible"/>
                                      </p:to>
                                    </p:set>
                                    <p:anim calcmode="lin" valueType="num">
                                      <p:cBhvr>
                                        <p:cTn id="15" dur="1000" fill="hold"/>
                                        <p:tgtEl>
                                          <p:spTgt spid="12290">
                                            <p:txEl>
                                              <p:charRg st="7" end="32"/>
                                            </p:txEl>
                                          </p:spTgt>
                                        </p:tgtEl>
                                        <p:attrNameLst>
                                          <p:attrName>ppt_w</p:attrName>
                                        </p:attrNameLst>
                                      </p:cBhvr>
                                      <p:tavLst>
                                        <p:tav tm="0">
                                          <p:val>
                                            <p:fltVal val="0.000000"/>
                                          </p:val>
                                        </p:tav>
                                        <p:tav tm="100000">
                                          <p:val>
                                            <p:strVal val="#ppt_w"/>
                                          </p:val>
                                        </p:tav>
                                      </p:tavLst>
                                    </p:anim>
                                    <p:anim calcmode="lin" valueType="num">
                                      <p:cBhvr>
                                        <p:cTn id="16" dur="1000" fill="hold"/>
                                        <p:tgtEl>
                                          <p:spTgt spid="12290">
                                            <p:txEl>
                                              <p:charRg st="7" end="32"/>
                                            </p:txEl>
                                          </p:spTgt>
                                        </p:tgtEl>
                                        <p:attrNameLst>
                                          <p:attrName>ppt_h</p:attrName>
                                        </p:attrNameLst>
                                      </p:cBhvr>
                                      <p:tavLst>
                                        <p:tav tm="0">
                                          <p:val>
                                            <p:fltVal val="0.000000"/>
                                          </p:val>
                                        </p:tav>
                                        <p:tav tm="100000">
                                          <p:val>
                                            <p:strVal val="#ppt_h"/>
                                          </p:val>
                                        </p:tav>
                                      </p:tavLst>
                                    </p:anim>
                                    <p:anim calcmode="lin" valueType="num">
                                      <p:cBhvr>
                                        <p:cTn id="17" dur="1000" fill="hold"/>
                                        <p:tgtEl>
                                          <p:spTgt spid="12290">
                                            <p:txEl>
                                              <p:charRg st="7" end="32"/>
                                            </p:txEl>
                                          </p:spTgt>
                                        </p:tgtEl>
                                        <p:attrNameLst>
                                          <p:attrName>ppt_x</p:attrName>
                                        </p:attrNameLst>
                                      </p:cBhvr>
                                      <p:tavLst>
                                        <p:tav tm="0" fmla="#ppt_x+(cos(-2*pi*(1-$))*-#ppt_x-sin(-2*pi*(1-$))*(1-#ppt_y))*(1-$)">
                                          <p:val>
                                            <p:fltVal val="0.000000"/>
                                          </p:val>
                                        </p:tav>
                                        <p:tav tm="100000">
                                          <p:val>
                                            <p:fltVal val="1.000000"/>
                                          </p:val>
                                        </p:tav>
                                      </p:tavLst>
                                    </p:anim>
                                    <p:anim calcmode="lin" valueType="num">
                                      <p:cBhvr>
                                        <p:cTn id="18" dur="1000" fill="hold"/>
                                        <p:tgtEl>
                                          <p:spTgt spid="12290">
                                            <p:txEl>
                                              <p:charRg st="7" end="32"/>
                                            </p:txEl>
                                          </p:spTgt>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nodeType="clickEffect">
                                  <p:stCondLst>
                                    <p:cond delay="0"/>
                                  </p:stCondLst>
                                  <p:childTnLst>
                                    <p:set>
                                      <p:cBhvr>
                                        <p:cTn id="22" dur="1" fill="hold">
                                          <p:stCondLst>
                                            <p:cond delay="0"/>
                                          </p:stCondLst>
                                        </p:cTn>
                                        <p:tgtEl>
                                          <p:spTgt spid="12290">
                                            <p:txEl>
                                              <p:charRg st="32" end="40"/>
                                            </p:txEl>
                                          </p:spTgt>
                                        </p:tgtEl>
                                        <p:attrNameLst>
                                          <p:attrName>style.visibility</p:attrName>
                                        </p:attrNameLst>
                                      </p:cBhvr>
                                      <p:to>
                                        <p:strVal val="visible"/>
                                      </p:to>
                                    </p:set>
                                    <p:anim calcmode="lin" valueType="num">
                                      <p:cBhvr>
                                        <p:cTn id="23" dur="1000" fill="hold"/>
                                        <p:tgtEl>
                                          <p:spTgt spid="12290">
                                            <p:txEl>
                                              <p:charRg st="32" end="40"/>
                                            </p:txEl>
                                          </p:spTgt>
                                        </p:tgtEl>
                                        <p:attrNameLst>
                                          <p:attrName>ppt_w</p:attrName>
                                        </p:attrNameLst>
                                      </p:cBhvr>
                                      <p:tavLst>
                                        <p:tav tm="0">
                                          <p:val>
                                            <p:fltVal val="0.000000"/>
                                          </p:val>
                                        </p:tav>
                                        <p:tav tm="100000">
                                          <p:val>
                                            <p:strVal val="#ppt_w"/>
                                          </p:val>
                                        </p:tav>
                                      </p:tavLst>
                                    </p:anim>
                                    <p:anim calcmode="lin" valueType="num">
                                      <p:cBhvr>
                                        <p:cTn id="24" dur="1000" fill="hold"/>
                                        <p:tgtEl>
                                          <p:spTgt spid="12290">
                                            <p:txEl>
                                              <p:charRg st="32" end="40"/>
                                            </p:txEl>
                                          </p:spTgt>
                                        </p:tgtEl>
                                        <p:attrNameLst>
                                          <p:attrName>ppt_h</p:attrName>
                                        </p:attrNameLst>
                                      </p:cBhvr>
                                      <p:tavLst>
                                        <p:tav tm="0">
                                          <p:val>
                                            <p:fltVal val="0.000000"/>
                                          </p:val>
                                        </p:tav>
                                        <p:tav tm="100000">
                                          <p:val>
                                            <p:strVal val="#ppt_h"/>
                                          </p:val>
                                        </p:tav>
                                      </p:tavLst>
                                    </p:anim>
                                    <p:anim calcmode="lin" valueType="num">
                                      <p:cBhvr>
                                        <p:cTn id="25" dur="1000" fill="hold"/>
                                        <p:tgtEl>
                                          <p:spTgt spid="12290">
                                            <p:txEl>
                                              <p:charRg st="32" end="40"/>
                                            </p:txEl>
                                          </p:spTgt>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12290">
                                            <p:txEl>
                                              <p:charRg st="32" end="40"/>
                                            </p:txEl>
                                          </p:spTgt>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nodeType="clickEffect">
                                  <p:stCondLst>
                                    <p:cond delay="0"/>
                                  </p:stCondLst>
                                  <p:childTnLst>
                                    <p:set>
                                      <p:cBhvr>
                                        <p:cTn id="30" dur="1" fill="hold">
                                          <p:stCondLst>
                                            <p:cond delay="0"/>
                                          </p:stCondLst>
                                        </p:cTn>
                                        <p:tgtEl>
                                          <p:spTgt spid="12290">
                                            <p:txEl>
                                              <p:charRg st="40" end="109"/>
                                            </p:txEl>
                                          </p:spTgt>
                                        </p:tgtEl>
                                        <p:attrNameLst>
                                          <p:attrName>style.visibility</p:attrName>
                                        </p:attrNameLst>
                                      </p:cBhvr>
                                      <p:to>
                                        <p:strVal val="visible"/>
                                      </p:to>
                                    </p:set>
                                    <p:anim calcmode="lin" valueType="num">
                                      <p:cBhvr>
                                        <p:cTn id="31" dur="1000" fill="hold"/>
                                        <p:tgtEl>
                                          <p:spTgt spid="12290">
                                            <p:txEl>
                                              <p:charRg st="40" end="109"/>
                                            </p:txEl>
                                          </p:spTgt>
                                        </p:tgtEl>
                                        <p:attrNameLst>
                                          <p:attrName>ppt_w</p:attrName>
                                        </p:attrNameLst>
                                      </p:cBhvr>
                                      <p:tavLst>
                                        <p:tav tm="0">
                                          <p:val>
                                            <p:fltVal val="0.000000"/>
                                          </p:val>
                                        </p:tav>
                                        <p:tav tm="100000">
                                          <p:val>
                                            <p:strVal val="#ppt_w"/>
                                          </p:val>
                                        </p:tav>
                                      </p:tavLst>
                                    </p:anim>
                                    <p:anim calcmode="lin" valueType="num">
                                      <p:cBhvr>
                                        <p:cTn id="32" dur="1000" fill="hold"/>
                                        <p:tgtEl>
                                          <p:spTgt spid="12290">
                                            <p:txEl>
                                              <p:charRg st="40" end="109"/>
                                            </p:txEl>
                                          </p:spTgt>
                                        </p:tgtEl>
                                        <p:attrNameLst>
                                          <p:attrName>ppt_h</p:attrName>
                                        </p:attrNameLst>
                                      </p:cBhvr>
                                      <p:tavLst>
                                        <p:tav tm="0">
                                          <p:val>
                                            <p:fltVal val="0.000000"/>
                                          </p:val>
                                        </p:tav>
                                        <p:tav tm="100000">
                                          <p:val>
                                            <p:strVal val="#ppt_h"/>
                                          </p:val>
                                        </p:tav>
                                      </p:tavLst>
                                    </p:anim>
                                    <p:anim calcmode="lin" valueType="num">
                                      <p:cBhvr>
                                        <p:cTn id="33" dur="1000" fill="hold"/>
                                        <p:tgtEl>
                                          <p:spTgt spid="12290">
                                            <p:txEl>
                                              <p:charRg st="40" end="109"/>
                                            </p:txEl>
                                          </p:spTgt>
                                        </p:tgtEl>
                                        <p:attrNameLst>
                                          <p:attrName>ppt_x</p:attrName>
                                        </p:attrNameLst>
                                      </p:cBhvr>
                                      <p:tavLst>
                                        <p:tav tm="0" fmla="#ppt_x+(cos(-2*pi*(1-$))*-#ppt_x-sin(-2*pi*(1-$))*(1-#ppt_y))*(1-$)">
                                          <p:val>
                                            <p:fltVal val="0.000000"/>
                                          </p:val>
                                        </p:tav>
                                        <p:tav tm="100000">
                                          <p:val>
                                            <p:fltVal val="1.000000"/>
                                          </p:val>
                                        </p:tav>
                                      </p:tavLst>
                                    </p:anim>
                                    <p:anim calcmode="lin" valueType="num">
                                      <p:cBhvr>
                                        <p:cTn id="34" dur="1000" fill="hold"/>
                                        <p:tgtEl>
                                          <p:spTgt spid="12290">
                                            <p:txEl>
                                              <p:charRg st="40" end="109"/>
                                            </p:txEl>
                                          </p:spTgt>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p:nvPr/>
        </p:nvSpPr>
        <p:spPr>
          <a:xfrm>
            <a:off x="1600200" y="1981200"/>
            <a:ext cx="6789738" cy="2971800"/>
          </a:xfrm>
          <a:prstGeom prst="rect">
            <a:avLst/>
          </a:prstGeom>
          <a:solidFill>
            <a:schemeClr val="accent1">
              <a:alpha val="50195"/>
            </a:schemeClr>
          </a:solidFill>
          <a:ln w="2857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315" name="Rectangle 3"/>
          <p:cNvSpPr>
            <a:spLocks noGrp="1"/>
          </p:cNvSpPr>
          <p:nvPr>
            <p:ph type="body" idx="4294967295"/>
          </p:nvPr>
        </p:nvSpPr>
        <p:spPr>
          <a:xfrm>
            <a:off x="152400" y="1905000"/>
            <a:ext cx="8686800" cy="4692650"/>
          </a:xfrm>
          <a:ln/>
        </p:spPr>
        <p:txBody>
          <a:bodyPr vert="horz" wrap="square" lIns="91440" tIns="45720" rIns="91440" bIns="45720" anchor="t" anchorCtr="0"/>
          <a:p>
            <a:pPr marL="0" indent="484505" eaLnBrk="1" hangingPunct="1">
              <a:buClr>
                <a:schemeClr val="tx1"/>
              </a:buClr>
              <a:buNone/>
            </a:pPr>
            <a:r>
              <a:rPr lang="zh-CN" altLang="en-US" sz="2800" dirty="0"/>
              <a:t>           </a:t>
            </a:r>
            <a:r>
              <a:rPr lang="zh-CN" altLang="en-US" sz="2800" b="1" dirty="0"/>
              <a:t>存取速度      容量成本        存储成本</a:t>
            </a:r>
            <a:endParaRPr lang="zh-CN" altLang="en-US" sz="2800" b="1" dirty="0"/>
          </a:p>
          <a:p>
            <a:pPr marL="0" indent="484505" eaLnBrk="1" hangingPunct="1">
              <a:buClr>
                <a:schemeClr val="tx1"/>
              </a:buClr>
              <a:buNone/>
            </a:pPr>
            <a:r>
              <a:rPr lang="zh-CN" altLang="en-US" sz="2800" b="1" dirty="0"/>
              <a:t>CPU        10ns          512B              1800  (美分/KB)</a:t>
            </a:r>
            <a:endParaRPr lang="zh-CN" altLang="en-US" sz="2800" b="1" dirty="0"/>
          </a:p>
          <a:p>
            <a:pPr marL="0" indent="484505" eaLnBrk="1" hangingPunct="1">
              <a:buClr>
                <a:schemeClr val="tx1"/>
              </a:buClr>
              <a:buNone/>
            </a:pPr>
            <a:r>
              <a:rPr lang="zh-CN" altLang="en-US" sz="2800" b="1" dirty="0"/>
              <a:t>缓存     20~40ns      128KB             72 </a:t>
            </a:r>
            <a:endParaRPr lang="zh-CN" altLang="en-US" sz="2800" b="1" dirty="0"/>
          </a:p>
          <a:p>
            <a:pPr marL="0" indent="484505" eaLnBrk="1" hangingPunct="1">
              <a:buClr>
                <a:schemeClr val="tx1"/>
              </a:buClr>
              <a:buNone/>
            </a:pPr>
            <a:r>
              <a:rPr lang="zh-CN" altLang="en-US" sz="2800" b="1" dirty="0"/>
              <a:t>主存     60~100ns    512MB             5.6</a:t>
            </a:r>
            <a:endParaRPr lang="zh-CN" altLang="en-US" sz="2800" b="1" dirty="0"/>
          </a:p>
          <a:p>
            <a:pPr marL="0" indent="484505" eaLnBrk="1" hangingPunct="1">
              <a:buClr>
                <a:schemeClr val="tx1"/>
              </a:buClr>
              <a:buNone/>
            </a:pPr>
            <a:r>
              <a:rPr lang="zh-CN" altLang="en-US" sz="2800" b="1" dirty="0"/>
              <a:t>虚存     10~20ms    60~228GB        0.23</a:t>
            </a:r>
            <a:endParaRPr lang="zh-CN" altLang="en-US" sz="2800" b="1" dirty="0"/>
          </a:p>
          <a:p>
            <a:pPr marL="0" indent="484505" eaLnBrk="1" hangingPunct="1">
              <a:buClr>
                <a:schemeClr val="tx1"/>
              </a:buClr>
              <a:buNone/>
            </a:pPr>
            <a:r>
              <a:rPr lang="zh-CN" altLang="en-US" sz="2800" b="1" dirty="0"/>
              <a:t>后援       2~20M    512GB~2TB      0.01</a:t>
            </a:r>
            <a:endParaRPr lang="zh-CN" altLang="en-US" sz="2800" b="1" dirty="0"/>
          </a:p>
          <a:p>
            <a:pPr marL="0" indent="484505" eaLnBrk="1" hangingPunct="1">
              <a:buClr>
                <a:schemeClr val="tx1"/>
              </a:buClr>
              <a:buNone/>
            </a:pPr>
            <a:r>
              <a:rPr lang="zh-CN" altLang="en-US" sz="2000" b="1" dirty="0">
                <a:solidFill>
                  <a:schemeClr val="tx1"/>
                </a:solidFill>
                <a:latin typeface="楷体_GB2312" pitchFamily="1" charset="-122"/>
                <a:ea typeface="楷体_GB2312" pitchFamily="1" charset="-122"/>
              </a:rPr>
              <a:t> </a:t>
            </a:r>
            <a:r>
              <a:rPr lang="zh-CN" altLang="en-US" sz="2400" b="1" dirty="0">
                <a:solidFill>
                  <a:schemeClr val="tx1"/>
                </a:solidFill>
                <a:latin typeface="楷体_GB2312" pitchFamily="1" charset="-122"/>
                <a:ea typeface="楷体_GB2312" pitchFamily="1" charset="-122"/>
              </a:rPr>
              <a:t>若能使CPU大半部分时间访问高速缓存，只在从缓存中读不到时才从主存中去读，当从主存中还读不到时才去成批量读虚存，此时 CPU 转去完成一点其它处理而不是空闲等待，以提高运行效率。</a:t>
            </a:r>
            <a:endParaRPr lang="zh-CN" altLang="en-US" sz="2400" b="1" dirty="0">
              <a:solidFill>
                <a:schemeClr val="tx1"/>
              </a:solidFill>
              <a:latin typeface="楷体_GB2312" pitchFamily="1" charset="-122"/>
              <a:ea typeface="楷体_GB2312" pitchFamily="1" charset="-122"/>
            </a:endParaRPr>
          </a:p>
        </p:txBody>
      </p:sp>
      <p:sp>
        <p:nvSpPr>
          <p:cNvPr id="13316" name="Rectangle 4"/>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3.1 概述——</a:t>
            </a:r>
            <a:r>
              <a:rPr lang="zh-CN" altLang="en-US" sz="2400" dirty="0"/>
              <a:t>存储系统的层次结构</a:t>
            </a:r>
            <a:endParaRPr lang="zh-CN" altLang="en-US" sz="24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3.1 概述</a:t>
            </a:r>
            <a:r>
              <a:rPr lang="zh-CN" altLang="en-US" sz="4000" dirty="0"/>
              <a:t>——</a:t>
            </a:r>
            <a:r>
              <a:rPr lang="zh-CN" altLang="en-US" sz="2400" dirty="0"/>
              <a:t>数据存放顺序</a:t>
            </a:r>
            <a:endParaRPr lang="zh-CN" altLang="en-US" sz="2400" dirty="0"/>
          </a:p>
        </p:txBody>
      </p:sp>
      <p:sp>
        <p:nvSpPr>
          <p:cNvPr id="15363" name="Rectangle 3"/>
          <p:cNvSpPr>
            <a:spLocks noGrp="1"/>
          </p:cNvSpPr>
          <p:nvPr>
            <p:ph type="body" idx="4294967295"/>
          </p:nvPr>
        </p:nvSpPr>
        <p:spPr>
          <a:ln/>
        </p:spPr>
        <p:txBody>
          <a:bodyPr vert="horz" wrap="square" lIns="91440" tIns="45720" rIns="91440" bIns="45720" anchor="t" anchorCtr="0"/>
          <a:p>
            <a:pPr marL="609600" indent="-609600" eaLnBrk="1" hangingPunct="1">
              <a:buFont typeface="Wingdings" panose="05000000000000000000" pitchFamily="2" charset="2"/>
              <a:buAutoNum type="arabicPeriod"/>
            </a:pPr>
            <a:r>
              <a:rPr lang="zh-CN" altLang="en-US" b="1" dirty="0">
                <a:solidFill>
                  <a:schemeClr val="tx1"/>
                </a:solidFill>
              </a:rPr>
              <a:t>存放一个机器字的存储单元，称为字存储单元。相应的单元地址为字地址。</a:t>
            </a:r>
            <a:endParaRPr lang="zh-CN" altLang="en-US" b="1" dirty="0">
              <a:solidFill>
                <a:schemeClr val="tx1"/>
              </a:solidFill>
            </a:endParaRPr>
          </a:p>
          <a:p>
            <a:pPr marL="609600" indent="-609600" eaLnBrk="1" hangingPunct="1">
              <a:buFont typeface="Wingdings" panose="05000000000000000000" pitchFamily="2" charset="2"/>
              <a:buAutoNum type="arabicPeriod"/>
            </a:pPr>
            <a:r>
              <a:rPr lang="zh-CN" altLang="en-US" b="1" dirty="0">
                <a:solidFill>
                  <a:schemeClr val="tx1"/>
                </a:solidFill>
              </a:rPr>
              <a:t>存放一个字节的单元，称为字节单元。相应的地址称为字节地址。</a:t>
            </a:r>
            <a:endParaRPr lang="zh-CN" altLang="en-US" b="1" dirty="0">
              <a:solidFill>
                <a:schemeClr val="tx1"/>
              </a:solidFill>
            </a:endParaRPr>
          </a:p>
          <a:p>
            <a:pPr marL="609600" indent="-609600" eaLnBrk="1" hangingPunct="1">
              <a:buFont typeface="Wingdings" panose="05000000000000000000" pitchFamily="2" charset="2"/>
              <a:buNone/>
            </a:pPr>
            <a:r>
              <a:rPr lang="zh-CN" altLang="en-US" b="1" dirty="0"/>
              <a:t>一个16位二进制的字存储单元可存放两个字节，可以按字地址寻址，也可以按字节地址寻址。</a:t>
            </a:r>
            <a:endParaRPr lang="zh-CN" alt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3.1 概述——</a:t>
            </a:r>
            <a:r>
              <a:rPr lang="zh-CN" altLang="en-US" sz="2400" dirty="0"/>
              <a:t>主要技术指标</a:t>
            </a:r>
            <a:endParaRPr lang="zh-CN" altLang="en-US" sz="2400" dirty="0"/>
          </a:p>
        </p:txBody>
      </p:sp>
      <p:sp>
        <p:nvSpPr>
          <p:cNvPr id="16387" name="Rectangle 3"/>
          <p:cNvSpPr>
            <a:spLocks noGrp="1"/>
          </p:cNvSpPr>
          <p:nvPr>
            <p:ph type="body" idx="4294967295"/>
          </p:nvPr>
        </p:nvSpPr>
        <p:spPr>
          <a:xfrm>
            <a:off x="457200" y="1981200"/>
            <a:ext cx="8305800" cy="4114800"/>
          </a:xfrm>
          <a:ln/>
        </p:spPr>
        <p:txBody>
          <a:bodyPr vert="horz" wrap="square" lIns="91440" tIns="45720" rIns="91440" bIns="45720" anchor="t" anchorCtr="0"/>
          <a:p>
            <a:pPr eaLnBrk="1" hangingPunct="1">
              <a:lnSpc>
                <a:spcPct val="90000"/>
              </a:lnSpc>
            </a:pPr>
            <a:r>
              <a:rPr lang="zh-CN" altLang="en-US" sz="2800" b="1" dirty="0">
                <a:solidFill>
                  <a:srgbClr val="993366"/>
                </a:solidFill>
                <a:latin typeface="楷体_GB2312" pitchFamily="1" charset="-122"/>
                <a:ea typeface="楷体_GB2312" pitchFamily="1" charset="-122"/>
              </a:rPr>
              <a:t>存储容量：</a:t>
            </a:r>
            <a:r>
              <a:rPr lang="zh-CN" altLang="en-US" sz="2800" b="1" dirty="0">
                <a:latin typeface="楷体_GB2312" pitchFamily="1" charset="-122"/>
                <a:ea typeface="楷体_GB2312" pitchFamily="1" charset="-122"/>
              </a:rPr>
              <a:t>在一个存储器中可以容纳的存储单元总数通常称为该存储器的存储容量。1KB=2</a:t>
            </a:r>
            <a:r>
              <a:rPr lang="zh-CN" altLang="en-US" sz="2800" b="1" baseline="30000" dirty="0">
                <a:latin typeface="楷体_GB2312" pitchFamily="1" charset="-122"/>
                <a:ea typeface="楷体_GB2312" pitchFamily="1" charset="-122"/>
              </a:rPr>
              <a:t>10</a:t>
            </a:r>
            <a:r>
              <a:rPr lang="zh-CN" altLang="en-US" sz="2800" b="1" dirty="0">
                <a:latin typeface="楷体_GB2312" pitchFamily="1" charset="-122"/>
                <a:ea typeface="楷体_GB2312" pitchFamily="1" charset="-122"/>
              </a:rPr>
              <a:t>B， 1MB=2</a:t>
            </a:r>
            <a:r>
              <a:rPr lang="zh-CN" altLang="en-US" sz="2800" b="1" baseline="30000" dirty="0">
                <a:latin typeface="楷体_GB2312" pitchFamily="1" charset="-122"/>
                <a:ea typeface="楷体_GB2312" pitchFamily="1" charset="-122"/>
              </a:rPr>
              <a:t>20</a:t>
            </a:r>
            <a:r>
              <a:rPr lang="zh-CN" altLang="en-US" sz="2800" b="1" dirty="0">
                <a:latin typeface="楷体_GB2312" pitchFamily="1" charset="-122"/>
                <a:ea typeface="楷体_GB2312" pitchFamily="1" charset="-122"/>
              </a:rPr>
              <a:t>B，1GB=2</a:t>
            </a:r>
            <a:r>
              <a:rPr lang="zh-CN" altLang="en-US" sz="2800" b="1" baseline="30000" dirty="0">
                <a:latin typeface="楷体_GB2312" pitchFamily="1" charset="-122"/>
                <a:ea typeface="楷体_GB2312" pitchFamily="1" charset="-122"/>
              </a:rPr>
              <a:t>30</a:t>
            </a:r>
            <a:r>
              <a:rPr lang="zh-CN" altLang="en-US" sz="2800" b="1" dirty="0">
                <a:latin typeface="楷体_GB2312" pitchFamily="1" charset="-122"/>
                <a:ea typeface="楷体_GB2312" pitchFamily="1" charset="-122"/>
              </a:rPr>
              <a:t>B，1TB=2</a:t>
            </a:r>
            <a:r>
              <a:rPr lang="zh-CN" altLang="en-US" sz="2800" b="1" baseline="30000" dirty="0">
                <a:latin typeface="楷体_GB2312" pitchFamily="1" charset="-122"/>
                <a:ea typeface="楷体_GB2312" pitchFamily="1" charset="-122"/>
              </a:rPr>
              <a:t>40</a:t>
            </a:r>
            <a:r>
              <a:rPr lang="zh-CN" altLang="en-US" sz="2800" b="1" dirty="0">
                <a:latin typeface="楷体_GB2312" pitchFamily="1" charset="-122"/>
                <a:ea typeface="楷体_GB2312" pitchFamily="1" charset="-122"/>
              </a:rPr>
              <a:t>B</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solidFill>
                  <a:srgbClr val="993366"/>
                </a:solidFill>
                <a:latin typeface="楷体_GB2312" pitchFamily="1" charset="-122"/>
                <a:ea typeface="楷体_GB2312" pitchFamily="1" charset="-122"/>
              </a:rPr>
              <a:t>存取时间（存储器的访问时间）</a:t>
            </a:r>
            <a:r>
              <a:rPr lang="zh-CN" altLang="en-US" sz="2800" b="1" dirty="0">
                <a:solidFill>
                  <a:srgbClr val="993366"/>
                </a:solidFill>
                <a:latin typeface="楷体_GB2312" pitchFamily="1" charset="-122"/>
                <a:ea typeface="楷体_GB2312" pitchFamily="1" charset="-122"/>
                <a:sym typeface="Arial" panose="020B0604020202020204" pitchFamily="34" charset="0"/>
              </a:rPr>
              <a:t>：</a:t>
            </a:r>
            <a:r>
              <a:rPr lang="zh-CN" altLang="en-US" sz="2800" b="1" dirty="0">
                <a:latin typeface="楷体_GB2312" pitchFamily="1" charset="-122"/>
                <a:ea typeface="楷体_GB2312" pitchFamily="1" charset="-122"/>
              </a:rPr>
              <a:t>是指从启动一次存储器操作达到完成该操作所经历的时间。</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solidFill>
                  <a:srgbClr val="993366"/>
                </a:solidFill>
                <a:latin typeface="楷体_GB2312" pitchFamily="1" charset="-122"/>
                <a:ea typeface="楷体_GB2312" pitchFamily="1" charset="-122"/>
              </a:rPr>
              <a:t>存储周期：</a:t>
            </a:r>
            <a:r>
              <a:rPr lang="zh-CN" altLang="en-US" sz="2800" b="1" dirty="0">
                <a:latin typeface="楷体_GB2312" pitchFamily="1" charset="-122"/>
                <a:ea typeface="楷体_GB2312" pitchFamily="1" charset="-122"/>
              </a:rPr>
              <a:t>从一次访问的开始到下一次访问开始的间隔时间。</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solidFill>
                  <a:srgbClr val="993366"/>
                </a:solidFill>
                <a:latin typeface="楷体_GB2312" pitchFamily="1" charset="-122"/>
                <a:ea typeface="楷体_GB2312" pitchFamily="1" charset="-122"/>
              </a:rPr>
              <a:t>存储器的带宽（吞吐率）：</a:t>
            </a:r>
            <a:r>
              <a:rPr lang="zh-CN" altLang="en-US" sz="2800" b="1" dirty="0">
                <a:latin typeface="楷体_GB2312" pitchFamily="1" charset="-122"/>
                <a:ea typeface="楷体_GB2312" pitchFamily="1" charset="-122"/>
              </a:rPr>
              <a:t>是单位时间里存储器所存取的信息量。通常以位/秒或字节/秒来表示。</a:t>
            </a:r>
            <a:endParaRPr lang="zh-CN" altLang="en-US" sz="2800" b="1" dirty="0">
              <a:latin typeface="楷体_GB2312" pitchFamily="1" charset="-122"/>
              <a:ea typeface="楷体_GB2312" pitchFamily="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body" idx="4294967295"/>
          </p:nvPr>
        </p:nvSpPr>
        <p:spPr>
          <a:ln/>
        </p:spPr>
        <p:txBody>
          <a:bodyPr vert="horz" wrap="square" lIns="91440" tIns="45720" rIns="91440" bIns="45720" anchor="t" anchorCtr="0"/>
          <a:p>
            <a:pPr eaLnBrk="1" hangingPunct="1"/>
            <a:r>
              <a:rPr lang="zh-CN" altLang="en-US" b="1" dirty="0">
                <a:latin typeface="楷体_GB2312" pitchFamily="1" charset="-122"/>
                <a:ea typeface="楷体_GB2312" pitchFamily="1" charset="-122"/>
              </a:rPr>
              <a:t>主存储器是由</a:t>
            </a:r>
            <a:r>
              <a:rPr lang="zh-CN" altLang="en-US" b="1" dirty="0">
                <a:solidFill>
                  <a:srgbClr val="0000FF"/>
                </a:solidFill>
                <a:latin typeface="楷体_GB2312" pitchFamily="1" charset="-122"/>
                <a:ea typeface="楷体_GB2312" pitchFamily="1" charset="-122"/>
              </a:rPr>
              <a:t>存储体</a:t>
            </a:r>
            <a:r>
              <a:rPr lang="zh-CN" altLang="en-US" b="1" dirty="0">
                <a:latin typeface="楷体_GB2312" pitchFamily="1" charset="-122"/>
                <a:ea typeface="楷体_GB2312" pitchFamily="1" charset="-122"/>
              </a:rPr>
              <a:t>加上一些外围电路构成。外围电路包括</a:t>
            </a:r>
            <a:r>
              <a:rPr lang="zh-CN" altLang="en-US" b="1" dirty="0">
                <a:solidFill>
                  <a:srgbClr val="FF3300"/>
                </a:solidFill>
                <a:latin typeface="楷体_GB2312" pitchFamily="1" charset="-122"/>
                <a:ea typeface="楷体_GB2312" pitchFamily="1" charset="-122"/>
              </a:rPr>
              <a:t>地址</a:t>
            </a:r>
            <a:r>
              <a:rPr lang="zh-CN" altLang="en-US" b="1" dirty="0">
                <a:solidFill>
                  <a:srgbClr val="0000FF"/>
                </a:solidFill>
                <a:latin typeface="楷体_GB2312" pitchFamily="1" charset="-122"/>
                <a:ea typeface="楷体_GB2312" pitchFamily="1" charset="-122"/>
              </a:rPr>
              <a:t>译码驱动器</a:t>
            </a:r>
            <a:r>
              <a:rPr lang="zh-CN" altLang="en-US" b="1" dirty="0">
                <a:latin typeface="楷体_GB2312" pitchFamily="1" charset="-122"/>
                <a:ea typeface="楷体_GB2312" pitchFamily="1" charset="-122"/>
              </a:rPr>
              <a:t>、</a:t>
            </a:r>
            <a:r>
              <a:rPr lang="zh-CN" altLang="en-US" b="1" dirty="0">
                <a:solidFill>
                  <a:srgbClr val="FF3300"/>
                </a:solidFill>
                <a:latin typeface="楷体_GB2312" pitchFamily="1" charset="-122"/>
                <a:ea typeface="楷体_GB2312" pitchFamily="1" charset="-122"/>
              </a:rPr>
              <a:t>数据</a:t>
            </a:r>
            <a:r>
              <a:rPr lang="zh-CN" altLang="en-US" b="1" dirty="0">
                <a:solidFill>
                  <a:srgbClr val="0000FF"/>
                </a:solidFill>
                <a:latin typeface="楷体_GB2312" pitchFamily="1" charset="-122"/>
                <a:ea typeface="楷体_GB2312" pitchFamily="1" charset="-122"/>
              </a:rPr>
              <a:t>寄存器</a:t>
            </a:r>
            <a:r>
              <a:rPr lang="zh-CN" altLang="en-US" b="1" dirty="0">
                <a:latin typeface="楷体_GB2312" pitchFamily="1" charset="-122"/>
                <a:ea typeface="楷体_GB2312" pitchFamily="1" charset="-122"/>
              </a:rPr>
              <a:t>和存储器</a:t>
            </a:r>
            <a:r>
              <a:rPr lang="zh-CN" altLang="en-US" b="1" dirty="0">
                <a:solidFill>
                  <a:srgbClr val="FF3300"/>
                </a:solidFill>
                <a:latin typeface="楷体_GB2312" pitchFamily="1" charset="-122"/>
                <a:ea typeface="楷体_GB2312" pitchFamily="1" charset="-122"/>
              </a:rPr>
              <a:t>控制</a:t>
            </a:r>
            <a:r>
              <a:rPr lang="zh-CN" altLang="en-US" b="1" dirty="0">
                <a:solidFill>
                  <a:srgbClr val="0000FF"/>
                </a:solidFill>
                <a:latin typeface="楷体_GB2312" pitchFamily="1" charset="-122"/>
                <a:ea typeface="楷体_GB2312" pitchFamily="1" charset="-122"/>
              </a:rPr>
              <a:t>电路</a:t>
            </a:r>
            <a:r>
              <a:rPr lang="zh-CN" altLang="en-US" b="1" dirty="0">
                <a:latin typeface="楷体_GB2312" pitchFamily="1" charset="-122"/>
                <a:ea typeface="楷体_GB2312" pitchFamily="1" charset="-122"/>
              </a:rPr>
              <a:t>。</a:t>
            </a:r>
            <a:endParaRPr lang="zh-CN" altLang="en-US" b="1" dirty="0">
              <a:latin typeface="楷体_GB2312" pitchFamily="1" charset="-122"/>
              <a:ea typeface="楷体_GB2312" pitchFamily="1" charset="-122"/>
            </a:endParaRPr>
          </a:p>
          <a:p>
            <a:pPr eaLnBrk="1" hangingPunct="1">
              <a:buNone/>
            </a:pPr>
            <a:endParaRPr lang="zh-CN" altLang="en-US" b="1" dirty="0">
              <a:latin typeface="楷体_GB2312" pitchFamily="1" charset="-122"/>
              <a:ea typeface="楷体_GB2312" pitchFamily="1" charset="-122"/>
            </a:endParaRPr>
          </a:p>
          <a:p>
            <a:pPr eaLnBrk="1" hangingPunct="1"/>
            <a:r>
              <a:rPr lang="zh-CN" altLang="en-US" sz="3600" b="1" dirty="0">
                <a:solidFill>
                  <a:schemeClr val="tx2"/>
                </a:solidFill>
                <a:latin typeface="楷体_GB2312" pitchFamily="1" charset="-122"/>
                <a:ea typeface="楷体_GB2312" pitchFamily="1" charset="-122"/>
              </a:rPr>
              <a:t>主存储器的基本操作</a:t>
            </a:r>
            <a:endParaRPr lang="zh-CN" altLang="en-US" sz="3600" b="1" dirty="0">
              <a:solidFill>
                <a:schemeClr val="tx2"/>
              </a:solidFill>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CPU的读命令和写命令</a:t>
            </a:r>
            <a:endParaRPr lang="zh-CN" altLang="en-US" b="1" dirty="0">
              <a:latin typeface="楷体_GB2312" pitchFamily="1" charset="-122"/>
              <a:ea typeface="楷体_GB2312" pitchFamily="1" charset="-122"/>
            </a:endParaRPr>
          </a:p>
        </p:txBody>
      </p:sp>
      <p:sp>
        <p:nvSpPr>
          <p:cNvPr id="17411" name="Rectangle 3"/>
          <p:cNvSpPr/>
          <p:nvPr/>
        </p:nvSpPr>
        <p:spPr>
          <a:xfrm>
            <a:off x="539750" y="763588"/>
            <a:ext cx="7772400" cy="8382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3600" b="1" dirty="0">
                <a:solidFill>
                  <a:schemeClr val="tx2"/>
                </a:solidFill>
              </a:rPr>
              <a:t>3.2 随机读写存储器——</a:t>
            </a:r>
            <a:r>
              <a:rPr lang="zh-CN" altLang="en-US" sz="2400" b="1" dirty="0">
                <a:solidFill>
                  <a:schemeClr val="tx2"/>
                </a:solidFill>
              </a:rPr>
              <a:t>主存储器的基本结构</a:t>
            </a:r>
            <a:endParaRPr lang="zh-CN" altLang="en-US" sz="2400" b="1" dirty="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p:nvPr>
            <p:ph type="title" idx="4294967295"/>
          </p:nvPr>
        </p:nvSpPr>
        <p:spPr>
          <a:xfrm>
            <a:off x="468313" y="908050"/>
            <a:ext cx="8207375"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3.2  随机读写存储器</a:t>
            </a:r>
            <a:r>
              <a:rPr lang="en-US" altLang="zh-CN" dirty="0"/>
              <a:t>——</a:t>
            </a:r>
            <a:r>
              <a:rPr lang="zh-CN" altLang="en-US" dirty="0"/>
              <a:t>优缺点及分类</a:t>
            </a:r>
            <a:endParaRPr lang="zh-CN" altLang="en-US" dirty="0"/>
          </a:p>
        </p:txBody>
      </p:sp>
      <p:sp>
        <p:nvSpPr>
          <p:cNvPr id="18435" name="Rectangle 3"/>
          <p:cNvSpPr>
            <a:spLocks noGrp="1"/>
          </p:cNvSpPr>
          <p:nvPr>
            <p:ph type="body" idx="4294967295"/>
          </p:nvPr>
        </p:nvSpPr>
        <p:spPr>
          <a:xfrm>
            <a:off x="687388" y="1981200"/>
            <a:ext cx="8207375" cy="4473575"/>
          </a:xfrm>
          <a:ln/>
        </p:spPr>
        <p:txBody>
          <a:bodyPr vert="horz" wrap="square" lIns="91440" tIns="45720" rIns="91440" bIns="45720" anchor="t" anchorCtr="0"/>
          <a:p>
            <a:pPr eaLnBrk="1" hangingPunct="1">
              <a:lnSpc>
                <a:spcPct val="90000"/>
              </a:lnSpc>
              <a:buFont typeface="Wingdings" panose="05000000000000000000" pitchFamily="2" charset="2"/>
              <a:buChar char="u"/>
            </a:pPr>
            <a:r>
              <a:rPr lang="zh-CN" altLang="en-US" b="1" dirty="0"/>
              <a:t>半导体随机读写存储器的优缺点：</a:t>
            </a:r>
            <a:endParaRPr lang="zh-CN" altLang="en-US" b="1" dirty="0"/>
          </a:p>
          <a:p>
            <a:pPr eaLnBrk="1" hangingPunct="1">
              <a:lnSpc>
                <a:spcPct val="90000"/>
              </a:lnSpc>
              <a:buNone/>
            </a:pPr>
            <a:r>
              <a:rPr lang="zh-CN" altLang="en-US" b="1" dirty="0"/>
              <a:t>优：存取速度快，存储体积小，可靠高，价格低廉；</a:t>
            </a:r>
            <a:endParaRPr lang="zh-CN" altLang="en-US" b="1" dirty="0"/>
          </a:p>
          <a:p>
            <a:pPr eaLnBrk="1" hangingPunct="1">
              <a:lnSpc>
                <a:spcPct val="90000"/>
              </a:lnSpc>
              <a:buNone/>
            </a:pPr>
            <a:r>
              <a:rPr lang="zh-CN" altLang="en-US" b="1" dirty="0"/>
              <a:t>缺：断电后存储器不能保存信息；</a:t>
            </a:r>
            <a:endParaRPr lang="zh-CN" altLang="en-US" b="1" dirty="0"/>
          </a:p>
          <a:p>
            <a:pPr eaLnBrk="1" hangingPunct="1">
              <a:lnSpc>
                <a:spcPct val="90000"/>
              </a:lnSpc>
              <a:buFont typeface="Wingdings" panose="05000000000000000000" pitchFamily="2" charset="2"/>
              <a:buChar char="u"/>
            </a:pPr>
            <a:r>
              <a:rPr lang="zh-CN" altLang="en-US" b="1" dirty="0">
                <a:sym typeface="Arial" panose="020B0604020202020204" pitchFamily="34" charset="0"/>
              </a:rPr>
              <a:t>分类：</a:t>
            </a:r>
            <a:endParaRPr lang="zh-CN" altLang="en-US" b="1" dirty="0">
              <a:sym typeface="Arial" panose="020B0604020202020204" pitchFamily="34" charset="0"/>
            </a:endParaRPr>
          </a:p>
          <a:p>
            <a:pPr eaLnBrk="1" hangingPunct="1">
              <a:lnSpc>
                <a:spcPct val="90000"/>
              </a:lnSpc>
              <a:buFont typeface="Wingdings" panose="05000000000000000000" pitchFamily="2" charset="2"/>
              <a:buNone/>
            </a:pPr>
            <a:r>
              <a:rPr lang="zh-CN" altLang="en-US" b="1" dirty="0">
                <a:solidFill>
                  <a:srgbClr val="993366"/>
                </a:solidFill>
                <a:latin typeface="华文新魏" panose="02010800040101010101" pitchFamily="2" charset="-122"/>
                <a:ea typeface="华文新魏" panose="02010800040101010101" pitchFamily="2" charset="-122"/>
              </a:rPr>
              <a:t>根据制造工艺：分MOS型、双极型</a:t>
            </a:r>
            <a:endParaRPr lang="zh-CN" altLang="en-US" b="1" dirty="0">
              <a:solidFill>
                <a:srgbClr val="993366"/>
              </a:solidFill>
              <a:latin typeface="华文新魏" panose="02010800040101010101" pitchFamily="2" charset="-122"/>
              <a:ea typeface="华文新魏" panose="02010800040101010101" pitchFamily="2" charset="-122"/>
            </a:endParaRPr>
          </a:p>
          <a:p>
            <a:pPr eaLnBrk="1" hangingPunct="1">
              <a:lnSpc>
                <a:spcPct val="90000"/>
              </a:lnSpc>
              <a:buNone/>
            </a:pPr>
            <a:r>
              <a:rPr lang="zh-CN" altLang="en-US" b="1" dirty="0">
                <a:solidFill>
                  <a:srgbClr val="993366"/>
                </a:solidFill>
                <a:latin typeface="华文新魏" panose="02010800040101010101" pitchFamily="2" charset="-122"/>
                <a:ea typeface="华文新魏" panose="02010800040101010101" pitchFamily="2" charset="-122"/>
              </a:rPr>
              <a:t>MOS型又分：静态MOS（SRAM）存储器、动态MOS（DRAM）存储器</a:t>
            </a:r>
            <a:endParaRPr lang="zh-CN" altLang="en-US" b="1" dirty="0">
              <a:solidFill>
                <a:srgbClr val="993366"/>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p:nvPr>
            <p:ph type="title" idx="4294967295"/>
          </p:nvPr>
        </p:nvSpPr>
        <p:spPr>
          <a:xfrm>
            <a:off x="457200" y="274638"/>
            <a:ext cx="8229600" cy="1143000"/>
          </a:xfrm>
          <a:prstGeom prst="rect">
            <a:avLst/>
          </a:prstGeom>
          <a:noFill/>
          <a:ln w="9525">
            <a:noFill/>
          </a:ln>
        </p:spPr>
        <p:txBody>
          <a:bodyPr anchor="ctr" anchorCtr="0"/>
          <a:p>
            <a:pPr eaLnBrk="1" hangingPunct="1"/>
            <a:r>
              <a:rPr lang="zh-CN" altLang="en-US" dirty="0"/>
              <a:t>随机读写存储器的结构</a:t>
            </a:r>
            <a:endParaRPr lang="zh-CN" altLang="en-US" dirty="0"/>
          </a:p>
        </p:txBody>
      </p:sp>
      <p:sp>
        <p:nvSpPr>
          <p:cNvPr id="19459" name="Rectangle 3"/>
          <p:cNvSpPr>
            <a:spLocks noGrp="1"/>
          </p:cNvSpPr>
          <p:nvPr>
            <p:ph type="body" idx="4294967295"/>
          </p:nvPr>
        </p:nvSpPr>
        <p:spPr>
          <a:ln/>
        </p:spPr>
        <p:txBody>
          <a:bodyPr vert="horz" wrap="square" lIns="91440" tIns="45720" rIns="91440" bIns="45720" anchor="t" anchorCtr="0"/>
          <a:p>
            <a:pPr eaLnBrk="1" hangingPunct="1"/>
            <a:r>
              <a:rPr lang="zh-CN" altLang="en-US" dirty="0">
                <a:cs typeface="Times New Roman" panose="02020603050405020304" pitchFamily="18" charset="0"/>
              </a:rPr>
              <a:t>SRAM：存储元是一个双稳态触发器结构，早期通常是6个晶体管</a:t>
            </a:r>
            <a:endParaRPr lang="zh-CN" altLang="en-US" dirty="0">
              <a:cs typeface="Times New Roman" panose="02020603050405020304" pitchFamily="18" charset="0"/>
            </a:endParaRPr>
          </a:p>
          <a:p>
            <a:pPr eaLnBrk="1" hangingPunct="1"/>
            <a:r>
              <a:rPr lang="zh-CN" altLang="en-US" dirty="0">
                <a:cs typeface="Times New Roman" panose="02020603050405020304" pitchFamily="18" charset="0"/>
              </a:rPr>
              <a:t>DRAM：存储元只需要一个晶体管和一个电容器</a:t>
            </a:r>
            <a:endParaRPr lang="zh-CN" altLang="en-US" dirty="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p:nvPr>
            <p:ph type="title" idx="4294967295"/>
          </p:nvPr>
        </p:nvSpPr>
        <p:spPr>
          <a:xfrm>
            <a:off x="914400" y="914400"/>
            <a:ext cx="7315200" cy="846138"/>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3.2 随机读写存储器——</a:t>
            </a:r>
            <a:r>
              <a:rPr lang="zh-CN" altLang="en-US" sz="2400" dirty="0"/>
              <a:t>SRAM存储器</a:t>
            </a:r>
            <a:endParaRPr lang="zh-CN" altLang="en-US" sz="2400" dirty="0"/>
          </a:p>
        </p:txBody>
      </p:sp>
      <p:sp>
        <p:nvSpPr>
          <p:cNvPr id="20483" name="Rectangle 3"/>
          <p:cNvSpPr>
            <a:spLocks noGrp="1"/>
          </p:cNvSpPr>
          <p:nvPr>
            <p:ph type="body" idx="4294967295"/>
          </p:nvPr>
        </p:nvSpPr>
        <p:spPr>
          <a:ln/>
        </p:spPr>
        <p:txBody>
          <a:bodyPr vert="horz" wrap="square" lIns="91440" tIns="45720" rIns="91440" bIns="45720" anchor="t" anchorCtr="0"/>
          <a:p>
            <a:pPr marL="0" indent="665480" eaLnBrk="1" hangingPunct="1"/>
            <a:r>
              <a:rPr lang="zh-CN" altLang="en-US" b="1" dirty="0">
                <a:ea typeface="楷体_GB2312" pitchFamily="1" charset="-122"/>
              </a:rPr>
              <a:t>六管静态MOS存储元是由两个MOS反相器交叉耦合而成的触发器。一个存储元存一位二进制代码，如果一个存储单元为</a:t>
            </a:r>
            <a:r>
              <a:rPr lang="zh-CN" altLang="en-US" b="1" i="1" dirty="0">
                <a:ea typeface="楷体_GB2312" pitchFamily="1" charset="-122"/>
              </a:rPr>
              <a:t>n</a:t>
            </a:r>
            <a:r>
              <a:rPr lang="zh-CN" altLang="en-US" b="1" dirty="0">
                <a:ea typeface="楷体_GB2312" pitchFamily="1" charset="-122"/>
              </a:rPr>
              <a:t>位，则需由</a:t>
            </a:r>
            <a:r>
              <a:rPr lang="zh-CN" altLang="en-US" b="1" i="1" dirty="0">
                <a:ea typeface="楷体_GB2312" pitchFamily="1" charset="-122"/>
              </a:rPr>
              <a:t>n</a:t>
            </a:r>
            <a:r>
              <a:rPr lang="zh-CN" altLang="en-US" b="1" dirty="0">
                <a:ea typeface="楷体_GB2312" pitchFamily="1" charset="-122"/>
              </a:rPr>
              <a:t>个存储元才能组成一个存储单元</a:t>
            </a:r>
            <a:r>
              <a:rPr lang="zh-CN" altLang="en-US" b="1" dirty="0"/>
              <a:t> 。</a:t>
            </a:r>
            <a:endParaRPr lang="zh-CN" alt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body" idx="4294967295"/>
          </p:nvPr>
        </p:nvSpPr>
        <p:spPr>
          <a:xfrm>
            <a:off x="180975" y="2709863"/>
            <a:ext cx="8640763" cy="3960812"/>
          </a:xfrm>
          <a:ln/>
        </p:spPr>
        <p:txBody>
          <a:bodyPr vert="horz" wrap="square" lIns="91440" tIns="45720" rIns="91440" bIns="45720" anchor="t" anchorCtr="0"/>
          <a:p>
            <a:pPr eaLnBrk="1" hangingPunct="1">
              <a:lnSpc>
                <a:spcPct val="90000"/>
              </a:lnSpc>
            </a:pPr>
            <a:r>
              <a:rPr lang="zh-CN" altLang="en-US" sz="3600" dirty="0">
                <a:solidFill>
                  <a:srgbClr val="993366"/>
                </a:solidFill>
                <a:ea typeface="华文新魏" panose="02010800040101010101" pitchFamily="2" charset="-122"/>
              </a:rPr>
              <a:t>写操作</a:t>
            </a:r>
            <a:endParaRPr lang="zh-CN" altLang="en-US" sz="3600" dirty="0">
              <a:solidFill>
                <a:srgbClr val="993366"/>
              </a:solidFill>
              <a:ea typeface="华文新魏" panose="02010800040101010101" pitchFamily="2" charset="-122"/>
            </a:endParaRPr>
          </a:p>
          <a:p>
            <a:pPr eaLnBrk="1" hangingPunct="1">
              <a:lnSpc>
                <a:spcPct val="90000"/>
              </a:lnSpc>
            </a:pPr>
            <a:r>
              <a:rPr lang="zh-CN" altLang="en-US" sz="2800" dirty="0">
                <a:solidFill>
                  <a:schemeClr val="tx1"/>
                </a:solidFill>
              </a:rPr>
              <a:t>　　</a:t>
            </a:r>
            <a:r>
              <a:rPr lang="zh-CN" altLang="en-US" sz="2800" b="1" dirty="0">
                <a:solidFill>
                  <a:schemeClr val="tx1"/>
                </a:solidFill>
                <a:latin typeface="楷体_GB2312" pitchFamily="1" charset="-122"/>
                <a:ea typeface="楷体_GB2312" pitchFamily="1" charset="-122"/>
              </a:rPr>
              <a:t>写</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1</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：在I/O线上输入高电位，在I/O线上输入低电位，开启T5,T6,T7,T8四个晶体管，把高、低电位分别加在A，B点，使</a:t>
            </a:r>
            <a:r>
              <a:rPr lang="zh-CN" altLang="en-US" sz="2800" b="1" dirty="0">
                <a:solidFill>
                  <a:srgbClr val="993366"/>
                </a:solidFill>
                <a:latin typeface="楷体_GB2312" pitchFamily="1" charset="-122"/>
                <a:ea typeface="楷体_GB2312" pitchFamily="1" charset="-122"/>
              </a:rPr>
              <a:t>T1管截止</a:t>
            </a:r>
            <a:r>
              <a:rPr lang="zh-CN" altLang="en-US" sz="2800" b="1" dirty="0">
                <a:solidFill>
                  <a:schemeClr val="tx1"/>
                </a:solidFill>
                <a:latin typeface="楷体_GB2312" pitchFamily="1" charset="-122"/>
                <a:ea typeface="楷体_GB2312" pitchFamily="1" charset="-122"/>
              </a:rPr>
              <a:t>，使</a:t>
            </a:r>
            <a:r>
              <a:rPr lang="zh-CN" altLang="en-US" sz="2800" b="1" dirty="0">
                <a:solidFill>
                  <a:srgbClr val="993366"/>
                </a:solidFill>
                <a:latin typeface="楷体_GB2312" pitchFamily="1" charset="-122"/>
                <a:ea typeface="楷体_GB2312" pitchFamily="1" charset="-122"/>
              </a:rPr>
              <a:t>T2管导通</a:t>
            </a:r>
            <a:r>
              <a:rPr lang="zh-CN" altLang="en-US" sz="2800" b="1" dirty="0">
                <a:solidFill>
                  <a:schemeClr val="tx1"/>
                </a:solidFill>
                <a:latin typeface="楷体_GB2312" pitchFamily="1" charset="-122"/>
                <a:ea typeface="楷体_GB2312" pitchFamily="1" charset="-122"/>
              </a:rPr>
              <a:t>，将</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1</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写入存储元.</a:t>
            </a:r>
            <a:endParaRPr lang="zh-CN" altLang="en-US" sz="2800" b="1" dirty="0">
              <a:solidFill>
                <a:schemeClr val="tx1"/>
              </a:solidFill>
              <a:latin typeface="楷体_GB2312" pitchFamily="1" charset="-122"/>
              <a:ea typeface="楷体_GB2312" pitchFamily="1" charset="-122"/>
            </a:endParaRPr>
          </a:p>
          <a:p>
            <a:pPr eaLnBrk="1" hangingPunct="1">
              <a:lnSpc>
                <a:spcPct val="90000"/>
              </a:lnSpc>
            </a:pPr>
            <a:r>
              <a:rPr lang="zh-CN" altLang="en-US" sz="2800" b="1" dirty="0">
                <a:solidFill>
                  <a:schemeClr val="tx1"/>
                </a:solidFill>
                <a:latin typeface="楷体_GB2312" pitchFamily="1" charset="-122"/>
                <a:ea typeface="楷体_GB2312" pitchFamily="1" charset="-122"/>
              </a:rPr>
              <a:t>　　写</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0</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：在I/O线上输入低电位，在I/O线上输入高电位，打开T5,T6,T7,T8四个开门管，把低、高电位分别加在A，B点，使</a:t>
            </a:r>
            <a:r>
              <a:rPr lang="zh-CN" altLang="en-US" sz="2800" b="1" dirty="0">
                <a:solidFill>
                  <a:srgbClr val="993366"/>
                </a:solidFill>
                <a:latin typeface="楷体_GB2312" pitchFamily="1" charset="-122"/>
                <a:ea typeface="楷体_GB2312" pitchFamily="1" charset="-122"/>
              </a:rPr>
              <a:t>T1管导通</a:t>
            </a:r>
            <a:r>
              <a:rPr lang="zh-CN" altLang="en-US" sz="2800" b="1" dirty="0">
                <a:solidFill>
                  <a:schemeClr val="tx1"/>
                </a:solidFill>
                <a:latin typeface="楷体_GB2312" pitchFamily="1" charset="-122"/>
                <a:ea typeface="楷体_GB2312" pitchFamily="1" charset="-122"/>
              </a:rPr>
              <a:t>，</a:t>
            </a:r>
            <a:r>
              <a:rPr lang="zh-CN" altLang="en-US" sz="2800" b="1" dirty="0">
                <a:solidFill>
                  <a:srgbClr val="993366"/>
                </a:solidFill>
                <a:latin typeface="楷体_GB2312" pitchFamily="1" charset="-122"/>
                <a:ea typeface="楷体_GB2312" pitchFamily="1" charset="-122"/>
              </a:rPr>
              <a:t>T2管截止</a:t>
            </a:r>
            <a:r>
              <a:rPr lang="zh-CN" altLang="en-US" sz="2800" b="1" dirty="0">
                <a:solidFill>
                  <a:schemeClr val="tx1"/>
                </a:solidFill>
                <a:latin typeface="楷体_GB2312" pitchFamily="1" charset="-122"/>
                <a:ea typeface="楷体_GB2312" pitchFamily="1" charset="-122"/>
              </a:rPr>
              <a:t>,将</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0</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信息写入了存储元。</a:t>
            </a:r>
            <a:endParaRPr lang="zh-CN" altLang="en-US" sz="2800" b="1" dirty="0">
              <a:solidFill>
                <a:schemeClr val="tx1"/>
              </a:solidFill>
              <a:latin typeface="楷体_GB2312" pitchFamily="1" charset="-122"/>
              <a:ea typeface="楷体_GB2312" pitchFamily="1" charset="-122"/>
            </a:endParaRPr>
          </a:p>
        </p:txBody>
      </p:sp>
      <p:pic>
        <p:nvPicPr>
          <p:cNvPr id="21507" name="Picture 3" descr="六管SRAM"/>
          <p:cNvPicPr>
            <a:picLocks noChangeAspect="1"/>
          </p:cNvPicPr>
          <p:nvPr/>
        </p:nvPicPr>
        <p:blipFill>
          <a:blip r:embed="rId1"/>
          <a:stretch>
            <a:fillRect/>
          </a:stretch>
        </p:blipFill>
        <p:spPr>
          <a:xfrm>
            <a:off x="2700338" y="1588"/>
            <a:ext cx="6446837" cy="3284537"/>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body" idx="4294967295"/>
          </p:nvPr>
        </p:nvSpPr>
        <p:spPr>
          <a:xfrm>
            <a:off x="179388" y="3357563"/>
            <a:ext cx="8640762" cy="3024187"/>
          </a:xfrm>
          <a:ln/>
        </p:spPr>
        <p:txBody>
          <a:bodyPr vert="horz" wrap="square" lIns="91440" tIns="45720" rIns="91440" bIns="45720" anchor="t" anchorCtr="0"/>
          <a:p>
            <a:pPr eaLnBrk="1" hangingPunct="1">
              <a:lnSpc>
                <a:spcPct val="90000"/>
              </a:lnSpc>
            </a:pPr>
            <a:r>
              <a:rPr lang="zh-CN" altLang="en-US" sz="3600" dirty="0">
                <a:solidFill>
                  <a:srgbClr val="993366"/>
                </a:solidFill>
                <a:ea typeface="华文新魏" panose="02010800040101010101" pitchFamily="2" charset="-122"/>
              </a:rPr>
              <a:t>读操作</a:t>
            </a:r>
            <a:endParaRPr lang="zh-CN" altLang="en-US" sz="3600" dirty="0">
              <a:solidFill>
                <a:srgbClr val="993366"/>
              </a:solidFill>
              <a:ea typeface="华文新魏" panose="02010800040101010101" pitchFamily="2" charset="-122"/>
            </a:endParaRPr>
          </a:p>
          <a:p>
            <a:pPr eaLnBrk="1" hangingPunct="1"/>
            <a:r>
              <a:rPr lang="zh-CN" altLang="en-US" dirty="0">
                <a:solidFill>
                  <a:schemeClr val="tx1"/>
                </a:solidFill>
              </a:rPr>
              <a:t>　</a:t>
            </a:r>
            <a:r>
              <a:rPr lang="zh-CN" altLang="en-US" sz="2800" dirty="0">
                <a:solidFill>
                  <a:schemeClr val="tx1"/>
                </a:solidFill>
              </a:rPr>
              <a:t>　</a:t>
            </a:r>
            <a:r>
              <a:rPr lang="zh-CN" altLang="en-US" sz="2800" b="1" dirty="0">
                <a:solidFill>
                  <a:schemeClr val="tx1"/>
                </a:solidFill>
                <a:latin typeface="楷体_GB2312" pitchFamily="1" charset="-122"/>
                <a:ea typeface="楷体_GB2312" pitchFamily="1" charset="-122"/>
              </a:rPr>
              <a:t>若某个存储元被选中，则该存储元的T5，T6，T7，T8管均导通，</a:t>
            </a:r>
            <a:r>
              <a:rPr lang="zh-CN" altLang="en-US" sz="2800" b="1" dirty="0">
                <a:solidFill>
                  <a:srgbClr val="993366"/>
                </a:solidFill>
                <a:latin typeface="楷体_GB2312" pitchFamily="1" charset="-122"/>
                <a:ea typeface="楷体_GB2312" pitchFamily="1" charset="-122"/>
              </a:rPr>
              <a:t>A，B两点与位线D与D相连</a:t>
            </a:r>
            <a:r>
              <a:rPr lang="zh-CN" altLang="en-US" sz="2800" b="1" dirty="0">
                <a:solidFill>
                  <a:schemeClr val="tx1"/>
                </a:solidFill>
                <a:latin typeface="楷体_GB2312" pitchFamily="1" charset="-122"/>
                <a:ea typeface="楷体_GB2312" pitchFamily="1" charset="-122"/>
              </a:rPr>
              <a:t>。</a:t>
            </a:r>
            <a:endParaRPr lang="zh-CN" altLang="en-US" sz="2800" b="1" dirty="0">
              <a:solidFill>
                <a:schemeClr val="tx1"/>
              </a:solidFill>
              <a:latin typeface="楷体_GB2312" pitchFamily="1" charset="-122"/>
              <a:ea typeface="楷体_GB2312" pitchFamily="1" charset="-122"/>
            </a:endParaRPr>
          </a:p>
          <a:p>
            <a:pPr eaLnBrk="1" hangingPunct="1"/>
            <a:r>
              <a:rPr lang="zh-CN" altLang="en-US" sz="2800" b="1" dirty="0">
                <a:solidFill>
                  <a:schemeClr val="tx1"/>
                </a:solidFill>
                <a:latin typeface="楷体_GB2312" pitchFamily="1" charset="-122"/>
                <a:ea typeface="楷体_GB2312" pitchFamily="1" charset="-122"/>
              </a:rPr>
              <a:t>    存储元的信息被送到I/O与I/O线上。I/O与I/O线接着一个差动读出放大器 ，从其</a:t>
            </a:r>
            <a:r>
              <a:rPr lang="zh-CN" altLang="en-US" sz="2800" b="1" dirty="0">
                <a:solidFill>
                  <a:srgbClr val="993366"/>
                </a:solidFill>
                <a:latin typeface="楷体_GB2312" pitchFamily="1" charset="-122"/>
                <a:ea typeface="楷体_GB2312" pitchFamily="1" charset="-122"/>
              </a:rPr>
              <a:t>电流方向</a:t>
            </a:r>
            <a:r>
              <a:rPr lang="zh-CN" altLang="en-US" sz="2800" b="1" dirty="0">
                <a:solidFill>
                  <a:schemeClr val="tx1"/>
                </a:solidFill>
                <a:latin typeface="楷体_GB2312" pitchFamily="1" charset="-122"/>
                <a:ea typeface="楷体_GB2312" pitchFamily="1" charset="-122"/>
              </a:rPr>
              <a:t>可以判知所存信息是</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1</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还是</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0</a:t>
            </a:r>
            <a:r>
              <a:rPr lang="zh-CN" altLang="en-US" sz="2800" b="1" dirty="0">
                <a:solidFill>
                  <a:schemeClr val="tx1"/>
                </a:solidFill>
                <a:ea typeface="楷体_GB2312" pitchFamily="1" charset="-122"/>
              </a:rPr>
              <a:t>”</a:t>
            </a:r>
            <a:r>
              <a:rPr lang="zh-CN" altLang="en-US" sz="2800" b="1" dirty="0">
                <a:solidFill>
                  <a:schemeClr val="tx1"/>
                </a:solidFill>
                <a:latin typeface="楷体_GB2312" pitchFamily="1" charset="-122"/>
                <a:ea typeface="楷体_GB2312" pitchFamily="1" charset="-122"/>
              </a:rPr>
              <a:t>。</a:t>
            </a:r>
            <a:endParaRPr lang="zh-CN" altLang="en-US" sz="2800" b="1" dirty="0">
              <a:solidFill>
                <a:schemeClr val="tx1"/>
              </a:solidFill>
              <a:latin typeface="楷体_GB2312" pitchFamily="1" charset="-122"/>
              <a:ea typeface="楷体_GB2312" pitchFamily="1" charset="-122"/>
            </a:endParaRPr>
          </a:p>
        </p:txBody>
      </p:sp>
      <p:pic>
        <p:nvPicPr>
          <p:cNvPr id="22531" name="Picture 3" descr="六管SRAM"/>
          <p:cNvPicPr>
            <a:picLocks noChangeAspect="1"/>
          </p:cNvPicPr>
          <p:nvPr/>
        </p:nvPicPr>
        <p:blipFill>
          <a:blip r:embed="rId1"/>
          <a:stretch>
            <a:fillRect/>
          </a:stretch>
        </p:blipFill>
        <p:spPr>
          <a:xfrm>
            <a:off x="2197100" y="0"/>
            <a:ext cx="6946900" cy="4005263"/>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p:nvPr>
            <p:ph type="title" idx="4294967295"/>
          </p:nvPr>
        </p:nvSpPr>
        <p:spPr>
          <a:xfrm>
            <a:off x="468313" y="915988"/>
            <a:ext cx="7920037" cy="846137"/>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3.2 随机读写存储器——</a:t>
            </a:r>
            <a:r>
              <a:rPr lang="zh-CN" altLang="en-US" sz="2400" dirty="0"/>
              <a:t>SRAM存储器的组成</a:t>
            </a:r>
            <a:endParaRPr lang="zh-CN" altLang="en-US" sz="2400" dirty="0"/>
          </a:p>
        </p:txBody>
      </p:sp>
      <p:sp>
        <p:nvSpPr>
          <p:cNvPr id="23555" name="Rectangle 3"/>
          <p:cNvSpPr>
            <a:spLocks noGrp="1"/>
          </p:cNvSpPr>
          <p:nvPr>
            <p:ph type="body" idx="4294967295"/>
          </p:nvPr>
        </p:nvSpPr>
        <p:spPr>
          <a:xfrm>
            <a:off x="323850" y="1828800"/>
            <a:ext cx="8569325" cy="4267200"/>
          </a:xfrm>
          <a:ln/>
        </p:spPr>
        <p:txBody>
          <a:bodyPr vert="horz" wrap="square" lIns="91440" tIns="45720" rIns="91440" bIns="45720" anchor="t" anchorCtr="0"/>
          <a:p>
            <a:pPr eaLnBrk="1" hangingPunct="1">
              <a:lnSpc>
                <a:spcPct val="90000"/>
              </a:lnSpc>
            </a:pPr>
            <a:r>
              <a:rPr lang="zh-CN" altLang="en-US" sz="2800" b="1" dirty="0"/>
              <a:t>SRAM的组成</a:t>
            </a:r>
            <a:endParaRPr lang="zh-CN" altLang="en-US" sz="2800" b="1" dirty="0"/>
          </a:p>
          <a:p>
            <a:pPr lvl="1" eaLnBrk="1" hangingPunct="1">
              <a:lnSpc>
                <a:spcPct val="90000"/>
              </a:lnSpc>
            </a:pPr>
            <a:r>
              <a:rPr lang="zh-CN" altLang="en-US" sz="2400" b="1" dirty="0"/>
              <a:t>存储体：存储单元的集合。</a:t>
            </a:r>
            <a:endParaRPr lang="zh-CN" altLang="en-US" sz="2400" b="1" dirty="0"/>
          </a:p>
          <a:p>
            <a:pPr lvl="1" eaLnBrk="1" hangingPunct="1">
              <a:lnSpc>
                <a:spcPct val="90000"/>
              </a:lnSpc>
            </a:pPr>
            <a:r>
              <a:rPr lang="zh-CN" altLang="en-US" sz="2400" b="1" dirty="0"/>
              <a:t>地址译码器：地址译码器的输入信息来自CPU的地址寄存器。地址译码有两种方式：</a:t>
            </a:r>
            <a:r>
              <a:rPr lang="zh-CN" altLang="en-US" sz="2400" b="1" dirty="0">
                <a:solidFill>
                  <a:srgbClr val="993366"/>
                </a:solidFill>
                <a:ea typeface="华文新魏" panose="02010800040101010101" pitchFamily="2" charset="-122"/>
              </a:rPr>
              <a:t>单译码方式和双译码方式。</a:t>
            </a:r>
            <a:endParaRPr lang="zh-CN" altLang="en-US" sz="2400" b="1" dirty="0">
              <a:solidFill>
                <a:srgbClr val="993366"/>
              </a:solidFill>
              <a:ea typeface="华文新魏" panose="02010800040101010101" pitchFamily="2" charset="-122"/>
            </a:endParaRPr>
          </a:p>
          <a:p>
            <a:pPr lvl="1" eaLnBrk="1" hangingPunct="1">
              <a:lnSpc>
                <a:spcPct val="90000"/>
              </a:lnSpc>
            </a:pPr>
            <a:r>
              <a:rPr lang="zh-CN" altLang="en-US" sz="2400" b="1" dirty="0"/>
              <a:t>驱动器：通常加在译码器的输出之后。</a:t>
            </a:r>
            <a:endParaRPr lang="zh-CN" altLang="en-US" sz="2400" b="1" dirty="0"/>
          </a:p>
          <a:p>
            <a:pPr lvl="1" eaLnBrk="1" hangingPunct="1">
              <a:lnSpc>
                <a:spcPct val="90000"/>
              </a:lnSpc>
            </a:pPr>
            <a:r>
              <a:rPr lang="zh-CN" altLang="en-US" sz="2400" b="1" dirty="0"/>
              <a:t>I/O电路：处在数据总线和被选用的单元之间，用以控制被选中的单元读出或写入。</a:t>
            </a:r>
            <a:endParaRPr lang="zh-CN" altLang="en-US" sz="2400" b="1" dirty="0"/>
          </a:p>
          <a:p>
            <a:pPr lvl="1" eaLnBrk="1" hangingPunct="1">
              <a:lnSpc>
                <a:spcPct val="90000"/>
              </a:lnSpc>
            </a:pPr>
            <a:r>
              <a:rPr lang="zh-CN" altLang="en-US" sz="2400" b="1" dirty="0"/>
              <a:t>片选与读/写控制电路：在地址选择时，首先要进行选片。</a:t>
            </a:r>
            <a:endParaRPr lang="zh-CN" altLang="en-US" sz="2400" b="1" dirty="0"/>
          </a:p>
          <a:p>
            <a:pPr lvl="1" eaLnBrk="1" hangingPunct="1">
              <a:lnSpc>
                <a:spcPct val="90000"/>
              </a:lnSpc>
            </a:pPr>
            <a:r>
              <a:rPr lang="zh-CN" altLang="en-US" sz="2400" b="1" dirty="0"/>
              <a:t>输出驱动电路：</a:t>
            </a:r>
            <a:endParaRPr lang="zh-CN" altLang="en-US" sz="24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p:nvPr>
            <p:ph type="title" idx="4294967295"/>
          </p:nvPr>
        </p:nvSpPr>
        <p:spPr>
          <a:xfrm>
            <a:off x="457200" y="274638"/>
            <a:ext cx="8229600" cy="1143000"/>
          </a:xfrm>
          <a:prstGeom prst="rect">
            <a:avLst/>
          </a:prstGeom>
          <a:noFill/>
          <a:ln w="9525">
            <a:noFill/>
          </a:ln>
        </p:spPr>
        <p:txBody>
          <a:bodyPr anchor="ctr" anchorCtr="0"/>
          <a:p>
            <a:pPr eaLnBrk="1" hangingPunct="1"/>
            <a:endParaRPr lang="zh-CN" altLang="en-US" dirty="0"/>
          </a:p>
        </p:txBody>
      </p:sp>
      <p:sp>
        <p:nvSpPr>
          <p:cNvPr id="24579" name="Rectangle 3"/>
          <p:cNvSpPr>
            <a:spLocks noGrp="1"/>
          </p:cNvSpPr>
          <p:nvPr>
            <p:ph type="body" idx="4294967295"/>
          </p:nvPr>
        </p:nvSpPr>
        <p:spPr>
          <a:ln/>
        </p:spPr>
        <p:txBody>
          <a:bodyPr vert="horz" wrap="square" lIns="91440" tIns="45720" rIns="91440" bIns="45720" anchor="t" anchorCtr="0"/>
          <a:p>
            <a:pPr eaLnBrk="1" hangingPunct="1"/>
            <a:r>
              <a:rPr lang="zh-CN" altLang="en-US" dirty="0"/>
              <a:t>单地址译码：只有一个译码器，结构简单，但需要较多的选通信号线和驱动器，仅适合小型存储器。</a:t>
            </a:r>
            <a:endParaRPr lang="zh-CN" altLang="en-US" dirty="0"/>
          </a:p>
          <a:p>
            <a:pPr eaLnBrk="1" hangingPunct="1"/>
            <a:r>
              <a:rPr lang="zh-CN" altLang="en-US" dirty="0"/>
              <a:t>双地址译码：选通信号线和驱动器数量少，但结构复杂，适合大型存储器。</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2" name="Picture 2" descr="SRAM存储单元"/>
          <p:cNvPicPr>
            <a:picLocks noChangeAspect="1"/>
          </p:cNvPicPr>
          <p:nvPr/>
        </p:nvPicPr>
        <p:blipFill>
          <a:blip r:embed="rId1"/>
          <a:stretch>
            <a:fillRect/>
          </a:stretch>
        </p:blipFill>
        <p:spPr>
          <a:xfrm>
            <a:off x="323850" y="488950"/>
            <a:ext cx="8569325" cy="5700713"/>
          </a:xfrm>
          <a:prstGeom prst="rect">
            <a:avLst/>
          </a:prstGeom>
          <a:noFill/>
          <a:ln w="9525">
            <a:noFill/>
          </a:ln>
        </p:spPr>
      </p:pic>
      <p:sp>
        <p:nvSpPr>
          <p:cNvPr id="25603" name="Rectangle 3"/>
          <p:cNvSpPr/>
          <p:nvPr/>
        </p:nvSpPr>
        <p:spPr>
          <a:xfrm>
            <a:off x="3443288" y="3170238"/>
            <a:ext cx="1903412"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800" dirty="0"/>
              <a:t>SRAM结构</a:t>
            </a:r>
            <a:endParaRPr lang="zh-CN"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p:nvPr>
            <p:ph type="title" idx="4294967295"/>
          </p:nvPr>
        </p:nvSpPr>
        <p:spPr>
          <a:xfrm>
            <a:off x="914400" y="914400"/>
            <a:ext cx="7543800" cy="846138"/>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3.2 随机读写存储器——</a:t>
            </a:r>
            <a:r>
              <a:rPr lang="zh-CN" altLang="en-US" sz="2400" dirty="0"/>
              <a:t>SRAM存储器</a:t>
            </a:r>
            <a:endParaRPr lang="zh-CN" altLang="en-US" sz="2400" dirty="0"/>
          </a:p>
        </p:txBody>
      </p:sp>
      <p:sp>
        <p:nvSpPr>
          <p:cNvPr id="26627" name="Rectangle 3"/>
          <p:cNvSpPr>
            <a:spLocks noGrp="1"/>
          </p:cNvSpPr>
          <p:nvPr>
            <p:ph type="body" idx="4294967295"/>
          </p:nvPr>
        </p:nvSpPr>
        <p:spPr>
          <a:xfrm>
            <a:off x="685800" y="1752600"/>
            <a:ext cx="7772400" cy="4343400"/>
          </a:xfrm>
          <a:ln/>
        </p:spPr>
        <p:txBody>
          <a:bodyPr vert="horz" wrap="square" lIns="91440" tIns="45720" rIns="91440" bIns="45720" anchor="t" anchorCtr="0"/>
          <a:p>
            <a:pPr eaLnBrk="1" hangingPunct="1"/>
            <a:r>
              <a:rPr lang="zh-CN" altLang="en-US" b="1" dirty="0"/>
              <a:t>SRAM存储器芯片举例</a:t>
            </a:r>
            <a:endParaRPr lang="zh-CN" altLang="en-US" dirty="0"/>
          </a:p>
        </p:txBody>
      </p:sp>
      <p:pic>
        <p:nvPicPr>
          <p:cNvPr id="26628" name="Picture 4" descr="3114逻辑电路图"/>
          <p:cNvPicPr>
            <a:picLocks noChangeAspect="1"/>
          </p:cNvPicPr>
          <p:nvPr/>
        </p:nvPicPr>
        <p:blipFill>
          <a:blip r:embed="rId1">
            <a:lum contrast="12000"/>
          </a:blip>
          <a:stretch>
            <a:fillRect/>
          </a:stretch>
        </p:blipFill>
        <p:spPr>
          <a:xfrm>
            <a:off x="900113" y="2278063"/>
            <a:ext cx="7416800" cy="3946525"/>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p:nvPr>
            <p:ph type="title" idx="4294967295"/>
          </p:nvPr>
        </p:nvSpPr>
        <p:spPr>
          <a:xfrm>
            <a:off x="990600" y="990600"/>
            <a:ext cx="7391400" cy="769938"/>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3.2 随机读写存储器——</a:t>
            </a:r>
            <a:r>
              <a:rPr lang="zh-CN" altLang="en-US" sz="2400" dirty="0"/>
              <a:t>SRAM存储器</a:t>
            </a:r>
            <a:endParaRPr lang="zh-CN" altLang="en-US" sz="2400" dirty="0"/>
          </a:p>
        </p:txBody>
      </p:sp>
      <p:sp>
        <p:nvSpPr>
          <p:cNvPr id="27651"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solidFill>
                  <a:srgbClr val="993366"/>
                </a:solidFill>
                <a:latin typeface="楷体_GB2312" pitchFamily="1" charset="-122"/>
                <a:ea typeface="楷体_GB2312" pitchFamily="1" charset="-122"/>
              </a:rPr>
              <a:t>存储器的读出时间：</a:t>
            </a:r>
            <a:r>
              <a:rPr lang="zh-CN" altLang="en-US" b="1" dirty="0">
                <a:latin typeface="楷体_GB2312" pitchFamily="1" charset="-122"/>
                <a:ea typeface="楷体_GB2312" pitchFamily="1" charset="-122"/>
              </a:rPr>
              <a:t>从给出有效地址后，经过译码电路、驱动电路的延迟，到读出所选中单元的内容，再经过I/O电路的延迟后在外部总线上稳定地出现所读出的数据信息。</a:t>
            </a:r>
            <a:endParaRPr lang="zh-CN" altLang="en-US" b="1" dirty="0">
              <a:latin typeface="楷体_GB2312" pitchFamily="1" charset="-122"/>
              <a:ea typeface="楷体_GB2312" pitchFamily="1" charset="-122"/>
            </a:endParaRPr>
          </a:p>
          <a:p>
            <a:pPr eaLnBrk="1" hangingPunct="1"/>
            <a:r>
              <a:rPr lang="zh-CN" altLang="en-US" b="1" dirty="0">
                <a:solidFill>
                  <a:srgbClr val="993366"/>
                </a:solidFill>
                <a:latin typeface="楷体_GB2312" pitchFamily="1" charset="-122"/>
                <a:ea typeface="楷体_GB2312" pitchFamily="1" charset="-122"/>
              </a:rPr>
              <a:t>读周期：</a:t>
            </a:r>
            <a:r>
              <a:rPr lang="zh-CN" altLang="en-US" b="1" dirty="0">
                <a:latin typeface="楷体_GB2312" pitchFamily="1" charset="-122"/>
                <a:ea typeface="楷体_GB2312" pitchFamily="1" charset="-122"/>
              </a:rPr>
              <a:t>表示存储片进行两次连续读操作时所必须间隔的时间，它总是大于或等于读出时间。</a:t>
            </a:r>
            <a:endParaRPr lang="zh-CN" altLang="en-US" b="1" dirty="0">
              <a:latin typeface="楷体_GB2312" pitchFamily="1" charset="-122"/>
              <a:ea typeface="楷体_GB2312" pitchFamily="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3"/>
          <p:cNvSpPr>
            <a:spLocks noGrp="1"/>
          </p:cNvSpPr>
          <p:nvPr>
            <p:ph type="body" idx="4294967295"/>
          </p:nvPr>
        </p:nvSpPr>
        <p:spPr>
          <a:ln/>
        </p:spPr>
        <p:txBody>
          <a:bodyPr vert="horz" wrap="square" lIns="91440" tIns="45720" rIns="91440" bIns="45720" anchor="t" anchorCtr="0"/>
          <a:p>
            <a:pPr eaLnBrk="1" hangingPunct="1"/>
            <a:r>
              <a:rPr lang="zh-CN" altLang="zh-CN" b="1" dirty="0">
                <a:solidFill>
                  <a:srgbClr val="993366"/>
                </a:solidFill>
                <a:latin typeface="楷体_GB2312" pitchFamily="1" charset="-122"/>
                <a:ea typeface="楷体_GB2312" pitchFamily="1" charset="-122"/>
              </a:rPr>
              <a:t>写周期：</a:t>
            </a:r>
            <a:r>
              <a:rPr lang="zh-CN" altLang="zh-CN" b="1" dirty="0"/>
              <a:t>要实现写操作，必须要求片选信号和写信号都为低。而且在地址变化期间，写信号必须为高（即无效）。</a:t>
            </a:r>
            <a:endParaRPr lang="zh-CN" altLang="zh-CN"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p:nvPr>
            <p:ph type="title" idx="4294967295"/>
          </p:nvPr>
        </p:nvSpPr>
        <p:spPr>
          <a:xfrm>
            <a:off x="900113" y="909638"/>
            <a:ext cx="7543800" cy="846137"/>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a:t>
            </a:r>
            <a:r>
              <a:rPr lang="en-US" altLang="zh-CN" dirty="0"/>
              <a:t>3</a:t>
            </a:r>
            <a:r>
              <a:rPr lang="zh-CN" altLang="en-US" dirty="0"/>
              <a:t> 随机读写存储器——</a:t>
            </a:r>
            <a:r>
              <a:rPr lang="zh-CN" altLang="en-US" sz="2400" dirty="0"/>
              <a:t>DRAM存储器</a:t>
            </a:r>
            <a:endParaRPr lang="zh-CN" altLang="en-US" sz="2400" dirty="0"/>
          </a:p>
        </p:txBody>
      </p:sp>
      <p:sp>
        <p:nvSpPr>
          <p:cNvPr id="29699" name="Rectangle 3"/>
          <p:cNvSpPr>
            <a:spLocks noGrp="1"/>
          </p:cNvSpPr>
          <p:nvPr>
            <p:ph type="body" idx="4294967295"/>
          </p:nvPr>
        </p:nvSpPr>
        <p:spPr>
          <a:xfrm>
            <a:off x="685800" y="1981200"/>
            <a:ext cx="7239000" cy="3124200"/>
          </a:xfrm>
          <a:ln/>
        </p:spPr>
        <p:txBody>
          <a:bodyPr vert="horz" wrap="square" lIns="91440" tIns="45720" rIns="91440" bIns="45720" anchor="t" anchorCtr="0"/>
          <a:p>
            <a:pPr eaLnBrk="1" hangingPunct="1"/>
            <a:r>
              <a:rPr lang="zh-CN" altLang="en-US" b="1" dirty="0"/>
              <a:t>动态MOS存储器的组成</a:t>
            </a:r>
            <a:endParaRPr lang="zh-CN" altLang="en-US" b="1" dirty="0"/>
          </a:p>
          <a:p>
            <a:pPr lvl="1" eaLnBrk="1" hangingPunct="1"/>
            <a:r>
              <a:rPr lang="zh-CN" altLang="en-US" b="1" dirty="0"/>
              <a:t>四管动态存储器</a:t>
            </a:r>
            <a:endParaRPr lang="zh-CN" altLang="en-US" b="1" dirty="0"/>
          </a:p>
          <a:p>
            <a:pPr lvl="1" eaLnBrk="1" hangingPunct="1"/>
            <a:r>
              <a:rPr lang="zh-CN" altLang="en-US" b="1" dirty="0"/>
              <a:t>单管动态存储器</a:t>
            </a:r>
            <a:endParaRPr lang="zh-CN" altLang="en-U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body" idx="4294967295"/>
          </p:nvPr>
        </p:nvSpPr>
        <p:spPr>
          <a:xfrm>
            <a:off x="228600" y="549275"/>
            <a:ext cx="4992688" cy="5699125"/>
          </a:xfrm>
          <a:ln/>
        </p:spPr>
        <p:txBody>
          <a:bodyPr vert="horz" wrap="square" lIns="91440" tIns="45720" rIns="91440" bIns="45720" anchor="t" anchorCtr="0"/>
          <a:p>
            <a:pPr marL="0" indent="0" algn="just" defTabSz="914400" eaLnBrk="1" hangingPunct="1">
              <a:lnSpc>
                <a:spcPct val="90000"/>
              </a:lnSpc>
              <a:tabLst>
                <a:tab pos="4853305" algn="l"/>
              </a:tabLst>
            </a:pPr>
            <a:r>
              <a:rPr lang="zh-CN" altLang="en-US" sz="2800" b="1" dirty="0">
                <a:ea typeface="楷体_GB2312" pitchFamily="1" charset="-122"/>
              </a:rPr>
              <a:t>四管动态存储元</a:t>
            </a:r>
            <a:endParaRPr lang="zh-CN" altLang="en-US" sz="2800" b="1" dirty="0"/>
          </a:p>
          <a:p>
            <a:pPr marL="0" indent="0" defTabSz="914400" eaLnBrk="1" hangingPunct="1">
              <a:lnSpc>
                <a:spcPct val="90000"/>
              </a:lnSpc>
              <a:buNone/>
              <a:tabLst>
                <a:tab pos="4853305" algn="l"/>
              </a:tabLst>
            </a:pPr>
            <a:r>
              <a:rPr lang="zh-CN" altLang="en-US" sz="2800" b="1" dirty="0">
                <a:ea typeface="楷体_GB2312" pitchFamily="1" charset="-122"/>
              </a:rPr>
              <a:t>        在六管静态存储元电路中，信息暂存于</a:t>
            </a:r>
            <a:r>
              <a:rPr lang="zh-CN" altLang="en-US" sz="2800" b="1" i="1" dirty="0">
                <a:ea typeface="楷体_GB2312" pitchFamily="1" charset="-122"/>
              </a:rPr>
              <a:t>T</a:t>
            </a:r>
            <a:r>
              <a:rPr lang="zh-CN" altLang="en-US" sz="2800" b="1" dirty="0">
                <a:ea typeface="楷体_GB2312" pitchFamily="1" charset="-122"/>
              </a:rPr>
              <a:t>1，</a:t>
            </a:r>
            <a:r>
              <a:rPr lang="zh-CN" altLang="en-US" sz="2800" b="1" i="1" dirty="0">
                <a:ea typeface="楷体_GB2312" pitchFamily="1" charset="-122"/>
              </a:rPr>
              <a:t>T</a:t>
            </a:r>
            <a:r>
              <a:rPr lang="zh-CN" altLang="en-US" sz="2800" b="1" dirty="0">
                <a:ea typeface="楷体_GB2312" pitchFamily="1" charset="-122"/>
              </a:rPr>
              <a:t>2管的栅极，这是因为管子总是存在着一定的电容。负载管</a:t>
            </a:r>
            <a:r>
              <a:rPr lang="zh-CN" altLang="en-US" sz="2800" b="1" i="1" dirty="0">
                <a:ea typeface="楷体_GB2312" pitchFamily="1" charset="-122"/>
              </a:rPr>
              <a:t>T</a:t>
            </a:r>
            <a:r>
              <a:rPr lang="zh-CN" altLang="en-US" sz="2800" b="1" dirty="0">
                <a:ea typeface="楷体_GB2312" pitchFamily="1" charset="-122"/>
              </a:rPr>
              <a:t>3，</a:t>
            </a:r>
            <a:r>
              <a:rPr lang="zh-CN" altLang="en-US" sz="2800" b="1" i="1" dirty="0">
                <a:ea typeface="楷体_GB2312" pitchFamily="1" charset="-122"/>
              </a:rPr>
              <a:t>T</a:t>
            </a:r>
            <a:r>
              <a:rPr lang="zh-CN" altLang="en-US" sz="2800" b="1" dirty="0">
                <a:ea typeface="楷体_GB2312" pitchFamily="1" charset="-122"/>
              </a:rPr>
              <a:t>4是为了给这些存储电荷补充电荷用的。</a:t>
            </a:r>
            <a:endParaRPr lang="zh-CN" altLang="en-US" sz="2800" b="1" dirty="0">
              <a:ea typeface="楷体_GB2312" pitchFamily="1" charset="-122"/>
            </a:endParaRPr>
          </a:p>
          <a:p>
            <a:pPr marL="0" indent="0" defTabSz="914400" eaLnBrk="1" hangingPunct="1">
              <a:lnSpc>
                <a:spcPct val="90000"/>
              </a:lnSpc>
              <a:buNone/>
              <a:tabLst>
                <a:tab pos="4853305" algn="l"/>
              </a:tabLst>
            </a:pPr>
            <a:r>
              <a:rPr lang="zh-CN" altLang="en-US" sz="2800" b="1" dirty="0">
                <a:ea typeface="楷体_GB2312" pitchFamily="1" charset="-122"/>
              </a:rPr>
              <a:t>        由于MOS的栅极电阻很高，故泄漏电流很小，在一定的时间内这些信息电荷可以维持住。为了减少管子以提高集成度，把负载管</a:t>
            </a:r>
            <a:r>
              <a:rPr lang="zh-CN" altLang="en-US" sz="2800" b="1" i="1" dirty="0">
                <a:ea typeface="楷体_GB2312" pitchFamily="1" charset="-122"/>
              </a:rPr>
              <a:t>T</a:t>
            </a:r>
            <a:r>
              <a:rPr lang="zh-CN" altLang="en-US" sz="2800" b="1" dirty="0">
                <a:ea typeface="楷体_GB2312" pitchFamily="1" charset="-122"/>
              </a:rPr>
              <a:t>3，</a:t>
            </a:r>
            <a:r>
              <a:rPr lang="zh-CN" altLang="en-US" sz="2800" b="1" i="1" dirty="0">
                <a:ea typeface="楷体_GB2312" pitchFamily="1" charset="-122"/>
              </a:rPr>
              <a:t>T</a:t>
            </a:r>
            <a:r>
              <a:rPr lang="zh-CN" altLang="en-US" sz="2800" b="1" dirty="0">
                <a:ea typeface="楷体_GB2312" pitchFamily="1" charset="-122"/>
              </a:rPr>
              <a:t>4去掉，这样变成了四管的动态存储电路。</a:t>
            </a:r>
            <a:r>
              <a:rPr lang="zh-CN" altLang="en-US" sz="2800" b="1" dirty="0"/>
              <a:t> </a:t>
            </a:r>
            <a:endParaRPr lang="zh-CN" altLang="en-US" sz="2800" b="1" dirty="0"/>
          </a:p>
        </p:txBody>
      </p:sp>
      <p:pic>
        <p:nvPicPr>
          <p:cNvPr id="30723" name="Picture 3" descr="四管动态存储元"/>
          <p:cNvPicPr>
            <a:picLocks noChangeAspect="1"/>
          </p:cNvPicPr>
          <p:nvPr/>
        </p:nvPicPr>
        <p:blipFill>
          <a:blip r:embed="rId1"/>
          <a:stretch>
            <a:fillRect/>
          </a:stretch>
        </p:blipFill>
        <p:spPr>
          <a:xfrm>
            <a:off x="5219700" y="117475"/>
            <a:ext cx="3810000" cy="5329238"/>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body" idx="4294967295"/>
          </p:nvPr>
        </p:nvSpPr>
        <p:spPr>
          <a:xfrm>
            <a:off x="228600" y="550863"/>
            <a:ext cx="4271963" cy="5976937"/>
          </a:xfrm>
          <a:ln/>
        </p:spPr>
        <p:txBody>
          <a:bodyPr vert="horz" wrap="square" lIns="91440" tIns="45720" rIns="91440" bIns="45720" anchor="t" anchorCtr="0"/>
          <a:p>
            <a:pPr eaLnBrk="1" hangingPunct="1">
              <a:lnSpc>
                <a:spcPct val="90000"/>
              </a:lnSpc>
            </a:pPr>
            <a:r>
              <a:rPr lang="zh-CN" altLang="en-US" sz="2400" b="1" dirty="0">
                <a:solidFill>
                  <a:srgbClr val="FF80C0"/>
                </a:solidFill>
              </a:rPr>
              <a:t>写操作</a:t>
            </a:r>
            <a:r>
              <a:rPr lang="zh-CN" altLang="en-US" sz="2400" b="1" dirty="0"/>
              <a:t>:I/O与I/O加相反的电平，当T5,T6截止时，靠T1，T2管栅极电容的存储作用，在一定时间内(如2ms)可保留所写入的信息。</a:t>
            </a:r>
            <a:endParaRPr lang="zh-CN" altLang="en-US" sz="2400" b="1" dirty="0"/>
          </a:p>
          <a:p>
            <a:pPr eaLnBrk="1" hangingPunct="1">
              <a:lnSpc>
                <a:spcPct val="90000"/>
              </a:lnSpc>
            </a:pPr>
            <a:r>
              <a:rPr lang="zh-CN" altLang="en-US" sz="2400" b="1" dirty="0">
                <a:solidFill>
                  <a:srgbClr val="FF80C0"/>
                </a:solidFill>
              </a:rPr>
              <a:t>读操作</a:t>
            </a:r>
            <a:r>
              <a:rPr lang="zh-CN" altLang="en-US" sz="2400" b="1" dirty="0"/>
              <a:t>:先给出预充信号，使T9，T10管导通，位线D和D上的电容都达到电源电压。字选择线使T5，T6管导通时，存储的信息通过A，B端向位线输出。 </a:t>
            </a:r>
            <a:endParaRPr lang="zh-CN" altLang="en-US" sz="2400" b="1" dirty="0"/>
          </a:p>
          <a:p>
            <a:pPr eaLnBrk="1" hangingPunct="1">
              <a:lnSpc>
                <a:spcPct val="90000"/>
              </a:lnSpc>
            </a:pPr>
            <a:r>
              <a:rPr lang="zh-CN" altLang="en-US" sz="2400" b="1" dirty="0">
                <a:solidFill>
                  <a:srgbClr val="FF80C0"/>
                </a:solidFill>
              </a:rPr>
              <a:t>刷新操作</a:t>
            </a:r>
            <a:r>
              <a:rPr lang="zh-CN" altLang="en-US" sz="2400" b="1" dirty="0"/>
              <a:t>:为防止存储的信息电荷泄漏而丢失信息，由外界按一定规律不断给栅极进行充电，补足栅极的信息电荷。</a:t>
            </a:r>
            <a:endParaRPr lang="zh-CN" altLang="en-US" sz="2400" b="1" dirty="0"/>
          </a:p>
        </p:txBody>
      </p:sp>
      <p:pic>
        <p:nvPicPr>
          <p:cNvPr id="31747" name="Picture 3" descr="四管动态存储元"/>
          <p:cNvPicPr>
            <a:picLocks noChangeAspect="1"/>
          </p:cNvPicPr>
          <p:nvPr/>
        </p:nvPicPr>
        <p:blipFill>
          <a:blip r:embed="rId1"/>
          <a:stretch>
            <a:fillRect/>
          </a:stretch>
        </p:blipFill>
        <p:spPr>
          <a:xfrm>
            <a:off x="4502150" y="477838"/>
            <a:ext cx="4643438" cy="5541962"/>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body" idx="4294967295"/>
          </p:nvPr>
        </p:nvSpPr>
        <p:spPr>
          <a:xfrm>
            <a:off x="396875" y="1268413"/>
            <a:ext cx="3962400" cy="4953000"/>
          </a:xfrm>
          <a:ln/>
        </p:spPr>
        <p:txBody>
          <a:bodyPr vert="horz" wrap="square" lIns="91440" tIns="45720" rIns="91440" bIns="45720" anchor="t" anchorCtr="0"/>
          <a:p>
            <a:pPr marL="0" indent="0" algn="just" eaLnBrk="1" hangingPunct="1"/>
            <a:r>
              <a:rPr lang="zh-CN" altLang="en-US" sz="2800" b="1" dirty="0">
                <a:ea typeface="楷体_GB2312" pitchFamily="1" charset="-122"/>
              </a:rPr>
              <a:t>单管动态存储元</a:t>
            </a:r>
            <a:endParaRPr lang="zh-CN" altLang="en-US" sz="2800" b="1" dirty="0"/>
          </a:p>
          <a:p>
            <a:pPr marL="0" indent="0" algn="just" eaLnBrk="1" hangingPunct="1">
              <a:buNone/>
            </a:pPr>
            <a:r>
              <a:rPr lang="zh-CN" altLang="en-US" sz="2800" b="1" dirty="0">
                <a:ea typeface="楷体_GB2312" pitchFamily="1" charset="-122"/>
              </a:rPr>
              <a:t>       它由一个管子</a:t>
            </a:r>
            <a:r>
              <a:rPr lang="zh-CN" altLang="en-US" sz="2800" b="1" i="1" dirty="0">
                <a:ea typeface="楷体_GB2312" pitchFamily="1" charset="-122"/>
              </a:rPr>
              <a:t>T</a:t>
            </a:r>
            <a:r>
              <a:rPr lang="zh-CN" altLang="en-US" sz="2800" b="1" dirty="0">
                <a:ea typeface="楷体_GB2312" pitchFamily="1" charset="-122"/>
              </a:rPr>
              <a:t>1和一个电容</a:t>
            </a:r>
            <a:r>
              <a:rPr lang="zh-CN" altLang="en-US" sz="2800" b="1" i="1" dirty="0">
                <a:ea typeface="楷体_GB2312" pitchFamily="1" charset="-122"/>
              </a:rPr>
              <a:t>C</a:t>
            </a:r>
            <a:r>
              <a:rPr lang="zh-CN" altLang="en-US" sz="2800" b="1" dirty="0">
                <a:ea typeface="楷体_GB2312" pitchFamily="1" charset="-122"/>
              </a:rPr>
              <a:t>构成，写入时，字选择线为“1”，</a:t>
            </a:r>
            <a:r>
              <a:rPr lang="zh-CN" altLang="en-US" sz="2800" b="1" i="1" dirty="0">
                <a:ea typeface="楷体_GB2312" pitchFamily="1" charset="-122"/>
              </a:rPr>
              <a:t>T</a:t>
            </a:r>
            <a:r>
              <a:rPr lang="zh-CN" altLang="en-US" sz="2800" b="1" dirty="0">
                <a:ea typeface="楷体_GB2312" pitchFamily="1" charset="-122"/>
              </a:rPr>
              <a:t>1管导通，定入信息由位线（数据线）存入电荷</a:t>
            </a:r>
            <a:r>
              <a:rPr lang="zh-CN" altLang="en-US" sz="2800" b="1" i="1" dirty="0">
                <a:ea typeface="楷体_GB2312" pitchFamily="1" charset="-122"/>
              </a:rPr>
              <a:t>C</a:t>
            </a:r>
            <a:r>
              <a:rPr lang="zh-CN" altLang="en-US" sz="2800" b="1" dirty="0">
                <a:ea typeface="楷体_GB2312" pitchFamily="1" charset="-122"/>
              </a:rPr>
              <a:t>上的电荷，通过</a:t>
            </a:r>
            <a:r>
              <a:rPr lang="zh-CN" altLang="en-US" sz="2800" b="1" i="1" dirty="0">
                <a:ea typeface="楷体_GB2312" pitchFamily="1" charset="-122"/>
              </a:rPr>
              <a:t>T</a:t>
            </a:r>
            <a:r>
              <a:rPr lang="zh-CN" altLang="en-US" sz="2800" b="1" dirty="0">
                <a:ea typeface="楷体_GB2312" pitchFamily="1" charset="-122"/>
              </a:rPr>
              <a:t>1输出到数据线上，通过读出放大器即可得到存储信息。</a:t>
            </a:r>
            <a:endParaRPr lang="zh-CN" altLang="en-US" sz="2800" b="1" dirty="0"/>
          </a:p>
        </p:txBody>
      </p:sp>
      <p:pic>
        <p:nvPicPr>
          <p:cNvPr id="32771" name="Picture 3" descr="单管动态存储器"/>
          <p:cNvPicPr>
            <a:picLocks noChangeAspect="1"/>
          </p:cNvPicPr>
          <p:nvPr/>
        </p:nvPicPr>
        <p:blipFill>
          <a:blip r:embed="rId1"/>
          <a:stretch>
            <a:fillRect/>
          </a:stretch>
        </p:blipFill>
        <p:spPr>
          <a:xfrm>
            <a:off x="4429125" y="620713"/>
            <a:ext cx="4495800" cy="556260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body" idx="4294967295"/>
          </p:nvPr>
        </p:nvSpPr>
        <p:spPr>
          <a:xfrm>
            <a:off x="457200" y="1219200"/>
            <a:ext cx="8229600" cy="4876800"/>
          </a:xfrm>
          <a:ln/>
        </p:spPr>
        <p:txBody>
          <a:bodyPr vert="horz" wrap="square" lIns="91440" tIns="45720" rIns="91440" bIns="45720" anchor="t" anchorCtr="0"/>
          <a:p>
            <a:pPr eaLnBrk="1" hangingPunct="1"/>
            <a:r>
              <a:rPr lang="zh-CN" altLang="zh-CN" sz="2800" b="1" dirty="0">
                <a:solidFill>
                  <a:srgbClr val="993366"/>
                </a:solidFill>
              </a:rPr>
              <a:t>单管存储元电路和四管存储元电路对比</a:t>
            </a:r>
            <a:r>
              <a:rPr lang="zh-CN" altLang="zh-CN" sz="2800" b="1" dirty="0">
                <a:solidFill>
                  <a:schemeClr val="tx1"/>
                </a:solidFill>
              </a:rPr>
              <a:t> </a:t>
            </a:r>
            <a:endParaRPr lang="zh-CN" altLang="zh-CN" sz="2800" b="1" dirty="0">
              <a:solidFill>
                <a:schemeClr val="tx1"/>
              </a:solidFill>
            </a:endParaRPr>
          </a:p>
          <a:p>
            <a:pPr eaLnBrk="1" hangingPunct="1"/>
            <a:endParaRPr lang="zh-CN" altLang="zh-CN" sz="2800" b="1" dirty="0">
              <a:solidFill>
                <a:schemeClr val="tx1"/>
              </a:solidFill>
            </a:endParaRPr>
          </a:p>
          <a:p>
            <a:pPr eaLnBrk="1" hangingPunct="1"/>
            <a:r>
              <a:rPr lang="zh-CN" altLang="zh-CN" sz="2800" b="1" dirty="0">
                <a:solidFill>
                  <a:schemeClr val="tx1"/>
                </a:solidFill>
              </a:rPr>
              <a:t>名　称　　　优　　点　                缺　点　</a:t>
            </a:r>
            <a:endParaRPr lang="zh-CN" altLang="zh-CN" sz="2800" b="1" dirty="0">
              <a:solidFill>
                <a:schemeClr val="tx1"/>
              </a:solidFill>
            </a:endParaRPr>
          </a:p>
          <a:p>
            <a:pPr eaLnBrk="1" hangingPunct="1"/>
            <a:endParaRPr lang="zh-CN" altLang="zh-CN" sz="2000" b="1" dirty="0">
              <a:solidFill>
                <a:schemeClr val="tx1"/>
              </a:solidFill>
            </a:endParaRPr>
          </a:p>
          <a:p>
            <a:pPr eaLnBrk="1" hangingPunct="1"/>
            <a:r>
              <a:rPr lang="zh-CN" altLang="zh-CN" sz="1800" b="1" dirty="0">
                <a:solidFill>
                  <a:schemeClr val="tx1"/>
                </a:solidFill>
              </a:rPr>
              <a:t>四管存储元电路　　  外围电路比较简单，　　   管子多，占用的芯片面积大</a:t>
            </a:r>
            <a:endParaRPr lang="zh-CN" altLang="zh-CN" sz="1800" b="1" dirty="0">
              <a:solidFill>
                <a:schemeClr val="tx1"/>
              </a:solidFill>
            </a:endParaRPr>
          </a:p>
          <a:p>
            <a:pPr eaLnBrk="1" hangingPunct="1"/>
            <a:r>
              <a:rPr lang="zh-CN" altLang="zh-CN" sz="1800" b="1" dirty="0">
                <a:solidFill>
                  <a:schemeClr val="tx1"/>
                </a:solidFill>
              </a:rPr>
              <a:t>                              刷新时不需要另加外部逻辑         　</a:t>
            </a:r>
            <a:endParaRPr lang="zh-CN" altLang="zh-CN" sz="1800" b="1" dirty="0">
              <a:solidFill>
                <a:schemeClr val="tx1"/>
              </a:solidFill>
            </a:endParaRPr>
          </a:p>
          <a:p>
            <a:pPr eaLnBrk="1" hangingPunct="1"/>
            <a:endParaRPr lang="zh-CN" altLang="zh-CN" sz="1800" b="1" dirty="0">
              <a:solidFill>
                <a:schemeClr val="tx1"/>
              </a:solidFill>
            </a:endParaRPr>
          </a:p>
          <a:p>
            <a:pPr eaLnBrk="1" hangingPunct="1"/>
            <a:r>
              <a:rPr lang="zh-CN" altLang="zh-CN" sz="1800" b="1" dirty="0">
                <a:solidFill>
                  <a:schemeClr val="tx1"/>
                </a:solidFill>
              </a:rPr>
              <a:t>单管存储元电路　　元件数量少，集成度高         需要有高鉴别能力的读出放 </a:t>
            </a:r>
            <a:endParaRPr lang="zh-CN" altLang="zh-CN" sz="1800" b="1" dirty="0">
              <a:solidFill>
                <a:schemeClr val="tx1"/>
              </a:solidFill>
            </a:endParaRPr>
          </a:p>
          <a:p>
            <a:pPr eaLnBrk="1" hangingPunct="1">
              <a:buNone/>
            </a:pPr>
            <a:r>
              <a:rPr lang="zh-CN" altLang="zh-CN" sz="1800" b="1" dirty="0">
                <a:solidFill>
                  <a:schemeClr val="tx1"/>
                </a:solidFill>
              </a:rPr>
              <a:t>                                                                                            大器配合工作，外围电路比</a:t>
            </a:r>
            <a:endParaRPr lang="zh-CN" altLang="zh-CN" sz="1800" b="1" dirty="0">
              <a:solidFill>
                <a:schemeClr val="tx1"/>
              </a:solidFill>
            </a:endParaRPr>
          </a:p>
          <a:p>
            <a:pPr eaLnBrk="1" hangingPunct="1">
              <a:buNone/>
            </a:pPr>
            <a:r>
              <a:rPr lang="zh-CN" altLang="zh-CN" sz="1800" b="1" dirty="0">
                <a:solidFill>
                  <a:schemeClr val="tx1"/>
                </a:solidFill>
              </a:rPr>
              <a:t>                                                                                            较复杂。</a:t>
            </a:r>
            <a:endParaRPr lang="zh-CN" altLang="zh-CN" sz="1800" b="1"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p:nvPr>
            <p:ph type="title" idx="4294967295"/>
          </p:nvPr>
        </p:nvSpPr>
        <p:spPr>
          <a:xfrm>
            <a:off x="838200" y="914400"/>
            <a:ext cx="7620000" cy="846138"/>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a:t>
            </a:r>
            <a:r>
              <a:rPr lang="en-US" altLang="zh-CN" dirty="0"/>
              <a:t>3</a:t>
            </a:r>
            <a:r>
              <a:rPr lang="zh-CN" altLang="en-US" dirty="0"/>
              <a:t> 随机读写存储器——</a:t>
            </a:r>
            <a:r>
              <a:rPr lang="zh-CN" altLang="en-US" sz="2400" dirty="0"/>
              <a:t>DRAM存储器</a:t>
            </a:r>
            <a:endParaRPr lang="zh-CN" altLang="en-US" sz="2400" dirty="0"/>
          </a:p>
        </p:txBody>
      </p:sp>
      <p:sp>
        <p:nvSpPr>
          <p:cNvPr id="34819" name="Rectangle 3"/>
          <p:cNvSpPr>
            <a:spLocks noGrp="1"/>
          </p:cNvSpPr>
          <p:nvPr>
            <p:ph type="body" idx="4294967295"/>
          </p:nvPr>
        </p:nvSpPr>
        <p:spPr>
          <a:ln/>
        </p:spPr>
        <p:txBody>
          <a:bodyPr vert="horz" wrap="square" lIns="91440" tIns="45720" rIns="91440" bIns="45720" anchor="t" anchorCtr="0"/>
          <a:p>
            <a:pPr eaLnBrk="1" hangingPunct="1"/>
            <a:r>
              <a:rPr lang="zh-CN" altLang="zh-CN" b="1" dirty="0"/>
              <a:t>动态存储器的操作</a:t>
            </a:r>
            <a:endParaRPr lang="zh-CN" altLang="zh-CN" b="1" dirty="0"/>
          </a:p>
          <a:p>
            <a:pPr lvl="1" eaLnBrk="1" hangingPunct="1"/>
            <a:r>
              <a:rPr lang="zh-CN" altLang="zh-CN" b="1" dirty="0"/>
              <a:t>写入操作</a:t>
            </a:r>
            <a:endParaRPr lang="zh-CN" altLang="zh-CN" b="1" dirty="0"/>
          </a:p>
          <a:p>
            <a:pPr lvl="1" eaLnBrk="1" hangingPunct="1"/>
            <a:r>
              <a:rPr lang="zh-CN" altLang="zh-CN" b="1" dirty="0"/>
              <a:t>读出操作</a:t>
            </a:r>
            <a:endParaRPr lang="zh-CN" altLang="zh-CN" b="1" dirty="0"/>
          </a:p>
          <a:p>
            <a:pPr lvl="1" eaLnBrk="1" hangingPunct="1"/>
            <a:r>
              <a:rPr lang="zh-CN" altLang="zh-CN" b="1" dirty="0"/>
              <a:t>刷新操作</a:t>
            </a:r>
            <a:endParaRPr lang="zh-CN" altLang="zh-CN"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p:nvPr>
            <p:ph type="title" idx="4294967295"/>
          </p:nvPr>
        </p:nvSpPr>
        <p:spPr>
          <a:xfrm>
            <a:off x="468313" y="836613"/>
            <a:ext cx="8229600" cy="1008062"/>
          </a:xfrm>
          <a:prstGeom prst="rect">
            <a:avLst/>
          </a:prstGeom>
          <a:noFill/>
          <a:ln w="9525">
            <a:noFill/>
          </a:ln>
        </p:spPr>
        <p:txBody>
          <a:bodyPr anchor="ctr" anchorCtr="0"/>
          <a:p>
            <a:pPr algn="l" eaLnBrk="1" hangingPunct="1"/>
            <a:r>
              <a:rPr lang="zh-CN" altLang="en-US" dirty="0"/>
              <a:t>动态存储器的特点：</a:t>
            </a:r>
            <a:endParaRPr lang="zh-CN" altLang="en-US" dirty="0"/>
          </a:p>
        </p:txBody>
      </p:sp>
      <p:sp>
        <p:nvSpPr>
          <p:cNvPr id="35843" name="Rectangle 3"/>
          <p:cNvSpPr>
            <a:spLocks noGrp="1"/>
          </p:cNvSpPr>
          <p:nvPr>
            <p:ph type="body" idx="4294967295"/>
          </p:nvPr>
        </p:nvSpPr>
        <p:spPr>
          <a:xfrm>
            <a:off x="615950" y="1838325"/>
            <a:ext cx="8134350" cy="4471988"/>
          </a:xfrm>
          <a:ln/>
        </p:spPr>
        <p:txBody>
          <a:bodyPr vert="horz" wrap="square" lIns="91440" tIns="45720" rIns="91440" bIns="45720" anchor="t" anchorCtr="0"/>
          <a:p>
            <a:pPr eaLnBrk="1" hangingPunct="1">
              <a:lnSpc>
                <a:spcPct val="90000"/>
              </a:lnSpc>
            </a:pPr>
            <a:r>
              <a:rPr lang="zh-CN" altLang="en-US" b="1" dirty="0">
                <a:solidFill>
                  <a:srgbClr val="0000FF"/>
                </a:solidFill>
              </a:rPr>
              <a:t>数据输入线和数据输出线是分开的；</a:t>
            </a:r>
            <a:endParaRPr lang="zh-CN" altLang="en-US" b="1" dirty="0">
              <a:solidFill>
                <a:srgbClr val="0000FF"/>
              </a:solidFill>
            </a:endParaRPr>
          </a:p>
          <a:p>
            <a:pPr eaLnBrk="1" hangingPunct="1">
              <a:lnSpc>
                <a:spcPct val="90000"/>
              </a:lnSpc>
            </a:pPr>
            <a:r>
              <a:rPr lang="zh-CN" altLang="en-US" b="1" dirty="0">
                <a:solidFill>
                  <a:srgbClr val="0000FF"/>
                </a:solidFill>
              </a:rPr>
              <a:t>进行</a:t>
            </a:r>
            <a:r>
              <a:rPr lang="zh-CN" altLang="en-US" b="1" dirty="0">
                <a:solidFill>
                  <a:srgbClr val="FF3300"/>
                </a:solidFill>
              </a:rPr>
              <a:t>地址复用</a:t>
            </a:r>
            <a:r>
              <a:rPr lang="zh-CN" altLang="en-US" b="1" dirty="0">
                <a:solidFill>
                  <a:srgbClr val="0000FF"/>
                </a:solidFill>
              </a:rPr>
              <a:t>，内部有两个锁存器（行地址选通信号RAS和列地址选通信号CAS）相同的地址引脚在时间上错开使用，前一次称为行地址之后是列地址，所以只需要一半地址线；</a:t>
            </a:r>
            <a:endParaRPr lang="zh-CN" altLang="en-US" b="1" dirty="0">
              <a:solidFill>
                <a:srgbClr val="0000FF"/>
              </a:solidFill>
            </a:endParaRPr>
          </a:p>
          <a:p>
            <a:pPr eaLnBrk="1" hangingPunct="1">
              <a:lnSpc>
                <a:spcPct val="90000"/>
              </a:lnSpc>
            </a:pPr>
            <a:r>
              <a:rPr lang="zh-CN" altLang="en-US" b="1" dirty="0">
                <a:solidFill>
                  <a:srgbClr val="0000FF"/>
                </a:solidFill>
              </a:rPr>
              <a:t>它有WE控制信号，而没有CS片选信号，扩展时用RAS信号代替CS信号；</a:t>
            </a:r>
            <a:endParaRPr lang="zh-CN" altLang="en-US" b="1" dirty="0">
              <a:solidFill>
                <a:srgbClr val="0000FF"/>
              </a:solidFill>
            </a:endParaRPr>
          </a:p>
          <a:p>
            <a:pPr eaLnBrk="1" hangingPunct="1">
              <a:lnSpc>
                <a:spcPct val="90000"/>
              </a:lnSpc>
            </a:pPr>
            <a:r>
              <a:rPr lang="zh-CN" altLang="en-US" b="1" dirty="0">
                <a:solidFill>
                  <a:srgbClr val="0000FF"/>
                </a:solidFill>
              </a:rPr>
              <a:t>需要刷新</a:t>
            </a:r>
            <a:endParaRPr lang="zh-CN" altLang="en-US" b="1" dirty="0">
              <a:solidFill>
                <a:srgbClr val="0000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p:nvPr>
            <p:ph type="title" idx="4294967295"/>
          </p:nvPr>
        </p:nvSpPr>
        <p:spPr>
          <a:xfrm>
            <a:off x="762000" y="990600"/>
            <a:ext cx="7543800" cy="769938"/>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a:t>
            </a:r>
            <a:r>
              <a:rPr lang="en-US" altLang="zh-CN" dirty="0"/>
              <a:t>3</a:t>
            </a:r>
            <a:r>
              <a:rPr lang="zh-CN" altLang="en-US" dirty="0"/>
              <a:t> 随机读写存储器——</a:t>
            </a:r>
            <a:r>
              <a:rPr lang="zh-CN" altLang="en-US" sz="2400" dirty="0"/>
              <a:t>DRAM存储器</a:t>
            </a:r>
            <a:endParaRPr lang="zh-CN" altLang="en-US" sz="2400" dirty="0"/>
          </a:p>
        </p:txBody>
      </p:sp>
      <p:sp>
        <p:nvSpPr>
          <p:cNvPr id="36867" name="Rectangle 3"/>
          <p:cNvSpPr>
            <a:spLocks noGrp="1"/>
          </p:cNvSpPr>
          <p:nvPr>
            <p:ph type="body" idx="4294967295"/>
          </p:nvPr>
        </p:nvSpPr>
        <p:spPr>
          <a:ln/>
        </p:spPr>
        <p:txBody>
          <a:bodyPr vert="horz" wrap="square" lIns="91440" tIns="45720" rIns="91440" bIns="45720" anchor="t" anchorCtr="0"/>
          <a:p>
            <a:pPr eaLnBrk="1" hangingPunct="1"/>
            <a:r>
              <a:rPr lang="zh-CN" altLang="en-US" sz="2800" b="1" dirty="0">
                <a:latin typeface="华文新魏" panose="02010800040101010101" pitchFamily="2" charset="-122"/>
                <a:ea typeface="华文新魏" panose="02010800040101010101" pitchFamily="2" charset="-122"/>
              </a:rPr>
              <a:t>动态RAM的存储元件依靠电容上的电荷表示存储的数据信息，而电容的绝缘电阻不可能无限大，因此漏电不可避免。</a:t>
            </a:r>
            <a:endParaRPr lang="zh-CN" altLang="en-US" sz="2800" b="1" dirty="0">
              <a:latin typeface="华文新魏" panose="02010800040101010101" pitchFamily="2" charset="-122"/>
              <a:ea typeface="华文新魏" panose="02010800040101010101" pitchFamily="2" charset="-122"/>
            </a:endParaRPr>
          </a:p>
          <a:p>
            <a:pPr eaLnBrk="1" hangingPunct="1"/>
            <a:r>
              <a:rPr lang="zh-CN" altLang="en-US" sz="2800" b="1" dirty="0">
                <a:latin typeface="华文新魏" panose="02010800040101010101" pitchFamily="2" charset="-122"/>
                <a:ea typeface="华文新魏" panose="02010800040101010101" pitchFamily="2" charset="-122"/>
              </a:rPr>
              <a:t>每隔一定的时间就对存储体中全部的存储电进行充电，以补充所消失的电荷，维持原存信息不变，这个过程称为</a:t>
            </a:r>
            <a:r>
              <a:rPr lang="zh-CN" altLang="en-US" sz="2800" b="1" dirty="0">
                <a:ea typeface="华文新魏" panose="02010800040101010101" pitchFamily="2" charset="-122"/>
              </a:rPr>
              <a:t>“</a:t>
            </a:r>
            <a:r>
              <a:rPr lang="zh-CN" altLang="en-US" sz="2800" b="1" dirty="0">
                <a:solidFill>
                  <a:srgbClr val="993366"/>
                </a:solidFill>
                <a:latin typeface="华文新魏" panose="02010800040101010101" pitchFamily="2" charset="-122"/>
                <a:ea typeface="华文新魏" panose="02010800040101010101" pitchFamily="2" charset="-122"/>
              </a:rPr>
              <a:t>刷新</a:t>
            </a:r>
            <a:r>
              <a:rPr lang="zh-CN" altLang="en-US" sz="2800" b="1" dirty="0">
                <a:ea typeface="华文新魏" panose="02010800040101010101" pitchFamily="2" charset="-122"/>
              </a:rPr>
              <a:t>”</a:t>
            </a:r>
            <a:r>
              <a:rPr lang="zh-CN" altLang="en-US" sz="2800" b="1" dirty="0">
                <a:latin typeface="华文新魏" panose="02010800040101010101" pitchFamily="2" charset="-122"/>
                <a:ea typeface="华文新魏" panose="02010800040101010101" pitchFamily="2" charset="-122"/>
              </a:rPr>
              <a:t>。</a:t>
            </a:r>
            <a:endParaRPr lang="zh-CN" altLang="en-US" sz="2800" b="1" dirty="0">
              <a:latin typeface="华文新魏" panose="02010800040101010101" pitchFamily="2" charset="-122"/>
              <a:ea typeface="华文新魏" panose="02010800040101010101" pitchFamily="2" charset="-122"/>
            </a:endParaRPr>
          </a:p>
          <a:p>
            <a:pPr eaLnBrk="1" hangingPunct="1"/>
            <a:r>
              <a:rPr lang="zh-CN" altLang="en-US" sz="2800" b="1" dirty="0">
                <a:latin typeface="华文新魏" panose="02010800040101010101" pitchFamily="2" charset="-122"/>
                <a:ea typeface="华文新魏" panose="02010800040101010101" pitchFamily="2" charset="-122"/>
              </a:rPr>
              <a:t>显然，只要定时给全部存储元电路执行一遍读操作，信息不向外输出进行放大后回写，那么就可实现信息再生或刷新。</a:t>
            </a:r>
            <a:endParaRPr lang="zh-CN" altLang="en-US" sz="2800"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p:nvPr>
            <p:ph type="title" idx="4294967295"/>
          </p:nvPr>
        </p:nvSpPr>
        <p:spPr>
          <a:xfrm>
            <a:off x="396875" y="620713"/>
            <a:ext cx="8229600" cy="1143000"/>
          </a:xfrm>
          <a:prstGeom prst="rect">
            <a:avLst/>
          </a:prstGeom>
          <a:noFill/>
          <a:ln w="9525">
            <a:noFill/>
          </a:ln>
        </p:spPr>
        <p:txBody>
          <a:bodyPr anchor="ctr" anchorCtr="0"/>
          <a:p>
            <a:pPr eaLnBrk="1" hangingPunct="1"/>
            <a:r>
              <a:rPr lang="zh-CN" altLang="en-US" dirty="0"/>
              <a:t>刷新的基本概念：</a:t>
            </a:r>
            <a:endParaRPr lang="zh-CN" altLang="en-US" dirty="0"/>
          </a:p>
        </p:txBody>
      </p:sp>
      <p:sp>
        <p:nvSpPr>
          <p:cNvPr id="37891"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solidFill>
                  <a:srgbClr val="0000FF"/>
                </a:solidFill>
              </a:rPr>
              <a:t>刷新周期：刷新一行所用的时间。刷新一块芯片所需的周期数由芯片的行数决定。</a:t>
            </a:r>
            <a:endParaRPr lang="zh-CN" altLang="en-US" b="1" dirty="0">
              <a:solidFill>
                <a:srgbClr val="0000FF"/>
              </a:solidFill>
            </a:endParaRPr>
          </a:p>
          <a:p>
            <a:pPr eaLnBrk="1" hangingPunct="1"/>
            <a:r>
              <a:rPr lang="zh-CN" altLang="en-US" b="1" dirty="0">
                <a:solidFill>
                  <a:srgbClr val="0000FF"/>
                </a:solidFill>
              </a:rPr>
              <a:t>最大刷新周期（间隔）：在这个时间内必须对所有动态单元刷新一遍，否则信息会丢失。2ms、8ms……100ms</a:t>
            </a:r>
            <a:endParaRPr lang="zh-CN" altLang="en-US" b="1" dirty="0">
              <a:solidFill>
                <a:srgbClr val="0000FF"/>
              </a:solidFill>
            </a:endParaRPr>
          </a:p>
          <a:p>
            <a:pPr eaLnBrk="1" hangingPunct="1"/>
            <a:r>
              <a:rPr lang="zh-CN" altLang="en-US" b="1" dirty="0">
                <a:solidFill>
                  <a:srgbClr val="0000FF"/>
                </a:solidFill>
              </a:rPr>
              <a:t>当然，器件不同具体时间长短不同。</a:t>
            </a:r>
            <a:endParaRPr lang="zh-CN" altLang="en-US" b="1" dirty="0">
              <a:solidFill>
                <a:srgbClr val="0000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3"/>
          <p:cNvSpPr>
            <a:spLocks noGrp="1"/>
          </p:cNvSpPr>
          <p:nvPr>
            <p:ph type="body" idx="4294967295"/>
          </p:nvPr>
        </p:nvSpPr>
        <p:spPr>
          <a:ln/>
        </p:spPr>
        <p:txBody>
          <a:bodyPr vert="horz" wrap="square" lIns="91440" tIns="45720" rIns="91440" bIns="45720" anchor="t" anchorCtr="0"/>
          <a:p>
            <a:pPr marL="0" indent="0" eaLnBrk="1" hangingPunct="1">
              <a:buNone/>
            </a:pPr>
            <a:r>
              <a:rPr lang="zh-CN" altLang="en-US" b="1" dirty="0">
                <a:solidFill>
                  <a:srgbClr val="0000FF"/>
                </a:solidFill>
              </a:rPr>
              <a:t>DRAM 刷新的分类：</a:t>
            </a:r>
            <a:endParaRPr lang="zh-CN" altLang="en-US" b="1" dirty="0">
              <a:solidFill>
                <a:srgbClr val="0000FF"/>
              </a:solidFill>
            </a:endParaRPr>
          </a:p>
          <a:p>
            <a:pPr marL="0" indent="0" eaLnBrk="1" hangingPunct="1"/>
            <a:r>
              <a:rPr lang="zh-CN" altLang="en-US" b="1" dirty="0">
                <a:solidFill>
                  <a:srgbClr val="0000FF"/>
                </a:solidFill>
              </a:rPr>
              <a:t>集中式刷新</a:t>
            </a:r>
            <a:endParaRPr lang="zh-CN" altLang="en-US" b="1" dirty="0">
              <a:solidFill>
                <a:srgbClr val="0000FF"/>
              </a:solidFill>
            </a:endParaRPr>
          </a:p>
          <a:p>
            <a:pPr marL="0" indent="0" eaLnBrk="1" hangingPunct="1"/>
            <a:r>
              <a:rPr lang="zh-CN" altLang="en-US" b="1" dirty="0">
                <a:solidFill>
                  <a:srgbClr val="0000FF"/>
                </a:solidFill>
              </a:rPr>
              <a:t>分散式刷新</a:t>
            </a:r>
            <a:endParaRPr lang="zh-CN" altLang="en-US" b="1" dirty="0">
              <a:solidFill>
                <a:srgbClr val="0000FF"/>
              </a:solidFill>
            </a:endParaRPr>
          </a:p>
          <a:p>
            <a:pPr marL="0" indent="0" eaLnBrk="1" hangingPunct="1"/>
            <a:r>
              <a:rPr lang="zh-CN" altLang="en-US" b="1" dirty="0">
                <a:solidFill>
                  <a:srgbClr val="0000FF"/>
                </a:solidFill>
              </a:rPr>
              <a:t>异步式刷新</a:t>
            </a:r>
            <a:endParaRPr lang="zh-CN" altLang="en-US" b="1" dirty="0">
              <a:solidFill>
                <a:srgbClr val="0000FF"/>
              </a:solidFill>
            </a:endParaRPr>
          </a:p>
        </p:txBody>
      </p:sp>
      <p:sp>
        <p:nvSpPr>
          <p:cNvPr id="2" name="文本框 1"/>
          <p:cNvSpPr txBox="1"/>
          <p:nvPr/>
        </p:nvSpPr>
        <p:spPr>
          <a:xfrm>
            <a:off x="755650" y="1196975"/>
            <a:ext cx="5545138" cy="584200"/>
          </a:xfrm>
          <a:prstGeom prst="rect">
            <a:avLst/>
          </a:prstGeom>
          <a:noFill/>
        </p:spPr>
        <p:txBody>
          <a:bodyPr>
            <a:spAutoFit/>
          </a:bodyPr>
          <a:lstStyle/>
          <a:p>
            <a:pPr marR="0" defTabSz="914400">
              <a:buClrTx/>
              <a:buSzTx/>
              <a:buFontTx/>
              <a:buNone/>
              <a:defRPr/>
            </a:pPr>
            <a:r>
              <a:rPr kumimoji="0" lang="zh-CN" altLang="en-US" sz="3200" b="1" kern="1200" cap="none" spc="0" normalizeH="0" baseline="0" noProof="0" dirty="0">
                <a:solidFill>
                  <a:srgbClr val="0000FF"/>
                </a:solidFill>
                <a:latin typeface="+mn-ea"/>
                <a:ea typeface="+mn-ea"/>
                <a:cs typeface="+mn-cs"/>
              </a:rPr>
              <a:t>按如何安排刷新周期</a:t>
            </a:r>
            <a:endParaRPr kumimoji="0" lang="zh-CN" altLang="en-US" sz="3200" b="1" kern="1200" cap="none" spc="0" normalizeH="0" baseline="0" noProof="0" dirty="0">
              <a:solidFill>
                <a:srgbClr val="0000FF"/>
              </a:solidFill>
              <a:latin typeface="+mn-ea"/>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3"/>
          <p:cNvSpPr>
            <a:spLocks noGrp="1"/>
          </p:cNvSpPr>
          <p:nvPr>
            <p:ph type="body" idx="4294967295"/>
          </p:nvPr>
        </p:nvSpPr>
        <p:spPr>
          <a:xfrm>
            <a:off x="609600" y="1196975"/>
            <a:ext cx="7772400" cy="2232025"/>
          </a:xfrm>
          <a:ln/>
        </p:spPr>
        <p:txBody>
          <a:bodyPr vert="horz" wrap="square" lIns="91440" tIns="45720" rIns="91440" bIns="45720" anchor="t" anchorCtr="0"/>
          <a:p>
            <a:pPr marL="514350" indent="-514350" eaLnBrk="1" hangingPunct="1">
              <a:buFontTx/>
              <a:buAutoNum type="arabicPeriod"/>
            </a:pPr>
            <a:r>
              <a:rPr lang="zh-CN" altLang="en-US" b="1" dirty="0">
                <a:solidFill>
                  <a:srgbClr val="0000FF"/>
                </a:solidFill>
                <a:ea typeface="华文新魏" panose="02010800040101010101" pitchFamily="2" charset="-122"/>
              </a:rPr>
              <a:t>集中式刷新</a:t>
            </a:r>
            <a:endParaRPr lang="zh-CN" altLang="en-US" b="1" dirty="0">
              <a:solidFill>
                <a:srgbClr val="0000FF"/>
              </a:solidFill>
              <a:ea typeface="华文新魏" panose="02010800040101010101" pitchFamily="2" charset="-122"/>
            </a:endParaRPr>
          </a:p>
          <a:p>
            <a:pPr marL="514350" indent="-514350" eaLnBrk="1" hangingPunct="1">
              <a:buNone/>
            </a:pPr>
            <a:r>
              <a:rPr lang="zh-CN" altLang="en-US" b="1" dirty="0"/>
              <a:t>在整个的最大刷新周期内集中对每一行进行刷新，刷新时读/写操作停止。每行的刷新一般与一次的读/写周期相等。</a:t>
            </a:r>
            <a:endParaRPr lang="zh-CN" altLang="en-US" b="1" dirty="0"/>
          </a:p>
        </p:txBody>
      </p:sp>
      <p:grpSp>
        <p:nvGrpSpPr>
          <p:cNvPr id="39939" name="Group 4"/>
          <p:cNvGrpSpPr/>
          <p:nvPr/>
        </p:nvGrpSpPr>
        <p:grpSpPr>
          <a:xfrm>
            <a:off x="1066800" y="4876800"/>
            <a:ext cx="6858000" cy="381000"/>
            <a:chOff x="0" y="0"/>
            <a:chExt cx="4320" cy="240"/>
          </a:xfrm>
        </p:grpSpPr>
        <p:sp>
          <p:nvSpPr>
            <p:cNvPr id="39943" name="AutoShape 5"/>
            <p:cNvSpPr/>
            <p:nvPr/>
          </p:nvSpPr>
          <p:spPr>
            <a:xfrm>
              <a:off x="0" y="0"/>
              <a:ext cx="384" cy="240"/>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0</a:t>
              </a:r>
              <a:endParaRPr lang="zh-CN" altLang="en-US" sz="2400" dirty="0">
                <a:solidFill>
                  <a:schemeClr val="tx1"/>
                </a:solidFill>
                <a:latin typeface="Tahoma" panose="020B0604030504040204" pitchFamily="34" charset="0"/>
              </a:endParaRPr>
            </a:p>
          </p:txBody>
        </p:sp>
        <p:sp>
          <p:nvSpPr>
            <p:cNvPr id="39944" name="AutoShape 6"/>
            <p:cNvSpPr/>
            <p:nvPr/>
          </p:nvSpPr>
          <p:spPr>
            <a:xfrm>
              <a:off x="288" y="0"/>
              <a:ext cx="384" cy="240"/>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a:t>
              </a:r>
              <a:endParaRPr lang="zh-CN" altLang="en-US" sz="2400" dirty="0">
                <a:solidFill>
                  <a:schemeClr val="tx1"/>
                </a:solidFill>
                <a:latin typeface="Tahoma" panose="020B0604030504040204" pitchFamily="34" charset="0"/>
              </a:endParaRPr>
            </a:p>
          </p:txBody>
        </p:sp>
        <p:sp>
          <p:nvSpPr>
            <p:cNvPr id="39945" name="AutoShape 7"/>
            <p:cNvSpPr/>
            <p:nvPr/>
          </p:nvSpPr>
          <p:spPr>
            <a:xfrm>
              <a:off x="576" y="0"/>
              <a:ext cx="384" cy="240"/>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a:t>
              </a:r>
              <a:endParaRPr lang="zh-CN" altLang="en-US" sz="2400" dirty="0">
                <a:solidFill>
                  <a:schemeClr val="tx1"/>
                </a:solidFill>
                <a:latin typeface="Tahoma" panose="020B0604030504040204" pitchFamily="34" charset="0"/>
              </a:endParaRPr>
            </a:p>
          </p:txBody>
        </p:sp>
        <p:sp>
          <p:nvSpPr>
            <p:cNvPr id="39946" name="AutoShape 8"/>
            <p:cNvSpPr/>
            <p:nvPr/>
          </p:nvSpPr>
          <p:spPr>
            <a:xfrm>
              <a:off x="1296" y="0"/>
              <a:ext cx="576" cy="240"/>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latin typeface="Tahoma" panose="020B0604030504040204" pitchFamily="34" charset="0"/>
                </a:rPr>
                <a:t>3870</a:t>
              </a:r>
              <a:endParaRPr lang="zh-CN" altLang="en-US" sz="2400" dirty="0">
                <a:solidFill>
                  <a:schemeClr val="tx1"/>
                </a:solidFill>
                <a:latin typeface="Tahoma" panose="020B0604030504040204" pitchFamily="34" charset="0"/>
              </a:endParaRPr>
            </a:p>
          </p:txBody>
        </p:sp>
        <p:sp>
          <p:nvSpPr>
            <p:cNvPr id="39947" name="AutoShape 9"/>
            <p:cNvSpPr/>
            <p:nvPr/>
          </p:nvSpPr>
          <p:spPr>
            <a:xfrm>
              <a:off x="1824" y="0"/>
              <a:ext cx="672" cy="240"/>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latin typeface="Tahoma" panose="020B0604030504040204" pitchFamily="34" charset="0"/>
                </a:rPr>
                <a:t>3871</a:t>
              </a:r>
              <a:endParaRPr lang="zh-CN" altLang="en-US" sz="2400" dirty="0">
                <a:solidFill>
                  <a:schemeClr val="tx1"/>
                </a:solidFill>
                <a:latin typeface="Tahoma" panose="020B0604030504040204" pitchFamily="34" charset="0"/>
              </a:endParaRPr>
            </a:p>
          </p:txBody>
        </p:sp>
        <p:sp>
          <p:nvSpPr>
            <p:cNvPr id="39948" name="AutoShape 10"/>
            <p:cNvSpPr/>
            <p:nvPr/>
          </p:nvSpPr>
          <p:spPr>
            <a:xfrm>
              <a:off x="2304" y="0"/>
              <a:ext cx="576" cy="240"/>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99CCFF"/>
                  </a:solidFill>
                  <a:latin typeface="Tahoma" panose="020B0604030504040204" pitchFamily="34" charset="0"/>
                </a:rPr>
                <a:t>3872</a:t>
              </a:r>
              <a:endParaRPr lang="zh-CN" altLang="en-US" sz="2400" dirty="0">
                <a:solidFill>
                  <a:srgbClr val="99CCFF"/>
                </a:solidFill>
                <a:latin typeface="Tahoma" panose="020B0604030504040204" pitchFamily="34" charset="0"/>
              </a:endParaRPr>
            </a:p>
          </p:txBody>
        </p:sp>
        <p:sp>
          <p:nvSpPr>
            <p:cNvPr id="39949" name="AutoShape 11"/>
            <p:cNvSpPr/>
            <p:nvPr/>
          </p:nvSpPr>
          <p:spPr>
            <a:xfrm>
              <a:off x="2832" y="0"/>
              <a:ext cx="480" cy="240"/>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99CCFF"/>
                  </a:solidFill>
                  <a:latin typeface="Tahoma" panose="020B0604030504040204" pitchFamily="34" charset="0"/>
                </a:rPr>
                <a:t>3873</a:t>
              </a:r>
              <a:endParaRPr lang="zh-CN" altLang="en-US" sz="2400" dirty="0">
                <a:solidFill>
                  <a:srgbClr val="99CCFF"/>
                </a:solidFill>
                <a:latin typeface="Tahoma" panose="020B0604030504040204" pitchFamily="34" charset="0"/>
              </a:endParaRPr>
            </a:p>
          </p:txBody>
        </p:sp>
        <p:sp>
          <p:nvSpPr>
            <p:cNvPr id="39950" name="AutoShape 12"/>
            <p:cNvSpPr/>
            <p:nvPr/>
          </p:nvSpPr>
          <p:spPr>
            <a:xfrm>
              <a:off x="3744" y="0"/>
              <a:ext cx="576" cy="240"/>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99CCFF"/>
                  </a:solidFill>
                  <a:latin typeface="Tahoma" panose="020B0604030504040204" pitchFamily="34" charset="0"/>
                </a:rPr>
                <a:t>3999</a:t>
              </a:r>
              <a:endParaRPr lang="zh-CN" altLang="en-US" sz="2400" dirty="0">
                <a:solidFill>
                  <a:srgbClr val="99CCFF"/>
                </a:solidFill>
                <a:latin typeface="Tahoma" panose="020B0604030504040204" pitchFamily="34" charset="0"/>
              </a:endParaRPr>
            </a:p>
          </p:txBody>
        </p:sp>
        <p:sp>
          <p:nvSpPr>
            <p:cNvPr id="39951" name="Line 13"/>
            <p:cNvSpPr/>
            <p:nvPr/>
          </p:nvSpPr>
          <p:spPr>
            <a:xfrm>
              <a:off x="0" y="240"/>
              <a:ext cx="4320" cy="0"/>
            </a:xfrm>
            <a:prstGeom prst="line">
              <a:avLst/>
            </a:prstGeom>
            <a:ln w="28575" cap="flat" cmpd="sng">
              <a:solidFill>
                <a:schemeClr val="tx1"/>
              </a:solidFill>
              <a:prstDash val="solid"/>
              <a:headEnd type="none" w="med" len="med"/>
              <a:tailEnd type="none" w="med" len="med"/>
            </a:ln>
          </p:spPr>
        </p:sp>
      </p:grpSp>
      <p:sp>
        <p:nvSpPr>
          <p:cNvPr id="39940" name="AutoShape 14"/>
          <p:cNvSpPr/>
          <p:nvPr/>
        </p:nvSpPr>
        <p:spPr>
          <a:xfrm>
            <a:off x="1187450" y="4221163"/>
            <a:ext cx="3529013" cy="504825"/>
          </a:xfrm>
          <a:prstGeom prst="bracketPair">
            <a:avLst>
              <a:gd name="adj" fmla="val 16667"/>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正常读写周期</a:t>
            </a:r>
            <a:endParaRPr lang="zh-CN" altLang="en-US" sz="2400" dirty="0">
              <a:solidFill>
                <a:schemeClr val="tx1"/>
              </a:solidFill>
              <a:ea typeface="华文新魏" panose="02010800040101010101" pitchFamily="2" charset="-122"/>
            </a:endParaRPr>
          </a:p>
        </p:txBody>
      </p:sp>
      <p:sp>
        <p:nvSpPr>
          <p:cNvPr id="39941" name="AutoShape 15"/>
          <p:cNvSpPr/>
          <p:nvPr/>
        </p:nvSpPr>
        <p:spPr>
          <a:xfrm>
            <a:off x="4860925" y="4292600"/>
            <a:ext cx="3024188" cy="504825"/>
          </a:xfrm>
          <a:prstGeom prst="bracketPair">
            <a:avLst>
              <a:gd name="adj" fmla="val 16667"/>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128个刷新周期</a:t>
            </a:r>
            <a:endParaRPr lang="zh-CN" altLang="en-US" sz="2400" dirty="0">
              <a:solidFill>
                <a:schemeClr val="tx1"/>
              </a:solidFill>
              <a:ea typeface="华文新魏" panose="02010800040101010101" pitchFamily="2" charset="-122"/>
            </a:endParaRPr>
          </a:p>
        </p:txBody>
      </p:sp>
      <p:sp>
        <p:nvSpPr>
          <p:cNvPr id="39942" name="Text Box 16"/>
          <p:cNvSpPr txBox="1"/>
          <p:nvPr/>
        </p:nvSpPr>
        <p:spPr>
          <a:xfrm>
            <a:off x="1171575" y="5495925"/>
            <a:ext cx="7000875"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800" dirty="0">
                <a:solidFill>
                  <a:schemeClr val="tx1"/>
                </a:solidFill>
                <a:ea typeface="华文新魏" panose="02010800040101010101" pitchFamily="2" charset="-122"/>
              </a:rPr>
              <a:t>假设最大刷新周期2ms，有128行</a:t>
            </a:r>
            <a:endParaRPr lang="zh-CN" altLang="en-US" sz="2800" dirty="0">
              <a:solidFill>
                <a:schemeClr val="tx1"/>
              </a:solidFill>
              <a:ea typeface="华文新魏" panose="0201080004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body" idx="4294967295"/>
          </p:nvPr>
        </p:nvSpPr>
        <p:spPr>
          <a:xfrm>
            <a:off x="180975" y="333375"/>
            <a:ext cx="8458200" cy="3352800"/>
          </a:xfrm>
          <a:ln/>
        </p:spPr>
        <p:txBody>
          <a:bodyPr vert="horz" wrap="square" lIns="91440" tIns="45720" rIns="91440" bIns="45720" anchor="t" anchorCtr="0"/>
          <a:p>
            <a:pPr eaLnBrk="1" hangingPunct="1"/>
            <a:r>
              <a:rPr lang="zh-CN" altLang="en-US" sz="3600" b="1" dirty="0"/>
              <a:t>例如:</a:t>
            </a:r>
            <a:endParaRPr lang="zh-CN" altLang="en-US" sz="3600" b="1" dirty="0"/>
          </a:p>
          <a:p>
            <a:pPr eaLnBrk="1" hangingPunct="1"/>
            <a:r>
              <a:rPr lang="zh-CN" altLang="en-US" sz="2800" b="1" dirty="0">
                <a:solidFill>
                  <a:schemeClr val="tx1"/>
                </a:solidFill>
                <a:latin typeface="楷体_GB2312" pitchFamily="1" charset="-122"/>
                <a:ea typeface="楷体_GB2312" pitchFamily="1" charset="-122"/>
              </a:rPr>
              <a:t>对128*128矩阵存储器进行刷新时，刷新的时间相当于128个读周期，假如读写周期为0.5us,最大刷新周期为2ms，共有2ms/0.5us=4000个周期。其中4000-128=3872个周期用来</a:t>
            </a:r>
            <a:r>
              <a:rPr lang="zh-CN" altLang="en-US" sz="2800" b="1" dirty="0">
                <a:solidFill>
                  <a:srgbClr val="993366"/>
                </a:solidFill>
                <a:latin typeface="楷体_GB2312" pitchFamily="1" charset="-122"/>
                <a:ea typeface="楷体_GB2312" pitchFamily="1" charset="-122"/>
              </a:rPr>
              <a:t>读写或维持</a:t>
            </a:r>
            <a:r>
              <a:rPr lang="zh-CN" altLang="en-US" sz="2800" b="1" dirty="0">
                <a:solidFill>
                  <a:schemeClr val="tx1"/>
                </a:solidFill>
                <a:latin typeface="楷体_GB2312" pitchFamily="1" charset="-122"/>
                <a:ea typeface="楷体_GB2312" pitchFamily="1" charset="-122"/>
              </a:rPr>
              <a:t>，然后用128个周期，相当于128*0.5=64us进行</a:t>
            </a:r>
            <a:r>
              <a:rPr lang="zh-CN" altLang="en-US" sz="2800" b="1" dirty="0">
                <a:solidFill>
                  <a:srgbClr val="993366"/>
                </a:solidFill>
                <a:latin typeface="楷体_GB2312" pitchFamily="1" charset="-122"/>
                <a:ea typeface="楷体_GB2312" pitchFamily="1" charset="-122"/>
              </a:rPr>
              <a:t>刷新操作</a:t>
            </a:r>
            <a:r>
              <a:rPr lang="zh-CN" altLang="en-US" sz="2800" b="1" dirty="0">
                <a:solidFill>
                  <a:schemeClr val="tx1"/>
                </a:solidFill>
                <a:latin typeface="楷体_GB2312" pitchFamily="1" charset="-122"/>
                <a:ea typeface="楷体_GB2312" pitchFamily="1" charset="-122"/>
              </a:rPr>
              <a:t>。由于在这64us中不进行读写操作，故称其为</a:t>
            </a:r>
            <a:r>
              <a:rPr lang="zh-CN" altLang="en-US" sz="2800" b="1" dirty="0">
                <a:solidFill>
                  <a:srgbClr val="FF3300"/>
                </a:solidFill>
                <a:latin typeface="楷体_GB2312" pitchFamily="1" charset="-122"/>
                <a:ea typeface="楷体_GB2312" pitchFamily="1" charset="-122"/>
              </a:rPr>
              <a:t>死时间</a:t>
            </a:r>
            <a:r>
              <a:rPr lang="zh-CN" altLang="en-US" sz="2800" b="1" dirty="0">
                <a:solidFill>
                  <a:schemeClr val="tx1"/>
                </a:solidFill>
                <a:latin typeface="楷体_GB2312" pitchFamily="1" charset="-122"/>
                <a:ea typeface="楷体_GB2312" pitchFamily="1" charset="-122"/>
              </a:rPr>
              <a:t>。</a:t>
            </a:r>
            <a:endParaRPr lang="zh-CN" altLang="en-US" sz="2800" b="1" dirty="0">
              <a:solidFill>
                <a:schemeClr val="tx1"/>
              </a:solidFill>
              <a:latin typeface="楷体_GB2312" pitchFamily="1" charset="-122"/>
              <a:ea typeface="楷体_GB2312" pitchFamily="1" charset="-122"/>
            </a:endParaRPr>
          </a:p>
        </p:txBody>
      </p:sp>
      <p:pic>
        <p:nvPicPr>
          <p:cNvPr id="40963" name="Picture 3" descr="3"/>
          <p:cNvPicPr>
            <a:picLocks noChangeAspect="1"/>
          </p:cNvPicPr>
          <p:nvPr/>
        </p:nvPicPr>
        <p:blipFill>
          <a:blip r:embed="rId1"/>
          <a:stretch>
            <a:fillRect/>
          </a:stretch>
        </p:blipFill>
        <p:spPr>
          <a:xfrm>
            <a:off x="396875" y="3573463"/>
            <a:ext cx="8351838" cy="2560637"/>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body" idx="4294967295"/>
          </p:nvPr>
        </p:nvSpPr>
        <p:spPr>
          <a:xfrm>
            <a:off x="304800" y="1295400"/>
            <a:ext cx="8382000" cy="3733800"/>
          </a:xfrm>
          <a:ln/>
        </p:spPr>
        <p:txBody>
          <a:bodyPr vert="horz" wrap="square" lIns="91440" tIns="45720" rIns="91440" bIns="45720" anchor="t" anchorCtr="0"/>
          <a:p>
            <a:pPr marL="0" indent="0" eaLnBrk="1" hangingPunct="1">
              <a:lnSpc>
                <a:spcPct val="90000"/>
              </a:lnSpc>
              <a:buNone/>
            </a:pPr>
            <a:r>
              <a:rPr lang="zh-CN" altLang="en-US" b="1" dirty="0">
                <a:solidFill>
                  <a:srgbClr val="0000FF"/>
                </a:solidFill>
                <a:ea typeface="华文新魏" panose="02010800040101010101" pitchFamily="2" charset="-122"/>
                <a:sym typeface="Arial" panose="020B0604020202020204" pitchFamily="34" charset="0"/>
              </a:rPr>
              <a:t>2.分散式刷新方式</a:t>
            </a:r>
            <a:endParaRPr lang="zh-CN" altLang="en-US" b="1" dirty="0">
              <a:solidFill>
                <a:srgbClr val="0000FF"/>
              </a:solidFill>
              <a:ea typeface="华文新魏" panose="02010800040101010101" pitchFamily="2" charset="-122"/>
              <a:sym typeface="Arial" panose="020B0604020202020204" pitchFamily="34" charset="0"/>
            </a:endParaRPr>
          </a:p>
          <a:p>
            <a:pPr marL="0" indent="0" eaLnBrk="1" hangingPunct="1">
              <a:lnSpc>
                <a:spcPct val="90000"/>
              </a:lnSpc>
              <a:buNone/>
            </a:pPr>
            <a:r>
              <a:rPr lang="zh-CN" altLang="en-US" sz="2800" b="1" dirty="0">
                <a:latin typeface="楷体_GB2312" pitchFamily="1" charset="-122"/>
                <a:ea typeface="楷体_GB2312" pitchFamily="1" charset="-122"/>
              </a:rPr>
              <a:t>把每行存储元件的刷新分散安排在各个读写周期内即把读写周期分为两段，</a:t>
            </a:r>
            <a:r>
              <a:rPr lang="zh-CN" altLang="en-US" sz="2800" b="1" dirty="0">
                <a:solidFill>
                  <a:srgbClr val="993366"/>
                </a:solidFill>
                <a:latin typeface="楷体_GB2312" pitchFamily="1" charset="-122"/>
                <a:ea typeface="楷体_GB2312" pitchFamily="1" charset="-122"/>
              </a:rPr>
              <a:t>前段表示读/写/保持，后段表示刷新时间</a:t>
            </a:r>
            <a:r>
              <a:rPr lang="zh-CN" altLang="en-US" sz="2800" b="1" dirty="0">
                <a:latin typeface="楷体_GB2312" pitchFamily="1" charset="-122"/>
                <a:ea typeface="楷体_GB2312" pitchFamily="1" charset="-122"/>
              </a:rPr>
              <a:t>。</a:t>
            </a:r>
            <a:endParaRPr lang="zh-CN" altLang="en-US" sz="2800" b="1" dirty="0">
              <a:latin typeface="楷体_GB2312" pitchFamily="1" charset="-122"/>
              <a:ea typeface="楷体_GB2312" pitchFamily="1" charset="-122"/>
            </a:endParaRPr>
          </a:p>
          <a:p>
            <a:pPr marL="0" indent="0" eaLnBrk="1" hangingPunct="1">
              <a:lnSpc>
                <a:spcPct val="90000"/>
              </a:lnSpc>
              <a:buNone/>
            </a:pPr>
            <a:r>
              <a:rPr lang="zh-CN" altLang="en-US" sz="2800" b="1" dirty="0">
                <a:latin typeface="楷体_GB2312" pitchFamily="1" charset="-122"/>
                <a:ea typeface="楷体_GB2312" pitchFamily="1" charset="-122"/>
              </a:rPr>
              <a:t>例如:对128*128的存储器，假如存储器的读写周期为0.5us，那么刷新的时间也为0.5us，则整个存储系统周期为1us。只需128us就能对全部的存储单元刷新一遍。但2ms内刷新了15轮，没必要。</a:t>
            </a:r>
            <a:endParaRPr lang="zh-CN" altLang="en-US" sz="2800" b="1" dirty="0">
              <a:latin typeface="楷体_GB2312" pitchFamily="1" charset="-122"/>
              <a:ea typeface="楷体_GB2312" pitchFamily="1" charset="-122"/>
            </a:endParaRPr>
          </a:p>
        </p:txBody>
      </p:sp>
      <p:grpSp>
        <p:nvGrpSpPr>
          <p:cNvPr id="41987" name="Group 3"/>
          <p:cNvGrpSpPr/>
          <p:nvPr/>
        </p:nvGrpSpPr>
        <p:grpSpPr>
          <a:xfrm>
            <a:off x="1447800" y="4581525"/>
            <a:ext cx="6726238" cy="1727200"/>
            <a:chOff x="0" y="0"/>
            <a:chExt cx="3936" cy="1152"/>
          </a:xfrm>
        </p:grpSpPr>
        <p:sp>
          <p:nvSpPr>
            <p:cNvPr id="41988" name="AutoShape 4"/>
            <p:cNvSpPr/>
            <p:nvPr/>
          </p:nvSpPr>
          <p:spPr>
            <a:xfrm>
              <a:off x="0" y="192"/>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1989" name="AutoShape 5"/>
            <p:cNvSpPr/>
            <p:nvPr/>
          </p:nvSpPr>
          <p:spPr>
            <a:xfrm>
              <a:off x="432" y="192"/>
              <a:ext cx="432" cy="336"/>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99CCFF"/>
                  </a:solidFill>
                  <a:latin typeface="Tahoma" panose="020B0604030504040204" pitchFamily="34" charset="0"/>
                </a:rPr>
                <a:t>REF</a:t>
              </a:r>
              <a:endParaRPr lang="zh-CN" altLang="en-US" sz="2400" dirty="0">
                <a:solidFill>
                  <a:srgbClr val="99CCFF"/>
                </a:solidFill>
                <a:latin typeface="Tahoma" panose="020B0604030504040204" pitchFamily="34" charset="0"/>
              </a:endParaRPr>
            </a:p>
          </p:txBody>
        </p:sp>
        <p:sp>
          <p:nvSpPr>
            <p:cNvPr id="41990" name="AutoShape 6"/>
            <p:cNvSpPr/>
            <p:nvPr/>
          </p:nvSpPr>
          <p:spPr>
            <a:xfrm>
              <a:off x="864" y="192"/>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1991" name="AutoShape 7"/>
            <p:cNvSpPr/>
            <p:nvPr/>
          </p:nvSpPr>
          <p:spPr>
            <a:xfrm>
              <a:off x="1296" y="192"/>
              <a:ext cx="432" cy="336"/>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99CCFF"/>
                  </a:solidFill>
                  <a:latin typeface="Tahoma" panose="020B0604030504040204" pitchFamily="34" charset="0"/>
                </a:rPr>
                <a:t>REF</a:t>
              </a:r>
              <a:endParaRPr lang="zh-CN" altLang="en-US" sz="2400" dirty="0">
                <a:solidFill>
                  <a:srgbClr val="99CCFF"/>
                </a:solidFill>
                <a:latin typeface="Tahoma" panose="020B0604030504040204" pitchFamily="34" charset="0"/>
              </a:endParaRPr>
            </a:p>
          </p:txBody>
        </p:sp>
        <p:sp>
          <p:nvSpPr>
            <p:cNvPr id="41992" name="AutoShape 8"/>
            <p:cNvSpPr/>
            <p:nvPr/>
          </p:nvSpPr>
          <p:spPr>
            <a:xfrm>
              <a:off x="1728" y="192"/>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1993" name="AutoShape 9"/>
            <p:cNvSpPr/>
            <p:nvPr/>
          </p:nvSpPr>
          <p:spPr>
            <a:xfrm>
              <a:off x="2160" y="192"/>
              <a:ext cx="432" cy="336"/>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99CCFF"/>
                  </a:solidFill>
                  <a:latin typeface="Tahoma" panose="020B0604030504040204" pitchFamily="34" charset="0"/>
                </a:rPr>
                <a:t>REF</a:t>
              </a:r>
              <a:endParaRPr lang="zh-CN" altLang="en-US" sz="2400" dirty="0">
                <a:solidFill>
                  <a:srgbClr val="99CCFF"/>
                </a:solidFill>
                <a:latin typeface="Tahoma" panose="020B0604030504040204" pitchFamily="34" charset="0"/>
              </a:endParaRPr>
            </a:p>
          </p:txBody>
        </p:sp>
        <p:sp>
          <p:nvSpPr>
            <p:cNvPr id="41994" name="AutoShape 10"/>
            <p:cNvSpPr/>
            <p:nvPr/>
          </p:nvSpPr>
          <p:spPr>
            <a:xfrm>
              <a:off x="3072" y="192"/>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1995" name="AutoShape 11"/>
            <p:cNvSpPr/>
            <p:nvPr/>
          </p:nvSpPr>
          <p:spPr>
            <a:xfrm>
              <a:off x="3504" y="192"/>
              <a:ext cx="432" cy="336"/>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99CCFF"/>
                  </a:solidFill>
                  <a:latin typeface="Tahoma" panose="020B0604030504040204" pitchFamily="34" charset="0"/>
                </a:rPr>
                <a:t>REF</a:t>
              </a:r>
              <a:endParaRPr lang="zh-CN" altLang="en-US" sz="2400" dirty="0">
                <a:solidFill>
                  <a:srgbClr val="99CCFF"/>
                </a:solidFill>
                <a:latin typeface="Tahoma" panose="020B0604030504040204" pitchFamily="34" charset="0"/>
              </a:endParaRPr>
            </a:p>
          </p:txBody>
        </p:sp>
        <p:sp>
          <p:nvSpPr>
            <p:cNvPr id="41996" name="Line 12"/>
            <p:cNvSpPr/>
            <p:nvPr/>
          </p:nvSpPr>
          <p:spPr>
            <a:xfrm>
              <a:off x="0" y="48"/>
              <a:ext cx="0" cy="1104"/>
            </a:xfrm>
            <a:prstGeom prst="line">
              <a:avLst/>
            </a:prstGeom>
            <a:ln w="9525" cap="flat" cmpd="sng">
              <a:solidFill>
                <a:schemeClr val="tx1"/>
              </a:solidFill>
              <a:prstDash val="solid"/>
              <a:headEnd type="none" w="med" len="med"/>
              <a:tailEnd type="none" w="med" len="med"/>
            </a:ln>
          </p:spPr>
        </p:sp>
        <p:sp>
          <p:nvSpPr>
            <p:cNvPr id="41997" name="Line 13"/>
            <p:cNvSpPr/>
            <p:nvPr/>
          </p:nvSpPr>
          <p:spPr>
            <a:xfrm>
              <a:off x="3936" y="0"/>
              <a:ext cx="0" cy="1152"/>
            </a:xfrm>
            <a:prstGeom prst="line">
              <a:avLst/>
            </a:prstGeom>
            <a:ln w="9525" cap="flat" cmpd="sng">
              <a:solidFill>
                <a:schemeClr val="tx1"/>
              </a:solidFill>
              <a:prstDash val="solid"/>
              <a:headEnd type="none" w="med" len="med"/>
              <a:tailEnd type="none" w="med" len="med"/>
            </a:ln>
          </p:spPr>
        </p:sp>
        <p:sp>
          <p:nvSpPr>
            <p:cNvPr id="41998" name="Line 14"/>
            <p:cNvSpPr/>
            <p:nvPr/>
          </p:nvSpPr>
          <p:spPr>
            <a:xfrm>
              <a:off x="0" y="960"/>
              <a:ext cx="1536" cy="0"/>
            </a:xfrm>
            <a:prstGeom prst="line">
              <a:avLst/>
            </a:prstGeom>
            <a:ln w="9525" cap="flat" cmpd="sng">
              <a:solidFill>
                <a:schemeClr val="tx1"/>
              </a:solidFill>
              <a:prstDash val="solid"/>
              <a:headEnd type="none" w="med" len="med"/>
              <a:tailEnd type="triangle" w="med" len="med"/>
            </a:ln>
          </p:spPr>
        </p:sp>
        <p:sp>
          <p:nvSpPr>
            <p:cNvPr id="41999" name="Line 15"/>
            <p:cNvSpPr/>
            <p:nvPr/>
          </p:nvSpPr>
          <p:spPr>
            <a:xfrm flipH="1">
              <a:off x="2448" y="960"/>
              <a:ext cx="1488" cy="0"/>
            </a:xfrm>
            <a:prstGeom prst="line">
              <a:avLst/>
            </a:prstGeom>
            <a:ln w="9525" cap="flat" cmpd="sng">
              <a:solidFill>
                <a:schemeClr val="tx1"/>
              </a:solidFill>
              <a:prstDash val="solid"/>
              <a:headEnd type="none" w="med" len="med"/>
              <a:tailEnd type="triangle" w="med" len="med"/>
            </a:ln>
          </p:spPr>
        </p:sp>
        <p:sp>
          <p:nvSpPr>
            <p:cNvPr id="42000" name="Text Box 16"/>
            <p:cNvSpPr txBox="1"/>
            <p:nvPr/>
          </p:nvSpPr>
          <p:spPr>
            <a:xfrm>
              <a:off x="1584" y="816"/>
              <a:ext cx="864"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50000"/>
                </a:spcBef>
                <a:buNone/>
              </a:pPr>
              <a:r>
                <a:rPr lang="zh-CN" altLang="en-US" sz="2400" dirty="0">
                  <a:solidFill>
                    <a:schemeClr val="tx1"/>
                  </a:solidFill>
                  <a:latin typeface="Tahoma" panose="020B0604030504040204" pitchFamily="34" charset="0"/>
                </a:rPr>
                <a:t>128us</a:t>
              </a:r>
              <a:endParaRPr lang="zh-CN" altLang="en-US" sz="2400" dirty="0">
                <a:solidFill>
                  <a:schemeClr val="tx1"/>
                </a:solidFill>
                <a:latin typeface="Tahoma" panose="020B0604030504040204" pitchFamily="34" charset="0"/>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随机读写存储器——</a:t>
            </a:r>
            <a:r>
              <a:rPr lang="zh-CN" altLang="en-US" sz="2000" dirty="0"/>
              <a:t>动态MOS存储器</a:t>
            </a:r>
            <a:endParaRPr lang="zh-CN" altLang="en-US" sz="2000" dirty="0"/>
          </a:p>
        </p:txBody>
      </p:sp>
      <p:pic>
        <p:nvPicPr>
          <p:cNvPr id="43011" name="Picture 3" descr="3"/>
          <p:cNvPicPr>
            <a:picLocks noChangeAspect="1"/>
          </p:cNvPicPr>
          <p:nvPr/>
        </p:nvPicPr>
        <p:blipFill>
          <a:blip r:embed="rId1"/>
          <a:stretch>
            <a:fillRect/>
          </a:stretch>
        </p:blipFill>
        <p:spPr>
          <a:xfrm>
            <a:off x="838200" y="2205038"/>
            <a:ext cx="7383463" cy="3032125"/>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body" idx="4294967295"/>
          </p:nvPr>
        </p:nvSpPr>
        <p:spPr>
          <a:xfrm>
            <a:off x="396875" y="1196975"/>
            <a:ext cx="8351838" cy="4267200"/>
          </a:xfrm>
          <a:ln/>
        </p:spPr>
        <p:txBody>
          <a:bodyPr vert="horz" wrap="square" lIns="91440" tIns="45720" rIns="91440" bIns="45720" anchor="t" anchorCtr="0"/>
          <a:p>
            <a:pPr marL="0" indent="0" eaLnBrk="1" hangingPunct="1">
              <a:buNone/>
            </a:pPr>
            <a:r>
              <a:rPr lang="zh-CN" altLang="en-US" b="1" dirty="0">
                <a:solidFill>
                  <a:srgbClr val="0000FF"/>
                </a:solidFill>
                <a:ea typeface="华文新魏" panose="02010800040101010101" pitchFamily="2" charset="-122"/>
                <a:sym typeface="Arial" panose="020B0604020202020204" pitchFamily="34" charset="0"/>
              </a:rPr>
              <a:t>3.异步刷新方式:</a:t>
            </a:r>
            <a:endParaRPr lang="zh-CN" altLang="en-US" b="1" dirty="0">
              <a:solidFill>
                <a:srgbClr val="0000FF"/>
              </a:solidFill>
              <a:ea typeface="华文新魏" panose="02010800040101010101" pitchFamily="2" charset="-122"/>
              <a:sym typeface="Arial" panose="020B0604020202020204" pitchFamily="34" charset="0"/>
            </a:endParaRPr>
          </a:p>
          <a:p>
            <a:pPr marL="0" indent="0" eaLnBrk="1" hangingPunct="1">
              <a:buNone/>
            </a:pPr>
            <a:r>
              <a:rPr lang="zh-CN" altLang="en-US" b="1" dirty="0">
                <a:latin typeface="楷体_GB2312" pitchFamily="1" charset="-122"/>
                <a:ea typeface="楷体_GB2312" pitchFamily="1" charset="-122"/>
              </a:rPr>
              <a:t>将集中式和分散式结合起来,先用要刷新的行数对最大刷新周期进行分割，然后再将已分割的每段时间分为两部分，前段时间用于读/写保持，后一小段时间用于刷新。例如在2ms内分散地把128行刷新一遍。</a:t>
            </a:r>
            <a:endParaRPr lang="zh-CN" altLang="en-US" b="1" dirty="0">
              <a:latin typeface="楷体_GB2312" pitchFamily="1" charset="-122"/>
              <a:ea typeface="楷体_GB2312" pitchFamily="1" charset="-122"/>
            </a:endParaRPr>
          </a:p>
          <a:p>
            <a:pPr marL="0" indent="0" eaLnBrk="1" hangingPunct="1">
              <a:buNone/>
            </a:pPr>
            <a:r>
              <a:rPr lang="zh-CN" altLang="en-US" b="1" dirty="0">
                <a:latin typeface="楷体_GB2312" pitchFamily="1" charset="-122"/>
                <a:ea typeface="楷体_GB2312" pitchFamily="1" charset="-122"/>
              </a:rPr>
              <a:t>    2ms/128=15.5us</a:t>
            </a:r>
            <a:endParaRPr lang="zh-CN" altLang="en-US" b="1" dirty="0">
              <a:latin typeface="楷体_GB2312" pitchFamily="1" charset="-122"/>
              <a:ea typeface="楷体_GB2312" pitchFamily="1" charset="-122"/>
            </a:endParaRPr>
          </a:p>
        </p:txBody>
      </p:sp>
      <p:grpSp>
        <p:nvGrpSpPr>
          <p:cNvPr id="44035" name="Group 3"/>
          <p:cNvGrpSpPr/>
          <p:nvPr/>
        </p:nvGrpSpPr>
        <p:grpSpPr>
          <a:xfrm>
            <a:off x="1066800" y="4918075"/>
            <a:ext cx="7315200" cy="1447800"/>
            <a:chOff x="0" y="0"/>
            <a:chExt cx="4896" cy="912"/>
          </a:xfrm>
        </p:grpSpPr>
        <p:sp>
          <p:nvSpPr>
            <p:cNvPr id="44036" name="AutoShape 4"/>
            <p:cNvSpPr/>
            <p:nvPr/>
          </p:nvSpPr>
          <p:spPr>
            <a:xfrm>
              <a:off x="0" y="0"/>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4037" name="AutoShape 5"/>
            <p:cNvSpPr/>
            <p:nvPr/>
          </p:nvSpPr>
          <p:spPr>
            <a:xfrm>
              <a:off x="432" y="0"/>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4038" name="AutoShape 6"/>
            <p:cNvSpPr/>
            <p:nvPr/>
          </p:nvSpPr>
          <p:spPr>
            <a:xfrm>
              <a:off x="864" y="0"/>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4039" name="AutoShape 7"/>
            <p:cNvSpPr/>
            <p:nvPr/>
          </p:nvSpPr>
          <p:spPr>
            <a:xfrm>
              <a:off x="2880" y="0"/>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4040" name="AutoShape 8"/>
            <p:cNvSpPr/>
            <p:nvPr/>
          </p:nvSpPr>
          <p:spPr>
            <a:xfrm>
              <a:off x="2448" y="0"/>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4041" name="AutoShape 9"/>
            <p:cNvSpPr/>
            <p:nvPr/>
          </p:nvSpPr>
          <p:spPr>
            <a:xfrm>
              <a:off x="2016" y="0"/>
              <a:ext cx="432" cy="336"/>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99CCFF"/>
                  </a:solidFill>
                  <a:latin typeface="Tahoma" panose="020B0604030504040204" pitchFamily="34" charset="0"/>
                </a:rPr>
                <a:t>REF</a:t>
              </a:r>
              <a:endParaRPr lang="zh-CN" altLang="en-US" sz="2400" dirty="0">
                <a:solidFill>
                  <a:srgbClr val="99CCFF"/>
                </a:solidFill>
                <a:latin typeface="Tahoma" panose="020B0604030504040204" pitchFamily="34" charset="0"/>
              </a:endParaRPr>
            </a:p>
          </p:txBody>
        </p:sp>
        <p:sp>
          <p:nvSpPr>
            <p:cNvPr id="44042" name="AutoShape 10"/>
            <p:cNvSpPr/>
            <p:nvPr/>
          </p:nvSpPr>
          <p:spPr>
            <a:xfrm>
              <a:off x="3312" y="0"/>
              <a:ext cx="432" cy="33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a:spcBef>
                  <a:spcPct val="0"/>
                </a:spcBef>
                <a:buNone/>
              </a:pPr>
              <a:r>
                <a:rPr lang="zh-CN" altLang="en-US" sz="2400" dirty="0">
                  <a:solidFill>
                    <a:schemeClr val="tx1"/>
                  </a:solidFill>
                  <a:latin typeface="Tahoma" panose="020B0604030504040204" pitchFamily="34" charset="0"/>
                </a:rPr>
                <a:t>R/W</a:t>
              </a:r>
              <a:endParaRPr lang="zh-CN" altLang="en-US" sz="2400" dirty="0">
                <a:solidFill>
                  <a:schemeClr val="tx1"/>
                </a:solidFill>
                <a:latin typeface="Tahoma" panose="020B0604030504040204" pitchFamily="34" charset="0"/>
              </a:endParaRPr>
            </a:p>
          </p:txBody>
        </p:sp>
        <p:sp>
          <p:nvSpPr>
            <p:cNvPr id="44043" name="AutoShape 11"/>
            <p:cNvSpPr/>
            <p:nvPr/>
          </p:nvSpPr>
          <p:spPr>
            <a:xfrm>
              <a:off x="4464" y="0"/>
              <a:ext cx="432" cy="336"/>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a:spcBef>
                  <a:spcPct val="0"/>
                </a:spcBef>
                <a:buNone/>
              </a:pPr>
              <a:r>
                <a:rPr lang="zh-CN" altLang="en-US" sz="2400" dirty="0">
                  <a:solidFill>
                    <a:srgbClr val="99CCFF"/>
                  </a:solidFill>
                  <a:latin typeface="Tahoma" panose="020B0604030504040204" pitchFamily="34" charset="0"/>
                </a:rPr>
                <a:t>REF</a:t>
              </a:r>
              <a:endParaRPr lang="zh-CN" altLang="en-US" sz="2400" dirty="0">
                <a:solidFill>
                  <a:srgbClr val="99CCFF"/>
                </a:solidFill>
                <a:latin typeface="Tahoma" panose="020B0604030504040204" pitchFamily="34" charset="0"/>
              </a:endParaRPr>
            </a:p>
          </p:txBody>
        </p:sp>
        <p:grpSp>
          <p:nvGrpSpPr>
            <p:cNvPr id="44044" name="Group 12"/>
            <p:cNvGrpSpPr/>
            <p:nvPr/>
          </p:nvGrpSpPr>
          <p:grpSpPr>
            <a:xfrm>
              <a:off x="0" y="192"/>
              <a:ext cx="2448" cy="720"/>
              <a:chOff x="0" y="0"/>
              <a:chExt cx="2448" cy="720"/>
            </a:xfrm>
          </p:grpSpPr>
          <p:sp>
            <p:nvSpPr>
              <p:cNvPr id="44051" name="Line 13"/>
              <p:cNvSpPr/>
              <p:nvPr/>
            </p:nvSpPr>
            <p:spPr>
              <a:xfrm>
                <a:off x="0" y="0"/>
                <a:ext cx="0" cy="720"/>
              </a:xfrm>
              <a:prstGeom prst="line">
                <a:avLst/>
              </a:prstGeom>
              <a:ln w="9525" cap="flat" cmpd="sng">
                <a:solidFill>
                  <a:schemeClr val="tx1"/>
                </a:solidFill>
                <a:prstDash val="solid"/>
                <a:headEnd type="none" w="med" len="med"/>
                <a:tailEnd type="none" w="med" len="med"/>
              </a:ln>
            </p:spPr>
          </p:sp>
          <p:sp>
            <p:nvSpPr>
              <p:cNvPr id="44052" name="Line 14"/>
              <p:cNvSpPr/>
              <p:nvPr/>
            </p:nvSpPr>
            <p:spPr>
              <a:xfrm>
                <a:off x="2448" y="0"/>
                <a:ext cx="0" cy="672"/>
              </a:xfrm>
              <a:prstGeom prst="line">
                <a:avLst/>
              </a:prstGeom>
              <a:ln w="9525" cap="flat" cmpd="sng">
                <a:solidFill>
                  <a:schemeClr val="tx1"/>
                </a:solidFill>
                <a:prstDash val="solid"/>
                <a:headEnd type="none" w="med" len="med"/>
                <a:tailEnd type="none" w="med" len="med"/>
              </a:ln>
            </p:spPr>
          </p:sp>
          <p:sp>
            <p:nvSpPr>
              <p:cNvPr id="44053" name="Line 15"/>
              <p:cNvSpPr/>
              <p:nvPr/>
            </p:nvSpPr>
            <p:spPr>
              <a:xfrm>
                <a:off x="0" y="528"/>
                <a:ext cx="816" cy="0"/>
              </a:xfrm>
              <a:prstGeom prst="line">
                <a:avLst/>
              </a:prstGeom>
              <a:ln w="9525" cap="flat" cmpd="sng">
                <a:solidFill>
                  <a:schemeClr val="tx1"/>
                </a:solidFill>
                <a:prstDash val="solid"/>
                <a:headEnd type="none" w="med" len="med"/>
                <a:tailEnd type="triangle" w="med" len="med"/>
              </a:ln>
            </p:spPr>
          </p:sp>
          <p:sp>
            <p:nvSpPr>
              <p:cNvPr id="44054" name="Line 16"/>
              <p:cNvSpPr/>
              <p:nvPr/>
            </p:nvSpPr>
            <p:spPr>
              <a:xfrm flipH="1">
                <a:off x="1632" y="528"/>
                <a:ext cx="816" cy="0"/>
              </a:xfrm>
              <a:prstGeom prst="line">
                <a:avLst/>
              </a:prstGeom>
              <a:ln w="9525" cap="flat" cmpd="sng">
                <a:solidFill>
                  <a:schemeClr val="tx1"/>
                </a:solidFill>
                <a:prstDash val="solid"/>
                <a:headEnd type="none" w="med" len="med"/>
                <a:tailEnd type="triangle" w="med" len="med"/>
              </a:ln>
            </p:spPr>
          </p:sp>
          <p:sp>
            <p:nvSpPr>
              <p:cNvPr id="44055" name="Text Box 17"/>
              <p:cNvSpPr txBox="1"/>
              <p:nvPr/>
            </p:nvSpPr>
            <p:spPr>
              <a:xfrm>
                <a:off x="816" y="384"/>
                <a:ext cx="81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15.5uS</a:t>
                </a:r>
                <a:endParaRPr lang="zh-CN" altLang="en-US" sz="2400" dirty="0">
                  <a:solidFill>
                    <a:schemeClr val="tx1"/>
                  </a:solidFill>
                  <a:latin typeface="Tahoma" panose="020B0604030504040204" pitchFamily="34" charset="0"/>
                </a:endParaRPr>
              </a:p>
            </p:txBody>
          </p:sp>
        </p:grpSp>
        <p:grpSp>
          <p:nvGrpSpPr>
            <p:cNvPr id="44045" name="Group 18"/>
            <p:cNvGrpSpPr/>
            <p:nvPr/>
          </p:nvGrpSpPr>
          <p:grpSpPr>
            <a:xfrm>
              <a:off x="2448" y="192"/>
              <a:ext cx="2448" cy="720"/>
              <a:chOff x="0" y="0"/>
              <a:chExt cx="2448" cy="720"/>
            </a:xfrm>
          </p:grpSpPr>
          <p:sp>
            <p:nvSpPr>
              <p:cNvPr id="44046" name="Line 19"/>
              <p:cNvSpPr/>
              <p:nvPr/>
            </p:nvSpPr>
            <p:spPr>
              <a:xfrm>
                <a:off x="0" y="0"/>
                <a:ext cx="0" cy="720"/>
              </a:xfrm>
              <a:prstGeom prst="line">
                <a:avLst/>
              </a:prstGeom>
              <a:ln w="9525" cap="flat" cmpd="sng">
                <a:solidFill>
                  <a:schemeClr val="tx1"/>
                </a:solidFill>
                <a:prstDash val="solid"/>
                <a:headEnd type="none" w="med" len="med"/>
                <a:tailEnd type="none" w="med" len="med"/>
              </a:ln>
            </p:spPr>
          </p:sp>
          <p:sp>
            <p:nvSpPr>
              <p:cNvPr id="44047" name="Line 20"/>
              <p:cNvSpPr/>
              <p:nvPr/>
            </p:nvSpPr>
            <p:spPr>
              <a:xfrm>
                <a:off x="2448" y="0"/>
                <a:ext cx="0" cy="672"/>
              </a:xfrm>
              <a:prstGeom prst="line">
                <a:avLst/>
              </a:prstGeom>
              <a:ln w="9525" cap="flat" cmpd="sng">
                <a:solidFill>
                  <a:schemeClr val="tx1"/>
                </a:solidFill>
                <a:prstDash val="solid"/>
                <a:headEnd type="none" w="med" len="med"/>
                <a:tailEnd type="none" w="med" len="med"/>
              </a:ln>
            </p:spPr>
          </p:sp>
          <p:sp>
            <p:nvSpPr>
              <p:cNvPr id="44048" name="Line 21"/>
              <p:cNvSpPr/>
              <p:nvPr/>
            </p:nvSpPr>
            <p:spPr>
              <a:xfrm>
                <a:off x="0" y="528"/>
                <a:ext cx="816" cy="0"/>
              </a:xfrm>
              <a:prstGeom prst="line">
                <a:avLst/>
              </a:prstGeom>
              <a:ln w="9525" cap="flat" cmpd="sng">
                <a:solidFill>
                  <a:schemeClr val="tx1"/>
                </a:solidFill>
                <a:prstDash val="solid"/>
                <a:headEnd type="none" w="med" len="med"/>
                <a:tailEnd type="triangle" w="med" len="med"/>
              </a:ln>
            </p:spPr>
          </p:sp>
          <p:sp>
            <p:nvSpPr>
              <p:cNvPr id="44049" name="Line 22"/>
              <p:cNvSpPr/>
              <p:nvPr/>
            </p:nvSpPr>
            <p:spPr>
              <a:xfrm flipH="1">
                <a:off x="1632" y="528"/>
                <a:ext cx="816" cy="0"/>
              </a:xfrm>
              <a:prstGeom prst="line">
                <a:avLst/>
              </a:prstGeom>
              <a:ln w="9525" cap="flat" cmpd="sng">
                <a:solidFill>
                  <a:schemeClr val="tx1"/>
                </a:solidFill>
                <a:prstDash val="solid"/>
                <a:headEnd type="none" w="med" len="med"/>
                <a:tailEnd type="triangle" w="med" len="med"/>
              </a:ln>
            </p:spPr>
          </p:sp>
          <p:sp>
            <p:nvSpPr>
              <p:cNvPr id="44050" name="Text Box 23"/>
              <p:cNvSpPr txBox="1"/>
              <p:nvPr/>
            </p:nvSpPr>
            <p:spPr>
              <a:xfrm>
                <a:off x="816" y="384"/>
                <a:ext cx="81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15.5uS</a:t>
                </a:r>
                <a:endParaRPr lang="zh-CN" altLang="en-US" sz="2400" dirty="0">
                  <a:solidFill>
                    <a:schemeClr val="tx1"/>
                  </a:solidFill>
                  <a:latin typeface="Tahoma" panose="020B0604030504040204" pitchFamily="34" charset="0"/>
                </a:endParaRPr>
              </a:p>
            </p:txBody>
          </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body" idx="4294967295"/>
          </p:nvPr>
        </p:nvSpPr>
        <p:spPr>
          <a:xfrm>
            <a:off x="381000" y="850900"/>
            <a:ext cx="8077200" cy="5029200"/>
          </a:xfrm>
          <a:ln/>
        </p:spPr>
        <p:txBody>
          <a:bodyPr vert="horz" wrap="square" lIns="91440" tIns="45720" rIns="91440" bIns="45720" anchor="t" anchorCtr="0"/>
          <a:p>
            <a:pPr eaLnBrk="1" hangingPunct="1"/>
            <a:r>
              <a:rPr lang="zh-CN" altLang="en-US" sz="2800" b="1" dirty="0">
                <a:latin typeface="华文新魏" panose="02010800040101010101" pitchFamily="2" charset="-122"/>
                <a:ea typeface="华文新魏" panose="02010800040101010101" pitchFamily="2" charset="-122"/>
              </a:rPr>
              <a:t>说明1M×1位DRAM片子的刷新方法，刷新周期定为8ms .</a:t>
            </a:r>
            <a:endParaRPr lang="zh-CN" altLang="en-US" sz="2800" b="1" dirty="0">
              <a:latin typeface="华文新魏" panose="02010800040101010101" pitchFamily="2" charset="-122"/>
              <a:ea typeface="华文新魏" panose="02010800040101010101" pitchFamily="2" charset="-122"/>
            </a:endParaRPr>
          </a:p>
          <a:p>
            <a:pPr eaLnBrk="1" hangingPunct="1"/>
            <a:r>
              <a:rPr lang="zh-CN" altLang="en-US" sz="2800" dirty="0">
                <a:solidFill>
                  <a:srgbClr val="0080FF"/>
                </a:solidFill>
              </a:rPr>
              <a:t>【解】</a:t>
            </a:r>
            <a:r>
              <a:rPr lang="zh-CN" altLang="en-US" sz="2800" dirty="0">
                <a:solidFill>
                  <a:schemeClr val="tx1"/>
                </a:solidFill>
                <a:latin typeface="楷体_GB2312" pitchFamily="1" charset="-122"/>
                <a:ea typeface="楷体_GB2312" pitchFamily="1" charset="-122"/>
              </a:rPr>
              <a:t>如果选择一个行地址进行刷新，且刷新地址为A0</a:t>
            </a:r>
            <a:r>
              <a:rPr lang="zh-CN" altLang="en-US" sz="2800" dirty="0">
                <a:solidFill>
                  <a:schemeClr val="tx1"/>
                </a:solidFill>
                <a:ea typeface="楷体_GB2312" pitchFamily="1" charset="-122"/>
              </a:rPr>
              <a:t>—</a:t>
            </a:r>
            <a:r>
              <a:rPr lang="zh-CN" altLang="en-US" sz="2800" dirty="0">
                <a:solidFill>
                  <a:schemeClr val="tx1"/>
                </a:solidFill>
                <a:latin typeface="楷体_GB2312" pitchFamily="1" charset="-122"/>
                <a:ea typeface="楷体_GB2312" pitchFamily="1" charset="-122"/>
              </a:rPr>
              <a:t>A8，因此这一行上的2048个存储元同时进行刷新，即在8ms内进行512个周期的刷新。</a:t>
            </a:r>
            <a:endParaRPr lang="zh-CN" altLang="en-US" sz="2800" dirty="0">
              <a:solidFill>
                <a:schemeClr val="tx1"/>
              </a:solidFill>
              <a:latin typeface="楷体_GB2312" pitchFamily="1" charset="-122"/>
              <a:ea typeface="楷体_GB2312" pitchFamily="1" charset="-122"/>
            </a:endParaRPr>
          </a:p>
          <a:p>
            <a:pPr eaLnBrk="1" hangingPunct="1"/>
            <a:r>
              <a:rPr lang="zh-CN" altLang="en-US" sz="2800" dirty="0">
                <a:solidFill>
                  <a:schemeClr val="tx1"/>
                </a:solidFill>
                <a:latin typeface="楷体_GB2312" pitchFamily="1" charset="-122"/>
                <a:ea typeface="楷体_GB2312" pitchFamily="1" charset="-122"/>
              </a:rPr>
              <a:t>按照这个周期数，512×2048＝1 048 567，即对1M位的存储元全部进行刷新。</a:t>
            </a:r>
            <a:endParaRPr lang="zh-CN" altLang="en-US" sz="2800" dirty="0">
              <a:solidFill>
                <a:schemeClr val="tx1"/>
              </a:solidFill>
              <a:latin typeface="楷体_GB2312" pitchFamily="1" charset="-122"/>
              <a:ea typeface="楷体_GB2312" pitchFamily="1" charset="-122"/>
            </a:endParaRPr>
          </a:p>
          <a:p>
            <a:pPr eaLnBrk="1" hangingPunct="1"/>
            <a:r>
              <a:rPr lang="zh-CN" altLang="en-US" sz="2800" dirty="0">
                <a:solidFill>
                  <a:schemeClr val="tx1"/>
                </a:solidFill>
                <a:latin typeface="楷体_GB2312" pitchFamily="1" charset="-122"/>
                <a:ea typeface="楷体_GB2312" pitchFamily="1" charset="-122"/>
              </a:rPr>
              <a:t>刷新方式可采用：在8ms中进行512次刷新操作的集中刷新方式，或按8ms÷512＝15.5μs刷新一次的异步刷新方式。 </a:t>
            </a:r>
            <a:endParaRPr lang="zh-CN" altLang="en-US" sz="2800" dirty="0">
              <a:solidFill>
                <a:schemeClr val="tx1"/>
              </a:solidFill>
              <a:latin typeface="楷体_GB2312" pitchFamily="1" charset="-122"/>
              <a:ea typeface="楷体_GB2312" pitchFamily="1"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p:nvPr>
            <p:ph type="title" idx="4294967295"/>
          </p:nvPr>
        </p:nvSpPr>
        <p:spPr>
          <a:xfrm>
            <a:off x="457200" y="274638"/>
            <a:ext cx="8229600" cy="1143000"/>
          </a:xfrm>
          <a:prstGeom prst="rect">
            <a:avLst/>
          </a:prstGeom>
          <a:noFill/>
          <a:ln w="9525">
            <a:noFill/>
          </a:ln>
        </p:spPr>
        <p:txBody>
          <a:bodyPr anchor="ctr" anchorCtr="0"/>
          <a:p>
            <a:pPr eaLnBrk="1" hangingPunct="1"/>
            <a:endParaRPr lang="zh-CN" altLang="en-US" dirty="0"/>
          </a:p>
        </p:txBody>
      </p:sp>
      <p:sp>
        <p:nvSpPr>
          <p:cNvPr id="46083" name="Rectangle 3"/>
          <p:cNvSpPr>
            <a:spLocks noGrp="1"/>
          </p:cNvSpPr>
          <p:nvPr>
            <p:ph type="body" idx="4294967295"/>
          </p:nvPr>
        </p:nvSpPr>
        <p:spPr>
          <a:xfrm>
            <a:off x="685800" y="1981200"/>
            <a:ext cx="8062913" cy="4114800"/>
          </a:xfrm>
          <a:ln/>
        </p:spPr>
        <p:txBody>
          <a:bodyPr vert="horz" wrap="square" lIns="91440" tIns="45720" rIns="91440" bIns="45720" anchor="t" anchorCtr="0"/>
          <a:p>
            <a:pPr marL="0" indent="0" eaLnBrk="1" hangingPunct="1">
              <a:buNone/>
            </a:pPr>
            <a:r>
              <a:rPr lang="zh-CN" altLang="en-US" b="1" dirty="0">
                <a:solidFill>
                  <a:srgbClr val="0000FF"/>
                </a:solidFill>
              </a:rPr>
              <a:t>DRAM 刷新的比较：</a:t>
            </a:r>
            <a:endParaRPr lang="zh-CN" altLang="en-US" b="1" dirty="0">
              <a:solidFill>
                <a:srgbClr val="0000FF"/>
              </a:solidFill>
            </a:endParaRPr>
          </a:p>
          <a:p>
            <a:pPr marL="0" indent="0" eaLnBrk="1" hangingPunct="1"/>
            <a:r>
              <a:rPr lang="zh-CN" altLang="en-US" b="1" dirty="0">
                <a:solidFill>
                  <a:srgbClr val="0000FF"/>
                </a:solidFill>
              </a:rPr>
              <a:t>集中式刷新：用在实时要求不高的场合。</a:t>
            </a:r>
            <a:endParaRPr lang="zh-CN" altLang="en-US" b="1" dirty="0">
              <a:solidFill>
                <a:srgbClr val="0000FF"/>
              </a:solidFill>
            </a:endParaRPr>
          </a:p>
          <a:p>
            <a:pPr marL="0" indent="0" eaLnBrk="1" hangingPunct="1"/>
            <a:r>
              <a:rPr lang="zh-CN" altLang="en-US" b="1" dirty="0">
                <a:solidFill>
                  <a:srgbClr val="0000FF"/>
                </a:solidFill>
              </a:rPr>
              <a:t>分散式刷新：不存在死时间，但刷新过于频繁，影响了系统的速度，不适合于高速存储器。</a:t>
            </a:r>
            <a:endParaRPr lang="zh-CN" altLang="en-US" b="1" dirty="0">
              <a:solidFill>
                <a:srgbClr val="0000FF"/>
              </a:solidFill>
            </a:endParaRPr>
          </a:p>
          <a:p>
            <a:pPr marL="0" indent="0" eaLnBrk="1" hangingPunct="1"/>
            <a:r>
              <a:rPr lang="zh-CN" altLang="en-US" b="1" dirty="0">
                <a:solidFill>
                  <a:srgbClr val="0000FF"/>
                </a:solidFill>
              </a:rPr>
              <a:t>异步式刷新：不存在死时间，充分利用了最大刷新周期，又能保证系统的高速性。</a:t>
            </a:r>
            <a:endParaRPr lang="zh-CN" altLang="en-US" b="1" dirty="0">
              <a:solidFill>
                <a:srgbClr val="0000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p:nvPr>
            <p:ph type="title" idx="4294967295"/>
          </p:nvPr>
        </p:nvSpPr>
        <p:spPr>
          <a:xfrm>
            <a:off x="457200" y="274638"/>
            <a:ext cx="8229600" cy="1143000"/>
          </a:xfrm>
          <a:prstGeom prst="rect">
            <a:avLst/>
          </a:prstGeom>
          <a:noFill/>
          <a:ln w="9525">
            <a:noFill/>
          </a:ln>
        </p:spPr>
        <p:txBody>
          <a:bodyPr anchor="ctr" anchorCtr="0"/>
          <a:p>
            <a:pPr eaLnBrk="1" hangingPunct="1"/>
            <a:r>
              <a:rPr lang="zh-CN" altLang="en-US" dirty="0"/>
              <a:t>动态存储器与静态存储器的比较：</a:t>
            </a:r>
            <a:endParaRPr lang="zh-CN" altLang="en-US" dirty="0"/>
          </a:p>
        </p:txBody>
      </p:sp>
      <p:sp>
        <p:nvSpPr>
          <p:cNvPr id="60419" name="Rectangle 3"/>
          <p:cNvSpPr>
            <a:spLocks noGrp="1"/>
          </p:cNvSpPr>
          <p:nvPr>
            <p:ph type="body" idx="4294967295"/>
          </p:nvPr>
        </p:nvSpPr>
        <p:spPr>
          <a:xfrm>
            <a:off x="323850" y="1765300"/>
            <a:ext cx="8640763" cy="4760913"/>
          </a:xfrm>
          <a:ln/>
        </p:spPr>
        <p:txBody>
          <a:bodyPr vert="horz" wrap="square" lIns="91440" tIns="45720" rIns="91440" bIns="45720" anchor="t" anchorCtr="0"/>
          <a:p>
            <a:pPr marL="514350" indent="-514350" eaLnBrk="1" hangingPunct="1">
              <a:buFontTx/>
              <a:buAutoNum type="circleNumDbPlain"/>
            </a:pPr>
            <a:r>
              <a:rPr lang="zh-CN" altLang="en-US" b="1" dirty="0">
                <a:solidFill>
                  <a:srgbClr val="0000FF"/>
                </a:solidFill>
              </a:rPr>
              <a:t>DRAM的每片存储容量约是SRAM的4倍</a:t>
            </a:r>
            <a:endParaRPr lang="zh-CN" altLang="en-US" b="1" dirty="0">
              <a:solidFill>
                <a:srgbClr val="0000FF"/>
              </a:solidFill>
            </a:endParaRPr>
          </a:p>
          <a:p>
            <a:pPr marL="514350" indent="-514350" eaLnBrk="1" hangingPunct="1">
              <a:buFontTx/>
              <a:buAutoNum type="circleNumDbPlain"/>
            </a:pPr>
            <a:r>
              <a:rPr lang="zh-CN" altLang="en-US" b="1" dirty="0">
                <a:solidFill>
                  <a:srgbClr val="0000FF"/>
                </a:solidFill>
              </a:rPr>
              <a:t>DRAM的价格比较便宜，大约是SRAM的1/4</a:t>
            </a:r>
            <a:endParaRPr lang="zh-CN" altLang="en-US" b="1" dirty="0">
              <a:solidFill>
                <a:srgbClr val="0000FF"/>
              </a:solidFill>
            </a:endParaRPr>
          </a:p>
          <a:p>
            <a:pPr marL="514350" indent="-514350" eaLnBrk="1" hangingPunct="1">
              <a:buFontTx/>
              <a:buAutoNum type="circleNumDbPlain"/>
            </a:pPr>
            <a:r>
              <a:rPr lang="zh-CN" altLang="en-US" b="1" dirty="0">
                <a:solidFill>
                  <a:srgbClr val="0000FF"/>
                </a:solidFill>
              </a:rPr>
              <a:t>由于使用动态元件，DRAM所需要的功率约是SRAM的1/6</a:t>
            </a:r>
            <a:endParaRPr lang="zh-CN" altLang="en-US" b="1" dirty="0">
              <a:solidFill>
                <a:srgbClr val="0000FF"/>
              </a:solidFill>
            </a:endParaRPr>
          </a:p>
          <a:p>
            <a:pPr marL="514350" indent="-514350" eaLnBrk="1" hangingPunct="1">
              <a:buFontTx/>
              <a:buAutoNum type="circleNumDbPlain"/>
            </a:pPr>
            <a:r>
              <a:rPr lang="zh-CN" altLang="en-US" b="1" dirty="0">
                <a:solidFill>
                  <a:srgbClr val="0000FF"/>
                </a:solidFill>
              </a:rPr>
              <a:t>DRAM需要刷新，所以速度比SRAM要慢，而且还需要配套电路</a:t>
            </a:r>
            <a:endParaRPr lang="zh-CN" altLang="en-US" b="1" dirty="0">
              <a:solidFill>
                <a:srgbClr val="0000FF"/>
              </a:solidFill>
            </a:endParaRPr>
          </a:p>
          <a:p>
            <a:pPr marL="514350" indent="-514350" eaLnBrk="1" hangingPunct="1">
              <a:buFontTx/>
              <a:buAutoNum type="circleNumDbPlain"/>
            </a:pPr>
            <a:r>
              <a:rPr lang="zh-CN" altLang="en-US" b="1" dirty="0">
                <a:solidFill>
                  <a:srgbClr val="0000FF"/>
                </a:solidFill>
              </a:rPr>
              <a:t>DRAM一般用作主存，SRAM一般用作容量不大的高速存储器</a:t>
            </a:r>
            <a:endParaRPr lang="zh-CN" altLang="en-US" b="1" dirty="0">
              <a:solidFill>
                <a:srgbClr val="0000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42" name="Group 2"/>
          <p:cNvGraphicFramePr>
            <a:graphicFrameLocks noGrp="1"/>
          </p:cNvGraphicFramePr>
          <p:nvPr/>
        </p:nvGraphicFramePr>
        <p:xfrm>
          <a:off x="901700" y="404813"/>
          <a:ext cx="7343775" cy="6049963"/>
        </p:xfrm>
        <a:graphic>
          <a:graphicData uri="http://schemas.openxmlformats.org/drawingml/2006/table">
            <a:tbl>
              <a:tblPr/>
              <a:tblGrid>
                <a:gridCol w="2447925"/>
                <a:gridCol w="2447925"/>
                <a:gridCol w="2447925"/>
              </a:tblGrid>
              <a:tr h="673100">
                <a:tc gridSpan="3">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3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比较              DRAM、       SRAM</a:t>
                      </a:r>
                      <a:endParaRPr kumimoji="0" lang="zh-CN" altLang="en-US" sz="3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671513">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存储原理</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电容</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触发器</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3100">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集成度</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高</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低</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1513">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芯片引脚</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少</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多</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1513">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功耗</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小</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大</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1513">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价格</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低</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高</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3100">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存储容量</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多</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小</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3100">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速度</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慢</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快</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1513">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刷新</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有</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rPr>
                        <a:t>无</a:t>
                      </a:r>
                      <a:endParaRPr kumimoji="0" lang="zh-CN" altLang="en-US" sz="2800" b="1"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body" idx="4294967295"/>
          </p:nvPr>
        </p:nvSpPr>
        <p:spPr>
          <a:xfrm>
            <a:off x="468313" y="1828800"/>
            <a:ext cx="8137525" cy="4267200"/>
          </a:xfrm>
          <a:ln/>
        </p:spPr>
        <p:txBody>
          <a:bodyPr vert="horz" wrap="square" lIns="91440" tIns="45720" rIns="91440" bIns="45720" anchor="t" anchorCtr="0"/>
          <a:p>
            <a:pPr eaLnBrk="1" hangingPunct="1">
              <a:buNone/>
            </a:pPr>
            <a:r>
              <a:rPr lang="zh-CN" altLang="en-US" sz="2800" b="1" dirty="0">
                <a:latin typeface="华文新魏" panose="02010800040101010101" pitchFamily="2" charset="-122"/>
                <a:ea typeface="华文新魏" panose="02010800040101010101" pitchFamily="2" charset="-122"/>
              </a:rPr>
              <a:t>  信息只能读出不能随意写入的存储器，称为只读存储器，记为</a:t>
            </a:r>
            <a:r>
              <a:rPr lang="zh-CN" altLang="en-US" sz="2800" b="1" dirty="0">
                <a:solidFill>
                  <a:srgbClr val="0000FF"/>
                </a:solidFill>
                <a:latin typeface="华文新魏" panose="02010800040101010101" pitchFamily="2" charset="-122"/>
                <a:ea typeface="华文新魏" panose="02010800040101010101" pitchFamily="2" charset="-122"/>
              </a:rPr>
              <a:t>ROM</a:t>
            </a:r>
            <a:r>
              <a:rPr lang="zh-CN" altLang="en-US" sz="2800" b="1" dirty="0">
                <a:latin typeface="华文新魏" panose="02010800040101010101" pitchFamily="2" charset="-122"/>
                <a:ea typeface="华文新魏" panose="02010800040101010101" pitchFamily="2" charset="-122"/>
              </a:rPr>
              <a:t>。</a:t>
            </a:r>
            <a:endParaRPr lang="zh-CN" altLang="en-US" sz="2800" b="1" dirty="0">
              <a:latin typeface="华文新魏" panose="02010800040101010101" pitchFamily="2" charset="-122"/>
              <a:ea typeface="华文新魏" panose="02010800040101010101" pitchFamily="2" charset="-122"/>
            </a:endParaRPr>
          </a:p>
          <a:p>
            <a:pPr eaLnBrk="1" hangingPunct="1">
              <a:buNone/>
            </a:pPr>
            <a:r>
              <a:rPr lang="zh-CN" altLang="en-US" sz="2800" b="1" dirty="0">
                <a:latin typeface="华文新魏" panose="02010800040101010101" pitchFamily="2" charset="-122"/>
                <a:ea typeface="华文新魏" panose="02010800040101010101" pitchFamily="2" charset="-122"/>
              </a:rPr>
              <a:t>  它的特点是通过一定方式将信息写人之后，信息就固定在ROM中，供电电源切断之后，信息也不会丢失。</a:t>
            </a:r>
            <a:endParaRPr lang="zh-CN" altLang="en-US" sz="2800" b="1" dirty="0">
              <a:latin typeface="华文新魏" panose="02010800040101010101" pitchFamily="2" charset="-122"/>
              <a:ea typeface="华文新魏" panose="02010800040101010101" pitchFamily="2" charset="-122"/>
            </a:endParaRPr>
          </a:p>
          <a:p>
            <a:pPr eaLnBrk="1" hangingPunct="1">
              <a:buNone/>
            </a:pPr>
            <a:r>
              <a:rPr lang="zh-CN" altLang="en-US" sz="2800" b="1" dirty="0">
                <a:latin typeface="华文新魏" panose="02010800040101010101" pitchFamily="2" charset="-122"/>
                <a:ea typeface="华文新魏" panose="02010800040101010101" pitchFamily="2" charset="-122"/>
              </a:rPr>
              <a:t>  它的最大优点是具有</a:t>
            </a:r>
            <a:r>
              <a:rPr lang="zh-CN" altLang="en-US" sz="2800" b="1" dirty="0">
                <a:solidFill>
                  <a:srgbClr val="FF0080"/>
                </a:solidFill>
                <a:latin typeface="华文新魏" panose="02010800040101010101" pitchFamily="2" charset="-122"/>
                <a:ea typeface="华文新魏" panose="02010800040101010101" pitchFamily="2" charset="-122"/>
              </a:rPr>
              <a:t>非易失性</a:t>
            </a:r>
            <a:r>
              <a:rPr lang="zh-CN" altLang="en-US" sz="2800" b="1" dirty="0">
                <a:latin typeface="华文新魏" panose="02010800040101010101" pitchFamily="2" charset="-122"/>
                <a:ea typeface="华文新魏" panose="02010800040101010101" pitchFamily="2" charset="-122"/>
              </a:rPr>
              <a:t>。</a:t>
            </a:r>
            <a:endParaRPr lang="zh-CN" altLang="en-US" sz="2800" b="1" dirty="0">
              <a:latin typeface="华文新魏" panose="02010800040101010101" pitchFamily="2" charset="-122"/>
              <a:ea typeface="华文新魏" panose="02010800040101010101" pitchFamily="2" charset="-122"/>
            </a:endParaRPr>
          </a:p>
          <a:p>
            <a:pPr eaLnBrk="1" hangingPunct="1">
              <a:buNone/>
            </a:pPr>
            <a:r>
              <a:rPr lang="zh-CN" altLang="en-US" sz="2800" b="1" dirty="0">
                <a:latin typeface="华文新魏" panose="02010800040101010101" pitchFamily="2" charset="-122"/>
                <a:ea typeface="华文新魏" panose="02010800040101010101" pitchFamily="2" charset="-122"/>
              </a:rPr>
              <a:t>  只读存储器主要用来存放一些不需要修改的程序，如微程序、子程序、某些系统软件和用户软件。           </a:t>
            </a:r>
            <a:endParaRPr lang="zh-CN" altLang="en-US" sz="2800" b="1" dirty="0">
              <a:latin typeface="华文新魏" panose="02010800040101010101" pitchFamily="2" charset="-122"/>
              <a:ea typeface="华文新魏" panose="02010800040101010101" pitchFamily="2" charset="-122"/>
            </a:endParaRPr>
          </a:p>
        </p:txBody>
      </p:sp>
      <p:sp>
        <p:nvSpPr>
          <p:cNvPr id="63491" name="Rectangle 3"/>
          <p:cNvSpPr/>
          <p:nvPr/>
        </p:nvSpPr>
        <p:spPr>
          <a:xfrm>
            <a:off x="252413" y="835025"/>
            <a:ext cx="8567737" cy="8382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3600" b="1" dirty="0">
                <a:solidFill>
                  <a:schemeClr val="tx2"/>
                </a:solidFill>
              </a:rPr>
              <a:t>3.</a:t>
            </a:r>
            <a:r>
              <a:rPr lang="en-US" altLang="zh-CN" sz="3600" b="1" dirty="0">
                <a:solidFill>
                  <a:schemeClr val="tx2"/>
                </a:solidFill>
              </a:rPr>
              <a:t>4</a:t>
            </a:r>
            <a:r>
              <a:rPr lang="zh-CN" altLang="en-US" sz="3600" b="1" dirty="0">
                <a:solidFill>
                  <a:schemeClr val="tx2"/>
                </a:solidFill>
              </a:rPr>
              <a:t> 只读存储器和闪速存储器——</a:t>
            </a:r>
            <a:r>
              <a:rPr lang="zh-CN" altLang="en-US" sz="2400" b="1" dirty="0">
                <a:solidFill>
                  <a:schemeClr val="tx2"/>
                </a:solidFill>
              </a:rPr>
              <a:t>只读存储器</a:t>
            </a:r>
            <a:endParaRPr lang="zh-CN" altLang="en-US" sz="2400" b="1" dirty="0">
              <a:solidFill>
                <a:schemeClr val="tx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body" idx="4294967295"/>
          </p:nvPr>
        </p:nvSpPr>
        <p:spPr>
          <a:xfrm>
            <a:off x="396875" y="990600"/>
            <a:ext cx="8289925" cy="5680075"/>
          </a:xfrm>
          <a:ln/>
        </p:spPr>
        <p:txBody>
          <a:bodyPr vert="horz" wrap="square" lIns="91440" tIns="45720" rIns="91440" bIns="45720" anchor="t" anchorCtr="0"/>
          <a:p>
            <a:pPr eaLnBrk="1" hangingPunct="1">
              <a:lnSpc>
                <a:spcPct val="90000"/>
              </a:lnSpc>
              <a:buNone/>
            </a:pPr>
            <a:r>
              <a:rPr lang="zh-CN" altLang="en-US" sz="2800" b="1" dirty="0">
                <a:solidFill>
                  <a:schemeClr val="tx1"/>
                </a:solidFill>
              </a:rPr>
              <a:t>1.掩膜式ROM</a:t>
            </a:r>
            <a:endParaRPr lang="zh-CN" altLang="en-US" sz="2800" b="1" dirty="0">
              <a:solidFill>
                <a:schemeClr val="tx1"/>
              </a:solidFill>
            </a:endParaRPr>
          </a:p>
          <a:p>
            <a:pPr eaLnBrk="1" hangingPunct="1">
              <a:lnSpc>
                <a:spcPct val="90000"/>
              </a:lnSpc>
              <a:buNone/>
            </a:pPr>
            <a:r>
              <a:rPr lang="zh-CN" altLang="en-US" sz="2400" b="1" dirty="0">
                <a:solidFill>
                  <a:srgbClr val="993366"/>
                </a:solidFill>
              </a:rPr>
              <a:t>特点:</a:t>
            </a:r>
            <a:endParaRPr lang="zh-CN" altLang="en-US" sz="2400" b="1" dirty="0">
              <a:solidFill>
                <a:srgbClr val="993366"/>
              </a:solidFill>
            </a:endParaRPr>
          </a:p>
          <a:p>
            <a:pPr eaLnBrk="1" hangingPunct="1">
              <a:lnSpc>
                <a:spcPct val="90000"/>
              </a:lnSpc>
              <a:buNone/>
            </a:pPr>
            <a:r>
              <a:rPr lang="zh-CN" altLang="en-US" sz="2000" b="1" dirty="0">
                <a:solidFill>
                  <a:schemeClr val="tx1"/>
                </a:solidFill>
              </a:rPr>
              <a:t>       由厂家制成，用户不能</a:t>
            </a:r>
            <a:endParaRPr lang="zh-CN" altLang="en-US" sz="2000" b="1" dirty="0">
              <a:solidFill>
                <a:schemeClr val="tx1"/>
              </a:solidFill>
            </a:endParaRPr>
          </a:p>
          <a:p>
            <a:pPr eaLnBrk="1" hangingPunct="1">
              <a:lnSpc>
                <a:spcPct val="90000"/>
              </a:lnSpc>
              <a:buNone/>
            </a:pPr>
            <a:r>
              <a:rPr lang="zh-CN" altLang="en-US" sz="2000" b="1" dirty="0">
                <a:solidFill>
                  <a:schemeClr val="tx1"/>
                </a:solidFill>
              </a:rPr>
              <a:t>修改。可靠性高。</a:t>
            </a:r>
            <a:endParaRPr lang="zh-CN" altLang="en-US" sz="2000" b="1" dirty="0">
              <a:solidFill>
                <a:schemeClr val="tx1"/>
              </a:solidFill>
            </a:endParaRPr>
          </a:p>
          <a:p>
            <a:pPr eaLnBrk="1" hangingPunct="1">
              <a:lnSpc>
                <a:spcPct val="90000"/>
              </a:lnSpc>
              <a:buNone/>
            </a:pPr>
            <a:r>
              <a:rPr lang="zh-CN" altLang="en-US" sz="2400" b="1" dirty="0">
                <a:solidFill>
                  <a:srgbClr val="993366"/>
                </a:solidFill>
              </a:rPr>
              <a:t>存储元：</a:t>
            </a:r>
            <a:endParaRPr lang="zh-CN" altLang="en-US" sz="2400" b="1" dirty="0">
              <a:solidFill>
                <a:srgbClr val="993366"/>
              </a:solidFill>
            </a:endParaRPr>
          </a:p>
          <a:p>
            <a:pPr eaLnBrk="1" hangingPunct="1">
              <a:lnSpc>
                <a:spcPct val="90000"/>
              </a:lnSpc>
              <a:buNone/>
            </a:pPr>
            <a:r>
              <a:rPr lang="zh-CN" altLang="en-US" sz="2000" b="1" dirty="0">
                <a:solidFill>
                  <a:schemeClr val="tx1"/>
                </a:solidFill>
              </a:rPr>
              <a:t>二极管、双极型晶体管、 MOS管</a:t>
            </a:r>
            <a:endParaRPr lang="zh-CN" altLang="en-US" sz="2000" b="1" dirty="0">
              <a:solidFill>
                <a:schemeClr val="tx1"/>
              </a:solidFill>
            </a:endParaRPr>
          </a:p>
          <a:p>
            <a:pPr eaLnBrk="1" hangingPunct="1">
              <a:lnSpc>
                <a:spcPct val="90000"/>
              </a:lnSpc>
              <a:buNone/>
            </a:pPr>
            <a:r>
              <a:rPr lang="zh-CN" altLang="en-US" sz="2400" b="1" dirty="0">
                <a:solidFill>
                  <a:srgbClr val="993366"/>
                </a:solidFill>
              </a:rPr>
              <a:t>工作原理：</a:t>
            </a:r>
            <a:endParaRPr lang="zh-CN" altLang="en-US" sz="2400" b="1" dirty="0">
              <a:solidFill>
                <a:srgbClr val="993366"/>
              </a:solidFill>
            </a:endParaRPr>
          </a:p>
          <a:p>
            <a:pPr eaLnBrk="1" hangingPunct="1">
              <a:lnSpc>
                <a:spcPct val="90000"/>
              </a:lnSpc>
              <a:buNone/>
            </a:pPr>
            <a:r>
              <a:rPr lang="zh-CN" altLang="en-US" sz="2000" b="1" dirty="0">
                <a:solidFill>
                  <a:schemeClr val="tx1"/>
                </a:solidFill>
              </a:rPr>
              <a:t>      管子的基极连选择线，该管</a:t>
            </a:r>
            <a:endParaRPr lang="zh-CN" altLang="en-US" sz="2000" b="1" dirty="0">
              <a:solidFill>
                <a:schemeClr val="tx1"/>
              </a:solidFill>
            </a:endParaRPr>
          </a:p>
          <a:p>
            <a:pPr eaLnBrk="1" hangingPunct="1">
              <a:lnSpc>
                <a:spcPct val="90000"/>
              </a:lnSpc>
              <a:buNone/>
            </a:pPr>
            <a:r>
              <a:rPr lang="zh-CN" altLang="en-US" sz="2000" b="1" dirty="0">
                <a:solidFill>
                  <a:schemeClr val="tx1"/>
                </a:solidFill>
              </a:rPr>
              <a:t>导通，反向后输出为“1”，反之</a:t>
            </a:r>
            <a:endParaRPr lang="zh-CN" altLang="en-US" sz="2000" b="1" dirty="0">
              <a:solidFill>
                <a:schemeClr val="tx1"/>
              </a:solidFill>
            </a:endParaRPr>
          </a:p>
          <a:p>
            <a:pPr eaLnBrk="1" hangingPunct="1">
              <a:lnSpc>
                <a:spcPct val="90000"/>
              </a:lnSpc>
              <a:buNone/>
            </a:pPr>
            <a:r>
              <a:rPr lang="zh-CN" altLang="en-US" sz="2000" b="1" dirty="0">
                <a:solidFill>
                  <a:schemeClr val="tx1"/>
                </a:solidFill>
              </a:rPr>
              <a:t>输出为“0”。</a:t>
            </a:r>
            <a:endParaRPr lang="zh-CN" altLang="en-US" sz="2000" b="1" dirty="0">
              <a:solidFill>
                <a:schemeClr val="tx1"/>
              </a:solidFill>
            </a:endParaRPr>
          </a:p>
          <a:p>
            <a:pPr eaLnBrk="1" hangingPunct="1">
              <a:lnSpc>
                <a:spcPct val="90000"/>
              </a:lnSpc>
              <a:buNone/>
            </a:pPr>
            <a:r>
              <a:rPr lang="zh-CN" altLang="en-US" sz="2400" b="1" dirty="0">
                <a:solidFill>
                  <a:srgbClr val="993366"/>
                </a:solidFill>
              </a:rPr>
              <a:t>掩摸式只读存储器：</a:t>
            </a:r>
            <a:endParaRPr lang="zh-CN" altLang="en-US" sz="2400" b="1" dirty="0">
              <a:solidFill>
                <a:srgbClr val="993366"/>
              </a:solidFill>
            </a:endParaRPr>
          </a:p>
          <a:p>
            <a:pPr eaLnBrk="1" hangingPunct="1">
              <a:lnSpc>
                <a:spcPct val="90000"/>
              </a:lnSpc>
              <a:buNone/>
            </a:pPr>
            <a:r>
              <a:rPr lang="zh-CN" altLang="en-US" sz="2400" b="1" dirty="0">
                <a:solidFill>
                  <a:schemeClr val="tx1"/>
                </a:solidFill>
              </a:rPr>
              <a:t>数据在芯片制造过程中就确定</a:t>
            </a:r>
            <a:r>
              <a:rPr lang="zh-CN" altLang="en-US" sz="2400" b="1" dirty="0">
                <a:solidFill>
                  <a:srgbClr val="FFFF80"/>
                </a:solidFill>
              </a:rPr>
              <a:t>　</a:t>
            </a:r>
            <a:endParaRPr lang="zh-CN" altLang="en-US" sz="2400" b="1" dirty="0">
              <a:solidFill>
                <a:srgbClr val="FFFF80"/>
              </a:solidFill>
            </a:endParaRPr>
          </a:p>
          <a:p>
            <a:pPr eaLnBrk="1" hangingPunct="1">
              <a:lnSpc>
                <a:spcPct val="90000"/>
              </a:lnSpc>
              <a:buNone/>
            </a:pPr>
            <a:r>
              <a:rPr lang="zh-CN" altLang="en-US" sz="2400" b="1" dirty="0">
                <a:solidFill>
                  <a:schemeClr val="tx1"/>
                </a:solidFill>
              </a:rPr>
              <a:t>优　点:可靠性和集成度高，价格便宜</a:t>
            </a:r>
            <a:endParaRPr lang="zh-CN" altLang="en-US" sz="2400" b="1" dirty="0">
              <a:solidFill>
                <a:schemeClr val="tx1"/>
              </a:solidFill>
            </a:endParaRPr>
          </a:p>
          <a:p>
            <a:pPr eaLnBrk="1" hangingPunct="1">
              <a:lnSpc>
                <a:spcPct val="90000"/>
              </a:lnSpc>
              <a:buNone/>
            </a:pPr>
            <a:r>
              <a:rPr lang="zh-CN" altLang="en-US" sz="2400" b="1" dirty="0">
                <a:solidFill>
                  <a:schemeClr val="tx1"/>
                </a:solidFill>
              </a:rPr>
              <a:t>缺　点:不能重写</a:t>
            </a:r>
            <a:endParaRPr lang="zh-CN" altLang="en-US" sz="1600" dirty="0"/>
          </a:p>
        </p:txBody>
      </p:sp>
      <p:pic>
        <p:nvPicPr>
          <p:cNvPr id="64515" name="Picture 3" descr="掩膜ROM"/>
          <p:cNvPicPr>
            <a:picLocks noChangeAspect="1"/>
          </p:cNvPicPr>
          <p:nvPr/>
        </p:nvPicPr>
        <p:blipFill>
          <a:blip r:embed="rId1">
            <a:lum contrast="18000"/>
          </a:blip>
          <a:srcRect b="8105"/>
          <a:stretch>
            <a:fillRect/>
          </a:stretch>
        </p:blipFill>
        <p:spPr>
          <a:xfrm>
            <a:off x="4213225" y="49213"/>
            <a:ext cx="4895850" cy="4462462"/>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body" idx="4294967295"/>
          </p:nvPr>
        </p:nvSpPr>
        <p:spPr>
          <a:xfrm>
            <a:off x="533400" y="1295400"/>
            <a:ext cx="5638800" cy="4876800"/>
          </a:xfrm>
          <a:ln/>
        </p:spPr>
        <p:txBody>
          <a:bodyPr vert="horz" wrap="square" lIns="91440" tIns="45720" rIns="91440" bIns="45720" anchor="t" anchorCtr="0"/>
          <a:p>
            <a:pPr eaLnBrk="1" hangingPunct="1">
              <a:lnSpc>
                <a:spcPct val="90000"/>
              </a:lnSpc>
              <a:buNone/>
            </a:pPr>
            <a:r>
              <a:rPr lang="zh-CN" altLang="en-US" sz="2800" b="1" dirty="0">
                <a:solidFill>
                  <a:schemeClr val="tx1"/>
                </a:solidFill>
              </a:rPr>
              <a:t>2.PROM</a:t>
            </a:r>
            <a:endParaRPr lang="zh-CN" altLang="en-US" sz="2800" b="1" dirty="0">
              <a:solidFill>
                <a:schemeClr val="tx1"/>
              </a:solidFill>
            </a:endParaRPr>
          </a:p>
          <a:p>
            <a:pPr eaLnBrk="1" hangingPunct="1">
              <a:lnSpc>
                <a:spcPct val="90000"/>
              </a:lnSpc>
              <a:buNone/>
            </a:pPr>
            <a:r>
              <a:rPr lang="zh-CN" altLang="en-US" sz="2400" b="1" dirty="0">
                <a:solidFill>
                  <a:srgbClr val="993366"/>
                </a:solidFill>
              </a:rPr>
              <a:t>特点:</a:t>
            </a:r>
            <a:r>
              <a:rPr lang="zh-CN" altLang="en-US" sz="2400" b="1" dirty="0">
                <a:solidFill>
                  <a:schemeClr val="tx1"/>
                </a:solidFill>
              </a:rPr>
              <a:t>用户可自行改变产品中</a:t>
            </a:r>
            <a:endParaRPr lang="zh-CN" altLang="en-US" sz="2400" b="1" dirty="0">
              <a:solidFill>
                <a:schemeClr val="tx1"/>
              </a:solidFill>
            </a:endParaRPr>
          </a:p>
          <a:p>
            <a:pPr eaLnBrk="1" hangingPunct="1">
              <a:lnSpc>
                <a:spcPct val="90000"/>
              </a:lnSpc>
              <a:buNone/>
            </a:pPr>
            <a:r>
              <a:rPr lang="zh-CN" altLang="en-US" sz="2400" b="1" dirty="0">
                <a:solidFill>
                  <a:schemeClr val="tx1"/>
                </a:solidFill>
              </a:rPr>
              <a:t>某些存储元，用户可编程一次。</a:t>
            </a:r>
            <a:endParaRPr lang="zh-CN" altLang="en-US" sz="2400" b="1" dirty="0">
              <a:solidFill>
                <a:schemeClr val="tx1"/>
              </a:solidFill>
            </a:endParaRPr>
          </a:p>
          <a:p>
            <a:pPr eaLnBrk="1" hangingPunct="1">
              <a:lnSpc>
                <a:spcPct val="90000"/>
              </a:lnSpc>
              <a:buNone/>
            </a:pPr>
            <a:endParaRPr lang="zh-CN" altLang="en-US" sz="2400" b="1" dirty="0">
              <a:solidFill>
                <a:schemeClr val="tx1"/>
              </a:solidFill>
            </a:endParaRPr>
          </a:p>
          <a:p>
            <a:pPr eaLnBrk="1" hangingPunct="1">
              <a:lnSpc>
                <a:spcPct val="90000"/>
              </a:lnSpc>
              <a:buNone/>
            </a:pPr>
            <a:r>
              <a:rPr lang="zh-CN" altLang="en-US" sz="2400" b="1" dirty="0">
                <a:solidFill>
                  <a:srgbClr val="993366"/>
                </a:solidFill>
              </a:rPr>
              <a:t>熔丝型PROM</a:t>
            </a:r>
            <a:endParaRPr lang="zh-CN" altLang="en-US" sz="2400" b="1" dirty="0">
              <a:solidFill>
                <a:srgbClr val="993366"/>
              </a:solidFill>
            </a:endParaRPr>
          </a:p>
          <a:p>
            <a:pPr eaLnBrk="1" hangingPunct="1">
              <a:lnSpc>
                <a:spcPct val="90000"/>
              </a:lnSpc>
              <a:buNone/>
            </a:pPr>
            <a:r>
              <a:rPr lang="zh-CN" altLang="en-US" sz="2400" b="1" dirty="0">
                <a:solidFill>
                  <a:schemeClr val="tx1"/>
                </a:solidFill>
              </a:rPr>
              <a:t>        多发射极管</a:t>
            </a:r>
            <a:endParaRPr lang="zh-CN" altLang="en-US" sz="2400" b="1" dirty="0">
              <a:solidFill>
                <a:schemeClr val="tx1"/>
              </a:solidFill>
            </a:endParaRPr>
          </a:p>
          <a:p>
            <a:pPr eaLnBrk="1" hangingPunct="1">
              <a:lnSpc>
                <a:spcPct val="90000"/>
              </a:lnSpc>
              <a:buNone/>
            </a:pPr>
            <a:r>
              <a:rPr lang="zh-CN" altLang="en-US" sz="2400" b="1" dirty="0">
                <a:solidFill>
                  <a:schemeClr val="tx1"/>
                </a:solidFill>
              </a:rPr>
              <a:t>        基极连选择线</a:t>
            </a:r>
            <a:endParaRPr lang="zh-CN" altLang="en-US" sz="2400" b="1" dirty="0">
              <a:solidFill>
                <a:schemeClr val="tx1"/>
              </a:solidFill>
            </a:endParaRPr>
          </a:p>
          <a:p>
            <a:pPr eaLnBrk="1" hangingPunct="1">
              <a:lnSpc>
                <a:spcPct val="90000"/>
              </a:lnSpc>
              <a:buNone/>
            </a:pPr>
            <a:r>
              <a:rPr lang="zh-CN" altLang="en-US" sz="2400" b="1" dirty="0">
                <a:solidFill>
                  <a:schemeClr val="tx1"/>
                </a:solidFill>
              </a:rPr>
              <a:t>        编程写入时，熔丝烧断</a:t>
            </a:r>
            <a:endParaRPr lang="zh-CN" altLang="en-US" sz="2400" b="1" dirty="0">
              <a:solidFill>
                <a:schemeClr val="tx1"/>
              </a:solidFill>
            </a:endParaRPr>
          </a:p>
          <a:p>
            <a:pPr eaLnBrk="1" hangingPunct="1">
              <a:lnSpc>
                <a:spcPct val="90000"/>
              </a:lnSpc>
              <a:buNone/>
            </a:pPr>
            <a:r>
              <a:rPr lang="zh-CN" altLang="en-US" sz="2400" b="1" dirty="0">
                <a:solidFill>
                  <a:schemeClr val="tx1"/>
                </a:solidFill>
              </a:rPr>
              <a:t>输出为“1”，不断为“0”。</a:t>
            </a:r>
            <a:endParaRPr lang="zh-CN" altLang="en-US" sz="2400" b="1" dirty="0">
              <a:solidFill>
                <a:schemeClr val="tx1"/>
              </a:solidFill>
            </a:endParaRPr>
          </a:p>
          <a:p>
            <a:pPr eaLnBrk="1" hangingPunct="1">
              <a:lnSpc>
                <a:spcPct val="90000"/>
              </a:lnSpc>
              <a:buNone/>
            </a:pPr>
            <a:r>
              <a:rPr lang="zh-CN" altLang="en-US" sz="2400" b="1" dirty="0">
                <a:solidFill>
                  <a:srgbClr val="993366"/>
                </a:solidFill>
              </a:rPr>
              <a:t>优　点:</a:t>
            </a:r>
            <a:r>
              <a:rPr lang="zh-CN" altLang="en-US" sz="2400" b="1" dirty="0">
                <a:solidFill>
                  <a:schemeClr val="tx1"/>
                </a:solidFill>
              </a:rPr>
              <a:t>可以根据用户需要编程</a:t>
            </a:r>
            <a:endParaRPr lang="zh-CN" altLang="en-US" sz="2400" b="1" dirty="0">
              <a:solidFill>
                <a:schemeClr val="tx1"/>
              </a:solidFill>
            </a:endParaRPr>
          </a:p>
          <a:p>
            <a:pPr eaLnBrk="1" hangingPunct="1">
              <a:lnSpc>
                <a:spcPct val="90000"/>
              </a:lnSpc>
              <a:buNone/>
            </a:pPr>
            <a:r>
              <a:rPr lang="zh-CN" altLang="en-US" sz="2400" b="1" dirty="0">
                <a:solidFill>
                  <a:srgbClr val="993366"/>
                </a:solidFill>
              </a:rPr>
              <a:t>缺　点:</a:t>
            </a:r>
            <a:r>
              <a:rPr lang="zh-CN" altLang="en-US" sz="2400" b="1" dirty="0">
                <a:solidFill>
                  <a:schemeClr val="tx1"/>
                </a:solidFill>
              </a:rPr>
              <a:t>只能一次性改写</a:t>
            </a:r>
            <a:endParaRPr lang="zh-CN" altLang="en-US" sz="2400" b="1" dirty="0">
              <a:solidFill>
                <a:schemeClr val="tx1"/>
              </a:solidFill>
            </a:endParaRPr>
          </a:p>
        </p:txBody>
      </p:sp>
      <p:pic>
        <p:nvPicPr>
          <p:cNvPr id="65539" name="Picture 3" descr="PROM"/>
          <p:cNvPicPr>
            <a:picLocks noChangeAspect="1"/>
          </p:cNvPicPr>
          <p:nvPr/>
        </p:nvPicPr>
        <p:blipFill>
          <a:blip r:embed="rId1">
            <a:lum contrast="24000"/>
          </a:blip>
          <a:srcRect b="6779"/>
          <a:stretch>
            <a:fillRect/>
          </a:stretch>
        </p:blipFill>
        <p:spPr>
          <a:xfrm>
            <a:off x="4800600" y="1143000"/>
            <a:ext cx="4038600" cy="41910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6562" name="Rectangle 2"/>
          <p:cNvSpPr>
            <a:spLocks noGrp="1"/>
          </p:cNvSpPr>
          <p:nvPr>
            <p:ph type="body" idx="4294967295"/>
          </p:nvPr>
        </p:nvSpPr>
        <p:spPr>
          <a:xfrm>
            <a:off x="230188" y="457200"/>
            <a:ext cx="8807450" cy="5943600"/>
          </a:xfrm>
          <a:ln/>
        </p:spPr>
        <p:txBody>
          <a:bodyPr vert="horz" wrap="square" lIns="91440" tIns="45720" rIns="91440" bIns="45720" anchor="t" anchorCtr="0"/>
          <a:p>
            <a:pPr marL="0" indent="0" defTabSz="914400" eaLnBrk="1" hangingPunct="1">
              <a:buNone/>
              <a:tabLst>
                <a:tab pos="3578225" algn="l"/>
              </a:tabLst>
            </a:pPr>
            <a:r>
              <a:rPr lang="zh-CN" altLang="en-US" sz="2400" b="1" dirty="0">
                <a:solidFill>
                  <a:schemeClr val="tx1"/>
                </a:solidFill>
              </a:rPr>
              <a:t>3.EPROM--可擦除可编程只读存储器</a:t>
            </a:r>
            <a:r>
              <a:rPr lang="zh-CN" altLang="en-US" sz="2000" dirty="0">
                <a:solidFill>
                  <a:schemeClr val="tx1"/>
                </a:solidFill>
                <a:latin typeface="Arial" panose="020B0604020202020204" pitchFamily="34" charset="0"/>
              </a:rPr>
              <a:t>（Erasible Programmable ROM)</a:t>
            </a:r>
            <a:endParaRPr lang="zh-CN" altLang="en-US" sz="2000" dirty="0">
              <a:solidFill>
                <a:schemeClr val="tx1"/>
              </a:solidFill>
              <a:latin typeface="Arial" panose="020B0604020202020204" pitchFamily="34" charset="0"/>
            </a:endParaRPr>
          </a:p>
          <a:p>
            <a:pPr marL="0" indent="0" defTabSz="914400" eaLnBrk="1" hangingPunct="1">
              <a:buNone/>
              <a:tabLst>
                <a:tab pos="3578225" algn="l"/>
              </a:tabLst>
            </a:pPr>
            <a:r>
              <a:rPr lang="zh-CN" altLang="en-US" sz="2000" b="1" dirty="0">
                <a:solidFill>
                  <a:schemeClr val="tx1"/>
                </a:solidFill>
              </a:rPr>
              <a:t>          可以用紫外光照射或电擦除原来的数据，然后再重新写入新的数据。</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rgbClr val="993366"/>
                </a:solidFill>
              </a:rPr>
              <a:t>优点：</a:t>
            </a:r>
            <a:r>
              <a:rPr lang="zh-CN" altLang="en-US" sz="2000" b="1" dirty="0">
                <a:solidFill>
                  <a:schemeClr val="tx1"/>
                </a:solidFill>
              </a:rPr>
              <a:t>可以多次改写ROM中的内容。</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rgbClr val="993366"/>
                </a:solidFill>
              </a:rPr>
              <a:t>基本存储元：</a:t>
            </a:r>
            <a:endParaRPr lang="zh-CN" altLang="en-US" sz="2000" b="1" dirty="0">
              <a:solidFill>
                <a:srgbClr val="993366"/>
              </a:solidFill>
            </a:endParaRPr>
          </a:p>
          <a:p>
            <a:pPr marL="0" indent="0" defTabSz="914400" eaLnBrk="1" hangingPunct="1">
              <a:buNone/>
              <a:tabLst>
                <a:tab pos="3578225" algn="l"/>
              </a:tabLst>
            </a:pPr>
            <a:r>
              <a:rPr lang="zh-CN" altLang="en-US" sz="2000" b="1" dirty="0">
                <a:solidFill>
                  <a:schemeClr val="tx1"/>
                </a:solidFill>
              </a:rPr>
              <a:t>        制造时，硅栅上无电荷，该管无</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chemeClr val="tx1"/>
                </a:solidFill>
              </a:rPr>
              <a:t>导电沟道，D，S间不导电，存“1”。</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chemeClr val="tx1"/>
                </a:solidFill>
              </a:rPr>
              <a:t>写“0”时，D，S间加25V高压，另加</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chemeClr val="tx1"/>
                </a:solidFill>
              </a:rPr>
              <a:t>编程脉冲，选中的单元D，S被瞬间</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chemeClr val="tx1"/>
                </a:solidFill>
              </a:rPr>
              <a:t>击穿，电子注入硅栅。高压去掉后，</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chemeClr val="tx1"/>
                </a:solidFill>
              </a:rPr>
              <a:t>因硅栅有绝缘层包围，电荷无法泄露</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chemeClr val="tx1"/>
                </a:solidFill>
              </a:rPr>
              <a:t>硅栅变负，形成导电沟道，存储元导</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chemeClr val="tx1"/>
                </a:solidFill>
              </a:rPr>
              <a:t>通，输出为“0”。</a:t>
            </a:r>
            <a:endParaRPr lang="zh-CN" altLang="en-US" sz="2000" b="1" dirty="0">
              <a:solidFill>
                <a:schemeClr val="tx1"/>
              </a:solidFill>
            </a:endParaRPr>
          </a:p>
          <a:p>
            <a:pPr marL="0" indent="0" defTabSz="914400" eaLnBrk="1" hangingPunct="1">
              <a:buNone/>
              <a:tabLst>
                <a:tab pos="3578225" algn="l"/>
              </a:tabLst>
            </a:pPr>
            <a:r>
              <a:rPr lang="zh-CN" altLang="en-US" sz="2000" b="1" dirty="0">
                <a:solidFill>
                  <a:schemeClr val="tx1"/>
                </a:solidFill>
              </a:rPr>
              <a:t>        衰减期很长，降到80%需100年。 用紫外光照射后，硅栅上的电荷形成光电流泄露，使电路恢复起始状态，变为“1”。</a:t>
            </a:r>
            <a:endParaRPr lang="zh-CN" altLang="en-US" sz="2000" b="1" dirty="0">
              <a:solidFill>
                <a:schemeClr val="tx1"/>
              </a:solidFill>
            </a:endParaRPr>
          </a:p>
        </p:txBody>
      </p:sp>
      <p:pic>
        <p:nvPicPr>
          <p:cNvPr id="66563" name="Picture 3" descr="EPROM"/>
          <p:cNvPicPr>
            <a:picLocks noChangeAspect="1"/>
          </p:cNvPicPr>
          <p:nvPr/>
        </p:nvPicPr>
        <p:blipFill>
          <a:blip r:embed="rId1"/>
          <a:srcRect b="13580"/>
          <a:stretch>
            <a:fillRect/>
          </a:stretch>
        </p:blipFill>
        <p:spPr>
          <a:xfrm>
            <a:off x="4429125" y="1270000"/>
            <a:ext cx="4562475" cy="3671888"/>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body" idx="4294967295"/>
          </p:nvPr>
        </p:nvSpPr>
        <p:spPr>
          <a:xfrm>
            <a:off x="323850" y="1917700"/>
            <a:ext cx="8004175" cy="3886200"/>
          </a:xfrm>
          <a:ln/>
        </p:spPr>
        <p:txBody>
          <a:bodyPr vert="horz" wrap="square" lIns="91440" tIns="45720" rIns="91440" bIns="45720" anchor="t" anchorCtr="0"/>
          <a:p>
            <a:pPr eaLnBrk="1" hangingPunct="1">
              <a:buNone/>
            </a:pPr>
            <a:r>
              <a:rPr lang="zh-CN" altLang="en-US" sz="2800" dirty="0"/>
              <a:t>         </a:t>
            </a:r>
            <a:r>
              <a:rPr lang="zh-CN" altLang="en-US" sz="2800" b="1" dirty="0"/>
              <a:t>E</a:t>
            </a:r>
            <a:r>
              <a:rPr lang="zh-CN" altLang="en-US" sz="2800" b="1" baseline="30000" dirty="0"/>
              <a:t>2</a:t>
            </a:r>
            <a:r>
              <a:rPr lang="zh-CN" altLang="en-US" sz="2800" b="1" dirty="0"/>
              <a:t>PROM 又记为EEPROM。在EPROM中的信息是用电的方式编程写入的，但要擦除它们要靠外界的紫外线照射才行。</a:t>
            </a:r>
            <a:endParaRPr lang="zh-CN" altLang="en-US" sz="2800" b="1" dirty="0"/>
          </a:p>
          <a:p>
            <a:pPr eaLnBrk="1" hangingPunct="1">
              <a:buNone/>
            </a:pPr>
            <a:r>
              <a:rPr lang="zh-CN" altLang="en-US" sz="2800" b="1" dirty="0"/>
              <a:t>        而E</a:t>
            </a:r>
            <a:r>
              <a:rPr lang="zh-CN" altLang="en-US" sz="2800" b="1" baseline="30000" dirty="0"/>
              <a:t>2</a:t>
            </a:r>
            <a:r>
              <a:rPr lang="zh-CN" altLang="en-US" sz="2800" b="1" dirty="0"/>
              <a:t>PROM由于其本身带有UPP编程电源，故可以使用单一的十 5V电源擦除和写入，而不必外加 UPP编程电源和紫外灯，使用十分方便。 </a:t>
            </a:r>
            <a:endParaRPr lang="zh-CN" altLang="en-US" sz="2800" b="1" dirty="0"/>
          </a:p>
        </p:txBody>
      </p:sp>
      <p:sp>
        <p:nvSpPr>
          <p:cNvPr id="67587" name="Rectangle 3"/>
          <p:cNvSpPr/>
          <p:nvPr>
            <p:ph type="title" idx="4294967295"/>
          </p:nvPr>
        </p:nvSpPr>
        <p:spPr>
          <a:xfrm>
            <a:off x="252413" y="1125538"/>
            <a:ext cx="8362950" cy="638175"/>
          </a:xfrm>
          <a:prstGeom prst="rect">
            <a:avLst/>
          </a:prstGeom>
          <a:noFill/>
          <a:ln w="9525">
            <a:noFill/>
          </a:ln>
        </p:spPr>
        <p:txBody>
          <a:bodyPr anchor="ctr" anchorCtr="0"/>
          <a:p>
            <a:pPr algn="l" eaLnBrk="1" hangingPunct="1"/>
            <a:r>
              <a:rPr lang="zh-CN" altLang="en-US" sz="2800" dirty="0">
                <a:cs typeface="Times New Roman" panose="02020603050405020304" pitchFamily="18" charset="0"/>
              </a:rPr>
              <a:t> 3.E</a:t>
            </a:r>
            <a:r>
              <a:rPr lang="zh-CN" altLang="en-US" sz="2800" baseline="30000" dirty="0">
                <a:cs typeface="Times New Roman" panose="02020603050405020304" pitchFamily="18" charset="0"/>
              </a:rPr>
              <a:t>2</a:t>
            </a:r>
            <a:r>
              <a:rPr lang="zh-CN" altLang="en-US" sz="2800" dirty="0">
                <a:cs typeface="Times New Roman" panose="02020603050405020304" pitchFamily="18" charset="0"/>
              </a:rPr>
              <a:t>PROM电可擦除电可改写只读存储器</a:t>
            </a:r>
            <a:endParaRPr lang="zh-CN" altLang="en-US" sz="2800" dirty="0">
              <a:ea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body" idx="4294967295"/>
          </p:nvPr>
        </p:nvSpPr>
        <p:spPr>
          <a:xfrm>
            <a:off x="250825" y="990600"/>
            <a:ext cx="7848600" cy="5105400"/>
          </a:xfrm>
          <a:ln/>
        </p:spPr>
        <p:txBody>
          <a:bodyPr vert="horz" wrap="square" lIns="91440" tIns="45720" rIns="91440" bIns="45720" anchor="t" anchorCtr="0"/>
          <a:p>
            <a:pPr eaLnBrk="1" hangingPunct="1">
              <a:buNone/>
            </a:pPr>
            <a:r>
              <a:rPr lang="zh-CN" altLang="en-US" b="1" dirty="0">
                <a:solidFill>
                  <a:schemeClr val="tx1"/>
                </a:solidFill>
              </a:rPr>
              <a:t>EEPROM 实例</a:t>
            </a:r>
            <a:endParaRPr lang="zh-CN" altLang="en-US" b="1" dirty="0">
              <a:solidFill>
                <a:schemeClr val="tx1"/>
              </a:solidFill>
            </a:endParaRPr>
          </a:p>
          <a:p>
            <a:pPr eaLnBrk="1" hangingPunct="1">
              <a:buNone/>
            </a:pPr>
            <a:endParaRPr lang="zh-CN" altLang="en-US" sz="2000" b="1" dirty="0">
              <a:solidFill>
                <a:schemeClr val="tx1"/>
              </a:solidFill>
            </a:endParaRPr>
          </a:p>
          <a:p>
            <a:pPr eaLnBrk="1" hangingPunct="1">
              <a:buNone/>
            </a:pPr>
            <a:r>
              <a:rPr lang="zh-CN" altLang="en-US" sz="2400" b="1" dirty="0">
                <a:solidFill>
                  <a:schemeClr val="tx1"/>
                </a:solidFill>
              </a:rPr>
              <a:t>2816（2K×8）</a:t>
            </a:r>
            <a:endParaRPr lang="zh-CN" altLang="en-US" sz="2400" b="1" dirty="0">
              <a:solidFill>
                <a:schemeClr val="tx1"/>
              </a:solidFill>
            </a:endParaRPr>
          </a:p>
          <a:p>
            <a:pPr eaLnBrk="1" hangingPunct="1">
              <a:buNone/>
            </a:pPr>
            <a:r>
              <a:rPr lang="zh-CN" altLang="en-US" sz="2400" b="1" dirty="0">
                <a:solidFill>
                  <a:schemeClr val="tx1"/>
                </a:solidFill>
              </a:rPr>
              <a:t>Vpp  脱机编程时加25V</a:t>
            </a:r>
            <a:endParaRPr lang="zh-CN" altLang="en-US" sz="2400" b="1" dirty="0">
              <a:solidFill>
                <a:schemeClr val="tx1"/>
              </a:solidFill>
            </a:endParaRPr>
          </a:p>
          <a:p>
            <a:pPr eaLnBrk="1" hangingPunct="1">
              <a:buNone/>
            </a:pPr>
            <a:r>
              <a:rPr lang="zh-CN" altLang="en-US" sz="2400" b="1" dirty="0">
                <a:solidFill>
                  <a:schemeClr val="tx1"/>
                </a:solidFill>
              </a:rPr>
              <a:t>         正常时加5V</a:t>
            </a:r>
            <a:endParaRPr lang="zh-CN" altLang="en-US" sz="2400" b="1" dirty="0">
              <a:solidFill>
                <a:schemeClr val="tx1"/>
              </a:solidFill>
            </a:endParaRPr>
          </a:p>
        </p:txBody>
      </p:sp>
      <p:pic>
        <p:nvPicPr>
          <p:cNvPr id="68611" name="Picture 3" descr="2716框图"/>
          <p:cNvPicPr>
            <a:picLocks noChangeAspect="1"/>
          </p:cNvPicPr>
          <p:nvPr/>
        </p:nvPicPr>
        <p:blipFill>
          <a:blip r:embed="rId1"/>
          <a:srcRect b="15361"/>
          <a:stretch>
            <a:fillRect/>
          </a:stretch>
        </p:blipFill>
        <p:spPr>
          <a:xfrm>
            <a:off x="3492500" y="1371600"/>
            <a:ext cx="5426075" cy="3641725"/>
          </a:xfrm>
          <a:prstGeom prst="rect">
            <a:avLst/>
          </a:prstGeom>
          <a:noFill/>
          <a:ln w="9525">
            <a:noFill/>
          </a:ln>
        </p:spPr>
      </p:pic>
      <p:sp>
        <p:nvSpPr>
          <p:cNvPr id="68612" name="Rectangle 4"/>
          <p:cNvSpPr/>
          <p:nvPr/>
        </p:nvSpPr>
        <p:spPr>
          <a:xfrm>
            <a:off x="3851275" y="5029200"/>
            <a:ext cx="4800600" cy="38100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rgbClr val="CCFFFF"/>
                </a:solidFill>
              </a:rPr>
              <a:t>2816</a:t>
            </a:r>
            <a:endParaRPr lang="zh-CN" altLang="en-US" sz="2400" dirty="0">
              <a:solidFill>
                <a:srgbClr val="CCFFFF"/>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body" idx="4294967295"/>
          </p:nvPr>
        </p:nvSpPr>
        <p:spPr>
          <a:xfrm>
            <a:off x="685800" y="1828800"/>
            <a:ext cx="7772400" cy="4267200"/>
          </a:xfrm>
          <a:ln/>
        </p:spPr>
        <p:txBody>
          <a:bodyPr vert="horz" wrap="square" lIns="91440" tIns="45720" rIns="91440" bIns="45720" anchor="t" anchorCtr="0"/>
          <a:p>
            <a:pPr eaLnBrk="1" hangingPunct="1"/>
            <a:r>
              <a:rPr lang="zh-CN" altLang="en-US" b="1" dirty="0"/>
              <a:t>EEPROM芯片种类很多，如 2816，2732，2764，27128，27256，27512等。</a:t>
            </a:r>
            <a:endParaRPr lang="zh-CN" altLang="en-US" b="1" dirty="0"/>
          </a:p>
          <a:p>
            <a:pPr eaLnBrk="1" hangingPunct="1"/>
            <a:r>
              <a:rPr lang="zh-CN" altLang="en-US" b="1" dirty="0"/>
              <a:t>它们之间的区别在于存储容量的不同。2816是2K</a:t>
            </a:r>
            <a:r>
              <a:rPr lang="zh-CN" altLang="en-US" b="1" dirty="0">
                <a:ea typeface="楷体_GB2312" pitchFamily="1" charset="-122"/>
              </a:rPr>
              <a:t>×</a:t>
            </a:r>
            <a:r>
              <a:rPr lang="zh-CN" altLang="en-US" b="1" dirty="0"/>
              <a:t>8位，而27256为32K</a:t>
            </a:r>
            <a:r>
              <a:rPr lang="zh-CN" altLang="en-US" b="1" dirty="0">
                <a:ea typeface="楷体_GB2312" pitchFamily="1" charset="-122"/>
              </a:rPr>
              <a:t>×</a:t>
            </a:r>
            <a:r>
              <a:rPr lang="zh-CN" altLang="en-US" b="1" dirty="0"/>
              <a:t>8位。 </a:t>
            </a:r>
            <a:endParaRPr lang="zh-CN" altLang="en-US"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body" idx="4294967295"/>
          </p:nvPr>
        </p:nvSpPr>
        <p:spPr>
          <a:xfrm>
            <a:off x="304800" y="1981200"/>
            <a:ext cx="8458200" cy="4191000"/>
          </a:xfrm>
          <a:ln/>
        </p:spPr>
        <p:txBody>
          <a:bodyPr vert="horz" wrap="square" lIns="91440" tIns="45720" rIns="91440" bIns="45720" anchor="t" anchorCtr="0"/>
          <a:p>
            <a:pPr algn="just" eaLnBrk="1" hangingPunct="1">
              <a:lnSpc>
                <a:spcPct val="90000"/>
              </a:lnSpc>
              <a:buNone/>
            </a:pPr>
            <a:r>
              <a:rPr lang="zh-CN" altLang="en-US" sz="2800" b="1" dirty="0">
                <a:solidFill>
                  <a:schemeClr val="tx1"/>
                </a:solidFill>
              </a:rPr>
              <a:t>           闪速存储器（</a:t>
            </a:r>
            <a:r>
              <a:rPr lang="zh-CN" altLang="en-US" sz="2800" dirty="0">
                <a:solidFill>
                  <a:srgbClr val="993366"/>
                </a:solidFill>
              </a:rPr>
              <a:t>Flash Memory</a:t>
            </a:r>
            <a:r>
              <a:rPr lang="zh-CN" altLang="en-US" sz="2800" b="1" dirty="0">
                <a:solidFill>
                  <a:schemeClr val="tx1"/>
                </a:solidFill>
              </a:rPr>
              <a:t>）</a:t>
            </a:r>
            <a:r>
              <a:rPr lang="zh-CN" altLang="en-US" sz="2800" b="1" dirty="0"/>
              <a:t>是一种快擦写存储器，也是一种具有不挥发性的存储器，可以在线进行擦除和重写。目前其集成度和价格已接近EEPROM，因而它是 EPROM和E</a:t>
            </a:r>
            <a:r>
              <a:rPr lang="zh-CN" altLang="en-US" sz="2800" b="1" baseline="30000" dirty="0"/>
              <a:t>2</a:t>
            </a:r>
            <a:r>
              <a:rPr lang="zh-CN" altLang="en-US" sz="2800" b="1" dirty="0"/>
              <a:t>PROM的理想替代器件。</a:t>
            </a:r>
            <a:endParaRPr lang="zh-CN" altLang="en-US" sz="2800" b="1" dirty="0"/>
          </a:p>
          <a:p>
            <a:pPr algn="just" eaLnBrk="1" hangingPunct="1">
              <a:lnSpc>
                <a:spcPct val="90000"/>
              </a:lnSpc>
              <a:buNone/>
            </a:pPr>
            <a:r>
              <a:rPr lang="zh-CN" altLang="en-US" sz="2800" b="1" dirty="0"/>
              <a:t>            Flash Memory与E</a:t>
            </a:r>
            <a:r>
              <a:rPr lang="zh-CN" altLang="en-US" sz="2800" b="1" baseline="30000" dirty="0"/>
              <a:t>2</a:t>
            </a:r>
            <a:r>
              <a:rPr lang="zh-CN" altLang="en-US" sz="2800" b="1" dirty="0"/>
              <a:t>PROM的逻辑结构相似，是在它的基础上制作的，最主要的</a:t>
            </a:r>
            <a:r>
              <a:rPr lang="zh-CN" altLang="en-US" sz="2800" b="1" dirty="0">
                <a:solidFill>
                  <a:srgbClr val="993366"/>
                </a:solidFill>
              </a:rPr>
              <a:t>区别在于存储元的结构和制作工艺</a:t>
            </a:r>
            <a:r>
              <a:rPr lang="zh-CN" altLang="en-US" sz="2800" b="1" dirty="0"/>
              <a:t>。</a:t>
            </a:r>
            <a:endParaRPr lang="zh-CN" altLang="en-US" sz="2800" b="1" dirty="0"/>
          </a:p>
          <a:p>
            <a:pPr algn="just" eaLnBrk="1" hangingPunct="1">
              <a:lnSpc>
                <a:spcPct val="90000"/>
              </a:lnSpc>
              <a:buNone/>
            </a:pPr>
            <a:r>
              <a:rPr lang="zh-CN" altLang="en-US" sz="2800" b="1" dirty="0"/>
              <a:t>            EEPROM可以进行字节擦除，而Flash Memory 不能按字节擦除，只能整片擦除。</a:t>
            </a:r>
            <a:endParaRPr lang="zh-CN" altLang="en-US" sz="2800" b="1" dirty="0"/>
          </a:p>
        </p:txBody>
      </p:sp>
      <p:pic>
        <p:nvPicPr>
          <p:cNvPr id="70659" name="Picture 3" descr="优盘图"/>
          <p:cNvPicPr>
            <a:picLocks noChangeAspect="1"/>
          </p:cNvPicPr>
          <p:nvPr/>
        </p:nvPicPr>
        <p:blipFill>
          <a:blip r:embed="rId1"/>
          <a:stretch>
            <a:fillRect/>
          </a:stretch>
        </p:blipFill>
        <p:spPr>
          <a:xfrm>
            <a:off x="6477000" y="0"/>
            <a:ext cx="2667000" cy="2000250"/>
          </a:xfrm>
          <a:prstGeom prst="rect">
            <a:avLst/>
          </a:prstGeom>
          <a:noFill/>
          <a:ln w="9525">
            <a:noFill/>
          </a:ln>
        </p:spPr>
      </p:pic>
      <p:sp>
        <p:nvSpPr>
          <p:cNvPr id="70660" name="Rectangle 4"/>
          <p:cNvSpPr/>
          <p:nvPr/>
        </p:nvSpPr>
        <p:spPr>
          <a:xfrm>
            <a:off x="533400" y="1035050"/>
            <a:ext cx="4791075"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3600" dirty="0">
                <a:solidFill>
                  <a:srgbClr val="993366"/>
                </a:solidFill>
                <a:latin typeface="Verdana" panose="020B0604030504040204" pitchFamily="34" charset="0"/>
              </a:rPr>
              <a:t>3.</a:t>
            </a:r>
            <a:r>
              <a:rPr lang="en-US" altLang="zh-CN" sz="3600" dirty="0">
                <a:solidFill>
                  <a:srgbClr val="993366"/>
                </a:solidFill>
                <a:latin typeface="Verdana" panose="020B0604030504040204" pitchFamily="34" charset="0"/>
              </a:rPr>
              <a:t>4</a:t>
            </a:r>
            <a:r>
              <a:rPr lang="zh-CN" altLang="en-US" sz="3600" dirty="0">
                <a:solidFill>
                  <a:srgbClr val="993366"/>
                </a:solidFill>
                <a:latin typeface="Verdana" panose="020B0604030504040204" pitchFamily="34" charset="0"/>
              </a:rPr>
              <a:t>.2 Flash Memory</a:t>
            </a:r>
            <a:endParaRPr lang="zh-CN" altLang="en-US" sz="3600" dirty="0">
              <a:solidFill>
                <a:srgbClr val="993366"/>
              </a:solidFill>
              <a:latin typeface="Verdana" panose="020B060403050404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body" idx="4294967295"/>
          </p:nvPr>
        </p:nvSpPr>
        <p:spPr>
          <a:xfrm>
            <a:off x="685800" y="1838325"/>
            <a:ext cx="7772400" cy="4114800"/>
          </a:xfrm>
          <a:ln/>
        </p:spPr>
        <p:txBody>
          <a:bodyPr vert="horz" wrap="square" lIns="91440" tIns="45720" rIns="91440" bIns="45720" anchor="t" anchorCtr="0"/>
          <a:p>
            <a:pPr eaLnBrk="1" hangingPunct="1"/>
            <a:r>
              <a:rPr lang="zh-CN" altLang="en-US" b="1" dirty="0">
                <a:solidFill>
                  <a:srgbClr val="0000FF"/>
                </a:solidFill>
              </a:rPr>
              <a:t>闪速存储器：是一种高密度的、非易失性的读写半导体存储器。</a:t>
            </a:r>
            <a:endParaRPr lang="zh-CN" altLang="en-US" b="1" dirty="0">
              <a:solidFill>
                <a:srgbClr val="0000FF"/>
              </a:solidFill>
            </a:endParaRPr>
          </a:p>
          <a:p>
            <a:pPr eaLnBrk="1" hangingPunct="1">
              <a:buNone/>
            </a:pPr>
            <a:r>
              <a:rPr lang="zh-CN" altLang="en-US" b="1" dirty="0">
                <a:solidFill>
                  <a:srgbClr val="0000FF"/>
                </a:solidFill>
              </a:rPr>
              <a:t>特点：1.固有的非易失性</a:t>
            </a:r>
            <a:endParaRPr lang="zh-CN" altLang="en-US" b="1" dirty="0">
              <a:solidFill>
                <a:srgbClr val="0000FF"/>
              </a:solidFill>
            </a:endParaRPr>
          </a:p>
          <a:p>
            <a:pPr eaLnBrk="1" hangingPunct="1">
              <a:buNone/>
            </a:pPr>
            <a:r>
              <a:rPr lang="zh-CN" altLang="en-US" b="1" dirty="0">
                <a:solidFill>
                  <a:srgbClr val="0000FF"/>
                </a:solidFill>
              </a:rPr>
              <a:t>            2.廉价的高密度</a:t>
            </a:r>
            <a:endParaRPr lang="zh-CN" altLang="en-US" b="1" dirty="0">
              <a:solidFill>
                <a:srgbClr val="0000FF"/>
              </a:solidFill>
            </a:endParaRPr>
          </a:p>
          <a:p>
            <a:pPr eaLnBrk="1" hangingPunct="1">
              <a:buNone/>
            </a:pPr>
            <a:r>
              <a:rPr lang="zh-CN" altLang="en-US" b="1" dirty="0">
                <a:solidFill>
                  <a:srgbClr val="0000FF"/>
                </a:solidFill>
              </a:rPr>
              <a:t>            3.可直接执行</a:t>
            </a:r>
            <a:endParaRPr lang="zh-CN" altLang="en-US" b="1" dirty="0">
              <a:solidFill>
                <a:srgbClr val="0000FF"/>
              </a:solidFill>
            </a:endParaRPr>
          </a:p>
          <a:p>
            <a:pPr eaLnBrk="1" hangingPunct="1">
              <a:buNone/>
            </a:pPr>
            <a:r>
              <a:rPr lang="zh-CN" altLang="en-US" b="1" dirty="0">
                <a:solidFill>
                  <a:srgbClr val="0000FF"/>
                </a:solidFill>
              </a:rPr>
              <a:t>            4.固态性能 </a:t>
            </a:r>
            <a:endParaRPr lang="zh-CN" altLang="en-US" b="1" dirty="0">
              <a:solidFill>
                <a:srgbClr val="0000FF"/>
              </a:solidFill>
            </a:endParaRPr>
          </a:p>
          <a:p>
            <a:pPr eaLnBrk="1" hangingPunct="1">
              <a:buNone/>
            </a:pPr>
            <a:r>
              <a:rPr lang="zh-CN" altLang="en-US" b="1" dirty="0">
                <a:solidFill>
                  <a:srgbClr val="0000FF"/>
                </a:solidFill>
              </a:rPr>
              <a:t>            5.高传输率  </a:t>
            </a:r>
            <a:endParaRPr lang="zh-CN" altLang="en-US" b="1" dirty="0">
              <a:solidFill>
                <a:srgbClr val="0000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3730" name="Picture 2" descr="闪存逻辑方框图"/>
          <p:cNvPicPr>
            <a:picLocks noChangeAspect="1"/>
          </p:cNvPicPr>
          <p:nvPr/>
        </p:nvPicPr>
        <p:blipFill>
          <a:blip r:embed="rId1"/>
          <a:stretch>
            <a:fillRect/>
          </a:stretch>
        </p:blipFill>
        <p:spPr>
          <a:xfrm>
            <a:off x="323850" y="0"/>
            <a:ext cx="8532813" cy="6783388"/>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body" idx="4294967295"/>
          </p:nvPr>
        </p:nvSpPr>
        <p:spPr>
          <a:xfrm>
            <a:off x="381000" y="1219200"/>
            <a:ext cx="8305800" cy="4953000"/>
          </a:xfrm>
          <a:ln/>
        </p:spPr>
        <p:txBody>
          <a:bodyPr vert="horz" wrap="square" lIns="91440" tIns="45720" rIns="91440" bIns="45720" anchor="t" anchorCtr="0"/>
          <a:p>
            <a:pPr eaLnBrk="1" hangingPunct="1"/>
            <a:r>
              <a:rPr lang="zh-CN" altLang="en-US" b="1" dirty="0"/>
              <a:t>闪速存储器的工作原理</a:t>
            </a:r>
            <a:endParaRPr lang="zh-CN" altLang="en-US" b="1" dirty="0"/>
          </a:p>
          <a:p>
            <a:pPr eaLnBrk="1" hangingPunct="1">
              <a:buNone/>
            </a:pPr>
            <a:r>
              <a:rPr lang="zh-CN" altLang="en-US" b="1" dirty="0">
                <a:latin typeface="楷体_GB2312" pitchFamily="1" charset="-122"/>
                <a:ea typeface="楷体_GB2312" pitchFamily="1" charset="-122"/>
              </a:rPr>
              <a:t>    闪速存储器是在EEPROM功能基础上增加了电路的电擦除和重新编程能力。芯片引入一个</a:t>
            </a:r>
            <a:r>
              <a:rPr lang="zh-CN" altLang="en-US" b="1" dirty="0">
                <a:solidFill>
                  <a:srgbClr val="993366"/>
                </a:solidFill>
                <a:latin typeface="楷体_GB2312" pitchFamily="1" charset="-122"/>
                <a:ea typeface="楷体_GB2312" pitchFamily="1" charset="-122"/>
              </a:rPr>
              <a:t>指令寄存器</a:t>
            </a:r>
            <a:r>
              <a:rPr lang="zh-CN" altLang="en-US" b="1" dirty="0">
                <a:latin typeface="楷体_GB2312" pitchFamily="1" charset="-122"/>
                <a:ea typeface="楷体_GB2312" pitchFamily="1" charset="-122"/>
              </a:rPr>
              <a:t>来实现这种功能。其作用是</a:t>
            </a:r>
            <a:r>
              <a:rPr lang="zh-CN" altLang="en-US" b="1" dirty="0"/>
              <a:t>：</a:t>
            </a:r>
            <a:endParaRPr lang="zh-CN" altLang="en-US" b="1" dirty="0"/>
          </a:p>
          <a:p>
            <a:pPr eaLnBrk="1" hangingPunct="1">
              <a:buNone/>
            </a:pPr>
            <a:r>
              <a:rPr lang="zh-CN" altLang="en-US" b="1" dirty="0"/>
              <a:t>　</a:t>
            </a:r>
            <a:r>
              <a:rPr lang="zh-CN" altLang="en-US" b="1" dirty="0">
                <a:solidFill>
                  <a:schemeClr val="tx1"/>
                </a:solidFill>
                <a:latin typeface="楷体_GB2312" pitchFamily="1" charset="-122"/>
                <a:ea typeface="楷体_GB2312" pitchFamily="1" charset="-122"/>
              </a:rPr>
              <a:t>　(1)保证TTL电平的控制信号输入；</a:t>
            </a:r>
            <a:endParaRPr lang="zh-CN" altLang="en-US" b="1" dirty="0">
              <a:solidFill>
                <a:schemeClr val="tx1"/>
              </a:solidFill>
              <a:latin typeface="楷体_GB2312" pitchFamily="1" charset="-122"/>
              <a:ea typeface="楷体_GB2312" pitchFamily="1" charset="-122"/>
            </a:endParaRPr>
          </a:p>
          <a:p>
            <a:pPr eaLnBrk="1" hangingPunct="1">
              <a:buNone/>
            </a:pPr>
            <a:r>
              <a:rPr lang="zh-CN" altLang="en-US" b="1" dirty="0">
                <a:solidFill>
                  <a:schemeClr val="tx1"/>
                </a:solidFill>
                <a:latin typeface="楷体_GB2312" pitchFamily="1" charset="-122"/>
                <a:ea typeface="楷体_GB2312" pitchFamily="1" charset="-122"/>
              </a:rPr>
              <a:t>　　(2)在擦除和编程过程中稳定供电；</a:t>
            </a:r>
            <a:endParaRPr lang="zh-CN" altLang="en-US" b="1" dirty="0">
              <a:solidFill>
                <a:schemeClr val="tx1"/>
              </a:solidFill>
              <a:latin typeface="楷体_GB2312" pitchFamily="1" charset="-122"/>
              <a:ea typeface="楷体_GB2312" pitchFamily="1" charset="-122"/>
            </a:endParaRPr>
          </a:p>
          <a:p>
            <a:pPr eaLnBrk="1" hangingPunct="1">
              <a:buNone/>
            </a:pPr>
            <a:r>
              <a:rPr lang="zh-CN" altLang="en-US" b="1" dirty="0">
                <a:solidFill>
                  <a:schemeClr val="tx1"/>
                </a:solidFill>
                <a:latin typeface="楷体_GB2312" pitchFamily="1" charset="-122"/>
                <a:ea typeface="楷体_GB2312" pitchFamily="1" charset="-122"/>
              </a:rPr>
              <a:t>　　(3)最大限度的与EEPROM兼容。</a:t>
            </a:r>
            <a:endParaRPr lang="zh-CN" altLang="en-US" sz="2800" b="1" dirty="0">
              <a:solidFill>
                <a:schemeClr val="tx1"/>
              </a:solidFill>
              <a:latin typeface="楷体_GB2312" pitchFamily="1" charset="-122"/>
              <a:ea typeface="楷体_GB2312" pitchFamily="1"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5778" name="Picture 2" descr="闪存逻辑方框图"/>
          <p:cNvPicPr>
            <a:picLocks noChangeAspect="1"/>
          </p:cNvPicPr>
          <p:nvPr/>
        </p:nvPicPr>
        <p:blipFill>
          <a:blip r:embed="rId1"/>
          <a:stretch>
            <a:fillRect/>
          </a:stretch>
        </p:blipFill>
        <p:spPr>
          <a:xfrm>
            <a:off x="3200400" y="1295400"/>
            <a:ext cx="5943600" cy="4724400"/>
          </a:xfrm>
          <a:prstGeom prst="rect">
            <a:avLst/>
          </a:prstGeom>
          <a:noFill/>
          <a:ln w="9525">
            <a:noFill/>
          </a:ln>
        </p:spPr>
      </p:pic>
      <p:sp>
        <p:nvSpPr>
          <p:cNvPr id="75779" name="Rectangle 3"/>
          <p:cNvSpPr/>
          <p:nvPr/>
        </p:nvSpPr>
        <p:spPr>
          <a:xfrm>
            <a:off x="0" y="981075"/>
            <a:ext cx="3352800" cy="5251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lnSpc>
                <a:spcPct val="90000"/>
              </a:lnSpc>
            </a:pPr>
            <a:r>
              <a:rPr lang="zh-CN" altLang="en-US" sz="2600" b="1" dirty="0"/>
              <a:t>当V</a:t>
            </a:r>
            <a:r>
              <a:rPr lang="zh-CN" altLang="en-US" sz="2600" b="1" baseline="-25000" dirty="0"/>
              <a:t>PP</a:t>
            </a:r>
            <a:r>
              <a:rPr lang="zh-CN" altLang="en-US" sz="2600" b="1" dirty="0"/>
              <a:t>引脚不加高电压时，它只是一个只读存储器。</a:t>
            </a:r>
            <a:endParaRPr lang="zh-CN" altLang="en-US" sz="2600" b="1" dirty="0"/>
          </a:p>
          <a:p>
            <a:pPr marL="0" lvl="0" indent="0" eaLnBrk="1" hangingPunct="1">
              <a:lnSpc>
                <a:spcPct val="90000"/>
              </a:lnSpc>
            </a:pPr>
            <a:r>
              <a:rPr lang="zh-CN" altLang="en-US" sz="2600" b="1" dirty="0"/>
              <a:t>当V</a:t>
            </a:r>
            <a:r>
              <a:rPr lang="zh-CN" altLang="en-US" sz="2600" b="1" baseline="-25000" dirty="0"/>
              <a:t>PP</a:t>
            </a:r>
            <a:r>
              <a:rPr lang="zh-CN" altLang="en-US" sz="2600" b="1" dirty="0"/>
              <a:t>引脚加上高电压时，除实现EEPROM通常操作外，通过指令寄存器，可以实现存储器内容的变更。</a:t>
            </a:r>
            <a:endParaRPr lang="zh-CN" altLang="en-US" sz="2600" b="1" dirty="0"/>
          </a:p>
          <a:p>
            <a:pPr marL="0" lvl="0" indent="0" eaLnBrk="1" hangingPunct="1">
              <a:lnSpc>
                <a:spcPct val="90000"/>
              </a:lnSpc>
            </a:pPr>
            <a:r>
              <a:rPr lang="zh-CN" altLang="en-US" sz="2600" b="1" dirty="0"/>
              <a:t>当V</a:t>
            </a:r>
            <a:r>
              <a:rPr lang="zh-CN" altLang="en-US" sz="2600" b="1" baseline="-25000" dirty="0"/>
              <a:t>PP</a:t>
            </a:r>
            <a:r>
              <a:rPr lang="zh-CN" altLang="en-US" sz="2600" b="1" dirty="0"/>
              <a:t>=V</a:t>
            </a:r>
            <a:r>
              <a:rPr lang="zh-CN" altLang="en-US" sz="2600" b="1" baseline="-25000" dirty="0"/>
              <a:t>PPL</a:t>
            </a:r>
            <a:r>
              <a:rPr lang="zh-CN" altLang="en-US" sz="2600" b="1" dirty="0"/>
              <a:t>时，指令寄存器的内容为读指令，使28F256A成为只读存储器，称为</a:t>
            </a:r>
            <a:r>
              <a:rPr lang="zh-CN" altLang="en-US" sz="2600" b="1" dirty="0">
                <a:solidFill>
                  <a:srgbClr val="993366"/>
                </a:solidFill>
              </a:rPr>
              <a:t>写保护</a:t>
            </a:r>
            <a:r>
              <a:rPr lang="zh-CN" altLang="en-US" sz="2600" b="1" dirty="0"/>
              <a:t>。</a:t>
            </a:r>
            <a:endParaRPr lang="zh-CN" altLang="en-US" sz="2600" b="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body" idx="4294967295"/>
          </p:nvPr>
        </p:nvSpPr>
        <p:spPr>
          <a:xfrm>
            <a:off x="179388" y="1295400"/>
            <a:ext cx="8839200" cy="4800600"/>
          </a:xfrm>
          <a:ln/>
        </p:spPr>
        <p:txBody>
          <a:bodyPr vert="horz" wrap="square" lIns="91440" tIns="45720" rIns="91440" bIns="45720" anchor="t" anchorCtr="0"/>
          <a:p>
            <a:pPr eaLnBrk="1" hangingPunct="1">
              <a:lnSpc>
                <a:spcPct val="90000"/>
              </a:lnSpc>
            </a:pPr>
            <a:r>
              <a:rPr lang="zh-CN" altLang="en-US" sz="2800" b="1" dirty="0"/>
              <a:t>闪速存储器的工作模式</a:t>
            </a:r>
            <a:endParaRPr lang="zh-CN" altLang="en-US" sz="2800" b="1" dirty="0"/>
          </a:p>
          <a:p>
            <a:pPr eaLnBrk="1" hangingPunct="1">
              <a:lnSpc>
                <a:spcPct val="90000"/>
              </a:lnSpc>
            </a:pPr>
            <a:r>
              <a:rPr lang="zh-CN" altLang="en-US" sz="2800" b="1" dirty="0">
                <a:solidFill>
                  <a:srgbClr val="FF80C0"/>
                </a:solidFill>
              </a:rPr>
              <a:t>读操作</a:t>
            </a:r>
            <a:r>
              <a:rPr lang="zh-CN" altLang="en-US" sz="2800" b="1" dirty="0"/>
              <a:t>:片选信号CE是供电控制端，输出允许信号OE用于控制数据从输出引脚的输出。只有这两个信号同时有效时，才能实现数据输出。</a:t>
            </a:r>
            <a:endParaRPr lang="zh-CN" altLang="en-US" sz="2800" b="1" dirty="0"/>
          </a:p>
          <a:p>
            <a:pPr eaLnBrk="1" hangingPunct="1">
              <a:lnSpc>
                <a:spcPct val="90000"/>
              </a:lnSpc>
            </a:pPr>
            <a:r>
              <a:rPr lang="zh-CN" altLang="en-US" sz="2800" b="1" dirty="0">
                <a:solidFill>
                  <a:srgbClr val="FF80C0"/>
                </a:solidFill>
              </a:rPr>
              <a:t>输出禁止操作</a:t>
            </a:r>
            <a:r>
              <a:rPr lang="zh-CN" altLang="en-US" sz="2800" b="1" dirty="0"/>
              <a:t>:当输出允许控制端OE处于高电平时，28F256A被禁止输出，输出引脚置于高阻状态。</a:t>
            </a:r>
            <a:endParaRPr lang="zh-CN" altLang="en-US" sz="2800" b="1" dirty="0"/>
          </a:p>
          <a:p>
            <a:pPr eaLnBrk="1" hangingPunct="1">
              <a:lnSpc>
                <a:spcPct val="90000"/>
              </a:lnSpc>
            </a:pPr>
            <a:r>
              <a:rPr lang="zh-CN" altLang="en-US" sz="2800" b="1" dirty="0">
                <a:solidFill>
                  <a:srgbClr val="FF80C0"/>
                </a:solidFill>
              </a:rPr>
              <a:t>等待操作</a:t>
            </a:r>
            <a:r>
              <a:rPr lang="zh-CN" altLang="en-US" sz="2800" b="1" dirty="0"/>
              <a:t>:当片选信号CE处于逻辑高电平时，等待操作抑制了28F256A的大部分电路，减少器件功耗。</a:t>
            </a:r>
            <a:endParaRPr lang="zh-CN" altLang="en-US" sz="2800" b="1" dirty="0"/>
          </a:p>
          <a:p>
            <a:pPr eaLnBrk="1" hangingPunct="1">
              <a:lnSpc>
                <a:spcPct val="90000"/>
              </a:lnSpc>
            </a:pPr>
            <a:r>
              <a:rPr lang="zh-CN" altLang="en-US" sz="2800" b="1" dirty="0">
                <a:solidFill>
                  <a:srgbClr val="FF80C0"/>
                </a:solidFill>
              </a:rPr>
              <a:t>写操作</a:t>
            </a:r>
            <a:r>
              <a:rPr lang="zh-CN" altLang="en-US" sz="2800" b="1" dirty="0"/>
              <a:t>:当V</a:t>
            </a:r>
            <a:r>
              <a:rPr lang="zh-CN" altLang="en-US" sz="2800" b="1" baseline="-25000" dirty="0"/>
              <a:t>PP</a:t>
            </a:r>
            <a:r>
              <a:rPr lang="zh-CN" altLang="en-US" sz="2800" b="1" dirty="0"/>
              <a:t>为高电压时，通过指令寄存器实现器件的擦除和编程 。当CE=0且WE=0时，通过写周期对指令寄存器进行写入。</a:t>
            </a:r>
            <a:endParaRPr lang="zh-CN" altLang="en-US" sz="2800" b="1" dirty="0"/>
          </a:p>
        </p:txBody>
      </p:sp>
      <p:sp>
        <p:nvSpPr>
          <p:cNvPr id="76803" name="Line 3"/>
          <p:cNvSpPr/>
          <p:nvPr/>
        </p:nvSpPr>
        <p:spPr>
          <a:xfrm>
            <a:off x="3635375" y="5157788"/>
            <a:ext cx="381000" cy="0"/>
          </a:xfrm>
          <a:prstGeom prst="line">
            <a:avLst/>
          </a:prstGeom>
          <a:ln w="9525" cap="flat" cmpd="sng">
            <a:solidFill>
              <a:schemeClr val="tx1"/>
            </a:solidFill>
            <a:prstDash val="solid"/>
            <a:headEnd type="none" w="med" len="med"/>
            <a:tailEnd type="none" w="med" len="med"/>
          </a:ln>
        </p:spPr>
      </p:sp>
      <p:sp>
        <p:nvSpPr>
          <p:cNvPr id="76804" name="Line 4"/>
          <p:cNvSpPr/>
          <p:nvPr/>
        </p:nvSpPr>
        <p:spPr>
          <a:xfrm>
            <a:off x="4854575" y="5157788"/>
            <a:ext cx="381000" cy="0"/>
          </a:xfrm>
          <a:prstGeom prst="line">
            <a:avLst/>
          </a:prstGeom>
          <a:ln w="9525" cap="flat" cmpd="sng">
            <a:solidFill>
              <a:schemeClr val="tx1"/>
            </a:solidFill>
            <a:prstDash val="solid"/>
            <a:headEnd type="none" w="med" len="med"/>
            <a:tailEnd type="none" w="med" len="med"/>
          </a:ln>
        </p:spPr>
      </p:sp>
      <p:sp>
        <p:nvSpPr>
          <p:cNvPr id="76805" name="Line 5"/>
          <p:cNvSpPr/>
          <p:nvPr/>
        </p:nvSpPr>
        <p:spPr>
          <a:xfrm flipV="1">
            <a:off x="4067175" y="3886200"/>
            <a:ext cx="381000" cy="0"/>
          </a:xfrm>
          <a:prstGeom prst="line">
            <a:avLst/>
          </a:prstGeom>
          <a:ln w="9525" cap="flat" cmpd="sng">
            <a:solidFill>
              <a:schemeClr val="tx1"/>
            </a:solidFill>
            <a:prstDash val="solid"/>
            <a:headEnd type="none" w="med" len="med"/>
            <a:tailEnd type="none" w="med" len="med"/>
          </a:ln>
        </p:spPr>
      </p:sp>
      <p:sp>
        <p:nvSpPr>
          <p:cNvPr id="76806" name="Line 6"/>
          <p:cNvSpPr/>
          <p:nvPr/>
        </p:nvSpPr>
        <p:spPr>
          <a:xfrm>
            <a:off x="5819775" y="3048000"/>
            <a:ext cx="381000" cy="0"/>
          </a:xfrm>
          <a:prstGeom prst="line">
            <a:avLst/>
          </a:prstGeom>
          <a:ln w="9525" cap="flat" cmpd="sng">
            <a:solidFill>
              <a:schemeClr val="tx1"/>
            </a:solidFill>
            <a:prstDash val="solid"/>
            <a:headEnd type="none" w="med" len="med"/>
            <a:tailEnd type="none" w="med" len="med"/>
          </a:ln>
        </p:spPr>
      </p:sp>
      <p:sp>
        <p:nvSpPr>
          <p:cNvPr id="76807" name="Line 7"/>
          <p:cNvSpPr/>
          <p:nvPr/>
        </p:nvSpPr>
        <p:spPr>
          <a:xfrm>
            <a:off x="3276600" y="1828800"/>
            <a:ext cx="381000" cy="0"/>
          </a:xfrm>
          <a:prstGeom prst="line">
            <a:avLst/>
          </a:prstGeom>
          <a:ln w="9525" cap="flat" cmpd="sng">
            <a:solidFill>
              <a:schemeClr val="tx1"/>
            </a:solidFill>
            <a:prstDash val="solid"/>
            <a:headEnd type="none" w="med" len="med"/>
            <a:tailEnd type="none" w="med" len="med"/>
          </a:ln>
        </p:spPr>
      </p:sp>
      <p:sp>
        <p:nvSpPr>
          <p:cNvPr id="76808" name="Line 8"/>
          <p:cNvSpPr/>
          <p:nvPr/>
        </p:nvSpPr>
        <p:spPr>
          <a:xfrm>
            <a:off x="8459788" y="1844675"/>
            <a:ext cx="381000" cy="0"/>
          </a:xfrm>
          <a:prstGeom prst="line">
            <a:avLst/>
          </a:prstGeom>
          <a:ln w="9525" cap="flat" cmpd="sng">
            <a:solidFill>
              <a:schemeClr val="tx1"/>
            </a:solidFill>
            <a:prstDash val="solid"/>
            <a:headEnd type="none" w="med" len="med"/>
            <a:tailEnd type="none" w="med" len="med"/>
          </a:ln>
        </p:spPr>
      </p:sp>
      <p:pic>
        <p:nvPicPr>
          <p:cNvPr id="76809" name="Picture 9" descr="闪存逻辑方框图"/>
          <p:cNvPicPr>
            <a:picLocks noChangeAspect="1"/>
          </p:cNvPicPr>
          <p:nvPr/>
        </p:nvPicPr>
        <p:blipFill>
          <a:blip r:embed="rId1"/>
          <a:stretch>
            <a:fillRect/>
          </a:stretch>
        </p:blipFill>
        <p:spPr>
          <a:xfrm>
            <a:off x="6858000" y="0"/>
            <a:ext cx="2286000" cy="1817688"/>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body" idx="4294967295"/>
          </p:nvPr>
        </p:nvSpPr>
        <p:spPr>
          <a:xfrm>
            <a:off x="381000" y="1219200"/>
            <a:ext cx="8382000" cy="1981200"/>
          </a:xfrm>
          <a:ln/>
        </p:spPr>
        <p:txBody>
          <a:bodyPr vert="horz" wrap="square" lIns="91440" tIns="45720" rIns="91440" bIns="45720" anchor="t" anchorCtr="0"/>
          <a:p>
            <a:pPr eaLnBrk="1" hangingPunct="1"/>
            <a:r>
              <a:rPr lang="zh-CN" altLang="en-US" b="1" dirty="0">
                <a:solidFill>
                  <a:schemeClr val="tx1"/>
                </a:solidFill>
              </a:rPr>
              <a:t>闪速存储器与CPU的连接</a:t>
            </a:r>
            <a:endParaRPr lang="zh-CN" altLang="en-US" b="1" dirty="0">
              <a:solidFill>
                <a:schemeClr val="tx1"/>
              </a:solidFill>
            </a:endParaRPr>
          </a:p>
          <a:p>
            <a:pPr eaLnBrk="1" hangingPunct="1"/>
            <a:r>
              <a:rPr lang="zh-CN" altLang="en-US" sz="2800" b="1" dirty="0">
                <a:latin typeface="楷体_GB2312" pitchFamily="1" charset="-122"/>
                <a:ea typeface="楷体_GB2312" pitchFamily="1" charset="-122"/>
              </a:rPr>
              <a:t>由于闪存电路结构的特点，大大简化了对存储器系统实施电路更新所需要的接口电路，也简化了存储器和CPU的连接。</a:t>
            </a:r>
            <a:endParaRPr lang="zh-CN" altLang="en-US" sz="3600" b="1" dirty="0">
              <a:latin typeface="楷体_GB2312" pitchFamily="1" charset="-122"/>
              <a:ea typeface="楷体_GB2312" pitchFamily="1" charset="-122"/>
            </a:endParaRPr>
          </a:p>
        </p:txBody>
      </p:sp>
      <p:pic>
        <p:nvPicPr>
          <p:cNvPr id="77827" name="Picture 3" descr="基本的cpu闪存存储器接口"/>
          <p:cNvPicPr>
            <a:picLocks noChangeAspect="1"/>
          </p:cNvPicPr>
          <p:nvPr/>
        </p:nvPicPr>
        <p:blipFill>
          <a:blip r:embed="rId1"/>
          <a:srcRect b="33090"/>
          <a:stretch>
            <a:fillRect/>
          </a:stretch>
        </p:blipFill>
        <p:spPr>
          <a:xfrm>
            <a:off x="762000" y="3170238"/>
            <a:ext cx="7697788" cy="3182937"/>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p:nvPr>
            <p:ph type="title" idx="4294967295"/>
          </p:nvPr>
        </p:nvSpPr>
        <p:spPr>
          <a:xfrm>
            <a:off x="541338" y="1052513"/>
            <a:ext cx="8297862" cy="1538287"/>
          </a:xfrm>
          <a:prstGeom prst="rect">
            <a:avLst/>
          </a:prstGeom>
          <a:solidFill>
            <a:srgbClr val="FFFFFF"/>
          </a:solidFill>
          <a:ln w="9525" cap="flat" cmpd="sng">
            <a:solidFill>
              <a:srgbClr val="000000"/>
            </a:solidFill>
            <a:prstDash val="solid"/>
            <a:headEnd type="none" w="med" len="med"/>
            <a:tailEnd type="none" w="med" len="med"/>
          </a:ln>
        </p:spPr>
        <p:txBody>
          <a:bodyPr/>
          <a:p>
            <a:pPr algn="l" eaLnBrk="1" hangingPunct="1"/>
            <a:r>
              <a:rPr lang="zh-CN" altLang="en-US" sz="2800" dirty="0"/>
              <a:t>        </a:t>
            </a:r>
            <a:r>
              <a:rPr lang="zh-CN" altLang="en-US" sz="2800" dirty="0">
                <a:ea typeface="楷体_GB2312" pitchFamily="1" charset="-122"/>
              </a:rPr>
              <a:t>闪存能提供高性能、低功耗、高可靠性以及瞬时启动能力，所以有可能使现有的存储器结构发生变化。下图具有先进性能的存储器体系结构：</a:t>
            </a:r>
            <a:endParaRPr lang="zh-CN" altLang="en-US" sz="2800" dirty="0">
              <a:ea typeface="楷体_GB2312" pitchFamily="1" charset="-122"/>
            </a:endParaRPr>
          </a:p>
        </p:txBody>
      </p:sp>
      <p:pic>
        <p:nvPicPr>
          <p:cNvPr id="78851" name="Picture 3" descr="具有闪存存储器的系统存储器结构"/>
          <p:cNvPicPr>
            <a:picLocks noChangeAspect="1"/>
          </p:cNvPicPr>
          <p:nvPr/>
        </p:nvPicPr>
        <p:blipFill>
          <a:blip r:embed="rId1"/>
          <a:srcRect b="31136"/>
          <a:stretch>
            <a:fillRect/>
          </a:stretch>
        </p:blipFill>
        <p:spPr>
          <a:xfrm>
            <a:off x="1130300" y="2897188"/>
            <a:ext cx="7259638" cy="3341687"/>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body" idx="4294967295"/>
          </p:nvPr>
        </p:nvSpPr>
        <p:spPr>
          <a:xfrm>
            <a:off x="685800" y="1844675"/>
            <a:ext cx="7772400" cy="2117725"/>
          </a:xfrm>
          <a:ln/>
        </p:spPr>
        <p:txBody>
          <a:bodyPr vert="horz" wrap="square" lIns="91440" tIns="45720" rIns="91440" bIns="45720" anchor="t" anchorCtr="0"/>
          <a:p>
            <a:pPr algn="ctr" eaLnBrk="1" hangingPunct="1">
              <a:lnSpc>
                <a:spcPct val="80000"/>
              </a:lnSpc>
              <a:buNone/>
            </a:pPr>
            <a:r>
              <a:rPr lang="zh-CN" altLang="en-US" sz="5400" b="1" dirty="0">
                <a:ea typeface="华文新魏" panose="02010800040101010101" pitchFamily="2" charset="-122"/>
              </a:rPr>
              <a:t>主存储器的组织</a:t>
            </a:r>
            <a:endParaRPr lang="zh-CN" altLang="en-US" sz="5400" b="1" dirty="0">
              <a:ea typeface="华文新魏" panose="02010800040101010101" pitchFamily="2" charset="-122"/>
            </a:endParaRPr>
          </a:p>
          <a:p>
            <a:pPr algn="ctr" eaLnBrk="1" hangingPunct="1">
              <a:lnSpc>
                <a:spcPct val="80000"/>
              </a:lnSpc>
              <a:buNone/>
            </a:pPr>
            <a:r>
              <a:rPr lang="zh-CN" altLang="en-US" sz="5400" b="1" dirty="0">
                <a:ea typeface="华文新魏" panose="02010800040101010101" pitchFamily="2" charset="-122"/>
              </a:rPr>
              <a:t>（存储器容量的扩展）</a:t>
            </a:r>
            <a:endParaRPr lang="zh-CN" altLang="en-US" sz="5400" b="1" dirty="0">
              <a:ea typeface="华文新魏" panose="0201080004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5900" y="1916113"/>
            <a:ext cx="8712200" cy="3540125"/>
          </a:xfrm>
          <a:prstGeom prst="rect">
            <a:avLst/>
          </a:prstGeom>
          <a:noFill/>
        </p:spPr>
        <p:txBody>
          <a:bodyPr>
            <a:spAutoFit/>
          </a:bodyPr>
          <a:lstStyle/>
          <a:p>
            <a:pPr marR="0" defTabSz="914400">
              <a:buClrTx/>
              <a:buSzTx/>
              <a:buFontTx/>
              <a:buNone/>
              <a:defRPr/>
            </a:pPr>
            <a:r>
              <a:rPr kumimoji="0" lang="zh-CN" altLang="en-US" sz="3200" b="1" kern="1200" cap="none" spc="0" normalizeH="0" baseline="0" noProof="0" dirty="0">
                <a:latin typeface="+mn-ea"/>
                <a:ea typeface="+mn-ea"/>
                <a:cs typeface="+mn-cs"/>
              </a:rPr>
              <a:t>存储容量</a:t>
            </a:r>
            <a:r>
              <a:rPr kumimoji="0" lang="en-US" altLang="zh-CN" sz="3200" b="1" kern="1200" cap="none" spc="0" normalizeH="0" baseline="0" noProof="0" dirty="0">
                <a:latin typeface="+mn-ea"/>
                <a:ea typeface="+mn-ea"/>
                <a:cs typeface="+mn-cs"/>
              </a:rPr>
              <a:t>=</a:t>
            </a:r>
            <a:r>
              <a:rPr kumimoji="0" lang="zh-CN" altLang="en-US" sz="3200" b="1" kern="1200" cap="none" spc="0" normalizeH="0" baseline="0" noProof="0" dirty="0">
                <a:solidFill>
                  <a:srgbClr val="FF0000"/>
                </a:solidFill>
                <a:latin typeface="+mn-ea"/>
                <a:ea typeface="+mn-ea"/>
                <a:cs typeface="+mn-cs"/>
              </a:rPr>
              <a:t>字数</a:t>
            </a:r>
            <a:r>
              <a:rPr kumimoji="0" lang="en-US" altLang="zh-CN" sz="3200" b="1" kern="1200" cap="none" spc="0" normalizeH="0" baseline="0" noProof="0" dirty="0">
                <a:solidFill>
                  <a:srgbClr val="FF0000"/>
                </a:solidFill>
                <a:latin typeface="+mn-ea"/>
                <a:ea typeface="+mn-ea"/>
                <a:cs typeface="+mn-cs"/>
              </a:rPr>
              <a:t>×</a:t>
            </a:r>
            <a:r>
              <a:rPr kumimoji="0" lang="zh-CN" altLang="en-US" sz="3200" b="1" kern="1200" cap="none" spc="0" normalizeH="0" baseline="0" noProof="0" dirty="0">
                <a:solidFill>
                  <a:srgbClr val="FF0000"/>
                </a:solidFill>
                <a:latin typeface="+mn-ea"/>
                <a:ea typeface="+mn-ea"/>
                <a:cs typeface="+mn-cs"/>
              </a:rPr>
              <a:t>字长</a:t>
            </a:r>
            <a:endParaRPr kumimoji="0" lang="en-US" altLang="zh-CN" sz="3200" b="1" kern="1200" cap="none" spc="0" normalizeH="0" baseline="0" noProof="0" dirty="0">
              <a:solidFill>
                <a:srgbClr val="FF0000"/>
              </a:solidFill>
              <a:latin typeface="+mn-ea"/>
              <a:ea typeface="+mn-ea"/>
              <a:cs typeface="+mn-cs"/>
            </a:endParaRPr>
          </a:p>
          <a:p>
            <a:pPr marR="0" defTabSz="914400">
              <a:buClrTx/>
              <a:buSzTx/>
              <a:buFontTx/>
              <a:buNone/>
              <a:defRPr/>
            </a:pPr>
            <a:endParaRPr kumimoji="0" lang="en-US" altLang="zh-CN" sz="3200" b="1" kern="1200" cap="none" spc="0" normalizeH="0" baseline="0" noProof="0" dirty="0">
              <a:latin typeface="+mn-ea"/>
              <a:ea typeface="+mn-ea"/>
              <a:cs typeface="+mn-cs"/>
            </a:endParaRPr>
          </a:p>
          <a:p>
            <a:pPr marR="0" defTabSz="914400">
              <a:buClrTx/>
              <a:buSzTx/>
              <a:buFontTx/>
              <a:buNone/>
              <a:defRPr/>
            </a:pPr>
            <a:r>
              <a:rPr kumimoji="0" lang="zh-CN" altLang="en-US" sz="3200" b="1" kern="1200" cap="none" spc="0" normalizeH="0" baseline="0" noProof="0" dirty="0">
                <a:latin typeface="+mn-ea"/>
                <a:ea typeface="+mn-ea"/>
                <a:cs typeface="+mn-cs"/>
              </a:rPr>
              <a:t>字数对应地址线，地址线数为</a:t>
            </a:r>
            <a:r>
              <a:rPr kumimoji="0" lang="en-US" altLang="zh-CN" sz="3200" b="1" kern="1200" cap="none" spc="0" normalizeH="0" baseline="0" noProof="0" dirty="0">
                <a:latin typeface="+mn-ea"/>
                <a:ea typeface="+mn-ea"/>
                <a:cs typeface="+mn-cs"/>
              </a:rPr>
              <a:t>k</a:t>
            </a:r>
            <a:r>
              <a:rPr kumimoji="0" lang="zh-CN" altLang="en-US" sz="3200" b="1" kern="1200" cap="none" spc="0" normalizeH="0" baseline="0" noProof="0" dirty="0">
                <a:latin typeface="+mn-ea"/>
                <a:ea typeface="+mn-ea"/>
                <a:cs typeface="+mn-cs"/>
              </a:rPr>
              <a:t>，则字数为</a:t>
            </a:r>
            <a:r>
              <a:rPr kumimoji="0" lang="en-US" altLang="zh-CN" sz="3200" b="1" kern="1200" cap="none" spc="0" normalizeH="0" baseline="0" noProof="0" dirty="0">
                <a:latin typeface="+mn-ea"/>
                <a:ea typeface="+mn-ea"/>
                <a:cs typeface="+mn-cs"/>
              </a:rPr>
              <a:t>2</a:t>
            </a:r>
            <a:r>
              <a:rPr kumimoji="0" lang="en-US" altLang="zh-CN" sz="3200" b="1" kern="1200" cap="none" spc="0" normalizeH="0" baseline="30000" noProof="0" dirty="0">
                <a:latin typeface="+mn-ea"/>
                <a:ea typeface="+mn-ea"/>
                <a:cs typeface="+mn-cs"/>
              </a:rPr>
              <a:t>k</a:t>
            </a:r>
            <a:endParaRPr kumimoji="0" lang="en-US" altLang="zh-CN" sz="3200" b="1" kern="1200" cap="none" spc="0" normalizeH="0" baseline="30000" noProof="0" dirty="0">
              <a:latin typeface="+mn-ea"/>
              <a:ea typeface="+mn-ea"/>
              <a:cs typeface="+mn-cs"/>
            </a:endParaRPr>
          </a:p>
          <a:p>
            <a:pPr marR="0" defTabSz="914400">
              <a:buClrTx/>
              <a:buSzTx/>
              <a:buFontTx/>
              <a:buNone/>
              <a:defRPr/>
            </a:pPr>
            <a:r>
              <a:rPr kumimoji="0" lang="zh-CN" altLang="en-US" sz="3200" b="1" kern="1200" cap="none" spc="0" normalizeH="0" baseline="0" noProof="0" dirty="0">
                <a:latin typeface="+mn-ea"/>
                <a:ea typeface="+mn-ea"/>
                <a:cs typeface="+mn-cs"/>
              </a:rPr>
              <a:t>字长对应数据线，数据线数为</a:t>
            </a:r>
            <a:r>
              <a:rPr kumimoji="0" lang="en-US" altLang="zh-CN" sz="3200" b="1" kern="1200" cap="none" spc="0" normalizeH="0" baseline="0" noProof="0" dirty="0">
                <a:latin typeface="+mn-ea"/>
                <a:ea typeface="+mn-ea"/>
                <a:cs typeface="+mn-cs"/>
              </a:rPr>
              <a:t>m</a:t>
            </a:r>
            <a:r>
              <a:rPr kumimoji="0" lang="zh-CN" altLang="en-US" sz="3200" b="1" kern="1200" cap="none" spc="0" normalizeH="0" baseline="0" noProof="0" dirty="0">
                <a:latin typeface="+mn-ea"/>
                <a:ea typeface="+mn-ea"/>
                <a:cs typeface="+mn-cs"/>
              </a:rPr>
              <a:t>，则字长为</a:t>
            </a:r>
            <a:r>
              <a:rPr kumimoji="0" lang="en-US" altLang="zh-CN" sz="3200" b="1" kern="1200" cap="none" spc="0" normalizeH="0" baseline="0" noProof="0" dirty="0">
                <a:latin typeface="+mn-ea"/>
                <a:ea typeface="+mn-ea"/>
                <a:cs typeface="+mn-cs"/>
              </a:rPr>
              <a:t>m</a:t>
            </a:r>
            <a:r>
              <a:rPr kumimoji="0" lang="zh-CN" altLang="en-US" sz="3200" b="1" kern="1200" cap="none" spc="0" normalizeH="0" baseline="0" noProof="0" dirty="0">
                <a:latin typeface="+mn-ea"/>
                <a:ea typeface="+mn-ea"/>
                <a:cs typeface="+mn-cs"/>
              </a:rPr>
              <a:t>位</a:t>
            </a:r>
            <a:endParaRPr kumimoji="0" lang="en-US" altLang="zh-CN" sz="3200" b="1" kern="1200" cap="none" spc="0" normalizeH="0" baseline="0" noProof="0" dirty="0">
              <a:latin typeface="+mn-ea"/>
              <a:ea typeface="+mn-ea"/>
              <a:cs typeface="+mn-cs"/>
            </a:endParaRPr>
          </a:p>
          <a:p>
            <a:pPr marR="0" defTabSz="914400">
              <a:buClrTx/>
              <a:buSzTx/>
              <a:buFontTx/>
              <a:buNone/>
              <a:defRPr/>
            </a:pPr>
            <a:endParaRPr kumimoji="0" lang="en-US" altLang="zh-CN" sz="3200" b="1" kern="1200" cap="none" spc="0" normalizeH="0" baseline="0" noProof="0" dirty="0">
              <a:latin typeface="+mn-ea"/>
              <a:ea typeface="+mn-ea"/>
              <a:cs typeface="+mn-cs"/>
            </a:endParaRPr>
          </a:p>
          <a:p>
            <a:pPr marR="0" defTabSz="914400">
              <a:buClrTx/>
              <a:buSzTx/>
              <a:buFontTx/>
              <a:buNone/>
              <a:defRPr/>
            </a:pPr>
            <a:endParaRPr kumimoji="0" lang="en-US" altLang="zh-CN" sz="3200" b="1" kern="1200" cap="none" spc="0" normalizeH="0" baseline="0" noProof="0" dirty="0">
              <a:latin typeface="+mn-ea"/>
              <a:ea typeface="+mn-ea"/>
              <a:cs typeface="+mn-cs"/>
            </a:endParaRPr>
          </a:p>
          <a:p>
            <a:pPr marR="0" defTabSz="914400">
              <a:buClrTx/>
              <a:buSzTx/>
              <a:buFontTx/>
              <a:buNone/>
              <a:defRPr/>
            </a:pPr>
            <a:endParaRPr kumimoji="0" lang="zh-CN" altLang="en-US" sz="3200" b="1" kern="1200" cap="none" spc="0" normalizeH="0" baseline="0" noProof="0" dirty="0">
              <a:latin typeface="+mn-ea"/>
              <a:ea typeface="+mn-ea"/>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p:nvPr>
            <p:ph type="title" idx="4294967295"/>
          </p:nvPr>
        </p:nvSpPr>
        <p:spPr>
          <a:xfrm>
            <a:off x="914400" y="990600"/>
            <a:ext cx="7315200" cy="769938"/>
          </a:xfrm>
          <a:prstGeom prst="rect">
            <a:avLst/>
          </a:prstGeom>
          <a:noFill/>
          <a:ln w="9525">
            <a:noFill/>
          </a:ln>
        </p:spPr>
        <p:txBody>
          <a:bodyPr/>
          <a:p>
            <a:pPr algn="l" eaLnBrk="1" hangingPunct="1"/>
            <a:r>
              <a:rPr lang="zh-CN" altLang="en-US" dirty="0"/>
              <a:t>存储器容量的扩展</a:t>
            </a:r>
            <a:endParaRPr lang="zh-CN" altLang="en-US" sz="2400" dirty="0"/>
          </a:p>
        </p:txBody>
      </p:sp>
      <p:sp>
        <p:nvSpPr>
          <p:cNvPr id="81923" name="Rectangle 3"/>
          <p:cNvSpPr>
            <a:spLocks noGrp="1"/>
          </p:cNvSpPr>
          <p:nvPr>
            <p:ph type="body" idx="4294967295"/>
          </p:nvPr>
        </p:nvSpPr>
        <p:spPr>
          <a:xfrm>
            <a:off x="457200" y="1828800"/>
            <a:ext cx="8229600" cy="4267200"/>
          </a:xfrm>
          <a:ln/>
        </p:spPr>
        <p:txBody>
          <a:bodyPr vert="horz" wrap="square" lIns="91440" tIns="45720" rIns="91440" bIns="45720" anchor="t" anchorCtr="0"/>
          <a:p>
            <a:pPr eaLnBrk="1" hangingPunct="1">
              <a:lnSpc>
                <a:spcPct val="90000"/>
              </a:lnSpc>
            </a:pPr>
            <a:r>
              <a:rPr lang="zh-CN" altLang="en-US" sz="2800" b="1" dirty="0"/>
              <a:t>存储器与CPU 的连接</a:t>
            </a:r>
            <a:endParaRPr lang="zh-CN" altLang="en-US" sz="2800" b="1" dirty="0"/>
          </a:p>
          <a:p>
            <a:pPr eaLnBrk="1" hangingPunct="1">
              <a:lnSpc>
                <a:spcPct val="90000"/>
              </a:lnSpc>
            </a:pPr>
            <a:r>
              <a:rPr lang="zh-CN" altLang="en-US" sz="2800" b="1" dirty="0"/>
              <a:t>       </a:t>
            </a:r>
            <a:r>
              <a:rPr lang="zh-CN" altLang="en-US" sz="2400" b="1" dirty="0"/>
              <a:t>CPU对存储器进行读/写操作，首先由</a:t>
            </a:r>
            <a:r>
              <a:rPr lang="zh-CN" altLang="en-US" sz="2800" b="1" dirty="0">
                <a:solidFill>
                  <a:srgbClr val="993366"/>
                </a:solidFill>
                <a:ea typeface="华文新魏" panose="02010800040101010101" pitchFamily="2" charset="-122"/>
              </a:rPr>
              <a:t>地址总线</a:t>
            </a:r>
            <a:r>
              <a:rPr lang="zh-CN" altLang="en-US" sz="2400" b="1" dirty="0"/>
              <a:t>给出地址信号，然后要发出读操作或写操作的</a:t>
            </a:r>
            <a:r>
              <a:rPr lang="zh-CN" altLang="en-US" sz="2800" b="1" dirty="0">
                <a:solidFill>
                  <a:srgbClr val="993366"/>
                </a:solidFill>
                <a:ea typeface="华文新魏" panose="02010800040101010101" pitchFamily="2" charset="-122"/>
              </a:rPr>
              <a:t>控制信号</a:t>
            </a:r>
            <a:r>
              <a:rPr lang="zh-CN" altLang="en-US" sz="2400" b="1" dirty="0"/>
              <a:t>，最后在</a:t>
            </a:r>
            <a:r>
              <a:rPr lang="zh-CN" altLang="en-US" sz="2800" b="1" dirty="0">
                <a:solidFill>
                  <a:srgbClr val="993366"/>
                </a:solidFill>
                <a:ea typeface="华文新魏" panose="02010800040101010101" pitchFamily="2" charset="-122"/>
              </a:rPr>
              <a:t>数据总线</a:t>
            </a:r>
            <a:r>
              <a:rPr lang="zh-CN" altLang="en-US" sz="2400" b="1" dirty="0"/>
              <a:t>上进行信息交流，要完成地址线的连接、数据线的连接和控制线的连接。</a:t>
            </a:r>
            <a:endParaRPr lang="zh-CN" altLang="en-US" sz="2400" b="1" dirty="0"/>
          </a:p>
          <a:p>
            <a:pPr eaLnBrk="1" hangingPunct="1">
              <a:lnSpc>
                <a:spcPct val="90000"/>
              </a:lnSpc>
            </a:pPr>
            <a:r>
              <a:rPr lang="zh-CN" altLang="en-US" sz="2800" b="1" dirty="0"/>
              <a:t>   　</a:t>
            </a:r>
            <a:r>
              <a:rPr lang="zh-CN" altLang="en-US" sz="2400" b="1" dirty="0"/>
              <a:t>存储器芯片的容量是有限的，为了满足实际存储器的容量要求，需要对存储器进行扩展。</a:t>
            </a:r>
            <a:endParaRPr lang="zh-CN" altLang="en-US" sz="2400" b="1" dirty="0"/>
          </a:p>
          <a:p>
            <a:pPr eaLnBrk="1" hangingPunct="1">
              <a:lnSpc>
                <a:spcPct val="90000"/>
              </a:lnSpc>
            </a:pPr>
            <a:r>
              <a:rPr lang="zh-CN" altLang="en-US" sz="2800" b="1" dirty="0">
                <a:solidFill>
                  <a:srgbClr val="993366"/>
                </a:solidFill>
                <a:ea typeface="华文新魏" panose="02010800040101010101" pitchFamily="2" charset="-122"/>
              </a:rPr>
              <a:t>位扩展法</a:t>
            </a:r>
            <a:endParaRPr lang="zh-CN" altLang="en-US" sz="2800" b="1" dirty="0">
              <a:solidFill>
                <a:srgbClr val="993366"/>
              </a:solidFill>
              <a:ea typeface="华文新魏" panose="02010800040101010101" pitchFamily="2" charset="-122"/>
            </a:endParaRPr>
          </a:p>
          <a:p>
            <a:pPr eaLnBrk="1" hangingPunct="1">
              <a:lnSpc>
                <a:spcPct val="90000"/>
              </a:lnSpc>
            </a:pPr>
            <a:r>
              <a:rPr lang="zh-CN" altLang="en-US" sz="2800" b="1" dirty="0">
                <a:solidFill>
                  <a:srgbClr val="993366"/>
                </a:solidFill>
                <a:ea typeface="华文新魏" panose="02010800040101010101" pitchFamily="2" charset="-122"/>
              </a:rPr>
              <a:t>字扩展法</a:t>
            </a:r>
            <a:endParaRPr lang="zh-CN" altLang="en-US" sz="2800" b="1" dirty="0">
              <a:solidFill>
                <a:srgbClr val="993366"/>
              </a:solidFill>
              <a:ea typeface="华文新魏" panose="02010800040101010101" pitchFamily="2" charset="-122"/>
            </a:endParaRPr>
          </a:p>
          <a:p>
            <a:pPr eaLnBrk="1" hangingPunct="1">
              <a:lnSpc>
                <a:spcPct val="90000"/>
              </a:lnSpc>
            </a:pPr>
            <a:r>
              <a:rPr lang="zh-CN" altLang="en-US" sz="2800" b="1" dirty="0">
                <a:solidFill>
                  <a:srgbClr val="993366"/>
                </a:solidFill>
                <a:ea typeface="华文新魏" panose="02010800040101010101" pitchFamily="2" charset="-122"/>
              </a:rPr>
              <a:t>位字同时扩展法</a:t>
            </a:r>
            <a:endParaRPr lang="zh-CN" altLang="en-US" sz="2800" b="1" dirty="0">
              <a:solidFill>
                <a:srgbClr val="993366"/>
              </a:solidFill>
              <a:ea typeface="华文新魏" panose="0201080004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body" idx="4294967295"/>
          </p:nvPr>
        </p:nvSpPr>
        <p:spPr>
          <a:ln/>
        </p:spPr>
        <p:txBody>
          <a:bodyPr vert="horz" wrap="square" lIns="91440" tIns="45720" rIns="91440" bIns="45720" anchor="t" anchorCtr="0"/>
          <a:p>
            <a:pPr eaLnBrk="1" hangingPunct="1"/>
            <a:r>
              <a:rPr lang="zh-CN" altLang="en-US" b="1" dirty="0"/>
              <a:t>位扩展法：</a:t>
            </a:r>
            <a:endParaRPr lang="zh-CN" altLang="en-US" b="1" dirty="0"/>
          </a:p>
          <a:p>
            <a:pPr lvl="1" eaLnBrk="1" hangingPunct="1"/>
            <a:r>
              <a:rPr lang="zh-CN" altLang="en-US" b="1" dirty="0"/>
              <a:t>当芯片的字数和主存字数相同，而位数不足时，就要对位数进行扩展。</a:t>
            </a:r>
            <a:endParaRPr lang="zh-CN" altLang="en-US" b="1" dirty="0"/>
          </a:p>
          <a:p>
            <a:pPr lvl="1" eaLnBrk="1" hangingPunct="1"/>
            <a:r>
              <a:rPr lang="zh-CN" altLang="en-US" b="1" dirty="0">
                <a:solidFill>
                  <a:srgbClr val="993366"/>
                </a:solidFill>
                <a:ea typeface="华文新魏" panose="02010800040101010101" pitchFamily="2" charset="-122"/>
              </a:rPr>
              <a:t>方法：</a:t>
            </a:r>
            <a:r>
              <a:rPr lang="zh-CN" altLang="en-US" b="1" dirty="0"/>
              <a:t>将多片存储芯片的地址端、片选端和读/写控制端各自</a:t>
            </a:r>
            <a:r>
              <a:rPr lang="zh-CN" altLang="en-US" b="1" dirty="0">
                <a:solidFill>
                  <a:srgbClr val="FF0000"/>
                </a:solidFill>
              </a:rPr>
              <a:t>并联</a:t>
            </a:r>
            <a:r>
              <a:rPr lang="zh-CN" altLang="en-US" b="1" dirty="0"/>
              <a:t>在一起，而他们的数据端分别引出，连到存储器不同位的数据总线上。</a:t>
            </a:r>
            <a:endParaRPr lang="zh-CN" altLang="en-US" b="1" dirty="0"/>
          </a:p>
        </p:txBody>
      </p:sp>
      <p:sp>
        <p:nvSpPr>
          <p:cNvPr id="82947" name="Rectangle 3"/>
          <p:cNvSpPr/>
          <p:nvPr/>
        </p:nvSpPr>
        <p:spPr>
          <a:xfrm>
            <a:off x="252413" y="909638"/>
            <a:ext cx="7315200" cy="769937"/>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3600" b="1" dirty="0">
                <a:solidFill>
                  <a:schemeClr val="tx2"/>
                </a:solidFill>
              </a:rPr>
              <a:t>存储器容量的扩展</a:t>
            </a:r>
            <a:endParaRPr lang="zh-CN" altLang="en-US" sz="2400" b="1" dirty="0">
              <a:solidFill>
                <a:schemeClr val="tx2"/>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p:nvPr>
            <p:ph type="title" idx="4294967295"/>
          </p:nvPr>
        </p:nvSpPr>
        <p:spPr>
          <a:xfrm>
            <a:off x="914400" y="990600"/>
            <a:ext cx="7543800" cy="769938"/>
          </a:xfrm>
          <a:prstGeom prst="rect">
            <a:avLst/>
          </a:prstGeom>
          <a:noFill/>
          <a:ln w="9525">
            <a:noFill/>
          </a:ln>
        </p:spPr>
        <p:txBody>
          <a:bodyPr/>
          <a:p>
            <a:pPr algn="l" eaLnBrk="1" hangingPunct="1"/>
            <a:r>
              <a:rPr lang="zh-CN" altLang="en-US" dirty="0"/>
              <a:t>存储器容量的扩展</a:t>
            </a:r>
            <a:endParaRPr lang="zh-CN" altLang="en-US" dirty="0"/>
          </a:p>
        </p:txBody>
      </p:sp>
      <p:sp>
        <p:nvSpPr>
          <p:cNvPr id="82947" name="Rectangle 3"/>
          <p:cNvSpPr>
            <a:spLocks noGrp="1" noRot="1" noChangeAspect="1" noMove="1" noResize="1" noEditPoints="1" noAdjustHandles="1" noChangeArrowheads="1" noChangeShapeType="1" noTextEdit="1"/>
          </p:cNvSpPr>
          <p:nvPr>
            <p:ph type="body" idx="1"/>
          </p:nvPr>
        </p:nvSpPr>
        <p:spPr bwMode="auto">
          <a:blipFill>
            <a:blip r:embed="rId1"/>
            <a:stretch>
              <a:fillRect l="-1804" t="-2519"/>
            </a:stretch>
          </a:blipFill>
          <a:ln/>
          <a:effectLst/>
          <a:scene3d>
            <a:camera prst="orthographicFront"/>
            <a:lightRig rig="balanced" dir="t"/>
          </a:scene3d>
          <a:sp3d prstMaterial="plastic"/>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0">
                <a:ln>
                  <a:noFill/>
                </a:ln>
                <a:noFill/>
                <a:effectLst/>
                <a:uLnTx/>
                <a:uFillTx/>
                <a:latin typeface="+mn-lt"/>
                <a:ea typeface="+mn-ea"/>
                <a:cs typeface="+mn-cs"/>
              </a:rPr>
              <a:t> </a:t>
            </a:r>
            <a:endParaRPr kumimoji="0" lang="zh-CN" altLang="en-US" sz="3200" b="0" i="0" u="none" strike="noStrike" kern="1200" cap="none" spc="0" normalizeH="0" baseline="0" noProof="0">
              <a:ln>
                <a:noFill/>
              </a:ln>
              <a:noFill/>
              <a:effectLst/>
              <a:uLnTx/>
              <a:uFillTx/>
              <a:latin typeface="+mn-lt"/>
              <a:ea typeface="+mn-ea"/>
              <a:cs typeface="+mn-cs"/>
            </a:endParaRPr>
          </a:p>
        </p:txBody>
      </p:sp>
      <p:sp>
        <p:nvSpPr>
          <p:cNvPr id="4" name="对话气泡: 圆角矩形 3"/>
          <p:cNvSpPr/>
          <p:nvPr/>
        </p:nvSpPr>
        <p:spPr bwMode="auto">
          <a:xfrm>
            <a:off x="3816350" y="3789363"/>
            <a:ext cx="2627313" cy="792163"/>
          </a:xfrm>
          <a:prstGeom prst="wedgeRoundRectCallout">
            <a:avLst>
              <a:gd name="adj1" fmla="val -83318"/>
              <a:gd name="adj2" fmla="val 85588"/>
              <a:gd name="adj3" fmla="val 16667"/>
            </a:avLst>
          </a:prstGeom>
          <a:solidFill>
            <a:schemeClr val="bg1">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字数相同，字长不</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相同，位扩展</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p:nvPr>
            <p:ph type="title" idx="4294967295"/>
          </p:nvPr>
        </p:nvSpPr>
        <p:spPr>
          <a:xfrm>
            <a:off x="914400" y="1066800"/>
            <a:ext cx="7543800" cy="693738"/>
          </a:xfrm>
          <a:prstGeom prst="rect">
            <a:avLst/>
          </a:prstGeom>
          <a:noFill/>
          <a:ln w="9525">
            <a:noFill/>
          </a:ln>
        </p:spPr>
        <p:txBody>
          <a:bodyPr/>
          <a:p>
            <a:pPr algn="l" eaLnBrk="1" hangingPunct="1"/>
            <a:r>
              <a:rPr lang="zh-CN" altLang="en-US" dirty="0"/>
              <a:t>存储器容量的扩展</a:t>
            </a:r>
            <a:endParaRPr lang="zh-CN" altLang="en-US" dirty="0"/>
          </a:p>
        </p:txBody>
      </p:sp>
      <p:grpSp>
        <p:nvGrpSpPr>
          <p:cNvPr id="84995" name="Group 3"/>
          <p:cNvGrpSpPr/>
          <p:nvPr/>
        </p:nvGrpSpPr>
        <p:grpSpPr>
          <a:xfrm>
            <a:off x="381000" y="1905000"/>
            <a:ext cx="8382000" cy="4267200"/>
            <a:chOff x="0" y="0"/>
            <a:chExt cx="5424" cy="2880"/>
          </a:xfrm>
        </p:grpSpPr>
        <p:grpSp>
          <p:nvGrpSpPr>
            <p:cNvPr id="84996" name="Group 4"/>
            <p:cNvGrpSpPr/>
            <p:nvPr/>
          </p:nvGrpSpPr>
          <p:grpSpPr>
            <a:xfrm>
              <a:off x="1008" y="528"/>
              <a:ext cx="2016" cy="960"/>
              <a:chOff x="0" y="0"/>
              <a:chExt cx="2016" cy="960"/>
            </a:xfrm>
          </p:grpSpPr>
          <p:sp>
            <p:nvSpPr>
              <p:cNvPr id="85054" name="AutoShape 5"/>
              <p:cNvSpPr/>
              <p:nvPr/>
            </p:nvSpPr>
            <p:spPr>
              <a:xfrm>
                <a:off x="0" y="0"/>
                <a:ext cx="2016" cy="96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I/O</a:t>
                </a:r>
                <a:r>
                  <a:rPr lang="zh-CN" altLang="en-US" sz="1600" baseline="-25000" dirty="0">
                    <a:solidFill>
                      <a:schemeClr val="tx1"/>
                    </a:solidFill>
                    <a:latin typeface="Tahoma" panose="020B0604030504040204" pitchFamily="34" charset="0"/>
                  </a:rPr>
                  <a:t>1     </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2</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3    </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4</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WE                 2114            CS</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1</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2</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3</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4</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5</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6</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7</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8</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9</a:t>
                </a:r>
                <a:r>
                  <a:rPr lang="zh-CN" altLang="en-US" sz="1600" dirty="0">
                    <a:solidFill>
                      <a:schemeClr val="tx1"/>
                    </a:solidFill>
                    <a:latin typeface="Tahoma" panose="020B0604030504040204" pitchFamily="34" charset="0"/>
                  </a:rPr>
                  <a:t> </a:t>
                </a:r>
                <a:endParaRPr lang="zh-CN" altLang="en-US" sz="1600" dirty="0">
                  <a:solidFill>
                    <a:schemeClr val="tx1"/>
                  </a:solidFill>
                  <a:latin typeface="Tahoma" panose="020B0604030504040204" pitchFamily="34" charset="0"/>
                </a:endParaRPr>
              </a:p>
            </p:txBody>
          </p:sp>
          <p:sp>
            <p:nvSpPr>
              <p:cNvPr id="85055" name="Line 6"/>
              <p:cNvSpPr/>
              <p:nvPr/>
            </p:nvSpPr>
            <p:spPr>
              <a:xfrm>
                <a:off x="96" y="384"/>
                <a:ext cx="240" cy="0"/>
              </a:xfrm>
              <a:prstGeom prst="line">
                <a:avLst/>
              </a:prstGeom>
              <a:ln w="9525" cap="flat" cmpd="sng">
                <a:solidFill>
                  <a:schemeClr val="tx1"/>
                </a:solidFill>
                <a:prstDash val="solid"/>
                <a:headEnd type="none" w="med" len="med"/>
                <a:tailEnd type="none" w="med" len="med"/>
              </a:ln>
            </p:spPr>
          </p:sp>
          <p:sp>
            <p:nvSpPr>
              <p:cNvPr id="85056" name="Line 7"/>
              <p:cNvSpPr/>
              <p:nvPr/>
            </p:nvSpPr>
            <p:spPr>
              <a:xfrm>
                <a:off x="1680" y="384"/>
                <a:ext cx="240" cy="0"/>
              </a:xfrm>
              <a:prstGeom prst="line">
                <a:avLst/>
              </a:prstGeom>
              <a:ln w="9525" cap="flat" cmpd="sng">
                <a:solidFill>
                  <a:schemeClr val="tx1"/>
                </a:solidFill>
                <a:prstDash val="solid"/>
                <a:headEnd type="none" w="med" len="med"/>
                <a:tailEnd type="none" w="med" len="med"/>
              </a:ln>
            </p:spPr>
          </p:sp>
        </p:grpSp>
        <p:sp>
          <p:nvSpPr>
            <p:cNvPr id="84997" name="AutoShape 8"/>
            <p:cNvSpPr/>
            <p:nvPr/>
          </p:nvSpPr>
          <p:spPr>
            <a:xfrm>
              <a:off x="672" y="48"/>
              <a:ext cx="4656" cy="192"/>
            </a:xfrm>
            <a:prstGeom prst="leftRightArrow">
              <a:avLst>
                <a:gd name="adj1" fmla="val 39583"/>
                <a:gd name="adj2" fmla="val 127087"/>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84998" name="Line 9"/>
            <p:cNvSpPr/>
            <p:nvPr/>
          </p:nvSpPr>
          <p:spPr>
            <a:xfrm>
              <a:off x="672" y="1680"/>
              <a:ext cx="2736" cy="0"/>
            </a:xfrm>
            <a:prstGeom prst="line">
              <a:avLst/>
            </a:prstGeom>
            <a:ln w="9525" cap="flat" cmpd="sng">
              <a:solidFill>
                <a:schemeClr val="tx1"/>
              </a:solidFill>
              <a:prstDash val="solid"/>
              <a:headEnd type="none" w="med" len="med"/>
              <a:tailEnd type="none" w="med" len="med"/>
            </a:ln>
          </p:spPr>
        </p:sp>
        <p:sp>
          <p:nvSpPr>
            <p:cNvPr id="84999" name="Line 10"/>
            <p:cNvSpPr/>
            <p:nvPr/>
          </p:nvSpPr>
          <p:spPr>
            <a:xfrm flipV="1">
              <a:off x="1104" y="1488"/>
              <a:ext cx="0" cy="192"/>
            </a:xfrm>
            <a:prstGeom prst="line">
              <a:avLst/>
            </a:prstGeom>
            <a:ln w="9525" cap="flat" cmpd="sng">
              <a:solidFill>
                <a:schemeClr val="tx1"/>
              </a:solidFill>
              <a:prstDash val="solid"/>
              <a:headEnd type="none" w="med" len="med"/>
              <a:tailEnd type="none" w="med" len="med"/>
            </a:ln>
          </p:spPr>
        </p:sp>
        <p:sp>
          <p:nvSpPr>
            <p:cNvPr id="85000" name="Line 11"/>
            <p:cNvSpPr/>
            <p:nvPr/>
          </p:nvSpPr>
          <p:spPr>
            <a:xfrm>
              <a:off x="672" y="1776"/>
              <a:ext cx="2928" cy="0"/>
            </a:xfrm>
            <a:prstGeom prst="line">
              <a:avLst/>
            </a:prstGeom>
            <a:ln w="9525" cap="flat" cmpd="sng">
              <a:solidFill>
                <a:schemeClr val="tx1"/>
              </a:solidFill>
              <a:prstDash val="solid"/>
              <a:headEnd type="none" w="med" len="med"/>
              <a:tailEnd type="none" w="med" len="med"/>
            </a:ln>
          </p:spPr>
        </p:sp>
        <p:sp>
          <p:nvSpPr>
            <p:cNvPr id="85001" name="Line 12"/>
            <p:cNvSpPr/>
            <p:nvPr/>
          </p:nvSpPr>
          <p:spPr>
            <a:xfrm flipV="1">
              <a:off x="1296" y="1488"/>
              <a:ext cx="0" cy="288"/>
            </a:xfrm>
            <a:prstGeom prst="line">
              <a:avLst/>
            </a:prstGeom>
            <a:ln w="9525" cap="flat" cmpd="sng">
              <a:solidFill>
                <a:schemeClr val="tx1"/>
              </a:solidFill>
              <a:prstDash val="solid"/>
              <a:headEnd type="none" w="med" len="med"/>
              <a:tailEnd type="none" w="med" len="med"/>
            </a:ln>
          </p:spPr>
        </p:sp>
        <p:sp>
          <p:nvSpPr>
            <p:cNvPr id="85002" name="Line 13"/>
            <p:cNvSpPr/>
            <p:nvPr/>
          </p:nvSpPr>
          <p:spPr>
            <a:xfrm>
              <a:off x="672" y="1872"/>
              <a:ext cx="3120" cy="0"/>
            </a:xfrm>
            <a:prstGeom prst="line">
              <a:avLst/>
            </a:prstGeom>
            <a:ln w="9525" cap="flat" cmpd="sng">
              <a:solidFill>
                <a:schemeClr val="tx1"/>
              </a:solidFill>
              <a:prstDash val="solid"/>
              <a:headEnd type="none" w="med" len="med"/>
              <a:tailEnd type="none" w="med" len="med"/>
            </a:ln>
          </p:spPr>
        </p:sp>
        <p:sp>
          <p:nvSpPr>
            <p:cNvPr id="85003" name="Line 14"/>
            <p:cNvSpPr/>
            <p:nvPr/>
          </p:nvSpPr>
          <p:spPr>
            <a:xfrm flipV="1">
              <a:off x="1488" y="1488"/>
              <a:ext cx="0" cy="384"/>
            </a:xfrm>
            <a:prstGeom prst="line">
              <a:avLst/>
            </a:prstGeom>
            <a:ln w="9525" cap="flat" cmpd="sng">
              <a:solidFill>
                <a:schemeClr val="tx1"/>
              </a:solidFill>
              <a:prstDash val="solid"/>
              <a:headEnd type="none" w="med" len="med"/>
              <a:tailEnd type="none" w="med" len="med"/>
            </a:ln>
          </p:spPr>
        </p:sp>
        <p:sp>
          <p:nvSpPr>
            <p:cNvPr id="85004" name="Line 15"/>
            <p:cNvSpPr/>
            <p:nvPr/>
          </p:nvSpPr>
          <p:spPr>
            <a:xfrm>
              <a:off x="672" y="1968"/>
              <a:ext cx="3312" cy="0"/>
            </a:xfrm>
            <a:prstGeom prst="line">
              <a:avLst/>
            </a:prstGeom>
            <a:ln w="9525" cap="flat" cmpd="sng">
              <a:solidFill>
                <a:schemeClr val="tx1"/>
              </a:solidFill>
              <a:prstDash val="solid"/>
              <a:headEnd type="none" w="med" len="med"/>
              <a:tailEnd type="none" w="med" len="med"/>
            </a:ln>
          </p:spPr>
        </p:sp>
        <p:sp>
          <p:nvSpPr>
            <p:cNvPr id="85005" name="Line 16"/>
            <p:cNvSpPr/>
            <p:nvPr/>
          </p:nvSpPr>
          <p:spPr>
            <a:xfrm flipV="1">
              <a:off x="1680" y="1488"/>
              <a:ext cx="0" cy="480"/>
            </a:xfrm>
            <a:prstGeom prst="line">
              <a:avLst/>
            </a:prstGeom>
            <a:ln w="9525" cap="flat" cmpd="sng">
              <a:solidFill>
                <a:schemeClr val="tx1"/>
              </a:solidFill>
              <a:prstDash val="solid"/>
              <a:headEnd type="none" w="med" len="med"/>
              <a:tailEnd type="none" w="med" len="med"/>
            </a:ln>
          </p:spPr>
        </p:sp>
        <p:sp>
          <p:nvSpPr>
            <p:cNvPr id="85006" name="Line 17"/>
            <p:cNvSpPr/>
            <p:nvPr/>
          </p:nvSpPr>
          <p:spPr>
            <a:xfrm>
              <a:off x="672" y="2064"/>
              <a:ext cx="3504" cy="0"/>
            </a:xfrm>
            <a:prstGeom prst="line">
              <a:avLst/>
            </a:prstGeom>
            <a:ln w="9525" cap="flat" cmpd="sng">
              <a:solidFill>
                <a:schemeClr val="tx1"/>
              </a:solidFill>
              <a:prstDash val="solid"/>
              <a:headEnd type="none" w="med" len="med"/>
              <a:tailEnd type="none" w="med" len="med"/>
            </a:ln>
          </p:spPr>
        </p:sp>
        <p:sp>
          <p:nvSpPr>
            <p:cNvPr id="85007" name="Line 18"/>
            <p:cNvSpPr/>
            <p:nvPr/>
          </p:nvSpPr>
          <p:spPr>
            <a:xfrm flipV="1">
              <a:off x="1872" y="1488"/>
              <a:ext cx="0" cy="576"/>
            </a:xfrm>
            <a:prstGeom prst="line">
              <a:avLst/>
            </a:prstGeom>
            <a:ln w="9525" cap="flat" cmpd="sng">
              <a:solidFill>
                <a:schemeClr val="tx1"/>
              </a:solidFill>
              <a:prstDash val="solid"/>
              <a:headEnd type="none" w="med" len="med"/>
              <a:tailEnd type="none" w="med" len="med"/>
            </a:ln>
          </p:spPr>
        </p:sp>
        <p:sp>
          <p:nvSpPr>
            <p:cNvPr id="85008" name="Line 19"/>
            <p:cNvSpPr/>
            <p:nvPr/>
          </p:nvSpPr>
          <p:spPr>
            <a:xfrm>
              <a:off x="672" y="2160"/>
              <a:ext cx="3696" cy="0"/>
            </a:xfrm>
            <a:prstGeom prst="line">
              <a:avLst/>
            </a:prstGeom>
            <a:ln w="9525" cap="flat" cmpd="sng">
              <a:solidFill>
                <a:schemeClr val="tx1"/>
              </a:solidFill>
              <a:prstDash val="solid"/>
              <a:headEnd type="none" w="med" len="med"/>
              <a:tailEnd type="none" w="med" len="med"/>
            </a:ln>
          </p:spPr>
        </p:sp>
        <p:sp>
          <p:nvSpPr>
            <p:cNvPr id="85009" name="Line 20"/>
            <p:cNvSpPr/>
            <p:nvPr/>
          </p:nvSpPr>
          <p:spPr>
            <a:xfrm flipV="1">
              <a:off x="2064" y="1488"/>
              <a:ext cx="0" cy="672"/>
            </a:xfrm>
            <a:prstGeom prst="line">
              <a:avLst/>
            </a:prstGeom>
            <a:ln w="9525" cap="flat" cmpd="sng">
              <a:solidFill>
                <a:schemeClr val="tx1"/>
              </a:solidFill>
              <a:prstDash val="solid"/>
              <a:headEnd type="none" w="med" len="med"/>
              <a:tailEnd type="none" w="med" len="med"/>
            </a:ln>
          </p:spPr>
        </p:sp>
        <p:sp>
          <p:nvSpPr>
            <p:cNvPr id="85010" name="Line 21"/>
            <p:cNvSpPr/>
            <p:nvPr/>
          </p:nvSpPr>
          <p:spPr>
            <a:xfrm>
              <a:off x="672" y="2256"/>
              <a:ext cx="3888" cy="0"/>
            </a:xfrm>
            <a:prstGeom prst="line">
              <a:avLst/>
            </a:prstGeom>
            <a:ln w="9525" cap="flat" cmpd="sng">
              <a:solidFill>
                <a:schemeClr val="tx1"/>
              </a:solidFill>
              <a:prstDash val="solid"/>
              <a:headEnd type="none" w="med" len="med"/>
              <a:tailEnd type="none" w="med" len="med"/>
            </a:ln>
          </p:spPr>
        </p:sp>
        <p:sp>
          <p:nvSpPr>
            <p:cNvPr id="85011" name="Line 22"/>
            <p:cNvSpPr/>
            <p:nvPr/>
          </p:nvSpPr>
          <p:spPr>
            <a:xfrm flipV="1">
              <a:off x="2256" y="1488"/>
              <a:ext cx="0" cy="768"/>
            </a:xfrm>
            <a:prstGeom prst="line">
              <a:avLst/>
            </a:prstGeom>
            <a:ln w="9525" cap="flat" cmpd="sng">
              <a:solidFill>
                <a:schemeClr val="tx1"/>
              </a:solidFill>
              <a:prstDash val="solid"/>
              <a:headEnd type="none" w="med" len="med"/>
              <a:tailEnd type="none" w="med" len="med"/>
            </a:ln>
          </p:spPr>
        </p:sp>
        <p:sp>
          <p:nvSpPr>
            <p:cNvPr id="85012" name="Line 23"/>
            <p:cNvSpPr/>
            <p:nvPr/>
          </p:nvSpPr>
          <p:spPr>
            <a:xfrm>
              <a:off x="672" y="2352"/>
              <a:ext cx="4080" cy="0"/>
            </a:xfrm>
            <a:prstGeom prst="line">
              <a:avLst/>
            </a:prstGeom>
            <a:ln w="9525" cap="flat" cmpd="sng">
              <a:solidFill>
                <a:schemeClr val="tx1"/>
              </a:solidFill>
              <a:prstDash val="solid"/>
              <a:headEnd type="none" w="med" len="med"/>
              <a:tailEnd type="none" w="med" len="med"/>
            </a:ln>
          </p:spPr>
        </p:sp>
        <p:sp>
          <p:nvSpPr>
            <p:cNvPr id="85013" name="Line 24"/>
            <p:cNvSpPr/>
            <p:nvPr/>
          </p:nvSpPr>
          <p:spPr>
            <a:xfrm flipV="1">
              <a:off x="2448" y="1488"/>
              <a:ext cx="0" cy="864"/>
            </a:xfrm>
            <a:prstGeom prst="line">
              <a:avLst/>
            </a:prstGeom>
            <a:ln w="9525" cap="flat" cmpd="sng">
              <a:solidFill>
                <a:schemeClr val="tx1"/>
              </a:solidFill>
              <a:prstDash val="solid"/>
              <a:headEnd type="none" w="med" len="med"/>
              <a:tailEnd type="none" w="med" len="med"/>
            </a:ln>
          </p:spPr>
        </p:sp>
        <p:sp>
          <p:nvSpPr>
            <p:cNvPr id="85014" name="Line 25"/>
            <p:cNvSpPr/>
            <p:nvPr/>
          </p:nvSpPr>
          <p:spPr>
            <a:xfrm>
              <a:off x="672" y="2448"/>
              <a:ext cx="4320" cy="0"/>
            </a:xfrm>
            <a:prstGeom prst="line">
              <a:avLst/>
            </a:prstGeom>
            <a:ln w="9525" cap="flat" cmpd="sng">
              <a:solidFill>
                <a:schemeClr val="tx1"/>
              </a:solidFill>
              <a:prstDash val="solid"/>
              <a:headEnd type="none" w="med" len="med"/>
              <a:tailEnd type="none" w="med" len="med"/>
            </a:ln>
          </p:spPr>
        </p:sp>
        <p:sp>
          <p:nvSpPr>
            <p:cNvPr id="85015" name="Line 26"/>
            <p:cNvSpPr/>
            <p:nvPr/>
          </p:nvSpPr>
          <p:spPr>
            <a:xfrm flipV="1">
              <a:off x="2640" y="1488"/>
              <a:ext cx="0" cy="960"/>
            </a:xfrm>
            <a:prstGeom prst="line">
              <a:avLst/>
            </a:prstGeom>
            <a:ln w="9525" cap="flat" cmpd="sng">
              <a:solidFill>
                <a:schemeClr val="tx1"/>
              </a:solidFill>
              <a:prstDash val="solid"/>
              <a:headEnd type="none" w="med" len="med"/>
              <a:tailEnd type="none" w="med" len="med"/>
            </a:ln>
          </p:spPr>
        </p:sp>
        <p:sp>
          <p:nvSpPr>
            <p:cNvPr id="85016" name="Line 27"/>
            <p:cNvSpPr/>
            <p:nvPr/>
          </p:nvSpPr>
          <p:spPr>
            <a:xfrm>
              <a:off x="672" y="2544"/>
              <a:ext cx="4512" cy="0"/>
            </a:xfrm>
            <a:prstGeom prst="line">
              <a:avLst/>
            </a:prstGeom>
            <a:ln w="9525" cap="flat" cmpd="sng">
              <a:solidFill>
                <a:schemeClr val="tx1"/>
              </a:solidFill>
              <a:prstDash val="solid"/>
              <a:headEnd type="none" w="med" len="med"/>
              <a:tailEnd type="none" w="med" len="med"/>
            </a:ln>
          </p:spPr>
        </p:sp>
        <p:sp>
          <p:nvSpPr>
            <p:cNvPr id="85017" name="Line 28"/>
            <p:cNvSpPr/>
            <p:nvPr/>
          </p:nvSpPr>
          <p:spPr>
            <a:xfrm flipV="1">
              <a:off x="2832" y="1488"/>
              <a:ext cx="0" cy="1056"/>
            </a:xfrm>
            <a:prstGeom prst="line">
              <a:avLst/>
            </a:prstGeom>
            <a:ln w="9525" cap="flat" cmpd="sng">
              <a:solidFill>
                <a:schemeClr val="tx1"/>
              </a:solidFill>
              <a:prstDash val="solid"/>
              <a:headEnd type="none" w="med" len="med"/>
              <a:tailEnd type="none" w="med" len="med"/>
            </a:ln>
          </p:spPr>
        </p:sp>
        <p:sp>
          <p:nvSpPr>
            <p:cNvPr id="85018" name="Line 29"/>
            <p:cNvSpPr/>
            <p:nvPr/>
          </p:nvSpPr>
          <p:spPr>
            <a:xfrm flipV="1">
              <a:off x="3408" y="1488"/>
              <a:ext cx="0" cy="192"/>
            </a:xfrm>
            <a:prstGeom prst="line">
              <a:avLst/>
            </a:prstGeom>
            <a:ln w="9525" cap="flat" cmpd="sng">
              <a:solidFill>
                <a:schemeClr val="tx1"/>
              </a:solidFill>
              <a:prstDash val="solid"/>
              <a:headEnd type="none" w="med" len="med"/>
              <a:tailEnd type="none" w="med" len="med"/>
            </a:ln>
          </p:spPr>
        </p:sp>
        <p:sp>
          <p:nvSpPr>
            <p:cNvPr id="85019" name="Line 30"/>
            <p:cNvSpPr/>
            <p:nvPr/>
          </p:nvSpPr>
          <p:spPr>
            <a:xfrm flipV="1">
              <a:off x="3600" y="1488"/>
              <a:ext cx="0" cy="288"/>
            </a:xfrm>
            <a:prstGeom prst="line">
              <a:avLst/>
            </a:prstGeom>
            <a:ln w="9525" cap="flat" cmpd="sng">
              <a:solidFill>
                <a:schemeClr val="tx1"/>
              </a:solidFill>
              <a:prstDash val="solid"/>
              <a:headEnd type="none" w="med" len="med"/>
              <a:tailEnd type="none" w="med" len="med"/>
            </a:ln>
          </p:spPr>
        </p:sp>
        <p:sp>
          <p:nvSpPr>
            <p:cNvPr id="85020" name="Line 31"/>
            <p:cNvSpPr/>
            <p:nvPr/>
          </p:nvSpPr>
          <p:spPr>
            <a:xfrm flipV="1">
              <a:off x="3792" y="1488"/>
              <a:ext cx="0" cy="384"/>
            </a:xfrm>
            <a:prstGeom prst="line">
              <a:avLst/>
            </a:prstGeom>
            <a:ln w="9525" cap="flat" cmpd="sng">
              <a:solidFill>
                <a:schemeClr val="tx1"/>
              </a:solidFill>
              <a:prstDash val="solid"/>
              <a:headEnd type="none" w="med" len="med"/>
              <a:tailEnd type="none" w="med" len="med"/>
            </a:ln>
          </p:spPr>
        </p:sp>
        <p:sp>
          <p:nvSpPr>
            <p:cNvPr id="85021" name="Line 32"/>
            <p:cNvSpPr/>
            <p:nvPr/>
          </p:nvSpPr>
          <p:spPr>
            <a:xfrm flipV="1">
              <a:off x="3984" y="1488"/>
              <a:ext cx="0" cy="480"/>
            </a:xfrm>
            <a:prstGeom prst="line">
              <a:avLst/>
            </a:prstGeom>
            <a:ln w="9525" cap="flat" cmpd="sng">
              <a:solidFill>
                <a:schemeClr val="tx1"/>
              </a:solidFill>
              <a:prstDash val="solid"/>
              <a:headEnd type="none" w="med" len="med"/>
              <a:tailEnd type="none" w="med" len="med"/>
            </a:ln>
          </p:spPr>
        </p:sp>
        <p:sp>
          <p:nvSpPr>
            <p:cNvPr id="85022" name="Line 33"/>
            <p:cNvSpPr/>
            <p:nvPr/>
          </p:nvSpPr>
          <p:spPr>
            <a:xfrm flipV="1">
              <a:off x="4176" y="1488"/>
              <a:ext cx="0" cy="576"/>
            </a:xfrm>
            <a:prstGeom prst="line">
              <a:avLst/>
            </a:prstGeom>
            <a:ln w="9525" cap="flat" cmpd="sng">
              <a:solidFill>
                <a:schemeClr val="tx1"/>
              </a:solidFill>
              <a:prstDash val="solid"/>
              <a:headEnd type="none" w="med" len="med"/>
              <a:tailEnd type="none" w="med" len="med"/>
            </a:ln>
          </p:spPr>
        </p:sp>
        <p:sp>
          <p:nvSpPr>
            <p:cNvPr id="85023" name="Line 34"/>
            <p:cNvSpPr/>
            <p:nvPr/>
          </p:nvSpPr>
          <p:spPr>
            <a:xfrm flipV="1">
              <a:off x="4368" y="1488"/>
              <a:ext cx="0" cy="672"/>
            </a:xfrm>
            <a:prstGeom prst="line">
              <a:avLst/>
            </a:prstGeom>
            <a:ln w="9525" cap="flat" cmpd="sng">
              <a:solidFill>
                <a:schemeClr val="tx1"/>
              </a:solidFill>
              <a:prstDash val="solid"/>
              <a:headEnd type="none" w="med" len="med"/>
              <a:tailEnd type="none" w="med" len="med"/>
            </a:ln>
          </p:spPr>
        </p:sp>
        <p:sp>
          <p:nvSpPr>
            <p:cNvPr id="85024" name="Line 35"/>
            <p:cNvSpPr/>
            <p:nvPr/>
          </p:nvSpPr>
          <p:spPr>
            <a:xfrm flipV="1">
              <a:off x="4560" y="1488"/>
              <a:ext cx="0" cy="768"/>
            </a:xfrm>
            <a:prstGeom prst="line">
              <a:avLst/>
            </a:prstGeom>
            <a:ln w="9525" cap="flat" cmpd="sng">
              <a:solidFill>
                <a:schemeClr val="tx1"/>
              </a:solidFill>
              <a:prstDash val="solid"/>
              <a:headEnd type="none" w="med" len="med"/>
              <a:tailEnd type="none" w="med" len="med"/>
            </a:ln>
          </p:spPr>
        </p:sp>
        <p:sp>
          <p:nvSpPr>
            <p:cNvPr id="85025" name="Line 36"/>
            <p:cNvSpPr/>
            <p:nvPr/>
          </p:nvSpPr>
          <p:spPr>
            <a:xfrm flipV="1">
              <a:off x="4752" y="1488"/>
              <a:ext cx="0" cy="864"/>
            </a:xfrm>
            <a:prstGeom prst="line">
              <a:avLst/>
            </a:prstGeom>
            <a:ln w="9525" cap="flat" cmpd="sng">
              <a:solidFill>
                <a:schemeClr val="tx1"/>
              </a:solidFill>
              <a:prstDash val="solid"/>
              <a:headEnd type="none" w="med" len="med"/>
              <a:tailEnd type="none" w="med" len="med"/>
            </a:ln>
          </p:spPr>
        </p:sp>
        <p:sp>
          <p:nvSpPr>
            <p:cNvPr id="85026" name="Line 37"/>
            <p:cNvSpPr/>
            <p:nvPr/>
          </p:nvSpPr>
          <p:spPr>
            <a:xfrm flipV="1">
              <a:off x="4992" y="1488"/>
              <a:ext cx="0" cy="960"/>
            </a:xfrm>
            <a:prstGeom prst="line">
              <a:avLst/>
            </a:prstGeom>
            <a:ln w="9525" cap="flat" cmpd="sng">
              <a:solidFill>
                <a:schemeClr val="tx1"/>
              </a:solidFill>
              <a:prstDash val="solid"/>
              <a:headEnd type="none" w="med" len="med"/>
              <a:tailEnd type="none" w="med" len="med"/>
            </a:ln>
          </p:spPr>
        </p:sp>
        <p:sp>
          <p:nvSpPr>
            <p:cNvPr id="85027" name="Line 38"/>
            <p:cNvSpPr/>
            <p:nvPr/>
          </p:nvSpPr>
          <p:spPr>
            <a:xfrm flipV="1">
              <a:off x="5184" y="1488"/>
              <a:ext cx="0" cy="1056"/>
            </a:xfrm>
            <a:prstGeom prst="line">
              <a:avLst/>
            </a:prstGeom>
            <a:ln w="9525" cap="flat" cmpd="sng">
              <a:solidFill>
                <a:schemeClr val="tx1"/>
              </a:solidFill>
              <a:prstDash val="solid"/>
              <a:headEnd type="none" w="med" len="med"/>
              <a:tailEnd type="none" w="med" len="med"/>
            </a:ln>
          </p:spPr>
        </p:sp>
        <p:sp>
          <p:nvSpPr>
            <p:cNvPr id="85028" name="Line 39"/>
            <p:cNvSpPr/>
            <p:nvPr/>
          </p:nvSpPr>
          <p:spPr>
            <a:xfrm flipV="1">
              <a:off x="1344" y="192"/>
              <a:ext cx="0" cy="336"/>
            </a:xfrm>
            <a:prstGeom prst="line">
              <a:avLst/>
            </a:prstGeom>
            <a:ln w="9525" cap="flat" cmpd="sng">
              <a:solidFill>
                <a:schemeClr val="tx1"/>
              </a:solidFill>
              <a:prstDash val="solid"/>
              <a:headEnd type="triangle" w="med" len="med"/>
              <a:tailEnd type="triangle" w="med" len="med"/>
            </a:ln>
          </p:spPr>
        </p:sp>
        <p:sp>
          <p:nvSpPr>
            <p:cNvPr id="85029" name="Line 40"/>
            <p:cNvSpPr/>
            <p:nvPr/>
          </p:nvSpPr>
          <p:spPr>
            <a:xfrm flipV="1">
              <a:off x="2640" y="192"/>
              <a:ext cx="0" cy="336"/>
            </a:xfrm>
            <a:prstGeom prst="line">
              <a:avLst/>
            </a:prstGeom>
            <a:ln w="9525" cap="flat" cmpd="sng">
              <a:solidFill>
                <a:schemeClr val="tx1"/>
              </a:solidFill>
              <a:prstDash val="solid"/>
              <a:headEnd type="triangle" w="med" len="med"/>
              <a:tailEnd type="triangle" w="med" len="med"/>
            </a:ln>
          </p:spPr>
        </p:sp>
        <p:sp>
          <p:nvSpPr>
            <p:cNvPr id="85030" name="Line 41"/>
            <p:cNvSpPr/>
            <p:nvPr/>
          </p:nvSpPr>
          <p:spPr>
            <a:xfrm flipV="1">
              <a:off x="3600" y="192"/>
              <a:ext cx="0" cy="336"/>
            </a:xfrm>
            <a:prstGeom prst="line">
              <a:avLst/>
            </a:prstGeom>
            <a:ln w="9525" cap="flat" cmpd="sng">
              <a:solidFill>
                <a:schemeClr val="tx1"/>
              </a:solidFill>
              <a:prstDash val="solid"/>
              <a:headEnd type="triangle" w="med" len="med"/>
              <a:tailEnd type="triangle" w="med" len="med"/>
            </a:ln>
          </p:spPr>
        </p:sp>
        <p:sp>
          <p:nvSpPr>
            <p:cNvPr id="85031" name="Line 42"/>
            <p:cNvSpPr/>
            <p:nvPr/>
          </p:nvSpPr>
          <p:spPr>
            <a:xfrm flipV="1">
              <a:off x="4080" y="192"/>
              <a:ext cx="0" cy="336"/>
            </a:xfrm>
            <a:prstGeom prst="line">
              <a:avLst/>
            </a:prstGeom>
            <a:ln w="9525" cap="flat" cmpd="sng">
              <a:solidFill>
                <a:schemeClr val="tx1"/>
              </a:solidFill>
              <a:prstDash val="solid"/>
              <a:headEnd type="triangle" w="med" len="med"/>
              <a:tailEnd type="triangle" w="med" len="med"/>
            </a:ln>
          </p:spPr>
        </p:sp>
        <p:sp>
          <p:nvSpPr>
            <p:cNvPr id="85032" name="Line 43"/>
            <p:cNvSpPr/>
            <p:nvPr/>
          </p:nvSpPr>
          <p:spPr>
            <a:xfrm flipV="1">
              <a:off x="4512" y="192"/>
              <a:ext cx="0" cy="336"/>
            </a:xfrm>
            <a:prstGeom prst="line">
              <a:avLst/>
            </a:prstGeom>
            <a:ln w="9525" cap="flat" cmpd="sng">
              <a:solidFill>
                <a:schemeClr val="tx1"/>
              </a:solidFill>
              <a:prstDash val="solid"/>
              <a:headEnd type="triangle" w="med" len="med"/>
              <a:tailEnd type="triangle" w="med" len="med"/>
            </a:ln>
          </p:spPr>
        </p:sp>
        <p:sp>
          <p:nvSpPr>
            <p:cNvPr id="85033" name="Line 44"/>
            <p:cNvSpPr/>
            <p:nvPr/>
          </p:nvSpPr>
          <p:spPr>
            <a:xfrm flipV="1">
              <a:off x="4944" y="192"/>
              <a:ext cx="0" cy="336"/>
            </a:xfrm>
            <a:prstGeom prst="line">
              <a:avLst/>
            </a:prstGeom>
            <a:ln w="9525" cap="flat" cmpd="sng">
              <a:solidFill>
                <a:schemeClr val="tx1"/>
              </a:solidFill>
              <a:prstDash val="solid"/>
              <a:headEnd type="triangle" w="med" len="med"/>
              <a:tailEnd type="triangle" w="med" len="med"/>
            </a:ln>
          </p:spPr>
        </p:sp>
        <p:sp>
          <p:nvSpPr>
            <p:cNvPr id="85034" name="Line 45"/>
            <p:cNvSpPr/>
            <p:nvPr/>
          </p:nvSpPr>
          <p:spPr>
            <a:xfrm flipV="1">
              <a:off x="1776" y="192"/>
              <a:ext cx="0" cy="336"/>
            </a:xfrm>
            <a:prstGeom prst="line">
              <a:avLst/>
            </a:prstGeom>
            <a:ln w="9525" cap="flat" cmpd="sng">
              <a:solidFill>
                <a:schemeClr val="tx1"/>
              </a:solidFill>
              <a:prstDash val="solid"/>
              <a:headEnd type="triangle" w="med" len="med"/>
              <a:tailEnd type="triangle" w="med" len="med"/>
            </a:ln>
          </p:spPr>
        </p:sp>
        <p:sp>
          <p:nvSpPr>
            <p:cNvPr id="85035" name="Line 46"/>
            <p:cNvSpPr/>
            <p:nvPr/>
          </p:nvSpPr>
          <p:spPr>
            <a:xfrm flipV="1">
              <a:off x="2208" y="192"/>
              <a:ext cx="0" cy="336"/>
            </a:xfrm>
            <a:prstGeom prst="line">
              <a:avLst/>
            </a:prstGeom>
            <a:ln w="9525" cap="flat" cmpd="sng">
              <a:solidFill>
                <a:schemeClr val="tx1"/>
              </a:solidFill>
              <a:prstDash val="solid"/>
              <a:headEnd type="triangle" w="med" len="med"/>
              <a:tailEnd type="triangle" w="med" len="med"/>
            </a:ln>
          </p:spPr>
        </p:sp>
        <p:sp>
          <p:nvSpPr>
            <p:cNvPr id="85036" name="Line 47"/>
            <p:cNvSpPr/>
            <p:nvPr/>
          </p:nvSpPr>
          <p:spPr>
            <a:xfrm>
              <a:off x="3024" y="960"/>
              <a:ext cx="96" cy="0"/>
            </a:xfrm>
            <a:prstGeom prst="line">
              <a:avLst/>
            </a:prstGeom>
            <a:ln w="9525" cap="flat" cmpd="sng">
              <a:solidFill>
                <a:schemeClr val="tx1"/>
              </a:solidFill>
              <a:prstDash val="solid"/>
              <a:headEnd type="none" w="med" len="med"/>
              <a:tailEnd type="none" w="med" len="med"/>
            </a:ln>
          </p:spPr>
        </p:sp>
        <p:sp>
          <p:nvSpPr>
            <p:cNvPr id="85037" name="Line 48"/>
            <p:cNvSpPr/>
            <p:nvPr/>
          </p:nvSpPr>
          <p:spPr>
            <a:xfrm>
              <a:off x="3120" y="960"/>
              <a:ext cx="0" cy="1728"/>
            </a:xfrm>
            <a:prstGeom prst="line">
              <a:avLst/>
            </a:prstGeom>
            <a:ln w="9525" cap="flat" cmpd="sng">
              <a:solidFill>
                <a:schemeClr val="tx1"/>
              </a:solidFill>
              <a:prstDash val="solid"/>
              <a:headEnd type="none" w="med" len="med"/>
              <a:tailEnd type="none" w="med" len="med"/>
            </a:ln>
          </p:spPr>
        </p:sp>
        <p:sp>
          <p:nvSpPr>
            <p:cNvPr id="85038" name="Line 49"/>
            <p:cNvSpPr/>
            <p:nvPr/>
          </p:nvSpPr>
          <p:spPr>
            <a:xfrm>
              <a:off x="5328" y="1008"/>
              <a:ext cx="96" cy="0"/>
            </a:xfrm>
            <a:prstGeom prst="line">
              <a:avLst/>
            </a:prstGeom>
            <a:ln w="9525" cap="flat" cmpd="sng">
              <a:solidFill>
                <a:schemeClr val="tx1"/>
              </a:solidFill>
              <a:prstDash val="solid"/>
              <a:headEnd type="none" w="med" len="med"/>
              <a:tailEnd type="none" w="med" len="med"/>
            </a:ln>
          </p:spPr>
        </p:sp>
        <p:sp>
          <p:nvSpPr>
            <p:cNvPr id="85039" name="Line 50"/>
            <p:cNvSpPr/>
            <p:nvPr/>
          </p:nvSpPr>
          <p:spPr>
            <a:xfrm>
              <a:off x="5424" y="1008"/>
              <a:ext cx="0" cy="1680"/>
            </a:xfrm>
            <a:prstGeom prst="line">
              <a:avLst/>
            </a:prstGeom>
            <a:ln w="9525" cap="flat" cmpd="sng">
              <a:solidFill>
                <a:schemeClr val="tx1"/>
              </a:solidFill>
              <a:prstDash val="solid"/>
              <a:headEnd type="none" w="med" len="med"/>
              <a:tailEnd type="none" w="med" len="med"/>
            </a:ln>
          </p:spPr>
        </p:sp>
        <p:sp>
          <p:nvSpPr>
            <p:cNvPr id="85040" name="Line 51"/>
            <p:cNvSpPr/>
            <p:nvPr/>
          </p:nvSpPr>
          <p:spPr>
            <a:xfrm flipH="1">
              <a:off x="672" y="2688"/>
              <a:ext cx="4752" cy="0"/>
            </a:xfrm>
            <a:prstGeom prst="line">
              <a:avLst/>
            </a:prstGeom>
            <a:ln w="9525" cap="flat" cmpd="sng">
              <a:solidFill>
                <a:schemeClr val="tx1"/>
              </a:solidFill>
              <a:prstDash val="solid"/>
              <a:headEnd type="none" w="med" len="med"/>
              <a:tailEnd type="none" w="med" len="med"/>
            </a:ln>
          </p:spPr>
        </p:sp>
        <p:sp>
          <p:nvSpPr>
            <p:cNvPr id="85041" name="Line 52"/>
            <p:cNvSpPr/>
            <p:nvPr/>
          </p:nvSpPr>
          <p:spPr>
            <a:xfrm>
              <a:off x="384" y="2640"/>
              <a:ext cx="192" cy="0"/>
            </a:xfrm>
            <a:prstGeom prst="line">
              <a:avLst/>
            </a:prstGeom>
            <a:ln w="9525" cap="flat" cmpd="sng">
              <a:solidFill>
                <a:schemeClr val="tx1"/>
              </a:solidFill>
              <a:prstDash val="solid"/>
              <a:headEnd type="none" w="med" len="med"/>
              <a:tailEnd type="none" w="med" len="med"/>
            </a:ln>
          </p:spPr>
        </p:sp>
        <p:sp>
          <p:nvSpPr>
            <p:cNvPr id="85042" name="Line 53"/>
            <p:cNvSpPr/>
            <p:nvPr/>
          </p:nvSpPr>
          <p:spPr>
            <a:xfrm>
              <a:off x="3408" y="912"/>
              <a:ext cx="240" cy="0"/>
            </a:xfrm>
            <a:prstGeom prst="line">
              <a:avLst/>
            </a:prstGeom>
            <a:ln w="9525" cap="flat" cmpd="sng">
              <a:solidFill>
                <a:schemeClr val="tx1"/>
              </a:solidFill>
              <a:prstDash val="solid"/>
              <a:headEnd type="none" w="med" len="med"/>
              <a:tailEnd type="none" w="med" len="med"/>
            </a:ln>
          </p:spPr>
        </p:sp>
        <p:grpSp>
          <p:nvGrpSpPr>
            <p:cNvPr id="85043" name="Group 54"/>
            <p:cNvGrpSpPr/>
            <p:nvPr/>
          </p:nvGrpSpPr>
          <p:grpSpPr>
            <a:xfrm>
              <a:off x="3312" y="528"/>
              <a:ext cx="2016" cy="960"/>
              <a:chOff x="0" y="0"/>
              <a:chExt cx="2016" cy="960"/>
            </a:xfrm>
          </p:grpSpPr>
          <p:sp>
            <p:nvSpPr>
              <p:cNvPr id="85051" name="AutoShape 55"/>
              <p:cNvSpPr/>
              <p:nvPr/>
            </p:nvSpPr>
            <p:spPr>
              <a:xfrm>
                <a:off x="0" y="0"/>
                <a:ext cx="2016" cy="96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I/O</a:t>
                </a:r>
                <a:r>
                  <a:rPr lang="zh-CN" altLang="en-US" sz="1600" baseline="-25000" dirty="0">
                    <a:solidFill>
                      <a:schemeClr val="tx1"/>
                    </a:solidFill>
                    <a:latin typeface="Tahoma" panose="020B0604030504040204" pitchFamily="34" charset="0"/>
                  </a:rPr>
                  <a:t>1     </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2</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3    </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4</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WE                 2114            CS</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1</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2</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3</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4</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5</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6</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7</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8</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9</a:t>
                </a:r>
                <a:r>
                  <a:rPr lang="zh-CN" altLang="en-US" sz="1600" dirty="0">
                    <a:solidFill>
                      <a:schemeClr val="tx1"/>
                    </a:solidFill>
                    <a:latin typeface="Tahoma" panose="020B0604030504040204" pitchFamily="34" charset="0"/>
                  </a:rPr>
                  <a:t> </a:t>
                </a:r>
                <a:endParaRPr lang="zh-CN" altLang="en-US" sz="1600" dirty="0">
                  <a:solidFill>
                    <a:schemeClr val="tx1"/>
                  </a:solidFill>
                  <a:latin typeface="Tahoma" panose="020B0604030504040204" pitchFamily="34" charset="0"/>
                </a:endParaRPr>
              </a:p>
            </p:txBody>
          </p:sp>
          <p:sp>
            <p:nvSpPr>
              <p:cNvPr id="85052" name="Line 56"/>
              <p:cNvSpPr/>
              <p:nvPr/>
            </p:nvSpPr>
            <p:spPr>
              <a:xfrm>
                <a:off x="1728" y="384"/>
                <a:ext cx="144" cy="0"/>
              </a:xfrm>
              <a:prstGeom prst="line">
                <a:avLst/>
              </a:prstGeom>
              <a:ln w="9525" cap="flat" cmpd="sng">
                <a:solidFill>
                  <a:schemeClr val="tx1"/>
                </a:solidFill>
                <a:prstDash val="solid"/>
                <a:headEnd type="none" w="med" len="med"/>
                <a:tailEnd type="none" w="med" len="med"/>
              </a:ln>
            </p:spPr>
          </p:sp>
          <p:sp>
            <p:nvSpPr>
              <p:cNvPr id="85053" name="Line 57"/>
              <p:cNvSpPr/>
              <p:nvPr/>
            </p:nvSpPr>
            <p:spPr>
              <a:xfrm>
                <a:off x="96" y="384"/>
                <a:ext cx="192" cy="0"/>
              </a:xfrm>
              <a:prstGeom prst="line">
                <a:avLst/>
              </a:prstGeom>
              <a:ln w="9525" cap="flat" cmpd="sng">
                <a:solidFill>
                  <a:schemeClr val="tx1"/>
                </a:solidFill>
                <a:prstDash val="solid"/>
                <a:headEnd type="none" w="med" len="med"/>
                <a:tailEnd type="none" w="med" len="med"/>
              </a:ln>
            </p:spPr>
          </p:sp>
        </p:grpSp>
        <p:grpSp>
          <p:nvGrpSpPr>
            <p:cNvPr id="85044" name="Group 58"/>
            <p:cNvGrpSpPr/>
            <p:nvPr/>
          </p:nvGrpSpPr>
          <p:grpSpPr>
            <a:xfrm>
              <a:off x="0" y="0"/>
              <a:ext cx="912" cy="2880"/>
              <a:chOff x="0" y="0"/>
              <a:chExt cx="912" cy="2880"/>
            </a:xfrm>
          </p:grpSpPr>
          <p:sp>
            <p:nvSpPr>
              <p:cNvPr id="85045" name="AutoShape 59"/>
              <p:cNvSpPr/>
              <p:nvPr/>
            </p:nvSpPr>
            <p:spPr>
              <a:xfrm>
                <a:off x="0" y="0"/>
                <a:ext cx="672" cy="2880"/>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CPU</a:t>
                </a: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1400" dirty="0">
                    <a:solidFill>
                      <a:schemeClr val="tx1"/>
                    </a:solidFill>
                    <a:latin typeface="Tahoma" panose="020B0604030504040204" pitchFamily="34" charset="0"/>
                  </a:rPr>
                  <a:t>    </a:t>
                </a:r>
                <a:endParaRPr lang="zh-CN" altLang="en-US" sz="1400" dirty="0">
                  <a:solidFill>
                    <a:schemeClr val="tx1"/>
                  </a:solidFill>
                  <a:latin typeface="Tahoma" panose="020B0604030504040204" pitchFamily="34" charset="0"/>
                </a:endParaRPr>
              </a:p>
              <a:p>
                <a:pPr marL="0" lvl="0" indent="0" algn="ctr" eaLnBrk="1" hangingPunct="1">
                  <a:spcBef>
                    <a:spcPct val="0"/>
                  </a:spcBef>
                  <a:buNone/>
                </a:pPr>
                <a:r>
                  <a:rPr lang="zh-CN" altLang="en-US" sz="1400" dirty="0">
                    <a:solidFill>
                      <a:schemeClr val="tx1"/>
                    </a:solidFill>
                    <a:latin typeface="Tahoma" panose="020B0604030504040204" pitchFamily="34" charset="0"/>
                  </a:rPr>
                  <a:t>         </a:t>
                </a:r>
                <a:r>
                  <a:rPr lang="zh-CN" altLang="en-US" sz="1400" baseline="-25000" dirty="0">
                    <a:solidFill>
                      <a:schemeClr val="tx1"/>
                    </a:solidFill>
                    <a:latin typeface="Tahoma" panose="020B0604030504040204" pitchFamily="34" charset="0"/>
                  </a:rPr>
                  <a:t>            </a:t>
                </a:r>
                <a:endParaRPr lang="zh-CN" altLang="en-US" sz="1400" baseline="-25000" dirty="0">
                  <a:solidFill>
                    <a:schemeClr val="tx1"/>
                  </a:solidFill>
                  <a:latin typeface="Tahoma" panose="020B0604030504040204" pitchFamily="34" charset="0"/>
                </a:endParaRPr>
              </a:p>
              <a:p>
                <a:pPr marL="0" lvl="0" indent="0" algn="ctr" eaLnBrk="1" hangingPunct="1">
                  <a:spcBef>
                    <a:spcPct val="0"/>
                  </a:spcBef>
                  <a:buNone/>
                </a:pPr>
                <a:r>
                  <a:rPr lang="zh-CN" altLang="en-US" sz="1400" dirty="0">
                    <a:solidFill>
                      <a:schemeClr val="tx1"/>
                    </a:solidFill>
                    <a:latin typeface="Tahoma" panose="020B0604030504040204" pitchFamily="34" charset="0"/>
                  </a:rPr>
                  <a:t>        </a:t>
                </a:r>
                <a:endParaRPr lang="zh-CN" altLang="en-US" sz="14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400" baseline="-25000" dirty="0">
                  <a:solidFill>
                    <a:schemeClr val="tx1"/>
                  </a:solidFill>
                  <a:latin typeface="Tahoma" panose="020B0604030504040204" pitchFamily="34" charset="0"/>
                </a:endParaRPr>
              </a:p>
            </p:txBody>
          </p:sp>
          <p:sp>
            <p:nvSpPr>
              <p:cNvPr id="85046" name="Text Box 60"/>
              <p:cNvSpPr txBox="1"/>
              <p:nvPr/>
            </p:nvSpPr>
            <p:spPr>
              <a:xfrm>
                <a:off x="432" y="1536"/>
                <a:ext cx="288" cy="22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endParaRPr lang="zh-CN" altLang="en-US" sz="1600" baseline="-25000" dirty="0">
                  <a:solidFill>
                    <a:schemeClr val="tx1"/>
                  </a:solidFill>
                  <a:latin typeface="Tahoma" panose="020B0604030504040204" pitchFamily="34" charset="0"/>
                </a:endParaRPr>
              </a:p>
            </p:txBody>
          </p:sp>
          <p:sp>
            <p:nvSpPr>
              <p:cNvPr id="85047" name="Text Box 61"/>
              <p:cNvSpPr txBox="1"/>
              <p:nvPr/>
            </p:nvSpPr>
            <p:spPr>
              <a:xfrm>
                <a:off x="432" y="2400"/>
                <a:ext cx="288" cy="2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9</a:t>
                </a:r>
                <a:endParaRPr lang="zh-CN" altLang="en-US" sz="1600" baseline="-25000" dirty="0">
                  <a:solidFill>
                    <a:schemeClr val="tx1"/>
                  </a:solidFill>
                  <a:latin typeface="Tahoma" panose="020B0604030504040204" pitchFamily="34" charset="0"/>
                </a:endParaRPr>
              </a:p>
            </p:txBody>
          </p:sp>
          <p:sp>
            <p:nvSpPr>
              <p:cNvPr id="85048" name="Text Box 62"/>
              <p:cNvSpPr txBox="1"/>
              <p:nvPr/>
            </p:nvSpPr>
            <p:spPr>
              <a:xfrm>
                <a:off x="384" y="2592"/>
                <a:ext cx="528" cy="2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CS</a:t>
                </a:r>
                <a:endParaRPr lang="zh-CN" altLang="en-US" sz="1600" dirty="0">
                  <a:solidFill>
                    <a:schemeClr val="tx1"/>
                  </a:solidFill>
                  <a:latin typeface="Tahoma" panose="020B0604030504040204" pitchFamily="34" charset="0"/>
                </a:endParaRPr>
              </a:p>
            </p:txBody>
          </p:sp>
          <p:sp>
            <p:nvSpPr>
              <p:cNvPr id="85049" name="Text Box 63"/>
              <p:cNvSpPr txBox="1"/>
              <p:nvPr/>
            </p:nvSpPr>
            <p:spPr>
              <a:xfrm>
                <a:off x="240" y="48"/>
                <a:ext cx="577" cy="2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7</a:t>
                </a:r>
                <a:endParaRPr lang="zh-CN" altLang="en-US" sz="1600" baseline="-25000" dirty="0">
                  <a:solidFill>
                    <a:schemeClr val="tx1"/>
                  </a:solidFill>
                  <a:latin typeface="Tahoma" panose="020B0604030504040204" pitchFamily="34" charset="0"/>
                </a:endParaRPr>
              </a:p>
            </p:txBody>
          </p:sp>
          <p:sp>
            <p:nvSpPr>
              <p:cNvPr id="85050" name="Line 64"/>
              <p:cNvSpPr/>
              <p:nvPr/>
            </p:nvSpPr>
            <p:spPr>
              <a:xfrm>
                <a:off x="432" y="2592"/>
                <a:ext cx="144" cy="0"/>
              </a:xfrm>
              <a:prstGeom prst="line">
                <a:avLst/>
              </a:prstGeom>
              <a:ln w="9525" cap="flat" cmpd="sng">
                <a:solidFill>
                  <a:schemeClr val="tx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body" idx="4294967295"/>
          </p:nvPr>
        </p:nvSpPr>
        <p:spPr>
          <a:ln/>
        </p:spPr>
        <p:txBody>
          <a:bodyPr vert="horz" wrap="square" lIns="91440" tIns="45720" rIns="91440" bIns="45720" anchor="t" anchorCtr="0"/>
          <a:p>
            <a:pPr eaLnBrk="1" hangingPunct="1">
              <a:lnSpc>
                <a:spcPct val="90000"/>
              </a:lnSpc>
            </a:pPr>
            <a:r>
              <a:rPr lang="zh-CN" altLang="en-US" sz="3600" b="1" dirty="0">
                <a:ea typeface="楷体_GB2312" pitchFamily="1" charset="-122"/>
              </a:rPr>
              <a:t>     </a:t>
            </a:r>
            <a:r>
              <a:rPr lang="zh-CN" altLang="en-US" sz="2800" b="1" dirty="0">
                <a:ea typeface="楷体_GB2312" pitchFamily="1" charset="-122"/>
              </a:rPr>
              <a:t>假定使用8K×1的RAM存储器芯片，那么组成8K×8位的存储器，每一片RAM是8192×1，故其地址线为13条（A0—A12），可满足整个存储体容量的要求。每一片对应于数据的1位（只有1条数据线），故只需将它们分别接到数据总线上的相应位即可。</a:t>
            </a:r>
            <a:endParaRPr lang="zh-CN" altLang="en-US" sz="2800" b="1" dirty="0">
              <a:ea typeface="楷体_GB2312" pitchFamily="1" charset="-122"/>
            </a:endParaRPr>
          </a:p>
          <a:p>
            <a:pPr eaLnBrk="1" hangingPunct="1">
              <a:lnSpc>
                <a:spcPct val="90000"/>
              </a:lnSpc>
            </a:pPr>
            <a:r>
              <a:rPr lang="zh-CN" altLang="en-US" sz="2800" b="1" dirty="0">
                <a:ea typeface="楷体_GB2312" pitchFamily="1" charset="-122"/>
              </a:rPr>
              <a:t>       在这种方式中，对片子没有选片要求，就是说片子按已被选中来考虑，如果片子有选片输入端（CS），可将它们直接接地。</a:t>
            </a:r>
            <a:endParaRPr lang="zh-CN" altLang="en-US" sz="2800" b="1" baseline="-25000" dirty="0"/>
          </a:p>
        </p:txBody>
      </p:sp>
      <p:sp>
        <p:nvSpPr>
          <p:cNvPr id="86019" name="Rectangle 3"/>
          <p:cNvSpPr/>
          <p:nvPr>
            <p:ph type="title" idx="4294967295"/>
          </p:nvPr>
        </p:nvSpPr>
        <p:spPr>
          <a:xfrm>
            <a:off x="323850" y="765175"/>
            <a:ext cx="8229600" cy="796925"/>
          </a:xfrm>
          <a:prstGeom prst="rect">
            <a:avLst/>
          </a:prstGeom>
          <a:noFill/>
          <a:ln w="9525">
            <a:noFill/>
          </a:ln>
        </p:spPr>
        <p:txBody>
          <a:bodyPr anchor="ctr" anchorCtr="0"/>
          <a:p>
            <a:pPr algn="l" eaLnBrk="1" hangingPunct="1"/>
            <a:r>
              <a:rPr lang="zh-CN" altLang="en-US" dirty="0"/>
              <a:t>存储器容量的扩展</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7042" name="Picture 2" descr="位扩展"/>
          <p:cNvPicPr>
            <a:picLocks noChangeAspect="1"/>
          </p:cNvPicPr>
          <p:nvPr/>
        </p:nvPicPr>
        <p:blipFill>
          <a:blip r:embed="rId1"/>
          <a:srcRect b="17831"/>
          <a:stretch>
            <a:fillRect/>
          </a:stretch>
        </p:blipFill>
        <p:spPr>
          <a:xfrm>
            <a:off x="323850" y="981075"/>
            <a:ext cx="8569325" cy="5157788"/>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body" idx="4294967295"/>
          </p:nvPr>
        </p:nvSpPr>
        <p:spPr>
          <a:xfrm>
            <a:off x="685800" y="1981200"/>
            <a:ext cx="7918450" cy="4114800"/>
          </a:xfrm>
          <a:ln/>
        </p:spPr>
        <p:txBody>
          <a:bodyPr vert="horz" wrap="square" lIns="91440" tIns="45720" rIns="91440" bIns="45720" anchor="t" anchorCtr="0"/>
          <a:p>
            <a:pPr eaLnBrk="1" hangingPunct="1"/>
            <a:r>
              <a:rPr lang="zh-CN" altLang="en-US" sz="2800" b="1" dirty="0">
                <a:solidFill>
                  <a:srgbClr val="993366"/>
                </a:solidFill>
                <a:ea typeface="楷体_GB2312" pitchFamily="1" charset="-122"/>
              </a:rPr>
              <a:t>字扩展法：</a:t>
            </a:r>
            <a:r>
              <a:rPr lang="zh-CN" altLang="en-US" sz="2800" b="1" dirty="0">
                <a:ea typeface="楷体_GB2312" pitchFamily="1" charset="-122"/>
              </a:rPr>
              <a:t>当芯片字长与主存相同，而字数不足时，就需要用几片存储器芯片</a:t>
            </a:r>
            <a:r>
              <a:rPr lang="zh-CN" altLang="en-US" sz="2800" b="1" dirty="0">
                <a:solidFill>
                  <a:srgbClr val="FF0000"/>
                </a:solidFill>
                <a:ea typeface="楷体_GB2312" pitchFamily="1" charset="-122"/>
              </a:rPr>
              <a:t>串联</a:t>
            </a:r>
            <a:r>
              <a:rPr lang="zh-CN" altLang="en-US" sz="2800" b="1" dirty="0">
                <a:ea typeface="楷体_GB2312" pitchFamily="1" charset="-122"/>
              </a:rPr>
              <a:t>起来的存储空间即地址空间进行扩展，称为字扩展。</a:t>
            </a:r>
            <a:endParaRPr lang="zh-CN" altLang="en-US" sz="2800" b="1" dirty="0">
              <a:ea typeface="楷体_GB2312" pitchFamily="1" charset="-122"/>
            </a:endParaRPr>
          </a:p>
          <a:p>
            <a:pPr eaLnBrk="1" hangingPunct="1"/>
            <a:r>
              <a:rPr lang="zh-CN" altLang="en-US" sz="2800" b="1" dirty="0">
                <a:solidFill>
                  <a:srgbClr val="993366"/>
                </a:solidFill>
                <a:ea typeface="楷体_GB2312" pitchFamily="1" charset="-122"/>
              </a:rPr>
              <a:t>方法：</a:t>
            </a:r>
            <a:r>
              <a:rPr lang="zh-CN" altLang="en-US" sz="2800" b="1" dirty="0">
                <a:ea typeface="楷体_GB2312" pitchFamily="1" charset="-122"/>
              </a:rPr>
              <a:t>将各芯片的地址线，数据线、读/写线分别并联在一起，片选信号单独连接，用来区分各片地址，用</a:t>
            </a:r>
            <a:r>
              <a:rPr lang="zh-CN" altLang="en-US" sz="2800" b="1" dirty="0">
                <a:solidFill>
                  <a:srgbClr val="0000FF"/>
                </a:solidFill>
                <a:ea typeface="楷体_GB2312" pitchFamily="1" charset="-122"/>
              </a:rPr>
              <a:t>高位地址经过译码</a:t>
            </a:r>
            <a:r>
              <a:rPr lang="zh-CN" altLang="en-US" sz="2800" b="1" dirty="0">
                <a:ea typeface="楷体_GB2312" pitchFamily="1" charset="-122"/>
              </a:rPr>
              <a:t>而产生的输出信号</a:t>
            </a:r>
            <a:r>
              <a:rPr lang="zh-CN" altLang="en-US" sz="2800" b="1" dirty="0">
                <a:solidFill>
                  <a:srgbClr val="0000FF"/>
                </a:solidFill>
                <a:ea typeface="楷体_GB2312" pitchFamily="1" charset="-122"/>
              </a:rPr>
              <a:t>作为各个芯片的片选信号</a:t>
            </a:r>
            <a:r>
              <a:rPr lang="zh-CN" altLang="en-US" sz="2800" b="1" dirty="0">
                <a:ea typeface="楷体_GB2312" pitchFamily="1" charset="-122"/>
              </a:rPr>
              <a:t>，用</a:t>
            </a:r>
            <a:r>
              <a:rPr lang="zh-CN" altLang="en-US" sz="2800" b="1" dirty="0">
                <a:solidFill>
                  <a:srgbClr val="0000FF"/>
                </a:solidFill>
                <a:ea typeface="楷体_GB2312" pitchFamily="1" charset="-122"/>
              </a:rPr>
              <a:t>低位地址作为各芯片的片内地址</a:t>
            </a:r>
            <a:r>
              <a:rPr lang="zh-CN" altLang="en-US" sz="2800" b="1" dirty="0">
                <a:ea typeface="楷体_GB2312" pitchFamily="1" charset="-122"/>
              </a:rPr>
              <a:t>。</a:t>
            </a:r>
            <a:r>
              <a:rPr lang="zh-CN" altLang="en-US" sz="2800" b="1" dirty="0"/>
              <a:t> </a:t>
            </a:r>
            <a:endParaRPr lang="zh-CN" altLang="en-US" sz="2800" b="1" dirty="0"/>
          </a:p>
        </p:txBody>
      </p:sp>
      <p:sp>
        <p:nvSpPr>
          <p:cNvPr id="88067" name="Rectangle 3"/>
          <p:cNvSpPr/>
          <p:nvPr>
            <p:ph type="title" idx="4294967295"/>
          </p:nvPr>
        </p:nvSpPr>
        <p:spPr>
          <a:xfrm>
            <a:off x="457200" y="274638"/>
            <a:ext cx="8229600" cy="1143000"/>
          </a:xfrm>
          <a:prstGeom prst="rect">
            <a:avLst/>
          </a:prstGeom>
          <a:noFill/>
          <a:ln w="9525">
            <a:noFill/>
          </a:ln>
        </p:spPr>
        <p:txBody>
          <a:bodyPr anchor="ctr" anchorCtr="0"/>
          <a:p>
            <a:pPr algn="l" eaLnBrk="1" hangingPunct="1"/>
            <a:r>
              <a:rPr lang="zh-CN" altLang="en-US" dirty="0"/>
              <a:t>存储器容量的扩展</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9090" name="Rectangle 2"/>
          <p:cNvSpPr>
            <a:spLocks noGrp="1"/>
          </p:cNvSpPr>
          <p:nvPr>
            <p:ph type="body" idx="4294967295"/>
          </p:nvPr>
        </p:nvSpPr>
        <p:spPr>
          <a:xfrm>
            <a:off x="323850" y="0"/>
            <a:ext cx="8569325" cy="6597650"/>
          </a:xfrm>
          <a:ln/>
        </p:spPr>
        <p:txBody>
          <a:bodyPr vert="horz" wrap="square" lIns="91440" tIns="45720" rIns="91440" bIns="45720" anchor="t" anchorCtr="0"/>
          <a:p>
            <a:pPr eaLnBrk="1" hangingPunct="1"/>
            <a:r>
              <a:rPr lang="zh-CN" altLang="en-US" sz="2800" b="1" dirty="0">
                <a:ea typeface="楷体_GB2312" pitchFamily="1" charset="-122"/>
              </a:rPr>
              <a:t>例：用16K×8位的芯片采用字扩展法组成64K×8位的存储器。</a:t>
            </a:r>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endParaRPr lang="zh-CN" altLang="en-US" sz="2800" b="1" dirty="0">
              <a:ea typeface="楷体_GB2312" pitchFamily="1" charset="-122"/>
            </a:endParaRPr>
          </a:p>
          <a:p>
            <a:pPr eaLnBrk="1" hangingPunct="1"/>
            <a:r>
              <a:rPr lang="zh-CN" altLang="en-US" sz="1800" b="1" dirty="0">
                <a:latin typeface="楷体_GB2312" pitchFamily="1" charset="-122"/>
                <a:ea typeface="楷体_GB2312" pitchFamily="1" charset="-122"/>
              </a:rPr>
              <a:t>4个芯片的数据端与数据总线D0</a:t>
            </a:r>
            <a:r>
              <a:rPr lang="zh-CN" altLang="en-US" sz="1800" b="1" dirty="0">
                <a:ea typeface="楷体_GB2312" pitchFamily="1" charset="-122"/>
              </a:rPr>
              <a:t>—</a:t>
            </a:r>
            <a:r>
              <a:rPr lang="zh-CN" altLang="en-US" sz="1800" b="1" dirty="0">
                <a:latin typeface="楷体_GB2312" pitchFamily="1" charset="-122"/>
                <a:ea typeface="楷体_GB2312" pitchFamily="1" charset="-122"/>
              </a:rPr>
              <a:t>D7相连，</a:t>
            </a:r>
            <a:endParaRPr lang="zh-CN" altLang="en-US" sz="1800" b="1" dirty="0">
              <a:latin typeface="楷体_GB2312" pitchFamily="1" charset="-122"/>
              <a:ea typeface="楷体_GB2312" pitchFamily="1" charset="-122"/>
            </a:endParaRPr>
          </a:p>
          <a:p>
            <a:pPr eaLnBrk="1" hangingPunct="1"/>
            <a:r>
              <a:rPr lang="zh-CN" altLang="en-US" sz="1800" b="1" dirty="0">
                <a:latin typeface="楷体_GB2312" pitchFamily="1" charset="-122"/>
                <a:ea typeface="楷体_GB2312" pitchFamily="1" charset="-122"/>
              </a:rPr>
              <a:t>地址总线低位地址A0</a:t>
            </a:r>
            <a:r>
              <a:rPr lang="zh-CN" altLang="en-US" sz="1800" b="1" dirty="0">
                <a:ea typeface="楷体_GB2312" pitchFamily="1" charset="-122"/>
              </a:rPr>
              <a:t>—</a:t>
            </a:r>
            <a:r>
              <a:rPr lang="zh-CN" altLang="en-US" sz="1800" b="1" dirty="0">
                <a:latin typeface="楷体_GB2312" pitchFamily="1" charset="-122"/>
                <a:ea typeface="楷体_GB2312" pitchFamily="1" charset="-122"/>
              </a:rPr>
              <a:t>A13与各芯片的14位地址端相连，而两位高位地址A14，A15经译码器和4个片选端相连。</a:t>
            </a:r>
            <a:endParaRPr lang="zh-CN" altLang="en-US" sz="1800" b="1" dirty="0">
              <a:latin typeface="楷体_GB2312" pitchFamily="1" charset="-122"/>
              <a:ea typeface="楷体_GB2312" pitchFamily="1" charset="-122"/>
            </a:endParaRPr>
          </a:p>
        </p:txBody>
      </p:sp>
      <p:pic>
        <p:nvPicPr>
          <p:cNvPr id="89091" name="Picture 3" descr="字扩展"/>
          <p:cNvPicPr>
            <a:picLocks noChangeAspect="1"/>
          </p:cNvPicPr>
          <p:nvPr/>
        </p:nvPicPr>
        <p:blipFill>
          <a:blip r:embed="rId1"/>
          <a:srcRect b="21419"/>
          <a:stretch>
            <a:fillRect/>
          </a:stretch>
        </p:blipFill>
        <p:spPr>
          <a:xfrm>
            <a:off x="684213" y="836613"/>
            <a:ext cx="8077200" cy="4656137"/>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0114" name="Picture 2" descr="字扩展"/>
          <p:cNvPicPr>
            <a:picLocks noChangeAspect="1"/>
          </p:cNvPicPr>
          <p:nvPr/>
        </p:nvPicPr>
        <p:blipFill>
          <a:blip r:embed="rId1"/>
          <a:stretch>
            <a:fillRect/>
          </a:stretch>
        </p:blipFill>
        <p:spPr>
          <a:xfrm>
            <a:off x="107950" y="-26987"/>
            <a:ext cx="8966200" cy="6819900"/>
          </a:xfrm>
          <a:prstGeom prst="rect">
            <a:avLst/>
          </a:prstGeom>
          <a:noFill/>
          <a:ln w="9525">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noRot="1" noChangeAspect="1" noMove="1" noResize="1" noEditPoints="1" noAdjustHandles="1" noChangeArrowheads="1" noChangeShapeType="1" noTextEdit="1"/>
          </p:cNvSpPr>
          <p:nvPr>
            <p:ph type="body" idx="1"/>
          </p:nvPr>
        </p:nvSpPr>
        <p:spPr bwMode="auto">
          <a:xfrm>
            <a:off x="252413" y="1833562"/>
            <a:ext cx="7772400" cy="4114800"/>
          </a:xfrm>
          <a:blipFill>
            <a:blip r:embed="rId1"/>
            <a:stretch>
              <a:fillRect l="-1725" t="-2519" r="-863"/>
            </a:stretch>
          </a:blipFill>
          <a:ln/>
          <a:effectLst/>
          <a:scene3d>
            <a:camera prst="orthographicFront"/>
            <a:lightRig rig="balanced" dir="t"/>
          </a:scene3d>
          <a:sp3d prstMaterial="plastic"/>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0">
                <a:ln>
                  <a:noFill/>
                </a:ln>
                <a:noFill/>
                <a:effectLst/>
                <a:uLnTx/>
                <a:uFillTx/>
                <a:latin typeface="+mn-lt"/>
                <a:ea typeface="+mn-ea"/>
                <a:cs typeface="+mn-cs"/>
              </a:rPr>
              <a:t> </a:t>
            </a:r>
            <a:endParaRPr kumimoji="0" lang="zh-CN" altLang="en-US" sz="3200" b="0" i="0" u="none" strike="noStrike" kern="1200" cap="none" spc="0" normalizeH="0" baseline="0" noProof="0">
              <a:ln>
                <a:noFill/>
              </a:ln>
              <a:noFill/>
              <a:effectLst/>
              <a:uLnTx/>
              <a:uFillTx/>
              <a:latin typeface="+mn-lt"/>
              <a:ea typeface="+mn-ea"/>
              <a:cs typeface="+mn-cs"/>
            </a:endParaRPr>
          </a:p>
        </p:txBody>
      </p:sp>
      <p:sp>
        <p:nvSpPr>
          <p:cNvPr id="91139" name="Rectangle 3"/>
          <p:cNvSpPr/>
          <p:nvPr>
            <p:ph type="title" idx="4294967295"/>
          </p:nvPr>
        </p:nvSpPr>
        <p:spPr>
          <a:xfrm>
            <a:off x="252413" y="909638"/>
            <a:ext cx="8229600" cy="796925"/>
          </a:xfrm>
          <a:prstGeom prst="rect">
            <a:avLst/>
          </a:prstGeom>
          <a:noFill/>
          <a:ln w="9525">
            <a:noFill/>
          </a:ln>
        </p:spPr>
        <p:txBody>
          <a:bodyPr anchor="ctr" anchorCtr="0"/>
          <a:p>
            <a:pPr algn="l" eaLnBrk="1" hangingPunct="1"/>
            <a:r>
              <a:rPr lang="zh-CN" altLang="en-US" dirty="0"/>
              <a:t>存储器容量的扩展</a:t>
            </a:r>
            <a:endParaRPr lang="zh-CN" altLang="en-US" dirty="0"/>
          </a:p>
        </p:txBody>
      </p:sp>
      <p:sp>
        <p:nvSpPr>
          <p:cNvPr id="2" name="对话气泡: 圆角矩形 1"/>
          <p:cNvSpPr/>
          <p:nvPr/>
        </p:nvSpPr>
        <p:spPr bwMode="auto">
          <a:xfrm>
            <a:off x="3708400" y="6075363"/>
            <a:ext cx="4773613" cy="576263"/>
          </a:xfrm>
          <a:prstGeom prst="wedgeRoundRectCallout">
            <a:avLst>
              <a:gd name="adj1" fmla="val -70972"/>
              <a:gd name="adj2" fmla="val -106546"/>
              <a:gd name="adj3" fmla="val 16667"/>
            </a:avLst>
          </a:prstGeom>
          <a:solidFill>
            <a:schemeClr val="bg1">
              <a:lumMod val="40000"/>
              <a:lumOff val="6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字长相同，字数不相等，字扩展</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2162" name="Group 2"/>
          <p:cNvGrpSpPr/>
          <p:nvPr/>
        </p:nvGrpSpPr>
        <p:grpSpPr>
          <a:xfrm>
            <a:off x="457200" y="1828800"/>
            <a:ext cx="8229600" cy="4419600"/>
            <a:chOff x="0" y="0"/>
            <a:chExt cx="5184" cy="2784"/>
          </a:xfrm>
        </p:grpSpPr>
        <p:grpSp>
          <p:nvGrpSpPr>
            <p:cNvPr id="92164" name="Group 3"/>
            <p:cNvGrpSpPr/>
            <p:nvPr/>
          </p:nvGrpSpPr>
          <p:grpSpPr>
            <a:xfrm>
              <a:off x="856" y="742"/>
              <a:ext cx="857" cy="928"/>
              <a:chOff x="0" y="0"/>
              <a:chExt cx="912" cy="960"/>
            </a:xfrm>
          </p:grpSpPr>
          <p:sp>
            <p:nvSpPr>
              <p:cNvPr id="92220" name="AutoShape 4"/>
              <p:cNvSpPr/>
              <p:nvPr/>
            </p:nvSpPr>
            <p:spPr>
              <a:xfrm>
                <a:off x="0" y="0"/>
                <a:ext cx="912" cy="96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I/O</a:t>
                </a:r>
                <a:r>
                  <a:rPr lang="zh-CN" altLang="en-US" sz="1600" baseline="-25000" dirty="0">
                    <a:solidFill>
                      <a:schemeClr val="tx1"/>
                    </a:solidFill>
                    <a:latin typeface="Tahoma" panose="020B0604030504040204" pitchFamily="34" charset="0"/>
                  </a:rPr>
                  <a:t>1 </a:t>
                </a:r>
                <a:r>
                  <a:rPr lang="zh-CN" altLang="en-US" sz="1600" dirty="0">
                    <a:solidFill>
                      <a:schemeClr val="tx1"/>
                    </a:solidFill>
                    <a:latin typeface="Tahoma" panose="020B0604030504040204" pitchFamily="34" charset="0"/>
                  </a:rPr>
                  <a:t> </a:t>
                </a:r>
                <a:r>
                  <a:rPr lang="zh-CN" altLang="en-US" sz="1600" dirty="0">
                    <a:solidFill>
                      <a:schemeClr val="tx1"/>
                    </a:solidFill>
                  </a:rPr>
                  <a:t>…</a:t>
                </a:r>
                <a:r>
                  <a:rPr lang="zh-CN" altLang="en-US" sz="1600" dirty="0">
                    <a:solidFill>
                      <a:schemeClr val="tx1"/>
                    </a:solidFill>
                    <a:latin typeface="Tahoma" panose="020B0604030504040204" pitchFamily="34" charset="0"/>
                  </a:rPr>
                  <a:t>..</a:t>
                </a:r>
                <a:r>
                  <a:rPr lang="zh-CN" altLang="en-US" sz="1600" baseline="-25000" dirty="0">
                    <a:solidFill>
                      <a:schemeClr val="tx1"/>
                    </a:solidFill>
                    <a:latin typeface="Tahoma" panose="020B0604030504040204" pitchFamily="34" charset="0"/>
                  </a:rPr>
                  <a:t> </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4</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WE   2114   CS</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t>
                </a:r>
                <a:r>
                  <a:rPr lang="zh-CN" altLang="en-US" sz="1600" dirty="0">
                    <a:solidFill>
                      <a:schemeClr val="tx1"/>
                    </a:solidFill>
                  </a:rPr>
                  <a:t>…</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9</a:t>
                </a:r>
                <a:r>
                  <a:rPr lang="zh-CN" altLang="en-US" sz="1600" dirty="0">
                    <a:solidFill>
                      <a:schemeClr val="tx1"/>
                    </a:solidFill>
                    <a:latin typeface="Tahoma" panose="020B0604030504040204" pitchFamily="34" charset="0"/>
                  </a:rPr>
                  <a:t> </a:t>
                </a:r>
                <a:endParaRPr lang="zh-CN" altLang="en-US" sz="1600" dirty="0">
                  <a:solidFill>
                    <a:schemeClr val="tx1"/>
                  </a:solidFill>
                  <a:latin typeface="Tahoma" panose="020B0604030504040204" pitchFamily="34" charset="0"/>
                </a:endParaRPr>
              </a:p>
            </p:txBody>
          </p:sp>
          <p:sp>
            <p:nvSpPr>
              <p:cNvPr id="92221" name="Line 5"/>
              <p:cNvSpPr/>
              <p:nvPr/>
            </p:nvSpPr>
            <p:spPr>
              <a:xfrm>
                <a:off x="48" y="384"/>
                <a:ext cx="192" cy="0"/>
              </a:xfrm>
              <a:prstGeom prst="line">
                <a:avLst/>
              </a:prstGeom>
              <a:ln w="9525" cap="flat" cmpd="sng">
                <a:solidFill>
                  <a:schemeClr val="tx1"/>
                </a:solidFill>
                <a:prstDash val="solid"/>
                <a:headEnd type="none" w="med" len="med"/>
                <a:tailEnd type="none" w="med" len="med"/>
              </a:ln>
            </p:spPr>
          </p:sp>
          <p:sp>
            <p:nvSpPr>
              <p:cNvPr id="92222" name="Line 6"/>
              <p:cNvSpPr/>
              <p:nvPr/>
            </p:nvSpPr>
            <p:spPr>
              <a:xfrm>
                <a:off x="720" y="384"/>
                <a:ext cx="144" cy="0"/>
              </a:xfrm>
              <a:prstGeom prst="line">
                <a:avLst/>
              </a:prstGeom>
              <a:ln w="9525" cap="flat" cmpd="sng">
                <a:solidFill>
                  <a:schemeClr val="tx1"/>
                </a:solidFill>
                <a:prstDash val="solid"/>
                <a:headEnd type="none" w="med" len="med"/>
                <a:tailEnd type="none" w="med" len="med"/>
              </a:ln>
            </p:spPr>
          </p:sp>
        </p:grpSp>
        <p:grpSp>
          <p:nvGrpSpPr>
            <p:cNvPr id="92165" name="Group 7"/>
            <p:cNvGrpSpPr/>
            <p:nvPr/>
          </p:nvGrpSpPr>
          <p:grpSpPr>
            <a:xfrm>
              <a:off x="1983" y="742"/>
              <a:ext cx="857" cy="928"/>
              <a:chOff x="0" y="0"/>
              <a:chExt cx="912" cy="960"/>
            </a:xfrm>
          </p:grpSpPr>
          <p:sp>
            <p:nvSpPr>
              <p:cNvPr id="92217" name="AutoShape 8"/>
              <p:cNvSpPr/>
              <p:nvPr/>
            </p:nvSpPr>
            <p:spPr>
              <a:xfrm>
                <a:off x="0" y="0"/>
                <a:ext cx="912" cy="96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I/O</a:t>
                </a:r>
                <a:r>
                  <a:rPr lang="zh-CN" altLang="en-US" sz="1600" baseline="-25000" dirty="0">
                    <a:solidFill>
                      <a:schemeClr val="tx1"/>
                    </a:solidFill>
                    <a:latin typeface="Tahoma" panose="020B0604030504040204" pitchFamily="34" charset="0"/>
                  </a:rPr>
                  <a:t>1 </a:t>
                </a:r>
                <a:r>
                  <a:rPr lang="zh-CN" altLang="en-US" sz="1600" dirty="0">
                    <a:solidFill>
                      <a:schemeClr val="tx1"/>
                    </a:solidFill>
                    <a:latin typeface="Tahoma" panose="020B0604030504040204" pitchFamily="34" charset="0"/>
                  </a:rPr>
                  <a:t> </a:t>
                </a:r>
                <a:r>
                  <a:rPr lang="zh-CN" altLang="en-US" sz="1600" dirty="0">
                    <a:solidFill>
                      <a:schemeClr val="tx1"/>
                    </a:solidFill>
                  </a:rPr>
                  <a:t>…</a:t>
                </a:r>
                <a:r>
                  <a:rPr lang="zh-CN" altLang="en-US" sz="1600" dirty="0">
                    <a:solidFill>
                      <a:schemeClr val="tx1"/>
                    </a:solidFill>
                    <a:latin typeface="Tahoma" panose="020B0604030504040204" pitchFamily="34" charset="0"/>
                  </a:rPr>
                  <a:t>..</a:t>
                </a:r>
                <a:r>
                  <a:rPr lang="zh-CN" altLang="en-US" sz="1600" baseline="-25000" dirty="0">
                    <a:solidFill>
                      <a:schemeClr val="tx1"/>
                    </a:solidFill>
                    <a:latin typeface="Tahoma" panose="020B0604030504040204" pitchFamily="34" charset="0"/>
                  </a:rPr>
                  <a:t> </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4</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WE   2114   CS</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t>
                </a:r>
                <a:r>
                  <a:rPr lang="zh-CN" altLang="en-US" sz="1600" dirty="0">
                    <a:solidFill>
                      <a:schemeClr val="tx1"/>
                    </a:solidFill>
                  </a:rPr>
                  <a:t>…</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9</a:t>
                </a:r>
                <a:r>
                  <a:rPr lang="zh-CN" altLang="en-US" sz="1600" dirty="0">
                    <a:solidFill>
                      <a:schemeClr val="tx1"/>
                    </a:solidFill>
                    <a:latin typeface="Tahoma" panose="020B0604030504040204" pitchFamily="34" charset="0"/>
                  </a:rPr>
                  <a:t> </a:t>
                </a:r>
                <a:endParaRPr lang="zh-CN" altLang="en-US" sz="1600" dirty="0">
                  <a:solidFill>
                    <a:schemeClr val="tx1"/>
                  </a:solidFill>
                  <a:latin typeface="Tahoma" panose="020B0604030504040204" pitchFamily="34" charset="0"/>
                </a:endParaRPr>
              </a:p>
            </p:txBody>
          </p:sp>
          <p:sp>
            <p:nvSpPr>
              <p:cNvPr id="92218" name="Line 9"/>
              <p:cNvSpPr/>
              <p:nvPr/>
            </p:nvSpPr>
            <p:spPr>
              <a:xfrm>
                <a:off x="48" y="384"/>
                <a:ext cx="192" cy="0"/>
              </a:xfrm>
              <a:prstGeom prst="line">
                <a:avLst/>
              </a:prstGeom>
              <a:ln w="9525" cap="flat" cmpd="sng">
                <a:solidFill>
                  <a:schemeClr val="tx1"/>
                </a:solidFill>
                <a:prstDash val="solid"/>
                <a:headEnd type="none" w="med" len="med"/>
                <a:tailEnd type="none" w="med" len="med"/>
              </a:ln>
            </p:spPr>
          </p:sp>
          <p:sp>
            <p:nvSpPr>
              <p:cNvPr id="92219" name="Line 10"/>
              <p:cNvSpPr/>
              <p:nvPr/>
            </p:nvSpPr>
            <p:spPr>
              <a:xfrm>
                <a:off x="720" y="384"/>
                <a:ext cx="144" cy="0"/>
              </a:xfrm>
              <a:prstGeom prst="line">
                <a:avLst/>
              </a:prstGeom>
              <a:ln w="9525" cap="flat" cmpd="sng">
                <a:solidFill>
                  <a:schemeClr val="tx1"/>
                </a:solidFill>
                <a:prstDash val="solid"/>
                <a:headEnd type="none" w="med" len="med"/>
                <a:tailEnd type="none" w="med" len="med"/>
              </a:ln>
            </p:spPr>
          </p:sp>
        </p:grpSp>
        <p:grpSp>
          <p:nvGrpSpPr>
            <p:cNvPr id="92166" name="Group 11"/>
            <p:cNvGrpSpPr/>
            <p:nvPr/>
          </p:nvGrpSpPr>
          <p:grpSpPr>
            <a:xfrm>
              <a:off x="3110" y="742"/>
              <a:ext cx="857" cy="928"/>
              <a:chOff x="0" y="0"/>
              <a:chExt cx="912" cy="960"/>
            </a:xfrm>
          </p:grpSpPr>
          <p:sp>
            <p:nvSpPr>
              <p:cNvPr id="92214" name="AutoShape 12"/>
              <p:cNvSpPr/>
              <p:nvPr/>
            </p:nvSpPr>
            <p:spPr>
              <a:xfrm>
                <a:off x="0" y="0"/>
                <a:ext cx="912" cy="96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I/O</a:t>
                </a:r>
                <a:r>
                  <a:rPr lang="zh-CN" altLang="en-US" sz="1600" baseline="-25000" dirty="0">
                    <a:solidFill>
                      <a:schemeClr val="tx1"/>
                    </a:solidFill>
                    <a:latin typeface="Tahoma" panose="020B0604030504040204" pitchFamily="34" charset="0"/>
                  </a:rPr>
                  <a:t>1 </a:t>
                </a:r>
                <a:r>
                  <a:rPr lang="zh-CN" altLang="en-US" sz="1600" dirty="0">
                    <a:solidFill>
                      <a:schemeClr val="tx1"/>
                    </a:solidFill>
                    <a:latin typeface="Tahoma" panose="020B0604030504040204" pitchFamily="34" charset="0"/>
                  </a:rPr>
                  <a:t> </a:t>
                </a:r>
                <a:r>
                  <a:rPr lang="zh-CN" altLang="en-US" sz="1600" dirty="0">
                    <a:solidFill>
                      <a:schemeClr val="tx1"/>
                    </a:solidFill>
                  </a:rPr>
                  <a:t>…</a:t>
                </a:r>
                <a:r>
                  <a:rPr lang="zh-CN" altLang="en-US" sz="1600" dirty="0">
                    <a:solidFill>
                      <a:schemeClr val="tx1"/>
                    </a:solidFill>
                    <a:latin typeface="Tahoma" panose="020B0604030504040204" pitchFamily="34" charset="0"/>
                  </a:rPr>
                  <a:t>..</a:t>
                </a:r>
                <a:r>
                  <a:rPr lang="zh-CN" altLang="en-US" sz="1600" baseline="-25000" dirty="0">
                    <a:solidFill>
                      <a:schemeClr val="tx1"/>
                    </a:solidFill>
                    <a:latin typeface="Tahoma" panose="020B0604030504040204" pitchFamily="34" charset="0"/>
                  </a:rPr>
                  <a:t> </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4</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WE   2114   CS</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t>
                </a:r>
                <a:r>
                  <a:rPr lang="zh-CN" altLang="en-US" sz="1600" dirty="0">
                    <a:solidFill>
                      <a:schemeClr val="tx1"/>
                    </a:solidFill>
                  </a:rPr>
                  <a:t>…</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9</a:t>
                </a:r>
                <a:r>
                  <a:rPr lang="zh-CN" altLang="en-US" sz="1600" dirty="0">
                    <a:solidFill>
                      <a:schemeClr val="tx1"/>
                    </a:solidFill>
                    <a:latin typeface="Tahoma" panose="020B0604030504040204" pitchFamily="34" charset="0"/>
                  </a:rPr>
                  <a:t> </a:t>
                </a:r>
                <a:endParaRPr lang="zh-CN" altLang="en-US" sz="1600" dirty="0">
                  <a:solidFill>
                    <a:schemeClr val="tx1"/>
                  </a:solidFill>
                  <a:latin typeface="Tahoma" panose="020B0604030504040204" pitchFamily="34" charset="0"/>
                </a:endParaRPr>
              </a:p>
            </p:txBody>
          </p:sp>
          <p:sp>
            <p:nvSpPr>
              <p:cNvPr id="92215" name="Line 13"/>
              <p:cNvSpPr/>
              <p:nvPr/>
            </p:nvSpPr>
            <p:spPr>
              <a:xfrm>
                <a:off x="48" y="384"/>
                <a:ext cx="192" cy="0"/>
              </a:xfrm>
              <a:prstGeom prst="line">
                <a:avLst/>
              </a:prstGeom>
              <a:ln w="9525" cap="flat" cmpd="sng">
                <a:solidFill>
                  <a:schemeClr val="tx1"/>
                </a:solidFill>
                <a:prstDash val="solid"/>
                <a:headEnd type="none" w="med" len="med"/>
                <a:tailEnd type="none" w="med" len="med"/>
              </a:ln>
            </p:spPr>
          </p:sp>
          <p:sp>
            <p:nvSpPr>
              <p:cNvPr id="92216" name="Line 14"/>
              <p:cNvSpPr/>
              <p:nvPr/>
            </p:nvSpPr>
            <p:spPr>
              <a:xfrm>
                <a:off x="720" y="384"/>
                <a:ext cx="144" cy="0"/>
              </a:xfrm>
              <a:prstGeom prst="line">
                <a:avLst/>
              </a:prstGeom>
              <a:ln w="9525" cap="flat" cmpd="sng">
                <a:solidFill>
                  <a:schemeClr val="tx1"/>
                </a:solidFill>
                <a:prstDash val="solid"/>
                <a:headEnd type="none" w="med" len="med"/>
                <a:tailEnd type="none" w="med" len="med"/>
              </a:ln>
            </p:spPr>
          </p:sp>
        </p:grpSp>
        <p:grpSp>
          <p:nvGrpSpPr>
            <p:cNvPr id="92167" name="Group 15"/>
            <p:cNvGrpSpPr/>
            <p:nvPr/>
          </p:nvGrpSpPr>
          <p:grpSpPr>
            <a:xfrm>
              <a:off x="4237" y="742"/>
              <a:ext cx="857" cy="928"/>
              <a:chOff x="0" y="0"/>
              <a:chExt cx="912" cy="960"/>
            </a:xfrm>
          </p:grpSpPr>
          <p:sp>
            <p:nvSpPr>
              <p:cNvPr id="92211" name="AutoShape 16"/>
              <p:cNvSpPr/>
              <p:nvPr/>
            </p:nvSpPr>
            <p:spPr>
              <a:xfrm>
                <a:off x="0" y="0"/>
                <a:ext cx="912" cy="96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I/O</a:t>
                </a:r>
                <a:r>
                  <a:rPr lang="zh-CN" altLang="en-US" sz="1600" baseline="-25000" dirty="0">
                    <a:solidFill>
                      <a:schemeClr val="tx1"/>
                    </a:solidFill>
                    <a:latin typeface="Tahoma" panose="020B0604030504040204" pitchFamily="34" charset="0"/>
                  </a:rPr>
                  <a:t>1 </a:t>
                </a:r>
                <a:r>
                  <a:rPr lang="zh-CN" altLang="en-US" sz="1600" dirty="0">
                    <a:solidFill>
                      <a:schemeClr val="tx1"/>
                    </a:solidFill>
                    <a:latin typeface="Tahoma" panose="020B0604030504040204" pitchFamily="34" charset="0"/>
                  </a:rPr>
                  <a:t> </a:t>
                </a:r>
                <a:r>
                  <a:rPr lang="zh-CN" altLang="en-US" sz="1600" dirty="0">
                    <a:solidFill>
                      <a:schemeClr val="tx1"/>
                    </a:solidFill>
                  </a:rPr>
                  <a:t>…</a:t>
                </a:r>
                <a:r>
                  <a:rPr lang="zh-CN" altLang="en-US" sz="1600" dirty="0">
                    <a:solidFill>
                      <a:schemeClr val="tx1"/>
                    </a:solidFill>
                    <a:latin typeface="Tahoma" panose="020B0604030504040204" pitchFamily="34" charset="0"/>
                  </a:rPr>
                  <a:t>..</a:t>
                </a:r>
                <a:r>
                  <a:rPr lang="zh-CN" altLang="en-US" sz="1600" baseline="-25000" dirty="0">
                    <a:solidFill>
                      <a:schemeClr val="tx1"/>
                    </a:solidFill>
                    <a:latin typeface="Tahoma" panose="020B0604030504040204" pitchFamily="34" charset="0"/>
                  </a:rPr>
                  <a:t> </a:t>
                </a:r>
                <a:r>
                  <a:rPr lang="zh-CN" altLang="en-US" sz="1600" dirty="0">
                    <a:solidFill>
                      <a:schemeClr val="tx1"/>
                    </a:solidFill>
                    <a:latin typeface="Tahoma" panose="020B0604030504040204" pitchFamily="34" charset="0"/>
                  </a:rPr>
                  <a:t>  I/O</a:t>
                </a:r>
                <a:r>
                  <a:rPr lang="zh-CN" altLang="en-US" sz="1600" baseline="-25000" dirty="0">
                    <a:solidFill>
                      <a:schemeClr val="tx1"/>
                    </a:solidFill>
                    <a:latin typeface="Tahoma" panose="020B0604030504040204" pitchFamily="34" charset="0"/>
                  </a:rPr>
                  <a:t>4</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WE   2114   CS</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t>
                </a:r>
                <a:r>
                  <a:rPr lang="zh-CN" altLang="en-US" sz="1600" dirty="0">
                    <a:solidFill>
                      <a:schemeClr val="tx1"/>
                    </a:solidFill>
                  </a:rPr>
                  <a:t>…</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9</a:t>
                </a:r>
                <a:r>
                  <a:rPr lang="zh-CN" altLang="en-US" sz="1600" dirty="0">
                    <a:solidFill>
                      <a:schemeClr val="tx1"/>
                    </a:solidFill>
                    <a:latin typeface="Tahoma" panose="020B0604030504040204" pitchFamily="34" charset="0"/>
                  </a:rPr>
                  <a:t> </a:t>
                </a:r>
                <a:endParaRPr lang="zh-CN" altLang="en-US" sz="1600" dirty="0">
                  <a:solidFill>
                    <a:schemeClr val="tx1"/>
                  </a:solidFill>
                  <a:latin typeface="Tahoma" panose="020B0604030504040204" pitchFamily="34" charset="0"/>
                </a:endParaRPr>
              </a:p>
            </p:txBody>
          </p:sp>
          <p:sp>
            <p:nvSpPr>
              <p:cNvPr id="92212" name="Line 17"/>
              <p:cNvSpPr/>
              <p:nvPr/>
            </p:nvSpPr>
            <p:spPr>
              <a:xfrm>
                <a:off x="48" y="384"/>
                <a:ext cx="192" cy="0"/>
              </a:xfrm>
              <a:prstGeom prst="line">
                <a:avLst/>
              </a:prstGeom>
              <a:ln w="9525" cap="flat" cmpd="sng">
                <a:solidFill>
                  <a:schemeClr val="tx1"/>
                </a:solidFill>
                <a:prstDash val="solid"/>
                <a:headEnd type="none" w="med" len="med"/>
                <a:tailEnd type="none" w="med" len="med"/>
              </a:ln>
            </p:spPr>
          </p:sp>
          <p:sp>
            <p:nvSpPr>
              <p:cNvPr id="92213" name="Line 18"/>
              <p:cNvSpPr/>
              <p:nvPr/>
            </p:nvSpPr>
            <p:spPr>
              <a:xfrm>
                <a:off x="720" y="384"/>
                <a:ext cx="144" cy="0"/>
              </a:xfrm>
              <a:prstGeom prst="line">
                <a:avLst/>
              </a:prstGeom>
              <a:ln w="9525" cap="flat" cmpd="sng">
                <a:solidFill>
                  <a:schemeClr val="tx1"/>
                </a:solidFill>
                <a:prstDash val="solid"/>
                <a:headEnd type="none" w="med" len="med"/>
                <a:tailEnd type="none" w="med" len="med"/>
              </a:ln>
            </p:spPr>
          </p:sp>
        </p:grpSp>
        <p:sp>
          <p:nvSpPr>
            <p:cNvPr id="92168" name="Rectangle 19"/>
            <p:cNvSpPr/>
            <p:nvPr/>
          </p:nvSpPr>
          <p:spPr>
            <a:xfrm>
              <a:off x="631" y="1902"/>
              <a:ext cx="4057" cy="9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69" name="AutoShape 20"/>
            <p:cNvSpPr/>
            <p:nvPr/>
          </p:nvSpPr>
          <p:spPr>
            <a:xfrm>
              <a:off x="1172" y="1670"/>
              <a:ext cx="180" cy="232"/>
            </a:xfrm>
            <a:prstGeom prst="upArrow">
              <a:avLst>
                <a:gd name="adj1" fmla="val 50000"/>
                <a:gd name="adj2" fmla="val 3222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0" name="AutoShape 21"/>
            <p:cNvSpPr/>
            <p:nvPr/>
          </p:nvSpPr>
          <p:spPr>
            <a:xfrm>
              <a:off x="2299" y="1670"/>
              <a:ext cx="180" cy="232"/>
            </a:xfrm>
            <a:prstGeom prst="upArrow">
              <a:avLst>
                <a:gd name="adj1" fmla="val 50000"/>
                <a:gd name="adj2" fmla="val 3222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1" name="AutoShape 22"/>
            <p:cNvSpPr/>
            <p:nvPr/>
          </p:nvSpPr>
          <p:spPr>
            <a:xfrm>
              <a:off x="3471" y="1670"/>
              <a:ext cx="180" cy="232"/>
            </a:xfrm>
            <a:prstGeom prst="upArrow">
              <a:avLst>
                <a:gd name="adj1" fmla="val 50000"/>
                <a:gd name="adj2" fmla="val 3222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2" name="AutoShape 23"/>
            <p:cNvSpPr/>
            <p:nvPr/>
          </p:nvSpPr>
          <p:spPr>
            <a:xfrm>
              <a:off x="4553" y="1670"/>
              <a:ext cx="180" cy="232"/>
            </a:xfrm>
            <a:prstGeom prst="upArrow">
              <a:avLst>
                <a:gd name="adj1" fmla="val 50000"/>
                <a:gd name="adj2" fmla="val 3222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3" name="AutoShape 24"/>
            <p:cNvSpPr/>
            <p:nvPr/>
          </p:nvSpPr>
          <p:spPr>
            <a:xfrm>
              <a:off x="631" y="93"/>
              <a:ext cx="4463" cy="185"/>
            </a:xfrm>
            <a:prstGeom prst="leftRightArrow">
              <a:avLst>
                <a:gd name="adj1" fmla="val 50000"/>
                <a:gd name="adj2" fmla="val 82759"/>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4" name="AutoShape 25"/>
            <p:cNvSpPr/>
            <p:nvPr/>
          </p:nvSpPr>
          <p:spPr>
            <a:xfrm>
              <a:off x="1172" y="232"/>
              <a:ext cx="135" cy="510"/>
            </a:xfrm>
            <a:prstGeom prst="upDownArrow">
              <a:avLst>
                <a:gd name="adj1" fmla="val 50000"/>
                <a:gd name="adj2" fmla="val 7555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5" name="AutoShape 26"/>
            <p:cNvSpPr/>
            <p:nvPr/>
          </p:nvSpPr>
          <p:spPr>
            <a:xfrm>
              <a:off x="2299" y="232"/>
              <a:ext cx="135" cy="510"/>
            </a:xfrm>
            <a:prstGeom prst="upDownArrow">
              <a:avLst>
                <a:gd name="adj1" fmla="val 50000"/>
                <a:gd name="adj2" fmla="val 7555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6" name="AutoShape 27"/>
            <p:cNvSpPr/>
            <p:nvPr/>
          </p:nvSpPr>
          <p:spPr>
            <a:xfrm>
              <a:off x="3471" y="232"/>
              <a:ext cx="135" cy="510"/>
            </a:xfrm>
            <a:prstGeom prst="upDownArrow">
              <a:avLst>
                <a:gd name="adj1" fmla="val 50000"/>
                <a:gd name="adj2" fmla="val 7555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7" name="AutoShape 28"/>
            <p:cNvSpPr/>
            <p:nvPr/>
          </p:nvSpPr>
          <p:spPr>
            <a:xfrm>
              <a:off x="4598" y="232"/>
              <a:ext cx="135" cy="510"/>
            </a:xfrm>
            <a:prstGeom prst="upDownArrow">
              <a:avLst>
                <a:gd name="adj1" fmla="val 50000"/>
                <a:gd name="adj2" fmla="val 7555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2178" name="Line 29"/>
            <p:cNvSpPr/>
            <p:nvPr/>
          </p:nvSpPr>
          <p:spPr>
            <a:xfrm>
              <a:off x="766" y="1206"/>
              <a:ext cx="90" cy="0"/>
            </a:xfrm>
            <a:prstGeom prst="line">
              <a:avLst/>
            </a:prstGeom>
            <a:ln w="9525" cap="flat" cmpd="sng">
              <a:solidFill>
                <a:schemeClr val="tx1"/>
              </a:solidFill>
              <a:prstDash val="solid"/>
              <a:headEnd type="none" w="med" len="med"/>
              <a:tailEnd type="none" w="med" len="med"/>
            </a:ln>
          </p:spPr>
        </p:sp>
        <p:sp>
          <p:nvSpPr>
            <p:cNvPr id="92179" name="Line 30"/>
            <p:cNvSpPr/>
            <p:nvPr/>
          </p:nvSpPr>
          <p:spPr>
            <a:xfrm>
              <a:off x="766" y="1206"/>
              <a:ext cx="0" cy="1439"/>
            </a:xfrm>
            <a:prstGeom prst="line">
              <a:avLst/>
            </a:prstGeom>
            <a:ln w="9525" cap="flat" cmpd="sng">
              <a:solidFill>
                <a:schemeClr val="tx1"/>
              </a:solidFill>
              <a:prstDash val="solid"/>
              <a:headEnd type="none" w="med" len="med"/>
              <a:tailEnd type="none" w="med" len="med"/>
            </a:ln>
          </p:spPr>
        </p:sp>
        <p:sp>
          <p:nvSpPr>
            <p:cNvPr id="92180" name="Line 31"/>
            <p:cNvSpPr/>
            <p:nvPr/>
          </p:nvSpPr>
          <p:spPr>
            <a:xfrm>
              <a:off x="1893" y="1206"/>
              <a:ext cx="90" cy="0"/>
            </a:xfrm>
            <a:prstGeom prst="line">
              <a:avLst/>
            </a:prstGeom>
            <a:ln w="9525" cap="flat" cmpd="sng">
              <a:solidFill>
                <a:schemeClr val="tx1"/>
              </a:solidFill>
              <a:prstDash val="solid"/>
              <a:headEnd type="none" w="med" len="med"/>
              <a:tailEnd type="none" w="med" len="med"/>
            </a:ln>
          </p:spPr>
        </p:sp>
        <p:sp>
          <p:nvSpPr>
            <p:cNvPr id="92181" name="Line 32"/>
            <p:cNvSpPr/>
            <p:nvPr/>
          </p:nvSpPr>
          <p:spPr>
            <a:xfrm>
              <a:off x="1893" y="1206"/>
              <a:ext cx="0" cy="1439"/>
            </a:xfrm>
            <a:prstGeom prst="line">
              <a:avLst/>
            </a:prstGeom>
            <a:ln w="9525" cap="flat" cmpd="sng">
              <a:solidFill>
                <a:schemeClr val="tx1"/>
              </a:solidFill>
              <a:prstDash val="solid"/>
              <a:headEnd type="none" w="med" len="med"/>
              <a:tailEnd type="none" w="med" len="med"/>
            </a:ln>
          </p:spPr>
        </p:sp>
        <p:sp>
          <p:nvSpPr>
            <p:cNvPr id="92182" name="Line 33"/>
            <p:cNvSpPr/>
            <p:nvPr/>
          </p:nvSpPr>
          <p:spPr>
            <a:xfrm>
              <a:off x="3020" y="1206"/>
              <a:ext cx="90" cy="0"/>
            </a:xfrm>
            <a:prstGeom prst="line">
              <a:avLst/>
            </a:prstGeom>
            <a:ln w="9525" cap="flat" cmpd="sng">
              <a:solidFill>
                <a:schemeClr val="tx1"/>
              </a:solidFill>
              <a:prstDash val="solid"/>
              <a:headEnd type="none" w="med" len="med"/>
              <a:tailEnd type="none" w="med" len="med"/>
            </a:ln>
          </p:spPr>
        </p:sp>
        <p:sp>
          <p:nvSpPr>
            <p:cNvPr id="92183" name="Line 34"/>
            <p:cNvSpPr/>
            <p:nvPr/>
          </p:nvSpPr>
          <p:spPr>
            <a:xfrm>
              <a:off x="3020" y="1206"/>
              <a:ext cx="0" cy="1439"/>
            </a:xfrm>
            <a:prstGeom prst="line">
              <a:avLst/>
            </a:prstGeom>
            <a:ln w="9525" cap="flat" cmpd="sng">
              <a:solidFill>
                <a:schemeClr val="tx1"/>
              </a:solidFill>
              <a:prstDash val="solid"/>
              <a:headEnd type="none" w="med" len="med"/>
              <a:tailEnd type="none" w="med" len="med"/>
            </a:ln>
          </p:spPr>
        </p:sp>
        <p:sp>
          <p:nvSpPr>
            <p:cNvPr id="92184" name="Line 35"/>
            <p:cNvSpPr/>
            <p:nvPr/>
          </p:nvSpPr>
          <p:spPr>
            <a:xfrm>
              <a:off x="4147" y="1206"/>
              <a:ext cx="90" cy="0"/>
            </a:xfrm>
            <a:prstGeom prst="line">
              <a:avLst/>
            </a:prstGeom>
            <a:ln w="9525" cap="flat" cmpd="sng">
              <a:solidFill>
                <a:schemeClr val="tx1"/>
              </a:solidFill>
              <a:prstDash val="solid"/>
              <a:headEnd type="none" w="med" len="med"/>
              <a:tailEnd type="none" w="med" len="med"/>
            </a:ln>
          </p:spPr>
        </p:sp>
        <p:sp>
          <p:nvSpPr>
            <p:cNvPr id="92185" name="Line 36"/>
            <p:cNvSpPr/>
            <p:nvPr/>
          </p:nvSpPr>
          <p:spPr>
            <a:xfrm>
              <a:off x="4147" y="1206"/>
              <a:ext cx="0" cy="1439"/>
            </a:xfrm>
            <a:prstGeom prst="line">
              <a:avLst/>
            </a:prstGeom>
            <a:ln w="9525" cap="flat" cmpd="sng">
              <a:solidFill>
                <a:schemeClr val="tx1"/>
              </a:solidFill>
              <a:prstDash val="solid"/>
              <a:headEnd type="none" w="med" len="med"/>
              <a:tailEnd type="none" w="med" len="med"/>
            </a:ln>
          </p:spPr>
        </p:sp>
        <p:sp>
          <p:nvSpPr>
            <p:cNvPr id="92186" name="Line 37"/>
            <p:cNvSpPr/>
            <p:nvPr/>
          </p:nvSpPr>
          <p:spPr>
            <a:xfrm flipH="1">
              <a:off x="631" y="2645"/>
              <a:ext cx="3516" cy="0"/>
            </a:xfrm>
            <a:prstGeom prst="line">
              <a:avLst/>
            </a:prstGeom>
            <a:ln w="9525" cap="flat" cmpd="sng">
              <a:solidFill>
                <a:schemeClr val="tx1"/>
              </a:solidFill>
              <a:prstDash val="solid"/>
              <a:headEnd type="none" w="med" len="med"/>
              <a:tailEnd type="none" w="med" len="med"/>
            </a:ln>
          </p:spPr>
        </p:sp>
        <p:grpSp>
          <p:nvGrpSpPr>
            <p:cNvPr id="92187" name="Group 38"/>
            <p:cNvGrpSpPr/>
            <p:nvPr/>
          </p:nvGrpSpPr>
          <p:grpSpPr>
            <a:xfrm>
              <a:off x="0" y="0"/>
              <a:ext cx="766" cy="2784"/>
              <a:chOff x="0" y="0"/>
              <a:chExt cx="816" cy="2880"/>
            </a:xfrm>
          </p:grpSpPr>
          <p:sp>
            <p:nvSpPr>
              <p:cNvPr id="92205" name="AutoShape 39"/>
              <p:cNvSpPr/>
              <p:nvPr/>
            </p:nvSpPr>
            <p:spPr>
              <a:xfrm>
                <a:off x="0" y="0"/>
                <a:ext cx="672" cy="2880"/>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CPU</a:t>
                </a: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1400" dirty="0">
                    <a:solidFill>
                      <a:schemeClr val="tx1"/>
                    </a:solidFill>
                    <a:latin typeface="Tahoma" panose="020B0604030504040204" pitchFamily="34" charset="0"/>
                  </a:rPr>
                  <a:t>    </a:t>
                </a:r>
                <a:endParaRPr lang="zh-CN" altLang="en-US" sz="1400" dirty="0">
                  <a:solidFill>
                    <a:schemeClr val="tx1"/>
                  </a:solidFill>
                  <a:latin typeface="Tahoma" panose="020B0604030504040204" pitchFamily="34" charset="0"/>
                </a:endParaRPr>
              </a:p>
              <a:p>
                <a:pPr marL="0" lvl="0" indent="0" algn="ctr" eaLnBrk="1" hangingPunct="1">
                  <a:spcBef>
                    <a:spcPct val="0"/>
                  </a:spcBef>
                  <a:buNone/>
                </a:pPr>
                <a:r>
                  <a:rPr lang="zh-CN" altLang="en-US" sz="1400" dirty="0">
                    <a:solidFill>
                      <a:schemeClr val="tx1"/>
                    </a:solidFill>
                    <a:latin typeface="Tahoma" panose="020B0604030504040204" pitchFamily="34" charset="0"/>
                  </a:rPr>
                  <a:t>         </a:t>
                </a:r>
                <a:r>
                  <a:rPr lang="zh-CN" altLang="en-US" sz="1400" baseline="-25000" dirty="0">
                    <a:solidFill>
                      <a:schemeClr val="tx1"/>
                    </a:solidFill>
                    <a:latin typeface="Tahoma" panose="020B0604030504040204" pitchFamily="34" charset="0"/>
                  </a:rPr>
                  <a:t>            </a:t>
                </a:r>
                <a:endParaRPr lang="zh-CN" altLang="en-US" sz="1400" baseline="-25000" dirty="0">
                  <a:solidFill>
                    <a:schemeClr val="tx1"/>
                  </a:solidFill>
                  <a:latin typeface="Tahoma" panose="020B0604030504040204" pitchFamily="34" charset="0"/>
                </a:endParaRPr>
              </a:p>
              <a:p>
                <a:pPr marL="0" lvl="0" indent="0" algn="ctr" eaLnBrk="1" hangingPunct="1">
                  <a:spcBef>
                    <a:spcPct val="0"/>
                  </a:spcBef>
                  <a:buNone/>
                </a:pPr>
                <a:r>
                  <a:rPr lang="zh-CN" altLang="en-US" sz="1400" dirty="0">
                    <a:solidFill>
                      <a:schemeClr val="tx1"/>
                    </a:solidFill>
                    <a:latin typeface="Tahoma" panose="020B0604030504040204" pitchFamily="34" charset="0"/>
                  </a:rPr>
                  <a:t>        </a:t>
                </a:r>
                <a:endParaRPr lang="zh-CN" altLang="en-US" sz="14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400" baseline="-25000" dirty="0">
                  <a:solidFill>
                    <a:schemeClr val="tx1"/>
                  </a:solidFill>
                  <a:latin typeface="Tahoma" panose="020B0604030504040204" pitchFamily="34" charset="0"/>
                </a:endParaRPr>
              </a:p>
            </p:txBody>
          </p:sp>
          <p:sp>
            <p:nvSpPr>
              <p:cNvPr id="92206" name="Text Box 40"/>
              <p:cNvSpPr txBox="1"/>
              <p:nvPr/>
            </p:nvSpPr>
            <p:spPr>
              <a:xfrm>
                <a:off x="432" y="1728"/>
                <a:ext cx="288" cy="21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endParaRPr lang="zh-CN" altLang="en-US" sz="1600" baseline="-25000" dirty="0">
                  <a:solidFill>
                    <a:schemeClr val="tx1"/>
                  </a:solidFill>
                  <a:latin typeface="Tahoma" panose="020B0604030504040204" pitchFamily="34" charset="0"/>
                </a:endParaRPr>
              </a:p>
            </p:txBody>
          </p:sp>
          <p:sp>
            <p:nvSpPr>
              <p:cNvPr id="92207" name="Text Box 41"/>
              <p:cNvSpPr txBox="1"/>
              <p:nvPr/>
            </p:nvSpPr>
            <p:spPr>
              <a:xfrm>
                <a:off x="432" y="1968"/>
                <a:ext cx="288" cy="21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9</a:t>
                </a:r>
                <a:endParaRPr lang="zh-CN" altLang="en-US" sz="1600" baseline="-25000" dirty="0">
                  <a:solidFill>
                    <a:schemeClr val="tx1"/>
                  </a:solidFill>
                  <a:latin typeface="Tahoma" panose="020B0604030504040204" pitchFamily="34" charset="0"/>
                </a:endParaRPr>
              </a:p>
            </p:txBody>
          </p:sp>
          <p:sp>
            <p:nvSpPr>
              <p:cNvPr id="92208" name="Text Box 42"/>
              <p:cNvSpPr txBox="1"/>
              <p:nvPr/>
            </p:nvSpPr>
            <p:spPr>
              <a:xfrm>
                <a:off x="240" y="48"/>
                <a:ext cx="576" cy="21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3</a:t>
                </a:r>
                <a:endParaRPr lang="zh-CN" altLang="en-US" sz="1600" baseline="-25000" dirty="0">
                  <a:solidFill>
                    <a:schemeClr val="tx1"/>
                  </a:solidFill>
                  <a:latin typeface="Tahoma" panose="020B0604030504040204" pitchFamily="34" charset="0"/>
                </a:endParaRPr>
              </a:p>
            </p:txBody>
          </p:sp>
          <p:sp>
            <p:nvSpPr>
              <p:cNvPr id="92209" name="Text Box 43"/>
              <p:cNvSpPr txBox="1"/>
              <p:nvPr/>
            </p:nvSpPr>
            <p:spPr>
              <a:xfrm>
                <a:off x="432" y="2208"/>
                <a:ext cx="336" cy="21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10</a:t>
                </a:r>
                <a:endParaRPr lang="zh-CN" altLang="en-US" sz="1600" baseline="-25000" dirty="0">
                  <a:solidFill>
                    <a:schemeClr val="tx1"/>
                  </a:solidFill>
                  <a:latin typeface="Tahoma" panose="020B0604030504040204" pitchFamily="34" charset="0"/>
                </a:endParaRPr>
              </a:p>
            </p:txBody>
          </p:sp>
          <p:sp>
            <p:nvSpPr>
              <p:cNvPr id="92210" name="Text Box 44"/>
              <p:cNvSpPr txBox="1"/>
              <p:nvPr/>
            </p:nvSpPr>
            <p:spPr>
              <a:xfrm>
                <a:off x="432" y="2352"/>
                <a:ext cx="336" cy="2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11</a:t>
                </a:r>
                <a:endParaRPr lang="zh-CN" altLang="en-US" sz="1600" baseline="-25000" dirty="0">
                  <a:solidFill>
                    <a:schemeClr val="tx1"/>
                  </a:solidFill>
                  <a:latin typeface="Tahoma" panose="020B0604030504040204" pitchFamily="34" charset="0"/>
                </a:endParaRPr>
              </a:p>
            </p:txBody>
          </p:sp>
        </p:grpSp>
        <p:sp>
          <p:nvSpPr>
            <p:cNvPr id="92188" name="AutoShape 45"/>
            <p:cNvSpPr/>
            <p:nvPr/>
          </p:nvSpPr>
          <p:spPr>
            <a:xfrm>
              <a:off x="1082" y="2064"/>
              <a:ext cx="270" cy="528"/>
            </a:xfrm>
            <a:prstGeom prst="flowChartProcess">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400" dirty="0">
                  <a:solidFill>
                    <a:srgbClr val="CCFFFF"/>
                  </a:solidFill>
                  <a:latin typeface="宋体" panose="02010600030101010101" pitchFamily="2" charset="-122"/>
                </a:rPr>
                <a:t>2:4</a:t>
              </a:r>
              <a:endParaRPr lang="zh-CN" altLang="en-US" sz="1400" dirty="0">
                <a:solidFill>
                  <a:srgbClr val="CCFFFF"/>
                </a:solidFill>
                <a:latin typeface="宋体" panose="02010600030101010101" pitchFamily="2" charset="-122"/>
              </a:endParaRPr>
            </a:p>
            <a:p>
              <a:pPr marL="0" lvl="0" indent="0" algn="ctr" eaLnBrk="1" hangingPunct="1">
                <a:spcBef>
                  <a:spcPct val="0"/>
                </a:spcBef>
                <a:buNone/>
              </a:pPr>
              <a:r>
                <a:rPr lang="zh-CN" altLang="en-US" sz="1400" dirty="0">
                  <a:solidFill>
                    <a:srgbClr val="CCFFFF"/>
                  </a:solidFill>
                  <a:latin typeface="宋体" panose="02010600030101010101" pitchFamily="2" charset="-122"/>
                </a:rPr>
                <a:t>译</a:t>
              </a:r>
              <a:endParaRPr lang="zh-CN" altLang="en-US" sz="1400" dirty="0">
                <a:solidFill>
                  <a:srgbClr val="CCFFFF"/>
                </a:solidFill>
                <a:latin typeface="宋体" panose="02010600030101010101" pitchFamily="2" charset="-122"/>
              </a:endParaRPr>
            </a:p>
            <a:p>
              <a:pPr marL="0" lvl="0" indent="0" algn="ctr" eaLnBrk="1" hangingPunct="1">
                <a:spcBef>
                  <a:spcPct val="0"/>
                </a:spcBef>
                <a:buNone/>
              </a:pPr>
              <a:r>
                <a:rPr lang="zh-CN" altLang="en-US" sz="1400" dirty="0">
                  <a:solidFill>
                    <a:srgbClr val="CCFFFF"/>
                  </a:solidFill>
                  <a:latin typeface="宋体" panose="02010600030101010101" pitchFamily="2" charset="-122"/>
                </a:rPr>
                <a:t>码</a:t>
              </a:r>
              <a:endParaRPr lang="zh-CN" altLang="en-US" sz="1400" dirty="0">
                <a:solidFill>
                  <a:srgbClr val="CCFFFF"/>
                </a:solidFill>
                <a:latin typeface="宋体" panose="02010600030101010101" pitchFamily="2" charset="-122"/>
              </a:endParaRPr>
            </a:p>
            <a:p>
              <a:pPr marL="0" lvl="0" indent="0" algn="ctr" eaLnBrk="1" hangingPunct="1">
                <a:spcBef>
                  <a:spcPct val="0"/>
                </a:spcBef>
                <a:buNone/>
              </a:pPr>
              <a:r>
                <a:rPr lang="zh-CN" altLang="en-US" sz="1400" dirty="0">
                  <a:solidFill>
                    <a:srgbClr val="CCFFFF"/>
                  </a:solidFill>
                  <a:latin typeface="宋体" panose="02010600030101010101" pitchFamily="2" charset="-122"/>
                </a:rPr>
                <a:t>器</a:t>
              </a:r>
              <a:endParaRPr lang="zh-CN" altLang="en-US" sz="1400" dirty="0">
                <a:solidFill>
                  <a:srgbClr val="CCFFFF"/>
                </a:solidFill>
                <a:latin typeface="宋体" panose="02010600030101010101" pitchFamily="2" charset="-122"/>
              </a:endParaRPr>
            </a:p>
          </p:txBody>
        </p:sp>
        <p:sp>
          <p:nvSpPr>
            <p:cNvPr id="92189" name="Line 46"/>
            <p:cNvSpPr/>
            <p:nvPr/>
          </p:nvSpPr>
          <p:spPr>
            <a:xfrm>
              <a:off x="631" y="2274"/>
              <a:ext cx="451" cy="0"/>
            </a:xfrm>
            <a:prstGeom prst="line">
              <a:avLst/>
            </a:prstGeom>
            <a:ln w="9525" cap="flat" cmpd="sng">
              <a:solidFill>
                <a:schemeClr val="tx1"/>
              </a:solidFill>
              <a:prstDash val="solid"/>
              <a:headEnd type="none" w="med" len="med"/>
              <a:tailEnd type="none" w="med" len="med"/>
            </a:ln>
          </p:spPr>
        </p:sp>
        <p:sp>
          <p:nvSpPr>
            <p:cNvPr id="92190" name="Line 47"/>
            <p:cNvSpPr/>
            <p:nvPr/>
          </p:nvSpPr>
          <p:spPr>
            <a:xfrm>
              <a:off x="631" y="2413"/>
              <a:ext cx="451" cy="0"/>
            </a:xfrm>
            <a:prstGeom prst="line">
              <a:avLst/>
            </a:prstGeom>
            <a:ln w="9525" cap="flat" cmpd="sng">
              <a:solidFill>
                <a:schemeClr val="tx1"/>
              </a:solidFill>
              <a:prstDash val="solid"/>
              <a:headEnd type="none" w="med" len="med"/>
              <a:tailEnd type="none" w="med" len="med"/>
            </a:ln>
          </p:spPr>
        </p:sp>
        <p:sp>
          <p:nvSpPr>
            <p:cNvPr id="92191" name="Line 48"/>
            <p:cNvSpPr/>
            <p:nvPr/>
          </p:nvSpPr>
          <p:spPr>
            <a:xfrm>
              <a:off x="1352" y="2227"/>
              <a:ext cx="451" cy="0"/>
            </a:xfrm>
            <a:prstGeom prst="line">
              <a:avLst/>
            </a:prstGeom>
            <a:ln w="9525" cap="flat" cmpd="sng">
              <a:solidFill>
                <a:schemeClr val="tx1"/>
              </a:solidFill>
              <a:prstDash val="solid"/>
              <a:headEnd type="none" w="med" len="med"/>
              <a:tailEnd type="none" w="med" len="med"/>
            </a:ln>
          </p:spPr>
        </p:sp>
        <p:sp>
          <p:nvSpPr>
            <p:cNvPr id="92192" name="Line 49"/>
            <p:cNvSpPr/>
            <p:nvPr/>
          </p:nvSpPr>
          <p:spPr>
            <a:xfrm flipV="1">
              <a:off x="1803" y="1206"/>
              <a:ext cx="0" cy="1021"/>
            </a:xfrm>
            <a:prstGeom prst="line">
              <a:avLst/>
            </a:prstGeom>
            <a:ln w="9525" cap="flat" cmpd="sng">
              <a:solidFill>
                <a:schemeClr val="tx1"/>
              </a:solidFill>
              <a:prstDash val="solid"/>
              <a:headEnd type="none" w="med" len="med"/>
              <a:tailEnd type="none" w="med" len="med"/>
            </a:ln>
          </p:spPr>
        </p:sp>
        <p:sp>
          <p:nvSpPr>
            <p:cNvPr id="92193" name="Line 50"/>
            <p:cNvSpPr/>
            <p:nvPr/>
          </p:nvSpPr>
          <p:spPr>
            <a:xfrm flipH="1">
              <a:off x="1713" y="1206"/>
              <a:ext cx="90" cy="0"/>
            </a:xfrm>
            <a:prstGeom prst="line">
              <a:avLst/>
            </a:prstGeom>
            <a:ln w="9525" cap="flat" cmpd="sng">
              <a:solidFill>
                <a:schemeClr val="tx1"/>
              </a:solidFill>
              <a:prstDash val="solid"/>
              <a:headEnd type="none" w="med" len="med"/>
              <a:tailEnd type="none" w="med" len="med"/>
            </a:ln>
          </p:spPr>
        </p:sp>
        <p:sp>
          <p:nvSpPr>
            <p:cNvPr id="92194" name="Line 51"/>
            <p:cNvSpPr/>
            <p:nvPr/>
          </p:nvSpPr>
          <p:spPr>
            <a:xfrm>
              <a:off x="1352" y="2320"/>
              <a:ext cx="1578" cy="0"/>
            </a:xfrm>
            <a:prstGeom prst="line">
              <a:avLst/>
            </a:prstGeom>
            <a:ln w="9525" cap="flat" cmpd="sng">
              <a:solidFill>
                <a:schemeClr val="tx1"/>
              </a:solidFill>
              <a:prstDash val="solid"/>
              <a:headEnd type="none" w="med" len="med"/>
              <a:tailEnd type="none" w="med" len="med"/>
            </a:ln>
          </p:spPr>
        </p:sp>
        <p:sp>
          <p:nvSpPr>
            <p:cNvPr id="92195" name="Line 52"/>
            <p:cNvSpPr/>
            <p:nvPr/>
          </p:nvSpPr>
          <p:spPr>
            <a:xfrm flipV="1">
              <a:off x="2930" y="1206"/>
              <a:ext cx="0" cy="1114"/>
            </a:xfrm>
            <a:prstGeom prst="line">
              <a:avLst/>
            </a:prstGeom>
            <a:ln w="9525" cap="flat" cmpd="sng">
              <a:solidFill>
                <a:schemeClr val="tx1"/>
              </a:solidFill>
              <a:prstDash val="solid"/>
              <a:headEnd type="none" w="med" len="med"/>
              <a:tailEnd type="none" w="med" len="med"/>
            </a:ln>
          </p:spPr>
        </p:sp>
        <p:sp>
          <p:nvSpPr>
            <p:cNvPr id="92196" name="Line 53"/>
            <p:cNvSpPr/>
            <p:nvPr/>
          </p:nvSpPr>
          <p:spPr>
            <a:xfrm flipH="1">
              <a:off x="2840" y="1206"/>
              <a:ext cx="90" cy="0"/>
            </a:xfrm>
            <a:prstGeom prst="line">
              <a:avLst/>
            </a:prstGeom>
            <a:ln w="9525" cap="flat" cmpd="sng">
              <a:solidFill>
                <a:schemeClr val="tx1"/>
              </a:solidFill>
              <a:prstDash val="solid"/>
              <a:headEnd type="none" w="med" len="med"/>
              <a:tailEnd type="none" w="med" len="med"/>
            </a:ln>
          </p:spPr>
        </p:sp>
        <p:sp>
          <p:nvSpPr>
            <p:cNvPr id="92197" name="Line 54"/>
            <p:cNvSpPr/>
            <p:nvPr/>
          </p:nvSpPr>
          <p:spPr>
            <a:xfrm>
              <a:off x="1352" y="2413"/>
              <a:ext cx="2705" cy="0"/>
            </a:xfrm>
            <a:prstGeom prst="line">
              <a:avLst/>
            </a:prstGeom>
            <a:ln w="9525" cap="flat" cmpd="sng">
              <a:solidFill>
                <a:schemeClr val="tx1"/>
              </a:solidFill>
              <a:prstDash val="solid"/>
              <a:headEnd type="none" w="med" len="med"/>
              <a:tailEnd type="none" w="med" len="med"/>
            </a:ln>
          </p:spPr>
        </p:sp>
        <p:sp>
          <p:nvSpPr>
            <p:cNvPr id="92198" name="Line 55"/>
            <p:cNvSpPr/>
            <p:nvPr/>
          </p:nvSpPr>
          <p:spPr>
            <a:xfrm flipV="1">
              <a:off x="4057" y="1206"/>
              <a:ext cx="0" cy="1207"/>
            </a:xfrm>
            <a:prstGeom prst="line">
              <a:avLst/>
            </a:prstGeom>
            <a:ln w="9525" cap="flat" cmpd="sng">
              <a:solidFill>
                <a:schemeClr val="tx1"/>
              </a:solidFill>
              <a:prstDash val="solid"/>
              <a:headEnd type="none" w="med" len="med"/>
              <a:tailEnd type="none" w="med" len="med"/>
            </a:ln>
          </p:spPr>
        </p:sp>
        <p:sp>
          <p:nvSpPr>
            <p:cNvPr id="92199" name="Line 56"/>
            <p:cNvSpPr/>
            <p:nvPr/>
          </p:nvSpPr>
          <p:spPr>
            <a:xfrm flipH="1">
              <a:off x="3967" y="1206"/>
              <a:ext cx="90" cy="0"/>
            </a:xfrm>
            <a:prstGeom prst="line">
              <a:avLst/>
            </a:prstGeom>
            <a:ln w="9525" cap="flat" cmpd="sng">
              <a:solidFill>
                <a:schemeClr val="tx1"/>
              </a:solidFill>
              <a:prstDash val="solid"/>
              <a:headEnd type="none" w="med" len="med"/>
              <a:tailEnd type="none" w="med" len="med"/>
            </a:ln>
          </p:spPr>
        </p:sp>
        <p:sp>
          <p:nvSpPr>
            <p:cNvPr id="92200" name="Line 57"/>
            <p:cNvSpPr/>
            <p:nvPr/>
          </p:nvSpPr>
          <p:spPr>
            <a:xfrm>
              <a:off x="1352" y="2506"/>
              <a:ext cx="3832" cy="0"/>
            </a:xfrm>
            <a:prstGeom prst="line">
              <a:avLst/>
            </a:prstGeom>
            <a:ln w="9525" cap="flat" cmpd="sng">
              <a:solidFill>
                <a:schemeClr val="tx1"/>
              </a:solidFill>
              <a:prstDash val="solid"/>
              <a:headEnd type="none" w="med" len="med"/>
              <a:tailEnd type="none" w="med" len="med"/>
            </a:ln>
          </p:spPr>
        </p:sp>
        <p:sp>
          <p:nvSpPr>
            <p:cNvPr id="92201" name="Line 58"/>
            <p:cNvSpPr/>
            <p:nvPr/>
          </p:nvSpPr>
          <p:spPr>
            <a:xfrm flipH="1" flipV="1">
              <a:off x="5184" y="1206"/>
              <a:ext cx="0" cy="1300"/>
            </a:xfrm>
            <a:prstGeom prst="line">
              <a:avLst/>
            </a:prstGeom>
            <a:ln w="9525" cap="flat" cmpd="sng">
              <a:solidFill>
                <a:schemeClr val="tx1"/>
              </a:solidFill>
              <a:prstDash val="solid"/>
              <a:headEnd type="none" w="med" len="med"/>
              <a:tailEnd type="none" w="med" len="med"/>
            </a:ln>
          </p:spPr>
        </p:sp>
        <p:sp>
          <p:nvSpPr>
            <p:cNvPr id="92202" name="Line 59"/>
            <p:cNvSpPr/>
            <p:nvPr/>
          </p:nvSpPr>
          <p:spPr>
            <a:xfrm>
              <a:off x="5094" y="1206"/>
              <a:ext cx="90" cy="0"/>
            </a:xfrm>
            <a:prstGeom prst="line">
              <a:avLst/>
            </a:prstGeom>
            <a:ln w="9525" cap="flat" cmpd="sng">
              <a:solidFill>
                <a:schemeClr val="tx1"/>
              </a:solidFill>
              <a:prstDash val="solid"/>
              <a:headEnd type="none" w="med" len="med"/>
              <a:tailEnd type="none" w="med" len="med"/>
            </a:ln>
          </p:spPr>
        </p:sp>
        <p:sp>
          <p:nvSpPr>
            <p:cNvPr id="92203" name="Rectangle 60"/>
            <p:cNvSpPr/>
            <p:nvPr/>
          </p:nvSpPr>
          <p:spPr>
            <a:xfrm>
              <a:off x="384" y="2544"/>
              <a:ext cx="240"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w</a:t>
              </a:r>
              <a:r>
                <a:rPr lang="zh-CN" altLang="en-US" sz="1600" dirty="0">
                  <a:solidFill>
                    <a:schemeClr val="tx1"/>
                  </a:solidFill>
                  <a:ea typeface="华文新魏" panose="02010800040101010101" pitchFamily="2" charset="-122"/>
                </a:rPr>
                <a:t>E</a:t>
              </a:r>
              <a:endParaRPr lang="zh-CN" altLang="en-US" sz="1600" dirty="0">
                <a:solidFill>
                  <a:schemeClr val="tx1"/>
                </a:solidFill>
                <a:ea typeface="华文新魏" panose="02010800040101010101" pitchFamily="2" charset="-122"/>
              </a:endParaRPr>
            </a:p>
          </p:txBody>
        </p:sp>
        <p:sp>
          <p:nvSpPr>
            <p:cNvPr id="92204" name="Line 61"/>
            <p:cNvSpPr/>
            <p:nvPr/>
          </p:nvSpPr>
          <p:spPr>
            <a:xfrm>
              <a:off x="384" y="2592"/>
              <a:ext cx="240" cy="0"/>
            </a:xfrm>
            <a:prstGeom prst="line">
              <a:avLst/>
            </a:prstGeom>
            <a:ln w="9525" cap="flat" cmpd="sng">
              <a:solidFill>
                <a:schemeClr val="tx1"/>
              </a:solidFill>
              <a:prstDash val="solid"/>
              <a:headEnd type="none" w="med" len="med"/>
              <a:tailEnd type="none" w="med" len="med"/>
            </a:ln>
          </p:spPr>
        </p:sp>
      </p:grpSp>
      <p:sp>
        <p:nvSpPr>
          <p:cNvPr id="92163" name="Rectangle 62"/>
          <p:cNvSpPr/>
          <p:nvPr>
            <p:ph type="title" idx="4294967295"/>
          </p:nvPr>
        </p:nvSpPr>
        <p:spPr>
          <a:xfrm>
            <a:off x="457200" y="274638"/>
            <a:ext cx="8229600" cy="1143000"/>
          </a:xfrm>
          <a:prstGeom prst="rect">
            <a:avLst/>
          </a:prstGeom>
          <a:noFill/>
          <a:ln w="9525">
            <a:noFill/>
          </a:ln>
        </p:spPr>
        <p:txBody>
          <a:bodyPr anchor="ctr" anchorCtr="0"/>
          <a:p>
            <a:pPr algn="l" eaLnBrk="1" hangingPunct="1"/>
            <a:r>
              <a:rPr lang="zh-CN" altLang="en-US" dirty="0"/>
              <a:t>存储器容量的扩展</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body" idx="4294967295"/>
          </p:nvPr>
        </p:nvSpPr>
        <p:spPr>
          <a:xfrm>
            <a:off x="685800" y="1828800"/>
            <a:ext cx="7772400" cy="4267200"/>
          </a:xfrm>
          <a:ln/>
        </p:spPr>
        <p:txBody>
          <a:bodyPr vert="horz" wrap="square" lIns="91440" tIns="45720" rIns="91440" bIns="45720" anchor="t" anchorCtr="0"/>
          <a:p>
            <a:pPr eaLnBrk="1" hangingPunct="1">
              <a:lnSpc>
                <a:spcPct val="90000"/>
              </a:lnSpc>
            </a:pPr>
            <a:r>
              <a:rPr lang="zh-CN" altLang="en-US" sz="2800" dirty="0"/>
              <a:t>A</a:t>
            </a:r>
            <a:r>
              <a:rPr lang="zh-CN" altLang="en-US" sz="2800" baseline="-25000" dirty="0"/>
              <a:t>11</a:t>
            </a:r>
            <a:r>
              <a:rPr lang="zh-CN" altLang="en-US" sz="2800" dirty="0"/>
              <a:t>A</a:t>
            </a:r>
            <a:r>
              <a:rPr lang="zh-CN" altLang="en-US" sz="2800" baseline="-25000" dirty="0"/>
              <a:t>10</a:t>
            </a:r>
            <a:r>
              <a:rPr lang="zh-CN" altLang="en-US" sz="2800" dirty="0">
                <a:solidFill>
                  <a:srgbClr val="993366"/>
                </a:solidFill>
              </a:rPr>
              <a:t>A</a:t>
            </a:r>
            <a:r>
              <a:rPr lang="zh-CN" altLang="en-US" sz="2800" baseline="-25000" dirty="0">
                <a:solidFill>
                  <a:srgbClr val="993366"/>
                </a:solidFill>
              </a:rPr>
              <a:t>9</a:t>
            </a:r>
            <a:r>
              <a:rPr lang="zh-CN" altLang="en-US" sz="2800" dirty="0">
                <a:solidFill>
                  <a:srgbClr val="993366"/>
                </a:solidFill>
              </a:rPr>
              <a:t>A</a:t>
            </a:r>
            <a:r>
              <a:rPr lang="zh-CN" altLang="en-US" sz="2800" baseline="-25000" dirty="0">
                <a:solidFill>
                  <a:srgbClr val="993366"/>
                </a:solidFill>
              </a:rPr>
              <a:t>8</a:t>
            </a:r>
            <a:r>
              <a:rPr lang="zh-CN" altLang="en-US" sz="2800" dirty="0">
                <a:solidFill>
                  <a:srgbClr val="993366"/>
                </a:solidFill>
              </a:rPr>
              <a:t>A</a:t>
            </a:r>
            <a:r>
              <a:rPr lang="zh-CN" altLang="en-US" sz="2800" baseline="-25000" dirty="0">
                <a:solidFill>
                  <a:srgbClr val="993366"/>
                </a:solidFill>
              </a:rPr>
              <a:t>7</a:t>
            </a:r>
            <a:r>
              <a:rPr lang="zh-CN" altLang="en-US" sz="2800" dirty="0">
                <a:solidFill>
                  <a:srgbClr val="993366"/>
                </a:solidFill>
              </a:rPr>
              <a:t>A</a:t>
            </a:r>
            <a:r>
              <a:rPr lang="zh-CN" altLang="en-US" sz="2800" baseline="-25000" dirty="0">
                <a:solidFill>
                  <a:srgbClr val="993366"/>
                </a:solidFill>
              </a:rPr>
              <a:t>6</a:t>
            </a:r>
            <a:r>
              <a:rPr lang="zh-CN" altLang="en-US" sz="2800" dirty="0">
                <a:solidFill>
                  <a:srgbClr val="993366"/>
                </a:solidFill>
              </a:rPr>
              <a:t>A</a:t>
            </a:r>
            <a:r>
              <a:rPr lang="zh-CN" altLang="en-US" sz="2800" baseline="-25000" dirty="0">
                <a:solidFill>
                  <a:srgbClr val="993366"/>
                </a:solidFill>
              </a:rPr>
              <a:t>5</a:t>
            </a:r>
            <a:r>
              <a:rPr lang="zh-CN" altLang="en-US" sz="2800" dirty="0">
                <a:solidFill>
                  <a:srgbClr val="993366"/>
                </a:solidFill>
              </a:rPr>
              <a:t>A</a:t>
            </a:r>
            <a:r>
              <a:rPr lang="zh-CN" altLang="en-US" sz="2800" baseline="-25000" dirty="0">
                <a:solidFill>
                  <a:srgbClr val="993366"/>
                </a:solidFill>
              </a:rPr>
              <a:t>4</a:t>
            </a:r>
            <a:r>
              <a:rPr lang="zh-CN" altLang="en-US" sz="2800" dirty="0">
                <a:solidFill>
                  <a:srgbClr val="993366"/>
                </a:solidFill>
              </a:rPr>
              <a:t>A</a:t>
            </a:r>
            <a:r>
              <a:rPr lang="zh-CN" altLang="en-US" sz="2800" baseline="-25000" dirty="0">
                <a:solidFill>
                  <a:srgbClr val="993366"/>
                </a:solidFill>
              </a:rPr>
              <a:t>3</a:t>
            </a:r>
            <a:r>
              <a:rPr lang="zh-CN" altLang="en-US" sz="2800" dirty="0">
                <a:solidFill>
                  <a:srgbClr val="993366"/>
                </a:solidFill>
              </a:rPr>
              <a:t>A</a:t>
            </a:r>
            <a:r>
              <a:rPr lang="zh-CN" altLang="en-US" sz="2800" baseline="-25000" dirty="0">
                <a:solidFill>
                  <a:srgbClr val="993366"/>
                </a:solidFill>
              </a:rPr>
              <a:t>2</a:t>
            </a:r>
            <a:r>
              <a:rPr lang="zh-CN" altLang="en-US" sz="2800" dirty="0">
                <a:solidFill>
                  <a:srgbClr val="993366"/>
                </a:solidFill>
              </a:rPr>
              <a:t>A</a:t>
            </a:r>
            <a:r>
              <a:rPr lang="zh-CN" altLang="en-US" sz="2800" baseline="-25000" dirty="0">
                <a:solidFill>
                  <a:srgbClr val="993366"/>
                </a:solidFill>
              </a:rPr>
              <a:t>1</a:t>
            </a:r>
            <a:r>
              <a:rPr lang="zh-CN" altLang="en-US" sz="2800" dirty="0">
                <a:solidFill>
                  <a:srgbClr val="993366"/>
                </a:solidFill>
              </a:rPr>
              <a:t>A</a:t>
            </a:r>
            <a:r>
              <a:rPr lang="zh-CN" altLang="en-US" sz="2800" baseline="-25000" dirty="0">
                <a:solidFill>
                  <a:srgbClr val="993366"/>
                </a:solidFill>
              </a:rPr>
              <a:t>0</a:t>
            </a:r>
            <a:endParaRPr lang="zh-CN" altLang="en-US" sz="2800" baseline="-25000" dirty="0">
              <a:solidFill>
                <a:srgbClr val="993366"/>
              </a:solidFill>
            </a:endParaRPr>
          </a:p>
          <a:p>
            <a:pPr eaLnBrk="1" hangingPunct="1">
              <a:lnSpc>
                <a:spcPct val="90000"/>
              </a:lnSpc>
              <a:buNone/>
            </a:pPr>
            <a:r>
              <a:rPr lang="zh-CN" altLang="en-US" sz="2800" baseline="-25000" dirty="0"/>
              <a:t>       </a:t>
            </a:r>
            <a:r>
              <a:rPr lang="zh-CN" altLang="en-US" sz="2800" b="1" dirty="0">
                <a:solidFill>
                  <a:schemeClr val="tx1"/>
                </a:solidFill>
              </a:rPr>
              <a:t>0   0</a:t>
            </a:r>
            <a:r>
              <a:rPr lang="zh-CN" altLang="en-US" sz="2800" dirty="0"/>
              <a:t>   </a:t>
            </a:r>
            <a:r>
              <a:rPr lang="zh-CN" altLang="en-US" sz="2800" dirty="0">
                <a:solidFill>
                  <a:srgbClr val="993366"/>
                </a:solidFill>
              </a:rPr>
              <a:t>0  </a:t>
            </a:r>
            <a:r>
              <a:rPr lang="zh-CN" altLang="en-US" sz="2800" dirty="0">
                <a:solidFill>
                  <a:srgbClr val="993366"/>
                </a:solidFill>
                <a:latin typeface="Tahoma" panose="020B0604030504040204" pitchFamily="34" charset="0"/>
              </a:rPr>
              <a:t>…………………</a:t>
            </a:r>
            <a:r>
              <a:rPr lang="zh-CN" altLang="en-US" sz="2800" dirty="0">
                <a:solidFill>
                  <a:srgbClr val="993366"/>
                </a:solidFill>
              </a:rPr>
              <a:t>            0</a:t>
            </a:r>
            <a:endParaRPr lang="zh-CN" altLang="en-US" sz="2800" dirty="0">
              <a:solidFill>
                <a:srgbClr val="993366"/>
              </a:solidFill>
            </a:endParaRPr>
          </a:p>
          <a:p>
            <a:pPr eaLnBrk="1" hangingPunct="1">
              <a:lnSpc>
                <a:spcPct val="90000"/>
              </a:lnSpc>
              <a:buNone/>
            </a:pPr>
            <a:r>
              <a:rPr lang="zh-CN" altLang="en-US" sz="2800" dirty="0"/>
              <a:t>     </a:t>
            </a:r>
            <a:r>
              <a:rPr lang="zh-CN" altLang="en-US" sz="2800" b="1" dirty="0">
                <a:solidFill>
                  <a:schemeClr val="tx1"/>
                </a:solidFill>
              </a:rPr>
              <a:t>0   0</a:t>
            </a:r>
            <a:r>
              <a:rPr lang="zh-CN" altLang="en-US" sz="2800" dirty="0"/>
              <a:t>   </a:t>
            </a:r>
            <a:r>
              <a:rPr lang="zh-CN" altLang="en-US" sz="2800" dirty="0">
                <a:solidFill>
                  <a:srgbClr val="993366"/>
                </a:solidFill>
              </a:rPr>
              <a:t>1 </a:t>
            </a:r>
            <a:r>
              <a:rPr lang="zh-CN" altLang="en-US" sz="2800" dirty="0">
                <a:solidFill>
                  <a:srgbClr val="993366"/>
                </a:solidFill>
                <a:latin typeface="Tahoma" panose="020B0604030504040204" pitchFamily="34" charset="0"/>
              </a:rPr>
              <a:t>…………………</a:t>
            </a:r>
            <a:r>
              <a:rPr lang="zh-CN" altLang="en-US" sz="2800" dirty="0">
                <a:solidFill>
                  <a:srgbClr val="993366"/>
                </a:solidFill>
              </a:rPr>
              <a:t>             1</a:t>
            </a:r>
            <a:endParaRPr lang="zh-CN" altLang="en-US" sz="2800" dirty="0">
              <a:solidFill>
                <a:srgbClr val="993366"/>
              </a:solidFill>
            </a:endParaRPr>
          </a:p>
          <a:p>
            <a:pPr eaLnBrk="1" hangingPunct="1">
              <a:lnSpc>
                <a:spcPct val="90000"/>
              </a:lnSpc>
              <a:buNone/>
            </a:pPr>
            <a:r>
              <a:rPr lang="zh-CN" altLang="en-US" sz="2800" b="1" dirty="0">
                <a:solidFill>
                  <a:schemeClr val="tx1"/>
                </a:solidFill>
              </a:rPr>
              <a:t>     0   1</a:t>
            </a:r>
            <a:r>
              <a:rPr lang="zh-CN" altLang="en-US" sz="2800" dirty="0"/>
              <a:t>   </a:t>
            </a:r>
            <a:r>
              <a:rPr lang="zh-CN" altLang="en-US" sz="2800" dirty="0">
                <a:solidFill>
                  <a:srgbClr val="993366"/>
                </a:solidFill>
              </a:rPr>
              <a:t>0 </a:t>
            </a:r>
            <a:r>
              <a:rPr lang="zh-CN" altLang="en-US" sz="2800" dirty="0">
                <a:solidFill>
                  <a:srgbClr val="993366"/>
                </a:solidFill>
                <a:latin typeface="Tahoma" panose="020B0604030504040204" pitchFamily="34" charset="0"/>
              </a:rPr>
              <a:t>…………………</a:t>
            </a:r>
            <a:r>
              <a:rPr lang="zh-CN" altLang="en-US" sz="2800" dirty="0">
                <a:solidFill>
                  <a:srgbClr val="993366"/>
                </a:solidFill>
              </a:rPr>
              <a:t>             0</a:t>
            </a:r>
            <a:endParaRPr lang="zh-CN" altLang="en-US" sz="2800" dirty="0">
              <a:solidFill>
                <a:srgbClr val="993366"/>
              </a:solidFill>
            </a:endParaRPr>
          </a:p>
          <a:p>
            <a:pPr eaLnBrk="1" hangingPunct="1">
              <a:lnSpc>
                <a:spcPct val="90000"/>
              </a:lnSpc>
              <a:buNone/>
            </a:pPr>
            <a:r>
              <a:rPr lang="zh-CN" altLang="en-US" sz="2800" dirty="0"/>
              <a:t>     </a:t>
            </a:r>
            <a:r>
              <a:rPr lang="zh-CN" altLang="en-US" sz="2800" b="1" dirty="0">
                <a:solidFill>
                  <a:schemeClr val="tx1"/>
                </a:solidFill>
              </a:rPr>
              <a:t>0   1</a:t>
            </a:r>
            <a:r>
              <a:rPr lang="zh-CN" altLang="en-US" sz="2800" dirty="0">
                <a:solidFill>
                  <a:srgbClr val="993366"/>
                </a:solidFill>
              </a:rPr>
              <a:t>   1 </a:t>
            </a:r>
            <a:r>
              <a:rPr lang="zh-CN" altLang="en-US" sz="2800" dirty="0">
                <a:solidFill>
                  <a:srgbClr val="993366"/>
                </a:solidFill>
                <a:latin typeface="Tahoma" panose="020B0604030504040204" pitchFamily="34" charset="0"/>
              </a:rPr>
              <a:t>…………………</a:t>
            </a:r>
            <a:r>
              <a:rPr lang="zh-CN" altLang="en-US" sz="2800" dirty="0">
                <a:solidFill>
                  <a:srgbClr val="993366"/>
                </a:solidFill>
              </a:rPr>
              <a:t>             1</a:t>
            </a:r>
            <a:endParaRPr lang="zh-CN" altLang="en-US" sz="2800" dirty="0">
              <a:solidFill>
                <a:srgbClr val="993366"/>
              </a:solidFill>
            </a:endParaRPr>
          </a:p>
          <a:p>
            <a:pPr eaLnBrk="1" hangingPunct="1">
              <a:lnSpc>
                <a:spcPct val="90000"/>
              </a:lnSpc>
              <a:buNone/>
            </a:pPr>
            <a:r>
              <a:rPr lang="zh-CN" altLang="en-US" sz="2800" dirty="0"/>
              <a:t>     </a:t>
            </a:r>
            <a:r>
              <a:rPr lang="zh-CN" altLang="en-US" sz="2800" b="1" dirty="0">
                <a:solidFill>
                  <a:schemeClr val="tx1"/>
                </a:solidFill>
              </a:rPr>
              <a:t>1   0</a:t>
            </a:r>
            <a:r>
              <a:rPr lang="zh-CN" altLang="en-US" sz="2800" dirty="0"/>
              <a:t>   </a:t>
            </a:r>
            <a:r>
              <a:rPr lang="zh-CN" altLang="en-US" sz="2800" dirty="0">
                <a:solidFill>
                  <a:srgbClr val="993366"/>
                </a:solidFill>
              </a:rPr>
              <a:t>0 </a:t>
            </a:r>
            <a:r>
              <a:rPr lang="zh-CN" altLang="en-US" sz="2800" dirty="0">
                <a:solidFill>
                  <a:srgbClr val="993366"/>
                </a:solidFill>
                <a:latin typeface="Tahoma" panose="020B0604030504040204" pitchFamily="34" charset="0"/>
              </a:rPr>
              <a:t>…………………</a:t>
            </a:r>
            <a:r>
              <a:rPr lang="zh-CN" altLang="en-US" sz="2800" dirty="0">
                <a:solidFill>
                  <a:srgbClr val="993366"/>
                </a:solidFill>
              </a:rPr>
              <a:t>             0</a:t>
            </a:r>
            <a:endParaRPr lang="zh-CN" altLang="en-US" sz="2800" dirty="0">
              <a:solidFill>
                <a:srgbClr val="993366"/>
              </a:solidFill>
            </a:endParaRPr>
          </a:p>
          <a:p>
            <a:pPr eaLnBrk="1" hangingPunct="1">
              <a:lnSpc>
                <a:spcPct val="90000"/>
              </a:lnSpc>
              <a:buNone/>
            </a:pPr>
            <a:r>
              <a:rPr lang="zh-CN" altLang="en-US" sz="2800" dirty="0"/>
              <a:t>     </a:t>
            </a:r>
            <a:r>
              <a:rPr lang="zh-CN" altLang="en-US" sz="2800" b="1" dirty="0">
                <a:solidFill>
                  <a:schemeClr val="tx1"/>
                </a:solidFill>
              </a:rPr>
              <a:t>1   0</a:t>
            </a:r>
            <a:r>
              <a:rPr lang="zh-CN" altLang="en-US" sz="2800" dirty="0"/>
              <a:t>   </a:t>
            </a:r>
            <a:r>
              <a:rPr lang="zh-CN" altLang="en-US" sz="2800" dirty="0">
                <a:solidFill>
                  <a:srgbClr val="993366"/>
                </a:solidFill>
              </a:rPr>
              <a:t>1 </a:t>
            </a:r>
            <a:r>
              <a:rPr lang="zh-CN" altLang="en-US" sz="2800" dirty="0">
                <a:solidFill>
                  <a:srgbClr val="993366"/>
                </a:solidFill>
                <a:latin typeface="Tahoma" panose="020B0604030504040204" pitchFamily="34" charset="0"/>
              </a:rPr>
              <a:t>…………………</a:t>
            </a:r>
            <a:r>
              <a:rPr lang="zh-CN" altLang="en-US" sz="2800" dirty="0">
                <a:solidFill>
                  <a:srgbClr val="993366"/>
                </a:solidFill>
              </a:rPr>
              <a:t>             1</a:t>
            </a:r>
            <a:endParaRPr lang="zh-CN" altLang="en-US" sz="2800" dirty="0">
              <a:solidFill>
                <a:srgbClr val="993366"/>
              </a:solidFill>
            </a:endParaRPr>
          </a:p>
          <a:p>
            <a:pPr eaLnBrk="1" hangingPunct="1">
              <a:lnSpc>
                <a:spcPct val="90000"/>
              </a:lnSpc>
              <a:buNone/>
            </a:pPr>
            <a:r>
              <a:rPr lang="zh-CN" altLang="en-US" sz="2800" b="1" dirty="0">
                <a:solidFill>
                  <a:schemeClr val="tx1"/>
                </a:solidFill>
              </a:rPr>
              <a:t>     1   1</a:t>
            </a:r>
            <a:r>
              <a:rPr lang="zh-CN" altLang="en-US" sz="2800" dirty="0"/>
              <a:t>   </a:t>
            </a:r>
            <a:r>
              <a:rPr lang="zh-CN" altLang="en-US" sz="2800" dirty="0">
                <a:solidFill>
                  <a:srgbClr val="993366"/>
                </a:solidFill>
              </a:rPr>
              <a:t>0 </a:t>
            </a:r>
            <a:r>
              <a:rPr lang="zh-CN" altLang="en-US" sz="2800" dirty="0">
                <a:solidFill>
                  <a:srgbClr val="993366"/>
                </a:solidFill>
                <a:latin typeface="Tahoma" panose="020B0604030504040204" pitchFamily="34" charset="0"/>
              </a:rPr>
              <a:t>…………………</a:t>
            </a:r>
            <a:r>
              <a:rPr lang="zh-CN" altLang="en-US" sz="2800" dirty="0">
                <a:solidFill>
                  <a:srgbClr val="993366"/>
                </a:solidFill>
              </a:rPr>
              <a:t>             0</a:t>
            </a:r>
            <a:endParaRPr lang="zh-CN" altLang="en-US" sz="2800" dirty="0">
              <a:solidFill>
                <a:srgbClr val="993366"/>
              </a:solidFill>
            </a:endParaRPr>
          </a:p>
          <a:p>
            <a:pPr eaLnBrk="1" hangingPunct="1">
              <a:lnSpc>
                <a:spcPct val="90000"/>
              </a:lnSpc>
              <a:buNone/>
            </a:pPr>
            <a:r>
              <a:rPr lang="zh-CN" altLang="en-US" sz="2800" dirty="0"/>
              <a:t>     </a:t>
            </a:r>
            <a:r>
              <a:rPr lang="zh-CN" altLang="en-US" sz="2800" b="1" dirty="0">
                <a:solidFill>
                  <a:schemeClr val="tx1"/>
                </a:solidFill>
              </a:rPr>
              <a:t>1   1</a:t>
            </a:r>
            <a:r>
              <a:rPr lang="zh-CN" altLang="en-US" sz="2800" dirty="0"/>
              <a:t>   </a:t>
            </a:r>
            <a:r>
              <a:rPr lang="zh-CN" altLang="en-US" sz="2800" dirty="0">
                <a:solidFill>
                  <a:srgbClr val="993366"/>
                </a:solidFill>
              </a:rPr>
              <a:t>1 </a:t>
            </a:r>
            <a:r>
              <a:rPr lang="zh-CN" altLang="en-US" sz="2800" dirty="0">
                <a:solidFill>
                  <a:srgbClr val="993366"/>
                </a:solidFill>
                <a:latin typeface="Tahoma" panose="020B0604030504040204" pitchFamily="34" charset="0"/>
              </a:rPr>
              <a:t>…………………</a:t>
            </a:r>
            <a:r>
              <a:rPr lang="zh-CN" altLang="en-US" sz="2800" dirty="0">
                <a:solidFill>
                  <a:srgbClr val="993366"/>
                </a:solidFill>
              </a:rPr>
              <a:t>             1</a:t>
            </a:r>
            <a:r>
              <a:rPr lang="zh-CN" altLang="en-US" sz="2800" dirty="0"/>
              <a:t>        </a:t>
            </a:r>
            <a:endParaRPr lang="zh-CN" altLang="en-US" sz="2800" dirty="0"/>
          </a:p>
        </p:txBody>
      </p:sp>
      <p:sp>
        <p:nvSpPr>
          <p:cNvPr id="93187" name="Line 3"/>
          <p:cNvSpPr/>
          <p:nvPr/>
        </p:nvSpPr>
        <p:spPr>
          <a:xfrm>
            <a:off x="990600" y="3276600"/>
            <a:ext cx="5562600" cy="0"/>
          </a:xfrm>
          <a:prstGeom prst="line">
            <a:avLst/>
          </a:prstGeom>
          <a:ln w="9525" cap="flat" cmpd="sng">
            <a:solidFill>
              <a:schemeClr val="tx1"/>
            </a:solidFill>
            <a:prstDash val="solid"/>
            <a:headEnd type="none" w="med" len="med"/>
            <a:tailEnd type="none" w="med" len="med"/>
          </a:ln>
        </p:spPr>
      </p:sp>
      <p:sp>
        <p:nvSpPr>
          <p:cNvPr id="93188" name="Line 4"/>
          <p:cNvSpPr/>
          <p:nvPr/>
        </p:nvSpPr>
        <p:spPr>
          <a:xfrm>
            <a:off x="990600" y="4267200"/>
            <a:ext cx="5562600" cy="0"/>
          </a:xfrm>
          <a:prstGeom prst="line">
            <a:avLst/>
          </a:prstGeom>
          <a:ln w="9525" cap="flat" cmpd="sng">
            <a:solidFill>
              <a:schemeClr val="tx1"/>
            </a:solidFill>
            <a:prstDash val="solid"/>
            <a:headEnd type="none" w="med" len="med"/>
            <a:tailEnd type="none" w="med" len="med"/>
          </a:ln>
        </p:spPr>
      </p:sp>
      <p:sp>
        <p:nvSpPr>
          <p:cNvPr id="93189" name="Line 5"/>
          <p:cNvSpPr/>
          <p:nvPr/>
        </p:nvSpPr>
        <p:spPr>
          <a:xfrm>
            <a:off x="990600" y="5181600"/>
            <a:ext cx="5562600" cy="0"/>
          </a:xfrm>
          <a:prstGeom prst="line">
            <a:avLst/>
          </a:prstGeom>
          <a:ln w="9525" cap="flat" cmpd="sng">
            <a:solidFill>
              <a:schemeClr val="tx1"/>
            </a:solidFill>
            <a:prstDash val="solid"/>
            <a:headEnd type="none" w="med" len="med"/>
            <a:tailEnd type="none" w="med" len="med"/>
          </a:ln>
        </p:spPr>
      </p:sp>
      <p:sp>
        <p:nvSpPr>
          <p:cNvPr id="93190" name="Text Box 6"/>
          <p:cNvSpPr txBox="1"/>
          <p:nvPr/>
        </p:nvSpPr>
        <p:spPr>
          <a:xfrm>
            <a:off x="6248400" y="2590800"/>
            <a:ext cx="2438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000-----3FF   1K  </a:t>
            </a:r>
            <a:endParaRPr lang="zh-CN" altLang="en-US" sz="2400" dirty="0">
              <a:solidFill>
                <a:schemeClr val="tx1"/>
              </a:solidFill>
              <a:latin typeface="Tahoma" panose="020B0604030504040204" pitchFamily="34" charset="0"/>
            </a:endParaRPr>
          </a:p>
        </p:txBody>
      </p:sp>
      <p:sp>
        <p:nvSpPr>
          <p:cNvPr id="93191" name="Text Box 7"/>
          <p:cNvSpPr txBox="1"/>
          <p:nvPr/>
        </p:nvSpPr>
        <p:spPr>
          <a:xfrm>
            <a:off x="6248400" y="3733800"/>
            <a:ext cx="2438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400-----7FF   1K  </a:t>
            </a:r>
            <a:endParaRPr lang="zh-CN" altLang="en-US" sz="2400" dirty="0">
              <a:solidFill>
                <a:schemeClr val="tx1"/>
              </a:solidFill>
              <a:latin typeface="Tahoma" panose="020B0604030504040204" pitchFamily="34" charset="0"/>
            </a:endParaRPr>
          </a:p>
        </p:txBody>
      </p:sp>
      <p:sp>
        <p:nvSpPr>
          <p:cNvPr id="93192" name="Text Box 8"/>
          <p:cNvSpPr txBox="1"/>
          <p:nvPr/>
        </p:nvSpPr>
        <p:spPr>
          <a:xfrm>
            <a:off x="6248400" y="4572000"/>
            <a:ext cx="2438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800-----BFF   1K  </a:t>
            </a:r>
            <a:endParaRPr lang="zh-CN" altLang="en-US" sz="2400" dirty="0">
              <a:solidFill>
                <a:schemeClr val="tx1"/>
              </a:solidFill>
              <a:latin typeface="Tahoma" panose="020B0604030504040204" pitchFamily="34" charset="0"/>
            </a:endParaRPr>
          </a:p>
        </p:txBody>
      </p:sp>
      <p:sp>
        <p:nvSpPr>
          <p:cNvPr id="93193" name="Text Box 9"/>
          <p:cNvSpPr txBox="1"/>
          <p:nvPr/>
        </p:nvSpPr>
        <p:spPr>
          <a:xfrm>
            <a:off x="6248400" y="5562600"/>
            <a:ext cx="2438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C00-----FFF   1K  </a:t>
            </a:r>
            <a:endParaRPr lang="zh-CN" altLang="en-US" sz="2400" dirty="0">
              <a:solidFill>
                <a:schemeClr val="tx1"/>
              </a:solidFill>
              <a:latin typeface="Tahoma" panose="020B0604030504040204" pitchFamily="34" charset="0"/>
            </a:endParaRPr>
          </a:p>
        </p:txBody>
      </p:sp>
      <p:sp>
        <p:nvSpPr>
          <p:cNvPr id="93194" name="Rectangle 10"/>
          <p:cNvSpPr/>
          <p:nvPr>
            <p:ph type="title" idx="4294967295"/>
          </p:nvPr>
        </p:nvSpPr>
        <p:spPr>
          <a:xfrm>
            <a:off x="457200" y="274638"/>
            <a:ext cx="8229600" cy="1143000"/>
          </a:xfrm>
          <a:prstGeom prst="rect">
            <a:avLst/>
          </a:prstGeom>
          <a:noFill/>
          <a:ln w="9525">
            <a:noFill/>
          </a:ln>
        </p:spPr>
        <p:txBody>
          <a:bodyPr anchor="ctr" anchorCtr="0"/>
          <a:p>
            <a:pPr algn="l" eaLnBrk="1" hangingPunct="1"/>
            <a:r>
              <a:rPr lang="zh-CN" altLang="en-US" dirty="0"/>
              <a:t>存储器容量的扩展</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body" idx="4294967295"/>
          </p:nvPr>
        </p:nvSpPr>
        <p:spPr>
          <a:ln/>
        </p:spPr>
        <p:txBody>
          <a:bodyPr vert="horz" wrap="square" lIns="91440" tIns="45720" rIns="91440" bIns="45720" anchor="t" anchorCtr="0"/>
          <a:p>
            <a:pPr eaLnBrk="1" hangingPunct="1">
              <a:buNone/>
            </a:pPr>
            <a:r>
              <a:rPr lang="zh-CN" altLang="en-US" b="1" dirty="0">
                <a:solidFill>
                  <a:srgbClr val="993366"/>
                </a:solidFill>
              </a:rPr>
              <a:t>字位同时扩展法：</a:t>
            </a:r>
            <a:endParaRPr lang="zh-CN" altLang="en-US" b="1" dirty="0">
              <a:solidFill>
                <a:srgbClr val="993366"/>
              </a:solidFill>
            </a:endParaRPr>
          </a:p>
          <a:p>
            <a:pPr eaLnBrk="1" hangingPunct="1"/>
            <a:r>
              <a:rPr lang="zh-CN" altLang="en-US" b="1" dirty="0"/>
              <a:t>实际的存储器 往往 需要对字和位同时扩展，如果所用的存储器芯片的规格是m*n，组成容量位M，字长为N的存储器，所需要的芯片数则为</a:t>
            </a:r>
            <a:endParaRPr lang="zh-CN" altLang="en-US" b="1" dirty="0"/>
          </a:p>
        </p:txBody>
      </p:sp>
      <p:graphicFrame>
        <p:nvGraphicFramePr>
          <p:cNvPr id="94211" name="Object 3"/>
          <p:cNvGraphicFramePr>
            <a:graphicFrameLocks noChangeAspect="1"/>
          </p:cNvGraphicFramePr>
          <p:nvPr/>
        </p:nvGraphicFramePr>
        <p:xfrm>
          <a:off x="3505200" y="4876800"/>
          <a:ext cx="1920875" cy="1143000"/>
        </p:xfrm>
        <a:graphic>
          <a:graphicData uri="http://schemas.openxmlformats.org/presentationml/2006/ole">
            <mc:AlternateContent xmlns:mc="http://schemas.openxmlformats.org/markup-compatibility/2006">
              <mc:Choice xmlns:v="urn:schemas-microsoft-com:vml" Requires="v">
                <p:oleObj spid="_x0000_s3077" name="" r:id="rId1" imgW="497205" imgH="394970" progId="Equation.3">
                  <p:embed/>
                </p:oleObj>
              </mc:Choice>
              <mc:Fallback>
                <p:oleObj name="" r:id="rId1" imgW="497205" imgH="394970" progId="Equation.3">
                  <p:embed/>
                  <p:pic>
                    <p:nvPicPr>
                      <p:cNvPr id="0" name="图片 3076"/>
                      <p:cNvPicPr/>
                      <p:nvPr/>
                    </p:nvPicPr>
                    <p:blipFill>
                      <a:blip r:embed="rId2"/>
                      <a:stretch>
                        <a:fillRect/>
                      </a:stretch>
                    </p:blipFill>
                    <p:spPr>
                      <a:xfrm>
                        <a:off x="3505200" y="4876800"/>
                        <a:ext cx="1920875" cy="1143000"/>
                      </a:xfrm>
                      <a:prstGeom prst="rect">
                        <a:avLst/>
                      </a:prstGeom>
                      <a:noFill/>
                      <a:ln w="38100">
                        <a:noFill/>
                        <a:miter/>
                      </a:ln>
                    </p:spPr>
                  </p:pic>
                </p:oleObj>
              </mc:Fallback>
            </mc:AlternateContent>
          </a:graphicData>
        </a:graphic>
      </p:graphicFrame>
      <p:sp>
        <p:nvSpPr>
          <p:cNvPr id="94212" name="Rectangle 4"/>
          <p:cNvSpPr/>
          <p:nvPr>
            <p:ph type="title" idx="4294967295"/>
          </p:nvPr>
        </p:nvSpPr>
        <p:spPr>
          <a:xfrm>
            <a:off x="396875" y="765175"/>
            <a:ext cx="8229600" cy="1000125"/>
          </a:xfrm>
          <a:prstGeom prst="rect">
            <a:avLst/>
          </a:prstGeom>
          <a:noFill/>
          <a:ln w="9525">
            <a:noFill/>
          </a:ln>
        </p:spPr>
        <p:txBody>
          <a:bodyPr anchor="ctr" anchorCtr="0"/>
          <a:p>
            <a:pPr algn="l" eaLnBrk="1" hangingPunct="1"/>
            <a:r>
              <a:rPr lang="zh-CN" altLang="en-US" dirty="0"/>
              <a:t>存储器容量的扩展</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body" idx="4294967295"/>
          </p:nvPr>
        </p:nvSpPr>
        <p:spPr>
          <a:xfrm>
            <a:off x="685800" y="1905000"/>
            <a:ext cx="7772400" cy="4114800"/>
          </a:xfrm>
          <a:ln/>
        </p:spPr>
        <p:txBody>
          <a:bodyPr vert="horz" wrap="square" lIns="91440" tIns="45720" rIns="91440" bIns="45720" anchor="t" anchorCtr="0"/>
          <a:p>
            <a:pPr eaLnBrk="1" hangingPunct="1"/>
            <a:r>
              <a:rPr lang="zh-CN" altLang="en-US" dirty="0"/>
              <a:t>假设用16K*1的存储芯片组成64K*16的存储器。</a:t>
            </a:r>
            <a:endParaRPr lang="zh-CN" altLang="en-US" dirty="0"/>
          </a:p>
          <a:p>
            <a:pPr eaLnBrk="1" hangingPunct="1"/>
            <a:r>
              <a:rPr lang="zh-CN" altLang="en-US" dirty="0"/>
              <a:t>解：所需的芯片数为</a:t>
            </a:r>
            <a:endParaRPr lang="zh-CN" altLang="en-US" dirty="0"/>
          </a:p>
          <a:p>
            <a:pPr eaLnBrk="1" hangingPunct="1"/>
            <a:r>
              <a:rPr lang="zh-CN" altLang="en-US" dirty="0"/>
              <a:t>系统的地址线：16条，A0---A15</a:t>
            </a:r>
            <a:endParaRPr lang="zh-CN" altLang="en-US" dirty="0"/>
          </a:p>
          <a:p>
            <a:pPr eaLnBrk="1" hangingPunct="1"/>
            <a:r>
              <a:rPr lang="zh-CN" altLang="en-US" dirty="0"/>
              <a:t>系统的数据线：16条，D0---D15</a:t>
            </a:r>
            <a:endParaRPr lang="zh-CN" altLang="en-US" dirty="0"/>
          </a:p>
          <a:p>
            <a:pPr eaLnBrk="1" hangingPunct="1"/>
            <a:r>
              <a:rPr lang="zh-CN" altLang="en-US" dirty="0"/>
              <a:t>芯片的地址线：14条，A0---A13</a:t>
            </a:r>
            <a:endParaRPr lang="zh-CN" altLang="en-US" dirty="0"/>
          </a:p>
          <a:p>
            <a:pPr eaLnBrk="1" hangingPunct="1"/>
            <a:r>
              <a:rPr lang="zh-CN" altLang="en-US" dirty="0"/>
              <a:t>芯片的数据线：1条，D0</a:t>
            </a:r>
            <a:endParaRPr lang="zh-CN" altLang="en-US" dirty="0"/>
          </a:p>
        </p:txBody>
      </p:sp>
      <p:graphicFrame>
        <p:nvGraphicFramePr>
          <p:cNvPr id="95235" name="Object 3"/>
          <p:cNvGraphicFramePr>
            <a:graphicFrameLocks noChangeAspect="1"/>
          </p:cNvGraphicFramePr>
          <p:nvPr/>
        </p:nvGraphicFramePr>
        <p:xfrm>
          <a:off x="4953000" y="2816225"/>
          <a:ext cx="1752600" cy="896938"/>
        </p:xfrm>
        <a:graphic>
          <a:graphicData uri="http://schemas.openxmlformats.org/presentationml/2006/ole">
            <mc:AlternateContent xmlns:mc="http://schemas.openxmlformats.org/markup-compatibility/2006">
              <mc:Choice xmlns:v="urn:schemas-microsoft-com:vml" Requires="v">
                <p:oleObj spid="_x0000_s3076" name="" r:id="rId1" imgW="802640" imgH="394970" progId="Equation.3">
                  <p:embed/>
                </p:oleObj>
              </mc:Choice>
              <mc:Fallback>
                <p:oleObj name="" r:id="rId1" imgW="802640" imgH="394970" progId="Equation.3">
                  <p:embed/>
                  <p:pic>
                    <p:nvPicPr>
                      <p:cNvPr id="0" name="图片 3075"/>
                      <p:cNvPicPr/>
                      <p:nvPr/>
                    </p:nvPicPr>
                    <p:blipFill>
                      <a:blip r:embed="rId2"/>
                      <a:stretch>
                        <a:fillRect/>
                      </a:stretch>
                    </p:blipFill>
                    <p:spPr>
                      <a:xfrm>
                        <a:off x="4953000" y="2816225"/>
                        <a:ext cx="1752600" cy="896938"/>
                      </a:xfrm>
                      <a:prstGeom prst="rect">
                        <a:avLst/>
                      </a:prstGeom>
                      <a:noFill/>
                      <a:ln w="38100">
                        <a:noFill/>
                        <a:miter/>
                      </a:ln>
                    </p:spPr>
                  </p:pic>
                </p:oleObj>
              </mc:Fallback>
            </mc:AlternateContent>
          </a:graphicData>
        </a:graphic>
      </p:graphicFrame>
      <p:sp>
        <p:nvSpPr>
          <p:cNvPr id="95236" name="Rectangle 4"/>
          <p:cNvSpPr/>
          <p:nvPr>
            <p:ph type="title" idx="4294967295"/>
          </p:nvPr>
        </p:nvSpPr>
        <p:spPr>
          <a:xfrm>
            <a:off x="457200" y="692150"/>
            <a:ext cx="8229600" cy="725488"/>
          </a:xfrm>
          <a:prstGeom prst="rect">
            <a:avLst/>
          </a:prstGeom>
          <a:noFill/>
          <a:ln w="9525">
            <a:noFill/>
          </a:ln>
        </p:spPr>
        <p:txBody>
          <a:bodyPr anchor="ctr" anchorCtr="0"/>
          <a:p>
            <a:pPr algn="l" eaLnBrk="1" hangingPunct="1"/>
            <a:r>
              <a:rPr lang="zh-CN" altLang="en-US" dirty="0"/>
              <a:t>存储器容量的扩展</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body" idx="4294967295"/>
          </p:nvPr>
        </p:nvSpPr>
        <p:spPr>
          <a:xfrm>
            <a:off x="152400" y="1981200"/>
            <a:ext cx="7772400" cy="4114800"/>
          </a:xfrm>
          <a:ln/>
        </p:spPr>
        <p:txBody>
          <a:bodyPr vert="horz" wrap="square" lIns="91440" tIns="45720" rIns="91440" bIns="45720" anchor="t" anchorCtr="0"/>
          <a:p>
            <a:pPr eaLnBrk="1" hangingPunct="1">
              <a:lnSpc>
                <a:spcPct val="90000"/>
              </a:lnSpc>
            </a:pPr>
            <a:r>
              <a:rPr lang="zh-CN" altLang="en-US" sz="2400" b="1" dirty="0"/>
              <a:t>A</a:t>
            </a:r>
            <a:r>
              <a:rPr lang="zh-CN" altLang="en-US" sz="2400" b="1" baseline="-25000" dirty="0"/>
              <a:t>15</a:t>
            </a:r>
            <a:r>
              <a:rPr lang="zh-CN" altLang="en-US" sz="2400" b="1" dirty="0"/>
              <a:t>A</a:t>
            </a:r>
            <a:r>
              <a:rPr lang="zh-CN" altLang="en-US" sz="2400" b="1" baseline="-25000" dirty="0"/>
              <a:t>14</a:t>
            </a:r>
            <a:r>
              <a:rPr lang="zh-CN" altLang="en-US" sz="2400" b="1" dirty="0"/>
              <a:t>A</a:t>
            </a:r>
            <a:r>
              <a:rPr lang="zh-CN" altLang="en-US" sz="2400" b="1" baseline="-25000" dirty="0"/>
              <a:t>13</a:t>
            </a:r>
            <a:r>
              <a:rPr lang="zh-CN" altLang="en-US" sz="2400" b="1" dirty="0"/>
              <a:t>A</a:t>
            </a:r>
            <a:r>
              <a:rPr lang="zh-CN" altLang="en-US" sz="2400" b="1" baseline="-25000" dirty="0"/>
              <a:t>12</a:t>
            </a:r>
            <a:r>
              <a:rPr lang="zh-CN" altLang="en-US" sz="2400" b="1" dirty="0"/>
              <a:t>A</a:t>
            </a:r>
            <a:r>
              <a:rPr lang="zh-CN" altLang="en-US" sz="2400" b="1" baseline="-25000" dirty="0"/>
              <a:t>11</a:t>
            </a:r>
            <a:r>
              <a:rPr lang="zh-CN" altLang="en-US" sz="2400" b="1" dirty="0"/>
              <a:t>A</a:t>
            </a:r>
            <a:r>
              <a:rPr lang="zh-CN" altLang="en-US" sz="2400" b="1" baseline="-25000" dirty="0"/>
              <a:t>10</a:t>
            </a:r>
            <a:r>
              <a:rPr lang="zh-CN" altLang="en-US" sz="2400" b="1" dirty="0"/>
              <a:t>A</a:t>
            </a:r>
            <a:r>
              <a:rPr lang="zh-CN" altLang="en-US" sz="2400" b="1" baseline="-25000" dirty="0"/>
              <a:t>9</a:t>
            </a:r>
            <a:r>
              <a:rPr lang="zh-CN" altLang="en-US" sz="2400" b="1" dirty="0"/>
              <a:t>A</a:t>
            </a:r>
            <a:r>
              <a:rPr lang="zh-CN" altLang="en-US" sz="2400" b="1" baseline="-25000" dirty="0"/>
              <a:t>8</a:t>
            </a:r>
            <a:r>
              <a:rPr lang="zh-CN" altLang="en-US" sz="2400" b="1" dirty="0"/>
              <a:t>A</a:t>
            </a:r>
            <a:r>
              <a:rPr lang="zh-CN" altLang="en-US" sz="2400" b="1" baseline="-25000" dirty="0"/>
              <a:t>7</a:t>
            </a:r>
            <a:r>
              <a:rPr lang="zh-CN" altLang="en-US" sz="2400" b="1" dirty="0"/>
              <a:t>A</a:t>
            </a:r>
            <a:r>
              <a:rPr lang="zh-CN" altLang="en-US" sz="2400" b="1" baseline="-25000" dirty="0"/>
              <a:t>6</a:t>
            </a:r>
            <a:r>
              <a:rPr lang="zh-CN" altLang="en-US" sz="2400" b="1" dirty="0"/>
              <a:t>A</a:t>
            </a:r>
            <a:r>
              <a:rPr lang="zh-CN" altLang="en-US" sz="2400" b="1" baseline="-25000" dirty="0"/>
              <a:t>5</a:t>
            </a:r>
            <a:r>
              <a:rPr lang="zh-CN" altLang="en-US" sz="2400" b="1" dirty="0"/>
              <a:t>A</a:t>
            </a:r>
            <a:r>
              <a:rPr lang="zh-CN" altLang="en-US" sz="2400" b="1" baseline="-25000" dirty="0"/>
              <a:t>4</a:t>
            </a:r>
            <a:r>
              <a:rPr lang="zh-CN" altLang="en-US" sz="2400" b="1" dirty="0"/>
              <a:t>A</a:t>
            </a:r>
            <a:r>
              <a:rPr lang="zh-CN" altLang="en-US" sz="2400" b="1" baseline="-25000" dirty="0"/>
              <a:t>3</a:t>
            </a:r>
            <a:r>
              <a:rPr lang="zh-CN" altLang="en-US" sz="2400" b="1" dirty="0"/>
              <a:t>A</a:t>
            </a:r>
            <a:r>
              <a:rPr lang="zh-CN" altLang="en-US" sz="2400" b="1" baseline="-25000" dirty="0"/>
              <a:t>2</a:t>
            </a:r>
            <a:r>
              <a:rPr lang="zh-CN" altLang="en-US" sz="2400" b="1" dirty="0"/>
              <a:t>A</a:t>
            </a:r>
            <a:r>
              <a:rPr lang="zh-CN" altLang="en-US" sz="2400" b="1" baseline="-25000" dirty="0"/>
              <a:t>1</a:t>
            </a:r>
            <a:r>
              <a:rPr lang="zh-CN" altLang="en-US" sz="2400" b="1" dirty="0"/>
              <a:t>A</a:t>
            </a:r>
            <a:r>
              <a:rPr lang="zh-CN" altLang="en-US" sz="2400" b="1" baseline="-25000" dirty="0"/>
              <a:t>0</a:t>
            </a:r>
            <a:endParaRPr lang="zh-CN" altLang="en-US" sz="2400" b="1" baseline="-25000" dirty="0"/>
          </a:p>
          <a:p>
            <a:pPr eaLnBrk="1" hangingPunct="1">
              <a:lnSpc>
                <a:spcPct val="90000"/>
              </a:lnSpc>
              <a:buNone/>
            </a:pPr>
            <a:r>
              <a:rPr lang="zh-CN" altLang="en-US" sz="2800" b="1" baseline="-25000" dirty="0"/>
              <a:t>      </a:t>
            </a:r>
            <a:r>
              <a:rPr lang="zh-CN" altLang="en-US" sz="2800" b="1" dirty="0"/>
              <a:t>0   0   </a:t>
            </a:r>
            <a:r>
              <a:rPr lang="zh-CN" altLang="en-US" sz="2800" b="1" dirty="0">
                <a:solidFill>
                  <a:srgbClr val="800000"/>
                </a:solidFill>
              </a:rPr>
              <a:t>0         </a:t>
            </a:r>
            <a:r>
              <a:rPr lang="zh-CN" altLang="en-US" sz="2800" b="1" dirty="0">
                <a:solidFill>
                  <a:srgbClr val="800000"/>
                </a:solidFill>
                <a:latin typeface="Tahoma" panose="020B0604030504040204" pitchFamily="34" charset="0"/>
              </a:rPr>
              <a:t>…………………</a:t>
            </a:r>
            <a:r>
              <a:rPr lang="zh-CN" altLang="en-US" sz="2800" b="1" dirty="0">
                <a:solidFill>
                  <a:srgbClr val="800000"/>
                </a:solidFill>
              </a:rPr>
              <a:t>                 0</a:t>
            </a:r>
            <a:endParaRPr lang="zh-CN" altLang="en-US" sz="2800" b="1" dirty="0">
              <a:solidFill>
                <a:srgbClr val="800000"/>
              </a:solidFill>
            </a:endParaRPr>
          </a:p>
          <a:p>
            <a:pPr eaLnBrk="1" hangingPunct="1">
              <a:lnSpc>
                <a:spcPct val="90000"/>
              </a:lnSpc>
              <a:buNone/>
            </a:pPr>
            <a:r>
              <a:rPr lang="zh-CN" altLang="en-US" sz="2800" b="1" dirty="0"/>
              <a:t>    0   0   </a:t>
            </a:r>
            <a:r>
              <a:rPr lang="zh-CN" altLang="en-US" sz="2800" b="1" dirty="0">
                <a:solidFill>
                  <a:srgbClr val="800000"/>
                </a:solidFill>
              </a:rPr>
              <a:t>1        </a:t>
            </a:r>
            <a:r>
              <a:rPr lang="zh-CN" altLang="en-US" sz="2800" b="1" dirty="0">
                <a:solidFill>
                  <a:srgbClr val="800000"/>
                </a:solidFill>
                <a:latin typeface="Tahoma" panose="020B0604030504040204" pitchFamily="34" charset="0"/>
              </a:rPr>
              <a:t>…………………</a:t>
            </a:r>
            <a:r>
              <a:rPr lang="zh-CN" altLang="en-US" sz="2800" b="1" dirty="0">
                <a:solidFill>
                  <a:srgbClr val="800000"/>
                </a:solidFill>
              </a:rPr>
              <a:t>                  1</a:t>
            </a:r>
            <a:endParaRPr lang="zh-CN" altLang="en-US" sz="2800" b="1" dirty="0">
              <a:solidFill>
                <a:srgbClr val="800000"/>
              </a:solidFill>
            </a:endParaRPr>
          </a:p>
          <a:p>
            <a:pPr eaLnBrk="1" hangingPunct="1">
              <a:lnSpc>
                <a:spcPct val="90000"/>
              </a:lnSpc>
              <a:buNone/>
            </a:pPr>
            <a:r>
              <a:rPr lang="zh-CN" altLang="en-US" sz="2800" b="1" dirty="0"/>
              <a:t>    0   1   </a:t>
            </a:r>
            <a:r>
              <a:rPr lang="zh-CN" altLang="en-US" sz="2800" b="1" dirty="0">
                <a:solidFill>
                  <a:srgbClr val="800000"/>
                </a:solidFill>
              </a:rPr>
              <a:t>0        </a:t>
            </a:r>
            <a:r>
              <a:rPr lang="zh-CN" altLang="en-US" sz="2800" b="1" dirty="0">
                <a:solidFill>
                  <a:srgbClr val="800000"/>
                </a:solidFill>
                <a:latin typeface="Tahoma" panose="020B0604030504040204" pitchFamily="34" charset="0"/>
              </a:rPr>
              <a:t>…………………</a:t>
            </a:r>
            <a:r>
              <a:rPr lang="zh-CN" altLang="en-US" sz="2800" b="1" dirty="0"/>
              <a:t>                  </a:t>
            </a:r>
            <a:r>
              <a:rPr lang="zh-CN" altLang="en-US" sz="2800" b="1" dirty="0">
                <a:solidFill>
                  <a:srgbClr val="800000"/>
                </a:solidFill>
              </a:rPr>
              <a:t>0</a:t>
            </a:r>
            <a:endParaRPr lang="zh-CN" altLang="en-US" sz="2800" b="1" dirty="0">
              <a:solidFill>
                <a:srgbClr val="800000"/>
              </a:solidFill>
            </a:endParaRPr>
          </a:p>
          <a:p>
            <a:pPr eaLnBrk="1" hangingPunct="1">
              <a:lnSpc>
                <a:spcPct val="90000"/>
              </a:lnSpc>
              <a:buNone/>
            </a:pPr>
            <a:r>
              <a:rPr lang="zh-CN" altLang="en-US" sz="2800" b="1" dirty="0"/>
              <a:t>    0   1   </a:t>
            </a:r>
            <a:r>
              <a:rPr lang="zh-CN" altLang="en-US" sz="2800" b="1" dirty="0">
                <a:solidFill>
                  <a:srgbClr val="800000"/>
                </a:solidFill>
              </a:rPr>
              <a:t>1        </a:t>
            </a:r>
            <a:r>
              <a:rPr lang="zh-CN" altLang="en-US" sz="2800" b="1" dirty="0">
                <a:solidFill>
                  <a:srgbClr val="800000"/>
                </a:solidFill>
                <a:latin typeface="Tahoma" panose="020B0604030504040204" pitchFamily="34" charset="0"/>
              </a:rPr>
              <a:t>…………………</a:t>
            </a:r>
            <a:r>
              <a:rPr lang="zh-CN" altLang="en-US" sz="2800" b="1" dirty="0">
                <a:solidFill>
                  <a:srgbClr val="800000"/>
                </a:solidFill>
              </a:rPr>
              <a:t>                  1</a:t>
            </a:r>
            <a:endParaRPr lang="zh-CN" altLang="en-US" sz="2800" b="1" dirty="0">
              <a:solidFill>
                <a:srgbClr val="800000"/>
              </a:solidFill>
            </a:endParaRPr>
          </a:p>
          <a:p>
            <a:pPr eaLnBrk="1" hangingPunct="1">
              <a:lnSpc>
                <a:spcPct val="90000"/>
              </a:lnSpc>
              <a:buNone/>
            </a:pPr>
            <a:r>
              <a:rPr lang="zh-CN" altLang="en-US" sz="2800" b="1" dirty="0"/>
              <a:t>    1   0   </a:t>
            </a:r>
            <a:r>
              <a:rPr lang="zh-CN" altLang="en-US" sz="2800" b="1" dirty="0">
                <a:solidFill>
                  <a:srgbClr val="800000"/>
                </a:solidFill>
              </a:rPr>
              <a:t>0         </a:t>
            </a:r>
            <a:r>
              <a:rPr lang="zh-CN" altLang="en-US" sz="2800" b="1" dirty="0">
                <a:solidFill>
                  <a:srgbClr val="800000"/>
                </a:solidFill>
                <a:latin typeface="Tahoma" panose="020B0604030504040204" pitchFamily="34" charset="0"/>
              </a:rPr>
              <a:t>…………………</a:t>
            </a:r>
            <a:r>
              <a:rPr lang="zh-CN" altLang="en-US" sz="2800" b="1" dirty="0">
                <a:solidFill>
                  <a:srgbClr val="800000"/>
                </a:solidFill>
              </a:rPr>
              <a:t>                 0</a:t>
            </a:r>
            <a:endParaRPr lang="zh-CN" altLang="en-US" sz="2800" b="1" dirty="0">
              <a:solidFill>
                <a:srgbClr val="800000"/>
              </a:solidFill>
            </a:endParaRPr>
          </a:p>
          <a:p>
            <a:pPr eaLnBrk="1" hangingPunct="1">
              <a:lnSpc>
                <a:spcPct val="90000"/>
              </a:lnSpc>
              <a:buNone/>
            </a:pPr>
            <a:r>
              <a:rPr lang="zh-CN" altLang="en-US" sz="2800" b="1" dirty="0"/>
              <a:t>    1   0   </a:t>
            </a:r>
            <a:r>
              <a:rPr lang="zh-CN" altLang="en-US" sz="2800" b="1" dirty="0">
                <a:solidFill>
                  <a:srgbClr val="800000"/>
                </a:solidFill>
              </a:rPr>
              <a:t>1         </a:t>
            </a:r>
            <a:r>
              <a:rPr lang="zh-CN" altLang="en-US" sz="2800" b="1" dirty="0">
                <a:solidFill>
                  <a:srgbClr val="800000"/>
                </a:solidFill>
                <a:latin typeface="Tahoma" panose="020B0604030504040204" pitchFamily="34" charset="0"/>
              </a:rPr>
              <a:t>…………………</a:t>
            </a:r>
            <a:r>
              <a:rPr lang="zh-CN" altLang="en-US" sz="2800" b="1" dirty="0">
                <a:solidFill>
                  <a:srgbClr val="800000"/>
                </a:solidFill>
              </a:rPr>
              <a:t>                 1</a:t>
            </a:r>
            <a:endParaRPr lang="zh-CN" altLang="en-US" sz="2800" b="1" dirty="0">
              <a:solidFill>
                <a:srgbClr val="800000"/>
              </a:solidFill>
            </a:endParaRPr>
          </a:p>
          <a:p>
            <a:pPr eaLnBrk="1" hangingPunct="1">
              <a:lnSpc>
                <a:spcPct val="90000"/>
              </a:lnSpc>
              <a:buNone/>
            </a:pPr>
            <a:r>
              <a:rPr lang="zh-CN" altLang="en-US" sz="2800" b="1" dirty="0"/>
              <a:t>    1   1   </a:t>
            </a:r>
            <a:r>
              <a:rPr lang="zh-CN" altLang="en-US" sz="2800" b="1" dirty="0">
                <a:solidFill>
                  <a:srgbClr val="800000"/>
                </a:solidFill>
              </a:rPr>
              <a:t>0         </a:t>
            </a:r>
            <a:r>
              <a:rPr lang="zh-CN" altLang="en-US" sz="2800" b="1" dirty="0">
                <a:solidFill>
                  <a:srgbClr val="800000"/>
                </a:solidFill>
                <a:latin typeface="Tahoma" panose="020B0604030504040204" pitchFamily="34" charset="0"/>
              </a:rPr>
              <a:t>…………………</a:t>
            </a:r>
            <a:r>
              <a:rPr lang="zh-CN" altLang="en-US" sz="2800" b="1" dirty="0">
                <a:solidFill>
                  <a:srgbClr val="800000"/>
                </a:solidFill>
              </a:rPr>
              <a:t>                 0</a:t>
            </a:r>
            <a:endParaRPr lang="zh-CN" altLang="en-US" sz="2800" b="1" dirty="0">
              <a:solidFill>
                <a:srgbClr val="800000"/>
              </a:solidFill>
            </a:endParaRPr>
          </a:p>
          <a:p>
            <a:pPr eaLnBrk="1" hangingPunct="1">
              <a:lnSpc>
                <a:spcPct val="90000"/>
              </a:lnSpc>
              <a:buNone/>
            </a:pPr>
            <a:r>
              <a:rPr lang="zh-CN" altLang="en-US" sz="2800" b="1" dirty="0"/>
              <a:t>    1   1   </a:t>
            </a:r>
            <a:r>
              <a:rPr lang="zh-CN" altLang="en-US" sz="2800" b="1" dirty="0">
                <a:solidFill>
                  <a:srgbClr val="800000"/>
                </a:solidFill>
              </a:rPr>
              <a:t>1         </a:t>
            </a:r>
            <a:r>
              <a:rPr lang="zh-CN" altLang="en-US" sz="2800" b="1" dirty="0">
                <a:solidFill>
                  <a:srgbClr val="800000"/>
                </a:solidFill>
                <a:latin typeface="Tahoma" panose="020B0604030504040204" pitchFamily="34" charset="0"/>
              </a:rPr>
              <a:t>…………………</a:t>
            </a:r>
            <a:r>
              <a:rPr lang="zh-CN" altLang="en-US" sz="2800" b="1" dirty="0">
                <a:solidFill>
                  <a:srgbClr val="800000"/>
                </a:solidFill>
              </a:rPr>
              <a:t>                 1</a:t>
            </a:r>
            <a:r>
              <a:rPr lang="zh-CN" altLang="en-US" sz="2800" b="1" dirty="0"/>
              <a:t>        </a:t>
            </a:r>
            <a:endParaRPr lang="zh-CN" altLang="en-US" sz="2800" b="1" dirty="0"/>
          </a:p>
        </p:txBody>
      </p:sp>
      <p:sp>
        <p:nvSpPr>
          <p:cNvPr id="96259" name="Line 3"/>
          <p:cNvSpPr/>
          <p:nvPr/>
        </p:nvSpPr>
        <p:spPr>
          <a:xfrm>
            <a:off x="685800" y="3429000"/>
            <a:ext cx="7162800" cy="0"/>
          </a:xfrm>
          <a:prstGeom prst="line">
            <a:avLst/>
          </a:prstGeom>
          <a:ln w="9525" cap="flat" cmpd="sng">
            <a:solidFill>
              <a:schemeClr val="tx1"/>
            </a:solidFill>
            <a:prstDash val="solid"/>
            <a:headEnd type="none" w="med" len="med"/>
            <a:tailEnd type="none" w="med" len="med"/>
          </a:ln>
        </p:spPr>
      </p:sp>
      <p:sp>
        <p:nvSpPr>
          <p:cNvPr id="96260" name="Line 4"/>
          <p:cNvSpPr/>
          <p:nvPr/>
        </p:nvSpPr>
        <p:spPr>
          <a:xfrm>
            <a:off x="685800" y="4343400"/>
            <a:ext cx="7239000" cy="0"/>
          </a:xfrm>
          <a:prstGeom prst="line">
            <a:avLst/>
          </a:prstGeom>
          <a:ln w="9525" cap="flat" cmpd="sng">
            <a:solidFill>
              <a:schemeClr val="tx1"/>
            </a:solidFill>
            <a:prstDash val="solid"/>
            <a:headEnd type="none" w="med" len="med"/>
            <a:tailEnd type="none" w="med" len="med"/>
          </a:ln>
        </p:spPr>
      </p:sp>
      <p:sp>
        <p:nvSpPr>
          <p:cNvPr id="96261" name="Line 5"/>
          <p:cNvSpPr/>
          <p:nvPr/>
        </p:nvSpPr>
        <p:spPr>
          <a:xfrm>
            <a:off x="685800" y="5257800"/>
            <a:ext cx="7315200" cy="0"/>
          </a:xfrm>
          <a:prstGeom prst="line">
            <a:avLst/>
          </a:prstGeom>
          <a:ln w="9525" cap="flat" cmpd="sng">
            <a:solidFill>
              <a:schemeClr val="tx1"/>
            </a:solidFill>
            <a:prstDash val="solid"/>
            <a:headEnd type="none" w="med" len="med"/>
            <a:tailEnd type="none" w="med" len="med"/>
          </a:ln>
        </p:spPr>
      </p:sp>
      <p:sp>
        <p:nvSpPr>
          <p:cNvPr id="96262" name="Text Box 6"/>
          <p:cNvSpPr txBox="1"/>
          <p:nvPr/>
        </p:nvSpPr>
        <p:spPr>
          <a:xfrm>
            <a:off x="6705600" y="2590800"/>
            <a:ext cx="2438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0000-----3FFF  </a:t>
            </a:r>
            <a:endParaRPr lang="zh-CN" altLang="en-US" sz="2400" dirty="0">
              <a:solidFill>
                <a:schemeClr val="tx1"/>
              </a:solidFill>
              <a:latin typeface="Tahoma" panose="020B0604030504040204" pitchFamily="34" charset="0"/>
            </a:endParaRPr>
          </a:p>
        </p:txBody>
      </p:sp>
      <p:sp>
        <p:nvSpPr>
          <p:cNvPr id="96263" name="Text Box 7"/>
          <p:cNvSpPr txBox="1"/>
          <p:nvPr/>
        </p:nvSpPr>
        <p:spPr>
          <a:xfrm>
            <a:off x="6705600" y="3657600"/>
            <a:ext cx="2438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4000-----7FFF  </a:t>
            </a:r>
            <a:endParaRPr lang="zh-CN" altLang="en-US" sz="2400" dirty="0">
              <a:solidFill>
                <a:schemeClr val="tx1"/>
              </a:solidFill>
              <a:latin typeface="Tahoma" panose="020B0604030504040204" pitchFamily="34" charset="0"/>
            </a:endParaRPr>
          </a:p>
        </p:txBody>
      </p:sp>
      <p:sp>
        <p:nvSpPr>
          <p:cNvPr id="96264" name="Text Box 8"/>
          <p:cNvSpPr txBox="1"/>
          <p:nvPr/>
        </p:nvSpPr>
        <p:spPr>
          <a:xfrm>
            <a:off x="6705600" y="4572000"/>
            <a:ext cx="2286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8000-----BFFF </a:t>
            </a:r>
            <a:endParaRPr lang="zh-CN" altLang="en-US" sz="2400" dirty="0">
              <a:solidFill>
                <a:schemeClr val="tx1"/>
              </a:solidFill>
              <a:latin typeface="Tahoma" panose="020B0604030504040204" pitchFamily="34" charset="0"/>
            </a:endParaRPr>
          </a:p>
        </p:txBody>
      </p:sp>
      <p:sp>
        <p:nvSpPr>
          <p:cNvPr id="96265" name="Text Box 9"/>
          <p:cNvSpPr txBox="1"/>
          <p:nvPr/>
        </p:nvSpPr>
        <p:spPr>
          <a:xfrm>
            <a:off x="6705600" y="5562600"/>
            <a:ext cx="2057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C000-----FFFF </a:t>
            </a:r>
            <a:endParaRPr lang="zh-CN" altLang="en-US" sz="2400" dirty="0">
              <a:solidFill>
                <a:schemeClr val="tx1"/>
              </a:solidFill>
              <a:latin typeface="Tahoma" panose="020B0604030504040204" pitchFamily="34" charset="0"/>
            </a:endParaRPr>
          </a:p>
        </p:txBody>
      </p:sp>
      <p:sp>
        <p:nvSpPr>
          <p:cNvPr id="96266" name="Rectangle 10"/>
          <p:cNvSpPr/>
          <p:nvPr>
            <p:ph type="title" idx="4294967295"/>
          </p:nvPr>
        </p:nvSpPr>
        <p:spPr>
          <a:xfrm>
            <a:off x="457200" y="622300"/>
            <a:ext cx="8229600" cy="796925"/>
          </a:xfrm>
          <a:prstGeom prst="rect">
            <a:avLst/>
          </a:prstGeom>
          <a:noFill/>
          <a:ln w="9525">
            <a:noFill/>
          </a:ln>
        </p:spPr>
        <p:txBody>
          <a:bodyPr anchor="ctr" anchorCtr="0"/>
          <a:p>
            <a:pPr algn="l" eaLnBrk="1" hangingPunct="1"/>
            <a:r>
              <a:rPr lang="zh-CN" altLang="en-US" dirty="0"/>
              <a:t>存储器容量的扩展</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7282" name="Group 2"/>
          <p:cNvGrpSpPr/>
          <p:nvPr/>
        </p:nvGrpSpPr>
        <p:grpSpPr>
          <a:xfrm>
            <a:off x="838200" y="1219200"/>
            <a:ext cx="7837488" cy="4724400"/>
            <a:chOff x="0" y="0"/>
            <a:chExt cx="4937" cy="2976"/>
          </a:xfrm>
        </p:grpSpPr>
        <p:sp>
          <p:nvSpPr>
            <p:cNvPr id="97283" name="Rectangle 3"/>
            <p:cNvSpPr/>
            <p:nvPr/>
          </p:nvSpPr>
          <p:spPr>
            <a:xfrm>
              <a:off x="1423" y="453"/>
              <a:ext cx="193" cy="331"/>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84" name="Rectangle 4"/>
            <p:cNvSpPr/>
            <p:nvPr/>
          </p:nvSpPr>
          <p:spPr>
            <a:xfrm>
              <a:off x="1423" y="949"/>
              <a:ext cx="193" cy="330"/>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85" name="Rectangle 5"/>
            <p:cNvSpPr/>
            <p:nvPr/>
          </p:nvSpPr>
          <p:spPr>
            <a:xfrm>
              <a:off x="1423" y="1486"/>
              <a:ext cx="193" cy="330"/>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86" name="Rectangle 6"/>
            <p:cNvSpPr/>
            <p:nvPr/>
          </p:nvSpPr>
          <p:spPr>
            <a:xfrm>
              <a:off x="1423" y="2064"/>
              <a:ext cx="193" cy="331"/>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87" name="Rectangle 7"/>
            <p:cNvSpPr/>
            <p:nvPr/>
          </p:nvSpPr>
          <p:spPr>
            <a:xfrm>
              <a:off x="2155" y="453"/>
              <a:ext cx="192" cy="331"/>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88" name="Rectangle 8"/>
            <p:cNvSpPr/>
            <p:nvPr/>
          </p:nvSpPr>
          <p:spPr>
            <a:xfrm>
              <a:off x="2155" y="949"/>
              <a:ext cx="192" cy="330"/>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89" name="Rectangle 9"/>
            <p:cNvSpPr/>
            <p:nvPr/>
          </p:nvSpPr>
          <p:spPr>
            <a:xfrm>
              <a:off x="2155" y="1486"/>
              <a:ext cx="192" cy="330"/>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0" name="Rectangle 10"/>
            <p:cNvSpPr/>
            <p:nvPr/>
          </p:nvSpPr>
          <p:spPr>
            <a:xfrm>
              <a:off x="2155" y="2064"/>
              <a:ext cx="192" cy="331"/>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1" name="Rectangle 11"/>
            <p:cNvSpPr/>
            <p:nvPr/>
          </p:nvSpPr>
          <p:spPr>
            <a:xfrm>
              <a:off x="3925" y="453"/>
              <a:ext cx="193" cy="331"/>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2" name="Rectangle 12"/>
            <p:cNvSpPr/>
            <p:nvPr/>
          </p:nvSpPr>
          <p:spPr>
            <a:xfrm>
              <a:off x="3925" y="949"/>
              <a:ext cx="193" cy="330"/>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3" name="Rectangle 13"/>
            <p:cNvSpPr/>
            <p:nvPr/>
          </p:nvSpPr>
          <p:spPr>
            <a:xfrm>
              <a:off x="3925" y="1486"/>
              <a:ext cx="193" cy="330"/>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4" name="Rectangle 14"/>
            <p:cNvSpPr/>
            <p:nvPr/>
          </p:nvSpPr>
          <p:spPr>
            <a:xfrm>
              <a:off x="3925" y="2064"/>
              <a:ext cx="193" cy="331"/>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5" name="Rectangle 15"/>
            <p:cNvSpPr/>
            <p:nvPr/>
          </p:nvSpPr>
          <p:spPr>
            <a:xfrm>
              <a:off x="1192" y="371"/>
              <a:ext cx="77" cy="177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6" name="Rectangle 16"/>
            <p:cNvSpPr/>
            <p:nvPr/>
          </p:nvSpPr>
          <p:spPr>
            <a:xfrm>
              <a:off x="1192" y="2147"/>
              <a:ext cx="231" cy="82"/>
            </a:xfrm>
            <a:prstGeom prst="rect">
              <a:avLst/>
            </a:prstGeom>
            <a:solidFill>
              <a:schemeClr val="tx1"/>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7" name="Rectangle 17"/>
            <p:cNvSpPr/>
            <p:nvPr/>
          </p:nvSpPr>
          <p:spPr>
            <a:xfrm>
              <a:off x="1192" y="1610"/>
              <a:ext cx="231" cy="8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8" name="Rectangle 18"/>
            <p:cNvSpPr/>
            <p:nvPr/>
          </p:nvSpPr>
          <p:spPr>
            <a:xfrm>
              <a:off x="1192" y="1073"/>
              <a:ext cx="231" cy="8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299" name="Rectangle 19"/>
            <p:cNvSpPr/>
            <p:nvPr/>
          </p:nvSpPr>
          <p:spPr>
            <a:xfrm>
              <a:off x="1192" y="577"/>
              <a:ext cx="231" cy="83"/>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0" name="Rectangle 20"/>
            <p:cNvSpPr/>
            <p:nvPr/>
          </p:nvSpPr>
          <p:spPr>
            <a:xfrm>
              <a:off x="1847" y="371"/>
              <a:ext cx="77" cy="1858"/>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1" name="Rectangle 21"/>
            <p:cNvSpPr/>
            <p:nvPr/>
          </p:nvSpPr>
          <p:spPr>
            <a:xfrm>
              <a:off x="1847" y="2147"/>
              <a:ext cx="308" cy="8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2" name="Rectangle 22"/>
            <p:cNvSpPr/>
            <p:nvPr/>
          </p:nvSpPr>
          <p:spPr>
            <a:xfrm>
              <a:off x="1847" y="1610"/>
              <a:ext cx="308" cy="8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3" name="Rectangle 23"/>
            <p:cNvSpPr/>
            <p:nvPr/>
          </p:nvSpPr>
          <p:spPr>
            <a:xfrm>
              <a:off x="1847" y="1073"/>
              <a:ext cx="308" cy="8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4" name="Rectangle 24"/>
            <p:cNvSpPr/>
            <p:nvPr/>
          </p:nvSpPr>
          <p:spPr>
            <a:xfrm>
              <a:off x="1847" y="577"/>
              <a:ext cx="308" cy="83"/>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5" name="Rectangle 25"/>
            <p:cNvSpPr/>
            <p:nvPr/>
          </p:nvSpPr>
          <p:spPr>
            <a:xfrm>
              <a:off x="3617" y="288"/>
              <a:ext cx="77" cy="185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6" name="Rectangle 26"/>
            <p:cNvSpPr/>
            <p:nvPr/>
          </p:nvSpPr>
          <p:spPr>
            <a:xfrm>
              <a:off x="3617" y="2147"/>
              <a:ext cx="308" cy="8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7" name="Rectangle 27"/>
            <p:cNvSpPr/>
            <p:nvPr/>
          </p:nvSpPr>
          <p:spPr>
            <a:xfrm>
              <a:off x="3617" y="1610"/>
              <a:ext cx="308" cy="8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8" name="Rectangle 28"/>
            <p:cNvSpPr/>
            <p:nvPr/>
          </p:nvSpPr>
          <p:spPr>
            <a:xfrm>
              <a:off x="3617" y="1073"/>
              <a:ext cx="308" cy="8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09" name="Rectangle 29"/>
            <p:cNvSpPr/>
            <p:nvPr/>
          </p:nvSpPr>
          <p:spPr>
            <a:xfrm>
              <a:off x="3617" y="577"/>
              <a:ext cx="308" cy="83"/>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10" name="Rectangle 30"/>
            <p:cNvSpPr/>
            <p:nvPr/>
          </p:nvSpPr>
          <p:spPr>
            <a:xfrm>
              <a:off x="653" y="1155"/>
              <a:ext cx="270" cy="579"/>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400" b="1" dirty="0">
                  <a:solidFill>
                    <a:srgbClr val="CCFFFF"/>
                  </a:solidFill>
                  <a:latin typeface="楷体_GB2312" pitchFamily="1" charset="-122"/>
                  <a:ea typeface="楷体_GB2312" pitchFamily="1" charset="-122"/>
                </a:rPr>
                <a:t>2：4</a:t>
              </a:r>
              <a:endParaRPr lang="zh-CN" altLang="en-US" sz="1400" b="1" dirty="0">
                <a:solidFill>
                  <a:srgbClr val="CCFFFF"/>
                </a:solidFill>
                <a:latin typeface="楷体_GB2312" pitchFamily="1" charset="-122"/>
                <a:ea typeface="楷体_GB2312" pitchFamily="1" charset="-122"/>
              </a:endParaRPr>
            </a:p>
            <a:p>
              <a:pPr marL="0" lvl="0" indent="0" algn="ctr" eaLnBrk="1" hangingPunct="1">
                <a:spcBef>
                  <a:spcPct val="0"/>
                </a:spcBef>
                <a:buNone/>
              </a:pPr>
              <a:r>
                <a:rPr lang="zh-CN" altLang="en-US" sz="1400" b="1" dirty="0">
                  <a:solidFill>
                    <a:srgbClr val="CCFFFF"/>
                  </a:solidFill>
                  <a:latin typeface="楷体_GB2312" pitchFamily="1" charset="-122"/>
                  <a:ea typeface="楷体_GB2312" pitchFamily="1" charset="-122"/>
                </a:rPr>
                <a:t>译</a:t>
              </a:r>
              <a:endParaRPr lang="zh-CN" altLang="en-US" sz="1400" b="1" dirty="0">
                <a:solidFill>
                  <a:srgbClr val="CCFFFF"/>
                </a:solidFill>
                <a:latin typeface="楷体_GB2312" pitchFamily="1" charset="-122"/>
                <a:ea typeface="楷体_GB2312" pitchFamily="1" charset="-122"/>
              </a:endParaRPr>
            </a:p>
            <a:p>
              <a:pPr marL="0" lvl="0" indent="0" algn="ctr" eaLnBrk="1" hangingPunct="1">
                <a:spcBef>
                  <a:spcPct val="0"/>
                </a:spcBef>
                <a:buNone/>
              </a:pPr>
              <a:r>
                <a:rPr lang="zh-CN" altLang="en-US" sz="1400" b="1" dirty="0">
                  <a:solidFill>
                    <a:srgbClr val="CCFFFF"/>
                  </a:solidFill>
                  <a:latin typeface="楷体_GB2312" pitchFamily="1" charset="-122"/>
                  <a:ea typeface="楷体_GB2312" pitchFamily="1" charset="-122"/>
                </a:rPr>
                <a:t>码</a:t>
              </a:r>
              <a:endParaRPr lang="zh-CN" altLang="en-US" sz="1400" b="1" dirty="0">
                <a:solidFill>
                  <a:srgbClr val="CCFFFF"/>
                </a:solidFill>
                <a:latin typeface="楷体_GB2312" pitchFamily="1" charset="-122"/>
                <a:ea typeface="楷体_GB2312" pitchFamily="1" charset="-122"/>
              </a:endParaRPr>
            </a:p>
            <a:p>
              <a:pPr marL="0" lvl="0" indent="0" algn="ctr" eaLnBrk="1" hangingPunct="1">
                <a:spcBef>
                  <a:spcPct val="0"/>
                </a:spcBef>
                <a:buNone/>
              </a:pPr>
              <a:r>
                <a:rPr lang="zh-CN" altLang="en-US" sz="1400" b="1" dirty="0">
                  <a:solidFill>
                    <a:srgbClr val="CCFFFF"/>
                  </a:solidFill>
                  <a:latin typeface="楷体_GB2312" pitchFamily="1" charset="-122"/>
                  <a:ea typeface="楷体_GB2312" pitchFamily="1" charset="-122"/>
                </a:rPr>
                <a:t>器</a:t>
              </a:r>
              <a:endParaRPr lang="zh-CN" altLang="en-US" sz="1400" b="1" dirty="0">
                <a:solidFill>
                  <a:srgbClr val="CCFFFF"/>
                </a:solidFill>
                <a:latin typeface="楷体_GB2312" pitchFamily="1" charset="-122"/>
                <a:ea typeface="楷体_GB2312" pitchFamily="1" charset="-122"/>
              </a:endParaRPr>
            </a:p>
          </p:txBody>
        </p:sp>
        <p:sp>
          <p:nvSpPr>
            <p:cNvPr id="97311" name="Line 31"/>
            <p:cNvSpPr/>
            <p:nvPr/>
          </p:nvSpPr>
          <p:spPr>
            <a:xfrm flipV="1">
              <a:off x="432" y="1238"/>
              <a:ext cx="221" cy="10"/>
            </a:xfrm>
            <a:prstGeom prst="line">
              <a:avLst/>
            </a:prstGeom>
            <a:ln w="28575" cap="flat" cmpd="sng">
              <a:solidFill>
                <a:schemeClr val="hlink"/>
              </a:solidFill>
              <a:prstDash val="solid"/>
              <a:headEnd type="none" w="med" len="med"/>
              <a:tailEnd type="none" w="med" len="med"/>
            </a:ln>
          </p:spPr>
        </p:sp>
        <p:sp>
          <p:nvSpPr>
            <p:cNvPr id="97312" name="Line 32"/>
            <p:cNvSpPr/>
            <p:nvPr/>
          </p:nvSpPr>
          <p:spPr>
            <a:xfrm>
              <a:off x="480" y="1680"/>
              <a:ext cx="192" cy="0"/>
            </a:xfrm>
            <a:prstGeom prst="line">
              <a:avLst/>
            </a:prstGeom>
            <a:ln w="28575" cap="flat" cmpd="sng">
              <a:solidFill>
                <a:schemeClr val="hlink"/>
              </a:solidFill>
              <a:prstDash val="solid"/>
              <a:headEnd type="none" w="med" len="med"/>
              <a:tailEnd type="none" w="med" len="med"/>
            </a:ln>
          </p:spPr>
        </p:sp>
        <p:sp>
          <p:nvSpPr>
            <p:cNvPr id="97313" name="Line 33"/>
            <p:cNvSpPr/>
            <p:nvPr/>
          </p:nvSpPr>
          <p:spPr>
            <a:xfrm>
              <a:off x="923" y="1238"/>
              <a:ext cx="77" cy="0"/>
            </a:xfrm>
            <a:prstGeom prst="line">
              <a:avLst/>
            </a:prstGeom>
            <a:ln w="28575" cap="flat" cmpd="sng">
              <a:solidFill>
                <a:schemeClr val="hlink"/>
              </a:solidFill>
              <a:prstDash val="solid"/>
              <a:headEnd type="none" w="med" len="med"/>
              <a:tailEnd type="none" w="med" len="med"/>
            </a:ln>
          </p:spPr>
        </p:sp>
        <p:sp>
          <p:nvSpPr>
            <p:cNvPr id="97314" name="Line 34"/>
            <p:cNvSpPr/>
            <p:nvPr/>
          </p:nvSpPr>
          <p:spPr>
            <a:xfrm flipV="1">
              <a:off x="1000" y="866"/>
              <a:ext cx="0" cy="372"/>
            </a:xfrm>
            <a:prstGeom prst="line">
              <a:avLst/>
            </a:prstGeom>
            <a:ln w="28575" cap="flat" cmpd="sng">
              <a:solidFill>
                <a:schemeClr val="hlink"/>
              </a:solidFill>
              <a:prstDash val="solid"/>
              <a:headEnd type="none" w="med" len="med"/>
              <a:tailEnd type="none" w="med" len="med"/>
            </a:ln>
          </p:spPr>
        </p:sp>
        <p:sp>
          <p:nvSpPr>
            <p:cNvPr id="97315" name="Line 35"/>
            <p:cNvSpPr/>
            <p:nvPr/>
          </p:nvSpPr>
          <p:spPr>
            <a:xfrm>
              <a:off x="1000" y="866"/>
              <a:ext cx="3041" cy="0"/>
            </a:xfrm>
            <a:prstGeom prst="line">
              <a:avLst/>
            </a:prstGeom>
            <a:ln w="28575" cap="flat" cmpd="sng">
              <a:solidFill>
                <a:schemeClr val="hlink"/>
              </a:solidFill>
              <a:prstDash val="solid"/>
              <a:headEnd type="none" w="med" len="med"/>
              <a:tailEnd type="none" w="med" len="med"/>
            </a:ln>
          </p:spPr>
        </p:sp>
        <p:sp>
          <p:nvSpPr>
            <p:cNvPr id="97316" name="Line 36"/>
            <p:cNvSpPr/>
            <p:nvPr/>
          </p:nvSpPr>
          <p:spPr>
            <a:xfrm>
              <a:off x="1500" y="784"/>
              <a:ext cx="0" cy="82"/>
            </a:xfrm>
            <a:prstGeom prst="line">
              <a:avLst/>
            </a:prstGeom>
            <a:ln w="28575" cap="flat" cmpd="sng">
              <a:solidFill>
                <a:schemeClr val="hlink"/>
              </a:solidFill>
              <a:prstDash val="solid"/>
              <a:headEnd type="none" w="med" len="med"/>
              <a:tailEnd type="none" w="med" len="med"/>
            </a:ln>
          </p:spPr>
        </p:sp>
        <p:sp>
          <p:nvSpPr>
            <p:cNvPr id="97317" name="Line 37"/>
            <p:cNvSpPr/>
            <p:nvPr/>
          </p:nvSpPr>
          <p:spPr>
            <a:xfrm>
              <a:off x="2270" y="784"/>
              <a:ext cx="0" cy="82"/>
            </a:xfrm>
            <a:prstGeom prst="line">
              <a:avLst/>
            </a:prstGeom>
            <a:ln w="28575" cap="flat" cmpd="sng">
              <a:solidFill>
                <a:schemeClr val="hlink"/>
              </a:solidFill>
              <a:prstDash val="solid"/>
              <a:headEnd type="none" w="med" len="med"/>
              <a:tailEnd type="none" w="med" len="med"/>
            </a:ln>
          </p:spPr>
        </p:sp>
        <p:sp>
          <p:nvSpPr>
            <p:cNvPr id="97318" name="Line 38"/>
            <p:cNvSpPr/>
            <p:nvPr/>
          </p:nvSpPr>
          <p:spPr>
            <a:xfrm>
              <a:off x="4041" y="784"/>
              <a:ext cx="0" cy="82"/>
            </a:xfrm>
            <a:prstGeom prst="line">
              <a:avLst/>
            </a:prstGeom>
            <a:ln w="28575" cap="flat" cmpd="sng">
              <a:solidFill>
                <a:schemeClr val="hlink"/>
              </a:solidFill>
              <a:prstDash val="solid"/>
              <a:headEnd type="none" w="med" len="med"/>
              <a:tailEnd type="none" w="med" len="med"/>
            </a:ln>
          </p:spPr>
        </p:sp>
        <p:sp>
          <p:nvSpPr>
            <p:cNvPr id="97319" name="Line 39"/>
            <p:cNvSpPr/>
            <p:nvPr/>
          </p:nvSpPr>
          <p:spPr>
            <a:xfrm>
              <a:off x="923" y="1362"/>
              <a:ext cx="3118" cy="0"/>
            </a:xfrm>
            <a:prstGeom prst="line">
              <a:avLst/>
            </a:prstGeom>
            <a:ln w="28575" cap="flat" cmpd="sng">
              <a:solidFill>
                <a:schemeClr val="hlink"/>
              </a:solidFill>
              <a:prstDash val="solid"/>
              <a:headEnd type="none" w="med" len="med"/>
              <a:tailEnd type="none" w="med" len="med"/>
            </a:ln>
          </p:spPr>
        </p:sp>
        <p:sp>
          <p:nvSpPr>
            <p:cNvPr id="97320" name="Line 40"/>
            <p:cNvSpPr/>
            <p:nvPr/>
          </p:nvSpPr>
          <p:spPr>
            <a:xfrm>
              <a:off x="1539" y="1279"/>
              <a:ext cx="0" cy="83"/>
            </a:xfrm>
            <a:prstGeom prst="line">
              <a:avLst/>
            </a:prstGeom>
            <a:ln w="28575" cap="flat" cmpd="sng">
              <a:solidFill>
                <a:schemeClr val="hlink"/>
              </a:solidFill>
              <a:prstDash val="solid"/>
              <a:headEnd type="none" w="med" len="med"/>
              <a:tailEnd type="none" w="med" len="med"/>
            </a:ln>
          </p:spPr>
        </p:sp>
        <p:sp>
          <p:nvSpPr>
            <p:cNvPr id="97321" name="Line 41"/>
            <p:cNvSpPr/>
            <p:nvPr/>
          </p:nvSpPr>
          <p:spPr>
            <a:xfrm>
              <a:off x="2270" y="1279"/>
              <a:ext cx="0" cy="83"/>
            </a:xfrm>
            <a:prstGeom prst="line">
              <a:avLst/>
            </a:prstGeom>
            <a:ln w="28575" cap="flat" cmpd="sng">
              <a:solidFill>
                <a:schemeClr val="hlink"/>
              </a:solidFill>
              <a:prstDash val="solid"/>
              <a:headEnd type="none" w="med" len="med"/>
              <a:tailEnd type="none" w="med" len="med"/>
            </a:ln>
          </p:spPr>
        </p:sp>
        <p:sp>
          <p:nvSpPr>
            <p:cNvPr id="97322" name="Line 42"/>
            <p:cNvSpPr/>
            <p:nvPr/>
          </p:nvSpPr>
          <p:spPr>
            <a:xfrm flipH="1">
              <a:off x="4041" y="1279"/>
              <a:ext cx="0" cy="83"/>
            </a:xfrm>
            <a:prstGeom prst="line">
              <a:avLst/>
            </a:prstGeom>
            <a:ln w="28575" cap="flat" cmpd="sng">
              <a:solidFill>
                <a:schemeClr val="hlink"/>
              </a:solidFill>
              <a:prstDash val="solid"/>
              <a:headEnd type="none" w="med" len="med"/>
              <a:tailEnd type="none" w="med" len="med"/>
            </a:ln>
          </p:spPr>
        </p:sp>
        <p:sp>
          <p:nvSpPr>
            <p:cNvPr id="97323" name="Line 43"/>
            <p:cNvSpPr/>
            <p:nvPr/>
          </p:nvSpPr>
          <p:spPr>
            <a:xfrm>
              <a:off x="923" y="1445"/>
              <a:ext cx="154" cy="0"/>
            </a:xfrm>
            <a:prstGeom prst="line">
              <a:avLst/>
            </a:prstGeom>
            <a:ln w="28575" cap="flat" cmpd="sng">
              <a:solidFill>
                <a:schemeClr val="hlink"/>
              </a:solidFill>
              <a:prstDash val="solid"/>
              <a:headEnd type="none" w="med" len="med"/>
              <a:tailEnd type="none" w="med" len="med"/>
            </a:ln>
          </p:spPr>
        </p:sp>
        <p:sp>
          <p:nvSpPr>
            <p:cNvPr id="97324" name="Line 44"/>
            <p:cNvSpPr/>
            <p:nvPr/>
          </p:nvSpPr>
          <p:spPr>
            <a:xfrm>
              <a:off x="1077" y="1445"/>
              <a:ext cx="0" cy="495"/>
            </a:xfrm>
            <a:prstGeom prst="line">
              <a:avLst/>
            </a:prstGeom>
            <a:ln w="28575" cap="flat" cmpd="sng">
              <a:solidFill>
                <a:schemeClr val="hlink"/>
              </a:solidFill>
              <a:prstDash val="solid"/>
              <a:headEnd type="none" w="med" len="med"/>
              <a:tailEnd type="none" w="med" len="med"/>
            </a:ln>
          </p:spPr>
        </p:sp>
        <p:sp>
          <p:nvSpPr>
            <p:cNvPr id="97325" name="Line 45"/>
            <p:cNvSpPr/>
            <p:nvPr/>
          </p:nvSpPr>
          <p:spPr>
            <a:xfrm>
              <a:off x="1077" y="1940"/>
              <a:ext cx="2964" cy="0"/>
            </a:xfrm>
            <a:prstGeom prst="line">
              <a:avLst/>
            </a:prstGeom>
            <a:ln w="28575" cap="flat" cmpd="sng">
              <a:solidFill>
                <a:schemeClr val="hlink"/>
              </a:solidFill>
              <a:prstDash val="solid"/>
              <a:headEnd type="none" w="med" len="med"/>
              <a:tailEnd type="none" w="med" len="med"/>
            </a:ln>
          </p:spPr>
        </p:sp>
        <p:sp>
          <p:nvSpPr>
            <p:cNvPr id="97326" name="Line 46"/>
            <p:cNvSpPr/>
            <p:nvPr/>
          </p:nvSpPr>
          <p:spPr>
            <a:xfrm>
              <a:off x="1500" y="1816"/>
              <a:ext cx="0" cy="124"/>
            </a:xfrm>
            <a:prstGeom prst="line">
              <a:avLst/>
            </a:prstGeom>
            <a:ln w="28575" cap="flat" cmpd="sng">
              <a:solidFill>
                <a:schemeClr val="hlink"/>
              </a:solidFill>
              <a:prstDash val="solid"/>
              <a:headEnd type="none" w="med" len="med"/>
              <a:tailEnd type="none" w="med" len="med"/>
            </a:ln>
          </p:spPr>
        </p:sp>
        <p:sp>
          <p:nvSpPr>
            <p:cNvPr id="97327" name="Line 47"/>
            <p:cNvSpPr/>
            <p:nvPr/>
          </p:nvSpPr>
          <p:spPr>
            <a:xfrm>
              <a:off x="4041" y="1816"/>
              <a:ext cx="0" cy="124"/>
            </a:xfrm>
            <a:prstGeom prst="line">
              <a:avLst/>
            </a:prstGeom>
            <a:ln w="28575" cap="flat" cmpd="sng">
              <a:solidFill>
                <a:schemeClr val="hlink"/>
              </a:solidFill>
              <a:prstDash val="solid"/>
              <a:headEnd type="none" w="med" len="med"/>
              <a:tailEnd type="none" w="med" len="med"/>
            </a:ln>
          </p:spPr>
        </p:sp>
        <p:sp>
          <p:nvSpPr>
            <p:cNvPr id="97328" name="Line 48"/>
            <p:cNvSpPr/>
            <p:nvPr/>
          </p:nvSpPr>
          <p:spPr>
            <a:xfrm>
              <a:off x="2270" y="1816"/>
              <a:ext cx="0" cy="124"/>
            </a:xfrm>
            <a:prstGeom prst="line">
              <a:avLst/>
            </a:prstGeom>
            <a:ln w="28575" cap="flat" cmpd="sng">
              <a:solidFill>
                <a:schemeClr val="hlink"/>
              </a:solidFill>
              <a:prstDash val="solid"/>
              <a:headEnd type="none" w="med" len="med"/>
              <a:tailEnd type="none" w="med" len="med"/>
            </a:ln>
          </p:spPr>
        </p:sp>
        <p:sp>
          <p:nvSpPr>
            <p:cNvPr id="97329" name="Line 49"/>
            <p:cNvSpPr/>
            <p:nvPr/>
          </p:nvSpPr>
          <p:spPr>
            <a:xfrm>
              <a:off x="923" y="1569"/>
              <a:ext cx="77" cy="0"/>
            </a:xfrm>
            <a:prstGeom prst="line">
              <a:avLst/>
            </a:prstGeom>
            <a:ln w="28575" cap="flat" cmpd="sng">
              <a:solidFill>
                <a:schemeClr val="hlink"/>
              </a:solidFill>
              <a:prstDash val="solid"/>
              <a:headEnd type="none" w="med" len="med"/>
              <a:tailEnd type="none" w="med" len="med"/>
            </a:ln>
          </p:spPr>
        </p:sp>
        <p:sp>
          <p:nvSpPr>
            <p:cNvPr id="97330" name="Line 50"/>
            <p:cNvSpPr/>
            <p:nvPr/>
          </p:nvSpPr>
          <p:spPr>
            <a:xfrm>
              <a:off x="1000" y="1569"/>
              <a:ext cx="0" cy="991"/>
            </a:xfrm>
            <a:prstGeom prst="line">
              <a:avLst/>
            </a:prstGeom>
            <a:ln w="28575" cap="flat" cmpd="sng">
              <a:solidFill>
                <a:schemeClr val="hlink"/>
              </a:solidFill>
              <a:prstDash val="solid"/>
              <a:headEnd type="none" w="med" len="med"/>
              <a:tailEnd type="none" w="med" len="med"/>
            </a:ln>
          </p:spPr>
        </p:sp>
        <p:sp>
          <p:nvSpPr>
            <p:cNvPr id="97331" name="Line 51"/>
            <p:cNvSpPr/>
            <p:nvPr/>
          </p:nvSpPr>
          <p:spPr>
            <a:xfrm>
              <a:off x="1000" y="2560"/>
              <a:ext cx="3041" cy="0"/>
            </a:xfrm>
            <a:prstGeom prst="line">
              <a:avLst/>
            </a:prstGeom>
            <a:ln w="28575" cap="flat" cmpd="sng">
              <a:solidFill>
                <a:schemeClr val="hlink"/>
              </a:solidFill>
              <a:prstDash val="solid"/>
              <a:headEnd type="none" w="med" len="med"/>
              <a:tailEnd type="none" w="med" len="med"/>
            </a:ln>
          </p:spPr>
        </p:sp>
        <p:sp>
          <p:nvSpPr>
            <p:cNvPr id="97332" name="Line 52"/>
            <p:cNvSpPr/>
            <p:nvPr/>
          </p:nvSpPr>
          <p:spPr>
            <a:xfrm>
              <a:off x="4041" y="2395"/>
              <a:ext cx="0" cy="165"/>
            </a:xfrm>
            <a:prstGeom prst="line">
              <a:avLst/>
            </a:prstGeom>
            <a:ln w="28575" cap="flat" cmpd="sng">
              <a:solidFill>
                <a:schemeClr val="hlink"/>
              </a:solidFill>
              <a:prstDash val="solid"/>
              <a:headEnd type="none" w="med" len="med"/>
              <a:tailEnd type="none" w="med" len="med"/>
            </a:ln>
          </p:spPr>
        </p:sp>
        <p:sp>
          <p:nvSpPr>
            <p:cNvPr id="97333" name="Line 53"/>
            <p:cNvSpPr/>
            <p:nvPr/>
          </p:nvSpPr>
          <p:spPr>
            <a:xfrm>
              <a:off x="2270" y="2395"/>
              <a:ext cx="0" cy="165"/>
            </a:xfrm>
            <a:prstGeom prst="line">
              <a:avLst/>
            </a:prstGeom>
            <a:ln w="28575" cap="flat" cmpd="sng">
              <a:solidFill>
                <a:schemeClr val="hlink"/>
              </a:solidFill>
              <a:prstDash val="solid"/>
              <a:headEnd type="none" w="med" len="med"/>
              <a:tailEnd type="none" w="med" len="med"/>
            </a:ln>
          </p:spPr>
        </p:sp>
        <p:sp>
          <p:nvSpPr>
            <p:cNvPr id="97334" name="Line 54"/>
            <p:cNvSpPr/>
            <p:nvPr/>
          </p:nvSpPr>
          <p:spPr>
            <a:xfrm>
              <a:off x="1500" y="2395"/>
              <a:ext cx="0" cy="165"/>
            </a:xfrm>
            <a:prstGeom prst="line">
              <a:avLst/>
            </a:prstGeom>
            <a:ln w="28575" cap="flat" cmpd="sng">
              <a:solidFill>
                <a:schemeClr val="hlink"/>
              </a:solidFill>
              <a:prstDash val="solid"/>
              <a:headEnd type="none" w="med" len="med"/>
              <a:tailEnd type="none" w="med" len="med"/>
            </a:ln>
          </p:spPr>
        </p:sp>
        <p:grpSp>
          <p:nvGrpSpPr>
            <p:cNvPr id="97335" name="Group 55"/>
            <p:cNvGrpSpPr/>
            <p:nvPr/>
          </p:nvGrpSpPr>
          <p:grpSpPr>
            <a:xfrm>
              <a:off x="1616" y="618"/>
              <a:ext cx="112" cy="2214"/>
              <a:chOff x="0" y="0"/>
              <a:chExt cx="144" cy="2400"/>
            </a:xfrm>
          </p:grpSpPr>
          <p:sp>
            <p:nvSpPr>
              <p:cNvPr id="97360" name="Line 56"/>
              <p:cNvSpPr/>
              <p:nvPr/>
            </p:nvSpPr>
            <p:spPr>
              <a:xfrm>
                <a:off x="0" y="0"/>
                <a:ext cx="144" cy="0"/>
              </a:xfrm>
              <a:prstGeom prst="line">
                <a:avLst/>
              </a:prstGeom>
              <a:ln w="76200" cap="flat" cmpd="sng">
                <a:solidFill>
                  <a:schemeClr val="bg1"/>
                </a:solidFill>
                <a:prstDash val="solid"/>
                <a:headEnd type="none" w="med" len="med"/>
                <a:tailEnd type="none" w="med" len="med"/>
              </a:ln>
            </p:spPr>
          </p:sp>
          <p:sp>
            <p:nvSpPr>
              <p:cNvPr id="97361" name="Line 57"/>
              <p:cNvSpPr/>
              <p:nvPr/>
            </p:nvSpPr>
            <p:spPr>
              <a:xfrm>
                <a:off x="144" y="0"/>
                <a:ext cx="0" cy="2400"/>
              </a:xfrm>
              <a:prstGeom prst="line">
                <a:avLst/>
              </a:prstGeom>
              <a:ln w="76200" cap="flat" cmpd="sng">
                <a:solidFill>
                  <a:schemeClr val="bg1"/>
                </a:solidFill>
                <a:prstDash val="solid"/>
                <a:headEnd type="none" w="med" len="med"/>
                <a:tailEnd type="none" w="med" len="med"/>
              </a:ln>
            </p:spPr>
          </p:sp>
        </p:grpSp>
        <p:grpSp>
          <p:nvGrpSpPr>
            <p:cNvPr id="97336" name="Group 58"/>
            <p:cNvGrpSpPr/>
            <p:nvPr/>
          </p:nvGrpSpPr>
          <p:grpSpPr>
            <a:xfrm>
              <a:off x="2347" y="618"/>
              <a:ext cx="101" cy="2262"/>
              <a:chOff x="0" y="0"/>
              <a:chExt cx="144" cy="2400"/>
            </a:xfrm>
          </p:grpSpPr>
          <p:sp>
            <p:nvSpPr>
              <p:cNvPr id="97358" name="Line 59"/>
              <p:cNvSpPr/>
              <p:nvPr/>
            </p:nvSpPr>
            <p:spPr>
              <a:xfrm>
                <a:off x="0" y="0"/>
                <a:ext cx="144" cy="0"/>
              </a:xfrm>
              <a:prstGeom prst="line">
                <a:avLst/>
              </a:prstGeom>
              <a:ln w="76200" cap="flat" cmpd="sng">
                <a:solidFill>
                  <a:schemeClr val="bg1"/>
                </a:solidFill>
                <a:prstDash val="solid"/>
                <a:headEnd type="none" w="med" len="med"/>
                <a:tailEnd type="none" w="med" len="med"/>
              </a:ln>
            </p:spPr>
          </p:sp>
          <p:sp>
            <p:nvSpPr>
              <p:cNvPr id="97359" name="Line 60"/>
              <p:cNvSpPr/>
              <p:nvPr/>
            </p:nvSpPr>
            <p:spPr>
              <a:xfrm>
                <a:off x="144" y="0"/>
                <a:ext cx="0" cy="2400"/>
              </a:xfrm>
              <a:prstGeom prst="line">
                <a:avLst/>
              </a:prstGeom>
              <a:ln w="76200" cap="flat" cmpd="sng">
                <a:solidFill>
                  <a:schemeClr val="bg1"/>
                </a:solidFill>
                <a:prstDash val="solid"/>
                <a:headEnd type="none" w="med" len="med"/>
                <a:tailEnd type="none" w="med" len="med"/>
              </a:ln>
            </p:spPr>
          </p:sp>
        </p:grpSp>
        <p:grpSp>
          <p:nvGrpSpPr>
            <p:cNvPr id="97337" name="Group 61"/>
            <p:cNvGrpSpPr/>
            <p:nvPr/>
          </p:nvGrpSpPr>
          <p:grpSpPr>
            <a:xfrm>
              <a:off x="4118" y="577"/>
              <a:ext cx="106" cy="2255"/>
              <a:chOff x="0" y="0"/>
              <a:chExt cx="144" cy="2400"/>
            </a:xfrm>
          </p:grpSpPr>
          <p:sp>
            <p:nvSpPr>
              <p:cNvPr id="97356" name="Line 62"/>
              <p:cNvSpPr/>
              <p:nvPr/>
            </p:nvSpPr>
            <p:spPr>
              <a:xfrm>
                <a:off x="0" y="0"/>
                <a:ext cx="144" cy="0"/>
              </a:xfrm>
              <a:prstGeom prst="line">
                <a:avLst/>
              </a:prstGeom>
              <a:ln w="76200" cap="flat" cmpd="sng">
                <a:solidFill>
                  <a:schemeClr val="bg1"/>
                </a:solidFill>
                <a:prstDash val="solid"/>
                <a:headEnd type="none" w="med" len="med"/>
                <a:tailEnd type="none" w="med" len="med"/>
              </a:ln>
            </p:spPr>
          </p:sp>
          <p:sp>
            <p:nvSpPr>
              <p:cNvPr id="97357" name="Line 63"/>
              <p:cNvSpPr/>
              <p:nvPr/>
            </p:nvSpPr>
            <p:spPr>
              <a:xfrm>
                <a:off x="144" y="0"/>
                <a:ext cx="0" cy="2400"/>
              </a:xfrm>
              <a:prstGeom prst="line">
                <a:avLst/>
              </a:prstGeom>
              <a:ln w="76200" cap="flat" cmpd="sng">
                <a:solidFill>
                  <a:schemeClr val="bg1"/>
                </a:solidFill>
                <a:prstDash val="solid"/>
                <a:headEnd type="none" w="med" len="med"/>
                <a:tailEnd type="none" w="med" len="med"/>
              </a:ln>
            </p:spPr>
          </p:sp>
        </p:grpSp>
        <p:sp>
          <p:nvSpPr>
            <p:cNvPr id="97338" name="Text Box 64"/>
            <p:cNvSpPr txBox="1"/>
            <p:nvPr/>
          </p:nvSpPr>
          <p:spPr>
            <a:xfrm>
              <a:off x="1717" y="2567"/>
              <a:ext cx="34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D</a:t>
              </a:r>
              <a:r>
                <a:rPr lang="zh-CN" altLang="en-US" sz="1800" baseline="-25000" dirty="0">
                  <a:solidFill>
                    <a:schemeClr val="tx1"/>
                  </a:solidFill>
                  <a:latin typeface="Tahoma" panose="020B0604030504040204" pitchFamily="34" charset="0"/>
                </a:rPr>
                <a:t>0</a:t>
              </a:r>
              <a:endParaRPr lang="zh-CN" altLang="en-US" sz="1800" baseline="-25000" dirty="0">
                <a:solidFill>
                  <a:schemeClr val="tx1"/>
                </a:solidFill>
                <a:latin typeface="Tahoma" panose="020B0604030504040204" pitchFamily="34" charset="0"/>
              </a:endParaRPr>
            </a:p>
          </p:txBody>
        </p:sp>
        <p:sp>
          <p:nvSpPr>
            <p:cNvPr id="97339" name="Text Box 65"/>
            <p:cNvSpPr txBox="1"/>
            <p:nvPr/>
          </p:nvSpPr>
          <p:spPr>
            <a:xfrm>
              <a:off x="2534" y="2544"/>
              <a:ext cx="34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D</a:t>
              </a:r>
              <a:r>
                <a:rPr lang="zh-CN" altLang="en-US" sz="1800" baseline="-25000" dirty="0">
                  <a:solidFill>
                    <a:schemeClr val="tx1"/>
                  </a:solidFill>
                  <a:latin typeface="Tahoma" panose="020B0604030504040204" pitchFamily="34" charset="0"/>
                </a:rPr>
                <a:t>1</a:t>
              </a:r>
              <a:endParaRPr lang="zh-CN" altLang="en-US" sz="1800" baseline="-25000" dirty="0">
                <a:solidFill>
                  <a:schemeClr val="tx1"/>
                </a:solidFill>
                <a:latin typeface="Tahoma" panose="020B0604030504040204" pitchFamily="34" charset="0"/>
              </a:endParaRPr>
            </a:p>
          </p:txBody>
        </p:sp>
        <p:sp>
          <p:nvSpPr>
            <p:cNvPr id="97340" name="Text Box 66"/>
            <p:cNvSpPr txBox="1"/>
            <p:nvPr/>
          </p:nvSpPr>
          <p:spPr>
            <a:xfrm>
              <a:off x="4232" y="2544"/>
              <a:ext cx="424"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D</a:t>
              </a:r>
              <a:r>
                <a:rPr lang="zh-CN" altLang="en-US" sz="1800" baseline="-25000" dirty="0">
                  <a:solidFill>
                    <a:schemeClr val="tx1"/>
                  </a:solidFill>
                  <a:latin typeface="Tahoma" panose="020B0604030504040204" pitchFamily="34" charset="0"/>
                </a:rPr>
                <a:t>15</a:t>
              </a:r>
              <a:endParaRPr lang="zh-CN" altLang="en-US" sz="1800" baseline="-25000" dirty="0">
                <a:solidFill>
                  <a:schemeClr val="tx1"/>
                </a:solidFill>
                <a:latin typeface="Tahoma" panose="020B0604030504040204" pitchFamily="34" charset="0"/>
              </a:endParaRPr>
            </a:p>
          </p:txBody>
        </p:sp>
        <p:sp>
          <p:nvSpPr>
            <p:cNvPr id="97341" name="Text Box 67"/>
            <p:cNvSpPr txBox="1"/>
            <p:nvPr/>
          </p:nvSpPr>
          <p:spPr>
            <a:xfrm>
              <a:off x="480" y="72"/>
              <a:ext cx="624"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A</a:t>
              </a:r>
              <a:r>
                <a:rPr lang="zh-CN" altLang="en-US" sz="1800" baseline="-25000" dirty="0">
                  <a:solidFill>
                    <a:schemeClr val="tx1"/>
                  </a:solidFill>
                  <a:latin typeface="Tahoma" panose="020B0604030504040204" pitchFamily="34" charset="0"/>
                </a:rPr>
                <a:t>0</a:t>
              </a:r>
              <a:r>
                <a:rPr lang="zh-CN" altLang="en-US" sz="1800" dirty="0">
                  <a:solidFill>
                    <a:schemeClr val="tx1"/>
                  </a:solidFill>
                  <a:latin typeface="Tahoma" panose="020B0604030504040204" pitchFamily="34" charset="0"/>
                </a:rPr>
                <a:t>-A</a:t>
              </a:r>
              <a:r>
                <a:rPr lang="zh-CN" altLang="en-US" sz="1800" baseline="-25000" dirty="0">
                  <a:solidFill>
                    <a:schemeClr val="tx1"/>
                  </a:solidFill>
                  <a:latin typeface="Tahoma" panose="020B0604030504040204" pitchFamily="34" charset="0"/>
                </a:rPr>
                <a:t>13</a:t>
              </a:r>
              <a:endParaRPr lang="zh-CN" altLang="en-US" sz="1800" baseline="-25000" dirty="0">
                <a:solidFill>
                  <a:schemeClr val="tx1"/>
                </a:solidFill>
                <a:latin typeface="Tahoma" panose="020B0604030504040204" pitchFamily="34" charset="0"/>
              </a:endParaRPr>
            </a:p>
          </p:txBody>
        </p:sp>
        <p:sp>
          <p:nvSpPr>
            <p:cNvPr id="97342" name="Text Box 68"/>
            <p:cNvSpPr txBox="1"/>
            <p:nvPr/>
          </p:nvSpPr>
          <p:spPr>
            <a:xfrm>
              <a:off x="447" y="934"/>
              <a:ext cx="385"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A</a:t>
              </a:r>
              <a:r>
                <a:rPr lang="zh-CN" altLang="en-US" sz="1800" baseline="-25000" dirty="0">
                  <a:solidFill>
                    <a:schemeClr val="tx1"/>
                  </a:solidFill>
                  <a:latin typeface="Tahoma" panose="020B0604030504040204" pitchFamily="34" charset="0"/>
                </a:rPr>
                <a:t>14</a:t>
              </a:r>
              <a:endParaRPr lang="zh-CN" altLang="en-US" sz="1800" baseline="-25000" dirty="0">
                <a:solidFill>
                  <a:schemeClr val="tx1"/>
                </a:solidFill>
                <a:latin typeface="Tahoma" panose="020B0604030504040204" pitchFamily="34" charset="0"/>
              </a:endParaRPr>
            </a:p>
          </p:txBody>
        </p:sp>
        <p:sp>
          <p:nvSpPr>
            <p:cNvPr id="97343" name="Text Box 69"/>
            <p:cNvSpPr txBox="1"/>
            <p:nvPr/>
          </p:nvSpPr>
          <p:spPr>
            <a:xfrm>
              <a:off x="447" y="1664"/>
              <a:ext cx="385"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A</a:t>
              </a:r>
              <a:r>
                <a:rPr lang="zh-CN" altLang="en-US" sz="1800" baseline="-25000" dirty="0">
                  <a:solidFill>
                    <a:schemeClr val="tx1"/>
                  </a:solidFill>
                  <a:latin typeface="Tahoma" panose="020B0604030504040204" pitchFamily="34" charset="0"/>
                </a:rPr>
                <a:t>15</a:t>
              </a:r>
              <a:endParaRPr lang="zh-CN" altLang="en-US" sz="1800" baseline="-25000" dirty="0">
                <a:solidFill>
                  <a:schemeClr val="tx1"/>
                </a:solidFill>
                <a:latin typeface="Tahoma" panose="020B0604030504040204" pitchFamily="34" charset="0"/>
              </a:endParaRPr>
            </a:p>
          </p:txBody>
        </p:sp>
        <p:sp>
          <p:nvSpPr>
            <p:cNvPr id="97344" name="Rectangle 70"/>
            <p:cNvSpPr/>
            <p:nvPr/>
          </p:nvSpPr>
          <p:spPr>
            <a:xfrm>
              <a:off x="0" y="0"/>
              <a:ext cx="480" cy="2976"/>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C</a:t>
              </a:r>
              <a:endParaRPr lang="zh-CN" altLang="en-US" sz="2400" dirty="0">
                <a:solidFill>
                  <a:schemeClr val="tx1"/>
                </a:solidFill>
                <a:ea typeface="华文新魏" panose="02010800040101010101" pitchFamily="2" charset="-122"/>
              </a:endParaRPr>
            </a:p>
            <a:p>
              <a:pPr marL="0" lvl="0" indent="0" algn="ctr" eaLnBrk="1" hangingPunct="1">
                <a:spcBef>
                  <a:spcPct val="0"/>
                </a:spcBef>
                <a:buNone/>
              </a:pPr>
              <a:r>
                <a:rPr lang="zh-CN" altLang="en-US" sz="2400" dirty="0">
                  <a:solidFill>
                    <a:schemeClr val="tx1"/>
                  </a:solidFill>
                  <a:ea typeface="华文新魏" panose="02010800040101010101" pitchFamily="2" charset="-122"/>
                </a:rPr>
                <a:t>P</a:t>
              </a:r>
              <a:endParaRPr lang="zh-CN" altLang="en-US" sz="2400" dirty="0">
                <a:solidFill>
                  <a:schemeClr val="tx1"/>
                </a:solidFill>
                <a:ea typeface="华文新魏" panose="02010800040101010101" pitchFamily="2" charset="-122"/>
              </a:endParaRPr>
            </a:p>
            <a:p>
              <a:pPr marL="0" lvl="0" indent="0" algn="ctr" eaLnBrk="1" hangingPunct="1">
                <a:spcBef>
                  <a:spcPct val="0"/>
                </a:spcBef>
                <a:buNone/>
              </a:pPr>
              <a:r>
                <a:rPr lang="zh-CN" altLang="en-US" sz="2400" dirty="0">
                  <a:solidFill>
                    <a:schemeClr val="tx1"/>
                  </a:solidFill>
                  <a:ea typeface="华文新魏" panose="02010800040101010101" pitchFamily="2" charset="-122"/>
                </a:rPr>
                <a:t>U</a:t>
              </a:r>
              <a:endParaRPr lang="zh-CN" altLang="en-US" sz="2400" dirty="0">
                <a:solidFill>
                  <a:schemeClr val="tx1"/>
                </a:solidFill>
                <a:ea typeface="华文新魏" panose="02010800040101010101" pitchFamily="2" charset="-122"/>
              </a:endParaRPr>
            </a:p>
          </p:txBody>
        </p:sp>
        <p:sp>
          <p:nvSpPr>
            <p:cNvPr id="97345" name="AutoShape 71"/>
            <p:cNvSpPr/>
            <p:nvPr/>
          </p:nvSpPr>
          <p:spPr>
            <a:xfrm>
              <a:off x="480" y="2784"/>
              <a:ext cx="4032" cy="144"/>
            </a:xfrm>
            <a:prstGeom prst="leftRightArrow">
              <a:avLst>
                <a:gd name="adj1" fmla="val 50000"/>
                <a:gd name="adj2" fmla="val 10914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97346" name="Line 72"/>
            <p:cNvSpPr/>
            <p:nvPr/>
          </p:nvSpPr>
          <p:spPr>
            <a:xfrm flipH="1">
              <a:off x="1632" y="1104"/>
              <a:ext cx="96" cy="0"/>
            </a:xfrm>
            <a:prstGeom prst="line">
              <a:avLst/>
            </a:prstGeom>
            <a:ln w="38100" cap="flat" cmpd="sng">
              <a:solidFill>
                <a:schemeClr val="bg1"/>
              </a:solidFill>
              <a:prstDash val="solid"/>
              <a:headEnd type="none" w="med" len="med"/>
              <a:tailEnd type="none" w="med" len="med"/>
            </a:ln>
          </p:spPr>
        </p:sp>
        <p:sp>
          <p:nvSpPr>
            <p:cNvPr id="97347" name="Line 73"/>
            <p:cNvSpPr/>
            <p:nvPr/>
          </p:nvSpPr>
          <p:spPr>
            <a:xfrm flipH="1">
              <a:off x="4128" y="2208"/>
              <a:ext cx="96" cy="0"/>
            </a:xfrm>
            <a:prstGeom prst="line">
              <a:avLst/>
            </a:prstGeom>
            <a:ln w="38100" cap="flat" cmpd="sng">
              <a:solidFill>
                <a:schemeClr val="bg1"/>
              </a:solidFill>
              <a:prstDash val="solid"/>
              <a:headEnd type="none" w="med" len="med"/>
              <a:tailEnd type="none" w="med" len="med"/>
            </a:ln>
          </p:spPr>
        </p:sp>
        <p:sp>
          <p:nvSpPr>
            <p:cNvPr id="97348" name="Line 74"/>
            <p:cNvSpPr/>
            <p:nvPr/>
          </p:nvSpPr>
          <p:spPr>
            <a:xfrm flipH="1">
              <a:off x="1632" y="1632"/>
              <a:ext cx="96" cy="0"/>
            </a:xfrm>
            <a:prstGeom prst="line">
              <a:avLst/>
            </a:prstGeom>
            <a:ln w="38100" cap="flat" cmpd="sng">
              <a:solidFill>
                <a:schemeClr val="bg1"/>
              </a:solidFill>
              <a:prstDash val="solid"/>
              <a:headEnd type="none" w="med" len="med"/>
              <a:tailEnd type="none" w="med" len="med"/>
            </a:ln>
          </p:spPr>
        </p:sp>
        <p:sp>
          <p:nvSpPr>
            <p:cNvPr id="97349" name="Line 75"/>
            <p:cNvSpPr/>
            <p:nvPr/>
          </p:nvSpPr>
          <p:spPr>
            <a:xfrm flipH="1">
              <a:off x="4128" y="1104"/>
              <a:ext cx="96" cy="0"/>
            </a:xfrm>
            <a:prstGeom prst="line">
              <a:avLst/>
            </a:prstGeom>
            <a:ln w="38100" cap="flat" cmpd="sng">
              <a:solidFill>
                <a:schemeClr val="bg1"/>
              </a:solidFill>
              <a:prstDash val="solid"/>
              <a:headEnd type="none" w="med" len="med"/>
              <a:tailEnd type="none" w="med" len="med"/>
            </a:ln>
          </p:spPr>
        </p:sp>
        <p:sp>
          <p:nvSpPr>
            <p:cNvPr id="97350" name="Line 76"/>
            <p:cNvSpPr/>
            <p:nvPr/>
          </p:nvSpPr>
          <p:spPr>
            <a:xfrm flipH="1">
              <a:off x="1632" y="2256"/>
              <a:ext cx="96" cy="0"/>
            </a:xfrm>
            <a:prstGeom prst="line">
              <a:avLst/>
            </a:prstGeom>
            <a:ln w="38100" cap="flat" cmpd="sng">
              <a:solidFill>
                <a:schemeClr val="bg1"/>
              </a:solidFill>
              <a:prstDash val="solid"/>
              <a:headEnd type="none" w="med" len="med"/>
              <a:tailEnd type="none" w="med" len="med"/>
            </a:ln>
          </p:spPr>
        </p:sp>
        <p:sp>
          <p:nvSpPr>
            <p:cNvPr id="97351" name="Line 77"/>
            <p:cNvSpPr/>
            <p:nvPr/>
          </p:nvSpPr>
          <p:spPr>
            <a:xfrm flipH="1">
              <a:off x="4128" y="1680"/>
              <a:ext cx="96" cy="0"/>
            </a:xfrm>
            <a:prstGeom prst="line">
              <a:avLst/>
            </a:prstGeom>
            <a:ln w="38100" cap="flat" cmpd="sng">
              <a:solidFill>
                <a:schemeClr val="bg1"/>
              </a:solidFill>
              <a:prstDash val="solid"/>
              <a:headEnd type="none" w="med" len="med"/>
              <a:tailEnd type="none" w="med" len="med"/>
            </a:ln>
          </p:spPr>
        </p:sp>
        <p:sp>
          <p:nvSpPr>
            <p:cNvPr id="97352" name="Line 78"/>
            <p:cNvSpPr/>
            <p:nvPr/>
          </p:nvSpPr>
          <p:spPr>
            <a:xfrm flipH="1">
              <a:off x="2352" y="1104"/>
              <a:ext cx="96" cy="0"/>
            </a:xfrm>
            <a:prstGeom prst="line">
              <a:avLst/>
            </a:prstGeom>
            <a:ln w="38100" cap="flat" cmpd="sng">
              <a:solidFill>
                <a:schemeClr val="bg1"/>
              </a:solidFill>
              <a:prstDash val="solid"/>
              <a:headEnd type="none" w="med" len="med"/>
              <a:tailEnd type="none" w="med" len="med"/>
            </a:ln>
          </p:spPr>
        </p:sp>
        <p:sp>
          <p:nvSpPr>
            <p:cNvPr id="97353" name="Line 79"/>
            <p:cNvSpPr/>
            <p:nvPr/>
          </p:nvSpPr>
          <p:spPr>
            <a:xfrm flipH="1">
              <a:off x="2352" y="1632"/>
              <a:ext cx="96" cy="0"/>
            </a:xfrm>
            <a:prstGeom prst="line">
              <a:avLst/>
            </a:prstGeom>
            <a:ln w="38100" cap="flat" cmpd="sng">
              <a:solidFill>
                <a:schemeClr val="bg1"/>
              </a:solidFill>
              <a:prstDash val="solid"/>
              <a:headEnd type="none" w="med" len="med"/>
              <a:tailEnd type="none" w="med" len="med"/>
            </a:ln>
          </p:spPr>
        </p:sp>
        <p:sp>
          <p:nvSpPr>
            <p:cNvPr id="97354" name="Line 80"/>
            <p:cNvSpPr/>
            <p:nvPr/>
          </p:nvSpPr>
          <p:spPr>
            <a:xfrm flipH="1">
              <a:off x="2352" y="2256"/>
              <a:ext cx="96" cy="0"/>
            </a:xfrm>
            <a:prstGeom prst="line">
              <a:avLst/>
            </a:prstGeom>
            <a:ln w="38100" cap="flat" cmpd="sng">
              <a:solidFill>
                <a:schemeClr val="bg1"/>
              </a:solidFill>
              <a:prstDash val="solid"/>
              <a:headEnd type="none" w="med" len="med"/>
              <a:tailEnd type="none" w="med" len="med"/>
            </a:ln>
          </p:spPr>
        </p:sp>
        <p:sp>
          <p:nvSpPr>
            <p:cNvPr id="97355" name="AutoShape 81"/>
            <p:cNvSpPr/>
            <p:nvPr/>
          </p:nvSpPr>
          <p:spPr>
            <a:xfrm>
              <a:off x="492" y="258"/>
              <a:ext cx="4445" cy="136"/>
            </a:xfrm>
            <a:prstGeom prst="rightArrow">
              <a:avLst>
                <a:gd name="adj1" fmla="val 50000"/>
                <a:gd name="adj2" fmla="val 817095"/>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body" idx="4294967295"/>
          </p:nvPr>
        </p:nvSpPr>
        <p:spPr>
          <a:xfrm>
            <a:off x="457200" y="838200"/>
            <a:ext cx="8153400" cy="1143000"/>
          </a:xfrm>
          <a:ln/>
        </p:spPr>
        <p:txBody>
          <a:bodyPr vert="horz" wrap="square" lIns="91440" tIns="45720" rIns="91440" bIns="45720" anchor="t" anchorCtr="0"/>
          <a:p>
            <a:pPr eaLnBrk="1" hangingPunct="1"/>
            <a:r>
              <a:rPr lang="zh-CN" altLang="en-US" b="1" dirty="0">
                <a:ea typeface="楷体_GB2312" pitchFamily="1" charset="-122"/>
              </a:rPr>
              <a:t>例5—1 用INTEL2114芯片1K*4构成4K*8的存储系统。</a:t>
            </a:r>
            <a:r>
              <a:rPr lang="zh-CN" altLang="en-US" b="1" dirty="0"/>
              <a:t> </a:t>
            </a:r>
            <a:endParaRPr lang="zh-CN" altLang="en-US" b="1" dirty="0"/>
          </a:p>
        </p:txBody>
      </p:sp>
      <p:pic>
        <p:nvPicPr>
          <p:cNvPr id="97283" name="Picture 3" descr="字位扩展"/>
          <p:cNvPicPr>
            <a:picLocks noChangeAspect="1"/>
          </p:cNvPicPr>
          <p:nvPr/>
        </p:nvPicPr>
        <p:blipFill>
          <a:blip r:embed="rId1"/>
          <a:srcRect l="4726" t="6454" r="6615" b="11441"/>
          <a:stretch>
            <a:fillRect/>
          </a:stretch>
        </p:blipFill>
        <p:spPr>
          <a:xfrm>
            <a:off x="755650" y="1844675"/>
            <a:ext cx="7561263" cy="4403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7283"/>
                                        </p:tgtEl>
                                        <p:attrNameLst>
                                          <p:attrName>style.visibility</p:attrName>
                                        </p:attrNameLst>
                                      </p:cBhvr>
                                      <p:to>
                                        <p:strVal val="visible"/>
                                      </p:to>
                                    </p:set>
                                    <p:anim calcmode="lin" valueType="num">
                                      <p:cBhvr additive="base">
                                        <p:cTn id="7" dur="500" fill="hold"/>
                                        <p:tgtEl>
                                          <p:spTgt spid="97283"/>
                                        </p:tgtEl>
                                        <p:attrNameLst>
                                          <p:attrName>ppt_x</p:attrName>
                                        </p:attrNameLst>
                                      </p:cBhvr>
                                      <p:tavLst>
                                        <p:tav tm="0">
                                          <p:val>
                                            <p:strVal val="0-#ppt_w/2"/>
                                          </p:val>
                                        </p:tav>
                                        <p:tav tm="100000">
                                          <p:val>
                                            <p:strVal val="#ppt_x"/>
                                          </p:val>
                                        </p:tav>
                                      </p:tavLst>
                                    </p:anim>
                                    <p:anim calcmode="lin" valueType="num">
                                      <p:cBhvr additive="base">
                                        <p:cTn id="8" dur="500" fill="hold"/>
                                        <p:tgtEl>
                                          <p:spTgt spid="9728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p:nvPr>
            <p:ph type="title" idx="4294967295"/>
          </p:nvPr>
        </p:nvSpPr>
        <p:spPr>
          <a:xfrm>
            <a:off x="457200" y="692150"/>
            <a:ext cx="8229600" cy="725488"/>
          </a:xfrm>
          <a:prstGeom prst="rect">
            <a:avLst/>
          </a:prstGeom>
          <a:noFill/>
          <a:ln w="9525">
            <a:noFill/>
          </a:ln>
        </p:spPr>
        <p:txBody>
          <a:bodyPr anchor="ctr" anchorCtr="0"/>
          <a:p>
            <a:pPr algn="l" eaLnBrk="1" hangingPunct="1"/>
            <a:r>
              <a:rPr lang="zh-CN" altLang="en-US" dirty="0"/>
              <a:t>例题：</a:t>
            </a:r>
            <a:endParaRPr lang="zh-CN" altLang="en-US" dirty="0"/>
          </a:p>
        </p:txBody>
      </p:sp>
      <p:sp>
        <p:nvSpPr>
          <p:cNvPr id="99331" name="Rectangle 3"/>
          <p:cNvSpPr>
            <a:spLocks noGrp="1"/>
          </p:cNvSpPr>
          <p:nvPr>
            <p:ph type="body" idx="4294967295"/>
          </p:nvPr>
        </p:nvSpPr>
        <p:spPr>
          <a:xfrm>
            <a:off x="252413" y="1773238"/>
            <a:ext cx="8713787" cy="4608512"/>
          </a:xfrm>
          <a:ln/>
        </p:spPr>
        <p:txBody>
          <a:bodyPr vert="horz" wrap="square" lIns="91440" tIns="45720" rIns="91440" bIns="45720" anchor="t" anchorCtr="0"/>
          <a:p>
            <a:pPr eaLnBrk="1" hangingPunct="1"/>
            <a:r>
              <a:rPr lang="zh-CN" altLang="en-US" dirty="0">
                <a:solidFill>
                  <a:srgbClr val="0000FF"/>
                </a:solidFill>
              </a:rPr>
              <a:t>某一SRAM芯片，其容量为1024*8位，除电源和接地外，该芯片引脚的最小数目为（    ）？</a:t>
            </a:r>
            <a:endParaRPr lang="zh-CN" altLang="en-US" dirty="0">
              <a:solidFill>
                <a:srgbClr val="0000FF"/>
              </a:solidFill>
            </a:endParaRPr>
          </a:p>
          <a:p>
            <a:pPr eaLnBrk="1" hangingPunct="1"/>
            <a:r>
              <a:rPr lang="zh-CN" altLang="en-US" dirty="0">
                <a:solidFill>
                  <a:srgbClr val="0000FF"/>
                </a:solidFill>
              </a:rPr>
              <a:t>有1K*8的存储器芯片，采用双地译码方式，译码器的输出信号选通线有（     ）条？</a:t>
            </a:r>
            <a:endParaRPr lang="zh-CN" altLang="en-US" dirty="0">
              <a:solidFill>
                <a:srgbClr val="0000FF"/>
              </a:solidFill>
            </a:endParaRPr>
          </a:p>
          <a:p>
            <a:pPr eaLnBrk="1" hangingPunct="1"/>
            <a:r>
              <a:rPr lang="zh-CN" altLang="en-US" dirty="0">
                <a:solidFill>
                  <a:srgbClr val="0000FF"/>
                </a:solidFill>
              </a:rPr>
              <a:t>用若干片1K*8位的SRAM芯片如何构成2K*32位的存储器？画出存储器与CPU连接的结构图。</a:t>
            </a:r>
            <a:endParaRPr lang="zh-CN" altLang="en-US" dirty="0">
              <a:solidFill>
                <a:srgbClr val="0000FF"/>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algn="l" eaLnBrk="1" hangingPunct="1"/>
            <a:r>
              <a:rPr lang="zh-CN" altLang="en-US" dirty="0"/>
              <a:t>主存空间分配例题</a:t>
            </a:r>
            <a:endParaRPr lang="zh-CN" altLang="en-US" sz="2000" dirty="0"/>
          </a:p>
        </p:txBody>
      </p:sp>
      <p:sp>
        <p:nvSpPr>
          <p:cNvPr id="100355" name="Rectangle 3"/>
          <p:cNvSpPr>
            <a:spLocks noGrp="1"/>
          </p:cNvSpPr>
          <p:nvPr>
            <p:ph type="body" idx="4294967295"/>
          </p:nvPr>
        </p:nvSpPr>
        <p:spPr>
          <a:xfrm>
            <a:off x="611188" y="1916113"/>
            <a:ext cx="8281987" cy="4267200"/>
          </a:xfrm>
          <a:ln/>
        </p:spPr>
        <p:txBody>
          <a:bodyPr vert="horz" wrap="square" lIns="91440" tIns="45720" rIns="91440" bIns="45720" anchor="t" anchorCtr="0"/>
          <a:p>
            <a:pPr eaLnBrk="1" hangingPunct="1">
              <a:lnSpc>
                <a:spcPct val="90000"/>
              </a:lnSpc>
            </a:pPr>
            <a:r>
              <a:rPr lang="zh-CN" altLang="en-US" sz="2800" b="1" dirty="0"/>
              <a:t>例3：</a:t>
            </a:r>
            <a:r>
              <a:rPr lang="zh-CN" altLang="en-US" sz="2800" b="1" dirty="0">
                <a:latin typeface="楷体_GB2312" pitchFamily="1" charset="-122"/>
                <a:ea typeface="楷体_GB2312" pitchFamily="1" charset="-122"/>
              </a:rPr>
              <a:t>CPU的地址总线16根，双向数据总线8根，控制总线中与主存有关的信号MERQ，R/W。主存地址空间分配如下：0</a:t>
            </a:r>
            <a:r>
              <a:rPr lang="zh-CN" altLang="en-US" sz="2800" b="1" dirty="0">
                <a:ea typeface="楷体_GB2312" pitchFamily="1" charset="-122"/>
              </a:rPr>
              <a:t>—</a:t>
            </a:r>
            <a:r>
              <a:rPr lang="zh-CN" altLang="en-US" sz="2800" b="1" dirty="0">
                <a:latin typeface="楷体_GB2312" pitchFamily="1" charset="-122"/>
                <a:ea typeface="楷体_GB2312" pitchFamily="1" charset="-122"/>
              </a:rPr>
              <a:t>8191为系统程序区，由只读存储芯片组成，8192</a:t>
            </a:r>
            <a:r>
              <a:rPr lang="zh-CN" altLang="en-US" sz="2800" b="1" dirty="0">
                <a:ea typeface="楷体_GB2312" pitchFamily="1" charset="-122"/>
              </a:rPr>
              <a:t>—</a:t>
            </a:r>
            <a:r>
              <a:rPr lang="zh-CN" altLang="en-US" sz="2800" b="1" dirty="0">
                <a:latin typeface="楷体_GB2312" pitchFamily="1" charset="-122"/>
                <a:ea typeface="楷体_GB2312" pitchFamily="1" charset="-122"/>
              </a:rPr>
              <a:t>32767为用户程序区，最后2K地址空间为系统工作区。</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latin typeface="楷体_GB2312" pitchFamily="1" charset="-122"/>
                <a:ea typeface="楷体_GB2312" pitchFamily="1" charset="-122"/>
              </a:rPr>
              <a:t>现有芯片：</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latin typeface="楷体_GB2312" pitchFamily="1" charset="-122"/>
                <a:ea typeface="楷体_GB2312" pitchFamily="1" charset="-122"/>
              </a:rPr>
              <a:t>EPROM  8K*8</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latin typeface="楷体_GB2312" pitchFamily="1" charset="-122"/>
                <a:ea typeface="楷体_GB2312" pitchFamily="1" charset="-122"/>
              </a:rPr>
              <a:t>SRAM  16K*1，2K*8，4K*8，8K*8</a:t>
            </a:r>
            <a:endParaRPr lang="zh-CN" altLang="en-US" sz="2800" b="1" dirty="0">
              <a:latin typeface="楷体_GB2312" pitchFamily="1" charset="-122"/>
              <a:ea typeface="楷体_GB2312" pitchFamily="1" charset="-122"/>
            </a:endParaRPr>
          </a:p>
          <a:p>
            <a:pPr eaLnBrk="1" hangingPunct="1">
              <a:lnSpc>
                <a:spcPct val="90000"/>
              </a:lnSpc>
              <a:buNone/>
            </a:pPr>
            <a:r>
              <a:rPr lang="zh-CN" altLang="en-US" sz="2800" b="1" dirty="0">
                <a:latin typeface="楷体_GB2312" pitchFamily="1" charset="-122"/>
                <a:ea typeface="楷体_GB2312" pitchFamily="1" charset="-122"/>
              </a:rPr>
              <a:t>      请设计该计算机主存储器，画出主存储器逻辑框图。</a:t>
            </a:r>
            <a:endParaRPr lang="zh-CN" altLang="en-US" sz="2800" b="1" dirty="0">
              <a:latin typeface="楷体_GB2312" pitchFamily="1" charset="-122"/>
              <a:ea typeface="楷体_GB2312" pitchFamily="1" charset="-122"/>
            </a:endParaRPr>
          </a:p>
        </p:txBody>
      </p:sp>
      <p:sp>
        <p:nvSpPr>
          <p:cNvPr id="100356" name="Line 4"/>
          <p:cNvSpPr/>
          <p:nvPr/>
        </p:nvSpPr>
        <p:spPr>
          <a:xfrm>
            <a:off x="5292725" y="2349500"/>
            <a:ext cx="685800" cy="0"/>
          </a:xfrm>
          <a:prstGeom prst="line">
            <a:avLst/>
          </a:prstGeom>
          <a:ln w="9525" cap="flat" cmpd="sng">
            <a:solidFill>
              <a:schemeClr val="tx1"/>
            </a:solidFill>
            <a:prstDash val="solid"/>
            <a:headEnd type="none" w="med" len="med"/>
            <a:tailEnd type="none" w="med" len="med"/>
          </a:ln>
        </p:spPr>
      </p:sp>
      <p:sp>
        <p:nvSpPr>
          <p:cNvPr id="100357" name="Line 5"/>
          <p:cNvSpPr/>
          <p:nvPr/>
        </p:nvSpPr>
        <p:spPr>
          <a:xfrm>
            <a:off x="6664325" y="2349500"/>
            <a:ext cx="304800"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只读存储器和闪速存储器——</a:t>
            </a:r>
            <a:r>
              <a:rPr lang="zh-CN" altLang="en-US" sz="2000" dirty="0"/>
              <a:t>只读存储器</a:t>
            </a:r>
            <a:endParaRPr lang="zh-CN" altLang="en-US" sz="2000" dirty="0"/>
          </a:p>
        </p:txBody>
      </p:sp>
      <p:sp>
        <p:nvSpPr>
          <p:cNvPr id="101379" name="Rectangle 3"/>
          <p:cNvSpPr>
            <a:spLocks noGrp="1"/>
          </p:cNvSpPr>
          <p:nvPr>
            <p:ph type="body" idx="4294967295"/>
          </p:nvPr>
        </p:nvSpPr>
        <p:spPr>
          <a:xfrm>
            <a:off x="685800" y="1828800"/>
            <a:ext cx="7772400" cy="4267200"/>
          </a:xfrm>
          <a:ln/>
        </p:spPr>
        <p:txBody>
          <a:bodyPr vert="horz" wrap="square" lIns="91440" tIns="45720" rIns="91440" bIns="45720" anchor="t" anchorCtr="0"/>
          <a:p>
            <a:pPr eaLnBrk="1" hangingPunct="1"/>
            <a:r>
              <a:rPr lang="zh-CN" altLang="zh-CN" b="1" dirty="0"/>
              <a:t>解：主存地址空间分布如图所示。</a:t>
            </a:r>
            <a:endParaRPr lang="zh-CN" altLang="zh-CN" b="1" dirty="0"/>
          </a:p>
        </p:txBody>
      </p:sp>
      <p:grpSp>
        <p:nvGrpSpPr>
          <p:cNvPr id="101380" name="Group 4"/>
          <p:cNvGrpSpPr/>
          <p:nvPr/>
        </p:nvGrpSpPr>
        <p:grpSpPr>
          <a:xfrm>
            <a:off x="2133600" y="2514600"/>
            <a:ext cx="4038600" cy="3505200"/>
            <a:chOff x="0" y="0"/>
            <a:chExt cx="2544" cy="2208"/>
          </a:xfrm>
        </p:grpSpPr>
        <p:sp>
          <p:nvSpPr>
            <p:cNvPr id="101381" name="AutoShape 5"/>
            <p:cNvSpPr/>
            <p:nvPr/>
          </p:nvSpPr>
          <p:spPr>
            <a:xfrm>
              <a:off x="528" y="0"/>
              <a:ext cx="2016" cy="2208"/>
            </a:xfrm>
            <a:prstGeom prst="flowChartProcess">
              <a:avLst/>
            </a:prstGeom>
            <a:solidFill>
              <a:srgbClr val="CCECFF"/>
            </a:solidFill>
            <a:ln w="9525" cap="flat" cmpd="sng">
              <a:solidFill>
                <a:schemeClr val="tx1"/>
              </a:solidFill>
              <a:prstDash val="solid"/>
              <a:miter/>
              <a:headEnd type="none" w="med" len="med"/>
              <a:tailEnd type="none" w="med" len="med"/>
            </a:ln>
            <a:effectLst>
              <a:outerShdw dist="107763" dir="18900000"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8K（EPROM）</a:t>
              </a:r>
              <a:endParaRPr lang="zh-CN" altLang="en-US" sz="2400" dirty="0">
                <a:solidFill>
                  <a:schemeClr val="tx1"/>
                </a:solidFill>
                <a:latin typeface="Tahoma" panose="020B0604030504040204" pitchFamily="34" charset="0"/>
              </a:endParaRPr>
            </a:p>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24K（SRAM）</a:t>
              </a:r>
              <a:endParaRPr lang="zh-CN" altLang="en-US" sz="2400" dirty="0">
                <a:solidFill>
                  <a:schemeClr val="tx1"/>
                </a:solidFill>
                <a:latin typeface="Tahoma" panose="020B0604030504040204" pitchFamily="34" charset="0"/>
              </a:endParaRPr>
            </a:p>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30K（空）</a:t>
              </a:r>
              <a:endParaRPr lang="zh-CN" altLang="en-US" sz="2400" dirty="0">
                <a:solidFill>
                  <a:schemeClr val="tx1"/>
                </a:solidFill>
                <a:latin typeface="Tahoma" panose="020B0604030504040204" pitchFamily="34" charset="0"/>
              </a:endParaRPr>
            </a:p>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2K（SRAM）</a:t>
              </a:r>
              <a:endParaRPr lang="zh-CN" altLang="en-US" sz="2400" dirty="0">
                <a:solidFill>
                  <a:schemeClr val="tx1"/>
                </a:solidFill>
                <a:latin typeface="Tahoma" panose="020B0604030504040204" pitchFamily="34" charset="0"/>
              </a:endParaRPr>
            </a:p>
          </p:txBody>
        </p:sp>
        <p:sp>
          <p:nvSpPr>
            <p:cNvPr id="101382" name="Line 6"/>
            <p:cNvSpPr/>
            <p:nvPr/>
          </p:nvSpPr>
          <p:spPr>
            <a:xfrm>
              <a:off x="624" y="576"/>
              <a:ext cx="1872" cy="0"/>
            </a:xfrm>
            <a:prstGeom prst="line">
              <a:avLst/>
            </a:prstGeom>
            <a:ln w="9525" cap="flat" cmpd="sng">
              <a:solidFill>
                <a:schemeClr val="tx1"/>
              </a:solidFill>
              <a:prstDash val="solid"/>
              <a:headEnd type="none" w="med" len="med"/>
              <a:tailEnd type="none" w="med" len="med"/>
            </a:ln>
          </p:spPr>
        </p:sp>
        <p:sp>
          <p:nvSpPr>
            <p:cNvPr id="101383" name="Line 7"/>
            <p:cNvSpPr/>
            <p:nvPr/>
          </p:nvSpPr>
          <p:spPr>
            <a:xfrm>
              <a:off x="624" y="1056"/>
              <a:ext cx="1872" cy="0"/>
            </a:xfrm>
            <a:prstGeom prst="line">
              <a:avLst/>
            </a:prstGeom>
            <a:ln w="9525" cap="flat" cmpd="sng">
              <a:solidFill>
                <a:schemeClr val="tx1"/>
              </a:solidFill>
              <a:prstDash val="solid"/>
              <a:headEnd type="none" w="med" len="med"/>
              <a:tailEnd type="none" w="med" len="med"/>
            </a:ln>
          </p:spPr>
        </p:sp>
        <p:sp>
          <p:nvSpPr>
            <p:cNvPr id="101384" name="Line 8"/>
            <p:cNvSpPr/>
            <p:nvPr/>
          </p:nvSpPr>
          <p:spPr>
            <a:xfrm>
              <a:off x="624" y="1536"/>
              <a:ext cx="1872" cy="0"/>
            </a:xfrm>
            <a:prstGeom prst="line">
              <a:avLst/>
            </a:prstGeom>
            <a:ln w="9525" cap="flat" cmpd="sng">
              <a:solidFill>
                <a:schemeClr val="tx1"/>
              </a:solidFill>
              <a:prstDash val="solid"/>
              <a:headEnd type="none" w="med" len="med"/>
              <a:tailEnd type="none" w="med" len="med"/>
            </a:ln>
          </p:spPr>
        </p:sp>
        <p:sp>
          <p:nvSpPr>
            <p:cNvPr id="101385" name="Text Box 9"/>
            <p:cNvSpPr txBox="1"/>
            <p:nvPr/>
          </p:nvSpPr>
          <p:spPr>
            <a:xfrm>
              <a:off x="0" y="0"/>
              <a:ext cx="864" cy="217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b="1" dirty="0">
                  <a:solidFill>
                    <a:schemeClr val="tx1"/>
                  </a:solidFill>
                  <a:latin typeface="Tahoma" panose="020B0604030504040204" pitchFamily="34" charset="0"/>
                </a:rPr>
                <a:t>0</a:t>
              </a:r>
              <a:endParaRPr lang="zh-CN" altLang="en-US" sz="1600" b="1" dirty="0">
                <a:solidFill>
                  <a:schemeClr val="tx1"/>
                </a:solidFill>
                <a:latin typeface="Tahoma" panose="020B0604030504040204" pitchFamily="34" charset="0"/>
              </a:endParaRPr>
            </a:p>
            <a:p>
              <a:pPr marL="0" lvl="0" indent="0" eaLnBrk="1" hangingPunct="1">
                <a:spcBef>
                  <a:spcPct val="50000"/>
                </a:spcBef>
                <a:buNone/>
              </a:pPr>
              <a:endParaRPr lang="zh-CN" altLang="en-US" sz="800" b="1" dirty="0">
                <a:solidFill>
                  <a:schemeClr val="tx1"/>
                </a:solidFill>
                <a:latin typeface="Tahoma" panose="020B0604030504040204" pitchFamily="34" charset="0"/>
              </a:endParaRPr>
            </a:p>
            <a:p>
              <a:pPr marL="0" lvl="0" indent="0" eaLnBrk="1" hangingPunct="1">
                <a:spcBef>
                  <a:spcPct val="50000"/>
                </a:spcBef>
                <a:buNone/>
              </a:pPr>
              <a:r>
                <a:rPr lang="zh-CN" altLang="en-US" sz="1600" b="1" dirty="0">
                  <a:solidFill>
                    <a:schemeClr val="tx1"/>
                  </a:solidFill>
                  <a:latin typeface="Tahoma" panose="020B0604030504040204" pitchFamily="34" charset="0"/>
                </a:rPr>
                <a:t>8191</a:t>
              </a:r>
              <a:endParaRPr lang="zh-CN" altLang="en-US" sz="1600" b="1" dirty="0">
                <a:solidFill>
                  <a:schemeClr val="tx1"/>
                </a:solidFill>
                <a:latin typeface="Tahoma" panose="020B0604030504040204" pitchFamily="34" charset="0"/>
              </a:endParaRPr>
            </a:p>
            <a:p>
              <a:pPr marL="0" lvl="0" indent="0" eaLnBrk="1" hangingPunct="1">
                <a:spcBef>
                  <a:spcPct val="50000"/>
                </a:spcBef>
                <a:buNone/>
              </a:pPr>
              <a:r>
                <a:rPr lang="zh-CN" altLang="en-US" sz="1600" b="1" dirty="0">
                  <a:solidFill>
                    <a:schemeClr val="tx1"/>
                  </a:solidFill>
                  <a:latin typeface="Tahoma" panose="020B0604030504040204" pitchFamily="34" charset="0"/>
                </a:rPr>
                <a:t>8192</a:t>
              </a:r>
              <a:endParaRPr lang="zh-CN" altLang="en-US" sz="1600" b="1" dirty="0">
                <a:solidFill>
                  <a:schemeClr val="tx1"/>
                </a:solidFill>
                <a:latin typeface="Tahoma" panose="020B0604030504040204" pitchFamily="34" charset="0"/>
              </a:endParaRPr>
            </a:p>
            <a:p>
              <a:pPr marL="0" lvl="0" indent="0" eaLnBrk="1" hangingPunct="1">
                <a:spcBef>
                  <a:spcPct val="50000"/>
                </a:spcBef>
                <a:buNone/>
              </a:pPr>
              <a:r>
                <a:rPr lang="zh-CN" altLang="en-US" sz="1600" b="1" dirty="0">
                  <a:solidFill>
                    <a:schemeClr val="tx1"/>
                  </a:solidFill>
                  <a:latin typeface="Tahoma" panose="020B0604030504040204" pitchFamily="34" charset="0"/>
                </a:rPr>
                <a:t>32767</a:t>
              </a:r>
              <a:endParaRPr lang="zh-CN" altLang="en-US" sz="1600" b="1" dirty="0">
                <a:solidFill>
                  <a:schemeClr val="tx1"/>
                </a:solidFill>
                <a:latin typeface="Tahoma" panose="020B0604030504040204" pitchFamily="34" charset="0"/>
              </a:endParaRPr>
            </a:p>
            <a:p>
              <a:pPr marL="0" lvl="0" indent="0" eaLnBrk="1" hangingPunct="1">
                <a:spcBef>
                  <a:spcPct val="50000"/>
                </a:spcBef>
                <a:buNone/>
              </a:pPr>
              <a:endParaRPr lang="zh-CN" altLang="en-US" sz="1600" b="1" dirty="0">
                <a:solidFill>
                  <a:schemeClr val="tx1"/>
                </a:solidFill>
                <a:latin typeface="Tahoma" panose="020B0604030504040204" pitchFamily="34" charset="0"/>
              </a:endParaRPr>
            </a:p>
            <a:p>
              <a:pPr marL="0" lvl="0" indent="0" eaLnBrk="1" hangingPunct="1">
                <a:spcBef>
                  <a:spcPct val="50000"/>
                </a:spcBef>
                <a:buNone/>
              </a:pPr>
              <a:endParaRPr lang="zh-CN" altLang="en-US" sz="1600" b="1" dirty="0">
                <a:solidFill>
                  <a:schemeClr val="tx1"/>
                </a:solidFill>
                <a:latin typeface="Tahoma" panose="020B0604030504040204" pitchFamily="34" charset="0"/>
              </a:endParaRPr>
            </a:p>
            <a:p>
              <a:pPr marL="0" lvl="0" indent="0" eaLnBrk="1" hangingPunct="1">
                <a:spcBef>
                  <a:spcPct val="50000"/>
                </a:spcBef>
                <a:buNone/>
              </a:pPr>
              <a:r>
                <a:rPr lang="zh-CN" altLang="en-US" sz="1600" b="1" dirty="0">
                  <a:solidFill>
                    <a:schemeClr val="tx1"/>
                  </a:solidFill>
                  <a:latin typeface="Tahoma" panose="020B0604030504040204" pitchFamily="34" charset="0"/>
                </a:rPr>
                <a:t>63487</a:t>
              </a:r>
              <a:endParaRPr lang="zh-CN" altLang="en-US" sz="1600" b="1" dirty="0">
                <a:solidFill>
                  <a:schemeClr val="tx1"/>
                </a:solidFill>
                <a:latin typeface="Tahoma" panose="020B0604030504040204" pitchFamily="34" charset="0"/>
              </a:endParaRPr>
            </a:p>
            <a:p>
              <a:pPr marL="0" lvl="0" indent="0" eaLnBrk="1" hangingPunct="1">
                <a:spcBef>
                  <a:spcPct val="50000"/>
                </a:spcBef>
                <a:buNone/>
              </a:pPr>
              <a:endParaRPr lang="zh-CN" altLang="en-US" sz="1600" b="1" dirty="0">
                <a:solidFill>
                  <a:schemeClr val="tx1"/>
                </a:solidFill>
                <a:latin typeface="Tahoma" panose="020B0604030504040204" pitchFamily="34" charset="0"/>
              </a:endParaRPr>
            </a:p>
            <a:p>
              <a:pPr marL="0" lvl="0" indent="0" eaLnBrk="1" hangingPunct="1">
                <a:spcBef>
                  <a:spcPct val="50000"/>
                </a:spcBef>
                <a:buNone/>
              </a:pPr>
              <a:r>
                <a:rPr lang="zh-CN" altLang="en-US" sz="1600" b="1" dirty="0">
                  <a:solidFill>
                    <a:schemeClr val="tx1"/>
                  </a:solidFill>
                  <a:latin typeface="Tahoma" panose="020B0604030504040204" pitchFamily="34" charset="0"/>
                </a:rPr>
                <a:t>65535</a:t>
              </a:r>
              <a:endParaRPr lang="zh-CN" altLang="en-US" sz="1600" b="1" dirty="0">
                <a:solidFill>
                  <a:schemeClr val="tx1"/>
                </a:solidFill>
                <a:latin typeface="Tahoma" panose="020B0604030504040204" pitchFamily="34" charset="0"/>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body" idx="4294967295"/>
          </p:nvPr>
        </p:nvSpPr>
        <p:spPr>
          <a:xfrm>
            <a:off x="152400" y="1295400"/>
            <a:ext cx="8229600" cy="5105400"/>
          </a:xfrm>
          <a:ln/>
        </p:spPr>
        <p:txBody>
          <a:bodyPr vert="horz" wrap="square" lIns="91440" tIns="45720" rIns="91440" bIns="45720" anchor="t" anchorCtr="0"/>
          <a:p>
            <a:pPr eaLnBrk="1" hangingPunct="1">
              <a:lnSpc>
                <a:spcPct val="90000"/>
              </a:lnSpc>
              <a:buNone/>
            </a:pPr>
            <a:r>
              <a:rPr lang="zh-CN" altLang="en-US" sz="2400" dirty="0">
                <a:solidFill>
                  <a:schemeClr val="tx1"/>
                </a:solidFill>
              </a:rPr>
              <a:t>   A</a:t>
            </a:r>
            <a:r>
              <a:rPr lang="zh-CN" altLang="en-US" sz="2400" baseline="-25000" dirty="0">
                <a:solidFill>
                  <a:schemeClr val="tx1"/>
                </a:solidFill>
              </a:rPr>
              <a:t>15</a:t>
            </a:r>
            <a:r>
              <a:rPr lang="zh-CN" altLang="en-US" sz="2400" dirty="0">
                <a:solidFill>
                  <a:schemeClr val="tx1"/>
                </a:solidFill>
              </a:rPr>
              <a:t>A</a:t>
            </a:r>
            <a:r>
              <a:rPr lang="zh-CN" altLang="en-US" sz="2400" baseline="-25000" dirty="0">
                <a:solidFill>
                  <a:schemeClr val="tx1"/>
                </a:solidFill>
              </a:rPr>
              <a:t>14</a:t>
            </a:r>
            <a:r>
              <a:rPr lang="zh-CN" altLang="en-US" sz="2400" dirty="0">
                <a:solidFill>
                  <a:schemeClr val="tx1"/>
                </a:solidFill>
              </a:rPr>
              <a:t>A</a:t>
            </a:r>
            <a:r>
              <a:rPr lang="zh-CN" altLang="en-US" sz="2400" baseline="-25000" dirty="0">
                <a:solidFill>
                  <a:schemeClr val="tx1"/>
                </a:solidFill>
              </a:rPr>
              <a:t>13</a:t>
            </a:r>
            <a:r>
              <a:rPr lang="zh-CN" altLang="en-US" sz="2400" dirty="0">
                <a:solidFill>
                  <a:schemeClr val="tx1"/>
                </a:solidFill>
              </a:rPr>
              <a:t>A</a:t>
            </a:r>
            <a:r>
              <a:rPr lang="zh-CN" altLang="en-US" sz="2400" baseline="-25000" dirty="0">
                <a:solidFill>
                  <a:schemeClr val="tx1"/>
                </a:solidFill>
              </a:rPr>
              <a:t>12</a:t>
            </a:r>
            <a:r>
              <a:rPr lang="zh-CN" altLang="en-US" sz="2400" dirty="0">
                <a:solidFill>
                  <a:schemeClr val="tx1"/>
                </a:solidFill>
              </a:rPr>
              <a:t>A</a:t>
            </a:r>
            <a:r>
              <a:rPr lang="zh-CN" altLang="en-US" sz="2400" baseline="-25000" dirty="0">
                <a:solidFill>
                  <a:schemeClr val="tx1"/>
                </a:solidFill>
              </a:rPr>
              <a:t>11</a:t>
            </a:r>
            <a:r>
              <a:rPr lang="zh-CN" altLang="en-US" sz="2400" dirty="0">
                <a:solidFill>
                  <a:schemeClr val="tx1"/>
                </a:solidFill>
              </a:rPr>
              <a:t>A</a:t>
            </a:r>
            <a:r>
              <a:rPr lang="zh-CN" altLang="en-US" sz="2400" baseline="-25000" dirty="0">
                <a:solidFill>
                  <a:schemeClr val="tx1"/>
                </a:solidFill>
              </a:rPr>
              <a:t>10</a:t>
            </a:r>
            <a:r>
              <a:rPr lang="zh-CN" altLang="en-US" sz="2400" dirty="0">
                <a:solidFill>
                  <a:schemeClr val="tx1"/>
                </a:solidFill>
              </a:rPr>
              <a:t>A</a:t>
            </a:r>
            <a:r>
              <a:rPr lang="zh-CN" altLang="en-US" sz="2400" baseline="-25000" dirty="0">
                <a:solidFill>
                  <a:schemeClr val="tx1"/>
                </a:solidFill>
              </a:rPr>
              <a:t>9</a:t>
            </a:r>
            <a:r>
              <a:rPr lang="zh-CN" altLang="en-US" sz="2400" dirty="0">
                <a:solidFill>
                  <a:schemeClr val="tx1"/>
                </a:solidFill>
              </a:rPr>
              <a:t>A</a:t>
            </a:r>
            <a:r>
              <a:rPr lang="zh-CN" altLang="en-US" sz="2400" baseline="-25000" dirty="0">
                <a:solidFill>
                  <a:schemeClr val="tx1"/>
                </a:solidFill>
              </a:rPr>
              <a:t>8</a:t>
            </a:r>
            <a:r>
              <a:rPr lang="zh-CN" altLang="en-US" sz="2400" dirty="0">
                <a:solidFill>
                  <a:schemeClr val="tx1"/>
                </a:solidFill>
              </a:rPr>
              <a:t>A</a:t>
            </a:r>
            <a:r>
              <a:rPr lang="zh-CN" altLang="en-US" sz="2400" baseline="-25000" dirty="0">
                <a:solidFill>
                  <a:schemeClr val="tx1"/>
                </a:solidFill>
              </a:rPr>
              <a:t>7</a:t>
            </a:r>
            <a:r>
              <a:rPr lang="zh-CN" altLang="en-US" sz="2400" dirty="0">
                <a:solidFill>
                  <a:schemeClr val="tx1"/>
                </a:solidFill>
              </a:rPr>
              <a:t>A</a:t>
            </a:r>
            <a:r>
              <a:rPr lang="zh-CN" altLang="en-US" sz="2400" baseline="-25000" dirty="0">
                <a:solidFill>
                  <a:schemeClr val="tx1"/>
                </a:solidFill>
              </a:rPr>
              <a:t>6</a:t>
            </a:r>
            <a:r>
              <a:rPr lang="zh-CN" altLang="en-US" sz="2400" dirty="0">
                <a:solidFill>
                  <a:schemeClr val="tx1"/>
                </a:solidFill>
              </a:rPr>
              <a:t>A</a:t>
            </a:r>
            <a:r>
              <a:rPr lang="zh-CN" altLang="en-US" sz="2400" baseline="-25000" dirty="0">
                <a:solidFill>
                  <a:schemeClr val="tx1"/>
                </a:solidFill>
              </a:rPr>
              <a:t>5</a:t>
            </a:r>
            <a:r>
              <a:rPr lang="zh-CN" altLang="en-US" sz="2400" dirty="0">
                <a:solidFill>
                  <a:schemeClr val="tx1"/>
                </a:solidFill>
              </a:rPr>
              <a:t>A</a:t>
            </a:r>
            <a:r>
              <a:rPr lang="zh-CN" altLang="en-US" sz="2400" baseline="-25000" dirty="0">
                <a:solidFill>
                  <a:schemeClr val="tx1"/>
                </a:solidFill>
              </a:rPr>
              <a:t>4</a:t>
            </a:r>
            <a:r>
              <a:rPr lang="zh-CN" altLang="en-US" sz="2400" dirty="0">
                <a:solidFill>
                  <a:schemeClr val="tx1"/>
                </a:solidFill>
              </a:rPr>
              <a:t>A</a:t>
            </a:r>
            <a:r>
              <a:rPr lang="zh-CN" altLang="en-US" sz="2400" baseline="-25000" dirty="0">
                <a:solidFill>
                  <a:schemeClr val="tx1"/>
                </a:solidFill>
              </a:rPr>
              <a:t>3</a:t>
            </a:r>
            <a:r>
              <a:rPr lang="zh-CN" altLang="en-US" sz="2400" dirty="0">
                <a:solidFill>
                  <a:schemeClr val="tx1"/>
                </a:solidFill>
              </a:rPr>
              <a:t>A</a:t>
            </a:r>
            <a:r>
              <a:rPr lang="zh-CN" altLang="en-US" sz="2400" baseline="-25000" dirty="0">
                <a:solidFill>
                  <a:schemeClr val="tx1"/>
                </a:solidFill>
              </a:rPr>
              <a:t>2</a:t>
            </a:r>
            <a:r>
              <a:rPr lang="zh-CN" altLang="en-US" sz="2400" dirty="0">
                <a:solidFill>
                  <a:schemeClr val="tx1"/>
                </a:solidFill>
              </a:rPr>
              <a:t>A</a:t>
            </a:r>
            <a:r>
              <a:rPr lang="zh-CN" altLang="en-US" sz="2400" baseline="-25000" dirty="0">
                <a:solidFill>
                  <a:schemeClr val="tx1"/>
                </a:solidFill>
              </a:rPr>
              <a:t>1</a:t>
            </a:r>
            <a:r>
              <a:rPr lang="zh-CN" altLang="en-US" sz="2400" dirty="0">
                <a:solidFill>
                  <a:schemeClr val="tx1"/>
                </a:solidFill>
              </a:rPr>
              <a:t>A</a:t>
            </a:r>
            <a:r>
              <a:rPr lang="zh-CN" altLang="en-US" sz="2400" baseline="-25000" dirty="0">
                <a:solidFill>
                  <a:schemeClr val="tx1"/>
                </a:solidFill>
              </a:rPr>
              <a:t>0</a:t>
            </a:r>
            <a:endParaRPr lang="zh-CN" altLang="en-US" sz="2400" baseline="-25000" dirty="0">
              <a:solidFill>
                <a:schemeClr val="tx1"/>
              </a:solidFill>
            </a:endParaRPr>
          </a:p>
          <a:p>
            <a:pPr eaLnBrk="1" hangingPunct="1">
              <a:lnSpc>
                <a:spcPct val="90000"/>
              </a:lnSpc>
              <a:buNone/>
            </a:pPr>
            <a:r>
              <a:rPr lang="zh-CN" altLang="en-US" sz="2400" baseline="-25000" dirty="0"/>
              <a:t>       </a:t>
            </a:r>
            <a:r>
              <a:rPr lang="zh-CN" altLang="en-US" sz="2400" dirty="0"/>
              <a:t>0   0   0    </a:t>
            </a:r>
            <a:r>
              <a:rPr lang="zh-CN" altLang="en-US" sz="2400" dirty="0">
                <a:solidFill>
                  <a:srgbClr val="800000"/>
                </a:solidFill>
              </a:rPr>
              <a:t>0    0    0     </a:t>
            </a:r>
            <a:r>
              <a:rPr lang="zh-CN" altLang="en-US" sz="2400" dirty="0">
                <a:solidFill>
                  <a:srgbClr val="800000"/>
                </a:solidFill>
                <a:latin typeface="Tahoma" panose="020B0604030504040204" pitchFamily="34" charset="0"/>
              </a:rPr>
              <a:t>…………………</a:t>
            </a:r>
            <a:r>
              <a:rPr lang="zh-CN" altLang="en-US" sz="2400" dirty="0">
                <a:solidFill>
                  <a:srgbClr val="800000"/>
                </a:solidFill>
              </a:rPr>
              <a:t>             0</a:t>
            </a:r>
            <a:endParaRPr lang="zh-CN" altLang="en-US" sz="2400" dirty="0">
              <a:solidFill>
                <a:srgbClr val="800000"/>
              </a:solidFill>
            </a:endParaRPr>
          </a:p>
          <a:p>
            <a:pPr eaLnBrk="1" hangingPunct="1">
              <a:lnSpc>
                <a:spcPct val="90000"/>
              </a:lnSpc>
              <a:buNone/>
            </a:pPr>
            <a:r>
              <a:rPr lang="zh-CN" altLang="en-US" sz="2400" dirty="0"/>
              <a:t>     0   0   0    </a:t>
            </a:r>
            <a:r>
              <a:rPr lang="zh-CN" altLang="en-US" sz="2400" dirty="0">
                <a:solidFill>
                  <a:srgbClr val="800000"/>
                </a:solidFill>
              </a:rPr>
              <a:t>1    1    1     </a:t>
            </a:r>
            <a:r>
              <a:rPr lang="zh-CN" altLang="en-US" sz="2400" dirty="0">
                <a:solidFill>
                  <a:srgbClr val="800000"/>
                </a:solidFill>
                <a:latin typeface="Tahoma" panose="020B0604030504040204" pitchFamily="34" charset="0"/>
              </a:rPr>
              <a:t>…………………</a:t>
            </a:r>
            <a:r>
              <a:rPr lang="zh-CN" altLang="en-US" sz="2400" dirty="0">
                <a:solidFill>
                  <a:srgbClr val="800000"/>
                </a:solidFill>
              </a:rPr>
              <a:t>             1</a:t>
            </a:r>
            <a:endParaRPr lang="zh-CN" altLang="en-US" sz="2400" dirty="0">
              <a:solidFill>
                <a:srgbClr val="800000"/>
              </a:solidFill>
            </a:endParaRPr>
          </a:p>
          <a:p>
            <a:pPr eaLnBrk="1" hangingPunct="1">
              <a:lnSpc>
                <a:spcPct val="90000"/>
              </a:lnSpc>
              <a:buNone/>
            </a:pPr>
            <a:r>
              <a:rPr lang="zh-CN" altLang="en-US" sz="2400" dirty="0"/>
              <a:t>     0   0   1   </a:t>
            </a:r>
            <a:r>
              <a:rPr lang="zh-CN" altLang="en-US" sz="2400" dirty="0">
                <a:solidFill>
                  <a:srgbClr val="800000"/>
                </a:solidFill>
              </a:rPr>
              <a:t> 0  </a:t>
            </a:r>
            <a:r>
              <a:rPr lang="zh-CN" altLang="en-US" sz="2400" dirty="0"/>
              <a:t>  </a:t>
            </a:r>
            <a:r>
              <a:rPr lang="zh-CN" altLang="en-US" sz="2400" dirty="0">
                <a:solidFill>
                  <a:srgbClr val="800000"/>
                </a:solidFill>
              </a:rPr>
              <a:t>0    0     </a:t>
            </a:r>
            <a:r>
              <a:rPr lang="zh-CN" altLang="en-US" sz="2400" dirty="0">
                <a:solidFill>
                  <a:srgbClr val="800000"/>
                </a:solidFill>
                <a:latin typeface="Tahoma" panose="020B0604030504040204" pitchFamily="34" charset="0"/>
              </a:rPr>
              <a:t>…………………</a:t>
            </a:r>
            <a:r>
              <a:rPr lang="zh-CN" altLang="en-US" sz="2400" dirty="0"/>
              <a:t>             </a:t>
            </a:r>
            <a:r>
              <a:rPr lang="zh-CN" altLang="en-US" sz="2400" dirty="0">
                <a:solidFill>
                  <a:srgbClr val="800000"/>
                </a:solidFill>
              </a:rPr>
              <a:t>0</a:t>
            </a:r>
            <a:endParaRPr lang="zh-CN" altLang="en-US" sz="2400" dirty="0">
              <a:solidFill>
                <a:srgbClr val="800000"/>
              </a:solidFill>
            </a:endParaRPr>
          </a:p>
          <a:p>
            <a:pPr eaLnBrk="1" hangingPunct="1">
              <a:lnSpc>
                <a:spcPct val="90000"/>
              </a:lnSpc>
              <a:buNone/>
            </a:pPr>
            <a:r>
              <a:rPr lang="zh-CN" altLang="en-US" sz="2400" dirty="0"/>
              <a:t>     0   0   1    </a:t>
            </a:r>
            <a:r>
              <a:rPr lang="zh-CN" altLang="en-US" sz="2400" dirty="0">
                <a:solidFill>
                  <a:srgbClr val="800000"/>
                </a:solidFill>
              </a:rPr>
              <a:t>1    1    1     </a:t>
            </a:r>
            <a:r>
              <a:rPr lang="zh-CN" altLang="en-US" sz="2400" dirty="0">
                <a:solidFill>
                  <a:srgbClr val="800000"/>
                </a:solidFill>
                <a:latin typeface="Tahoma" panose="020B0604030504040204" pitchFamily="34" charset="0"/>
              </a:rPr>
              <a:t>…………………</a:t>
            </a:r>
            <a:r>
              <a:rPr lang="zh-CN" altLang="en-US" sz="2400" dirty="0">
                <a:solidFill>
                  <a:srgbClr val="800000"/>
                </a:solidFill>
              </a:rPr>
              <a:t>             1</a:t>
            </a:r>
            <a:endParaRPr lang="zh-CN" altLang="en-US" sz="2400" dirty="0">
              <a:solidFill>
                <a:srgbClr val="800000"/>
              </a:solidFill>
            </a:endParaRPr>
          </a:p>
          <a:p>
            <a:pPr eaLnBrk="1" hangingPunct="1">
              <a:lnSpc>
                <a:spcPct val="90000"/>
              </a:lnSpc>
              <a:buNone/>
            </a:pPr>
            <a:r>
              <a:rPr lang="zh-CN" altLang="en-US" sz="2400" dirty="0"/>
              <a:t>     0   1   0    </a:t>
            </a:r>
            <a:r>
              <a:rPr lang="zh-CN" altLang="en-US" sz="2400" dirty="0">
                <a:solidFill>
                  <a:srgbClr val="800000"/>
                </a:solidFill>
              </a:rPr>
              <a:t>0    0    0     </a:t>
            </a:r>
            <a:r>
              <a:rPr lang="zh-CN" altLang="en-US" sz="2400" dirty="0">
                <a:solidFill>
                  <a:srgbClr val="800000"/>
                </a:solidFill>
                <a:latin typeface="Tahoma" panose="020B0604030504040204" pitchFamily="34" charset="0"/>
              </a:rPr>
              <a:t>…………………</a:t>
            </a:r>
            <a:r>
              <a:rPr lang="zh-CN" altLang="en-US" sz="2400" dirty="0">
                <a:solidFill>
                  <a:srgbClr val="800000"/>
                </a:solidFill>
              </a:rPr>
              <a:t>             0</a:t>
            </a:r>
            <a:endParaRPr lang="zh-CN" altLang="en-US" sz="2400" dirty="0">
              <a:solidFill>
                <a:srgbClr val="800000"/>
              </a:solidFill>
            </a:endParaRPr>
          </a:p>
          <a:p>
            <a:pPr eaLnBrk="1" hangingPunct="1">
              <a:lnSpc>
                <a:spcPct val="90000"/>
              </a:lnSpc>
              <a:buNone/>
            </a:pPr>
            <a:r>
              <a:rPr lang="zh-CN" altLang="en-US" sz="2400" dirty="0"/>
              <a:t>     0   1   0    </a:t>
            </a:r>
            <a:r>
              <a:rPr lang="zh-CN" altLang="en-US" sz="2400" dirty="0">
                <a:solidFill>
                  <a:srgbClr val="800000"/>
                </a:solidFill>
              </a:rPr>
              <a:t>1    1    1     </a:t>
            </a:r>
            <a:r>
              <a:rPr lang="zh-CN" altLang="en-US" sz="2400" dirty="0">
                <a:solidFill>
                  <a:srgbClr val="800000"/>
                </a:solidFill>
                <a:latin typeface="Tahoma" panose="020B0604030504040204" pitchFamily="34" charset="0"/>
              </a:rPr>
              <a:t>…………………</a:t>
            </a:r>
            <a:r>
              <a:rPr lang="zh-CN" altLang="en-US" sz="2400" dirty="0">
                <a:solidFill>
                  <a:srgbClr val="800000"/>
                </a:solidFill>
              </a:rPr>
              <a:t>             1</a:t>
            </a:r>
            <a:endParaRPr lang="zh-CN" altLang="en-US" sz="2400" dirty="0">
              <a:solidFill>
                <a:srgbClr val="800000"/>
              </a:solidFill>
            </a:endParaRPr>
          </a:p>
          <a:p>
            <a:pPr eaLnBrk="1" hangingPunct="1">
              <a:lnSpc>
                <a:spcPct val="90000"/>
              </a:lnSpc>
              <a:buNone/>
            </a:pPr>
            <a:r>
              <a:rPr lang="zh-CN" altLang="en-US" sz="2400" dirty="0"/>
              <a:t>     0   1   1    </a:t>
            </a:r>
            <a:r>
              <a:rPr lang="zh-CN" altLang="en-US" sz="2400" dirty="0">
                <a:solidFill>
                  <a:srgbClr val="800000"/>
                </a:solidFill>
              </a:rPr>
              <a:t>0    0    0     </a:t>
            </a:r>
            <a:r>
              <a:rPr lang="zh-CN" altLang="en-US" sz="2400" dirty="0">
                <a:solidFill>
                  <a:srgbClr val="800000"/>
                </a:solidFill>
                <a:latin typeface="Tahoma" panose="020B0604030504040204" pitchFamily="34" charset="0"/>
              </a:rPr>
              <a:t>…………………</a:t>
            </a:r>
            <a:r>
              <a:rPr lang="zh-CN" altLang="en-US" sz="2400" dirty="0">
                <a:solidFill>
                  <a:srgbClr val="800000"/>
                </a:solidFill>
              </a:rPr>
              <a:t>             0</a:t>
            </a:r>
            <a:endParaRPr lang="zh-CN" altLang="en-US" sz="2400" dirty="0">
              <a:solidFill>
                <a:srgbClr val="800000"/>
              </a:solidFill>
            </a:endParaRPr>
          </a:p>
          <a:p>
            <a:pPr eaLnBrk="1" hangingPunct="1">
              <a:lnSpc>
                <a:spcPct val="90000"/>
              </a:lnSpc>
              <a:buNone/>
            </a:pPr>
            <a:r>
              <a:rPr lang="zh-CN" altLang="en-US" sz="2400" dirty="0"/>
              <a:t>     0   1   1    </a:t>
            </a:r>
            <a:r>
              <a:rPr lang="zh-CN" altLang="en-US" sz="2400" dirty="0">
                <a:solidFill>
                  <a:srgbClr val="800000"/>
                </a:solidFill>
              </a:rPr>
              <a:t>1    1    1     </a:t>
            </a:r>
            <a:r>
              <a:rPr lang="zh-CN" altLang="en-US" sz="2400" dirty="0">
                <a:solidFill>
                  <a:srgbClr val="800000"/>
                </a:solidFill>
                <a:latin typeface="Tahoma" panose="020B0604030504040204" pitchFamily="34" charset="0"/>
              </a:rPr>
              <a:t>…………………</a:t>
            </a:r>
            <a:r>
              <a:rPr lang="zh-CN" altLang="en-US" sz="2400" dirty="0">
                <a:solidFill>
                  <a:srgbClr val="800000"/>
                </a:solidFill>
              </a:rPr>
              <a:t>             1</a:t>
            </a:r>
            <a:r>
              <a:rPr lang="zh-CN" altLang="en-US" dirty="0"/>
              <a:t>   </a:t>
            </a:r>
            <a:endParaRPr lang="zh-CN" altLang="en-US" dirty="0"/>
          </a:p>
          <a:p>
            <a:pPr eaLnBrk="1" hangingPunct="1">
              <a:lnSpc>
                <a:spcPct val="90000"/>
              </a:lnSpc>
              <a:buNone/>
            </a:pPr>
            <a:r>
              <a:rPr lang="zh-CN" altLang="en-US" dirty="0"/>
              <a:t>    </a:t>
            </a:r>
            <a:r>
              <a:rPr lang="zh-CN" altLang="en-US" dirty="0">
                <a:latin typeface="Tahoma" panose="020B0604030504040204" pitchFamily="34" charset="0"/>
              </a:rPr>
              <a:t>……</a:t>
            </a:r>
            <a:endParaRPr lang="zh-CN" altLang="en-US" dirty="0"/>
          </a:p>
          <a:p>
            <a:pPr eaLnBrk="1" hangingPunct="1">
              <a:lnSpc>
                <a:spcPct val="90000"/>
              </a:lnSpc>
              <a:buNone/>
            </a:pPr>
            <a:r>
              <a:rPr lang="zh-CN" altLang="en-US" sz="2400" dirty="0"/>
              <a:t>     1   1   1    1    1    </a:t>
            </a:r>
            <a:r>
              <a:rPr lang="zh-CN" altLang="en-US" sz="2400" dirty="0">
                <a:solidFill>
                  <a:srgbClr val="800000"/>
                </a:solidFill>
              </a:rPr>
              <a:t>0      </a:t>
            </a:r>
            <a:r>
              <a:rPr lang="zh-CN" altLang="en-US" sz="2400" dirty="0">
                <a:solidFill>
                  <a:srgbClr val="800000"/>
                </a:solidFill>
                <a:latin typeface="Tahoma" panose="020B0604030504040204" pitchFamily="34" charset="0"/>
              </a:rPr>
              <a:t>…………………</a:t>
            </a:r>
            <a:r>
              <a:rPr lang="zh-CN" altLang="en-US" sz="2400" dirty="0">
                <a:solidFill>
                  <a:srgbClr val="800000"/>
                </a:solidFill>
              </a:rPr>
              <a:t>            0</a:t>
            </a:r>
            <a:endParaRPr lang="zh-CN" altLang="en-US" sz="2400" dirty="0">
              <a:solidFill>
                <a:srgbClr val="800000"/>
              </a:solidFill>
            </a:endParaRPr>
          </a:p>
          <a:p>
            <a:pPr eaLnBrk="1" hangingPunct="1">
              <a:lnSpc>
                <a:spcPct val="90000"/>
              </a:lnSpc>
              <a:buNone/>
            </a:pPr>
            <a:r>
              <a:rPr lang="zh-CN" altLang="en-US" sz="2400" dirty="0"/>
              <a:t>     1   1   1    1    1    </a:t>
            </a:r>
            <a:r>
              <a:rPr lang="zh-CN" altLang="en-US" sz="2400" dirty="0">
                <a:solidFill>
                  <a:srgbClr val="800000"/>
                </a:solidFill>
              </a:rPr>
              <a:t>1      </a:t>
            </a:r>
            <a:r>
              <a:rPr lang="zh-CN" altLang="en-US" sz="2400" dirty="0">
                <a:solidFill>
                  <a:srgbClr val="800000"/>
                </a:solidFill>
                <a:latin typeface="Tahoma" panose="020B0604030504040204" pitchFamily="34" charset="0"/>
              </a:rPr>
              <a:t>…………………</a:t>
            </a:r>
            <a:r>
              <a:rPr lang="zh-CN" altLang="en-US" sz="2400" dirty="0">
                <a:solidFill>
                  <a:srgbClr val="800000"/>
                </a:solidFill>
              </a:rPr>
              <a:t>            1</a:t>
            </a:r>
            <a:endParaRPr lang="zh-CN" altLang="en-US" sz="2400" dirty="0">
              <a:solidFill>
                <a:srgbClr val="800000"/>
              </a:solidFill>
            </a:endParaRPr>
          </a:p>
        </p:txBody>
      </p:sp>
      <p:sp>
        <p:nvSpPr>
          <p:cNvPr id="102403" name="Line 3"/>
          <p:cNvSpPr/>
          <p:nvPr/>
        </p:nvSpPr>
        <p:spPr>
          <a:xfrm>
            <a:off x="533400" y="2514600"/>
            <a:ext cx="7315200" cy="0"/>
          </a:xfrm>
          <a:prstGeom prst="line">
            <a:avLst/>
          </a:prstGeom>
          <a:ln w="9525" cap="flat" cmpd="sng">
            <a:solidFill>
              <a:schemeClr val="tx1"/>
            </a:solidFill>
            <a:prstDash val="solid"/>
            <a:headEnd type="none" w="med" len="med"/>
            <a:tailEnd type="none" w="med" len="med"/>
          </a:ln>
        </p:spPr>
      </p:sp>
      <p:sp>
        <p:nvSpPr>
          <p:cNvPr id="102404" name="Line 4"/>
          <p:cNvSpPr/>
          <p:nvPr/>
        </p:nvSpPr>
        <p:spPr>
          <a:xfrm>
            <a:off x="533400" y="4114800"/>
            <a:ext cx="7315200" cy="0"/>
          </a:xfrm>
          <a:prstGeom prst="line">
            <a:avLst/>
          </a:prstGeom>
          <a:ln w="9525" cap="flat" cmpd="sng">
            <a:solidFill>
              <a:schemeClr val="tx1"/>
            </a:solidFill>
            <a:prstDash val="solid"/>
            <a:headEnd type="none" w="med" len="med"/>
            <a:tailEnd type="none" w="med" len="med"/>
          </a:ln>
        </p:spPr>
      </p:sp>
      <p:sp>
        <p:nvSpPr>
          <p:cNvPr id="102405" name="Line 5"/>
          <p:cNvSpPr/>
          <p:nvPr/>
        </p:nvSpPr>
        <p:spPr>
          <a:xfrm>
            <a:off x="533400" y="5181600"/>
            <a:ext cx="7315200" cy="0"/>
          </a:xfrm>
          <a:prstGeom prst="line">
            <a:avLst/>
          </a:prstGeom>
          <a:ln w="9525" cap="flat" cmpd="sng">
            <a:solidFill>
              <a:schemeClr val="tx1"/>
            </a:solidFill>
            <a:prstDash val="solid"/>
            <a:headEnd type="none" w="med" len="med"/>
            <a:tailEnd type="none" w="med" len="med"/>
          </a:ln>
        </p:spPr>
      </p:sp>
      <p:sp>
        <p:nvSpPr>
          <p:cNvPr id="102406" name="Text Box 6"/>
          <p:cNvSpPr txBox="1"/>
          <p:nvPr/>
        </p:nvSpPr>
        <p:spPr>
          <a:xfrm>
            <a:off x="6553200" y="1981200"/>
            <a:ext cx="2438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0000-----1FFF(</a:t>
            </a:r>
            <a:r>
              <a:rPr lang="zh-CN" altLang="en-US" sz="1600" dirty="0">
                <a:solidFill>
                  <a:schemeClr val="tx1"/>
                </a:solidFill>
                <a:latin typeface="Tahoma" panose="020B0604030504040204" pitchFamily="34" charset="0"/>
              </a:rPr>
              <a:t>8K</a:t>
            </a:r>
            <a:r>
              <a:rPr lang="zh-CN" altLang="en-US" sz="2400" dirty="0">
                <a:solidFill>
                  <a:schemeClr val="tx1"/>
                </a:solidFill>
                <a:latin typeface="Tahoma" panose="020B0604030504040204" pitchFamily="34" charset="0"/>
              </a:rPr>
              <a:t>) </a:t>
            </a:r>
            <a:endParaRPr lang="zh-CN" altLang="en-US" sz="2400" dirty="0">
              <a:solidFill>
                <a:schemeClr val="tx1"/>
              </a:solidFill>
              <a:latin typeface="Tahoma" panose="020B0604030504040204" pitchFamily="34" charset="0"/>
            </a:endParaRPr>
          </a:p>
        </p:txBody>
      </p:sp>
      <p:sp>
        <p:nvSpPr>
          <p:cNvPr id="102407" name="Text Box 7"/>
          <p:cNvSpPr txBox="1"/>
          <p:nvPr/>
        </p:nvSpPr>
        <p:spPr>
          <a:xfrm>
            <a:off x="6553200" y="3657600"/>
            <a:ext cx="2590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4000-----5FFF (</a:t>
            </a:r>
            <a:r>
              <a:rPr lang="zh-CN" altLang="en-US" sz="1600" dirty="0">
                <a:solidFill>
                  <a:schemeClr val="tx1"/>
                </a:solidFill>
                <a:latin typeface="Tahoma" panose="020B0604030504040204" pitchFamily="34" charset="0"/>
              </a:rPr>
              <a:t>8K</a:t>
            </a:r>
            <a:r>
              <a:rPr lang="zh-CN" altLang="en-US" sz="2400" dirty="0">
                <a:solidFill>
                  <a:schemeClr val="tx1"/>
                </a:solidFill>
                <a:latin typeface="Tahoma" panose="020B0604030504040204" pitchFamily="34" charset="0"/>
              </a:rPr>
              <a:t>) </a:t>
            </a:r>
            <a:endParaRPr lang="zh-CN" altLang="en-US" sz="2400" dirty="0">
              <a:solidFill>
                <a:schemeClr val="tx1"/>
              </a:solidFill>
              <a:latin typeface="Tahoma" panose="020B0604030504040204" pitchFamily="34" charset="0"/>
            </a:endParaRPr>
          </a:p>
        </p:txBody>
      </p:sp>
      <p:sp>
        <p:nvSpPr>
          <p:cNvPr id="102408" name="Text Box 8"/>
          <p:cNvSpPr txBox="1"/>
          <p:nvPr/>
        </p:nvSpPr>
        <p:spPr>
          <a:xfrm>
            <a:off x="6553200" y="4572000"/>
            <a:ext cx="2590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6000-----7FFF (</a:t>
            </a:r>
            <a:r>
              <a:rPr lang="zh-CN" altLang="en-US" sz="1600" dirty="0">
                <a:solidFill>
                  <a:schemeClr val="tx1"/>
                </a:solidFill>
                <a:latin typeface="Tahoma" panose="020B0604030504040204" pitchFamily="34" charset="0"/>
              </a:rPr>
              <a:t>8K</a:t>
            </a:r>
            <a:r>
              <a:rPr lang="zh-CN" altLang="en-US" sz="2400" dirty="0">
                <a:solidFill>
                  <a:schemeClr val="tx1"/>
                </a:solidFill>
                <a:latin typeface="Tahoma" panose="020B0604030504040204" pitchFamily="34" charset="0"/>
              </a:rPr>
              <a:t>) </a:t>
            </a:r>
            <a:endParaRPr lang="zh-CN" altLang="en-US" sz="2400" dirty="0">
              <a:solidFill>
                <a:schemeClr val="tx1"/>
              </a:solidFill>
              <a:latin typeface="Tahoma" panose="020B0604030504040204" pitchFamily="34" charset="0"/>
            </a:endParaRPr>
          </a:p>
        </p:txBody>
      </p:sp>
      <p:sp>
        <p:nvSpPr>
          <p:cNvPr id="102409" name="Text Box 9"/>
          <p:cNvSpPr txBox="1"/>
          <p:nvPr/>
        </p:nvSpPr>
        <p:spPr>
          <a:xfrm>
            <a:off x="6629400" y="5791200"/>
            <a:ext cx="2514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F800-----FFFF (</a:t>
            </a:r>
            <a:r>
              <a:rPr lang="zh-CN" altLang="en-US" sz="1600" dirty="0">
                <a:solidFill>
                  <a:schemeClr val="tx1"/>
                </a:solidFill>
                <a:latin typeface="Tahoma" panose="020B0604030504040204" pitchFamily="34" charset="0"/>
              </a:rPr>
              <a:t>2K</a:t>
            </a:r>
            <a:r>
              <a:rPr lang="zh-CN" altLang="en-US" sz="2400" dirty="0">
                <a:solidFill>
                  <a:schemeClr val="tx1"/>
                </a:solidFill>
                <a:latin typeface="Tahoma" panose="020B0604030504040204" pitchFamily="34" charset="0"/>
              </a:rPr>
              <a:t>) </a:t>
            </a:r>
            <a:endParaRPr lang="zh-CN" altLang="en-US" sz="2400" dirty="0">
              <a:solidFill>
                <a:schemeClr val="tx1"/>
              </a:solidFill>
              <a:latin typeface="Tahoma" panose="020B0604030504040204" pitchFamily="34" charset="0"/>
            </a:endParaRPr>
          </a:p>
        </p:txBody>
      </p:sp>
      <p:sp>
        <p:nvSpPr>
          <p:cNvPr id="102410" name="Line 10"/>
          <p:cNvSpPr/>
          <p:nvPr/>
        </p:nvSpPr>
        <p:spPr>
          <a:xfrm>
            <a:off x="533400" y="3352800"/>
            <a:ext cx="7315200" cy="0"/>
          </a:xfrm>
          <a:prstGeom prst="line">
            <a:avLst/>
          </a:prstGeom>
          <a:ln w="9525" cap="flat" cmpd="sng">
            <a:solidFill>
              <a:schemeClr val="tx1"/>
            </a:solidFill>
            <a:prstDash val="solid"/>
            <a:headEnd type="none" w="med" len="med"/>
            <a:tailEnd type="none" w="med" len="med"/>
          </a:ln>
        </p:spPr>
      </p:sp>
      <p:sp>
        <p:nvSpPr>
          <p:cNvPr id="102411" name="Text Box 11"/>
          <p:cNvSpPr txBox="1"/>
          <p:nvPr/>
        </p:nvSpPr>
        <p:spPr>
          <a:xfrm>
            <a:off x="6553200" y="2743200"/>
            <a:ext cx="2590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2000-----3FFF (</a:t>
            </a:r>
            <a:r>
              <a:rPr lang="zh-CN" altLang="en-US" sz="1600" dirty="0">
                <a:solidFill>
                  <a:schemeClr val="tx1"/>
                </a:solidFill>
                <a:latin typeface="Tahoma" panose="020B0604030504040204" pitchFamily="34" charset="0"/>
              </a:rPr>
              <a:t>8K</a:t>
            </a:r>
            <a:r>
              <a:rPr lang="zh-CN" altLang="en-US" sz="2400" dirty="0">
                <a:solidFill>
                  <a:schemeClr val="tx1"/>
                </a:solidFill>
                <a:latin typeface="Tahoma" panose="020B0604030504040204" pitchFamily="34" charset="0"/>
              </a:rPr>
              <a:t>) </a:t>
            </a:r>
            <a:endParaRPr lang="zh-CN" altLang="en-US" sz="2400" dirty="0">
              <a:solidFill>
                <a:schemeClr val="tx1"/>
              </a:solidFill>
              <a:latin typeface="Tahoma" panose="020B0604030504040204" pitchFamily="34" charset="0"/>
            </a:endParaRPr>
          </a:p>
        </p:txBody>
      </p:sp>
      <p:sp>
        <p:nvSpPr>
          <p:cNvPr id="102412" name="Line 12"/>
          <p:cNvSpPr/>
          <p:nvPr/>
        </p:nvSpPr>
        <p:spPr>
          <a:xfrm>
            <a:off x="533400" y="5562600"/>
            <a:ext cx="7315200"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p:nvPr>
            <p:ph type="title" idx="4294967295"/>
          </p:nvPr>
        </p:nvSpPr>
        <p:spPr>
          <a:xfrm>
            <a:off x="685800" y="990600"/>
            <a:ext cx="7772400" cy="7620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只读存储器和闪速存储器——</a:t>
            </a:r>
            <a:r>
              <a:rPr lang="zh-CN" altLang="en-US" sz="2400" dirty="0"/>
              <a:t>只读存储器</a:t>
            </a:r>
            <a:endParaRPr lang="zh-CN" altLang="en-US" sz="2400" dirty="0"/>
          </a:p>
        </p:txBody>
      </p:sp>
      <p:sp>
        <p:nvSpPr>
          <p:cNvPr id="103427" name="Rectangle 3"/>
          <p:cNvSpPr>
            <a:spLocks noGrp="1"/>
          </p:cNvSpPr>
          <p:nvPr>
            <p:ph type="body" idx="4294967295"/>
          </p:nvPr>
        </p:nvSpPr>
        <p:spPr>
          <a:xfrm>
            <a:off x="685800" y="1981200"/>
            <a:ext cx="7772400" cy="2743200"/>
          </a:xfrm>
          <a:ln/>
        </p:spPr>
        <p:txBody>
          <a:bodyPr vert="horz" wrap="square" lIns="91440" tIns="45720" rIns="91440" bIns="45720" anchor="t" anchorCtr="0"/>
          <a:p>
            <a:pPr eaLnBrk="1" hangingPunct="1">
              <a:buNone/>
            </a:pPr>
            <a:r>
              <a:rPr lang="zh-CN" altLang="en-US" dirty="0">
                <a:solidFill>
                  <a:schemeClr val="tx1"/>
                </a:solidFill>
                <a:ea typeface="华文新魏" panose="02010800040101010101" pitchFamily="2" charset="-122"/>
              </a:rPr>
              <a:t>根据条件选用</a:t>
            </a:r>
            <a:endParaRPr lang="zh-CN" altLang="en-US" dirty="0">
              <a:solidFill>
                <a:schemeClr val="tx1"/>
              </a:solidFill>
              <a:ea typeface="华文新魏" panose="02010800040101010101" pitchFamily="2" charset="-122"/>
            </a:endParaRPr>
          </a:p>
          <a:p>
            <a:pPr eaLnBrk="1" hangingPunct="1">
              <a:buNone/>
            </a:pPr>
            <a:r>
              <a:rPr lang="zh-CN" altLang="en-US" dirty="0"/>
              <a:t>ROM：8k*8位，1片</a:t>
            </a:r>
            <a:endParaRPr lang="zh-CN" altLang="en-US" dirty="0"/>
          </a:p>
          <a:p>
            <a:pPr eaLnBrk="1" hangingPunct="1">
              <a:buNone/>
            </a:pPr>
            <a:r>
              <a:rPr lang="zh-CN" altLang="en-US" dirty="0"/>
              <a:t>RAM：8K*8，3片，2K*8 ，1片</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4450" name="Rectangle 2"/>
          <p:cNvSpPr/>
          <p:nvPr>
            <p:ph type="title" idx="4294967295"/>
          </p:nvPr>
        </p:nvSpPr>
        <p:spPr>
          <a:xfrm>
            <a:off x="762000" y="457200"/>
            <a:ext cx="7772400" cy="685800"/>
          </a:xfrm>
          <a:prstGeom prst="rect">
            <a:avLst/>
          </a:prstGeom>
          <a:noFill/>
          <a:ln w="9525">
            <a:noFill/>
          </a:ln>
        </p:spPr>
        <p:txBody>
          <a:bodyPr/>
          <a:p>
            <a:pPr eaLnBrk="1" hangingPunct="1"/>
            <a:r>
              <a:rPr lang="zh-CN" altLang="en-US" dirty="0"/>
              <a:t>只读存储器和闪速存储器——</a:t>
            </a:r>
            <a:r>
              <a:rPr lang="zh-CN" altLang="en-US" sz="2000" dirty="0"/>
              <a:t>只读存储器</a:t>
            </a:r>
            <a:endParaRPr lang="zh-CN" altLang="en-US" dirty="0"/>
          </a:p>
        </p:txBody>
      </p:sp>
      <p:grpSp>
        <p:nvGrpSpPr>
          <p:cNvPr id="104451" name="Group 3"/>
          <p:cNvGrpSpPr/>
          <p:nvPr/>
        </p:nvGrpSpPr>
        <p:grpSpPr>
          <a:xfrm>
            <a:off x="152400" y="1219200"/>
            <a:ext cx="8763000" cy="5105400"/>
            <a:chOff x="0" y="0"/>
            <a:chExt cx="5520" cy="3216"/>
          </a:xfrm>
        </p:grpSpPr>
        <p:sp>
          <p:nvSpPr>
            <p:cNvPr id="104452" name="AutoShape 4"/>
            <p:cNvSpPr/>
            <p:nvPr/>
          </p:nvSpPr>
          <p:spPr>
            <a:xfrm>
              <a:off x="991" y="390"/>
              <a:ext cx="613" cy="828"/>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7</a:t>
              </a:r>
              <a:r>
                <a:rPr lang="zh-CN" altLang="en-US" sz="1600" dirty="0">
                  <a:solidFill>
                    <a:schemeClr val="tx1"/>
                  </a:solidFill>
                  <a:latin typeface="Tahoma" panose="020B0604030504040204" pitchFamily="34" charset="0"/>
                </a:rPr>
                <a:t>   D</a:t>
              </a:r>
              <a:r>
                <a:rPr lang="zh-CN" altLang="en-US" sz="1600" baseline="-25000" dirty="0">
                  <a:solidFill>
                    <a:schemeClr val="tx1"/>
                  </a:solidFill>
                  <a:latin typeface="Tahoma" panose="020B0604030504040204" pitchFamily="34" charset="0"/>
                </a:rPr>
                <a:t>0</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EPROM</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12</a:t>
              </a:r>
              <a:endParaRPr lang="zh-CN" altLang="en-US" sz="1600" baseline="-25000" dirty="0">
                <a:solidFill>
                  <a:schemeClr val="tx1"/>
                </a:solidFill>
                <a:latin typeface="Tahoma" panose="020B0604030504040204" pitchFamily="34" charset="0"/>
              </a:endParaRPr>
            </a:p>
          </p:txBody>
        </p:sp>
        <p:sp>
          <p:nvSpPr>
            <p:cNvPr id="104453" name="AutoShape 5"/>
            <p:cNvSpPr/>
            <p:nvPr/>
          </p:nvSpPr>
          <p:spPr>
            <a:xfrm>
              <a:off x="1887" y="390"/>
              <a:ext cx="614" cy="828"/>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7</a:t>
              </a:r>
              <a:r>
                <a:rPr lang="zh-CN" altLang="en-US" sz="1600" dirty="0">
                  <a:solidFill>
                    <a:schemeClr val="tx1"/>
                  </a:solidFill>
                  <a:latin typeface="Tahoma" panose="020B0604030504040204" pitchFamily="34" charset="0"/>
                </a:rPr>
                <a:t>   D</a:t>
              </a:r>
              <a:r>
                <a:rPr lang="zh-CN" altLang="en-US" sz="1600" baseline="-25000" dirty="0">
                  <a:solidFill>
                    <a:schemeClr val="tx1"/>
                  </a:solidFill>
                  <a:latin typeface="Tahoma" panose="020B0604030504040204" pitchFamily="34" charset="0"/>
                </a:rPr>
                <a:t>0</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SRAM</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12</a:t>
              </a:r>
              <a:endParaRPr lang="zh-CN" altLang="en-US" sz="1600" baseline="-25000" dirty="0">
                <a:solidFill>
                  <a:schemeClr val="tx1"/>
                </a:solidFill>
                <a:latin typeface="Tahoma" panose="020B0604030504040204" pitchFamily="34" charset="0"/>
              </a:endParaRPr>
            </a:p>
          </p:txBody>
        </p:sp>
        <p:sp>
          <p:nvSpPr>
            <p:cNvPr id="104454" name="AutoShape 6"/>
            <p:cNvSpPr/>
            <p:nvPr/>
          </p:nvSpPr>
          <p:spPr>
            <a:xfrm>
              <a:off x="2878" y="390"/>
              <a:ext cx="613" cy="828"/>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7</a:t>
              </a:r>
              <a:r>
                <a:rPr lang="zh-CN" altLang="en-US" sz="1600" dirty="0">
                  <a:solidFill>
                    <a:schemeClr val="tx1"/>
                  </a:solidFill>
                  <a:latin typeface="Tahoma" panose="020B0604030504040204" pitchFamily="34" charset="0"/>
                </a:rPr>
                <a:t>   D</a:t>
              </a:r>
              <a:r>
                <a:rPr lang="zh-CN" altLang="en-US" sz="1600" baseline="-25000" dirty="0">
                  <a:solidFill>
                    <a:schemeClr val="tx1"/>
                  </a:solidFill>
                  <a:latin typeface="Tahoma" panose="020B0604030504040204" pitchFamily="34" charset="0"/>
                </a:rPr>
                <a:t>0</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SRAM</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12</a:t>
              </a:r>
              <a:endParaRPr lang="zh-CN" altLang="en-US" sz="1600" baseline="-25000" dirty="0">
                <a:solidFill>
                  <a:schemeClr val="tx1"/>
                </a:solidFill>
                <a:latin typeface="Tahoma" panose="020B0604030504040204" pitchFamily="34" charset="0"/>
              </a:endParaRPr>
            </a:p>
          </p:txBody>
        </p:sp>
        <p:sp>
          <p:nvSpPr>
            <p:cNvPr id="104455" name="AutoShape 7"/>
            <p:cNvSpPr/>
            <p:nvPr/>
          </p:nvSpPr>
          <p:spPr>
            <a:xfrm>
              <a:off x="3774" y="390"/>
              <a:ext cx="614" cy="828"/>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7</a:t>
              </a:r>
              <a:r>
                <a:rPr lang="zh-CN" altLang="en-US" sz="1600" dirty="0">
                  <a:solidFill>
                    <a:schemeClr val="tx1"/>
                  </a:solidFill>
                  <a:latin typeface="Tahoma" panose="020B0604030504040204" pitchFamily="34" charset="0"/>
                </a:rPr>
                <a:t>   D</a:t>
              </a:r>
              <a:r>
                <a:rPr lang="zh-CN" altLang="en-US" sz="1600" baseline="-25000" dirty="0">
                  <a:solidFill>
                    <a:schemeClr val="tx1"/>
                  </a:solidFill>
                  <a:latin typeface="Tahoma" panose="020B0604030504040204" pitchFamily="34" charset="0"/>
                </a:rPr>
                <a:t>0</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SRAM</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12</a:t>
              </a:r>
              <a:endParaRPr lang="zh-CN" altLang="en-US" sz="1600" baseline="-25000" dirty="0">
                <a:solidFill>
                  <a:schemeClr val="tx1"/>
                </a:solidFill>
                <a:latin typeface="Tahoma" panose="020B0604030504040204" pitchFamily="34" charset="0"/>
              </a:endParaRPr>
            </a:p>
          </p:txBody>
        </p:sp>
        <p:sp>
          <p:nvSpPr>
            <p:cNvPr id="104456" name="AutoShape 8"/>
            <p:cNvSpPr/>
            <p:nvPr/>
          </p:nvSpPr>
          <p:spPr>
            <a:xfrm>
              <a:off x="4671" y="390"/>
              <a:ext cx="613" cy="828"/>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600" dirty="0">
                  <a:solidFill>
                    <a:schemeClr val="tx1"/>
                  </a:solidFill>
                  <a:latin typeface="Tahoma" panose="020B0604030504040204" pitchFamily="34" charset="0"/>
                </a:rPr>
                <a:t>D</a:t>
              </a:r>
              <a:r>
                <a:rPr lang="zh-CN" altLang="en-US" sz="1600" baseline="-25000" dirty="0">
                  <a:solidFill>
                    <a:schemeClr val="tx1"/>
                  </a:solidFill>
                  <a:latin typeface="Tahoma" panose="020B0604030504040204" pitchFamily="34" charset="0"/>
                </a:rPr>
                <a:t>7</a:t>
              </a:r>
              <a:r>
                <a:rPr lang="zh-CN" altLang="en-US" sz="1600" dirty="0">
                  <a:solidFill>
                    <a:schemeClr val="tx1"/>
                  </a:solidFill>
                  <a:latin typeface="Tahoma" panose="020B0604030504040204" pitchFamily="34" charset="0"/>
                </a:rPr>
                <a:t>   D</a:t>
              </a:r>
              <a:r>
                <a:rPr lang="zh-CN" altLang="en-US" sz="1600" baseline="-25000" dirty="0">
                  <a:solidFill>
                    <a:schemeClr val="tx1"/>
                  </a:solidFill>
                  <a:latin typeface="Tahoma" panose="020B0604030504040204" pitchFamily="34" charset="0"/>
                </a:rPr>
                <a:t>0</a:t>
              </a:r>
              <a:endParaRPr lang="zh-CN" altLang="en-US" sz="1600" baseline="-250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SRAM</a:t>
              </a:r>
              <a:endParaRPr lang="zh-CN" altLang="en-US" sz="1600" dirty="0">
                <a:solidFill>
                  <a:schemeClr val="tx1"/>
                </a:solidFill>
                <a:latin typeface="Tahoma" panose="020B0604030504040204" pitchFamily="34" charset="0"/>
              </a:endParaRPr>
            </a:p>
            <a:p>
              <a:pPr marL="0" lvl="0" indent="0" algn="ctr" eaLnBrk="1" hangingPunct="1">
                <a:spcBef>
                  <a:spcPct val="0"/>
                </a:spcBef>
                <a:buNone/>
              </a:pPr>
              <a:endParaRPr lang="zh-CN" altLang="en-US" sz="1600" dirty="0">
                <a:solidFill>
                  <a:schemeClr val="tx1"/>
                </a:solidFill>
                <a:latin typeface="Tahoma" panose="020B0604030504040204" pitchFamily="34" charset="0"/>
              </a:endParaRPr>
            </a:p>
            <a:p>
              <a:pPr marL="0" lvl="0" indent="0" algn="ctr" eaLnBrk="1" hangingPunct="1">
                <a:spcBef>
                  <a:spcPct val="0"/>
                </a:spcBef>
                <a:buNone/>
              </a:pPr>
              <a:r>
                <a:rPr lang="zh-CN" altLang="en-US" sz="1600" dirty="0">
                  <a:solidFill>
                    <a:schemeClr val="tx1"/>
                  </a:solidFill>
                  <a:latin typeface="Tahoma" panose="020B0604030504040204" pitchFamily="34" charset="0"/>
                </a:rPr>
                <a:t>A</a:t>
              </a:r>
              <a:r>
                <a:rPr lang="zh-CN" altLang="en-US" sz="1600" baseline="-25000" dirty="0">
                  <a:solidFill>
                    <a:schemeClr val="tx1"/>
                  </a:solidFill>
                  <a:latin typeface="Tahoma" panose="020B0604030504040204" pitchFamily="34" charset="0"/>
                </a:rPr>
                <a:t>0</a:t>
              </a:r>
              <a:r>
                <a:rPr lang="zh-CN" altLang="en-US" sz="1600" dirty="0">
                  <a:solidFill>
                    <a:schemeClr val="tx1"/>
                  </a:solidFill>
                  <a:latin typeface="Tahoma" panose="020B0604030504040204" pitchFamily="34" charset="0"/>
                </a:rPr>
                <a:t>   A</a:t>
              </a:r>
              <a:r>
                <a:rPr lang="zh-CN" altLang="en-US" sz="1600" baseline="-25000" dirty="0">
                  <a:solidFill>
                    <a:schemeClr val="tx1"/>
                  </a:solidFill>
                  <a:latin typeface="Tahoma" panose="020B0604030504040204" pitchFamily="34" charset="0"/>
                </a:rPr>
                <a:t>10</a:t>
              </a:r>
              <a:endParaRPr lang="zh-CN" altLang="en-US" sz="1600" baseline="-25000" dirty="0">
                <a:solidFill>
                  <a:schemeClr val="tx1"/>
                </a:solidFill>
                <a:latin typeface="Tahoma" panose="020B0604030504040204" pitchFamily="34" charset="0"/>
              </a:endParaRPr>
            </a:p>
          </p:txBody>
        </p:sp>
        <p:sp>
          <p:nvSpPr>
            <p:cNvPr id="104457" name="AutoShape 9"/>
            <p:cNvSpPr/>
            <p:nvPr/>
          </p:nvSpPr>
          <p:spPr>
            <a:xfrm>
              <a:off x="0" y="0"/>
              <a:ext cx="519" cy="2971"/>
            </a:xfrm>
            <a:prstGeom prst="flowChartProcess">
              <a:avLst/>
            </a:prstGeom>
            <a:solidFill>
              <a:srgbClr val="FF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CPU</a:t>
              </a:r>
              <a:endParaRPr lang="zh-CN" altLang="en-US" sz="2400" dirty="0">
                <a:solidFill>
                  <a:schemeClr val="tx1"/>
                </a:solidFill>
                <a:latin typeface="Tahoma" panose="020B0604030504040204" pitchFamily="34" charset="0"/>
              </a:endParaRPr>
            </a:p>
          </p:txBody>
        </p:sp>
        <p:sp>
          <p:nvSpPr>
            <p:cNvPr id="104458" name="Text Box 10"/>
            <p:cNvSpPr txBox="1"/>
            <p:nvPr/>
          </p:nvSpPr>
          <p:spPr>
            <a:xfrm>
              <a:off x="283" y="0"/>
              <a:ext cx="2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D</a:t>
              </a:r>
              <a:r>
                <a:rPr lang="zh-CN" altLang="en-US" sz="1400" baseline="-25000" dirty="0">
                  <a:solidFill>
                    <a:schemeClr val="tx1"/>
                  </a:solidFill>
                  <a:latin typeface="Tahoma" panose="020B0604030504040204" pitchFamily="34" charset="0"/>
                </a:rPr>
                <a:t>0</a:t>
              </a:r>
              <a:endParaRPr lang="zh-CN" altLang="en-US" sz="1400" baseline="-25000" dirty="0">
                <a:solidFill>
                  <a:schemeClr val="tx1"/>
                </a:solidFill>
                <a:latin typeface="Tahoma" panose="020B0604030504040204" pitchFamily="34" charset="0"/>
              </a:endParaRPr>
            </a:p>
          </p:txBody>
        </p:sp>
        <p:sp>
          <p:nvSpPr>
            <p:cNvPr id="104459" name="Text Box 11"/>
            <p:cNvSpPr txBox="1"/>
            <p:nvPr/>
          </p:nvSpPr>
          <p:spPr>
            <a:xfrm>
              <a:off x="283" y="195"/>
              <a:ext cx="2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D</a:t>
              </a:r>
              <a:r>
                <a:rPr lang="zh-CN" altLang="en-US" sz="1400" baseline="-25000" dirty="0">
                  <a:solidFill>
                    <a:schemeClr val="tx1"/>
                  </a:solidFill>
                  <a:latin typeface="Tahoma" panose="020B0604030504040204" pitchFamily="34" charset="0"/>
                </a:rPr>
                <a:t>7</a:t>
              </a:r>
              <a:endParaRPr lang="zh-CN" altLang="en-US" sz="1400" baseline="-25000" dirty="0">
                <a:solidFill>
                  <a:schemeClr val="tx1"/>
                </a:solidFill>
                <a:latin typeface="Tahoma" panose="020B0604030504040204" pitchFamily="34" charset="0"/>
              </a:endParaRPr>
            </a:p>
          </p:txBody>
        </p:sp>
        <p:sp>
          <p:nvSpPr>
            <p:cNvPr id="104460" name="Text Box 12"/>
            <p:cNvSpPr txBox="1"/>
            <p:nvPr/>
          </p:nvSpPr>
          <p:spPr>
            <a:xfrm>
              <a:off x="190" y="1218"/>
              <a:ext cx="38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R/W</a:t>
              </a:r>
              <a:endParaRPr lang="zh-CN" altLang="en-US" sz="1400" baseline="-25000" dirty="0">
                <a:solidFill>
                  <a:schemeClr val="tx1"/>
                </a:solidFill>
                <a:latin typeface="Tahoma" panose="020B0604030504040204" pitchFamily="34" charset="0"/>
              </a:endParaRPr>
            </a:p>
          </p:txBody>
        </p:sp>
        <p:sp>
          <p:nvSpPr>
            <p:cNvPr id="104461" name="Text Box 13"/>
            <p:cNvSpPr txBox="1"/>
            <p:nvPr/>
          </p:nvSpPr>
          <p:spPr>
            <a:xfrm>
              <a:off x="283" y="1559"/>
              <a:ext cx="2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a:t>
              </a:r>
              <a:r>
                <a:rPr lang="zh-CN" altLang="en-US" sz="1400" baseline="-25000" dirty="0">
                  <a:solidFill>
                    <a:schemeClr val="tx1"/>
                  </a:solidFill>
                  <a:latin typeface="Tahoma" panose="020B0604030504040204" pitchFamily="34" charset="0"/>
                </a:rPr>
                <a:t>0</a:t>
              </a:r>
              <a:endParaRPr lang="zh-CN" altLang="en-US" sz="1400" baseline="-25000" dirty="0">
                <a:solidFill>
                  <a:schemeClr val="tx1"/>
                </a:solidFill>
                <a:latin typeface="Tahoma" panose="020B0604030504040204" pitchFamily="34" charset="0"/>
              </a:endParaRPr>
            </a:p>
          </p:txBody>
        </p:sp>
        <p:sp>
          <p:nvSpPr>
            <p:cNvPr id="104462" name="Text Box 14"/>
            <p:cNvSpPr txBox="1"/>
            <p:nvPr/>
          </p:nvSpPr>
          <p:spPr>
            <a:xfrm>
              <a:off x="283" y="1656"/>
              <a:ext cx="283"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a:t>
              </a:r>
              <a:r>
                <a:rPr lang="zh-CN" altLang="en-US" sz="1400" baseline="-25000" dirty="0">
                  <a:solidFill>
                    <a:schemeClr val="tx1"/>
                  </a:solidFill>
                  <a:latin typeface="Tahoma" panose="020B0604030504040204" pitchFamily="34" charset="0"/>
                </a:rPr>
                <a:t>10</a:t>
              </a:r>
              <a:endParaRPr lang="zh-CN" altLang="en-US" sz="1400" baseline="-25000" dirty="0">
                <a:solidFill>
                  <a:schemeClr val="tx1"/>
                </a:solidFill>
                <a:latin typeface="Tahoma" panose="020B0604030504040204" pitchFamily="34" charset="0"/>
              </a:endParaRPr>
            </a:p>
          </p:txBody>
        </p:sp>
        <p:sp>
          <p:nvSpPr>
            <p:cNvPr id="104463" name="Text Box 15"/>
            <p:cNvSpPr txBox="1"/>
            <p:nvPr/>
          </p:nvSpPr>
          <p:spPr>
            <a:xfrm>
              <a:off x="283" y="1754"/>
              <a:ext cx="283"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a:t>
              </a:r>
              <a:r>
                <a:rPr lang="zh-CN" altLang="en-US" sz="1400" baseline="-25000" dirty="0">
                  <a:solidFill>
                    <a:schemeClr val="tx1"/>
                  </a:solidFill>
                  <a:latin typeface="Tahoma" panose="020B0604030504040204" pitchFamily="34" charset="0"/>
                </a:rPr>
                <a:t>11</a:t>
              </a:r>
              <a:endParaRPr lang="zh-CN" altLang="en-US" sz="1400" baseline="-25000" dirty="0">
                <a:solidFill>
                  <a:schemeClr val="tx1"/>
                </a:solidFill>
                <a:latin typeface="Tahoma" panose="020B0604030504040204" pitchFamily="34" charset="0"/>
              </a:endParaRPr>
            </a:p>
          </p:txBody>
        </p:sp>
        <p:sp>
          <p:nvSpPr>
            <p:cNvPr id="104464" name="Text Box 16"/>
            <p:cNvSpPr txBox="1"/>
            <p:nvPr/>
          </p:nvSpPr>
          <p:spPr>
            <a:xfrm>
              <a:off x="283" y="1851"/>
              <a:ext cx="283"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a:t>
              </a:r>
              <a:r>
                <a:rPr lang="zh-CN" altLang="en-US" sz="1400" baseline="-25000" dirty="0">
                  <a:solidFill>
                    <a:schemeClr val="tx1"/>
                  </a:solidFill>
                  <a:latin typeface="Tahoma" panose="020B0604030504040204" pitchFamily="34" charset="0"/>
                </a:rPr>
                <a:t>12</a:t>
              </a:r>
              <a:endParaRPr lang="zh-CN" altLang="en-US" sz="1400" baseline="-25000" dirty="0">
                <a:solidFill>
                  <a:schemeClr val="tx1"/>
                </a:solidFill>
                <a:latin typeface="Tahoma" panose="020B0604030504040204" pitchFamily="34" charset="0"/>
              </a:endParaRPr>
            </a:p>
          </p:txBody>
        </p:sp>
        <p:sp>
          <p:nvSpPr>
            <p:cNvPr id="104465" name="Text Box 17"/>
            <p:cNvSpPr txBox="1"/>
            <p:nvPr/>
          </p:nvSpPr>
          <p:spPr>
            <a:xfrm>
              <a:off x="283" y="1997"/>
              <a:ext cx="283"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a:t>
              </a:r>
              <a:r>
                <a:rPr lang="zh-CN" altLang="en-US" sz="1400" baseline="-25000" dirty="0">
                  <a:solidFill>
                    <a:schemeClr val="tx1"/>
                  </a:solidFill>
                  <a:latin typeface="Tahoma" panose="020B0604030504040204" pitchFamily="34" charset="0"/>
                </a:rPr>
                <a:t>13</a:t>
              </a:r>
              <a:endParaRPr lang="zh-CN" altLang="en-US" sz="1400" baseline="-25000" dirty="0">
                <a:solidFill>
                  <a:schemeClr val="tx1"/>
                </a:solidFill>
                <a:latin typeface="Tahoma" panose="020B0604030504040204" pitchFamily="34" charset="0"/>
              </a:endParaRPr>
            </a:p>
          </p:txBody>
        </p:sp>
        <p:sp>
          <p:nvSpPr>
            <p:cNvPr id="104466" name="Text Box 18"/>
            <p:cNvSpPr txBox="1"/>
            <p:nvPr/>
          </p:nvSpPr>
          <p:spPr>
            <a:xfrm>
              <a:off x="283" y="2095"/>
              <a:ext cx="283"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a:t>
              </a:r>
              <a:r>
                <a:rPr lang="zh-CN" altLang="en-US" sz="1400" baseline="-25000" dirty="0">
                  <a:solidFill>
                    <a:schemeClr val="tx1"/>
                  </a:solidFill>
                  <a:latin typeface="Tahoma" panose="020B0604030504040204" pitchFamily="34" charset="0"/>
                </a:rPr>
                <a:t>14</a:t>
              </a:r>
              <a:endParaRPr lang="zh-CN" altLang="en-US" sz="1400" baseline="-25000" dirty="0">
                <a:solidFill>
                  <a:schemeClr val="tx1"/>
                </a:solidFill>
                <a:latin typeface="Tahoma" panose="020B0604030504040204" pitchFamily="34" charset="0"/>
              </a:endParaRPr>
            </a:p>
          </p:txBody>
        </p:sp>
        <p:sp>
          <p:nvSpPr>
            <p:cNvPr id="104467" name="Text Box 19"/>
            <p:cNvSpPr txBox="1"/>
            <p:nvPr/>
          </p:nvSpPr>
          <p:spPr>
            <a:xfrm>
              <a:off x="283" y="2242"/>
              <a:ext cx="283"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a:t>
              </a:r>
              <a:r>
                <a:rPr lang="zh-CN" altLang="en-US" sz="1400" baseline="-25000" dirty="0">
                  <a:solidFill>
                    <a:schemeClr val="tx1"/>
                  </a:solidFill>
                  <a:latin typeface="Tahoma" panose="020B0604030504040204" pitchFamily="34" charset="0"/>
                </a:rPr>
                <a:t>15</a:t>
              </a:r>
              <a:endParaRPr lang="zh-CN" altLang="en-US" sz="1400" baseline="-25000" dirty="0">
                <a:solidFill>
                  <a:schemeClr val="tx1"/>
                </a:solidFill>
                <a:latin typeface="Tahoma" panose="020B0604030504040204" pitchFamily="34" charset="0"/>
              </a:endParaRPr>
            </a:p>
          </p:txBody>
        </p:sp>
        <p:sp>
          <p:nvSpPr>
            <p:cNvPr id="104468" name="Text Box 20"/>
            <p:cNvSpPr txBox="1"/>
            <p:nvPr/>
          </p:nvSpPr>
          <p:spPr>
            <a:xfrm>
              <a:off x="94" y="2679"/>
              <a:ext cx="425"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MREQ</a:t>
              </a:r>
              <a:endParaRPr lang="zh-CN" altLang="en-US" sz="1400" baseline="-25000" dirty="0">
                <a:solidFill>
                  <a:schemeClr val="tx1"/>
                </a:solidFill>
                <a:latin typeface="Tahoma" panose="020B0604030504040204" pitchFamily="34" charset="0"/>
              </a:endParaRPr>
            </a:p>
          </p:txBody>
        </p:sp>
        <p:sp>
          <p:nvSpPr>
            <p:cNvPr id="104469" name="Line 21"/>
            <p:cNvSpPr/>
            <p:nvPr/>
          </p:nvSpPr>
          <p:spPr>
            <a:xfrm>
              <a:off x="519" y="97"/>
              <a:ext cx="4812" cy="1"/>
            </a:xfrm>
            <a:prstGeom prst="line">
              <a:avLst/>
            </a:prstGeom>
            <a:ln w="28575" cap="flat" cmpd="sng">
              <a:solidFill>
                <a:schemeClr val="folHlink"/>
              </a:solidFill>
              <a:prstDash val="solid"/>
              <a:headEnd type="none" w="med" len="med"/>
              <a:tailEnd type="none" w="med" len="med"/>
            </a:ln>
          </p:spPr>
        </p:sp>
        <p:sp>
          <p:nvSpPr>
            <p:cNvPr id="104470" name="Line 22"/>
            <p:cNvSpPr/>
            <p:nvPr/>
          </p:nvSpPr>
          <p:spPr>
            <a:xfrm>
              <a:off x="519" y="244"/>
              <a:ext cx="4859" cy="1"/>
            </a:xfrm>
            <a:prstGeom prst="line">
              <a:avLst/>
            </a:prstGeom>
            <a:ln w="28575" cap="flat" cmpd="sng">
              <a:solidFill>
                <a:schemeClr val="folHlink"/>
              </a:solidFill>
              <a:prstDash val="solid"/>
              <a:headEnd type="none" w="med" len="med"/>
              <a:tailEnd type="none" w="med" len="med"/>
            </a:ln>
          </p:spPr>
        </p:sp>
        <p:sp>
          <p:nvSpPr>
            <p:cNvPr id="104471" name="Line 23"/>
            <p:cNvSpPr/>
            <p:nvPr/>
          </p:nvSpPr>
          <p:spPr>
            <a:xfrm>
              <a:off x="1132" y="244"/>
              <a:ext cx="1" cy="146"/>
            </a:xfrm>
            <a:prstGeom prst="line">
              <a:avLst/>
            </a:prstGeom>
            <a:ln w="28575" cap="flat" cmpd="sng">
              <a:solidFill>
                <a:schemeClr val="folHlink"/>
              </a:solidFill>
              <a:prstDash val="solid"/>
              <a:headEnd type="none" w="med" len="med"/>
              <a:tailEnd type="none" w="med" len="med"/>
            </a:ln>
          </p:spPr>
        </p:sp>
        <p:sp>
          <p:nvSpPr>
            <p:cNvPr id="104472" name="Line 24"/>
            <p:cNvSpPr/>
            <p:nvPr/>
          </p:nvSpPr>
          <p:spPr>
            <a:xfrm>
              <a:off x="1415" y="97"/>
              <a:ext cx="1" cy="293"/>
            </a:xfrm>
            <a:prstGeom prst="line">
              <a:avLst/>
            </a:prstGeom>
            <a:ln w="28575" cap="flat" cmpd="sng">
              <a:solidFill>
                <a:schemeClr val="folHlink"/>
              </a:solidFill>
              <a:prstDash val="solid"/>
              <a:headEnd type="none" w="med" len="med"/>
              <a:tailEnd type="none" w="med" len="med"/>
            </a:ln>
          </p:spPr>
        </p:sp>
        <p:sp>
          <p:nvSpPr>
            <p:cNvPr id="104473" name="Line 25"/>
            <p:cNvSpPr/>
            <p:nvPr/>
          </p:nvSpPr>
          <p:spPr>
            <a:xfrm>
              <a:off x="3067" y="244"/>
              <a:ext cx="1" cy="146"/>
            </a:xfrm>
            <a:prstGeom prst="line">
              <a:avLst/>
            </a:prstGeom>
            <a:ln w="28575" cap="flat" cmpd="sng">
              <a:solidFill>
                <a:schemeClr val="folHlink"/>
              </a:solidFill>
              <a:prstDash val="solid"/>
              <a:headEnd type="none" w="med" len="med"/>
              <a:tailEnd type="none" w="med" len="med"/>
            </a:ln>
          </p:spPr>
        </p:sp>
        <p:sp>
          <p:nvSpPr>
            <p:cNvPr id="104474" name="Line 26"/>
            <p:cNvSpPr/>
            <p:nvPr/>
          </p:nvSpPr>
          <p:spPr>
            <a:xfrm>
              <a:off x="3916" y="244"/>
              <a:ext cx="1" cy="146"/>
            </a:xfrm>
            <a:prstGeom prst="line">
              <a:avLst/>
            </a:prstGeom>
            <a:ln w="28575" cap="flat" cmpd="sng">
              <a:solidFill>
                <a:schemeClr val="folHlink"/>
              </a:solidFill>
              <a:prstDash val="solid"/>
              <a:headEnd type="none" w="med" len="med"/>
              <a:tailEnd type="none" w="med" len="med"/>
            </a:ln>
          </p:spPr>
        </p:sp>
        <p:sp>
          <p:nvSpPr>
            <p:cNvPr id="104475" name="Line 27"/>
            <p:cNvSpPr/>
            <p:nvPr/>
          </p:nvSpPr>
          <p:spPr>
            <a:xfrm>
              <a:off x="4859" y="244"/>
              <a:ext cx="1" cy="146"/>
            </a:xfrm>
            <a:prstGeom prst="line">
              <a:avLst/>
            </a:prstGeom>
            <a:ln w="28575" cap="flat" cmpd="sng">
              <a:solidFill>
                <a:schemeClr val="folHlink"/>
              </a:solidFill>
              <a:prstDash val="solid"/>
              <a:headEnd type="none" w="med" len="med"/>
              <a:tailEnd type="none" w="med" len="med"/>
            </a:ln>
          </p:spPr>
        </p:sp>
        <p:sp>
          <p:nvSpPr>
            <p:cNvPr id="104476" name="Line 28"/>
            <p:cNvSpPr/>
            <p:nvPr/>
          </p:nvSpPr>
          <p:spPr>
            <a:xfrm>
              <a:off x="2029" y="244"/>
              <a:ext cx="1" cy="146"/>
            </a:xfrm>
            <a:prstGeom prst="line">
              <a:avLst/>
            </a:prstGeom>
            <a:ln w="28575" cap="flat" cmpd="sng">
              <a:solidFill>
                <a:schemeClr val="folHlink"/>
              </a:solidFill>
              <a:prstDash val="solid"/>
              <a:headEnd type="none" w="med" len="med"/>
              <a:tailEnd type="none" w="med" len="med"/>
            </a:ln>
          </p:spPr>
        </p:sp>
        <p:sp>
          <p:nvSpPr>
            <p:cNvPr id="104477" name="Line 29"/>
            <p:cNvSpPr/>
            <p:nvPr/>
          </p:nvSpPr>
          <p:spPr>
            <a:xfrm>
              <a:off x="3303" y="97"/>
              <a:ext cx="1" cy="293"/>
            </a:xfrm>
            <a:prstGeom prst="line">
              <a:avLst/>
            </a:prstGeom>
            <a:ln w="28575" cap="flat" cmpd="sng">
              <a:solidFill>
                <a:schemeClr val="folHlink"/>
              </a:solidFill>
              <a:prstDash val="solid"/>
              <a:headEnd type="none" w="med" len="med"/>
              <a:tailEnd type="none" w="med" len="med"/>
            </a:ln>
          </p:spPr>
        </p:sp>
        <p:sp>
          <p:nvSpPr>
            <p:cNvPr id="104478" name="Line 30"/>
            <p:cNvSpPr/>
            <p:nvPr/>
          </p:nvSpPr>
          <p:spPr>
            <a:xfrm>
              <a:off x="2312" y="97"/>
              <a:ext cx="1" cy="293"/>
            </a:xfrm>
            <a:prstGeom prst="line">
              <a:avLst/>
            </a:prstGeom>
            <a:ln w="28575" cap="flat" cmpd="sng">
              <a:solidFill>
                <a:schemeClr val="folHlink"/>
              </a:solidFill>
              <a:prstDash val="solid"/>
              <a:headEnd type="none" w="med" len="med"/>
              <a:tailEnd type="none" w="med" len="med"/>
            </a:ln>
          </p:spPr>
        </p:sp>
        <p:sp>
          <p:nvSpPr>
            <p:cNvPr id="104479" name="Line 31"/>
            <p:cNvSpPr/>
            <p:nvPr/>
          </p:nvSpPr>
          <p:spPr>
            <a:xfrm>
              <a:off x="4199" y="97"/>
              <a:ext cx="1" cy="293"/>
            </a:xfrm>
            <a:prstGeom prst="line">
              <a:avLst/>
            </a:prstGeom>
            <a:ln w="28575" cap="flat" cmpd="sng">
              <a:solidFill>
                <a:schemeClr val="folHlink"/>
              </a:solidFill>
              <a:prstDash val="solid"/>
              <a:headEnd type="none" w="med" len="med"/>
              <a:tailEnd type="none" w="med" len="med"/>
            </a:ln>
          </p:spPr>
        </p:sp>
        <p:sp>
          <p:nvSpPr>
            <p:cNvPr id="104480" name="Line 32"/>
            <p:cNvSpPr/>
            <p:nvPr/>
          </p:nvSpPr>
          <p:spPr>
            <a:xfrm>
              <a:off x="5095" y="97"/>
              <a:ext cx="1" cy="293"/>
            </a:xfrm>
            <a:prstGeom prst="line">
              <a:avLst/>
            </a:prstGeom>
            <a:ln w="28575" cap="flat" cmpd="sng">
              <a:solidFill>
                <a:schemeClr val="folHlink"/>
              </a:solidFill>
              <a:prstDash val="solid"/>
              <a:headEnd type="none" w="med" len="med"/>
              <a:tailEnd type="none" w="med" len="med"/>
            </a:ln>
          </p:spPr>
        </p:sp>
        <p:sp>
          <p:nvSpPr>
            <p:cNvPr id="104481" name="Line 33"/>
            <p:cNvSpPr/>
            <p:nvPr/>
          </p:nvSpPr>
          <p:spPr>
            <a:xfrm>
              <a:off x="519" y="1656"/>
              <a:ext cx="4246" cy="1"/>
            </a:xfrm>
            <a:prstGeom prst="line">
              <a:avLst/>
            </a:prstGeom>
            <a:ln w="28575" cap="flat" cmpd="sng">
              <a:solidFill>
                <a:srgbClr val="009900"/>
              </a:solidFill>
              <a:prstDash val="solid"/>
              <a:headEnd type="none" w="med" len="med"/>
              <a:tailEnd type="none" w="med" len="med"/>
            </a:ln>
          </p:spPr>
        </p:sp>
        <p:sp>
          <p:nvSpPr>
            <p:cNvPr id="104482" name="Line 34"/>
            <p:cNvSpPr/>
            <p:nvPr/>
          </p:nvSpPr>
          <p:spPr>
            <a:xfrm>
              <a:off x="519" y="1802"/>
              <a:ext cx="4624" cy="1"/>
            </a:xfrm>
            <a:prstGeom prst="line">
              <a:avLst/>
            </a:prstGeom>
            <a:ln w="28575" cap="flat" cmpd="sng">
              <a:solidFill>
                <a:srgbClr val="009900"/>
              </a:solidFill>
              <a:prstDash val="solid"/>
              <a:headEnd type="none" w="med" len="med"/>
              <a:tailEnd type="none" w="med" len="med"/>
            </a:ln>
          </p:spPr>
        </p:sp>
        <p:sp>
          <p:nvSpPr>
            <p:cNvPr id="104483" name="Line 35"/>
            <p:cNvSpPr/>
            <p:nvPr/>
          </p:nvSpPr>
          <p:spPr>
            <a:xfrm>
              <a:off x="1132" y="1218"/>
              <a:ext cx="1" cy="438"/>
            </a:xfrm>
            <a:prstGeom prst="line">
              <a:avLst/>
            </a:prstGeom>
            <a:ln w="28575" cap="flat" cmpd="sng">
              <a:solidFill>
                <a:srgbClr val="009900"/>
              </a:solidFill>
              <a:prstDash val="solid"/>
              <a:headEnd type="none" w="med" len="med"/>
              <a:tailEnd type="none" w="med" len="med"/>
            </a:ln>
          </p:spPr>
        </p:sp>
        <p:sp>
          <p:nvSpPr>
            <p:cNvPr id="104484" name="Line 36"/>
            <p:cNvSpPr/>
            <p:nvPr/>
          </p:nvSpPr>
          <p:spPr>
            <a:xfrm>
              <a:off x="2029" y="1218"/>
              <a:ext cx="1" cy="438"/>
            </a:xfrm>
            <a:prstGeom prst="line">
              <a:avLst/>
            </a:prstGeom>
            <a:ln w="28575" cap="flat" cmpd="sng">
              <a:solidFill>
                <a:srgbClr val="009900"/>
              </a:solidFill>
              <a:prstDash val="solid"/>
              <a:headEnd type="none" w="med" len="med"/>
              <a:tailEnd type="none" w="med" len="med"/>
            </a:ln>
          </p:spPr>
        </p:sp>
        <p:sp>
          <p:nvSpPr>
            <p:cNvPr id="104485" name="Line 37"/>
            <p:cNvSpPr/>
            <p:nvPr/>
          </p:nvSpPr>
          <p:spPr>
            <a:xfrm>
              <a:off x="3019" y="1218"/>
              <a:ext cx="1" cy="438"/>
            </a:xfrm>
            <a:prstGeom prst="line">
              <a:avLst/>
            </a:prstGeom>
            <a:ln w="28575" cap="flat" cmpd="sng">
              <a:solidFill>
                <a:srgbClr val="009900"/>
              </a:solidFill>
              <a:prstDash val="solid"/>
              <a:headEnd type="none" w="med" len="med"/>
              <a:tailEnd type="none" w="med" len="med"/>
            </a:ln>
          </p:spPr>
        </p:sp>
        <p:sp>
          <p:nvSpPr>
            <p:cNvPr id="104486" name="Line 38"/>
            <p:cNvSpPr/>
            <p:nvPr/>
          </p:nvSpPr>
          <p:spPr>
            <a:xfrm>
              <a:off x="3916" y="1218"/>
              <a:ext cx="1" cy="438"/>
            </a:xfrm>
            <a:prstGeom prst="line">
              <a:avLst/>
            </a:prstGeom>
            <a:ln w="28575" cap="flat" cmpd="sng">
              <a:solidFill>
                <a:srgbClr val="009900"/>
              </a:solidFill>
              <a:prstDash val="solid"/>
              <a:headEnd type="none" w="med" len="med"/>
              <a:tailEnd type="none" w="med" len="med"/>
            </a:ln>
          </p:spPr>
        </p:sp>
        <p:sp>
          <p:nvSpPr>
            <p:cNvPr id="104487" name="Line 39"/>
            <p:cNvSpPr/>
            <p:nvPr/>
          </p:nvSpPr>
          <p:spPr>
            <a:xfrm>
              <a:off x="4765" y="1218"/>
              <a:ext cx="1" cy="438"/>
            </a:xfrm>
            <a:prstGeom prst="line">
              <a:avLst/>
            </a:prstGeom>
            <a:ln w="28575" cap="flat" cmpd="sng">
              <a:solidFill>
                <a:srgbClr val="009900"/>
              </a:solidFill>
              <a:prstDash val="solid"/>
              <a:headEnd type="none" w="med" len="med"/>
              <a:tailEnd type="none" w="med" len="med"/>
            </a:ln>
          </p:spPr>
        </p:sp>
        <p:sp>
          <p:nvSpPr>
            <p:cNvPr id="104488" name="Line 40"/>
            <p:cNvSpPr/>
            <p:nvPr/>
          </p:nvSpPr>
          <p:spPr>
            <a:xfrm>
              <a:off x="1415" y="1218"/>
              <a:ext cx="1" cy="828"/>
            </a:xfrm>
            <a:prstGeom prst="line">
              <a:avLst/>
            </a:prstGeom>
            <a:ln w="28575" cap="flat" cmpd="sng">
              <a:solidFill>
                <a:srgbClr val="009900"/>
              </a:solidFill>
              <a:prstDash val="solid"/>
              <a:headEnd type="none" w="med" len="med"/>
              <a:tailEnd type="none" w="med" len="med"/>
            </a:ln>
          </p:spPr>
        </p:sp>
        <p:sp>
          <p:nvSpPr>
            <p:cNvPr id="104489" name="Line 41"/>
            <p:cNvSpPr/>
            <p:nvPr/>
          </p:nvSpPr>
          <p:spPr>
            <a:xfrm>
              <a:off x="2312" y="1218"/>
              <a:ext cx="1" cy="828"/>
            </a:xfrm>
            <a:prstGeom prst="line">
              <a:avLst/>
            </a:prstGeom>
            <a:ln w="28575" cap="flat" cmpd="sng">
              <a:solidFill>
                <a:srgbClr val="009900"/>
              </a:solidFill>
              <a:prstDash val="solid"/>
              <a:headEnd type="none" w="med" len="med"/>
              <a:tailEnd type="none" w="med" len="med"/>
            </a:ln>
          </p:spPr>
        </p:sp>
        <p:sp>
          <p:nvSpPr>
            <p:cNvPr id="104490" name="Line 42"/>
            <p:cNvSpPr/>
            <p:nvPr/>
          </p:nvSpPr>
          <p:spPr>
            <a:xfrm>
              <a:off x="3303" y="1218"/>
              <a:ext cx="1" cy="828"/>
            </a:xfrm>
            <a:prstGeom prst="line">
              <a:avLst/>
            </a:prstGeom>
            <a:ln w="28575" cap="flat" cmpd="sng">
              <a:solidFill>
                <a:srgbClr val="009900"/>
              </a:solidFill>
              <a:prstDash val="solid"/>
              <a:headEnd type="none" w="med" len="med"/>
              <a:tailEnd type="none" w="med" len="med"/>
            </a:ln>
          </p:spPr>
        </p:sp>
        <p:sp>
          <p:nvSpPr>
            <p:cNvPr id="104491" name="Line 43"/>
            <p:cNvSpPr/>
            <p:nvPr/>
          </p:nvSpPr>
          <p:spPr>
            <a:xfrm>
              <a:off x="4199" y="1218"/>
              <a:ext cx="1" cy="828"/>
            </a:xfrm>
            <a:prstGeom prst="line">
              <a:avLst/>
            </a:prstGeom>
            <a:ln w="28575" cap="flat" cmpd="sng">
              <a:solidFill>
                <a:srgbClr val="009900"/>
              </a:solidFill>
              <a:prstDash val="solid"/>
              <a:headEnd type="none" w="med" len="med"/>
              <a:tailEnd type="none" w="med" len="med"/>
            </a:ln>
          </p:spPr>
        </p:sp>
        <p:sp>
          <p:nvSpPr>
            <p:cNvPr id="104492" name="Line 44"/>
            <p:cNvSpPr/>
            <p:nvPr/>
          </p:nvSpPr>
          <p:spPr>
            <a:xfrm>
              <a:off x="5143" y="1218"/>
              <a:ext cx="1" cy="584"/>
            </a:xfrm>
            <a:prstGeom prst="line">
              <a:avLst/>
            </a:prstGeom>
            <a:ln w="28575" cap="flat" cmpd="sng">
              <a:solidFill>
                <a:srgbClr val="009900"/>
              </a:solidFill>
              <a:prstDash val="solid"/>
              <a:headEnd type="none" w="med" len="med"/>
              <a:tailEnd type="none" w="med" len="med"/>
            </a:ln>
          </p:spPr>
        </p:sp>
        <p:sp>
          <p:nvSpPr>
            <p:cNvPr id="104493" name="Line 45"/>
            <p:cNvSpPr/>
            <p:nvPr/>
          </p:nvSpPr>
          <p:spPr>
            <a:xfrm>
              <a:off x="519" y="2046"/>
              <a:ext cx="5001" cy="1"/>
            </a:xfrm>
            <a:prstGeom prst="line">
              <a:avLst/>
            </a:prstGeom>
            <a:ln w="28575" cap="flat" cmpd="sng">
              <a:solidFill>
                <a:srgbClr val="009900"/>
              </a:solidFill>
              <a:prstDash val="solid"/>
              <a:headEnd type="none" w="med" len="med"/>
              <a:tailEnd type="none" w="med" len="med"/>
            </a:ln>
          </p:spPr>
        </p:sp>
        <p:sp>
          <p:nvSpPr>
            <p:cNvPr id="104494" name="AutoShape 46"/>
            <p:cNvSpPr/>
            <p:nvPr/>
          </p:nvSpPr>
          <p:spPr>
            <a:xfrm>
              <a:off x="1415" y="2484"/>
              <a:ext cx="3492" cy="439"/>
            </a:xfrm>
            <a:prstGeom prst="flowChartProcess">
              <a:avLst/>
            </a:prstGeom>
            <a:solidFill>
              <a:srgbClr val="FF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1600" dirty="0">
                  <a:solidFill>
                    <a:schemeClr val="tx1"/>
                  </a:solidFill>
                  <a:latin typeface="Tahoma" panose="020B0604030504040204" pitchFamily="34" charset="0"/>
                </a:rPr>
                <a:t>Y0        Y1        Y2          Y3       Y4       Y5        Y6       Y7 </a:t>
              </a:r>
              <a:endParaRPr lang="zh-CN" altLang="en-US" sz="1600" dirty="0">
                <a:solidFill>
                  <a:schemeClr val="tx1"/>
                </a:solidFill>
                <a:latin typeface="Tahoma" panose="020B0604030504040204" pitchFamily="34" charset="0"/>
              </a:endParaRPr>
            </a:p>
            <a:p>
              <a:pPr marL="0" lvl="0" indent="0" eaLnBrk="1" hangingPunct="1">
                <a:spcBef>
                  <a:spcPct val="0"/>
                </a:spcBef>
                <a:buNone/>
              </a:pPr>
              <a:r>
                <a:rPr lang="zh-CN" altLang="en-US" sz="1600" dirty="0">
                  <a:solidFill>
                    <a:schemeClr val="tx1"/>
                  </a:solidFill>
                  <a:latin typeface="Tahoma" panose="020B0604030504040204" pitchFamily="34" charset="0"/>
                </a:rPr>
                <a:t>                                     74LS138</a:t>
              </a:r>
              <a:endParaRPr lang="zh-CN" altLang="en-US" sz="1600" dirty="0">
                <a:solidFill>
                  <a:schemeClr val="tx1"/>
                </a:solidFill>
                <a:latin typeface="Tahoma" panose="020B0604030504040204" pitchFamily="34" charset="0"/>
              </a:endParaRPr>
            </a:p>
            <a:p>
              <a:pPr marL="0" lvl="0" indent="0" eaLnBrk="1" hangingPunct="1">
                <a:spcBef>
                  <a:spcPct val="0"/>
                </a:spcBef>
                <a:buNone/>
              </a:pPr>
              <a:r>
                <a:rPr lang="zh-CN" altLang="en-US" sz="1600" dirty="0">
                  <a:solidFill>
                    <a:schemeClr val="tx1"/>
                  </a:solidFill>
                  <a:latin typeface="Tahoma" panose="020B0604030504040204" pitchFamily="34" charset="0"/>
                </a:rPr>
                <a:t>A     B       C</a:t>
              </a:r>
              <a:endParaRPr lang="zh-CN" altLang="en-US" sz="1600" dirty="0">
                <a:solidFill>
                  <a:schemeClr val="tx1"/>
                </a:solidFill>
                <a:latin typeface="Tahoma" panose="020B0604030504040204" pitchFamily="34" charset="0"/>
              </a:endParaRPr>
            </a:p>
          </p:txBody>
        </p:sp>
        <p:sp>
          <p:nvSpPr>
            <p:cNvPr id="104495" name="Line 47"/>
            <p:cNvSpPr/>
            <p:nvPr/>
          </p:nvSpPr>
          <p:spPr>
            <a:xfrm>
              <a:off x="519" y="2777"/>
              <a:ext cx="896" cy="1"/>
            </a:xfrm>
            <a:prstGeom prst="line">
              <a:avLst/>
            </a:prstGeom>
            <a:ln w="9525" cap="flat" cmpd="sng">
              <a:solidFill>
                <a:schemeClr val="tx1"/>
              </a:solidFill>
              <a:prstDash val="solid"/>
              <a:headEnd type="none" w="med" len="med"/>
              <a:tailEnd type="none" w="med" len="med"/>
            </a:ln>
          </p:spPr>
        </p:sp>
        <p:sp>
          <p:nvSpPr>
            <p:cNvPr id="104496" name="Line 48"/>
            <p:cNvSpPr/>
            <p:nvPr/>
          </p:nvSpPr>
          <p:spPr>
            <a:xfrm>
              <a:off x="519" y="2143"/>
              <a:ext cx="283" cy="1"/>
            </a:xfrm>
            <a:prstGeom prst="line">
              <a:avLst/>
            </a:prstGeom>
            <a:ln w="28575" cap="flat" cmpd="sng">
              <a:solidFill>
                <a:schemeClr val="hlink"/>
              </a:solidFill>
              <a:prstDash val="solid"/>
              <a:headEnd type="none" w="med" len="med"/>
              <a:tailEnd type="none" w="med" len="med"/>
            </a:ln>
          </p:spPr>
        </p:sp>
        <p:sp>
          <p:nvSpPr>
            <p:cNvPr id="104497" name="Line 49"/>
            <p:cNvSpPr/>
            <p:nvPr/>
          </p:nvSpPr>
          <p:spPr>
            <a:xfrm>
              <a:off x="802" y="2143"/>
              <a:ext cx="1" cy="828"/>
            </a:xfrm>
            <a:prstGeom prst="line">
              <a:avLst/>
            </a:prstGeom>
            <a:ln w="28575" cap="flat" cmpd="sng">
              <a:solidFill>
                <a:schemeClr val="hlink"/>
              </a:solidFill>
              <a:prstDash val="solid"/>
              <a:headEnd type="none" w="med" len="med"/>
              <a:tailEnd type="none" w="med" len="med"/>
            </a:ln>
          </p:spPr>
        </p:sp>
        <p:sp>
          <p:nvSpPr>
            <p:cNvPr id="104498" name="Line 50"/>
            <p:cNvSpPr/>
            <p:nvPr/>
          </p:nvSpPr>
          <p:spPr>
            <a:xfrm>
              <a:off x="768" y="2976"/>
              <a:ext cx="720" cy="0"/>
            </a:xfrm>
            <a:prstGeom prst="line">
              <a:avLst/>
            </a:prstGeom>
            <a:ln w="28575" cap="flat" cmpd="sng">
              <a:solidFill>
                <a:schemeClr val="hlink"/>
              </a:solidFill>
              <a:prstDash val="solid"/>
              <a:headEnd type="none" w="med" len="med"/>
              <a:tailEnd type="none" w="med" len="med"/>
            </a:ln>
          </p:spPr>
        </p:sp>
        <p:sp>
          <p:nvSpPr>
            <p:cNvPr id="104499" name="Line 51"/>
            <p:cNvSpPr/>
            <p:nvPr/>
          </p:nvSpPr>
          <p:spPr>
            <a:xfrm flipV="1">
              <a:off x="1488" y="2928"/>
              <a:ext cx="0" cy="48"/>
            </a:xfrm>
            <a:prstGeom prst="line">
              <a:avLst/>
            </a:prstGeom>
            <a:ln w="28575" cap="flat" cmpd="sng">
              <a:solidFill>
                <a:schemeClr val="hlink"/>
              </a:solidFill>
              <a:prstDash val="solid"/>
              <a:headEnd type="none" w="med" len="med"/>
              <a:tailEnd type="none" w="med" len="med"/>
            </a:ln>
          </p:spPr>
        </p:sp>
        <p:sp>
          <p:nvSpPr>
            <p:cNvPr id="104500" name="Line 52"/>
            <p:cNvSpPr/>
            <p:nvPr/>
          </p:nvSpPr>
          <p:spPr>
            <a:xfrm>
              <a:off x="519" y="2241"/>
              <a:ext cx="189" cy="1"/>
            </a:xfrm>
            <a:prstGeom prst="line">
              <a:avLst/>
            </a:prstGeom>
            <a:ln w="28575" cap="flat" cmpd="sng">
              <a:solidFill>
                <a:schemeClr val="hlink"/>
              </a:solidFill>
              <a:prstDash val="solid"/>
              <a:headEnd type="none" w="med" len="med"/>
              <a:tailEnd type="none" w="med" len="med"/>
            </a:ln>
          </p:spPr>
        </p:sp>
        <p:sp>
          <p:nvSpPr>
            <p:cNvPr id="104501" name="Line 53"/>
            <p:cNvSpPr/>
            <p:nvPr/>
          </p:nvSpPr>
          <p:spPr>
            <a:xfrm>
              <a:off x="708" y="2241"/>
              <a:ext cx="1" cy="828"/>
            </a:xfrm>
            <a:prstGeom prst="line">
              <a:avLst/>
            </a:prstGeom>
            <a:ln w="28575" cap="flat" cmpd="sng">
              <a:solidFill>
                <a:schemeClr val="hlink"/>
              </a:solidFill>
              <a:prstDash val="solid"/>
              <a:headEnd type="none" w="med" len="med"/>
              <a:tailEnd type="none" w="med" len="med"/>
            </a:ln>
          </p:spPr>
        </p:sp>
        <p:sp>
          <p:nvSpPr>
            <p:cNvPr id="104502" name="Line 54"/>
            <p:cNvSpPr/>
            <p:nvPr/>
          </p:nvSpPr>
          <p:spPr>
            <a:xfrm>
              <a:off x="708" y="3069"/>
              <a:ext cx="1038" cy="1"/>
            </a:xfrm>
            <a:prstGeom prst="line">
              <a:avLst/>
            </a:prstGeom>
            <a:ln w="28575" cap="flat" cmpd="sng">
              <a:solidFill>
                <a:schemeClr val="hlink"/>
              </a:solidFill>
              <a:prstDash val="solid"/>
              <a:headEnd type="none" w="med" len="med"/>
              <a:tailEnd type="none" w="med" len="med"/>
            </a:ln>
          </p:spPr>
        </p:sp>
        <p:sp>
          <p:nvSpPr>
            <p:cNvPr id="104503" name="Line 55"/>
            <p:cNvSpPr/>
            <p:nvPr/>
          </p:nvSpPr>
          <p:spPr>
            <a:xfrm>
              <a:off x="1746" y="2923"/>
              <a:ext cx="1" cy="146"/>
            </a:xfrm>
            <a:prstGeom prst="line">
              <a:avLst/>
            </a:prstGeom>
            <a:ln w="28575" cap="flat" cmpd="sng">
              <a:solidFill>
                <a:schemeClr val="hlink"/>
              </a:solidFill>
              <a:prstDash val="solid"/>
              <a:headEnd type="none" w="med" len="med"/>
              <a:tailEnd type="none" w="med" len="med"/>
            </a:ln>
          </p:spPr>
        </p:sp>
        <p:sp>
          <p:nvSpPr>
            <p:cNvPr id="104504" name="Line 56"/>
            <p:cNvSpPr/>
            <p:nvPr/>
          </p:nvSpPr>
          <p:spPr>
            <a:xfrm>
              <a:off x="519" y="2387"/>
              <a:ext cx="94" cy="1"/>
            </a:xfrm>
            <a:prstGeom prst="line">
              <a:avLst/>
            </a:prstGeom>
            <a:ln w="28575" cap="flat" cmpd="sng">
              <a:solidFill>
                <a:schemeClr val="hlink"/>
              </a:solidFill>
              <a:prstDash val="solid"/>
              <a:headEnd type="none" w="med" len="med"/>
              <a:tailEnd type="none" w="med" len="med"/>
            </a:ln>
          </p:spPr>
        </p:sp>
        <p:sp>
          <p:nvSpPr>
            <p:cNvPr id="104505" name="Line 57"/>
            <p:cNvSpPr/>
            <p:nvPr/>
          </p:nvSpPr>
          <p:spPr>
            <a:xfrm>
              <a:off x="613" y="2387"/>
              <a:ext cx="1" cy="828"/>
            </a:xfrm>
            <a:prstGeom prst="line">
              <a:avLst/>
            </a:prstGeom>
            <a:ln w="28575" cap="flat" cmpd="sng">
              <a:solidFill>
                <a:schemeClr val="hlink"/>
              </a:solidFill>
              <a:prstDash val="solid"/>
              <a:headEnd type="none" w="med" len="med"/>
              <a:tailEnd type="none" w="med" len="med"/>
            </a:ln>
          </p:spPr>
        </p:sp>
        <p:sp>
          <p:nvSpPr>
            <p:cNvPr id="104506" name="Line 58"/>
            <p:cNvSpPr/>
            <p:nvPr/>
          </p:nvSpPr>
          <p:spPr>
            <a:xfrm>
              <a:off x="613" y="3215"/>
              <a:ext cx="1510" cy="1"/>
            </a:xfrm>
            <a:prstGeom prst="line">
              <a:avLst/>
            </a:prstGeom>
            <a:ln w="28575" cap="flat" cmpd="sng">
              <a:solidFill>
                <a:schemeClr val="hlink"/>
              </a:solidFill>
              <a:prstDash val="solid"/>
              <a:headEnd type="none" w="med" len="med"/>
              <a:tailEnd type="none" w="med" len="med"/>
            </a:ln>
          </p:spPr>
        </p:sp>
        <p:sp>
          <p:nvSpPr>
            <p:cNvPr id="104507" name="Line 59"/>
            <p:cNvSpPr/>
            <p:nvPr/>
          </p:nvSpPr>
          <p:spPr>
            <a:xfrm>
              <a:off x="2123" y="2923"/>
              <a:ext cx="1" cy="292"/>
            </a:xfrm>
            <a:prstGeom prst="line">
              <a:avLst/>
            </a:prstGeom>
            <a:ln w="28575" cap="flat" cmpd="sng">
              <a:solidFill>
                <a:schemeClr val="hlink"/>
              </a:solidFill>
              <a:prstDash val="solid"/>
              <a:headEnd type="none" w="med" len="med"/>
              <a:tailEnd type="none" w="med" len="med"/>
            </a:ln>
          </p:spPr>
        </p:sp>
        <p:sp>
          <p:nvSpPr>
            <p:cNvPr id="104508" name="Line 60"/>
            <p:cNvSpPr/>
            <p:nvPr/>
          </p:nvSpPr>
          <p:spPr>
            <a:xfrm flipV="1">
              <a:off x="1557" y="2387"/>
              <a:ext cx="1" cy="97"/>
            </a:xfrm>
            <a:prstGeom prst="line">
              <a:avLst/>
            </a:prstGeom>
            <a:ln w="28575" cap="flat" cmpd="sng">
              <a:solidFill>
                <a:schemeClr val="hlink"/>
              </a:solidFill>
              <a:prstDash val="solid"/>
              <a:headEnd type="none" w="med" len="med"/>
              <a:tailEnd type="none" w="med" len="med"/>
            </a:ln>
          </p:spPr>
        </p:sp>
        <p:sp>
          <p:nvSpPr>
            <p:cNvPr id="104509" name="Line 61"/>
            <p:cNvSpPr/>
            <p:nvPr/>
          </p:nvSpPr>
          <p:spPr>
            <a:xfrm flipH="1">
              <a:off x="896" y="2387"/>
              <a:ext cx="661" cy="1"/>
            </a:xfrm>
            <a:prstGeom prst="line">
              <a:avLst/>
            </a:prstGeom>
            <a:ln w="28575" cap="flat" cmpd="sng">
              <a:solidFill>
                <a:schemeClr val="hlink"/>
              </a:solidFill>
              <a:prstDash val="solid"/>
              <a:headEnd type="none" w="med" len="med"/>
              <a:tailEnd type="none" w="med" len="med"/>
            </a:ln>
          </p:spPr>
        </p:sp>
        <p:sp>
          <p:nvSpPr>
            <p:cNvPr id="104510" name="Line 62"/>
            <p:cNvSpPr/>
            <p:nvPr/>
          </p:nvSpPr>
          <p:spPr>
            <a:xfrm flipV="1">
              <a:off x="896" y="828"/>
              <a:ext cx="1" cy="1559"/>
            </a:xfrm>
            <a:prstGeom prst="line">
              <a:avLst/>
            </a:prstGeom>
            <a:ln w="28575" cap="flat" cmpd="sng">
              <a:solidFill>
                <a:schemeClr val="hlink"/>
              </a:solidFill>
              <a:prstDash val="solid"/>
              <a:headEnd type="none" w="med" len="med"/>
              <a:tailEnd type="none" w="med" len="med"/>
            </a:ln>
          </p:spPr>
        </p:sp>
        <p:sp>
          <p:nvSpPr>
            <p:cNvPr id="104511" name="Line 63"/>
            <p:cNvSpPr/>
            <p:nvPr/>
          </p:nvSpPr>
          <p:spPr>
            <a:xfrm>
              <a:off x="896" y="828"/>
              <a:ext cx="95" cy="1"/>
            </a:xfrm>
            <a:prstGeom prst="line">
              <a:avLst/>
            </a:prstGeom>
            <a:ln w="28575" cap="flat" cmpd="sng">
              <a:solidFill>
                <a:schemeClr val="hlink"/>
              </a:solidFill>
              <a:prstDash val="solid"/>
              <a:headEnd type="none" w="med" len="med"/>
              <a:tailEnd type="none" w="med" len="med"/>
            </a:ln>
          </p:spPr>
        </p:sp>
        <p:sp>
          <p:nvSpPr>
            <p:cNvPr id="104512" name="Line 64"/>
            <p:cNvSpPr/>
            <p:nvPr/>
          </p:nvSpPr>
          <p:spPr>
            <a:xfrm flipV="1">
              <a:off x="1982" y="2387"/>
              <a:ext cx="1" cy="97"/>
            </a:xfrm>
            <a:prstGeom prst="line">
              <a:avLst/>
            </a:prstGeom>
            <a:ln w="28575" cap="flat" cmpd="sng">
              <a:solidFill>
                <a:schemeClr val="hlink"/>
              </a:solidFill>
              <a:prstDash val="solid"/>
              <a:headEnd type="none" w="med" len="med"/>
              <a:tailEnd type="none" w="med" len="med"/>
            </a:ln>
          </p:spPr>
        </p:sp>
        <p:sp>
          <p:nvSpPr>
            <p:cNvPr id="104513" name="Line 65"/>
            <p:cNvSpPr/>
            <p:nvPr/>
          </p:nvSpPr>
          <p:spPr>
            <a:xfrm flipH="1">
              <a:off x="1793" y="2387"/>
              <a:ext cx="189" cy="1"/>
            </a:xfrm>
            <a:prstGeom prst="line">
              <a:avLst/>
            </a:prstGeom>
            <a:ln w="28575" cap="flat" cmpd="sng">
              <a:solidFill>
                <a:schemeClr val="hlink"/>
              </a:solidFill>
              <a:prstDash val="solid"/>
              <a:headEnd type="none" w="med" len="med"/>
              <a:tailEnd type="none" w="med" len="med"/>
            </a:ln>
          </p:spPr>
        </p:sp>
        <p:sp>
          <p:nvSpPr>
            <p:cNvPr id="104514" name="Line 66"/>
            <p:cNvSpPr/>
            <p:nvPr/>
          </p:nvSpPr>
          <p:spPr>
            <a:xfrm flipV="1">
              <a:off x="1793" y="828"/>
              <a:ext cx="1" cy="1559"/>
            </a:xfrm>
            <a:prstGeom prst="line">
              <a:avLst/>
            </a:prstGeom>
            <a:ln w="28575" cap="flat" cmpd="sng">
              <a:solidFill>
                <a:schemeClr val="hlink"/>
              </a:solidFill>
              <a:prstDash val="solid"/>
              <a:headEnd type="none" w="med" len="med"/>
              <a:tailEnd type="none" w="med" len="med"/>
            </a:ln>
          </p:spPr>
        </p:sp>
        <p:sp>
          <p:nvSpPr>
            <p:cNvPr id="104515" name="Line 67"/>
            <p:cNvSpPr/>
            <p:nvPr/>
          </p:nvSpPr>
          <p:spPr>
            <a:xfrm>
              <a:off x="1793" y="828"/>
              <a:ext cx="94" cy="1"/>
            </a:xfrm>
            <a:prstGeom prst="line">
              <a:avLst/>
            </a:prstGeom>
            <a:ln w="28575" cap="flat" cmpd="sng">
              <a:solidFill>
                <a:schemeClr val="hlink"/>
              </a:solidFill>
              <a:prstDash val="solid"/>
              <a:headEnd type="none" w="med" len="med"/>
              <a:tailEnd type="none" w="med" len="med"/>
            </a:ln>
          </p:spPr>
        </p:sp>
        <p:sp>
          <p:nvSpPr>
            <p:cNvPr id="104516" name="Line 68"/>
            <p:cNvSpPr/>
            <p:nvPr/>
          </p:nvSpPr>
          <p:spPr>
            <a:xfrm flipV="1">
              <a:off x="2453" y="2387"/>
              <a:ext cx="1" cy="97"/>
            </a:xfrm>
            <a:prstGeom prst="line">
              <a:avLst/>
            </a:prstGeom>
            <a:ln w="28575" cap="flat" cmpd="sng">
              <a:solidFill>
                <a:schemeClr val="hlink"/>
              </a:solidFill>
              <a:prstDash val="solid"/>
              <a:headEnd type="none" w="med" len="med"/>
              <a:tailEnd type="none" w="med" len="med"/>
            </a:ln>
          </p:spPr>
        </p:sp>
        <p:sp>
          <p:nvSpPr>
            <p:cNvPr id="104517" name="Line 69"/>
            <p:cNvSpPr/>
            <p:nvPr/>
          </p:nvSpPr>
          <p:spPr>
            <a:xfrm>
              <a:off x="2453" y="2387"/>
              <a:ext cx="283" cy="1"/>
            </a:xfrm>
            <a:prstGeom prst="line">
              <a:avLst/>
            </a:prstGeom>
            <a:ln w="28575" cap="flat" cmpd="sng">
              <a:solidFill>
                <a:schemeClr val="hlink"/>
              </a:solidFill>
              <a:prstDash val="solid"/>
              <a:headEnd type="none" w="med" len="med"/>
              <a:tailEnd type="none" w="med" len="med"/>
            </a:ln>
          </p:spPr>
        </p:sp>
        <p:sp>
          <p:nvSpPr>
            <p:cNvPr id="104518" name="Line 70"/>
            <p:cNvSpPr/>
            <p:nvPr/>
          </p:nvSpPr>
          <p:spPr>
            <a:xfrm flipV="1">
              <a:off x="2736" y="828"/>
              <a:ext cx="1" cy="1559"/>
            </a:xfrm>
            <a:prstGeom prst="line">
              <a:avLst/>
            </a:prstGeom>
            <a:ln w="28575" cap="flat" cmpd="sng">
              <a:solidFill>
                <a:schemeClr val="hlink"/>
              </a:solidFill>
              <a:prstDash val="solid"/>
              <a:headEnd type="none" w="med" len="med"/>
              <a:tailEnd type="none" w="med" len="med"/>
            </a:ln>
          </p:spPr>
        </p:sp>
        <p:sp>
          <p:nvSpPr>
            <p:cNvPr id="104519" name="Line 71"/>
            <p:cNvSpPr/>
            <p:nvPr/>
          </p:nvSpPr>
          <p:spPr>
            <a:xfrm>
              <a:off x="2736" y="828"/>
              <a:ext cx="142" cy="1"/>
            </a:xfrm>
            <a:prstGeom prst="line">
              <a:avLst/>
            </a:prstGeom>
            <a:ln w="28575" cap="flat" cmpd="sng">
              <a:solidFill>
                <a:schemeClr val="hlink"/>
              </a:solidFill>
              <a:prstDash val="solid"/>
              <a:headEnd type="none" w="med" len="med"/>
              <a:tailEnd type="none" w="med" len="med"/>
            </a:ln>
          </p:spPr>
        </p:sp>
        <p:sp>
          <p:nvSpPr>
            <p:cNvPr id="104520" name="Line 72"/>
            <p:cNvSpPr/>
            <p:nvPr/>
          </p:nvSpPr>
          <p:spPr>
            <a:xfrm flipV="1">
              <a:off x="2972" y="2387"/>
              <a:ext cx="1" cy="97"/>
            </a:xfrm>
            <a:prstGeom prst="line">
              <a:avLst/>
            </a:prstGeom>
            <a:ln w="28575" cap="flat" cmpd="sng">
              <a:solidFill>
                <a:schemeClr val="hlink"/>
              </a:solidFill>
              <a:prstDash val="solid"/>
              <a:headEnd type="none" w="med" len="med"/>
              <a:tailEnd type="none" w="med" len="med"/>
            </a:ln>
          </p:spPr>
        </p:sp>
        <p:sp>
          <p:nvSpPr>
            <p:cNvPr id="104521" name="Line 73"/>
            <p:cNvSpPr/>
            <p:nvPr/>
          </p:nvSpPr>
          <p:spPr>
            <a:xfrm>
              <a:off x="2972" y="2387"/>
              <a:ext cx="661" cy="1"/>
            </a:xfrm>
            <a:prstGeom prst="line">
              <a:avLst/>
            </a:prstGeom>
            <a:ln w="28575" cap="flat" cmpd="sng">
              <a:solidFill>
                <a:schemeClr val="hlink"/>
              </a:solidFill>
              <a:prstDash val="solid"/>
              <a:headEnd type="none" w="med" len="med"/>
              <a:tailEnd type="none" w="med" len="med"/>
            </a:ln>
          </p:spPr>
        </p:sp>
        <p:sp>
          <p:nvSpPr>
            <p:cNvPr id="104522" name="Line 74"/>
            <p:cNvSpPr/>
            <p:nvPr/>
          </p:nvSpPr>
          <p:spPr>
            <a:xfrm flipV="1">
              <a:off x="3633" y="828"/>
              <a:ext cx="1" cy="1559"/>
            </a:xfrm>
            <a:prstGeom prst="line">
              <a:avLst/>
            </a:prstGeom>
            <a:ln w="28575" cap="flat" cmpd="sng">
              <a:solidFill>
                <a:schemeClr val="hlink"/>
              </a:solidFill>
              <a:prstDash val="solid"/>
              <a:headEnd type="none" w="med" len="med"/>
              <a:tailEnd type="none" w="med" len="med"/>
            </a:ln>
          </p:spPr>
        </p:sp>
        <p:sp>
          <p:nvSpPr>
            <p:cNvPr id="104523" name="Line 75"/>
            <p:cNvSpPr/>
            <p:nvPr/>
          </p:nvSpPr>
          <p:spPr>
            <a:xfrm>
              <a:off x="3633" y="828"/>
              <a:ext cx="141" cy="1"/>
            </a:xfrm>
            <a:prstGeom prst="line">
              <a:avLst/>
            </a:prstGeom>
            <a:ln w="28575" cap="flat" cmpd="sng">
              <a:solidFill>
                <a:schemeClr val="hlink"/>
              </a:solidFill>
              <a:prstDash val="solid"/>
              <a:headEnd type="none" w="med" len="med"/>
              <a:tailEnd type="none" w="med" len="med"/>
            </a:ln>
          </p:spPr>
        </p:sp>
        <p:sp>
          <p:nvSpPr>
            <p:cNvPr id="104524" name="AutoShape 76"/>
            <p:cNvSpPr/>
            <p:nvPr/>
          </p:nvSpPr>
          <p:spPr>
            <a:xfrm rot="5400000">
              <a:off x="4716" y="2340"/>
              <a:ext cx="98" cy="94"/>
            </a:xfrm>
            <a:prstGeom prst="flowChartExtract">
              <a:avLst/>
            </a:prstGeom>
            <a:solidFill>
              <a:schemeClr val="accent1"/>
            </a:solidFill>
            <a:ln w="9525"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25" name="Line 77"/>
            <p:cNvSpPr/>
            <p:nvPr/>
          </p:nvSpPr>
          <p:spPr>
            <a:xfrm flipV="1">
              <a:off x="4671" y="2387"/>
              <a:ext cx="1" cy="97"/>
            </a:xfrm>
            <a:prstGeom prst="line">
              <a:avLst/>
            </a:prstGeom>
            <a:ln w="28575" cap="flat" cmpd="sng">
              <a:solidFill>
                <a:schemeClr val="hlink"/>
              </a:solidFill>
              <a:prstDash val="solid"/>
              <a:headEnd type="none" w="med" len="med"/>
              <a:tailEnd type="none" w="med" len="med"/>
            </a:ln>
          </p:spPr>
        </p:sp>
        <p:sp>
          <p:nvSpPr>
            <p:cNvPr id="104526" name="Line 78"/>
            <p:cNvSpPr/>
            <p:nvPr/>
          </p:nvSpPr>
          <p:spPr>
            <a:xfrm>
              <a:off x="4671" y="2387"/>
              <a:ext cx="47" cy="1"/>
            </a:xfrm>
            <a:prstGeom prst="line">
              <a:avLst/>
            </a:prstGeom>
            <a:ln w="28575" cap="flat" cmpd="sng">
              <a:solidFill>
                <a:schemeClr val="hlink"/>
              </a:solidFill>
              <a:prstDash val="solid"/>
              <a:headEnd type="none" w="med" len="med"/>
              <a:tailEnd type="none" w="med" len="med"/>
            </a:ln>
          </p:spPr>
        </p:sp>
        <p:sp>
          <p:nvSpPr>
            <p:cNvPr id="104527" name="Line 79"/>
            <p:cNvSpPr/>
            <p:nvPr/>
          </p:nvSpPr>
          <p:spPr>
            <a:xfrm>
              <a:off x="4812" y="2387"/>
              <a:ext cx="283" cy="1"/>
            </a:xfrm>
            <a:prstGeom prst="line">
              <a:avLst/>
            </a:prstGeom>
            <a:ln w="28575" cap="flat" cmpd="sng">
              <a:solidFill>
                <a:schemeClr val="hlink"/>
              </a:solidFill>
              <a:prstDash val="solid"/>
              <a:headEnd type="none" w="med" len="med"/>
              <a:tailEnd type="none" w="med" len="med"/>
            </a:ln>
          </p:spPr>
        </p:sp>
        <p:sp>
          <p:nvSpPr>
            <p:cNvPr id="104528" name="Line 80"/>
            <p:cNvSpPr/>
            <p:nvPr/>
          </p:nvSpPr>
          <p:spPr>
            <a:xfrm>
              <a:off x="519" y="1948"/>
              <a:ext cx="5001" cy="1"/>
            </a:xfrm>
            <a:prstGeom prst="line">
              <a:avLst/>
            </a:prstGeom>
            <a:ln w="28575" cap="flat" cmpd="sng">
              <a:solidFill>
                <a:srgbClr val="009900"/>
              </a:solidFill>
              <a:prstDash val="solid"/>
              <a:headEnd type="none" w="med" len="med"/>
              <a:tailEnd type="none" w="med" len="med"/>
            </a:ln>
          </p:spPr>
        </p:sp>
        <p:sp>
          <p:nvSpPr>
            <p:cNvPr id="104529" name="AutoShape 81"/>
            <p:cNvSpPr/>
            <p:nvPr/>
          </p:nvSpPr>
          <p:spPr>
            <a:xfrm rot="-5400000">
              <a:off x="5093" y="2098"/>
              <a:ext cx="146" cy="236"/>
            </a:xfrm>
            <a:prstGeom prst="flowChartDelay">
              <a:avLst/>
            </a:prstGeom>
            <a:solidFill>
              <a:schemeClr val="accent1"/>
            </a:solidFill>
            <a:ln w="28575"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30" name="Line 82"/>
            <p:cNvSpPr/>
            <p:nvPr/>
          </p:nvSpPr>
          <p:spPr>
            <a:xfrm>
              <a:off x="5095" y="2289"/>
              <a:ext cx="1" cy="98"/>
            </a:xfrm>
            <a:prstGeom prst="line">
              <a:avLst/>
            </a:prstGeom>
            <a:ln w="28575" cap="flat" cmpd="sng">
              <a:solidFill>
                <a:schemeClr val="hlink"/>
              </a:solidFill>
              <a:prstDash val="solid"/>
              <a:headEnd type="none" w="med" len="med"/>
              <a:tailEnd type="none" w="med" len="med"/>
            </a:ln>
          </p:spPr>
        </p:sp>
        <p:sp>
          <p:nvSpPr>
            <p:cNvPr id="104531" name="Line 83"/>
            <p:cNvSpPr/>
            <p:nvPr/>
          </p:nvSpPr>
          <p:spPr>
            <a:xfrm>
              <a:off x="5190" y="2289"/>
              <a:ext cx="1" cy="341"/>
            </a:xfrm>
            <a:prstGeom prst="line">
              <a:avLst/>
            </a:prstGeom>
            <a:ln w="28575" cap="flat" cmpd="sng">
              <a:solidFill>
                <a:schemeClr val="hlink"/>
              </a:solidFill>
              <a:prstDash val="solid"/>
              <a:headEnd type="none" w="med" len="med"/>
              <a:tailEnd type="none" w="med" len="med"/>
            </a:ln>
          </p:spPr>
        </p:sp>
        <p:sp>
          <p:nvSpPr>
            <p:cNvPr id="104532" name="Line 84"/>
            <p:cNvSpPr/>
            <p:nvPr/>
          </p:nvSpPr>
          <p:spPr>
            <a:xfrm>
              <a:off x="5190" y="2630"/>
              <a:ext cx="188" cy="1"/>
            </a:xfrm>
            <a:prstGeom prst="line">
              <a:avLst/>
            </a:prstGeom>
            <a:ln w="28575" cap="flat" cmpd="sng">
              <a:solidFill>
                <a:schemeClr val="hlink"/>
              </a:solidFill>
              <a:prstDash val="solid"/>
              <a:headEnd type="none" w="med" len="med"/>
              <a:tailEnd type="none" w="med" len="med"/>
            </a:ln>
          </p:spPr>
        </p:sp>
        <p:sp>
          <p:nvSpPr>
            <p:cNvPr id="104533" name="Line 85"/>
            <p:cNvSpPr/>
            <p:nvPr/>
          </p:nvSpPr>
          <p:spPr>
            <a:xfrm flipV="1">
              <a:off x="5378" y="1948"/>
              <a:ext cx="1" cy="682"/>
            </a:xfrm>
            <a:prstGeom prst="line">
              <a:avLst/>
            </a:prstGeom>
            <a:ln w="28575" cap="flat" cmpd="sng">
              <a:solidFill>
                <a:schemeClr val="hlink"/>
              </a:solidFill>
              <a:prstDash val="solid"/>
              <a:headEnd type="none" w="med" len="med"/>
              <a:tailEnd type="none" w="med" len="med"/>
            </a:ln>
          </p:spPr>
        </p:sp>
        <p:sp>
          <p:nvSpPr>
            <p:cNvPr id="104534" name="Line 86"/>
            <p:cNvSpPr/>
            <p:nvPr/>
          </p:nvSpPr>
          <p:spPr>
            <a:xfrm>
              <a:off x="5237" y="2289"/>
              <a:ext cx="1" cy="195"/>
            </a:xfrm>
            <a:prstGeom prst="line">
              <a:avLst/>
            </a:prstGeom>
            <a:ln w="28575" cap="flat" cmpd="sng">
              <a:solidFill>
                <a:schemeClr val="hlink"/>
              </a:solidFill>
              <a:prstDash val="solid"/>
              <a:headEnd type="none" w="med" len="med"/>
              <a:tailEnd type="none" w="med" len="med"/>
            </a:ln>
          </p:spPr>
        </p:sp>
        <p:sp>
          <p:nvSpPr>
            <p:cNvPr id="104535" name="Line 87"/>
            <p:cNvSpPr/>
            <p:nvPr/>
          </p:nvSpPr>
          <p:spPr>
            <a:xfrm>
              <a:off x="5237" y="2484"/>
              <a:ext cx="94" cy="1"/>
            </a:xfrm>
            <a:prstGeom prst="line">
              <a:avLst/>
            </a:prstGeom>
            <a:ln w="28575" cap="flat" cmpd="sng">
              <a:solidFill>
                <a:schemeClr val="hlink"/>
              </a:solidFill>
              <a:prstDash val="solid"/>
              <a:headEnd type="none" w="med" len="med"/>
              <a:tailEnd type="none" w="med" len="med"/>
            </a:ln>
          </p:spPr>
        </p:sp>
        <p:sp>
          <p:nvSpPr>
            <p:cNvPr id="104536" name="Line 88"/>
            <p:cNvSpPr/>
            <p:nvPr/>
          </p:nvSpPr>
          <p:spPr>
            <a:xfrm flipV="1">
              <a:off x="5331" y="2046"/>
              <a:ext cx="1" cy="438"/>
            </a:xfrm>
            <a:prstGeom prst="line">
              <a:avLst/>
            </a:prstGeom>
            <a:ln w="28575" cap="flat" cmpd="sng">
              <a:solidFill>
                <a:schemeClr val="hlink"/>
              </a:solidFill>
              <a:prstDash val="solid"/>
              <a:headEnd type="none" w="med" len="med"/>
              <a:tailEnd type="none" w="med" len="med"/>
            </a:ln>
          </p:spPr>
        </p:sp>
        <p:sp>
          <p:nvSpPr>
            <p:cNvPr id="104537" name="Line 89"/>
            <p:cNvSpPr/>
            <p:nvPr/>
          </p:nvSpPr>
          <p:spPr>
            <a:xfrm flipV="1">
              <a:off x="5143" y="2095"/>
              <a:ext cx="1" cy="48"/>
            </a:xfrm>
            <a:prstGeom prst="line">
              <a:avLst/>
            </a:prstGeom>
            <a:ln w="28575" cap="flat" cmpd="sng">
              <a:solidFill>
                <a:schemeClr val="hlink"/>
              </a:solidFill>
              <a:prstDash val="solid"/>
              <a:headEnd type="none" w="med" len="med"/>
              <a:tailEnd type="none" w="med" len="med"/>
            </a:ln>
          </p:spPr>
        </p:sp>
        <p:sp>
          <p:nvSpPr>
            <p:cNvPr id="104538" name="Line 90"/>
            <p:cNvSpPr/>
            <p:nvPr/>
          </p:nvSpPr>
          <p:spPr>
            <a:xfrm flipH="1">
              <a:off x="4576" y="2095"/>
              <a:ext cx="567" cy="1"/>
            </a:xfrm>
            <a:prstGeom prst="line">
              <a:avLst/>
            </a:prstGeom>
            <a:ln w="28575" cap="flat" cmpd="sng">
              <a:solidFill>
                <a:schemeClr val="hlink"/>
              </a:solidFill>
              <a:prstDash val="solid"/>
              <a:headEnd type="none" w="med" len="med"/>
              <a:tailEnd type="none" w="med" len="med"/>
            </a:ln>
          </p:spPr>
        </p:sp>
        <p:sp>
          <p:nvSpPr>
            <p:cNvPr id="104539" name="Line 91"/>
            <p:cNvSpPr/>
            <p:nvPr/>
          </p:nvSpPr>
          <p:spPr>
            <a:xfrm flipV="1">
              <a:off x="4576" y="828"/>
              <a:ext cx="1" cy="1267"/>
            </a:xfrm>
            <a:prstGeom prst="line">
              <a:avLst/>
            </a:prstGeom>
            <a:ln w="28575" cap="flat" cmpd="sng">
              <a:solidFill>
                <a:schemeClr val="hlink"/>
              </a:solidFill>
              <a:prstDash val="solid"/>
              <a:headEnd type="none" w="med" len="med"/>
              <a:tailEnd type="none" w="med" len="med"/>
            </a:ln>
          </p:spPr>
        </p:sp>
        <p:sp>
          <p:nvSpPr>
            <p:cNvPr id="104540" name="Line 92"/>
            <p:cNvSpPr/>
            <p:nvPr/>
          </p:nvSpPr>
          <p:spPr>
            <a:xfrm>
              <a:off x="4576" y="828"/>
              <a:ext cx="95" cy="1"/>
            </a:xfrm>
            <a:prstGeom prst="line">
              <a:avLst/>
            </a:prstGeom>
            <a:ln w="28575" cap="flat" cmpd="sng">
              <a:solidFill>
                <a:schemeClr val="hlink"/>
              </a:solidFill>
              <a:prstDash val="solid"/>
              <a:headEnd type="none" w="med" len="med"/>
              <a:tailEnd type="none" w="med" len="med"/>
            </a:ln>
          </p:spPr>
        </p:sp>
        <p:sp>
          <p:nvSpPr>
            <p:cNvPr id="104541" name="Line 93"/>
            <p:cNvSpPr/>
            <p:nvPr/>
          </p:nvSpPr>
          <p:spPr>
            <a:xfrm>
              <a:off x="519" y="1315"/>
              <a:ext cx="4859" cy="1"/>
            </a:xfrm>
            <a:prstGeom prst="line">
              <a:avLst/>
            </a:prstGeom>
            <a:ln w="28575" cap="flat" cmpd="sng">
              <a:solidFill>
                <a:srgbClr val="993300"/>
              </a:solidFill>
              <a:prstDash val="solid"/>
              <a:headEnd type="none" w="med" len="med"/>
              <a:tailEnd type="none" w="med" len="med"/>
            </a:ln>
          </p:spPr>
        </p:sp>
        <p:sp>
          <p:nvSpPr>
            <p:cNvPr id="104542" name="Line 94"/>
            <p:cNvSpPr/>
            <p:nvPr/>
          </p:nvSpPr>
          <p:spPr>
            <a:xfrm>
              <a:off x="5284" y="926"/>
              <a:ext cx="94" cy="1"/>
            </a:xfrm>
            <a:prstGeom prst="line">
              <a:avLst/>
            </a:prstGeom>
            <a:ln w="28575" cap="flat" cmpd="sng">
              <a:solidFill>
                <a:srgbClr val="993300"/>
              </a:solidFill>
              <a:prstDash val="solid"/>
              <a:headEnd type="none" w="med" len="med"/>
              <a:tailEnd type="none" w="med" len="med"/>
            </a:ln>
          </p:spPr>
        </p:sp>
        <p:sp>
          <p:nvSpPr>
            <p:cNvPr id="104543" name="Line 95"/>
            <p:cNvSpPr/>
            <p:nvPr/>
          </p:nvSpPr>
          <p:spPr>
            <a:xfrm>
              <a:off x="5378" y="926"/>
              <a:ext cx="1" cy="389"/>
            </a:xfrm>
            <a:prstGeom prst="line">
              <a:avLst/>
            </a:prstGeom>
            <a:ln w="28575" cap="flat" cmpd="sng">
              <a:solidFill>
                <a:srgbClr val="993300"/>
              </a:solidFill>
              <a:prstDash val="solid"/>
              <a:headEnd type="none" w="med" len="med"/>
              <a:tailEnd type="none" w="med" len="med"/>
            </a:ln>
          </p:spPr>
        </p:sp>
        <p:sp>
          <p:nvSpPr>
            <p:cNvPr id="104544" name="Line 96"/>
            <p:cNvSpPr/>
            <p:nvPr/>
          </p:nvSpPr>
          <p:spPr>
            <a:xfrm>
              <a:off x="4388" y="926"/>
              <a:ext cx="94" cy="1"/>
            </a:xfrm>
            <a:prstGeom prst="line">
              <a:avLst/>
            </a:prstGeom>
            <a:ln w="28575" cap="flat" cmpd="sng">
              <a:solidFill>
                <a:srgbClr val="993300"/>
              </a:solidFill>
              <a:prstDash val="solid"/>
              <a:headEnd type="none" w="med" len="med"/>
              <a:tailEnd type="none" w="med" len="med"/>
            </a:ln>
          </p:spPr>
        </p:sp>
        <p:sp>
          <p:nvSpPr>
            <p:cNvPr id="104545" name="Line 97"/>
            <p:cNvSpPr/>
            <p:nvPr/>
          </p:nvSpPr>
          <p:spPr>
            <a:xfrm>
              <a:off x="4482" y="926"/>
              <a:ext cx="1" cy="389"/>
            </a:xfrm>
            <a:prstGeom prst="line">
              <a:avLst/>
            </a:prstGeom>
            <a:ln w="28575" cap="flat" cmpd="sng">
              <a:solidFill>
                <a:srgbClr val="993300"/>
              </a:solidFill>
              <a:prstDash val="solid"/>
              <a:headEnd type="none" w="med" len="med"/>
              <a:tailEnd type="none" w="med" len="med"/>
            </a:ln>
          </p:spPr>
        </p:sp>
        <p:sp>
          <p:nvSpPr>
            <p:cNvPr id="104546" name="Line 98"/>
            <p:cNvSpPr/>
            <p:nvPr/>
          </p:nvSpPr>
          <p:spPr>
            <a:xfrm>
              <a:off x="3491" y="926"/>
              <a:ext cx="95" cy="1"/>
            </a:xfrm>
            <a:prstGeom prst="line">
              <a:avLst/>
            </a:prstGeom>
            <a:ln w="28575" cap="flat" cmpd="sng">
              <a:solidFill>
                <a:srgbClr val="993300"/>
              </a:solidFill>
              <a:prstDash val="solid"/>
              <a:headEnd type="none" w="med" len="med"/>
              <a:tailEnd type="none" w="med" len="med"/>
            </a:ln>
          </p:spPr>
        </p:sp>
        <p:sp>
          <p:nvSpPr>
            <p:cNvPr id="104547" name="Line 99"/>
            <p:cNvSpPr/>
            <p:nvPr/>
          </p:nvSpPr>
          <p:spPr>
            <a:xfrm>
              <a:off x="3586" y="926"/>
              <a:ext cx="1" cy="389"/>
            </a:xfrm>
            <a:prstGeom prst="line">
              <a:avLst/>
            </a:prstGeom>
            <a:ln w="28575" cap="flat" cmpd="sng">
              <a:solidFill>
                <a:srgbClr val="993300"/>
              </a:solidFill>
              <a:prstDash val="solid"/>
              <a:headEnd type="none" w="med" len="med"/>
              <a:tailEnd type="none" w="med" len="med"/>
            </a:ln>
          </p:spPr>
        </p:sp>
        <p:sp>
          <p:nvSpPr>
            <p:cNvPr id="104548" name="Line 100"/>
            <p:cNvSpPr/>
            <p:nvPr/>
          </p:nvSpPr>
          <p:spPr>
            <a:xfrm>
              <a:off x="2501" y="926"/>
              <a:ext cx="94" cy="1"/>
            </a:xfrm>
            <a:prstGeom prst="line">
              <a:avLst/>
            </a:prstGeom>
            <a:ln w="28575" cap="flat" cmpd="sng">
              <a:solidFill>
                <a:srgbClr val="993300"/>
              </a:solidFill>
              <a:prstDash val="solid"/>
              <a:headEnd type="none" w="med" len="med"/>
              <a:tailEnd type="none" w="med" len="med"/>
            </a:ln>
          </p:spPr>
        </p:sp>
        <p:sp>
          <p:nvSpPr>
            <p:cNvPr id="104549" name="Line 101"/>
            <p:cNvSpPr/>
            <p:nvPr/>
          </p:nvSpPr>
          <p:spPr>
            <a:xfrm>
              <a:off x="2595" y="926"/>
              <a:ext cx="1" cy="389"/>
            </a:xfrm>
            <a:prstGeom prst="line">
              <a:avLst/>
            </a:prstGeom>
            <a:ln w="28575" cap="flat" cmpd="sng">
              <a:solidFill>
                <a:srgbClr val="993300"/>
              </a:solidFill>
              <a:prstDash val="solid"/>
              <a:headEnd type="none" w="med" len="med"/>
              <a:tailEnd type="none" w="med" len="med"/>
            </a:ln>
          </p:spPr>
        </p:sp>
        <p:sp>
          <p:nvSpPr>
            <p:cNvPr id="104550" name="Oval 102"/>
            <p:cNvSpPr/>
            <p:nvPr/>
          </p:nvSpPr>
          <p:spPr>
            <a:xfrm>
              <a:off x="1510" y="2436"/>
              <a:ext cx="47"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1" name="Oval 103"/>
            <p:cNvSpPr/>
            <p:nvPr/>
          </p:nvSpPr>
          <p:spPr>
            <a:xfrm>
              <a:off x="1934" y="2436"/>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2" name="Oval 104"/>
            <p:cNvSpPr/>
            <p:nvPr/>
          </p:nvSpPr>
          <p:spPr>
            <a:xfrm>
              <a:off x="2406" y="2436"/>
              <a:ext cx="47"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3" name="Oval 105"/>
            <p:cNvSpPr/>
            <p:nvPr/>
          </p:nvSpPr>
          <p:spPr>
            <a:xfrm>
              <a:off x="2925" y="2436"/>
              <a:ext cx="47"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4" name="Oval 106"/>
            <p:cNvSpPr/>
            <p:nvPr/>
          </p:nvSpPr>
          <p:spPr>
            <a:xfrm>
              <a:off x="3350" y="2436"/>
              <a:ext cx="47"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5" name="Oval 107"/>
            <p:cNvSpPr/>
            <p:nvPr/>
          </p:nvSpPr>
          <p:spPr>
            <a:xfrm>
              <a:off x="3774" y="2436"/>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6" name="Oval 108"/>
            <p:cNvSpPr/>
            <p:nvPr/>
          </p:nvSpPr>
          <p:spPr>
            <a:xfrm>
              <a:off x="4246" y="2436"/>
              <a:ext cx="47"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7" name="Oval 109"/>
            <p:cNvSpPr/>
            <p:nvPr/>
          </p:nvSpPr>
          <p:spPr>
            <a:xfrm>
              <a:off x="4624" y="2436"/>
              <a:ext cx="47"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8" name="Oval 110"/>
            <p:cNvSpPr/>
            <p:nvPr/>
          </p:nvSpPr>
          <p:spPr>
            <a:xfrm>
              <a:off x="4812" y="2338"/>
              <a:ext cx="47" cy="4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59" name="Oval 111"/>
            <p:cNvSpPr/>
            <p:nvPr/>
          </p:nvSpPr>
          <p:spPr>
            <a:xfrm>
              <a:off x="5095" y="2095"/>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04560" name="Line 112"/>
            <p:cNvSpPr/>
            <p:nvPr/>
          </p:nvSpPr>
          <p:spPr>
            <a:xfrm>
              <a:off x="336" y="1248"/>
              <a:ext cx="144" cy="0"/>
            </a:xfrm>
            <a:prstGeom prst="line">
              <a:avLst/>
            </a:prstGeom>
            <a:ln w="9525" cap="flat" cmpd="sng">
              <a:solidFill>
                <a:schemeClr val="tx1"/>
              </a:solidFill>
              <a:prstDash val="solid"/>
              <a:headEnd type="none" w="med" len="med"/>
              <a:tailEnd type="none" w="med" len="med"/>
            </a:ln>
          </p:spPr>
        </p:sp>
        <p:sp>
          <p:nvSpPr>
            <p:cNvPr id="104561" name="Line 113"/>
            <p:cNvSpPr/>
            <p:nvPr/>
          </p:nvSpPr>
          <p:spPr>
            <a:xfrm>
              <a:off x="144" y="2688"/>
              <a:ext cx="288" cy="0"/>
            </a:xfrm>
            <a:prstGeom prst="line">
              <a:avLst/>
            </a:prstGeom>
            <a:ln w="9525" cap="flat" cmpd="sng">
              <a:solidFill>
                <a:schemeClr val="tx1"/>
              </a:solidFill>
              <a:prstDash val="solid"/>
              <a:headEnd type="none" w="med" len="med"/>
              <a:tailEnd type="none" w="med" len="med"/>
            </a:ln>
          </p:spPr>
        </p:sp>
        <p:sp>
          <p:nvSpPr>
            <p:cNvPr id="104562" name="Text Box 114"/>
            <p:cNvSpPr txBox="1"/>
            <p:nvPr/>
          </p:nvSpPr>
          <p:spPr>
            <a:xfrm>
              <a:off x="720" y="672"/>
              <a:ext cx="288"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宋体" panose="02010600030101010101" pitchFamily="2" charset="-122"/>
                </a:rPr>
                <a:t>CS</a:t>
              </a:r>
              <a:endParaRPr lang="zh-CN" altLang="en-US" sz="1600" dirty="0">
                <a:solidFill>
                  <a:schemeClr val="tx1"/>
                </a:solidFill>
                <a:latin typeface="宋体" panose="02010600030101010101" pitchFamily="2" charset="-122"/>
              </a:endParaRPr>
            </a:p>
          </p:txBody>
        </p:sp>
        <p:sp>
          <p:nvSpPr>
            <p:cNvPr id="104563" name="Line 115"/>
            <p:cNvSpPr/>
            <p:nvPr/>
          </p:nvSpPr>
          <p:spPr>
            <a:xfrm>
              <a:off x="768" y="720"/>
              <a:ext cx="96" cy="0"/>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p:nvPr>
            <p:ph type="title" idx="4294967295"/>
          </p:nvPr>
        </p:nvSpPr>
        <p:spPr>
          <a:xfrm>
            <a:off x="476250" y="333375"/>
            <a:ext cx="7696200" cy="685800"/>
          </a:xfrm>
          <a:prstGeom prst="rect">
            <a:avLst/>
          </a:prstGeom>
          <a:noFill/>
          <a:ln w="9525">
            <a:noFill/>
          </a:ln>
        </p:spPr>
        <p:txBody>
          <a:bodyPr/>
          <a:p>
            <a:pPr eaLnBrk="1" hangingPunct="1"/>
            <a:r>
              <a:rPr lang="zh-CN" altLang="en-US" sz="3200" dirty="0"/>
              <a:t>3.</a:t>
            </a:r>
            <a:r>
              <a:rPr lang="en-US" altLang="zh-CN" sz="3200" dirty="0"/>
              <a:t>5</a:t>
            </a:r>
            <a:r>
              <a:rPr lang="zh-CN" altLang="en-US" sz="3200" dirty="0"/>
              <a:t> 高速存储器</a:t>
            </a:r>
            <a:endParaRPr lang="zh-CN" altLang="en-US" sz="3200" dirty="0"/>
          </a:p>
        </p:txBody>
      </p:sp>
      <p:sp>
        <p:nvSpPr>
          <p:cNvPr id="105475" name="Rectangle 3"/>
          <p:cNvSpPr>
            <a:spLocks noGrp="1"/>
          </p:cNvSpPr>
          <p:nvPr>
            <p:ph type="body" idx="4294967295"/>
          </p:nvPr>
        </p:nvSpPr>
        <p:spPr>
          <a:xfrm>
            <a:off x="322263" y="1190625"/>
            <a:ext cx="8640762" cy="4038600"/>
          </a:xfrm>
          <a:ln/>
        </p:spPr>
        <p:txBody>
          <a:bodyPr vert="horz" wrap="square" lIns="91440" tIns="45720" rIns="91440" bIns="45720" anchor="t" anchorCtr="0"/>
          <a:p>
            <a:pPr eaLnBrk="1" hangingPunct="1"/>
            <a:r>
              <a:rPr lang="zh-CN" altLang="en-US" sz="2800" b="1" dirty="0">
                <a:solidFill>
                  <a:schemeClr val="tx1"/>
                </a:solidFill>
                <a:latin typeface="楷体_GB2312" pitchFamily="1" charset="-122"/>
                <a:ea typeface="楷体_GB2312" pitchFamily="1" charset="-122"/>
              </a:rPr>
              <a:t>    由于CPU和主存储器在速度上不匹配，而且在一个CPU周期中可能需要用几个存储器字，这便限制了高速计算，为了使CPU不至因为等待存储器读写操作的完成而无事可做，可以采取一些加速CPU和存储器之间有效传输的特殊措施。</a:t>
            </a:r>
            <a:endParaRPr lang="zh-CN" altLang="en-US" sz="2800" b="1" dirty="0">
              <a:solidFill>
                <a:schemeClr val="tx1"/>
              </a:solidFill>
              <a:latin typeface="楷体_GB2312" pitchFamily="1" charset="-122"/>
              <a:ea typeface="楷体_GB2312" pitchFamily="1" charset="-122"/>
            </a:endParaRPr>
          </a:p>
        </p:txBody>
      </p:sp>
      <p:pic>
        <p:nvPicPr>
          <p:cNvPr id="105476" name="Picture 4" descr="3"/>
          <p:cNvPicPr>
            <a:picLocks noChangeAspect="1"/>
          </p:cNvPicPr>
          <p:nvPr/>
        </p:nvPicPr>
        <p:blipFill>
          <a:blip r:embed="rId1"/>
          <a:stretch>
            <a:fillRect/>
          </a:stretch>
        </p:blipFill>
        <p:spPr>
          <a:xfrm>
            <a:off x="323850" y="3648075"/>
            <a:ext cx="8640763" cy="2727325"/>
          </a:xfrm>
          <a:prstGeom prst="rect">
            <a:avLst/>
          </a:prstGeom>
          <a:noFill/>
          <a:ln w="9525">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p:cNvSpPr>
          <p:nvPr>
            <p:ph type="body" idx="4294967295"/>
          </p:nvPr>
        </p:nvSpPr>
        <p:spPr>
          <a:ln/>
        </p:spPr>
        <p:txBody>
          <a:bodyPr vert="horz" wrap="square" lIns="91440" tIns="45720" rIns="91440" bIns="45720" anchor="t" anchorCtr="0"/>
          <a:p>
            <a:pPr marL="0" indent="0" eaLnBrk="1" hangingPunct="1">
              <a:buNone/>
            </a:pPr>
            <a:r>
              <a:rPr lang="zh-CN" altLang="en-US" b="1" dirty="0"/>
              <a:t>提高主存访问速度的方法，除了提高工艺水平，缩短读写周期外，还有：</a:t>
            </a:r>
            <a:endParaRPr lang="zh-CN" altLang="en-US" b="1" dirty="0"/>
          </a:p>
          <a:p>
            <a:pPr marL="0" indent="0" eaLnBrk="1" hangingPunct="1"/>
            <a:r>
              <a:rPr lang="zh-CN" altLang="en-US" b="1" dirty="0"/>
              <a:t>双端口存储器</a:t>
            </a:r>
            <a:endParaRPr lang="zh-CN" altLang="en-US" b="1" dirty="0"/>
          </a:p>
          <a:p>
            <a:pPr marL="0" indent="0" eaLnBrk="1" hangingPunct="1"/>
            <a:r>
              <a:rPr lang="zh-CN" altLang="en-US" b="1" dirty="0"/>
              <a:t>多模块交叉存储器</a:t>
            </a:r>
            <a:endParaRPr lang="zh-CN" altLang="en-US" b="1" dirty="0"/>
          </a:p>
          <a:p>
            <a:pPr marL="0" indent="0" eaLnBrk="1" hangingPunct="1"/>
            <a:r>
              <a:rPr lang="zh-CN" altLang="en-US" b="1" dirty="0"/>
              <a:t>相联存储器</a:t>
            </a:r>
            <a:endParaRPr lang="zh-CN" altLang="en-US" b="1"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idx="4294967295"/>
          </p:nvPr>
        </p:nvSpPr>
        <p:spPr>
          <a:xfrm>
            <a:off x="457200" y="908050"/>
            <a:ext cx="8147050" cy="936625"/>
          </a:xfrm>
          <a:prstGeom prst="rect">
            <a:avLst/>
          </a:prstGeom>
          <a:noFill/>
          <a:ln w="9525">
            <a:noFill/>
          </a:ln>
        </p:spPr>
        <p:txBody>
          <a:bodyPr/>
          <a:p>
            <a:pPr eaLnBrk="1" hangingPunct="1"/>
            <a:r>
              <a:rPr lang="zh-CN" altLang="en-US" dirty="0"/>
              <a:t>1.双端口存储器</a:t>
            </a:r>
            <a:endParaRPr lang="zh-CN" altLang="en-US" dirty="0"/>
          </a:p>
        </p:txBody>
      </p:sp>
      <p:sp>
        <p:nvSpPr>
          <p:cNvPr id="107523" name="Rectangle 3"/>
          <p:cNvSpPr>
            <a:spLocks noGrp="1"/>
          </p:cNvSpPr>
          <p:nvPr>
            <p:ph type="body" idx="4294967295"/>
          </p:nvPr>
        </p:nvSpPr>
        <p:spPr>
          <a:xfrm>
            <a:off x="252413" y="1917700"/>
            <a:ext cx="8351837" cy="4679950"/>
          </a:xfrm>
          <a:ln/>
        </p:spPr>
        <p:txBody>
          <a:bodyPr vert="horz" wrap="square" lIns="91440" tIns="45720" rIns="91440" bIns="45720" anchor="t" anchorCtr="0"/>
          <a:p>
            <a:pPr eaLnBrk="1" hangingPunct="1"/>
            <a:r>
              <a:rPr lang="zh-CN" altLang="en-US" b="1" dirty="0"/>
              <a:t>双端口存储器的逻辑结构 </a:t>
            </a:r>
            <a:r>
              <a:rPr lang="zh-CN" altLang="en-US" b="1" dirty="0">
                <a:latin typeface="楷体_GB2312" pitchFamily="1" charset="-122"/>
                <a:ea typeface="楷体_GB2312" pitchFamily="1" charset="-122"/>
              </a:rPr>
              <a:t>见书上图</a:t>
            </a:r>
            <a:endParaRPr lang="en-US" altLang="zh-CN" b="1" dirty="0">
              <a:latin typeface="楷体_GB2312" pitchFamily="1" charset="-122"/>
              <a:ea typeface="楷体_GB2312" pitchFamily="1" charset="-122"/>
            </a:endParaRPr>
          </a:p>
          <a:p>
            <a:pPr eaLnBrk="1" hangingPunct="1"/>
            <a:r>
              <a:rPr lang="zh-CN" altLang="en-US" b="1" dirty="0">
                <a:solidFill>
                  <a:srgbClr val="0000FF"/>
                </a:solidFill>
              </a:rPr>
              <a:t>提供了两个相互独立的端口</a:t>
            </a:r>
            <a:r>
              <a:rPr lang="zh-CN" altLang="en-US" b="1" dirty="0"/>
              <a:t>，各自具备地址线、数据线和控制线，因而可以对存储器中任何位置上的数据进行过独立的存取操作。</a:t>
            </a:r>
            <a:endParaRPr lang="zh-CN" altLang="en-US" b="1" dirty="0"/>
          </a:p>
          <a:p>
            <a:pPr eaLnBrk="1" hangingPunct="1"/>
            <a:r>
              <a:rPr lang="zh-CN" altLang="en-US" b="1" dirty="0"/>
              <a:t>当两个端口同时存取存储器同一单元时，便发生了读写冲突，为解决此问题，特设置了busy标志。具体看谁的地址先有效或谁的片选信号先有效。也可设置优先级来避免冲突。</a:t>
            </a:r>
            <a:endParaRPr lang="zh-CN" altLang="en-US" b="1" dirty="0"/>
          </a:p>
        </p:txBody>
      </p:sp>
      <p:sp>
        <p:nvSpPr>
          <p:cNvPr id="107524" name="Line 4"/>
          <p:cNvSpPr/>
          <p:nvPr/>
        </p:nvSpPr>
        <p:spPr>
          <a:xfrm>
            <a:off x="612775" y="5157788"/>
            <a:ext cx="936625" cy="0"/>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p:nvPr>
            <p:ph type="title" idx="4294967295"/>
          </p:nvPr>
        </p:nvSpPr>
        <p:spPr>
          <a:xfrm>
            <a:off x="457200" y="274638"/>
            <a:ext cx="8229600" cy="1143000"/>
          </a:xfrm>
          <a:prstGeom prst="rect">
            <a:avLst/>
          </a:prstGeom>
          <a:noFill/>
          <a:ln w="9525">
            <a:noFill/>
          </a:ln>
        </p:spPr>
        <p:txBody>
          <a:bodyPr anchor="ctr" anchorCtr="0"/>
          <a:p>
            <a:pPr eaLnBrk="1" hangingPunct="1"/>
            <a:endParaRPr lang="zh-CN" altLang="en-US" dirty="0"/>
          </a:p>
        </p:txBody>
      </p:sp>
      <p:sp>
        <p:nvSpPr>
          <p:cNvPr id="108547"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t>意义：科学研究或工程应用上，往往是大量计算，而计算往往是取两个操作数或取数存数，一般都不是同一存储单元，相互不影响，反而并能提高速度。</a:t>
            </a:r>
            <a:endParaRPr lang="zh-CN" altLang="en-US" b="1" dirty="0"/>
          </a:p>
          <a:p>
            <a:pPr eaLnBrk="1" hangingPunct="1"/>
            <a:r>
              <a:rPr lang="zh-CN" altLang="en-US" b="1" dirty="0"/>
              <a:t>属于多机系统，是</a:t>
            </a:r>
            <a:r>
              <a:rPr lang="zh-CN" altLang="en-US" b="1" dirty="0">
                <a:solidFill>
                  <a:srgbClr val="0000FF"/>
                </a:solidFill>
              </a:rPr>
              <a:t>并行技术</a:t>
            </a:r>
            <a:r>
              <a:rPr lang="zh-CN" altLang="en-US" b="1" dirty="0"/>
              <a:t>的体现</a:t>
            </a:r>
            <a:endParaRPr lang="zh-CN" altLang="en-US" b="1" dirty="0"/>
          </a:p>
          <a:p>
            <a:pPr eaLnBrk="1" hangingPunct="1"/>
            <a:endParaRPr lang="zh-CN" altLang="en-US" b="1"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2.多模块交叉存储器</a:t>
            </a:r>
            <a:endParaRPr lang="zh-CN" altLang="en-US" sz="3200" dirty="0"/>
          </a:p>
        </p:txBody>
      </p:sp>
      <p:sp>
        <p:nvSpPr>
          <p:cNvPr id="109571" name="Rectangle 3"/>
          <p:cNvSpPr>
            <a:spLocks noGrp="1"/>
          </p:cNvSpPr>
          <p:nvPr>
            <p:ph type="body" idx="4294967295"/>
          </p:nvPr>
        </p:nvSpPr>
        <p:spPr>
          <a:xfrm>
            <a:off x="685800" y="1981200"/>
            <a:ext cx="8062913" cy="4114800"/>
          </a:xfrm>
          <a:ln/>
        </p:spPr>
        <p:txBody>
          <a:bodyPr vert="horz" wrap="square" lIns="91440" tIns="45720" rIns="91440" bIns="45720" anchor="t" anchorCtr="0"/>
          <a:p>
            <a:pPr eaLnBrk="1" hangingPunct="1"/>
            <a:r>
              <a:rPr lang="zh-CN" altLang="en-US" b="1" dirty="0">
                <a:solidFill>
                  <a:schemeClr val="tx1"/>
                </a:solidFill>
              </a:rPr>
              <a:t>存储器的模块化组织</a:t>
            </a:r>
            <a:endParaRPr lang="zh-CN" altLang="en-US" b="1" dirty="0">
              <a:solidFill>
                <a:schemeClr val="tx1"/>
              </a:solidFill>
            </a:endParaRPr>
          </a:p>
          <a:p>
            <a:pPr eaLnBrk="1" hangingPunct="1"/>
            <a:r>
              <a:rPr lang="zh-CN" altLang="en-US" sz="2800" b="1" dirty="0">
                <a:solidFill>
                  <a:schemeClr val="tx1"/>
                </a:solidFill>
                <a:ea typeface="楷体_GB2312" pitchFamily="1" charset="-122"/>
              </a:rPr>
              <a:t>一个由若干个模块组成的主存储器是线性编址的。这些地址在各模块中如何安排，有两种方式：</a:t>
            </a:r>
            <a:endParaRPr lang="zh-CN" altLang="en-US" sz="2800" b="1" dirty="0">
              <a:solidFill>
                <a:schemeClr val="tx1"/>
              </a:solidFill>
              <a:ea typeface="楷体_GB2312" pitchFamily="1" charset="-122"/>
            </a:endParaRPr>
          </a:p>
          <a:p>
            <a:pPr lvl="1" eaLnBrk="1" hangingPunct="1"/>
            <a:r>
              <a:rPr lang="zh-CN" altLang="en-US" sz="3600" b="1" dirty="0">
                <a:solidFill>
                  <a:srgbClr val="993366"/>
                </a:solidFill>
                <a:ea typeface="华文新魏" panose="02010800040101010101" pitchFamily="2" charset="-122"/>
              </a:rPr>
              <a:t>顺序方式（</a:t>
            </a:r>
            <a:r>
              <a:rPr lang="zh-CN" altLang="en-US" sz="2400" b="1" dirty="0">
                <a:solidFill>
                  <a:srgbClr val="993366"/>
                </a:solidFill>
                <a:ea typeface="华文新魏" panose="02010800040101010101" pitchFamily="2" charset="-122"/>
              </a:rPr>
              <a:t>高位代表模块，低位代表块内地址</a:t>
            </a:r>
            <a:r>
              <a:rPr lang="zh-CN" altLang="en-US" sz="3600" b="1" dirty="0">
                <a:solidFill>
                  <a:srgbClr val="993366"/>
                </a:solidFill>
                <a:ea typeface="华文新魏" panose="02010800040101010101" pitchFamily="2" charset="-122"/>
              </a:rPr>
              <a:t>）</a:t>
            </a:r>
            <a:endParaRPr lang="zh-CN" altLang="en-US" sz="3600" b="1" dirty="0">
              <a:solidFill>
                <a:srgbClr val="993366"/>
              </a:solidFill>
              <a:ea typeface="华文新魏" panose="02010800040101010101" pitchFamily="2" charset="-122"/>
            </a:endParaRPr>
          </a:p>
          <a:p>
            <a:pPr lvl="1" eaLnBrk="1" hangingPunct="1"/>
            <a:r>
              <a:rPr lang="zh-CN" altLang="en-US" sz="3600" b="1" dirty="0">
                <a:solidFill>
                  <a:srgbClr val="993366"/>
                </a:solidFill>
                <a:ea typeface="华文新魏" panose="02010800040101010101" pitchFamily="2" charset="-122"/>
              </a:rPr>
              <a:t>交叉方式（</a:t>
            </a:r>
            <a:r>
              <a:rPr lang="zh-CN" altLang="en-US" sz="2400" b="1" dirty="0">
                <a:solidFill>
                  <a:srgbClr val="993366"/>
                </a:solidFill>
                <a:ea typeface="华文新魏" panose="02010800040101010101" pitchFamily="2" charset="-122"/>
              </a:rPr>
              <a:t>低位代表模块，高位代表块内地址</a:t>
            </a:r>
            <a:r>
              <a:rPr lang="zh-CN" altLang="en-US" sz="3600" b="1" dirty="0">
                <a:solidFill>
                  <a:srgbClr val="993366"/>
                </a:solidFill>
                <a:ea typeface="华文新魏" panose="02010800040101010101" pitchFamily="2" charset="-122"/>
              </a:rPr>
              <a:t>）</a:t>
            </a:r>
            <a:endParaRPr lang="zh-CN" altLang="en-US" sz="3600" b="1" dirty="0">
              <a:solidFill>
                <a:srgbClr val="993366"/>
              </a:solidFill>
              <a:ea typeface="华文新魏" panose="02010800040101010101" pitchFamily="2" charset="-122"/>
            </a:endParaRPr>
          </a:p>
          <a:p>
            <a:pPr lvl="1" eaLnBrk="1" hangingPunct="1"/>
            <a:endParaRPr lang="zh-CN" altLang="en-US" sz="3600" b="1" dirty="0">
              <a:solidFill>
                <a:srgbClr val="993366"/>
              </a:solidFill>
              <a:ea typeface="华文新魏" panose="0201080004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高速存储器——多模块交叉存储器</a:t>
            </a:r>
            <a:endParaRPr lang="zh-CN" altLang="en-US" sz="3200" dirty="0"/>
          </a:p>
        </p:txBody>
      </p:sp>
      <p:sp>
        <p:nvSpPr>
          <p:cNvPr id="110595" name="Rectangle 3"/>
          <p:cNvSpPr>
            <a:spLocks noGrp="1"/>
          </p:cNvSpPr>
          <p:nvPr>
            <p:ph type="body" idx="4294967295"/>
          </p:nvPr>
        </p:nvSpPr>
        <p:spPr>
          <a:xfrm>
            <a:off x="685800" y="1981200"/>
            <a:ext cx="7918450" cy="4114800"/>
          </a:xfrm>
          <a:ln/>
        </p:spPr>
        <p:txBody>
          <a:bodyPr vert="horz" wrap="square" lIns="91440" tIns="45720" rIns="91440" bIns="45720" anchor="t" anchorCtr="0"/>
          <a:p>
            <a:pPr eaLnBrk="1" hangingPunct="1">
              <a:lnSpc>
                <a:spcPct val="80000"/>
              </a:lnSpc>
            </a:pPr>
            <a:r>
              <a:rPr lang="zh-CN" altLang="en-US" b="1" dirty="0">
                <a:solidFill>
                  <a:srgbClr val="993366"/>
                </a:solidFill>
                <a:latin typeface="楷体_GB2312" pitchFamily="1" charset="-122"/>
                <a:ea typeface="楷体_GB2312" pitchFamily="1" charset="-122"/>
              </a:rPr>
              <a:t>顺序方式：</a:t>
            </a:r>
            <a:endParaRPr lang="zh-CN" altLang="en-US" b="1" dirty="0">
              <a:solidFill>
                <a:srgbClr val="993366"/>
              </a:solidFill>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在顺序方式中某个模块进行存取时，其他模块可以照常工作。</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另外通过增添模块来扩充存储器也比较方便。但顺序方式的缺点是各模块一个接一个串行工作，因此存储器的带宽受到了限制。</a:t>
            </a:r>
            <a:endParaRPr lang="zh-CN" altLang="en-US" b="1" dirty="0">
              <a:latin typeface="楷体_GB2312" pitchFamily="1" charset="-122"/>
              <a:ea typeface="楷体_GB2312" pitchFamily="1" charset="-122"/>
            </a:endParaRPr>
          </a:p>
          <a:p>
            <a:pPr eaLnBrk="1" hangingPunct="1">
              <a:lnSpc>
                <a:spcPct val="80000"/>
              </a:lnSpc>
            </a:pPr>
            <a:r>
              <a:rPr lang="zh-CN" altLang="en-US" b="1" dirty="0"/>
              <a:t>相邻的地址存放在同一存储体中，很容易发生访问冲突，并行存取的可能性小。</a:t>
            </a:r>
            <a:endParaRPr lang="zh-CN" altLang="en-US" b="1"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高速存储器——多模块交叉存储器</a:t>
            </a:r>
            <a:endParaRPr lang="zh-CN" altLang="en-US" sz="3200" dirty="0"/>
          </a:p>
        </p:txBody>
      </p:sp>
      <p:sp>
        <p:nvSpPr>
          <p:cNvPr id="111619" name="AutoShape 3"/>
          <p:cNvSpPr/>
          <p:nvPr/>
        </p:nvSpPr>
        <p:spPr>
          <a:xfrm>
            <a:off x="1295400" y="2209800"/>
            <a:ext cx="6248400" cy="457200"/>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dirty="0">
                <a:solidFill>
                  <a:schemeClr val="tx1"/>
                </a:solidFill>
                <a:latin typeface="Tahoma" panose="020B0604030504040204" pitchFamily="34" charset="0"/>
              </a:rPr>
              <a:t>模块                                  字 </a:t>
            </a:r>
            <a:endParaRPr lang="zh-CN" altLang="zh-CN" sz="2400" dirty="0">
              <a:solidFill>
                <a:schemeClr val="tx1"/>
              </a:solidFill>
              <a:latin typeface="Tahoma" panose="020B0604030504040204" pitchFamily="34" charset="0"/>
            </a:endParaRPr>
          </a:p>
        </p:txBody>
      </p:sp>
      <p:grpSp>
        <p:nvGrpSpPr>
          <p:cNvPr id="111620" name="Group 4"/>
          <p:cNvGrpSpPr/>
          <p:nvPr/>
        </p:nvGrpSpPr>
        <p:grpSpPr>
          <a:xfrm>
            <a:off x="533400" y="3200400"/>
            <a:ext cx="8153400" cy="3048000"/>
            <a:chOff x="0" y="0"/>
            <a:chExt cx="5328" cy="2016"/>
          </a:xfrm>
        </p:grpSpPr>
        <p:sp>
          <p:nvSpPr>
            <p:cNvPr id="111623" name="AutoShape 5"/>
            <p:cNvSpPr/>
            <p:nvPr/>
          </p:nvSpPr>
          <p:spPr>
            <a:xfrm>
              <a:off x="432" y="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0</a:t>
              </a:r>
              <a:endParaRPr lang="zh-CN" altLang="en-US" sz="2400" dirty="0">
                <a:solidFill>
                  <a:schemeClr val="tx1"/>
                </a:solidFill>
                <a:latin typeface="Tahoma" panose="020B0604030504040204" pitchFamily="34" charset="0"/>
              </a:endParaRPr>
            </a:p>
          </p:txBody>
        </p:sp>
        <p:sp>
          <p:nvSpPr>
            <p:cNvPr id="111624" name="AutoShape 6"/>
            <p:cNvSpPr/>
            <p:nvPr/>
          </p:nvSpPr>
          <p:spPr>
            <a:xfrm>
              <a:off x="432" y="19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a:t>
              </a:r>
              <a:endParaRPr lang="zh-CN" altLang="en-US" sz="2400" dirty="0">
                <a:solidFill>
                  <a:schemeClr val="tx1"/>
                </a:solidFill>
                <a:latin typeface="Tahoma" panose="020B0604030504040204" pitchFamily="34" charset="0"/>
              </a:endParaRPr>
            </a:p>
          </p:txBody>
        </p:sp>
        <p:sp>
          <p:nvSpPr>
            <p:cNvPr id="111625" name="AutoShape 7"/>
            <p:cNvSpPr/>
            <p:nvPr/>
          </p:nvSpPr>
          <p:spPr>
            <a:xfrm>
              <a:off x="432" y="38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a:t>
              </a:r>
              <a:endParaRPr lang="zh-CN" altLang="en-US" sz="2400" dirty="0">
                <a:solidFill>
                  <a:schemeClr val="tx1"/>
                </a:solidFill>
                <a:latin typeface="Tahoma" panose="020B0604030504040204" pitchFamily="34" charset="0"/>
              </a:endParaRPr>
            </a:p>
          </p:txBody>
        </p:sp>
        <p:sp>
          <p:nvSpPr>
            <p:cNvPr id="111626" name="AutoShape 8"/>
            <p:cNvSpPr/>
            <p:nvPr/>
          </p:nvSpPr>
          <p:spPr>
            <a:xfrm>
              <a:off x="432" y="576"/>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3</a:t>
              </a:r>
              <a:endParaRPr lang="zh-CN" altLang="en-US" sz="2400" dirty="0">
                <a:solidFill>
                  <a:schemeClr val="tx1"/>
                </a:solidFill>
                <a:latin typeface="Tahoma" panose="020B0604030504040204" pitchFamily="34" charset="0"/>
              </a:endParaRPr>
            </a:p>
          </p:txBody>
        </p:sp>
        <p:sp>
          <p:nvSpPr>
            <p:cNvPr id="111627" name="AutoShape 9"/>
            <p:cNvSpPr/>
            <p:nvPr/>
          </p:nvSpPr>
          <p:spPr>
            <a:xfrm>
              <a:off x="432" y="768"/>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4</a:t>
              </a:r>
              <a:endParaRPr lang="zh-CN" altLang="en-US" sz="2400" dirty="0">
                <a:solidFill>
                  <a:schemeClr val="tx1"/>
                </a:solidFill>
                <a:latin typeface="Tahoma" panose="020B0604030504040204" pitchFamily="34" charset="0"/>
              </a:endParaRPr>
            </a:p>
          </p:txBody>
        </p:sp>
        <p:sp>
          <p:nvSpPr>
            <p:cNvPr id="111628" name="AutoShape 10"/>
            <p:cNvSpPr/>
            <p:nvPr/>
          </p:nvSpPr>
          <p:spPr>
            <a:xfrm>
              <a:off x="432" y="96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5</a:t>
              </a:r>
              <a:endParaRPr lang="zh-CN" altLang="en-US" sz="2400" dirty="0">
                <a:solidFill>
                  <a:schemeClr val="tx1"/>
                </a:solidFill>
                <a:latin typeface="Tahoma" panose="020B0604030504040204" pitchFamily="34" charset="0"/>
              </a:endParaRPr>
            </a:p>
          </p:txBody>
        </p:sp>
        <p:sp>
          <p:nvSpPr>
            <p:cNvPr id="111629" name="AutoShape 11"/>
            <p:cNvSpPr/>
            <p:nvPr/>
          </p:nvSpPr>
          <p:spPr>
            <a:xfrm>
              <a:off x="432" y="115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6</a:t>
              </a:r>
              <a:endParaRPr lang="zh-CN" altLang="en-US" sz="2400" dirty="0">
                <a:solidFill>
                  <a:schemeClr val="tx1"/>
                </a:solidFill>
                <a:latin typeface="Tahoma" panose="020B0604030504040204" pitchFamily="34" charset="0"/>
              </a:endParaRPr>
            </a:p>
          </p:txBody>
        </p:sp>
        <p:sp>
          <p:nvSpPr>
            <p:cNvPr id="111630" name="AutoShape 12"/>
            <p:cNvSpPr/>
            <p:nvPr/>
          </p:nvSpPr>
          <p:spPr>
            <a:xfrm>
              <a:off x="432" y="134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7</a:t>
              </a:r>
              <a:endParaRPr lang="zh-CN" altLang="en-US" sz="2400" dirty="0">
                <a:solidFill>
                  <a:schemeClr val="tx1"/>
                </a:solidFill>
                <a:latin typeface="Tahoma" panose="020B0604030504040204" pitchFamily="34" charset="0"/>
              </a:endParaRPr>
            </a:p>
          </p:txBody>
        </p:sp>
        <p:grpSp>
          <p:nvGrpSpPr>
            <p:cNvPr id="111631" name="Group 13"/>
            <p:cNvGrpSpPr/>
            <p:nvPr/>
          </p:nvGrpSpPr>
          <p:grpSpPr>
            <a:xfrm>
              <a:off x="1776" y="0"/>
              <a:ext cx="528" cy="1536"/>
              <a:chOff x="0" y="0"/>
              <a:chExt cx="528" cy="1536"/>
            </a:xfrm>
          </p:grpSpPr>
          <p:sp>
            <p:nvSpPr>
              <p:cNvPr id="111655" name="AutoShape 14"/>
              <p:cNvSpPr/>
              <p:nvPr/>
            </p:nvSpPr>
            <p:spPr>
              <a:xfrm>
                <a:off x="0" y="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8</a:t>
                </a:r>
                <a:endParaRPr lang="zh-CN" altLang="en-US" sz="2400" dirty="0">
                  <a:solidFill>
                    <a:schemeClr val="tx1"/>
                  </a:solidFill>
                  <a:latin typeface="Tahoma" panose="020B0604030504040204" pitchFamily="34" charset="0"/>
                </a:endParaRPr>
              </a:p>
            </p:txBody>
          </p:sp>
          <p:sp>
            <p:nvSpPr>
              <p:cNvPr id="111656" name="AutoShape 15"/>
              <p:cNvSpPr/>
              <p:nvPr/>
            </p:nvSpPr>
            <p:spPr>
              <a:xfrm>
                <a:off x="0" y="19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9</a:t>
                </a:r>
                <a:endParaRPr lang="zh-CN" altLang="en-US" sz="2400" dirty="0">
                  <a:solidFill>
                    <a:schemeClr val="tx1"/>
                  </a:solidFill>
                  <a:latin typeface="Tahoma" panose="020B0604030504040204" pitchFamily="34" charset="0"/>
                </a:endParaRPr>
              </a:p>
            </p:txBody>
          </p:sp>
          <p:sp>
            <p:nvSpPr>
              <p:cNvPr id="111657" name="AutoShape 16"/>
              <p:cNvSpPr/>
              <p:nvPr/>
            </p:nvSpPr>
            <p:spPr>
              <a:xfrm>
                <a:off x="0" y="38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10</a:t>
                </a:r>
                <a:endParaRPr lang="zh-CN" altLang="en-US" sz="2400" dirty="0">
                  <a:solidFill>
                    <a:schemeClr val="tx1"/>
                  </a:solidFill>
                  <a:latin typeface="Tahoma" panose="020B0604030504040204" pitchFamily="34" charset="0"/>
                </a:endParaRPr>
              </a:p>
            </p:txBody>
          </p:sp>
          <p:sp>
            <p:nvSpPr>
              <p:cNvPr id="111658" name="AutoShape 17"/>
              <p:cNvSpPr/>
              <p:nvPr/>
            </p:nvSpPr>
            <p:spPr>
              <a:xfrm>
                <a:off x="0" y="576"/>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11</a:t>
                </a:r>
                <a:endParaRPr lang="zh-CN" altLang="en-US" sz="2400" dirty="0">
                  <a:solidFill>
                    <a:schemeClr val="tx1"/>
                  </a:solidFill>
                  <a:latin typeface="Tahoma" panose="020B0604030504040204" pitchFamily="34" charset="0"/>
                </a:endParaRPr>
              </a:p>
            </p:txBody>
          </p:sp>
          <p:sp>
            <p:nvSpPr>
              <p:cNvPr id="111659" name="AutoShape 18"/>
              <p:cNvSpPr/>
              <p:nvPr/>
            </p:nvSpPr>
            <p:spPr>
              <a:xfrm>
                <a:off x="0" y="768"/>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12</a:t>
                </a:r>
                <a:endParaRPr lang="zh-CN" altLang="en-US" sz="2400" dirty="0">
                  <a:solidFill>
                    <a:schemeClr val="tx1"/>
                  </a:solidFill>
                  <a:latin typeface="Tahoma" panose="020B0604030504040204" pitchFamily="34" charset="0"/>
                </a:endParaRPr>
              </a:p>
            </p:txBody>
          </p:sp>
          <p:sp>
            <p:nvSpPr>
              <p:cNvPr id="111660" name="AutoShape 19"/>
              <p:cNvSpPr/>
              <p:nvPr/>
            </p:nvSpPr>
            <p:spPr>
              <a:xfrm>
                <a:off x="0" y="96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13</a:t>
                </a:r>
                <a:endParaRPr lang="zh-CN" altLang="en-US" sz="2400" dirty="0">
                  <a:solidFill>
                    <a:schemeClr val="tx1"/>
                  </a:solidFill>
                  <a:latin typeface="Tahoma" panose="020B0604030504040204" pitchFamily="34" charset="0"/>
                </a:endParaRPr>
              </a:p>
            </p:txBody>
          </p:sp>
          <p:sp>
            <p:nvSpPr>
              <p:cNvPr id="111661" name="AutoShape 20"/>
              <p:cNvSpPr/>
              <p:nvPr/>
            </p:nvSpPr>
            <p:spPr>
              <a:xfrm>
                <a:off x="0" y="115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14</a:t>
                </a:r>
                <a:endParaRPr lang="zh-CN" altLang="en-US" sz="2400" dirty="0">
                  <a:solidFill>
                    <a:schemeClr val="tx1"/>
                  </a:solidFill>
                  <a:latin typeface="Tahoma" panose="020B0604030504040204" pitchFamily="34" charset="0"/>
                </a:endParaRPr>
              </a:p>
            </p:txBody>
          </p:sp>
          <p:sp>
            <p:nvSpPr>
              <p:cNvPr id="111662" name="AutoShape 21"/>
              <p:cNvSpPr/>
              <p:nvPr/>
            </p:nvSpPr>
            <p:spPr>
              <a:xfrm>
                <a:off x="0" y="134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15</a:t>
                </a:r>
                <a:endParaRPr lang="zh-CN" altLang="en-US" sz="2400" dirty="0">
                  <a:solidFill>
                    <a:schemeClr val="tx1"/>
                  </a:solidFill>
                  <a:latin typeface="Tahoma" panose="020B0604030504040204" pitchFamily="34" charset="0"/>
                </a:endParaRPr>
              </a:p>
            </p:txBody>
          </p:sp>
        </p:grpSp>
        <p:grpSp>
          <p:nvGrpSpPr>
            <p:cNvPr id="111632" name="Group 22"/>
            <p:cNvGrpSpPr/>
            <p:nvPr/>
          </p:nvGrpSpPr>
          <p:grpSpPr>
            <a:xfrm>
              <a:off x="3168" y="0"/>
              <a:ext cx="528" cy="1536"/>
              <a:chOff x="0" y="0"/>
              <a:chExt cx="528" cy="1536"/>
            </a:xfrm>
          </p:grpSpPr>
          <p:sp>
            <p:nvSpPr>
              <p:cNvPr id="111647" name="AutoShape 23"/>
              <p:cNvSpPr/>
              <p:nvPr/>
            </p:nvSpPr>
            <p:spPr>
              <a:xfrm>
                <a:off x="0" y="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16</a:t>
                </a:r>
                <a:endParaRPr lang="zh-CN" altLang="en-US" sz="2400" dirty="0">
                  <a:solidFill>
                    <a:schemeClr val="tx1"/>
                  </a:solidFill>
                  <a:latin typeface="Tahoma" panose="020B0604030504040204" pitchFamily="34" charset="0"/>
                </a:endParaRPr>
              </a:p>
            </p:txBody>
          </p:sp>
          <p:sp>
            <p:nvSpPr>
              <p:cNvPr id="111648" name="AutoShape 24"/>
              <p:cNvSpPr/>
              <p:nvPr/>
            </p:nvSpPr>
            <p:spPr>
              <a:xfrm>
                <a:off x="0" y="19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17</a:t>
                </a:r>
                <a:endParaRPr lang="zh-CN" altLang="en-US" sz="2400" dirty="0">
                  <a:solidFill>
                    <a:schemeClr val="tx1"/>
                  </a:solidFill>
                  <a:latin typeface="Tahoma" panose="020B0604030504040204" pitchFamily="34" charset="0"/>
                </a:endParaRPr>
              </a:p>
            </p:txBody>
          </p:sp>
          <p:sp>
            <p:nvSpPr>
              <p:cNvPr id="111649" name="AutoShape 25"/>
              <p:cNvSpPr/>
              <p:nvPr/>
            </p:nvSpPr>
            <p:spPr>
              <a:xfrm>
                <a:off x="0" y="38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18</a:t>
                </a:r>
                <a:endParaRPr lang="zh-CN" altLang="en-US" sz="2400" dirty="0">
                  <a:solidFill>
                    <a:schemeClr val="tx1"/>
                  </a:solidFill>
                  <a:latin typeface="Tahoma" panose="020B0604030504040204" pitchFamily="34" charset="0"/>
                </a:endParaRPr>
              </a:p>
            </p:txBody>
          </p:sp>
          <p:sp>
            <p:nvSpPr>
              <p:cNvPr id="111650" name="AutoShape 26"/>
              <p:cNvSpPr/>
              <p:nvPr/>
            </p:nvSpPr>
            <p:spPr>
              <a:xfrm>
                <a:off x="0" y="576"/>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19</a:t>
                </a:r>
                <a:endParaRPr lang="zh-CN" altLang="en-US" sz="2400" dirty="0">
                  <a:solidFill>
                    <a:schemeClr val="tx1"/>
                  </a:solidFill>
                  <a:latin typeface="Tahoma" panose="020B0604030504040204" pitchFamily="34" charset="0"/>
                </a:endParaRPr>
              </a:p>
            </p:txBody>
          </p:sp>
          <p:sp>
            <p:nvSpPr>
              <p:cNvPr id="111651" name="AutoShape 27"/>
              <p:cNvSpPr/>
              <p:nvPr/>
            </p:nvSpPr>
            <p:spPr>
              <a:xfrm>
                <a:off x="0" y="768"/>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20</a:t>
                </a:r>
                <a:endParaRPr lang="zh-CN" altLang="en-US" sz="2400" dirty="0">
                  <a:solidFill>
                    <a:schemeClr val="tx1"/>
                  </a:solidFill>
                  <a:latin typeface="Tahoma" panose="020B0604030504040204" pitchFamily="34" charset="0"/>
                </a:endParaRPr>
              </a:p>
            </p:txBody>
          </p:sp>
          <p:sp>
            <p:nvSpPr>
              <p:cNvPr id="111652" name="AutoShape 28"/>
              <p:cNvSpPr/>
              <p:nvPr/>
            </p:nvSpPr>
            <p:spPr>
              <a:xfrm>
                <a:off x="0" y="96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21</a:t>
                </a:r>
                <a:endParaRPr lang="zh-CN" altLang="en-US" sz="2400" dirty="0">
                  <a:solidFill>
                    <a:schemeClr val="tx1"/>
                  </a:solidFill>
                  <a:latin typeface="Tahoma" panose="020B0604030504040204" pitchFamily="34" charset="0"/>
                </a:endParaRPr>
              </a:p>
            </p:txBody>
          </p:sp>
          <p:sp>
            <p:nvSpPr>
              <p:cNvPr id="111653" name="AutoShape 29"/>
              <p:cNvSpPr/>
              <p:nvPr/>
            </p:nvSpPr>
            <p:spPr>
              <a:xfrm>
                <a:off x="0" y="115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22</a:t>
                </a:r>
                <a:endParaRPr lang="zh-CN" altLang="en-US" sz="2400" dirty="0">
                  <a:solidFill>
                    <a:schemeClr val="tx1"/>
                  </a:solidFill>
                  <a:latin typeface="Tahoma" panose="020B0604030504040204" pitchFamily="34" charset="0"/>
                </a:endParaRPr>
              </a:p>
            </p:txBody>
          </p:sp>
          <p:sp>
            <p:nvSpPr>
              <p:cNvPr id="111654" name="AutoShape 30"/>
              <p:cNvSpPr/>
              <p:nvPr/>
            </p:nvSpPr>
            <p:spPr>
              <a:xfrm>
                <a:off x="0" y="134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23</a:t>
                </a:r>
                <a:endParaRPr lang="zh-CN" altLang="en-US" sz="2400" dirty="0">
                  <a:solidFill>
                    <a:schemeClr val="tx1"/>
                  </a:solidFill>
                  <a:latin typeface="Tahoma" panose="020B0604030504040204" pitchFamily="34" charset="0"/>
                </a:endParaRPr>
              </a:p>
            </p:txBody>
          </p:sp>
        </p:grpSp>
        <p:grpSp>
          <p:nvGrpSpPr>
            <p:cNvPr id="111633" name="Group 31"/>
            <p:cNvGrpSpPr/>
            <p:nvPr/>
          </p:nvGrpSpPr>
          <p:grpSpPr>
            <a:xfrm>
              <a:off x="4464" y="0"/>
              <a:ext cx="528" cy="1536"/>
              <a:chOff x="0" y="0"/>
              <a:chExt cx="528" cy="1536"/>
            </a:xfrm>
          </p:grpSpPr>
          <p:sp>
            <p:nvSpPr>
              <p:cNvPr id="111639" name="AutoShape 32"/>
              <p:cNvSpPr/>
              <p:nvPr/>
            </p:nvSpPr>
            <p:spPr>
              <a:xfrm>
                <a:off x="0" y="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24</a:t>
                </a:r>
                <a:endParaRPr lang="zh-CN" altLang="en-US" sz="2400" dirty="0">
                  <a:solidFill>
                    <a:schemeClr val="tx1"/>
                  </a:solidFill>
                  <a:latin typeface="Tahoma" panose="020B0604030504040204" pitchFamily="34" charset="0"/>
                </a:endParaRPr>
              </a:p>
            </p:txBody>
          </p:sp>
          <p:sp>
            <p:nvSpPr>
              <p:cNvPr id="111640" name="AutoShape 33"/>
              <p:cNvSpPr/>
              <p:nvPr/>
            </p:nvSpPr>
            <p:spPr>
              <a:xfrm>
                <a:off x="0" y="19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25</a:t>
                </a:r>
                <a:endParaRPr lang="zh-CN" altLang="en-US" sz="2400" dirty="0">
                  <a:solidFill>
                    <a:schemeClr val="tx1"/>
                  </a:solidFill>
                  <a:latin typeface="Tahoma" panose="020B0604030504040204" pitchFamily="34" charset="0"/>
                </a:endParaRPr>
              </a:p>
            </p:txBody>
          </p:sp>
          <p:sp>
            <p:nvSpPr>
              <p:cNvPr id="111641" name="AutoShape 34"/>
              <p:cNvSpPr/>
              <p:nvPr/>
            </p:nvSpPr>
            <p:spPr>
              <a:xfrm>
                <a:off x="0" y="38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26</a:t>
                </a:r>
                <a:endParaRPr lang="zh-CN" altLang="en-US" sz="2400" dirty="0">
                  <a:solidFill>
                    <a:schemeClr val="tx1"/>
                  </a:solidFill>
                  <a:latin typeface="Tahoma" panose="020B0604030504040204" pitchFamily="34" charset="0"/>
                </a:endParaRPr>
              </a:p>
            </p:txBody>
          </p:sp>
          <p:sp>
            <p:nvSpPr>
              <p:cNvPr id="111642" name="AutoShape 35"/>
              <p:cNvSpPr/>
              <p:nvPr/>
            </p:nvSpPr>
            <p:spPr>
              <a:xfrm>
                <a:off x="0" y="576"/>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27</a:t>
                </a:r>
                <a:endParaRPr lang="zh-CN" altLang="en-US" sz="2400" dirty="0">
                  <a:solidFill>
                    <a:schemeClr val="tx1"/>
                  </a:solidFill>
                  <a:latin typeface="Tahoma" panose="020B0604030504040204" pitchFamily="34" charset="0"/>
                </a:endParaRPr>
              </a:p>
            </p:txBody>
          </p:sp>
          <p:sp>
            <p:nvSpPr>
              <p:cNvPr id="111643" name="AutoShape 36"/>
              <p:cNvSpPr/>
              <p:nvPr/>
            </p:nvSpPr>
            <p:spPr>
              <a:xfrm>
                <a:off x="0" y="768"/>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28</a:t>
                </a:r>
                <a:endParaRPr lang="zh-CN" altLang="en-US" sz="2400" dirty="0">
                  <a:solidFill>
                    <a:schemeClr val="tx1"/>
                  </a:solidFill>
                  <a:latin typeface="Tahoma" panose="020B0604030504040204" pitchFamily="34" charset="0"/>
                </a:endParaRPr>
              </a:p>
            </p:txBody>
          </p:sp>
          <p:sp>
            <p:nvSpPr>
              <p:cNvPr id="111644" name="AutoShape 37"/>
              <p:cNvSpPr/>
              <p:nvPr/>
            </p:nvSpPr>
            <p:spPr>
              <a:xfrm>
                <a:off x="0" y="96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29</a:t>
                </a:r>
                <a:endParaRPr lang="zh-CN" altLang="en-US" sz="2400" dirty="0">
                  <a:solidFill>
                    <a:schemeClr val="tx1"/>
                  </a:solidFill>
                  <a:latin typeface="Tahoma" panose="020B0604030504040204" pitchFamily="34" charset="0"/>
                </a:endParaRPr>
              </a:p>
            </p:txBody>
          </p:sp>
          <p:sp>
            <p:nvSpPr>
              <p:cNvPr id="111645" name="AutoShape 38"/>
              <p:cNvSpPr/>
              <p:nvPr/>
            </p:nvSpPr>
            <p:spPr>
              <a:xfrm>
                <a:off x="0" y="115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30</a:t>
                </a:r>
                <a:endParaRPr lang="zh-CN" altLang="en-US" sz="2400" dirty="0">
                  <a:solidFill>
                    <a:schemeClr val="tx1"/>
                  </a:solidFill>
                  <a:latin typeface="Tahoma" panose="020B0604030504040204" pitchFamily="34" charset="0"/>
                </a:endParaRPr>
              </a:p>
            </p:txBody>
          </p:sp>
          <p:sp>
            <p:nvSpPr>
              <p:cNvPr id="111646" name="AutoShape 39"/>
              <p:cNvSpPr/>
              <p:nvPr/>
            </p:nvSpPr>
            <p:spPr>
              <a:xfrm>
                <a:off x="0" y="134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31</a:t>
                </a:r>
                <a:endParaRPr lang="zh-CN" altLang="en-US" sz="2400" dirty="0">
                  <a:solidFill>
                    <a:schemeClr val="tx1"/>
                  </a:solidFill>
                  <a:latin typeface="Tahoma" panose="020B0604030504040204" pitchFamily="34" charset="0"/>
                </a:endParaRPr>
              </a:p>
            </p:txBody>
          </p:sp>
        </p:grpSp>
        <p:sp>
          <p:nvSpPr>
            <p:cNvPr id="111634" name="AutoShape 40"/>
            <p:cNvSpPr/>
            <p:nvPr/>
          </p:nvSpPr>
          <p:spPr>
            <a:xfrm>
              <a:off x="0" y="1776"/>
              <a:ext cx="5328" cy="240"/>
            </a:xfrm>
            <a:prstGeom prst="leftRightArrow">
              <a:avLst>
                <a:gd name="adj1" fmla="val 53333"/>
                <a:gd name="adj2" fmla="val 7451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11635" name="Line 41"/>
            <p:cNvSpPr/>
            <p:nvPr/>
          </p:nvSpPr>
          <p:spPr>
            <a:xfrm>
              <a:off x="672" y="1536"/>
              <a:ext cx="0" cy="288"/>
            </a:xfrm>
            <a:prstGeom prst="line">
              <a:avLst/>
            </a:prstGeom>
            <a:ln w="28575" cap="flat" cmpd="sng">
              <a:solidFill>
                <a:schemeClr val="tx1"/>
              </a:solidFill>
              <a:prstDash val="solid"/>
              <a:headEnd type="triangle" w="med" len="med"/>
              <a:tailEnd type="triangle" w="med" len="med"/>
            </a:ln>
          </p:spPr>
        </p:sp>
        <p:sp>
          <p:nvSpPr>
            <p:cNvPr id="111636" name="Line 42"/>
            <p:cNvSpPr/>
            <p:nvPr/>
          </p:nvSpPr>
          <p:spPr>
            <a:xfrm>
              <a:off x="2064" y="1536"/>
              <a:ext cx="0" cy="288"/>
            </a:xfrm>
            <a:prstGeom prst="line">
              <a:avLst/>
            </a:prstGeom>
            <a:ln w="28575" cap="flat" cmpd="sng">
              <a:solidFill>
                <a:schemeClr val="tx1"/>
              </a:solidFill>
              <a:prstDash val="solid"/>
              <a:headEnd type="triangle" w="med" len="med"/>
              <a:tailEnd type="triangle" w="med" len="med"/>
            </a:ln>
          </p:spPr>
        </p:sp>
        <p:sp>
          <p:nvSpPr>
            <p:cNvPr id="111637" name="Line 43"/>
            <p:cNvSpPr/>
            <p:nvPr/>
          </p:nvSpPr>
          <p:spPr>
            <a:xfrm>
              <a:off x="3408" y="1536"/>
              <a:ext cx="0" cy="288"/>
            </a:xfrm>
            <a:prstGeom prst="line">
              <a:avLst/>
            </a:prstGeom>
            <a:ln w="28575" cap="flat" cmpd="sng">
              <a:solidFill>
                <a:schemeClr val="tx1"/>
              </a:solidFill>
              <a:prstDash val="solid"/>
              <a:headEnd type="triangle" w="med" len="med"/>
              <a:tailEnd type="triangle" w="med" len="med"/>
            </a:ln>
          </p:spPr>
        </p:sp>
        <p:sp>
          <p:nvSpPr>
            <p:cNvPr id="111638" name="Line 44"/>
            <p:cNvSpPr/>
            <p:nvPr/>
          </p:nvSpPr>
          <p:spPr>
            <a:xfrm>
              <a:off x="4704" y="1536"/>
              <a:ext cx="0" cy="288"/>
            </a:xfrm>
            <a:prstGeom prst="line">
              <a:avLst/>
            </a:prstGeom>
            <a:ln w="28575" cap="flat" cmpd="sng">
              <a:solidFill>
                <a:schemeClr val="tx1"/>
              </a:solidFill>
              <a:prstDash val="solid"/>
              <a:headEnd type="triangle" w="med" len="med"/>
              <a:tailEnd type="triangle" w="med" len="med"/>
            </a:ln>
          </p:spPr>
        </p:sp>
      </p:grpSp>
      <p:sp>
        <p:nvSpPr>
          <p:cNvPr id="111621" name="Line 45"/>
          <p:cNvSpPr/>
          <p:nvPr/>
        </p:nvSpPr>
        <p:spPr>
          <a:xfrm>
            <a:off x="3657600" y="2209800"/>
            <a:ext cx="0" cy="457200"/>
          </a:xfrm>
          <a:prstGeom prst="line">
            <a:avLst/>
          </a:prstGeom>
          <a:ln w="9525" cap="flat" cmpd="sng">
            <a:solidFill>
              <a:schemeClr val="tx1"/>
            </a:solidFill>
            <a:prstDash val="solid"/>
            <a:headEnd type="none" w="med" len="med"/>
            <a:tailEnd type="none" w="med" len="med"/>
          </a:ln>
        </p:spPr>
      </p:sp>
      <p:sp>
        <p:nvSpPr>
          <p:cNvPr id="111622" name="Rectangle 46"/>
          <p:cNvSpPr/>
          <p:nvPr/>
        </p:nvSpPr>
        <p:spPr>
          <a:xfrm>
            <a:off x="1219200" y="1905000"/>
            <a:ext cx="6477000" cy="1524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4                         3   2                      1                      0</a:t>
            </a:r>
            <a:endParaRPr lang="zh-CN" altLang="en-US" sz="2400" dirty="0">
              <a:solidFill>
                <a:schemeClr val="tx1"/>
              </a:solidFill>
              <a:ea typeface="华文新魏" panose="0201080004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高速存储器——多模块交叉存储器</a:t>
            </a:r>
            <a:endParaRPr lang="zh-CN" altLang="en-US" sz="3200" dirty="0"/>
          </a:p>
        </p:txBody>
      </p:sp>
      <p:sp>
        <p:nvSpPr>
          <p:cNvPr id="112643"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latin typeface="楷体_GB2312" pitchFamily="1" charset="-122"/>
                <a:ea typeface="楷体_GB2312" pitchFamily="1" charset="-122"/>
              </a:rPr>
              <a:t>    设存储容量为32字，分成M0---M3四个模块，每个模块存储8个字，访问地址按顺序分配给一个模块后，接着又按顺序为下一个模块分配访问地址。</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    这样，存储器的32个字可由5位地址寄存器指示，其中，高2位选择4个模块中的一个，低3位选择每个模块中的8个字。</a:t>
            </a:r>
            <a:endParaRPr lang="zh-CN" altLang="en-US" b="1" dirty="0">
              <a:latin typeface="楷体_GB2312" pitchFamily="1" charset="-122"/>
              <a:ea typeface="楷体_GB2312" pitchFamily="1"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高速存储器——多模块交叉存储器</a:t>
            </a:r>
            <a:endParaRPr lang="zh-CN" altLang="en-US" sz="3200" dirty="0"/>
          </a:p>
        </p:txBody>
      </p:sp>
      <p:sp>
        <p:nvSpPr>
          <p:cNvPr id="113667" name="Rectangle 3"/>
          <p:cNvSpPr>
            <a:spLocks noGrp="1"/>
          </p:cNvSpPr>
          <p:nvPr>
            <p:ph type="body" idx="4294967295"/>
          </p:nvPr>
        </p:nvSpPr>
        <p:spPr>
          <a:xfrm>
            <a:off x="685800" y="1905000"/>
            <a:ext cx="7772400" cy="4114800"/>
          </a:xfrm>
          <a:ln/>
        </p:spPr>
        <p:txBody>
          <a:bodyPr vert="horz" wrap="square" lIns="91440" tIns="45720" rIns="91440" bIns="45720" anchor="t" anchorCtr="0"/>
          <a:p>
            <a:pPr eaLnBrk="1" hangingPunct="1"/>
            <a:r>
              <a:rPr lang="zh-CN" altLang="zh-CN" b="1" dirty="0">
                <a:solidFill>
                  <a:srgbClr val="993366"/>
                </a:solidFill>
                <a:ea typeface="楷体_GB2312" pitchFamily="1" charset="-122"/>
              </a:rPr>
              <a:t>交叉方式：</a:t>
            </a:r>
            <a:r>
              <a:rPr lang="zh-CN" altLang="zh-CN" b="1" dirty="0">
                <a:ea typeface="楷体_GB2312" pitchFamily="1" charset="-122"/>
              </a:rPr>
              <a:t>用地址码的低位字段经过译码选择不同的模块，而高位字段指向相应模块内的存储字。</a:t>
            </a:r>
            <a:endParaRPr lang="zh-CN" altLang="zh-CN" b="1" dirty="0">
              <a:ea typeface="楷体_GB2312" pitchFamily="1" charset="-122"/>
            </a:endParaRPr>
          </a:p>
          <a:p>
            <a:pPr eaLnBrk="1" hangingPunct="1"/>
            <a:r>
              <a:rPr lang="zh-CN" altLang="zh-CN" b="1" dirty="0">
                <a:ea typeface="楷体_GB2312" pitchFamily="1" charset="-122"/>
              </a:rPr>
              <a:t>        这样，连续地址分布在相邻的不同模块中，而同一模块内的地址都是不连续的。因此，对连续字的成块传送，交叉方式的存储器可以实现多模块流水式并行存取，大大提高存储器的带宽。</a:t>
            </a:r>
            <a:endParaRPr lang="zh-CN" altLang="zh-CN" b="1" dirty="0">
              <a:ea typeface="楷体_GB2312" pitchFamily="1"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高速存储器——多模块交叉存储器</a:t>
            </a:r>
            <a:endParaRPr lang="zh-CN" altLang="en-US" sz="3200" dirty="0"/>
          </a:p>
        </p:txBody>
      </p:sp>
      <p:sp>
        <p:nvSpPr>
          <p:cNvPr id="114691"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latin typeface="楷体_GB2312" pitchFamily="1" charset="-122"/>
                <a:ea typeface="楷体_GB2312" pitchFamily="1" charset="-122"/>
              </a:rPr>
              <a:t>    存储容量是32个字，分成4个模块，每个模块8个字，当存储器寻址时，用地址寄存器的低2位选择4个模块中的一个，而用高3位选择模块中的8个字。</a:t>
            </a:r>
            <a:endParaRPr lang="zh-CN" altLang="en-US" b="1" dirty="0">
              <a:latin typeface="楷体_GB2312" pitchFamily="1" charset="-122"/>
              <a:ea typeface="楷体_GB2312" pitchFamily="1" charset="-122"/>
            </a:endParaRPr>
          </a:p>
        </p:txBody>
      </p:sp>
      <p:sp>
        <p:nvSpPr>
          <p:cNvPr id="114692" name="AutoShape 4"/>
          <p:cNvSpPr/>
          <p:nvPr/>
        </p:nvSpPr>
        <p:spPr>
          <a:xfrm>
            <a:off x="1476375" y="4797425"/>
            <a:ext cx="6248400" cy="457200"/>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               字                             模块 </a:t>
            </a:r>
            <a:endParaRPr lang="zh-CN" altLang="en-US" sz="2400" dirty="0">
              <a:solidFill>
                <a:schemeClr val="tx1"/>
              </a:solidFill>
              <a:latin typeface="Tahoma" panose="020B0604030504040204" pitchFamily="34" charset="0"/>
            </a:endParaRPr>
          </a:p>
        </p:txBody>
      </p:sp>
      <p:sp>
        <p:nvSpPr>
          <p:cNvPr id="114693" name="Line 5"/>
          <p:cNvSpPr/>
          <p:nvPr/>
        </p:nvSpPr>
        <p:spPr>
          <a:xfrm>
            <a:off x="5819775" y="4797425"/>
            <a:ext cx="0" cy="457200"/>
          </a:xfrm>
          <a:prstGeom prst="line">
            <a:avLst/>
          </a:prstGeom>
          <a:ln w="9525" cap="flat" cmpd="sng">
            <a:solidFill>
              <a:schemeClr val="tx1"/>
            </a:solidFill>
            <a:prstDash val="solid"/>
            <a:headEnd type="none" w="med" len="med"/>
            <a:tailEnd type="none" w="med" len="med"/>
          </a:ln>
        </p:spPr>
      </p:sp>
      <p:sp>
        <p:nvSpPr>
          <p:cNvPr id="114694" name="Rectangle 6"/>
          <p:cNvSpPr/>
          <p:nvPr/>
        </p:nvSpPr>
        <p:spPr>
          <a:xfrm>
            <a:off x="1400175" y="4492625"/>
            <a:ext cx="6400800" cy="1524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4                        3                         2   1                    0</a:t>
            </a:r>
            <a:endParaRPr lang="zh-CN" altLang="en-US" sz="2400" dirty="0">
              <a:solidFill>
                <a:schemeClr val="tx1"/>
              </a:solidFill>
              <a:ea typeface="华文新魏" panose="0201080004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高速存储器——多模块交叉存储器</a:t>
            </a:r>
            <a:endParaRPr lang="zh-CN" altLang="en-US" sz="3200" dirty="0"/>
          </a:p>
        </p:txBody>
      </p:sp>
      <p:sp>
        <p:nvSpPr>
          <p:cNvPr id="115715" name="AutoShape 3"/>
          <p:cNvSpPr/>
          <p:nvPr/>
        </p:nvSpPr>
        <p:spPr>
          <a:xfrm>
            <a:off x="1447800" y="2209800"/>
            <a:ext cx="6248400" cy="457200"/>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               字                             模块 </a:t>
            </a:r>
            <a:endParaRPr lang="zh-CN" altLang="en-US" sz="2400" dirty="0">
              <a:solidFill>
                <a:schemeClr val="tx1"/>
              </a:solidFill>
              <a:latin typeface="Tahoma" panose="020B0604030504040204" pitchFamily="34" charset="0"/>
            </a:endParaRPr>
          </a:p>
        </p:txBody>
      </p:sp>
      <p:grpSp>
        <p:nvGrpSpPr>
          <p:cNvPr id="115716" name="Group 4"/>
          <p:cNvGrpSpPr/>
          <p:nvPr/>
        </p:nvGrpSpPr>
        <p:grpSpPr>
          <a:xfrm>
            <a:off x="533400" y="3048000"/>
            <a:ext cx="8305800" cy="3124200"/>
            <a:chOff x="0" y="0"/>
            <a:chExt cx="5280" cy="2016"/>
          </a:xfrm>
        </p:grpSpPr>
        <p:sp>
          <p:nvSpPr>
            <p:cNvPr id="115719" name="AutoShape 5"/>
            <p:cNvSpPr/>
            <p:nvPr/>
          </p:nvSpPr>
          <p:spPr>
            <a:xfrm>
              <a:off x="432" y="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0</a:t>
              </a:r>
              <a:endParaRPr lang="zh-CN" altLang="en-US" sz="2400" dirty="0">
                <a:solidFill>
                  <a:schemeClr val="tx1"/>
                </a:solidFill>
                <a:latin typeface="Tahoma" panose="020B0604030504040204" pitchFamily="34" charset="0"/>
              </a:endParaRPr>
            </a:p>
          </p:txBody>
        </p:sp>
        <p:sp>
          <p:nvSpPr>
            <p:cNvPr id="115720" name="AutoShape 6"/>
            <p:cNvSpPr/>
            <p:nvPr/>
          </p:nvSpPr>
          <p:spPr>
            <a:xfrm>
              <a:off x="432" y="19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4</a:t>
              </a:r>
              <a:endParaRPr lang="zh-CN" altLang="en-US" sz="2400" dirty="0">
                <a:solidFill>
                  <a:schemeClr val="tx1"/>
                </a:solidFill>
                <a:latin typeface="Tahoma" panose="020B0604030504040204" pitchFamily="34" charset="0"/>
              </a:endParaRPr>
            </a:p>
          </p:txBody>
        </p:sp>
        <p:sp>
          <p:nvSpPr>
            <p:cNvPr id="115721" name="AutoShape 7"/>
            <p:cNvSpPr/>
            <p:nvPr/>
          </p:nvSpPr>
          <p:spPr>
            <a:xfrm>
              <a:off x="432" y="38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8</a:t>
              </a:r>
              <a:endParaRPr lang="zh-CN" altLang="en-US" sz="2400" dirty="0">
                <a:solidFill>
                  <a:schemeClr val="tx1"/>
                </a:solidFill>
                <a:latin typeface="Tahoma" panose="020B0604030504040204" pitchFamily="34" charset="0"/>
              </a:endParaRPr>
            </a:p>
          </p:txBody>
        </p:sp>
        <p:sp>
          <p:nvSpPr>
            <p:cNvPr id="115722" name="AutoShape 8"/>
            <p:cNvSpPr/>
            <p:nvPr/>
          </p:nvSpPr>
          <p:spPr>
            <a:xfrm>
              <a:off x="432" y="576"/>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12</a:t>
              </a:r>
              <a:endParaRPr lang="zh-CN" altLang="en-US" sz="2400" dirty="0">
                <a:solidFill>
                  <a:schemeClr val="tx1"/>
                </a:solidFill>
                <a:latin typeface="Tahoma" panose="020B0604030504040204" pitchFamily="34" charset="0"/>
              </a:endParaRPr>
            </a:p>
          </p:txBody>
        </p:sp>
        <p:sp>
          <p:nvSpPr>
            <p:cNvPr id="115723" name="AutoShape 9"/>
            <p:cNvSpPr/>
            <p:nvPr/>
          </p:nvSpPr>
          <p:spPr>
            <a:xfrm>
              <a:off x="432" y="768"/>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16</a:t>
              </a:r>
              <a:endParaRPr lang="zh-CN" altLang="en-US" sz="2400" dirty="0">
                <a:solidFill>
                  <a:schemeClr val="tx1"/>
                </a:solidFill>
                <a:latin typeface="Tahoma" panose="020B0604030504040204" pitchFamily="34" charset="0"/>
              </a:endParaRPr>
            </a:p>
          </p:txBody>
        </p:sp>
        <p:sp>
          <p:nvSpPr>
            <p:cNvPr id="115724" name="AutoShape 10"/>
            <p:cNvSpPr/>
            <p:nvPr/>
          </p:nvSpPr>
          <p:spPr>
            <a:xfrm>
              <a:off x="432" y="96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20</a:t>
              </a:r>
              <a:endParaRPr lang="zh-CN" altLang="en-US" sz="2400" dirty="0">
                <a:solidFill>
                  <a:schemeClr val="tx1"/>
                </a:solidFill>
                <a:latin typeface="Tahoma" panose="020B0604030504040204" pitchFamily="34" charset="0"/>
              </a:endParaRPr>
            </a:p>
          </p:txBody>
        </p:sp>
        <p:sp>
          <p:nvSpPr>
            <p:cNvPr id="115725" name="AutoShape 11"/>
            <p:cNvSpPr/>
            <p:nvPr/>
          </p:nvSpPr>
          <p:spPr>
            <a:xfrm>
              <a:off x="432" y="115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24</a:t>
              </a:r>
              <a:endParaRPr lang="zh-CN" altLang="en-US" sz="2400" dirty="0">
                <a:solidFill>
                  <a:schemeClr val="tx1"/>
                </a:solidFill>
                <a:latin typeface="Tahoma" panose="020B0604030504040204" pitchFamily="34" charset="0"/>
              </a:endParaRPr>
            </a:p>
          </p:txBody>
        </p:sp>
        <p:sp>
          <p:nvSpPr>
            <p:cNvPr id="115726" name="AutoShape 12"/>
            <p:cNvSpPr/>
            <p:nvPr/>
          </p:nvSpPr>
          <p:spPr>
            <a:xfrm>
              <a:off x="432" y="134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28</a:t>
              </a:r>
              <a:endParaRPr lang="zh-CN" altLang="en-US" sz="2400" dirty="0">
                <a:solidFill>
                  <a:schemeClr val="tx1"/>
                </a:solidFill>
                <a:latin typeface="Tahoma" panose="020B0604030504040204" pitchFamily="34" charset="0"/>
              </a:endParaRPr>
            </a:p>
          </p:txBody>
        </p:sp>
        <p:grpSp>
          <p:nvGrpSpPr>
            <p:cNvPr id="115727" name="Group 13"/>
            <p:cNvGrpSpPr/>
            <p:nvPr/>
          </p:nvGrpSpPr>
          <p:grpSpPr>
            <a:xfrm>
              <a:off x="1776" y="0"/>
              <a:ext cx="528" cy="1536"/>
              <a:chOff x="0" y="0"/>
              <a:chExt cx="528" cy="1536"/>
            </a:xfrm>
          </p:grpSpPr>
          <p:sp>
            <p:nvSpPr>
              <p:cNvPr id="115751" name="AutoShape 14"/>
              <p:cNvSpPr/>
              <p:nvPr/>
            </p:nvSpPr>
            <p:spPr>
              <a:xfrm>
                <a:off x="0" y="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a:t>
                </a:r>
                <a:endParaRPr lang="zh-CN" altLang="en-US" sz="2400" dirty="0">
                  <a:solidFill>
                    <a:schemeClr val="tx1"/>
                  </a:solidFill>
                  <a:latin typeface="Tahoma" panose="020B0604030504040204" pitchFamily="34" charset="0"/>
                </a:endParaRPr>
              </a:p>
            </p:txBody>
          </p:sp>
          <p:sp>
            <p:nvSpPr>
              <p:cNvPr id="115752" name="AutoShape 15"/>
              <p:cNvSpPr/>
              <p:nvPr/>
            </p:nvSpPr>
            <p:spPr>
              <a:xfrm>
                <a:off x="0" y="19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5</a:t>
                </a:r>
                <a:endParaRPr lang="zh-CN" altLang="en-US" sz="2400" dirty="0">
                  <a:solidFill>
                    <a:schemeClr val="tx1"/>
                  </a:solidFill>
                  <a:latin typeface="Tahoma" panose="020B0604030504040204" pitchFamily="34" charset="0"/>
                </a:endParaRPr>
              </a:p>
            </p:txBody>
          </p:sp>
          <p:sp>
            <p:nvSpPr>
              <p:cNvPr id="115753" name="AutoShape 16"/>
              <p:cNvSpPr/>
              <p:nvPr/>
            </p:nvSpPr>
            <p:spPr>
              <a:xfrm>
                <a:off x="0" y="38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9</a:t>
                </a:r>
                <a:endParaRPr lang="zh-CN" altLang="en-US" sz="2400" dirty="0">
                  <a:solidFill>
                    <a:schemeClr val="tx1"/>
                  </a:solidFill>
                  <a:latin typeface="Tahoma" panose="020B0604030504040204" pitchFamily="34" charset="0"/>
                </a:endParaRPr>
              </a:p>
            </p:txBody>
          </p:sp>
          <p:sp>
            <p:nvSpPr>
              <p:cNvPr id="115754" name="AutoShape 17"/>
              <p:cNvSpPr/>
              <p:nvPr/>
            </p:nvSpPr>
            <p:spPr>
              <a:xfrm>
                <a:off x="0" y="576"/>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13</a:t>
                </a:r>
                <a:endParaRPr lang="zh-CN" altLang="en-US" sz="2400" dirty="0">
                  <a:solidFill>
                    <a:schemeClr val="tx1"/>
                  </a:solidFill>
                  <a:latin typeface="Tahoma" panose="020B0604030504040204" pitchFamily="34" charset="0"/>
                </a:endParaRPr>
              </a:p>
            </p:txBody>
          </p:sp>
          <p:sp>
            <p:nvSpPr>
              <p:cNvPr id="115755" name="AutoShape 18"/>
              <p:cNvSpPr/>
              <p:nvPr/>
            </p:nvSpPr>
            <p:spPr>
              <a:xfrm>
                <a:off x="0" y="768"/>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17</a:t>
                </a:r>
                <a:endParaRPr lang="zh-CN" altLang="en-US" sz="2400" dirty="0">
                  <a:solidFill>
                    <a:schemeClr val="tx1"/>
                  </a:solidFill>
                  <a:latin typeface="Tahoma" panose="020B0604030504040204" pitchFamily="34" charset="0"/>
                </a:endParaRPr>
              </a:p>
            </p:txBody>
          </p:sp>
          <p:sp>
            <p:nvSpPr>
              <p:cNvPr id="115756" name="AutoShape 19"/>
              <p:cNvSpPr/>
              <p:nvPr/>
            </p:nvSpPr>
            <p:spPr>
              <a:xfrm>
                <a:off x="0" y="96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21</a:t>
                </a:r>
                <a:endParaRPr lang="zh-CN" altLang="en-US" sz="2400" dirty="0">
                  <a:solidFill>
                    <a:schemeClr val="tx1"/>
                  </a:solidFill>
                  <a:latin typeface="Tahoma" panose="020B0604030504040204" pitchFamily="34" charset="0"/>
                </a:endParaRPr>
              </a:p>
            </p:txBody>
          </p:sp>
          <p:sp>
            <p:nvSpPr>
              <p:cNvPr id="115757" name="AutoShape 20"/>
              <p:cNvSpPr/>
              <p:nvPr/>
            </p:nvSpPr>
            <p:spPr>
              <a:xfrm>
                <a:off x="0" y="115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25</a:t>
                </a:r>
                <a:endParaRPr lang="zh-CN" altLang="en-US" sz="2400" dirty="0">
                  <a:solidFill>
                    <a:schemeClr val="tx1"/>
                  </a:solidFill>
                  <a:latin typeface="Tahoma" panose="020B0604030504040204" pitchFamily="34" charset="0"/>
                </a:endParaRPr>
              </a:p>
            </p:txBody>
          </p:sp>
          <p:sp>
            <p:nvSpPr>
              <p:cNvPr id="115758" name="AutoShape 21"/>
              <p:cNvSpPr/>
              <p:nvPr/>
            </p:nvSpPr>
            <p:spPr>
              <a:xfrm>
                <a:off x="0" y="134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29</a:t>
                </a:r>
                <a:endParaRPr lang="zh-CN" altLang="en-US" sz="2400" dirty="0">
                  <a:solidFill>
                    <a:schemeClr val="tx1"/>
                  </a:solidFill>
                  <a:latin typeface="Tahoma" panose="020B0604030504040204" pitchFamily="34" charset="0"/>
                </a:endParaRPr>
              </a:p>
            </p:txBody>
          </p:sp>
        </p:grpSp>
        <p:grpSp>
          <p:nvGrpSpPr>
            <p:cNvPr id="115728" name="Group 22"/>
            <p:cNvGrpSpPr/>
            <p:nvPr/>
          </p:nvGrpSpPr>
          <p:grpSpPr>
            <a:xfrm>
              <a:off x="3168" y="0"/>
              <a:ext cx="528" cy="1536"/>
              <a:chOff x="0" y="0"/>
              <a:chExt cx="528" cy="1536"/>
            </a:xfrm>
          </p:grpSpPr>
          <p:sp>
            <p:nvSpPr>
              <p:cNvPr id="115743" name="AutoShape 23"/>
              <p:cNvSpPr/>
              <p:nvPr/>
            </p:nvSpPr>
            <p:spPr>
              <a:xfrm>
                <a:off x="0" y="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a:t>
                </a:r>
                <a:endParaRPr lang="zh-CN" altLang="en-US" sz="2400" dirty="0">
                  <a:solidFill>
                    <a:schemeClr val="tx1"/>
                  </a:solidFill>
                  <a:latin typeface="Tahoma" panose="020B0604030504040204" pitchFamily="34" charset="0"/>
                </a:endParaRPr>
              </a:p>
            </p:txBody>
          </p:sp>
          <p:sp>
            <p:nvSpPr>
              <p:cNvPr id="115744" name="AutoShape 24"/>
              <p:cNvSpPr/>
              <p:nvPr/>
            </p:nvSpPr>
            <p:spPr>
              <a:xfrm>
                <a:off x="0" y="19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6</a:t>
                </a:r>
                <a:endParaRPr lang="zh-CN" altLang="en-US" sz="2400" dirty="0">
                  <a:solidFill>
                    <a:schemeClr val="tx1"/>
                  </a:solidFill>
                  <a:latin typeface="Tahoma" panose="020B0604030504040204" pitchFamily="34" charset="0"/>
                </a:endParaRPr>
              </a:p>
            </p:txBody>
          </p:sp>
          <p:sp>
            <p:nvSpPr>
              <p:cNvPr id="115745" name="AutoShape 25"/>
              <p:cNvSpPr/>
              <p:nvPr/>
            </p:nvSpPr>
            <p:spPr>
              <a:xfrm>
                <a:off x="0" y="38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10</a:t>
                </a:r>
                <a:endParaRPr lang="zh-CN" altLang="en-US" sz="2400" dirty="0">
                  <a:solidFill>
                    <a:schemeClr val="tx1"/>
                  </a:solidFill>
                  <a:latin typeface="Tahoma" panose="020B0604030504040204" pitchFamily="34" charset="0"/>
                </a:endParaRPr>
              </a:p>
            </p:txBody>
          </p:sp>
          <p:sp>
            <p:nvSpPr>
              <p:cNvPr id="115746" name="AutoShape 26"/>
              <p:cNvSpPr/>
              <p:nvPr/>
            </p:nvSpPr>
            <p:spPr>
              <a:xfrm>
                <a:off x="0" y="576"/>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14</a:t>
                </a:r>
                <a:endParaRPr lang="zh-CN" altLang="en-US" sz="2400" dirty="0">
                  <a:solidFill>
                    <a:schemeClr val="tx1"/>
                  </a:solidFill>
                  <a:latin typeface="Tahoma" panose="020B0604030504040204" pitchFamily="34" charset="0"/>
                </a:endParaRPr>
              </a:p>
            </p:txBody>
          </p:sp>
          <p:sp>
            <p:nvSpPr>
              <p:cNvPr id="115747" name="AutoShape 27"/>
              <p:cNvSpPr/>
              <p:nvPr/>
            </p:nvSpPr>
            <p:spPr>
              <a:xfrm>
                <a:off x="0" y="768"/>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18</a:t>
                </a:r>
                <a:endParaRPr lang="zh-CN" altLang="en-US" sz="2400" dirty="0">
                  <a:solidFill>
                    <a:schemeClr val="tx1"/>
                  </a:solidFill>
                  <a:latin typeface="Tahoma" panose="020B0604030504040204" pitchFamily="34" charset="0"/>
                </a:endParaRPr>
              </a:p>
            </p:txBody>
          </p:sp>
          <p:sp>
            <p:nvSpPr>
              <p:cNvPr id="115748" name="AutoShape 28"/>
              <p:cNvSpPr/>
              <p:nvPr/>
            </p:nvSpPr>
            <p:spPr>
              <a:xfrm>
                <a:off x="0" y="96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22</a:t>
                </a:r>
                <a:endParaRPr lang="zh-CN" altLang="en-US" sz="2400" dirty="0">
                  <a:solidFill>
                    <a:schemeClr val="tx1"/>
                  </a:solidFill>
                  <a:latin typeface="Tahoma" panose="020B0604030504040204" pitchFamily="34" charset="0"/>
                </a:endParaRPr>
              </a:p>
            </p:txBody>
          </p:sp>
          <p:sp>
            <p:nvSpPr>
              <p:cNvPr id="115749" name="AutoShape 29"/>
              <p:cNvSpPr/>
              <p:nvPr/>
            </p:nvSpPr>
            <p:spPr>
              <a:xfrm>
                <a:off x="0" y="115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26</a:t>
                </a:r>
                <a:endParaRPr lang="zh-CN" altLang="en-US" sz="2400" dirty="0">
                  <a:solidFill>
                    <a:schemeClr val="tx1"/>
                  </a:solidFill>
                  <a:latin typeface="Tahoma" panose="020B0604030504040204" pitchFamily="34" charset="0"/>
                </a:endParaRPr>
              </a:p>
            </p:txBody>
          </p:sp>
          <p:sp>
            <p:nvSpPr>
              <p:cNvPr id="115750" name="AutoShape 30"/>
              <p:cNvSpPr/>
              <p:nvPr/>
            </p:nvSpPr>
            <p:spPr>
              <a:xfrm>
                <a:off x="0" y="134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30</a:t>
                </a:r>
                <a:endParaRPr lang="zh-CN" altLang="en-US" sz="2400" dirty="0">
                  <a:solidFill>
                    <a:schemeClr val="tx1"/>
                  </a:solidFill>
                  <a:latin typeface="Tahoma" panose="020B0604030504040204" pitchFamily="34" charset="0"/>
                </a:endParaRPr>
              </a:p>
            </p:txBody>
          </p:sp>
        </p:grpSp>
        <p:grpSp>
          <p:nvGrpSpPr>
            <p:cNvPr id="115729" name="Group 31"/>
            <p:cNvGrpSpPr/>
            <p:nvPr/>
          </p:nvGrpSpPr>
          <p:grpSpPr>
            <a:xfrm>
              <a:off x="4464" y="0"/>
              <a:ext cx="528" cy="1536"/>
              <a:chOff x="0" y="0"/>
              <a:chExt cx="528" cy="1536"/>
            </a:xfrm>
          </p:grpSpPr>
          <p:sp>
            <p:nvSpPr>
              <p:cNvPr id="115735" name="AutoShape 32"/>
              <p:cNvSpPr/>
              <p:nvPr/>
            </p:nvSpPr>
            <p:spPr>
              <a:xfrm>
                <a:off x="0" y="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3</a:t>
                </a:r>
                <a:endParaRPr lang="zh-CN" altLang="en-US" sz="2400" dirty="0">
                  <a:solidFill>
                    <a:schemeClr val="tx1"/>
                  </a:solidFill>
                  <a:latin typeface="Tahoma" panose="020B0604030504040204" pitchFamily="34" charset="0"/>
                </a:endParaRPr>
              </a:p>
            </p:txBody>
          </p:sp>
          <p:sp>
            <p:nvSpPr>
              <p:cNvPr id="115736" name="AutoShape 33"/>
              <p:cNvSpPr/>
              <p:nvPr/>
            </p:nvSpPr>
            <p:spPr>
              <a:xfrm>
                <a:off x="0" y="19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7</a:t>
                </a:r>
                <a:endParaRPr lang="zh-CN" altLang="en-US" sz="2400" dirty="0">
                  <a:solidFill>
                    <a:schemeClr val="tx1"/>
                  </a:solidFill>
                  <a:latin typeface="Tahoma" panose="020B0604030504040204" pitchFamily="34" charset="0"/>
                </a:endParaRPr>
              </a:p>
            </p:txBody>
          </p:sp>
          <p:sp>
            <p:nvSpPr>
              <p:cNvPr id="115737" name="AutoShape 34"/>
              <p:cNvSpPr/>
              <p:nvPr/>
            </p:nvSpPr>
            <p:spPr>
              <a:xfrm>
                <a:off x="0" y="38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11</a:t>
                </a:r>
                <a:endParaRPr lang="zh-CN" altLang="en-US" sz="2400" dirty="0">
                  <a:solidFill>
                    <a:schemeClr val="tx1"/>
                  </a:solidFill>
                  <a:latin typeface="Tahoma" panose="020B0604030504040204" pitchFamily="34" charset="0"/>
                </a:endParaRPr>
              </a:p>
            </p:txBody>
          </p:sp>
          <p:sp>
            <p:nvSpPr>
              <p:cNvPr id="115738" name="AutoShape 35"/>
              <p:cNvSpPr/>
              <p:nvPr/>
            </p:nvSpPr>
            <p:spPr>
              <a:xfrm>
                <a:off x="0" y="576"/>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15</a:t>
                </a:r>
                <a:endParaRPr lang="zh-CN" altLang="en-US" sz="2400" dirty="0">
                  <a:solidFill>
                    <a:schemeClr val="tx1"/>
                  </a:solidFill>
                  <a:latin typeface="Tahoma" panose="020B0604030504040204" pitchFamily="34" charset="0"/>
                </a:endParaRPr>
              </a:p>
            </p:txBody>
          </p:sp>
          <p:sp>
            <p:nvSpPr>
              <p:cNvPr id="115739" name="AutoShape 36"/>
              <p:cNvSpPr/>
              <p:nvPr/>
            </p:nvSpPr>
            <p:spPr>
              <a:xfrm>
                <a:off x="0" y="768"/>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19</a:t>
                </a:r>
                <a:endParaRPr lang="zh-CN" altLang="en-US" sz="2400" dirty="0">
                  <a:solidFill>
                    <a:schemeClr val="tx1"/>
                  </a:solidFill>
                  <a:latin typeface="Tahoma" panose="020B0604030504040204" pitchFamily="34" charset="0"/>
                </a:endParaRPr>
              </a:p>
            </p:txBody>
          </p:sp>
          <p:sp>
            <p:nvSpPr>
              <p:cNvPr id="115740" name="AutoShape 37"/>
              <p:cNvSpPr/>
              <p:nvPr/>
            </p:nvSpPr>
            <p:spPr>
              <a:xfrm>
                <a:off x="0" y="960"/>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23</a:t>
                </a:r>
                <a:endParaRPr lang="zh-CN" altLang="en-US" sz="2400" dirty="0">
                  <a:solidFill>
                    <a:schemeClr val="tx1"/>
                  </a:solidFill>
                  <a:latin typeface="Tahoma" panose="020B0604030504040204" pitchFamily="34" charset="0"/>
                </a:endParaRPr>
              </a:p>
            </p:txBody>
          </p:sp>
          <p:sp>
            <p:nvSpPr>
              <p:cNvPr id="115741" name="AutoShape 38"/>
              <p:cNvSpPr/>
              <p:nvPr/>
            </p:nvSpPr>
            <p:spPr>
              <a:xfrm>
                <a:off x="0" y="1152"/>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27</a:t>
                </a:r>
                <a:endParaRPr lang="zh-CN" altLang="en-US" sz="2400" dirty="0">
                  <a:solidFill>
                    <a:schemeClr val="tx1"/>
                  </a:solidFill>
                  <a:latin typeface="Tahoma" panose="020B0604030504040204" pitchFamily="34" charset="0"/>
                </a:endParaRPr>
              </a:p>
            </p:txBody>
          </p:sp>
          <p:sp>
            <p:nvSpPr>
              <p:cNvPr id="115742" name="AutoShape 39"/>
              <p:cNvSpPr/>
              <p:nvPr/>
            </p:nvSpPr>
            <p:spPr>
              <a:xfrm>
                <a:off x="0" y="1344"/>
                <a:ext cx="528" cy="192"/>
              </a:xfrm>
              <a:prstGeom prst="flowChart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31</a:t>
                </a:r>
                <a:endParaRPr lang="zh-CN" altLang="en-US" sz="2400" dirty="0">
                  <a:solidFill>
                    <a:schemeClr val="tx1"/>
                  </a:solidFill>
                  <a:latin typeface="Tahoma" panose="020B0604030504040204" pitchFamily="34" charset="0"/>
                </a:endParaRPr>
              </a:p>
            </p:txBody>
          </p:sp>
        </p:grpSp>
        <p:sp>
          <p:nvSpPr>
            <p:cNvPr id="115730" name="AutoShape 40"/>
            <p:cNvSpPr/>
            <p:nvPr/>
          </p:nvSpPr>
          <p:spPr>
            <a:xfrm>
              <a:off x="0" y="1776"/>
              <a:ext cx="5280" cy="240"/>
            </a:xfrm>
            <a:prstGeom prst="leftRightArrow">
              <a:avLst>
                <a:gd name="adj1" fmla="val 53333"/>
                <a:gd name="adj2" fmla="val 7384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15731" name="Line 41"/>
            <p:cNvSpPr/>
            <p:nvPr/>
          </p:nvSpPr>
          <p:spPr>
            <a:xfrm>
              <a:off x="672" y="1536"/>
              <a:ext cx="0" cy="288"/>
            </a:xfrm>
            <a:prstGeom prst="line">
              <a:avLst/>
            </a:prstGeom>
            <a:ln w="28575" cap="flat" cmpd="sng">
              <a:solidFill>
                <a:schemeClr val="tx1"/>
              </a:solidFill>
              <a:prstDash val="solid"/>
              <a:headEnd type="triangle" w="med" len="med"/>
              <a:tailEnd type="triangle" w="med" len="med"/>
            </a:ln>
          </p:spPr>
        </p:sp>
        <p:sp>
          <p:nvSpPr>
            <p:cNvPr id="115732" name="Line 42"/>
            <p:cNvSpPr/>
            <p:nvPr/>
          </p:nvSpPr>
          <p:spPr>
            <a:xfrm>
              <a:off x="2064" y="1536"/>
              <a:ext cx="0" cy="288"/>
            </a:xfrm>
            <a:prstGeom prst="line">
              <a:avLst/>
            </a:prstGeom>
            <a:ln w="28575" cap="flat" cmpd="sng">
              <a:solidFill>
                <a:schemeClr val="tx1"/>
              </a:solidFill>
              <a:prstDash val="solid"/>
              <a:headEnd type="triangle" w="med" len="med"/>
              <a:tailEnd type="triangle" w="med" len="med"/>
            </a:ln>
          </p:spPr>
        </p:sp>
        <p:sp>
          <p:nvSpPr>
            <p:cNvPr id="115733" name="Line 43"/>
            <p:cNvSpPr/>
            <p:nvPr/>
          </p:nvSpPr>
          <p:spPr>
            <a:xfrm>
              <a:off x="3408" y="1536"/>
              <a:ext cx="0" cy="288"/>
            </a:xfrm>
            <a:prstGeom prst="line">
              <a:avLst/>
            </a:prstGeom>
            <a:ln w="28575" cap="flat" cmpd="sng">
              <a:solidFill>
                <a:schemeClr val="tx1"/>
              </a:solidFill>
              <a:prstDash val="solid"/>
              <a:headEnd type="triangle" w="med" len="med"/>
              <a:tailEnd type="triangle" w="med" len="med"/>
            </a:ln>
          </p:spPr>
        </p:sp>
        <p:sp>
          <p:nvSpPr>
            <p:cNvPr id="115734" name="Line 44"/>
            <p:cNvSpPr/>
            <p:nvPr/>
          </p:nvSpPr>
          <p:spPr>
            <a:xfrm>
              <a:off x="4704" y="1536"/>
              <a:ext cx="0" cy="288"/>
            </a:xfrm>
            <a:prstGeom prst="line">
              <a:avLst/>
            </a:prstGeom>
            <a:ln w="28575" cap="flat" cmpd="sng">
              <a:solidFill>
                <a:schemeClr val="tx1"/>
              </a:solidFill>
              <a:prstDash val="solid"/>
              <a:headEnd type="triangle" w="med" len="med"/>
              <a:tailEnd type="triangle" w="med" len="med"/>
            </a:ln>
          </p:spPr>
        </p:sp>
      </p:grpSp>
      <p:sp>
        <p:nvSpPr>
          <p:cNvPr id="115717" name="Line 45"/>
          <p:cNvSpPr/>
          <p:nvPr/>
        </p:nvSpPr>
        <p:spPr>
          <a:xfrm>
            <a:off x="5791200" y="2209800"/>
            <a:ext cx="0" cy="457200"/>
          </a:xfrm>
          <a:prstGeom prst="line">
            <a:avLst/>
          </a:prstGeom>
          <a:ln w="9525" cap="flat" cmpd="sng">
            <a:solidFill>
              <a:schemeClr val="tx1"/>
            </a:solidFill>
            <a:prstDash val="solid"/>
            <a:headEnd type="none" w="med" len="med"/>
            <a:tailEnd type="none" w="med" len="med"/>
          </a:ln>
        </p:spPr>
      </p:sp>
      <p:sp>
        <p:nvSpPr>
          <p:cNvPr id="115718" name="Rectangle 46"/>
          <p:cNvSpPr/>
          <p:nvPr/>
        </p:nvSpPr>
        <p:spPr>
          <a:xfrm>
            <a:off x="1371600" y="1905000"/>
            <a:ext cx="6400800" cy="1524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4                        3                         2   1                    0</a:t>
            </a:r>
            <a:endParaRPr lang="zh-CN" altLang="en-US" sz="2400" dirty="0">
              <a:solidFill>
                <a:schemeClr val="tx1"/>
              </a:solidFill>
              <a:ea typeface="华文新魏" panose="0201080004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高速存储器——多模块交叉存储器</a:t>
            </a:r>
            <a:endParaRPr lang="zh-CN" altLang="en-US" sz="3200" dirty="0"/>
          </a:p>
        </p:txBody>
      </p:sp>
      <p:sp>
        <p:nvSpPr>
          <p:cNvPr id="116739" name="Rectangle 3"/>
          <p:cNvSpPr>
            <a:spLocks noGrp="1"/>
          </p:cNvSpPr>
          <p:nvPr>
            <p:ph type="body" idx="4294967295"/>
          </p:nvPr>
        </p:nvSpPr>
        <p:spPr>
          <a:xfrm>
            <a:off x="685800" y="1828800"/>
            <a:ext cx="7772400" cy="4267200"/>
          </a:xfrm>
          <a:ln/>
        </p:spPr>
        <p:txBody>
          <a:bodyPr vert="horz" wrap="square" lIns="91440" tIns="45720" rIns="91440" bIns="45720" anchor="t" anchorCtr="0"/>
          <a:p>
            <a:pPr eaLnBrk="1" hangingPunct="1"/>
            <a:r>
              <a:rPr lang="zh-CN" altLang="zh-CN" b="1" dirty="0">
                <a:ea typeface="楷体_GB2312" pitchFamily="1" charset="-122"/>
              </a:rPr>
              <a:t>多模块交叉存储器的基本结构</a:t>
            </a:r>
            <a:endParaRPr lang="zh-CN" altLang="zh-CN" b="1" dirty="0">
              <a:ea typeface="楷体_GB2312" pitchFamily="1" charset="-122"/>
            </a:endParaRPr>
          </a:p>
        </p:txBody>
      </p:sp>
      <p:grpSp>
        <p:nvGrpSpPr>
          <p:cNvPr id="116740" name="Group 4"/>
          <p:cNvGrpSpPr/>
          <p:nvPr/>
        </p:nvGrpSpPr>
        <p:grpSpPr>
          <a:xfrm>
            <a:off x="2514600" y="2438400"/>
            <a:ext cx="3962400" cy="3505200"/>
            <a:chOff x="0" y="0"/>
            <a:chExt cx="2496" cy="2208"/>
          </a:xfrm>
        </p:grpSpPr>
        <p:sp>
          <p:nvSpPr>
            <p:cNvPr id="116741" name="AutoShape 5"/>
            <p:cNvSpPr/>
            <p:nvPr/>
          </p:nvSpPr>
          <p:spPr>
            <a:xfrm>
              <a:off x="48" y="0"/>
              <a:ext cx="2304" cy="336"/>
            </a:xfrm>
            <a:prstGeom prst="flowChartProcess">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CPU</a:t>
              </a:r>
              <a:endParaRPr lang="zh-CN" altLang="en-US" sz="2400" dirty="0">
                <a:solidFill>
                  <a:schemeClr val="tx1"/>
                </a:solidFill>
                <a:latin typeface="Tahoma" panose="020B0604030504040204" pitchFamily="34" charset="0"/>
              </a:endParaRPr>
            </a:p>
          </p:txBody>
        </p:sp>
        <p:sp>
          <p:nvSpPr>
            <p:cNvPr id="116742" name="Rectangle 6"/>
            <p:cNvSpPr/>
            <p:nvPr/>
          </p:nvSpPr>
          <p:spPr>
            <a:xfrm>
              <a:off x="48" y="624"/>
              <a:ext cx="2352" cy="336"/>
            </a:xfrm>
            <a:prstGeom prst="rect">
              <a:avLst/>
            </a:prstGeom>
            <a:solidFill>
              <a:srgbClr val="FFCC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dirty="0">
                  <a:solidFill>
                    <a:schemeClr val="tx1"/>
                  </a:solidFill>
                  <a:latin typeface="Tahoma" panose="020B0604030504040204" pitchFamily="34" charset="0"/>
                </a:rPr>
                <a:t>存储器控制部件 </a:t>
              </a:r>
              <a:endParaRPr lang="zh-CN" altLang="zh-CN" sz="2400" dirty="0">
                <a:solidFill>
                  <a:schemeClr val="tx1"/>
                </a:solidFill>
                <a:latin typeface="Tahoma" panose="020B0604030504040204" pitchFamily="34" charset="0"/>
              </a:endParaRPr>
            </a:p>
          </p:txBody>
        </p:sp>
        <p:grpSp>
          <p:nvGrpSpPr>
            <p:cNvPr id="116743" name="Group 7"/>
            <p:cNvGrpSpPr/>
            <p:nvPr/>
          </p:nvGrpSpPr>
          <p:grpSpPr>
            <a:xfrm>
              <a:off x="0" y="960"/>
              <a:ext cx="528" cy="1248"/>
              <a:chOff x="0" y="0"/>
              <a:chExt cx="528" cy="1248"/>
            </a:xfrm>
          </p:grpSpPr>
          <p:sp>
            <p:nvSpPr>
              <p:cNvPr id="116760" name="AutoShape 8"/>
              <p:cNvSpPr/>
              <p:nvPr/>
            </p:nvSpPr>
            <p:spPr>
              <a:xfrm>
                <a:off x="0" y="624"/>
                <a:ext cx="528" cy="624"/>
              </a:xfrm>
              <a:prstGeom prst="flowChartProcess">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M</a:t>
                </a:r>
                <a:r>
                  <a:rPr lang="zh-CN" altLang="en-US" sz="2400" baseline="-25000" dirty="0">
                    <a:solidFill>
                      <a:schemeClr val="tx1"/>
                    </a:solidFill>
                    <a:latin typeface="Tahoma" panose="020B0604030504040204" pitchFamily="34" charset="0"/>
                  </a:rPr>
                  <a:t>0</a:t>
                </a:r>
                <a:endParaRPr lang="zh-CN" altLang="en-US" sz="2400" baseline="-25000" dirty="0">
                  <a:solidFill>
                    <a:schemeClr val="tx1"/>
                  </a:solidFill>
                  <a:latin typeface="Tahoma" panose="020B0604030504040204" pitchFamily="34" charset="0"/>
                </a:endParaRPr>
              </a:p>
            </p:txBody>
          </p:sp>
          <p:sp>
            <p:nvSpPr>
              <p:cNvPr id="116761" name="Line 9"/>
              <p:cNvSpPr/>
              <p:nvPr/>
            </p:nvSpPr>
            <p:spPr>
              <a:xfrm>
                <a:off x="0" y="768"/>
                <a:ext cx="528" cy="0"/>
              </a:xfrm>
              <a:prstGeom prst="line">
                <a:avLst/>
              </a:prstGeom>
              <a:ln w="9525" cap="flat" cmpd="sng">
                <a:solidFill>
                  <a:schemeClr val="tx1"/>
                </a:solidFill>
                <a:prstDash val="solid"/>
                <a:headEnd type="none" w="med" len="med"/>
                <a:tailEnd type="none" w="med" len="med"/>
              </a:ln>
            </p:spPr>
          </p:sp>
          <p:sp>
            <p:nvSpPr>
              <p:cNvPr id="116762" name="Line 10"/>
              <p:cNvSpPr/>
              <p:nvPr/>
            </p:nvSpPr>
            <p:spPr>
              <a:xfrm>
                <a:off x="0" y="912"/>
                <a:ext cx="528" cy="0"/>
              </a:xfrm>
              <a:prstGeom prst="line">
                <a:avLst/>
              </a:prstGeom>
              <a:ln w="9525" cap="flat" cmpd="sng">
                <a:solidFill>
                  <a:schemeClr val="tx1"/>
                </a:solidFill>
                <a:prstDash val="solid"/>
                <a:headEnd type="none" w="med" len="med"/>
                <a:tailEnd type="none" w="med" len="med"/>
              </a:ln>
            </p:spPr>
          </p:sp>
          <p:sp>
            <p:nvSpPr>
              <p:cNvPr id="116763" name="AutoShape 11"/>
              <p:cNvSpPr/>
              <p:nvPr/>
            </p:nvSpPr>
            <p:spPr>
              <a:xfrm>
                <a:off x="192" y="0"/>
                <a:ext cx="144" cy="624"/>
              </a:xfrm>
              <a:prstGeom prst="upDownArrow">
                <a:avLst>
                  <a:gd name="adj1" fmla="val 50000"/>
                  <a:gd name="adj2" fmla="val 86666"/>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nvGrpSpPr>
            <p:cNvPr id="116744" name="Group 12"/>
            <p:cNvGrpSpPr/>
            <p:nvPr/>
          </p:nvGrpSpPr>
          <p:grpSpPr>
            <a:xfrm>
              <a:off x="672" y="960"/>
              <a:ext cx="528" cy="1248"/>
              <a:chOff x="0" y="0"/>
              <a:chExt cx="528" cy="1248"/>
            </a:xfrm>
          </p:grpSpPr>
          <p:sp>
            <p:nvSpPr>
              <p:cNvPr id="116756" name="AutoShape 13"/>
              <p:cNvSpPr/>
              <p:nvPr/>
            </p:nvSpPr>
            <p:spPr>
              <a:xfrm>
                <a:off x="0" y="624"/>
                <a:ext cx="528" cy="624"/>
              </a:xfrm>
              <a:prstGeom prst="flowChartProcess">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M</a:t>
                </a:r>
                <a:r>
                  <a:rPr lang="zh-CN" altLang="en-US" sz="2400" baseline="-25000" dirty="0">
                    <a:solidFill>
                      <a:schemeClr val="tx1"/>
                    </a:solidFill>
                    <a:latin typeface="Tahoma" panose="020B0604030504040204" pitchFamily="34" charset="0"/>
                  </a:rPr>
                  <a:t>1</a:t>
                </a:r>
                <a:endParaRPr lang="zh-CN" altLang="en-US" sz="2400" baseline="-25000" dirty="0">
                  <a:solidFill>
                    <a:schemeClr val="tx1"/>
                  </a:solidFill>
                  <a:latin typeface="Tahoma" panose="020B0604030504040204" pitchFamily="34" charset="0"/>
                </a:endParaRPr>
              </a:p>
            </p:txBody>
          </p:sp>
          <p:sp>
            <p:nvSpPr>
              <p:cNvPr id="116757" name="Line 14"/>
              <p:cNvSpPr/>
              <p:nvPr/>
            </p:nvSpPr>
            <p:spPr>
              <a:xfrm>
                <a:off x="0" y="768"/>
                <a:ext cx="528" cy="0"/>
              </a:xfrm>
              <a:prstGeom prst="line">
                <a:avLst/>
              </a:prstGeom>
              <a:ln w="9525" cap="flat" cmpd="sng">
                <a:solidFill>
                  <a:schemeClr val="tx1"/>
                </a:solidFill>
                <a:prstDash val="solid"/>
                <a:headEnd type="none" w="med" len="med"/>
                <a:tailEnd type="none" w="med" len="med"/>
              </a:ln>
            </p:spPr>
          </p:sp>
          <p:sp>
            <p:nvSpPr>
              <p:cNvPr id="116758" name="Line 15"/>
              <p:cNvSpPr/>
              <p:nvPr/>
            </p:nvSpPr>
            <p:spPr>
              <a:xfrm>
                <a:off x="0" y="912"/>
                <a:ext cx="528" cy="0"/>
              </a:xfrm>
              <a:prstGeom prst="line">
                <a:avLst/>
              </a:prstGeom>
              <a:ln w="9525" cap="flat" cmpd="sng">
                <a:solidFill>
                  <a:schemeClr val="tx1"/>
                </a:solidFill>
                <a:prstDash val="solid"/>
                <a:headEnd type="none" w="med" len="med"/>
                <a:tailEnd type="none" w="med" len="med"/>
              </a:ln>
            </p:spPr>
          </p:sp>
          <p:sp>
            <p:nvSpPr>
              <p:cNvPr id="116759" name="AutoShape 16"/>
              <p:cNvSpPr/>
              <p:nvPr/>
            </p:nvSpPr>
            <p:spPr>
              <a:xfrm>
                <a:off x="192" y="0"/>
                <a:ext cx="144" cy="624"/>
              </a:xfrm>
              <a:prstGeom prst="upDownArrow">
                <a:avLst>
                  <a:gd name="adj1" fmla="val 50000"/>
                  <a:gd name="adj2" fmla="val 86666"/>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nvGrpSpPr>
            <p:cNvPr id="116745" name="Group 17"/>
            <p:cNvGrpSpPr/>
            <p:nvPr/>
          </p:nvGrpSpPr>
          <p:grpSpPr>
            <a:xfrm>
              <a:off x="1296" y="960"/>
              <a:ext cx="528" cy="1248"/>
              <a:chOff x="0" y="0"/>
              <a:chExt cx="528" cy="1248"/>
            </a:xfrm>
          </p:grpSpPr>
          <p:sp>
            <p:nvSpPr>
              <p:cNvPr id="116752" name="AutoShape 18"/>
              <p:cNvSpPr/>
              <p:nvPr/>
            </p:nvSpPr>
            <p:spPr>
              <a:xfrm>
                <a:off x="0" y="624"/>
                <a:ext cx="528" cy="624"/>
              </a:xfrm>
              <a:prstGeom prst="flowChartProcess">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M</a:t>
                </a:r>
                <a:r>
                  <a:rPr lang="zh-CN" altLang="en-US" sz="2400" baseline="-25000" dirty="0">
                    <a:solidFill>
                      <a:schemeClr val="tx1"/>
                    </a:solidFill>
                    <a:latin typeface="Tahoma" panose="020B0604030504040204" pitchFamily="34" charset="0"/>
                  </a:rPr>
                  <a:t>2</a:t>
                </a:r>
                <a:endParaRPr lang="zh-CN" altLang="en-US" sz="2400" baseline="-25000" dirty="0">
                  <a:solidFill>
                    <a:schemeClr val="tx1"/>
                  </a:solidFill>
                  <a:latin typeface="Tahoma" panose="020B0604030504040204" pitchFamily="34" charset="0"/>
                </a:endParaRPr>
              </a:p>
            </p:txBody>
          </p:sp>
          <p:sp>
            <p:nvSpPr>
              <p:cNvPr id="116753" name="Line 19"/>
              <p:cNvSpPr/>
              <p:nvPr/>
            </p:nvSpPr>
            <p:spPr>
              <a:xfrm>
                <a:off x="0" y="768"/>
                <a:ext cx="528" cy="0"/>
              </a:xfrm>
              <a:prstGeom prst="line">
                <a:avLst/>
              </a:prstGeom>
              <a:ln w="9525" cap="flat" cmpd="sng">
                <a:solidFill>
                  <a:schemeClr val="tx1"/>
                </a:solidFill>
                <a:prstDash val="solid"/>
                <a:headEnd type="none" w="med" len="med"/>
                <a:tailEnd type="none" w="med" len="med"/>
              </a:ln>
            </p:spPr>
          </p:sp>
          <p:sp>
            <p:nvSpPr>
              <p:cNvPr id="116754" name="Line 20"/>
              <p:cNvSpPr/>
              <p:nvPr/>
            </p:nvSpPr>
            <p:spPr>
              <a:xfrm>
                <a:off x="0" y="912"/>
                <a:ext cx="528" cy="0"/>
              </a:xfrm>
              <a:prstGeom prst="line">
                <a:avLst/>
              </a:prstGeom>
              <a:ln w="9525" cap="flat" cmpd="sng">
                <a:solidFill>
                  <a:schemeClr val="tx1"/>
                </a:solidFill>
                <a:prstDash val="solid"/>
                <a:headEnd type="none" w="med" len="med"/>
                <a:tailEnd type="none" w="med" len="med"/>
              </a:ln>
            </p:spPr>
          </p:sp>
          <p:sp>
            <p:nvSpPr>
              <p:cNvPr id="116755" name="AutoShape 21"/>
              <p:cNvSpPr/>
              <p:nvPr/>
            </p:nvSpPr>
            <p:spPr>
              <a:xfrm>
                <a:off x="192" y="0"/>
                <a:ext cx="144" cy="624"/>
              </a:xfrm>
              <a:prstGeom prst="upDownArrow">
                <a:avLst>
                  <a:gd name="adj1" fmla="val 50000"/>
                  <a:gd name="adj2" fmla="val 86666"/>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nvGrpSpPr>
            <p:cNvPr id="116746" name="Group 22"/>
            <p:cNvGrpSpPr/>
            <p:nvPr/>
          </p:nvGrpSpPr>
          <p:grpSpPr>
            <a:xfrm>
              <a:off x="1968" y="960"/>
              <a:ext cx="528" cy="1248"/>
              <a:chOff x="0" y="0"/>
              <a:chExt cx="528" cy="1248"/>
            </a:xfrm>
          </p:grpSpPr>
          <p:sp>
            <p:nvSpPr>
              <p:cNvPr id="116748" name="AutoShape 23"/>
              <p:cNvSpPr/>
              <p:nvPr/>
            </p:nvSpPr>
            <p:spPr>
              <a:xfrm>
                <a:off x="0" y="624"/>
                <a:ext cx="528" cy="624"/>
              </a:xfrm>
              <a:prstGeom prst="flowChartProcess">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M</a:t>
                </a:r>
                <a:r>
                  <a:rPr lang="zh-CN" altLang="en-US" sz="2400" baseline="-25000" dirty="0">
                    <a:solidFill>
                      <a:schemeClr val="tx1"/>
                    </a:solidFill>
                    <a:latin typeface="Tahoma" panose="020B0604030504040204" pitchFamily="34" charset="0"/>
                  </a:rPr>
                  <a:t>3</a:t>
                </a:r>
                <a:endParaRPr lang="zh-CN" altLang="en-US" sz="2400" baseline="-25000" dirty="0">
                  <a:solidFill>
                    <a:schemeClr val="tx1"/>
                  </a:solidFill>
                  <a:latin typeface="Tahoma" panose="020B0604030504040204" pitchFamily="34" charset="0"/>
                </a:endParaRPr>
              </a:p>
            </p:txBody>
          </p:sp>
          <p:sp>
            <p:nvSpPr>
              <p:cNvPr id="116749" name="Line 24"/>
              <p:cNvSpPr/>
              <p:nvPr/>
            </p:nvSpPr>
            <p:spPr>
              <a:xfrm>
                <a:off x="0" y="768"/>
                <a:ext cx="528" cy="0"/>
              </a:xfrm>
              <a:prstGeom prst="line">
                <a:avLst/>
              </a:prstGeom>
              <a:ln w="9525" cap="flat" cmpd="sng">
                <a:solidFill>
                  <a:schemeClr val="tx1"/>
                </a:solidFill>
                <a:prstDash val="solid"/>
                <a:headEnd type="none" w="med" len="med"/>
                <a:tailEnd type="none" w="med" len="med"/>
              </a:ln>
            </p:spPr>
          </p:sp>
          <p:sp>
            <p:nvSpPr>
              <p:cNvPr id="116750" name="Line 25"/>
              <p:cNvSpPr/>
              <p:nvPr/>
            </p:nvSpPr>
            <p:spPr>
              <a:xfrm>
                <a:off x="0" y="912"/>
                <a:ext cx="528" cy="0"/>
              </a:xfrm>
              <a:prstGeom prst="line">
                <a:avLst/>
              </a:prstGeom>
              <a:ln w="9525" cap="flat" cmpd="sng">
                <a:solidFill>
                  <a:schemeClr val="tx1"/>
                </a:solidFill>
                <a:prstDash val="solid"/>
                <a:headEnd type="none" w="med" len="med"/>
                <a:tailEnd type="none" w="med" len="med"/>
              </a:ln>
            </p:spPr>
          </p:sp>
          <p:sp>
            <p:nvSpPr>
              <p:cNvPr id="116751" name="AutoShape 26"/>
              <p:cNvSpPr/>
              <p:nvPr/>
            </p:nvSpPr>
            <p:spPr>
              <a:xfrm>
                <a:off x="192" y="0"/>
                <a:ext cx="144" cy="624"/>
              </a:xfrm>
              <a:prstGeom prst="upDownArrow">
                <a:avLst>
                  <a:gd name="adj1" fmla="val 50000"/>
                  <a:gd name="adj2" fmla="val 86666"/>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sp>
          <p:nvSpPr>
            <p:cNvPr id="116747" name="AutoShape 27"/>
            <p:cNvSpPr/>
            <p:nvPr/>
          </p:nvSpPr>
          <p:spPr>
            <a:xfrm>
              <a:off x="1104" y="336"/>
              <a:ext cx="192" cy="288"/>
            </a:xfrm>
            <a:prstGeom prst="upDownArrow">
              <a:avLst>
                <a:gd name="adj1" fmla="val 50000"/>
                <a:gd name="adj2" fmla="val 300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body" idx="4294967295"/>
          </p:nvPr>
        </p:nvSpPr>
        <p:spPr>
          <a:xfrm>
            <a:off x="396875" y="909638"/>
            <a:ext cx="8305800" cy="5105400"/>
          </a:xfrm>
          <a:ln/>
        </p:spPr>
        <p:txBody>
          <a:bodyPr vert="horz" wrap="square" lIns="91440" tIns="45720" rIns="91440" bIns="45720" anchor="t" anchorCtr="0"/>
          <a:p>
            <a:pPr eaLnBrk="1" hangingPunct="1"/>
            <a:r>
              <a:rPr lang="zh-CN" altLang="en-US" sz="2800" b="1" dirty="0">
                <a:latin typeface="楷体_GB2312" pitchFamily="1" charset="-122"/>
                <a:ea typeface="楷体_GB2312" pitchFamily="1" charset="-122"/>
              </a:rPr>
              <a:t>    每个模块各自以等同的方式与CPU传送信息。</a:t>
            </a:r>
            <a:r>
              <a:rPr lang="zh-CN" altLang="en-US" sz="2800" b="1" dirty="0">
                <a:solidFill>
                  <a:srgbClr val="993366"/>
                </a:solidFill>
                <a:latin typeface="楷体_GB2312" pitchFamily="1" charset="-122"/>
                <a:ea typeface="楷体_GB2312" pitchFamily="1" charset="-122"/>
              </a:rPr>
              <a:t>CPU同时访问四个模块，由存储器控制部件控制它们分时使用数据总线进行信息传递</a:t>
            </a:r>
            <a:r>
              <a:rPr lang="zh-CN" altLang="en-US" sz="2800" b="1" dirty="0">
                <a:latin typeface="楷体_GB2312" pitchFamily="1" charset="-122"/>
                <a:ea typeface="楷体_GB2312" pitchFamily="1" charset="-122"/>
              </a:rPr>
              <a:t>。是一种并行存储器结构。</a:t>
            </a:r>
            <a:endParaRPr lang="zh-CN" altLang="en-US" sz="2800" b="1" dirty="0">
              <a:latin typeface="楷体_GB2312" pitchFamily="1" charset="-122"/>
              <a:ea typeface="楷体_GB2312" pitchFamily="1" charset="-122"/>
            </a:endParaRPr>
          </a:p>
          <a:p>
            <a:pPr eaLnBrk="1" hangingPunct="1"/>
            <a:r>
              <a:rPr lang="zh-CN" altLang="en-US" sz="2800" b="1" dirty="0">
                <a:latin typeface="楷体_GB2312" pitchFamily="1" charset="-122"/>
                <a:ea typeface="楷体_GB2312" pitchFamily="1" charset="-122"/>
              </a:rPr>
              <a:t>    模块字长等于数据总线宽度，模块存取一个字的存储周期为T，总线传送周期为τ，存储器的交叉模块数为m，为了实现流水线方式存取，应当满足T=mτ（m=T/τ称为交叉存取度）交叉存储器要求其模块数必须大于或等于m，以保证启动某模块后经mτ时间再次启动该模块时，它的上次存取操作已经完成。</a:t>
            </a:r>
            <a:endParaRPr lang="zh-CN" altLang="en-US" sz="2800" b="1" dirty="0">
              <a:latin typeface="楷体_GB2312" pitchFamily="1" charset="-122"/>
              <a:ea typeface="楷体_GB2312" pitchFamily="1"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body" idx="4294967295"/>
          </p:nvPr>
        </p:nvSpPr>
        <p:spPr>
          <a:xfrm>
            <a:off x="468313" y="3603625"/>
            <a:ext cx="8142287" cy="2133600"/>
          </a:xfrm>
          <a:ln/>
        </p:spPr>
        <p:txBody>
          <a:bodyPr vert="horz" wrap="square" lIns="91440" tIns="45720" rIns="91440" bIns="45720" anchor="t" anchorCtr="0"/>
          <a:p>
            <a:pPr eaLnBrk="1" hangingPunct="1"/>
            <a:r>
              <a:rPr lang="zh-CN" altLang="en-US" sz="2800" b="1" dirty="0">
                <a:latin typeface="楷体_GB2312" pitchFamily="1" charset="-122"/>
                <a:ea typeface="楷体_GB2312" pitchFamily="1" charset="-122"/>
              </a:rPr>
              <a:t>这样，连续读取m个字所需的时间为t1=T+(m-1)τ而顺序方式存储器连续读取m个字所需时间为t2=mT。交叉存储器的带宽确实大大提高了。</a:t>
            </a:r>
            <a:endParaRPr lang="zh-CN" altLang="en-US" sz="2800" b="1" dirty="0">
              <a:latin typeface="楷体_GB2312" pitchFamily="1" charset="-122"/>
              <a:ea typeface="楷体_GB2312" pitchFamily="1" charset="-122"/>
            </a:endParaRPr>
          </a:p>
          <a:p>
            <a:pPr eaLnBrk="1" hangingPunct="1"/>
            <a:r>
              <a:rPr lang="zh-CN" altLang="en-US" sz="2800" b="1" dirty="0">
                <a:latin typeface="楷体_GB2312" pitchFamily="1" charset="-122"/>
                <a:ea typeface="楷体_GB2312" pitchFamily="1" charset="-122"/>
              </a:rPr>
              <a:t>m=4的流水线方式存取示意图如上图</a:t>
            </a:r>
            <a:endParaRPr lang="zh-CN" altLang="en-US" b="1" dirty="0">
              <a:latin typeface="楷体_GB2312" pitchFamily="1" charset="-122"/>
              <a:ea typeface="楷体_GB2312" pitchFamily="1" charset="-122"/>
            </a:endParaRPr>
          </a:p>
        </p:txBody>
      </p:sp>
      <p:pic>
        <p:nvPicPr>
          <p:cNvPr id="118787" name="Picture 3" descr="3"/>
          <p:cNvPicPr>
            <a:picLocks noChangeAspect="1"/>
          </p:cNvPicPr>
          <p:nvPr/>
        </p:nvPicPr>
        <p:blipFill>
          <a:blip r:embed="rId1"/>
          <a:stretch>
            <a:fillRect/>
          </a:stretch>
        </p:blipFill>
        <p:spPr>
          <a:xfrm>
            <a:off x="323850" y="273050"/>
            <a:ext cx="8640763" cy="3228975"/>
          </a:xfrm>
          <a:prstGeom prst="rect">
            <a:avLst/>
          </a:prstGeom>
          <a:noFill/>
          <a:ln w="9525">
            <a:noFill/>
          </a:ln>
        </p:spPr>
      </p:pic>
      <p:sp>
        <p:nvSpPr>
          <p:cNvPr id="118788" name="Rectangle 4"/>
          <p:cNvSpPr/>
          <p:nvPr/>
        </p:nvSpPr>
        <p:spPr>
          <a:xfrm>
            <a:off x="2286000" y="2689225"/>
            <a:ext cx="457200" cy="228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1</a:t>
            </a:r>
            <a:endParaRPr lang="zh-CN" altLang="en-US" sz="2400" dirty="0">
              <a:solidFill>
                <a:schemeClr val="tx1"/>
              </a:solidFill>
              <a:ea typeface="华文新魏" panose="02010800040101010101" pitchFamily="2" charset="-122"/>
            </a:endParaRPr>
          </a:p>
        </p:txBody>
      </p:sp>
      <p:sp>
        <p:nvSpPr>
          <p:cNvPr id="118789" name="Rectangle 5"/>
          <p:cNvSpPr/>
          <p:nvPr/>
        </p:nvSpPr>
        <p:spPr>
          <a:xfrm>
            <a:off x="2743200" y="2165350"/>
            <a:ext cx="457200" cy="228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2</a:t>
            </a:r>
            <a:endParaRPr lang="zh-CN" altLang="en-US" sz="2400" dirty="0">
              <a:solidFill>
                <a:schemeClr val="tx1"/>
              </a:solidFill>
              <a:ea typeface="华文新魏" panose="02010800040101010101" pitchFamily="2" charset="-122"/>
            </a:endParaRPr>
          </a:p>
        </p:txBody>
      </p:sp>
      <p:sp>
        <p:nvSpPr>
          <p:cNvPr id="118790" name="Rectangle 6"/>
          <p:cNvSpPr/>
          <p:nvPr/>
        </p:nvSpPr>
        <p:spPr>
          <a:xfrm>
            <a:off x="3276600" y="1708150"/>
            <a:ext cx="457200" cy="228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3</a:t>
            </a:r>
            <a:endParaRPr lang="zh-CN" altLang="en-US" sz="2400" dirty="0">
              <a:solidFill>
                <a:schemeClr val="tx1"/>
              </a:solidFill>
              <a:ea typeface="华文新魏" panose="02010800040101010101" pitchFamily="2" charset="-122"/>
            </a:endParaRPr>
          </a:p>
        </p:txBody>
      </p:sp>
      <p:sp>
        <p:nvSpPr>
          <p:cNvPr id="118791" name="Rectangle 7"/>
          <p:cNvSpPr/>
          <p:nvPr/>
        </p:nvSpPr>
        <p:spPr>
          <a:xfrm>
            <a:off x="3886200" y="1254125"/>
            <a:ext cx="457200" cy="228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4</a:t>
            </a:r>
            <a:endParaRPr lang="zh-CN" altLang="en-US" sz="2400" dirty="0">
              <a:solidFill>
                <a:schemeClr val="tx1"/>
              </a:solidFill>
              <a:ea typeface="华文新魏" panose="02010800040101010101" pitchFamily="2" charset="-122"/>
            </a:endParaRPr>
          </a:p>
        </p:txBody>
      </p:sp>
      <p:sp>
        <p:nvSpPr>
          <p:cNvPr id="118792" name="Rectangle 8"/>
          <p:cNvSpPr/>
          <p:nvPr/>
        </p:nvSpPr>
        <p:spPr>
          <a:xfrm>
            <a:off x="4419600" y="801688"/>
            <a:ext cx="457200" cy="228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1</a:t>
            </a:r>
            <a:endParaRPr lang="zh-CN" altLang="en-US" sz="2400" dirty="0">
              <a:solidFill>
                <a:schemeClr val="tx1"/>
              </a:solidFill>
              <a:ea typeface="华文新魏" panose="0201080004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body" idx="4294967295"/>
          </p:nvPr>
        </p:nvSpPr>
        <p:spPr>
          <a:xfrm>
            <a:off x="458788" y="333375"/>
            <a:ext cx="8220075" cy="6192838"/>
          </a:xfrm>
          <a:ln/>
        </p:spPr>
        <p:txBody>
          <a:bodyPr vert="horz" wrap="square" lIns="91440" tIns="45720" rIns="91440" bIns="45720" anchor="t" anchorCtr="0"/>
          <a:p>
            <a:pPr eaLnBrk="1" hangingPunct="1">
              <a:lnSpc>
                <a:spcPct val="90000"/>
              </a:lnSpc>
            </a:pPr>
            <a:r>
              <a:rPr lang="zh-CN" altLang="en-US" sz="2800" b="1" dirty="0">
                <a:solidFill>
                  <a:srgbClr val="993366"/>
                </a:solidFill>
                <a:latin typeface="楷体_GB2312" pitchFamily="1" charset="-122"/>
                <a:ea typeface="楷体_GB2312" pitchFamily="1" charset="-122"/>
              </a:rPr>
              <a:t>设存储器容量为32字，字长64位，模块数m=4，分别用顺序方式和交叉方式进行组织。存储周期T=200ns，数据总线宽度为64位，总线传送周期τ=50ns。问顺序存储器和交叉存储器的带宽各是多少?</a:t>
            </a:r>
            <a:endParaRPr lang="zh-CN" altLang="en-US" sz="2800" b="1" dirty="0">
              <a:solidFill>
                <a:srgbClr val="993366"/>
              </a:solidFill>
              <a:latin typeface="楷体_GB2312" pitchFamily="1" charset="-122"/>
              <a:ea typeface="楷体_GB2312" pitchFamily="1" charset="-122"/>
            </a:endParaRPr>
          </a:p>
          <a:p>
            <a:pPr eaLnBrk="1" hangingPunct="1">
              <a:lnSpc>
                <a:spcPct val="90000"/>
              </a:lnSpc>
              <a:buNone/>
            </a:pPr>
            <a:r>
              <a:rPr lang="zh-CN" altLang="en-US" sz="2400" dirty="0">
                <a:solidFill>
                  <a:srgbClr val="0000FF"/>
                </a:solidFill>
              </a:rPr>
              <a:t>【解】</a:t>
            </a:r>
            <a:r>
              <a:rPr lang="zh-CN" altLang="en-US" sz="1600" dirty="0"/>
              <a:t> </a:t>
            </a:r>
            <a:r>
              <a:rPr lang="zh-CN" altLang="en-US" sz="2600" b="1" dirty="0">
                <a:solidFill>
                  <a:schemeClr val="tx1"/>
                </a:solidFill>
                <a:latin typeface="楷体_GB2312" pitchFamily="1" charset="-122"/>
                <a:ea typeface="楷体_GB2312" pitchFamily="1" charset="-122"/>
              </a:rPr>
              <a:t>顺序存储器和交叉存储器连续读出m=4个字的信息总量都是：q=64位×4=256位 </a:t>
            </a:r>
            <a:endParaRPr lang="zh-CN" altLang="en-US" sz="2600" b="1" dirty="0">
              <a:solidFill>
                <a:schemeClr val="tx1"/>
              </a:solidFill>
              <a:latin typeface="楷体_GB2312" pitchFamily="1" charset="-122"/>
              <a:ea typeface="楷体_GB2312" pitchFamily="1" charset="-122"/>
            </a:endParaRPr>
          </a:p>
          <a:p>
            <a:pPr eaLnBrk="1" hangingPunct="1">
              <a:lnSpc>
                <a:spcPct val="90000"/>
              </a:lnSpc>
              <a:buNone/>
            </a:pPr>
            <a:r>
              <a:rPr lang="zh-CN" altLang="en-US" sz="2600" b="1" dirty="0">
                <a:solidFill>
                  <a:schemeClr val="tx1"/>
                </a:solidFill>
                <a:latin typeface="楷体_GB2312" pitchFamily="1" charset="-122"/>
                <a:ea typeface="楷体_GB2312" pitchFamily="1" charset="-122"/>
              </a:rPr>
              <a:t>      顺序存储器和交叉存储器连续读出4个字所需的时间分别是： </a:t>
            </a:r>
            <a:endParaRPr lang="zh-CN" altLang="en-US" sz="2600" b="1" dirty="0">
              <a:solidFill>
                <a:schemeClr val="tx1"/>
              </a:solidFill>
              <a:latin typeface="楷体_GB2312" pitchFamily="1" charset="-122"/>
              <a:ea typeface="楷体_GB2312" pitchFamily="1" charset="-122"/>
            </a:endParaRPr>
          </a:p>
          <a:p>
            <a:pPr eaLnBrk="1" hangingPunct="1">
              <a:lnSpc>
                <a:spcPct val="90000"/>
              </a:lnSpc>
              <a:buNone/>
            </a:pPr>
            <a:r>
              <a:rPr lang="zh-CN" altLang="en-US" sz="2600" b="1" dirty="0">
                <a:solidFill>
                  <a:schemeClr val="tx1"/>
                </a:solidFill>
                <a:latin typeface="楷体_GB2312" pitchFamily="1" charset="-122"/>
                <a:ea typeface="楷体_GB2312" pitchFamily="1" charset="-122"/>
              </a:rPr>
              <a:t>　　t2=mT=4×200ns=800ns=8×10</a:t>
            </a:r>
            <a:r>
              <a:rPr lang="zh-CN" altLang="en-US" sz="2600" b="1" baseline="30000" dirty="0">
                <a:solidFill>
                  <a:schemeClr val="tx1"/>
                </a:solidFill>
                <a:latin typeface="楷体_GB2312" pitchFamily="1" charset="-122"/>
                <a:ea typeface="楷体_GB2312" pitchFamily="1" charset="-122"/>
              </a:rPr>
              <a:t>-7</a:t>
            </a:r>
            <a:r>
              <a:rPr lang="zh-CN" altLang="en-US" sz="2600" b="1" dirty="0">
                <a:solidFill>
                  <a:schemeClr val="tx1"/>
                </a:solidFill>
                <a:latin typeface="楷体_GB2312" pitchFamily="1" charset="-122"/>
                <a:ea typeface="楷体_GB2312" pitchFamily="1" charset="-122"/>
              </a:rPr>
              <a:t>s；　</a:t>
            </a:r>
            <a:endParaRPr lang="zh-CN" altLang="en-US" sz="2600" b="1" dirty="0">
              <a:solidFill>
                <a:schemeClr val="tx1"/>
              </a:solidFill>
              <a:latin typeface="楷体_GB2312" pitchFamily="1" charset="-122"/>
              <a:ea typeface="楷体_GB2312" pitchFamily="1" charset="-122"/>
            </a:endParaRPr>
          </a:p>
          <a:p>
            <a:pPr eaLnBrk="1" hangingPunct="1">
              <a:lnSpc>
                <a:spcPct val="90000"/>
              </a:lnSpc>
              <a:buNone/>
            </a:pPr>
            <a:r>
              <a:rPr lang="zh-CN" altLang="en-US" sz="2600" b="1" dirty="0">
                <a:solidFill>
                  <a:schemeClr val="tx1"/>
                </a:solidFill>
                <a:latin typeface="楷体_GB2312" pitchFamily="1" charset="-122"/>
                <a:ea typeface="楷体_GB2312" pitchFamily="1" charset="-122"/>
              </a:rPr>
              <a:t>    t1=T+(m-1)=200ns+30ns=350ns=35×10</a:t>
            </a:r>
            <a:r>
              <a:rPr lang="zh-CN" altLang="en-US" sz="2600" b="1" baseline="30000" dirty="0">
                <a:solidFill>
                  <a:schemeClr val="tx1"/>
                </a:solidFill>
                <a:latin typeface="楷体_GB2312" pitchFamily="1" charset="-122"/>
                <a:ea typeface="楷体_GB2312" pitchFamily="1" charset="-122"/>
              </a:rPr>
              <a:t>-7</a:t>
            </a:r>
            <a:r>
              <a:rPr lang="zh-CN" altLang="en-US" sz="2600" b="1" dirty="0">
                <a:solidFill>
                  <a:schemeClr val="tx1"/>
                </a:solidFill>
                <a:latin typeface="楷体_GB2312" pitchFamily="1" charset="-122"/>
                <a:ea typeface="楷体_GB2312" pitchFamily="1" charset="-122"/>
              </a:rPr>
              <a:t>s</a:t>
            </a:r>
            <a:endParaRPr lang="zh-CN" altLang="en-US" sz="2600" b="1" dirty="0">
              <a:solidFill>
                <a:schemeClr val="tx1"/>
              </a:solidFill>
              <a:latin typeface="楷体_GB2312" pitchFamily="1" charset="-122"/>
              <a:ea typeface="楷体_GB2312" pitchFamily="1" charset="-122"/>
            </a:endParaRPr>
          </a:p>
          <a:p>
            <a:pPr eaLnBrk="1" hangingPunct="1">
              <a:lnSpc>
                <a:spcPct val="90000"/>
              </a:lnSpc>
              <a:buNone/>
            </a:pPr>
            <a:r>
              <a:rPr lang="zh-CN" altLang="en-US" sz="2600" b="1" dirty="0">
                <a:solidFill>
                  <a:schemeClr val="tx1"/>
                </a:solidFill>
                <a:latin typeface="楷体_GB2312" pitchFamily="1" charset="-122"/>
                <a:ea typeface="楷体_GB2312" pitchFamily="1" charset="-122"/>
              </a:rPr>
              <a:t>顺序存储器和交叉存储器的带宽分别是：</a:t>
            </a:r>
            <a:endParaRPr lang="zh-CN" altLang="en-US" sz="2600" b="1" dirty="0">
              <a:solidFill>
                <a:schemeClr val="tx1"/>
              </a:solidFill>
              <a:latin typeface="楷体_GB2312" pitchFamily="1" charset="-122"/>
              <a:ea typeface="楷体_GB2312" pitchFamily="1" charset="-122"/>
            </a:endParaRPr>
          </a:p>
          <a:p>
            <a:pPr eaLnBrk="1" hangingPunct="1">
              <a:lnSpc>
                <a:spcPct val="90000"/>
              </a:lnSpc>
              <a:buNone/>
            </a:pPr>
            <a:r>
              <a:rPr lang="zh-CN" altLang="en-US" sz="2600" b="1" dirty="0">
                <a:solidFill>
                  <a:schemeClr val="tx1"/>
                </a:solidFill>
                <a:latin typeface="楷体_GB2312" pitchFamily="1" charset="-122"/>
                <a:ea typeface="楷体_GB2312" pitchFamily="1" charset="-122"/>
              </a:rPr>
              <a:t>　　W2=q/t2=256÷(8×10</a:t>
            </a:r>
            <a:r>
              <a:rPr lang="zh-CN" altLang="en-US" sz="2600" b="1" baseline="30000" dirty="0">
                <a:solidFill>
                  <a:schemeClr val="tx1"/>
                </a:solidFill>
                <a:latin typeface="楷体_GB2312" pitchFamily="1" charset="-122"/>
                <a:ea typeface="楷体_GB2312" pitchFamily="1" charset="-122"/>
              </a:rPr>
              <a:t>-7</a:t>
            </a:r>
            <a:r>
              <a:rPr lang="zh-CN" altLang="en-US" sz="2600" b="1" dirty="0">
                <a:solidFill>
                  <a:schemeClr val="tx1"/>
                </a:solidFill>
                <a:latin typeface="楷体_GB2312" pitchFamily="1" charset="-122"/>
                <a:ea typeface="楷体_GB2312" pitchFamily="1" charset="-122"/>
              </a:rPr>
              <a:t>)=32×10</a:t>
            </a:r>
            <a:r>
              <a:rPr lang="zh-CN" altLang="en-US" sz="2600" b="1" baseline="30000" dirty="0">
                <a:solidFill>
                  <a:schemeClr val="tx1"/>
                </a:solidFill>
                <a:latin typeface="楷体_GB2312" pitchFamily="1" charset="-122"/>
                <a:ea typeface="楷体_GB2312" pitchFamily="1" charset="-122"/>
              </a:rPr>
              <a:t>7</a:t>
            </a:r>
            <a:r>
              <a:rPr lang="zh-CN" altLang="en-US" sz="2600" b="1" dirty="0">
                <a:solidFill>
                  <a:schemeClr val="tx1"/>
                </a:solidFill>
                <a:latin typeface="楷体_GB2312" pitchFamily="1" charset="-122"/>
                <a:ea typeface="楷体_GB2312" pitchFamily="1" charset="-122"/>
              </a:rPr>
              <a:t>（位/s）；</a:t>
            </a:r>
            <a:endParaRPr lang="zh-CN" altLang="en-US" sz="2600" b="1" dirty="0">
              <a:solidFill>
                <a:schemeClr val="tx1"/>
              </a:solidFill>
              <a:latin typeface="楷体_GB2312" pitchFamily="1" charset="-122"/>
              <a:ea typeface="楷体_GB2312" pitchFamily="1" charset="-122"/>
            </a:endParaRPr>
          </a:p>
          <a:p>
            <a:pPr eaLnBrk="1" hangingPunct="1">
              <a:lnSpc>
                <a:spcPct val="90000"/>
              </a:lnSpc>
              <a:buNone/>
            </a:pPr>
            <a:r>
              <a:rPr lang="zh-CN" altLang="en-US" sz="2600" b="1" dirty="0">
                <a:solidFill>
                  <a:schemeClr val="tx1"/>
                </a:solidFill>
                <a:latin typeface="楷体_GB2312" pitchFamily="1" charset="-122"/>
                <a:ea typeface="楷体_GB2312" pitchFamily="1" charset="-122"/>
              </a:rPr>
              <a:t>    W1=q/t1=256÷(35×10</a:t>
            </a:r>
            <a:r>
              <a:rPr lang="zh-CN" altLang="en-US" sz="2600" b="1" baseline="30000" dirty="0">
                <a:solidFill>
                  <a:schemeClr val="tx1"/>
                </a:solidFill>
                <a:latin typeface="楷体_GB2312" pitchFamily="1" charset="-122"/>
                <a:ea typeface="楷体_GB2312" pitchFamily="1" charset="-122"/>
              </a:rPr>
              <a:t>-7</a:t>
            </a:r>
            <a:r>
              <a:rPr lang="zh-CN" altLang="en-US" sz="2600" b="1" dirty="0">
                <a:solidFill>
                  <a:schemeClr val="tx1"/>
                </a:solidFill>
                <a:latin typeface="楷体_GB2312" pitchFamily="1" charset="-122"/>
                <a:ea typeface="楷体_GB2312" pitchFamily="1" charset="-122"/>
              </a:rPr>
              <a:t>)=73×10</a:t>
            </a:r>
            <a:r>
              <a:rPr lang="zh-CN" altLang="en-US" sz="2600" b="1" baseline="30000" dirty="0">
                <a:solidFill>
                  <a:schemeClr val="tx1"/>
                </a:solidFill>
                <a:latin typeface="楷体_GB2312" pitchFamily="1" charset="-122"/>
                <a:ea typeface="楷体_GB2312" pitchFamily="1" charset="-122"/>
              </a:rPr>
              <a:t>7</a:t>
            </a:r>
            <a:r>
              <a:rPr lang="zh-CN" altLang="en-US" sz="2600" b="1" dirty="0">
                <a:solidFill>
                  <a:schemeClr val="tx1"/>
                </a:solidFill>
                <a:latin typeface="楷体_GB2312" pitchFamily="1" charset="-122"/>
                <a:ea typeface="楷体_GB2312" pitchFamily="1" charset="-122"/>
              </a:rPr>
              <a:t>（位/s） </a:t>
            </a:r>
            <a:endParaRPr lang="zh-CN" altLang="en-US" sz="2600" b="1" dirty="0">
              <a:solidFill>
                <a:schemeClr val="tx1"/>
              </a:solidFill>
              <a:latin typeface="楷体_GB2312" pitchFamily="1" charset="-122"/>
              <a:ea typeface="楷体_GB2312" pitchFamily="1"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sz="3200" dirty="0"/>
              <a:t>高速存储器——多模块交叉存储器</a:t>
            </a:r>
            <a:endParaRPr lang="zh-CN" altLang="en-US" sz="3200" dirty="0"/>
          </a:p>
        </p:txBody>
      </p:sp>
      <p:sp>
        <p:nvSpPr>
          <p:cNvPr id="120835" name="Rectangle 3"/>
          <p:cNvSpPr>
            <a:spLocks noGrp="1"/>
          </p:cNvSpPr>
          <p:nvPr>
            <p:ph type="body" idx="4294967295"/>
          </p:nvPr>
        </p:nvSpPr>
        <p:spPr>
          <a:ln/>
        </p:spPr>
        <p:txBody>
          <a:bodyPr vert="horz" wrap="square" lIns="91440" tIns="45720" rIns="91440" bIns="45720" anchor="t" anchorCtr="0"/>
          <a:p>
            <a:pPr eaLnBrk="1" hangingPunct="1"/>
            <a:r>
              <a:rPr lang="zh-CN" altLang="zh-CN" b="1" dirty="0">
                <a:latin typeface="楷体_GB2312" pitchFamily="1" charset="-122"/>
                <a:ea typeface="楷体_GB2312" pitchFamily="1" charset="-122"/>
              </a:rPr>
              <a:t>相联存储器的组成 </a:t>
            </a:r>
            <a:endParaRPr lang="zh-CN" altLang="zh-CN" b="1" dirty="0">
              <a:latin typeface="楷体_GB2312" pitchFamily="1" charset="-122"/>
              <a:ea typeface="楷体_GB2312" pitchFamily="1" charset="-122"/>
            </a:endParaRPr>
          </a:p>
          <a:p>
            <a:pPr lvl="1" eaLnBrk="1" hangingPunct="1"/>
            <a:r>
              <a:rPr lang="zh-CN" altLang="zh-CN" b="1" dirty="0">
                <a:solidFill>
                  <a:srgbClr val="993366"/>
                </a:solidFill>
                <a:latin typeface="楷体_GB2312" pitchFamily="1" charset="-122"/>
                <a:ea typeface="楷体_GB2312" pitchFamily="1" charset="-122"/>
              </a:rPr>
              <a:t>检索寄存器</a:t>
            </a:r>
            <a:endParaRPr lang="zh-CN" altLang="zh-CN" b="1" dirty="0">
              <a:solidFill>
                <a:srgbClr val="993366"/>
              </a:solidFill>
              <a:latin typeface="楷体_GB2312" pitchFamily="1" charset="-122"/>
              <a:ea typeface="楷体_GB2312" pitchFamily="1" charset="-122"/>
            </a:endParaRPr>
          </a:p>
          <a:p>
            <a:pPr lvl="1" eaLnBrk="1" hangingPunct="1"/>
            <a:r>
              <a:rPr lang="zh-CN" altLang="zh-CN" b="1" dirty="0">
                <a:solidFill>
                  <a:srgbClr val="993366"/>
                </a:solidFill>
                <a:latin typeface="楷体_GB2312" pitchFamily="1" charset="-122"/>
                <a:ea typeface="楷体_GB2312" pitchFamily="1" charset="-122"/>
              </a:rPr>
              <a:t>屏蔽寄存器</a:t>
            </a:r>
            <a:endParaRPr lang="zh-CN" altLang="zh-CN" b="1" dirty="0">
              <a:solidFill>
                <a:srgbClr val="993366"/>
              </a:solidFill>
              <a:latin typeface="楷体_GB2312" pitchFamily="1" charset="-122"/>
              <a:ea typeface="楷体_GB2312" pitchFamily="1" charset="-122"/>
            </a:endParaRPr>
          </a:p>
          <a:p>
            <a:pPr lvl="1" eaLnBrk="1" hangingPunct="1"/>
            <a:r>
              <a:rPr lang="zh-CN" altLang="zh-CN" b="1" dirty="0">
                <a:solidFill>
                  <a:srgbClr val="993366"/>
                </a:solidFill>
                <a:latin typeface="楷体_GB2312" pitchFamily="1" charset="-122"/>
                <a:ea typeface="楷体_GB2312" pitchFamily="1" charset="-122"/>
              </a:rPr>
              <a:t>符合寄存器</a:t>
            </a:r>
            <a:endParaRPr lang="zh-CN" altLang="zh-CN" b="1" dirty="0">
              <a:solidFill>
                <a:srgbClr val="993366"/>
              </a:solidFill>
              <a:latin typeface="楷体_GB2312" pitchFamily="1" charset="-122"/>
              <a:ea typeface="楷体_GB2312" pitchFamily="1" charset="-122"/>
            </a:endParaRPr>
          </a:p>
          <a:p>
            <a:pPr lvl="1" eaLnBrk="1" hangingPunct="1"/>
            <a:r>
              <a:rPr lang="zh-CN" altLang="zh-CN" b="1" dirty="0">
                <a:solidFill>
                  <a:srgbClr val="993366"/>
                </a:solidFill>
                <a:latin typeface="楷体_GB2312" pitchFamily="1" charset="-122"/>
                <a:ea typeface="楷体_GB2312" pitchFamily="1" charset="-122"/>
              </a:rPr>
              <a:t>比较线路</a:t>
            </a:r>
            <a:endParaRPr lang="zh-CN" altLang="zh-CN" b="1" dirty="0">
              <a:solidFill>
                <a:srgbClr val="993366"/>
              </a:solidFill>
              <a:latin typeface="楷体_GB2312" pitchFamily="1" charset="-122"/>
              <a:ea typeface="楷体_GB2312" pitchFamily="1" charset="-122"/>
            </a:endParaRPr>
          </a:p>
          <a:p>
            <a:pPr lvl="1" eaLnBrk="1" hangingPunct="1"/>
            <a:r>
              <a:rPr lang="zh-CN" altLang="zh-CN" b="1" dirty="0">
                <a:solidFill>
                  <a:srgbClr val="993366"/>
                </a:solidFill>
                <a:latin typeface="楷体_GB2312" pitchFamily="1" charset="-122"/>
                <a:ea typeface="楷体_GB2312" pitchFamily="1" charset="-122"/>
              </a:rPr>
              <a:t>代码寄存器</a:t>
            </a:r>
            <a:endParaRPr lang="zh-CN" altLang="zh-CN" b="1" dirty="0">
              <a:solidFill>
                <a:srgbClr val="993366"/>
              </a:solidFill>
              <a:latin typeface="楷体_GB2312" pitchFamily="1" charset="-122"/>
              <a:ea typeface="楷体_GB2312" pitchFamily="1" charset="-122"/>
            </a:endParaRPr>
          </a:p>
          <a:p>
            <a:pPr lvl="1" eaLnBrk="1" hangingPunct="1"/>
            <a:r>
              <a:rPr lang="zh-CN" altLang="zh-CN" b="1" dirty="0">
                <a:solidFill>
                  <a:srgbClr val="993366"/>
                </a:solidFill>
                <a:latin typeface="楷体_GB2312" pitchFamily="1" charset="-122"/>
                <a:ea typeface="楷体_GB2312" pitchFamily="1" charset="-122"/>
              </a:rPr>
              <a:t>存储体</a:t>
            </a:r>
            <a:endParaRPr lang="zh-CN" altLang="zh-CN" b="1" dirty="0">
              <a:solidFill>
                <a:srgbClr val="993366"/>
              </a:solidFill>
              <a:latin typeface="楷体_GB2312" pitchFamily="1" charset="-122"/>
              <a:ea typeface="楷体_GB2312" pitchFamily="1" charset="-122"/>
            </a:endParaRPr>
          </a:p>
        </p:txBody>
      </p:sp>
      <p:grpSp>
        <p:nvGrpSpPr>
          <p:cNvPr id="120836" name="Group 4"/>
          <p:cNvGrpSpPr/>
          <p:nvPr/>
        </p:nvGrpSpPr>
        <p:grpSpPr>
          <a:xfrm>
            <a:off x="4724400" y="1752600"/>
            <a:ext cx="3886200" cy="4495800"/>
            <a:chOff x="0" y="0"/>
            <a:chExt cx="2448" cy="2832"/>
          </a:xfrm>
        </p:grpSpPr>
        <p:sp>
          <p:nvSpPr>
            <p:cNvPr id="120837" name="AutoShape 5"/>
            <p:cNvSpPr/>
            <p:nvPr/>
          </p:nvSpPr>
          <p:spPr>
            <a:xfrm>
              <a:off x="566" y="0"/>
              <a:ext cx="1080" cy="240"/>
            </a:xfrm>
            <a:prstGeom prst="flowChartProcess">
              <a:avLst/>
            </a:prstGeom>
            <a:solidFill>
              <a:srgbClr val="FF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1800" dirty="0">
                  <a:solidFill>
                    <a:schemeClr val="tx1"/>
                  </a:solidFill>
                  <a:latin typeface="Tahoma" panose="020B0604030504040204" pitchFamily="34" charset="0"/>
                </a:rPr>
                <a:t>检索寄存器</a:t>
              </a:r>
              <a:endParaRPr lang="zh-CN" altLang="zh-CN" sz="1800" dirty="0">
                <a:solidFill>
                  <a:schemeClr val="tx1"/>
                </a:solidFill>
                <a:latin typeface="Tahoma" panose="020B0604030504040204" pitchFamily="34" charset="0"/>
              </a:endParaRPr>
            </a:p>
          </p:txBody>
        </p:sp>
        <p:sp>
          <p:nvSpPr>
            <p:cNvPr id="120838" name="Line 6"/>
            <p:cNvSpPr/>
            <p:nvPr/>
          </p:nvSpPr>
          <p:spPr>
            <a:xfrm>
              <a:off x="669" y="240"/>
              <a:ext cx="0" cy="240"/>
            </a:xfrm>
            <a:prstGeom prst="line">
              <a:avLst/>
            </a:prstGeom>
            <a:ln w="9525" cap="flat" cmpd="sng">
              <a:solidFill>
                <a:schemeClr val="tx1"/>
              </a:solidFill>
              <a:prstDash val="solid"/>
              <a:headEnd type="none" w="med" len="med"/>
              <a:tailEnd type="triangle" w="med" len="med"/>
            </a:ln>
          </p:spPr>
        </p:sp>
        <p:sp>
          <p:nvSpPr>
            <p:cNvPr id="120839" name="Line 7"/>
            <p:cNvSpPr/>
            <p:nvPr/>
          </p:nvSpPr>
          <p:spPr>
            <a:xfrm>
              <a:off x="771" y="240"/>
              <a:ext cx="0" cy="240"/>
            </a:xfrm>
            <a:prstGeom prst="line">
              <a:avLst/>
            </a:prstGeom>
            <a:ln w="9525" cap="flat" cmpd="sng">
              <a:solidFill>
                <a:schemeClr val="tx1"/>
              </a:solidFill>
              <a:prstDash val="solid"/>
              <a:headEnd type="none" w="med" len="med"/>
              <a:tailEnd type="triangle" w="med" len="med"/>
            </a:ln>
          </p:spPr>
        </p:sp>
        <p:sp>
          <p:nvSpPr>
            <p:cNvPr id="120840" name="Line 8"/>
            <p:cNvSpPr/>
            <p:nvPr/>
          </p:nvSpPr>
          <p:spPr>
            <a:xfrm>
              <a:off x="874" y="240"/>
              <a:ext cx="0" cy="240"/>
            </a:xfrm>
            <a:prstGeom prst="line">
              <a:avLst/>
            </a:prstGeom>
            <a:ln w="9525" cap="flat" cmpd="sng">
              <a:solidFill>
                <a:schemeClr val="tx1"/>
              </a:solidFill>
              <a:prstDash val="solid"/>
              <a:headEnd type="none" w="med" len="med"/>
              <a:tailEnd type="triangle" w="med" len="med"/>
            </a:ln>
          </p:spPr>
        </p:sp>
        <p:sp>
          <p:nvSpPr>
            <p:cNvPr id="120841" name="Line 9"/>
            <p:cNvSpPr/>
            <p:nvPr/>
          </p:nvSpPr>
          <p:spPr>
            <a:xfrm>
              <a:off x="1543" y="240"/>
              <a:ext cx="0" cy="240"/>
            </a:xfrm>
            <a:prstGeom prst="line">
              <a:avLst/>
            </a:prstGeom>
            <a:ln w="9525" cap="flat" cmpd="sng">
              <a:solidFill>
                <a:schemeClr val="tx1"/>
              </a:solidFill>
              <a:prstDash val="solid"/>
              <a:headEnd type="none" w="med" len="med"/>
              <a:tailEnd type="triangle" w="med" len="med"/>
            </a:ln>
          </p:spPr>
        </p:sp>
        <p:sp>
          <p:nvSpPr>
            <p:cNvPr id="120842" name="AutoShape 10"/>
            <p:cNvSpPr/>
            <p:nvPr/>
          </p:nvSpPr>
          <p:spPr>
            <a:xfrm>
              <a:off x="566" y="480"/>
              <a:ext cx="1080" cy="24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1800" dirty="0">
                  <a:solidFill>
                    <a:schemeClr val="tx1"/>
                  </a:solidFill>
                  <a:latin typeface="Tahoma" panose="020B0604030504040204" pitchFamily="34" charset="0"/>
                </a:rPr>
                <a:t>屏蔽寄存器</a:t>
              </a:r>
              <a:endParaRPr lang="zh-CN" altLang="zh-CN" sz="1800" dirty="0">
                <a:solidFill>
                  <a:schemeClr val="tx1"/>
                </a:solidFill>
                <a:latin typeface="Tahoma" panose="020B0604030504040204" pitchFamily="34" charset="0"/>
              </a:endParaRPr>
            </a:p>
          </p:txBody>
        </p:sp>
        <p:sp>
          <p:nvSpPr>
            <p:cNvPr id="120843" name="Line 11"/>
            <p:cNvSpPr/>
            <p:nvPr/>
          </p:nvSpPr>
          <p:spPr>
            <a:xfrm>
              <a:off x="669" y="720"/>
              <a:ext cx="0" cy="240"/>
            </a:xfrm>
            <a:prstGeom prst="line">
              <a:avLst/>
            </a:prstGeom>
            <a:ln w="9525" cap="flat" cmpd="sng">
              <a:solidFill>
                <a:schemeClr val="tx1"/>
              </a:solidFill>
              <a:prstDash val="solid"/>
              <a:headEnd type="none" w="med" len="med"/>
              <a:tailEnd type="triangle" w="med" len="med"/>
            </a:ln>
          </p:spPr>
        </p:sp>
        <p:sp>
          <p:nvSpPr>
            <p:cNvPr id="120844" name="Line 12"/>
            <p:cNvSpPr/>
            <p:nvPr/>
          </p:nvSpPr>
          <p:spPr>
            <a:xfrm>
              <a:off x="771" y="720"/>
              <a:ext cx="0" cy="240"/>
            </a:xfrm>
            <a:prstGeom prst="line">
              <a:avLst/>
            </a:prstGeom>
            <a:ln w="9525" cap="flat" cmpd="sng">
              <a:solidFill>
                <a:schemeClr val="tx1"/>
              </a:solidFill>
              <a:prstDash val="solid"/>
              <a:headEnd type="none" w="med" len="med"/>
              <a:tailEnd type="triangle" w="med" len="med"/>
            </a:ln>
          </p:spPr>
        </p:sp>
        <p:sp>
          <p:nvSpPr>
            <p:cNvPr id="120845" name="Line 13"/>
            <p:cNvSpPr/>
            <p:nvPr/>
          </p:nvSpPr>
          <p:spPr>
            <a:xfrm>
              <a:off x="874" y="720"/>
              <a:ext cx="0" cy="240"/>
            </a:xfrm>
            <a:prstGeom prst="line">
              <a:avLst/>
            </a:prstGeom>
            <a:ln w="9525" cap="flat" cmpd="sng">
              <a:solidFill>
                <a:schemeClr val="tx1"/>
              </a:solidFill>
              <a:prstDash val="solid"/>
              <a:headEnd type="none" w="med" len="med"/>
              <a:tailEnd type="triangle" w="med" len="med"/>
            </a:ln>
          </p:spPr>
        </p:sp>
        <p:sp>
          <p:nvSpPr>
            <p:cNvPr id="120846" name="Line 14"/>
            <p:cNvSpPr/>
            <p:nvPr/>
          </p:nvSpPr>
          <p:spPr>
            <a:xfrm>
              <a:off x="1543" y="720"/>
              <a:ext cx="0" cy="240"/>
            </a:xfrm>
            <a:prstGeom prst="line">
              <a:avLst/>
            </a:prstGeom>
            <a:ln w="9525" cap="flat" cmpd="sng">
              <a:solidFill>
                <a:schemeClr val="tx1"/>
              </a:solidFill>
              <a:prstDash val="solid"/>
              <a:headEnd type="none" w="med" len="med"/>
              <a:tailEnd type="triangle" w="med" len="med"/>
            </a:ln>
          </p:spPr>
        </p:sp>
        <p:sp>
          <p:nvSpPr>
            <p:cNvPr id="120847" name="AutoShape 15"/>
            <p:cNvSpPr/>
            <p:nvPr/>
          </p:nvSpPr>
          <p:spPr>
            <a:xfrm>
              <a:off x="566" y="960"/>
              <a:ext cx="1080" cy="240"/>
            </a:xfrm>
            <a:prstGeom prst="flowChartProcess">
              <a:avLst/>
            </a:prstGeom>
            <a:solidFill>
              <a:srgbClr val="FF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1800" dirty="0">
                  <a:solidFill>
                    <a:schemeClr val="tx1"/>
                  </a:solidFill>
                  <a:latin typeface="Tahoma" panose="020B0604030504040204" pitchFamily="34" charset="0"/>
                </a:rPr>
                <a:t>比较线路</a:t>
              </a:r>
              <a:endParaRPr lang="zh-CN" altLang="zh-CN" sz="1800" dirty="0">
                <a:solidFill>
                  <a:schemeClr val="tx1"/>
                </a:solidFill>
                <a:latin typeface="Tahoma" panose="020B0604030504040204" pitchFamily="34" charset="0"/>
              </a:endParaRPr>
            </a:p>
          </p:txBody>
        </p:sp>
        <p:sp>
          <p:nvSpPr>
            <p:cNvPr id="120848" name="AutoShape 16"/>
            <p:cNvSpPr/>
            <p:nvPr/>
          </p:nvSpPr>
          <p:spPr>
            <a:xfrm>
              <a:off x="617" y="1440"/>
              <a:ext cx="1080" cy="672"/>
            </a:xfrm>
            <a:prstGeom prst="flowChartProcess">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dirty="0">
                  <a:solidFill>
                    <a:schemeClr val="tx1"/>
                  </a:solidFill>
                  <a:latin typeface="Tahoma" panose="020B0604030504040204" pitchFamily="34" charset="0"/>
                </a:rPr>
                <a:t>存储器</a:t>
              </a:r>
              <a:endParaRPr lang="zh-CN" altLang="zh-CN" sz="2400" dirty="0">
                <a:solidFill>
                  <a:schemeClr val="tx1"/>
                </a:solidFill>
                <a:latin typeface="Tahoma" panose="020B0604030504040204" pitchFamily="34" charset="0"/>
              </a:endParaRPr>
            </a:p>
          </p:txBody>
        </p:sp>
        <p:sp>
          <p:nvSpPr>
            <p:cNvPr id="120849" name="AutoShape 17"/>
            <p:cNvSpPr/>
            <p:nvPr/>
          </p:nvSpPr>
          <p:spPr>
            <a:xfrm>
              <a:off x="0" y="1296"/>
              <a:ext cx="360" cy="1008"/>
            </a:xfrm>
            <a:prstGeom prst="flowChartProcess">
              <a:avLst/>
            </a:prstGeom>
            <a:solidFill>
              <a:srgbClr val="CC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1800" dirty="0">
                  <a:solidFill>
                    <a:schemeClr val="tx1"/>
                  </a:solidFill>
                  <a:latin typeface="Tahoma" panose="020B0604030504040204" pitchFamily="34" charset="0"/>
                </a:rPr>
                <a:t>译</a:t>
              </a:r>
              <a:endParaRPr lang="zh-CN" altLang="zh-CN" sz="1800" dirty="0">
                <a:solidFill>
                  <a:schemeClr val="tx1"/>
                </a:solidFill>
                <a:latin typeface="Tahoma" panose="020B0604030504040204" pitchFamily="34" charset="0"/>
              </a:endParaRPr>
            </a:p>
            <a:p>
              <a:pPr marL="0" lvl="0" indent="0" algn="ctr" eaLnBrk="1" hangingPunct="1">
                <a:spcBef>
                  <a:spcPct val="0"/>
                </a:spcBef>
                <a:buNone/>
              </a:pPr>
              <a:r>
                <a:rPr lang="zh-CN" altLang="zh-CN" sz="1800" dirty="0">
                  <a:solidFill>
                    <a:schemeClr val="tx1"/>
                  </a:solidFill>
                  <a:latin typeface="Tahoma" panose="020B0604030504040204" pitchFamily="34" charset="0"/>
                </a:rPr>
                <a:t>码</a:t>
              </a:r>
              <a:endParaRPr lang="zh-CN" altLang="zh-CN" sz="1800" dirty="0">
                <a:solidFill>
                  <a:schemeClr val="tx1"/>
                </a:solidFill>
                <a:latin typeface="Tahoma" panose="020B0604030504040204" pitchFamily="34" charset="0"/>
              </a:endParaRPr>
            </a:p>
            <a:p>
              <a:pPr marL="0" lvl="0" indent="0" algn="ctr" eaLnBrk="1" hangingPunct="1">
                <a:spcBef>
                  <a:spcPct val="0"/>
                </a:spcBef>
                <a:buNone/>
              </a:pPr>
              <a:r>
                <a:rPr lang="zh-CN" altLang="zh-CN" sz="1800" dirty="0">
                  <a:solidFill>
                    <a:schemeClr val="tx1"/>
                  </a:solidFill>
                  <a:latin typeface="Tahoma" panose="020B0604030504040204" pitchFamily="34" charset="0"/>
                </a:rPr>
                <a:t>选</a:t>
              </a:r>
              <a:endParaRPr lang="zh-CN" altLang="zh-CN" sz="1800" dirty="0">
                <a:solidFill>
                  <a:schemeClr val="tx1"/>
                </a:solidFill>
                <a:latin typeface="Tahoma" panose="020B0604030504040204" pitchFamily="34" charset="0"/>
              </a:endParaRPr>
            </a:p>
            <a:p>
              <a:pPr marL="0" lvl="0" indent="0" algn="ctr" eaLnBrk="1" hangingPunct="1">
                <a:spcBef>
                  <a:spcPct val="0"/>
                </a:spcBef>
                <a:buNone/>
              </a:pPr>
              <a:r>
                <a:rPr lang="zh-CN" altLang="zh-CN" sz="1800" dirty="0">
                  <a:solidFill>
                    <a:schemeClr val="tx1"/>
                  </a:solidFill>
                  <a:latin typeface="Tahoma" panose="020B0604030504040204" pitchFamily="34" charset="0"/>
                </a:rPr>
                <a:t>择</a:t>
              </a:r>
              <a:endParaRPr lang="zh-CN" altLang="zh-CN" sz="1800" dirty="0">
                <a:solidFill>
                  <a:schemeClr val="tx1"/>
                </a:solidFill>
                <a:latin typeface="Tahoma" panose="020B0604030504040204" pitchFamily="34" charset="0"/>
              </a:endParaRPr>
            </a:p>
            <a:p>
              <a:pPr marL="0" lvl="0" indent="0" algn="ctr" eaLnBrk="1" hangingPunct="1">
                <a:spcBef>
                  <a:spcPct val="0"/>
                </a:spcBef>
                <a:buNone/>
              </a:pPr>
              <a:r>
                <a:rPr lang="zh-CN" altLang="zh-CN" sz="1800" dirty="0">
                  <a:solidFill>
                    <a:schemeClr val="tx1"/>
                  </a:solidFill>
                  <a:latin typeface="Tahoma" panose="020B0604030504040204" pitchFamily="34" charset="0"/>
                </a:rPr>
                <a:t>电</a:t>
              </a:r>
              <a:endParaRPr lang="zh-CN" altLang="zh-CN" sz="1800" dirty="0">
                <a:solidFill>
                  <a:schemeClr val="tx1"/>
                </a:solidFill>
                <a:latin typeface="Tahoma" panose="020B0604030504040204" pitchFamily="34" charset="0"/>
              </a:endParaRPr>
            </a:p>
            <a:p>
              <a:pPr marL="0" lvl="0" indent="0" algn="ctr" eaLnBrk="1" hangingPunct="1">
                <a:spcBef>
                  <a:spcPct val="0"/>
                </a:spcBef>
                <a:buNone/>
              </a:pPr>
              <a:r>
                <a:rPr lang="zh-CN" altLang="zh-CN" sz="1800" dirty="0">
                  <a:solidFill>
                    <a:schemeClr val="tx1"/>
                  </a:solidFill>
                  <a:latin typeface="Tahoma" panose="020B0604030504040204" pitchFamily="34" charset="0"/>
                </a:rPr>
                <a:t>路</a:t>
              </a:r>
              <a:endParaRPr lang="zh-CN" altLang="zh-CN" sz="1800" dirty="0">
                <a:solidFill>
                  <a:schemeClr val="tx1"/>
                </a:solidFill>
                <a:latin typeface="Tahoma" panose="020B0604030504040204" pitchFamily="34" charset="0"/>
              </a:endParaRPr>
            </a:p>
          </p:txBody>
        </p:sp>
        <p:grpSp>
          <p:nvGrpSpPr>
            <p:cNvPr id="120850" name="Group 18"/>
            <p:cNvGrpSpPr/>
            <p:nvPr/>
          </p:nvGrpSpPr>
          <p:grpSpPr>
            <a:xfrm>
              <a:off x="669" y="1200"/>
              <a:ext cx="874" cy="240"/>
              <a:chOff x="0" y="0"/>
              <a:chExt cx="816" cy="240"/>
            </a:xfrm>
          </p:grpSpPr>
          <p:sp>
            <p:nvSpPr>
              <p:cNvPr id="120870" name="Line 19"/>
              <p:cNvSpPr/>
              <p:nvPr/>
            </p:nvSpPr>
            <p:spPr>
              <a:xfrm>
                <a:off x="0" y="0"/>
                <a:ext cx="0" cy="240"/>
              </a:xfrm>
              <a:prstGeom prst="line">
                <a:avLst/>
              </a:prstGeom>
              <a:ln w="9525" cap="flat" cmpd="sng">
                <a:solidFill>
                  <a:schemeClr val="tx1"/>
                </a:solidFill>
                <a:prstDash val="solid"/>
                <a:headEnd type="triangle" w="med" len="med"/>
                <a:tailEnd type="none" w="med" len="med"/>
              </a:ln>
            </p:spPr>
          </p:sp>
          <p:sp>
            <p:nvSpPr>
              <p:cNvPr id="120871" name="Line 20"/>
              <p:cNvSpPr/>
              <p:nvPr/>
            </p:nvSpPr>
            <p:spPr>
              <a:xfrm>
                <a:off x="96" y="0"/>
                <a:ext cx="0" cy="240"/>
              </a:xfrm>
              <a:prstGeom prst="line">
                <a:avLst/>
              </a:prstGeom>
              <a:ln w="9525" cap="flat" cmpd="sng">
                <a:solidFill>
                  <a:schemeClr val="tx1"/>
                </a:solidFill>
                <a:prstDash val="solid"/>
                <a:headEnd type="triangle" w="med" len="med"/>
                <a:tailEnd type="none" w="med" len="med"/>
              </a:ln>
            </p:spPr>
          </p:sp>
          <p:sp>
            <p:nvSpPr>
              <p:cNvPr id="120872" name="Line 21"/>
              <p:cNvSpPr/>
              <p:nvPr/>
            </p:nvSpPr>
            <p:spPr>
              <a:xfrm>
                <a:off x="192" y="0"/>
                <a:ext cx="0" cy="240"/>
              </a:xfrm>
              <a:prstGeom prst="line">
                <a:avLst/>
              </a:prstGeom>
              <a:ln w="9525" cap="flat" cmpd="sng">
                <a:solidFill>
                  <a:schemeClr val="tx1"/>
                </a:solidFill>
                <a:prstDash val="solid"/>
                <a:headEnd type="triangle" w="med" len="med"/>
                <a:tailEnd type="none" w="med" len="med"/>
              </a:ln>
            </p:spPr>
          </p:sp>
          <p:sp>
            <p:nvSpPr>
              <p:cNvPr id="120873" name="Line 22"/>
              <p:cNvSpPr/>
              <p:nvPr/>
            </p:nvSpPr>
            <p:spPr>
              <a:xfrm>
                <a:off x="816" y="0"/>
                <a:ext cx="0" cy="240"/>
              </a:xfrm>
              <a:prstGeom prst="line">
                <a:avLst/>
              </a:prstGeom>
              <a:ln w="9525" cap="flat" cmpd="sng">
                <a:solidFill>
                  <a:schemeClr val="tx1"/>
                </a:solidFill>
                <a:prstDash val="solid"/>
                <a:headEnd type="triangle" w="med" len="med"/>
                <a:tailEnd type="none" w="med" len="med"/>
              </a:ln>
            </p:spPr>
          </p:sp>
        </p:grpSp>
        <p:sp>
          <p:nvSpPr>
            <p:cNvPr id="120851" name="AutoShape 23"/>
            <p:cNvSpPr/>
            <p:nvPr/>
          </p:nvSpPr>
          <p:spPr>
            <a:xfrm>
              <a:off x="617" y="2352"/>
              <a:ext cx="1080" cy="240"/>
            </a:xfrm>
            <a:prstGeom prst="flowChartProcess">
              <a:avLst/>
            </a:prstGeom>
            <a:solidFill>
              <a:srgbClr val="00CC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1800" dirty="0">
                  <a:solidFill>
                    <a:schemeClr val="tx1"/>
                  </a:solidFill>
                  <a:latin typeface="Tahoma" panose="020B0604030504040204" pitchFamily="34" charset="0"/>
                </a:rPr>
                <a:t>代码寄存器</a:t>
              </a:r>
              <a:endParaRPr lang="zh-CN" altLang="zh-CN" sz="1800" dirty="0">
                <a:solidFill>
                  <a:schemeClr val="tx1"/>
                </a:solidFill>
                <a:latin typeface="Tahoma" panose="020B0604030504040204" pitchFamily="34" charset="0"/>
              </a:endParaRPr>
            </a:p>
          </p:txBody>
        </p:sp>
        <p:grpSp>
          <p:nvGrpSpPr>
            <p:cNvPr id="120852" name="Group 24"/>
            <p:cNvGrpSpPr/>
            <p:nvPr/>
          </p:nvGrpSpPr>
          <p:grpSpPr>
            <a:xfrm>
              <a:off x="720" y="2112"/>
              <a:ext cx="874" cy="240"/>
              <a:chOff x="0" y="0"/>
              <a:chExt cx="816" cy="240"/>
            </a:xfrm>
          </p:grpSpPr>
          <p:sp>
            <p:nvSpPr>
              <p:cNvPr id="120866" name="Line 25"/>
              <p:cNvSpPr/>
              <p:nvPr/>
            </p:nvSpPr>
            <p:spPr>
              <a:xfrm>
                <a:off x="0" y="0"/>
                <a:ext cx="0" cy="240"/>
              </a:xfrm>
              <a:prstGeom prst="line">
                <a:avLst/>
              </a:prstGeom>
              <a:ln w="9525" cap="flat" cmpd="sng">
                <a:solidFill>
                  <a:schemeClr val="tx1"/>
                </a:solidFill>
                <a:prstDash val="solid"/>
                <a:headEnd type="triangle" w="med" len="med"/>
                <a:tailEnd type="triangle" w="med" len="med"/>
              </a:ln>
            </p:spPr>
          </p:sp>
          <p:sp>
            <p:nvSpPr>
              <p:cNvPr id="120867" name="Line 26"/>
              <p:cNvSpPr/>
              <p:nvPr/>
            </p:nvSpPr>
            <p:spPr>
              <a:xfrm>
                <a:off x="96" y="0"/>
                <a:ext cx="0" cy="240"/>
              </a:xfrm>
              <a:prstGeom prst="line">
                <a:avLst/>
              </a:prstGeom>
              <a:ln w="9525" cap="flat" cmpd="sng">
                <a:solidFill>
                  <a:schemeClr val="tx1"/>
                </a:solidFill>
                <a:prstDash val="solid"/>
                <a:headEnd type="triangle" w="med" len="med"/>
                <a:tailEnd type="triangle" w="med" len="med"/>
              </a:ln>
            </p:spPr>
          </p:sp>
          <p:sp>
            <p:nvSpPr>
              <p:cNvPr id="120868" name="Line 27"/>
              <p:cNvSpPr/>
              <p:nvPr/>
            </p:nvSpPr>
            <p:spPr>
              <a:xfrm>
                <a:off x="192" y="0"/>
                <a:ext cx="0" cy="240"/>
              </a:xfrm>
              <a:prstGeom prst="line">
                <a:avLst/>
              </a:prstGeom>
              <a:ln w="9525" cap="flat" cmpd="sng">
                <a:solidFill>
                  <a:schemeClr val="tx1"/>
                </a:solidFill>
                <a:prstDash val="solid"/>
                <a:headEnd type="triangle" w="med" len="med"/>
                <a:tailEnd type="triangle" w="med" len="med"/>
              </a:ln>
            </p:spPr>
          </p:sp>
          <p:sp>
            <p:nvSpPr>
              <p:cNvPr id="120869" name="Line 28"/>
              <p:cNvSpPr/>
              <p:nvPr/>
            </p:nvSpPr>
            <p:spPr>
              <a:xfrm>
                <a:off x="816" y="0"/>
                <a:ext cx="0" cy="240"/>
              </a:xfrm>
              <a:prstGeom prst="line">
                <a:avLst/>
              </a:prstGeom>
              <a:ln w="9525" cap="flat" cmpd="sng">
                <a:solidFill>
                  <a:schemeClr val="tx1"/>
                </a:solidFill>
                <a:prstDash val="solid"/>
                <a:headEnd type="triangle" w="med" len="med"/>
                <a:tailEnd type="triangle" w="med" len="med"/>
              </a:ln>
            </p:spPr>
          </p:sp>
        </p:grpSp>
        <p:sp>
          <p:nvSpPr>
            <p:cNvPr id="120853" name="AutoShape 29"/>
            <p:cNvSpPr/>
            <p:nvPr/>
          </p:nvSpPr>
          <p:spPr>
            <a:xfrm>
              <a:off x="1903" y="1296"/>
              <a:ext cx="257" cy="1008"/>
            </a:xfrm>
            <a:prstGeom prst="flowChartProcess">
              <a:avLst/>
            </a:prstGeom>
            <a:solidFill>
              <a:srgbClr val="66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ea typeface="华文新魏" panose="02010800040101010101" pitchFamily="2" charset="-122"/>
                </a:rPr>
                <a:t>1</a:t>
              </a:r>
              <a:endParaRPr lang="zh-CN" altLang="en-US" sz="2400" dirty="0">
                <a:solidFill>
                  <a:schemeClr val="tx1"/>
                </a:solidFill>
                <a:ea typeface="华文新魏" panose="02010800040101010101" pitchFamily="2" charset="-122"/>
              </a:endParaRPr>
            </a:p>
            <a:p>
              <a:pPr marL="0" lvl="0" indent="0" algn="ctr" eaLnBrk="1" hangingPunct="1">
                <a:spcBef>
                  <a:spcPct val="0"/>
                </a:spcBef>
                <a:buNone/>
              </a:pPr>
              <a:r>
                <a:rPr lang="zh-CN" altLang="en-US" sz="2400" dirty="0">
                  <a:solidFill>
                    <a:schemeClr val="tx1"/>
                  </a:solidFill>
                  <a:ea typeface="华文新魏" panose="02010800040101010101" pitchFamily="2" charset="-122"/>
                </a:rPr>
                <a:t>2</a:t>
              </a:r>
              <a:endParaRPr lang="zh-CN" altLang="en-US" sz="2400" dirty="0">
                <a:solidFill>
                  <a:schemeClr val="tx1"/>
                </a:solidFill>
                <a:ea typeface="华文新魏" panose="02010800040101010101" pitchFamily="2" charset="-122"/>
              </a:endParaRPr>
            </a:p>
            <a:p>
              <a:pPr marL="0" lvl="0" indent="0" algn="ctr" eaLnBrk="1" hangingPunct="1">
                <a:spcBef>
                  <a:spcPct val="0"/>
                </a:spcBef>
                <a:buNone/>
              </a:pPr>
              <a:r>
                <a:rPr lang="zh-CN" altLang="en-US" sz="1200" dirty="0">
                  <a:solidFill>
                    <a:schemeClr val="tx1"/>
                  </a:solidFill>
                  <a:ea typeface="华文新魏" panose="02010800040101010101" pitchFamily="2" charset="-122"/>
                </a:rPr>
                <a:t>.</a:t>
              </a:r>
              <a:endParaRPr lang="zh-CN" altLang="en-US" sz="1200" dirty="0">
                <a:solidFill>
                  <a:schemeClr val="tx1"/>
                </a:solidFill>
                <a:ea typeface="华文新魏" panose="02010800040101010101" pitchFamily="2" charset="-122"/>
              </a:endParaRPr>
            </a:p>
            <a:p>
              <a:pPr marL="0" lvl="0" indent="0" algn="ctr" eaLnBrk="1" hangingPunct="1">
                <a:spcBef>
                  <a:spcPct val="0"/>
                </a:spcBef>
                <a:buNone/>
              </a:pPr>
              <a:r>
                <a:rPr lang="zh-CN" altLang="en-US" sz="1200" dirty="0">
                  <a:solidFill>
                    <a:schemeClr val="tx1"/>
                  </a:solidFill>
                  <a:ea typeface="华文新魏" panose="02010800040101010101" pitchFamily="2" charset="-122"/>
                </a:rPr>
                <a:t>.</a:t>
              </a:r>
              <a:endParaRPr lang="zh-CN" altLang="en-US" sz="1200" dirty="0">
                <a:solidFill>
                  <a:schemeClr val="tx1"/>
                </a:solidFill>
                <a:ea typeface="华文新魏" panose="02010800040101010101" pitchFamily="2" charset="-122"/>
              </a:endParaRPr>
            </a:p>
            <a:p>
              <a:pPr marL="0" lvl="0" indent="0" algn="ctr" eaLnBrk="1" hangingPunct="1">
                <a:spcBef>
                  <a:spcPct val="0"/>
                </a:spcBef>
                <a:buNone/>
              </a:pPr>
              <a:r>
                <a:rPr lang="zh-CN" altLang="en-US" sz="1200" dirty="0">
                  <a:solidFill>
                    <a:schemeClr val="tx1"/>
                  </a:solidFill>
                  <a:ea typeface="华文新魏" panose="02010800040101010101" pitchFamily="2" charset="-122"/>
                </a:rPr>
                <a:t>.</a:t>
              </a:r>
              <a:endParaRPr lang="zh-CN" altLang="en-US" sz="1200" dirty="0">
                <a:solidFill>
                  <a:schemeClr val="tx1"/>
                </a:solidFill>
                <a:ea typeface="华文新魏" panose="02010800040101010101" pitchFamily="2" charset="-122"/>
              </a:endParaRPr>
            </a:p>
            <a:p>
              <a:pPr marL="0" lvl="0" indent="0" algn="ctr" eaLnBrk="1" hangingPunct="1">
                <a:spcBef>
                  <a:spcPct val="0"/>
                </a:spcBef>
                <a:buNone/>
              </a:pPr>
              <a:r>
                <a:rPr lang="zh-CN" altLang="en-US" sz="2000" dirty="0">
                  <a:solidFill>
                    <a:schemeClr val="tx1"/>
                  </a:solidFill>
                  <a:ea typeface="华文新魏" panose="02010800040101010101" pitchFamily="2" charset="-122"/>
                </a:rPr>
                <a:t>m</a:t>
              </a:r>
              <a:endParaRPr lang="zh-CN" altLang="en-US" sz="2000" dirty="0">
                <a:solidFill>
                  <a:schemeClr val="tx1"/>
                </a:solidFill>
                <a:ea typeface="华文新魏" panose="02010800040101010101" pitchFamily="2" charset="-122"/>
              </a:endParaRPr>
            </a:p>
          </p:txBody>
        </p:sp>
        <p:sp>
          <p:nvSpPr>
            <p:cNvPr id="120854" name="Line 30"/>
            <p:cNvSpPr/>
            <p:nvPr/>
          </p:nvSpPr>
          <p:spPr>
            <a:xfrm>
              <a:off x="360" y="1536"/>
              <a:ext cx="257" cy="0"/>
            </a:xfrm>
            <a:prstGeom prst="line">
              <a:avLst/>
            </a:prstGeom>
            <a:ln w="9525" cap="flat" cmpd="sng">
              <a:solidFill>
                <a:schemeClr val="tx1"/>
              </a:solidFill>
              <a:prstDash val="solid"/>
              <a:headEnd type="none" w="med" len="med"/>
              <a:tailEnd type="triangle" w="med" len="med"/>
            </a:ln>
          </p:spPr>
        </p:sp>
        <p:sp>
          <p:nvSpPr>
            <p:cNvPr id="120855" name="Line 31"/>
            <p:cNvSpPr/>
            <p:nvPr/>
          </p:nvSpPr>
          <p:spPr>
            <a:xfrm>
              <a:off x="360" y="1680"/>
              <a:ext cx="257" cy="0"/>
            </a:xfrm>
            <a:prstGeom prst="line">
              <a:avLst/>
            </a:prstGeom>
            <a:ln w="9525" cap="flat" cmpd="sng">
              <a:solidFill>
                <a:schemeClr val="tx1"/>
              </a:solidFill>
              <a:prstDash val="solid"/>
              <a:headEnd type="none" w="med" len="med"/>
              <a:tailEnd type="triangle" w="med" len="med"/>
            </a:ln>
          </p:spPr>
        </p:sp>
        <p:sp>
          <p:nvSpPr>
            <p:cNvPr id="120856" name="Line 32"/>
            <p:cNvSpPr/>
            <p:nvPr/>
          </p:nvSpPr>
          <p:spPr>
            <a:xfrm>
              <a:off x="360" y="2016"/>
              <a:ext cx="257" cy="0"/>
            </a:xfrm>
            <a:prstGeom prst="line">
              <a:avLst/>
            </a:prstGeom>
            <a:ln w="9525" cap="flat" cmpd="sng">
              <a:solidFill>
                <a:schemeClr val="tx1"/>
              </a:solidFill>
              <a:prstDash val="solid"/>
              <a:headEnd type="none" w="med" len="med"/>
              <a:tailEnd type="triangle" w="med" len="med"/>
            </a:ln>
          </p:spPr>
        </p:sp>
        <p:sp>
          <p:nvSpPr>
            <p:cNvPr id="120857" name="Line 33"/>
            <p:cNvSpPr/>
            <p:nvPr/>
          </p:nvSpPr>
          <p:spPr>
            <a:xfrm>
              <a:off x="1646" y="1056"/>
              <a:ext cx="360" cy="0"/>
            </a:xfrm>
            <a:prstGeom prst="line">
              <a:avLst/>
            </a:prstGeom>
            <a:ln w="9525" cap="flat" cmpd="sng">
              <a:solidFill>
                <a:schemeClr val="tx1"/>
              </a:solidFill>
              <a:prstDash val="solid"/>
              <a:headEnd type="none" w="med" len="med"/>
              <a:tailEnd type="none" w="med" len="med"/>
            </a:ln>
          </p:spPr>
        </p:sp>
        <p:sp>
          <p:nvSpPr>
            <p:cNvPr id="120858" name="Line 34"/>
            <p:cNvSpPr/>
            <p:nvPr/>
          </p:nvSpPr>
          <p:spPr>
            <a:xfrm>
              <a:off x="2006" y="1056"/>
              <a:ext cx="0" cy="240"/>
            </a:xfrm>
            <a:prstGeom prst="line">
              <a:avLst/>
            </a:prstGeom>
            <a:ln w="9525" cap="flat" cmpd="sng">
              <a:solidFill>
                <a:schemeClr val="tx1"/>
              </a:solidFill>
              <a:prstDash val="solid"/>
              <a:headEnd type="none" w="med" len="med"/>
              <a:tailEnd type="triangle" w="med" len="med"/>
            </a:ln>
          </p:spPr>
        </p:sp>
        <p:sp>
          <p:nvSpPr>
            <p:cNvPr id="120859" name="Line 35"/>
            <p:cNvSpPr/>
            <p:nvPr/>
          </p:nvSpPr>
          <p:spPr>
            <a:xfrm>
              <a:off x="2006" y="2304"/>
              <a:ext cx="0" cy="528"/>
            </a:xfrm>
            <a:prstGeom prst="line">
              <a:avLst/>
            </a:prstGeom>
            <a:ln w="9525" cap="flat" cmpd="sng">
              <a:solidFill>
                <a:schemeClr val="tx1"/>
              </a:solidFill>
              <a:prstDash val="solid"/>
              <a:headEnd type="none" w="med" len="med"/>
              <a:tailEnd type="none" w="med" len="med"/>
            </a:ln>
          </p:spPr>
        </p:sp>
        <p:sp>
          <p:nvSpPr>
            <p:cNvPr id="120860" name="Line 36"/>
            <p:cNvSpPr/>
            <p:nvPr/>
          </p:nvSpPr>
          <p:spPr>
            <a:xfrm flipH="1">
              <a:off x="257" y="2832"/>
              <a:ext cx="1749" cy="0"/>
            </a:xfrm>
            <a:prstGeom prst="line">
              <a:avLst/>
            </a:prstGeom>
            <a:ln w="9525" cap="flat" cmpd="sng">
              <a:solidFill>
                <a:schemeClr val="tx1"/>
              </a:solidFill>
              <a:prstDash val="solid"/>
              <a:headEnd type="none" w="med" len="med"/>
              <a:tailEnd type="none" w="med" len="med"/>
            </a:ln>
          </p:spPr>
        </p:sp>
        <p:sp>
          <p:nvSpPr>
            <p:cNvPr id="120861" name="Line 37"/>
            <p:cNvSpPr/>
            <p:nvPr/>
          </p:nvSpPr>
          <p:spPr>
            <a:xfrm flipV="1">
              <a:off x="257" y="2304"/>
              <a:ext cx="0" cy="528"/>
            </a:xfrm>
            <a:prstGeom prst="line">
              <a:avLst/>
            </a:prstGeom>
            <a:ln w="9525" cap="flat" cmpd="sng">
              <a:solidFill>
                <a:schemeClr val="tx1"/>
              </a:solidFill>
              <a:prstDash val="solid"/>
              <a:headEnd type="none" w="med" len="med"/>
              <a:tailEnd type="triangle" w="med" len="med"/>
            </a:ln>
          </p:spPr>
        </p:sp>
        <p:sp>
          <p:nvSpPr>
            <p:cNvPr id="120862" name="Line 38"/>
            <p:cNvSpPr/>
            <p:nvPr/>
          </p:nvSpPr>
          <p:spPr>
            <a:xfrm>
              <a:off x="1903" y="1488"/>
              <a:ext cx="257" cy="0"/>
            </a:xfrm>
            <a:prstGeom prst="line">
              <a:avLst/>
            </a:prstGeom>
            <a:ln w="9525" cap="flat" cmpd="sng">
              <a:solidFill>
                <a:schemeClr val="tx1"/>
              </a:solidFill>
              <a:prstDash val="solid"/>
              <a:headEnd type="none" w="med" len="med"/>
              <a:tailEnd type="none" w="med" len="med"/>
            </a:ln>
          </p:spPr>
        </p:sp>
        <p:sp>
          <p:nvSpPr>
            <p:cNvPr id="120863" name="Line 39"/>
            <p:cNvSpPr/>
            <p:nvPr/>
          </p:nvSpPr>
          <p:spPr>
            <a:xfrm>
              <a:off x="1920" y="1728"/>
              <a:ext cx="257" cy="0"/>
            </a:xfrm>
            <a:prstGeom prst="line">
              <a:avLst/>
            </a:prstGeom>
            <a:ln w="9525" cap="flat" cmpd="sng">
              <a:solidFill>
                <a:schemeClr val="tx1"/>
              </a:solidFill>
              <a:prstDash val="solid"/>
              <a:headEnd type="none" w="med" len="med"/>
              <a:tailEnd type="none" w="med" len="med"/>
            </a:ln>
          </p:spPr>
        </p:sp>
        <p:sp>
          <p:nvSpPr>
            <p:cNvPr id="120864" name="Line 40"/>
            <p:cNvSpPr/>
            <p:nvPr/>
          </p:nvSpPr>
          <p:spPr>
            <a:xfrm>
              <a:off x="1903" y="2112"/>
              <a:ext cx="257" cy="0"/>
            </a:xfrm>
            <a:prstGeom prst="line">
              <a:avLst/>
            </a:prstGeom>
            <a:ln w="9525" cap="flat" cmpd="sng">
              <a:solidFill>
                <a:schemeClr val="tx1"/>
              </a:solidFill>
              <a:prstDash val="solid"/>
              <a:headEnd type="none" w="med" len="med"/>
              <a:tailEnd type="none" w="med" len="med"/>
            </a:ln>
          </p:spPr>
        </p:sp>
        <p:sp>
          <p:nvSpPr>
            <p:cNvPr id="120865" name="Rectangle 41"/>
            <p:cNvSpPr/>
            <p:nvPr/>
          </p:nvSpPr>
          <p:spPr>
            <a:xfrm>
              <a:off x="2208" y="1344"/>
              <a:ext cx="240" cy="92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800" dirty="0">
                  <a:solidFill>
                    <a:schemeClr val="tx1"/>
                  </a:solidFill>
                  <a:latin typeface="Tahoma" panose="020B0604030504040204" pitchFamily="34" charset="0"/>
                </a:rPr>
                <a:t>符合寄存器</a:t>
              </a:r>
              <a:endParaRPr lang="zh-CN" altLang="zh-CN" sz="1800" dirty="0">
                <a:solidFill>
                  <a:schemeClr val="tx1"/>
                </a:solidFill>
                <a:latin typeface="Tahoma" panose="020B0604030504040204" pitchFamily="34" charset="0"/>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p:nvPr>
            <p:ph type="title" idx="4294967295"/>
          </p:nvPr>
        </p:nvSpPr>
        <p:spPr>
          <a:xfrm>
            <a:off x="685800" y="914400"/>
            <a:ext cx="7772400" cy="838200"/>
          </a:xfrm>
          <a:prstGeom prst="rect">
            <a:avLst/>
          </a:prstGeom>
          <a:noFill/>
          <a:ln w="9525">
            <a:noFill/>
          </a:ln>
        </p:spPr>
        <p:txBody>
          <a:bodyPr/>
          <a:p>
            <a:pPr eaLnBrk="1" hangingPunct="1"/>
            <a:r>
              <a:rPr lang="zh-CN" altLang="en-US" dirty="0"/>
              <a:t>高速存储器——</a:t>
            </a:r>
            <a:r>
              <a:rPr lang="zh-CN" altLang="en-US" sz="2000" dirty="0"/>
              <a:t>多模块交叉存储器</a:t>
            </a:r>
            <a:endParaRPr lang="zh-CN" altLang="en-US" sz="2000" dirty="0"/>
          </a:p>
        </p:txBody>
      </p:sp>
      <p:sp>
        <p:nvSpPr>
          <p:cNvPr id="121859" name="Rectangle 3"/>
          <p:cNvSpPr>
            <a:spLocks noGrp="1"/>
          </p:cNvSpPr>
          <p:nvPr>
            <p:ph type="body" idx="4294967295"/>
          </p:nvPr>
        </p:nvSpPr>
        <p:spPr>
          <a:ln/>
        </p:spPr>
        <p:txBody>
          <a:bodyPr vert="horz" wrap="square" lIns="91440" tIns="45720" rIns="91440" bIns="45720" anchor="t" anchorCtr="0"/>
          <a:p>
            <a:pPr eaLnBrk="1" hangingPunct="1"/>
            <a:r>
              <a:rPr lang="zh-CN" altLang="zh-CN" b="1" dirty="0">
                <a:solidFill>
                  <a:srgbClr val="993366"/>
                </a:solidFill>
                <a:ea typeface="楷体_GB2312" pitchFamily="1" charset="-122"/>
              </a:rPr>
              <a:t>相联存储器：</a:t>
            </a:r>
            <a:r>
              <a:rPr lang="zh-CN" altLang="zh-CN" b="1" dirty="0">
                <a:solidFill>
                  <a:schemeClr val="tx1"/>
                </a:solidFill>
                <a:ea typeface="楷体_GB2312" pitchFamily="1" charset="-122"/>
              </a:rPr>
              <a:t>是</a:t>
            </a:r>
            <a:r>
              <a:rPr lang="zh-CN" altLang="zh-CN" b="1" dirty="0">
                <a:solidFill>
                  <a:srgbClr val="0000FF"/>
                </a:solidFill>
                <a:ea typeface="楷体_GB2312" pitchFamily="1" charset="-122"/>
              </a:rPr>
              <a:t>按内容访问</a:t>
            </a:r>
            <a:r>
              <a:rPr lang="zh-CN" altLang="zh-CN" b="1" dirty="0">
                <a:solidFill>
                  <a:schemeClr val="tx1"/>
                </a:solidFill>
                <a:ea typeface="楷体_GB2312" pitchFamily="1" charset="-122"/>
              </a:rPr>
              <a:t>存储器。</a:t>
            </a:r>
            <a:endParaRPr lang="zh-CN" altLang="zh-CN" b="1" dirty="0">
              <a:solidFill>
                <a:schemeClr val="tx1"/>
              </a:solidFill>
              <a:ea typeface="楷体_GB2312" pitchFamily="1" charset="-122"/>
            </a:endParaRPr>
          </a:p>
          <a:p>
            <a:pPr eaLnBrk="1" hangingPunct="1"/>
            <a:r>
              <a:rPr lang="zh-CN" altLang="zh-CN" b="1" dirty="0">
                <a:solidFill>
                  <a:schemeClr val="tx1"/>
                </a:solidFill>
                <a:ea typeface="楷体_GB2312" pitchFamily="1" charset="-122"/>
              </a:rPr>
              <a:t>相联存储器的基本原理是把存储单元所存内容的某一部分作为检索项（即关键字项），去检索存储器，并将存储器中该检索项符合的存储单元内容进行读出或写入。</a:t>
            </a:r>
            <a:endParaRPr lang="zh-CN" altLang="zh-CN" b="1" dirty="0">
              <a:solidFill>
                <a:schemeClr val="tx1"/>
              </a:solidFill>
              <a:ea typeface="楷体_GB2312" pitchFamily="1"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p:nvPr>
            <p:ph type="title" idx="4294967295"/>
          </p:nvPr>
        </p:nvSpPr>
        <p:spPr>
          <a:xfrm>
            <a:off x="685800" y="914400"/>
            <a:ext cx="7772400" cy="503238"/>
          </a:xfrm>
          <a:prstGeom prst="rect">
            <a:avLst/>
          </a:prstGeom>
          <a:noFill/>
          <a:ln w="9525">
            <a:noFill/>
          </a:ln>
        </p:spPr>
        <p:txBody>
          <a:bodyPr/>
          <a:p>
            <a:pPr eaLnBrk="1" hangingPunct="1"/>
            <a:r>
              <a:rPr lang="zh-CN" altLang="zh-CN" sz="3200" dirty="0"/>
              <a:t>相联存储器</a:t>
            </a:r>
            <a:endParaRPr lang="zh-CN" altLang="zh-CN" sz="3200" dirty="0"/>
          </a:p>
        </p:txBody>
      </p:sp>
      <p:sp>
        <p:nvSpPr>
          <p:cNvPr id="122883" name="Rectangle 3"/>
          <p:cNvSpPr>
            <a:spLocks noGrp="1"/>
          </p:cNvSpPr>
          <p:nvPr>
            <p:ph type="body" idx="4294967295"/>
          </p:nvPr>
        </p:nvSpPr>
        <p:spPr>
          <a:xfrm>
            <a:off x="457200" y="1371600"/>
            <a:ext cx="8382000" cy="5105400"/>
          </a:xfrm>
          <a:ln/>
        </p:spPr>
        <p:txBody>
          <a:bodyPr vert="horz" wrap="square" lIns="91440" tIns="45720" rIns="91440" bIns="45720" anchor="t" anchorCtr="0"/>
          <a:p>
            <a:pPr eaLnBrk="1" hangingPunct="1">
              <a:lnSpc>
                <a:spcPct val="90000"/>
              </a:lnSpc>
              <a:buNone/>
            </a:pPr>
            <a:r>
              <a:rPr lang="zh-CN" altLang="en-US" sz="2400" b="1" dirty="0">
                <a:latin typeface="楷体_GB2312" pitchFamily="1" charset="-122"/>
                <a:ea typeface="楷体_GB2312" pitchFamily="1" charset="-122"/>
              </a:rPr>
              <a:t>1.基本原理</a:t>
            </a:r>
            <a:endParaRPr lang="zh-CN" altLang="en-US" sz="2400" b="1" dirty="0">
              <a:latin typeface="楷体_GB2312" pitchFamily="1" charset="-122"/>
              <a:ea typeface="楷体_GB2312" pitchFamily="1" charset="-122"/>
            </a:endParaRPr>
          </a:p>
          <a:p>
            <a:pPr eaLnBrk="1" hangingPunct="1">
              <a:lnSpc>
                <a:spcPct val="90000"/>
              </a:lnSpc>
              <a:buNone/>
            </a:pPr>
            <a:r>
              <a:rPr lang="zh-CN" altLang="en-US" sz="2400" b="1" dirty="0">
                <a:latin typeface="楷体_GB2312" pitchFamily="1" charset="-122"/>
                <a:ea typeface="楷体_GB2312" pitchFamily="1" charset="-122"/>
              </a:rPr>
              <a:t>         按内容寻址的存储器。</a:t>
            </a:r>
            <a:endParaRPr lang="zh-CN" altLang="en-US" sz="2400" b="1" dirty="0">
              <a:latin typeface="楷体_GB2312" pitchFamily="1" charset="-122"/>
              <a:ea typeface="楷体_GB2312" pitchFamily="1" charset="-122"/>
            </a:endParaRPr>
          </a:p>
          <a:p>
            <a:pPr eaLnBrk="1" hangingPunct="1">
              <a:lnSpc>
                <a:spcPct val="90000"/>
              </a:lnSpc>
              <a:buNone/>
            </a:pPr>
            <a:endParaRPr lang="zh-CN" altLang="en-US" sz="2400" b="1" dirty="0">
              <a:latin typeface="楷体_GB2312" pitchFamily="1" charset="-122"/>
              <a:ea typeface="楷体_GB2312" pitchFamily="1" charset="-122"/>
            </a:endParaRPr>
          </a:p>
          <a:p>
            <a:pPr eaLnBrk="1" hangingPunct="1">
              <a:lnSpc>
                <a:spcPct val="90000"/>
              </a:lnSpc>
              <a:buNone/>
            </a:pPr>
            <a:endParaRPr lang="zh-CN" altLang="en-US" sz="2400" b="1" dirty="0">
              <a:latin typeface="楷体_GB2312" pitchFamily="1" charset="-122"/>
              <a:ea typeface="楷体_GB2312" pitchFamily="1" charset="-122"/>
            </a:endParaRPr>
          </a:p>
          <a:p>
            <a:pPr eaLnBrk="1" hangingPunct="1">
              <a:lnSpc>
                <a:spcPct val="90000"/>
              </a:lnSpc>
              <a:buNone/>
            </a:pPr>
            <a:endParaRPr lang="zh-CN" altLang="en-US" sz="2400" b="1" dirty="0">
              <a:latin typeface="楷体_GB2312" pitchFamily="1" charset="-122"/>
              <a:ea typeface="楷体_GB2312" pitchFamily="1" charset="-122"/>
            </a:endParaRPr>
          </a:p>
          <a:p>
            <a:pPr eaLnBrk="1" hangingPunct="1">
              <a:lnSpc>
                <a:spcPct val="90000"/>
              </a:lnSpc>
              <a:buNone/>
            </a:pPr>
            <a:r>
              <a:rPr lang="zh-CN" altLang="en-US" sz="2400" b="1" dirty="0">
                <a:latin typeface="楷体_GB2312" pitchFamily="1" charset="-122"/>
                <a:ea typeface="楷体_GB2312" pitchFamily="1" charset="-122"/>
              </a:rPr>
              <a:t>    </a:t>
            </a:r>
            <a:endParaRPr lang="zh-CN" altLang="en-US" sz="2400" b="1" dirty="0">
              <a:latin typeface="楷体_GB2312" pitchFamily="1" charset="-122"/>
              <a:ea typeface="楷体_GB2312" pitchFamily="1" charset="-122"/>
            </a:endParaRPr>
          </a:p>
          <a:p>
            <a:pPr eaLnBrk="1" hangingPunct="1">
              <a:lnSpc>
                <a:spcPct val="90000"/>
              </a:lnSpc>
              <a:buNone/>
            </a:pPr>
            <a:r>
              <a:rPr lang="zh-CN" altLang="en-US" sz="2400" b="1" dirty="0">
                <a:latin typeface="楷体_GB2312" pitchFamily="1" charset="-122"/>
                <a:ea typeface="楷体_GB2312" pitchFamily="1" charset="-122"/>
              </a:rPr>
              <a:t>          地址      存储项（记录）     字段</a:t>
            </a:r>
            <a:endParaRPr lang="zh-CN" altLang="en-US" sz="2400" b="1" dirty="0">
              <a:latin typeface="楷体_GB2312" pitchFamily="1" charset="-122"/>
              <a:ea typeface="楷体_GB2312" pitchFamily="1" charset="-122"/>
            </a:endParaRPr>
          </a:p>
          <a:p>
            <a:pPr eaLnBrk="1" hangingPunct="1">
              <a:lnSpc>
                <a:spcPct val="90000"/>
              </a:lnSpc>
              <a:buNone/>
            </a:pPr>
            <a:r>
              <a:rPr lang="zh-CN" altLang="en-US" sz="2400" b="1" dirty="0">
                <a:latin typeface="楷体_GB2312" pitchFamily="1" charset="-122"/>
                <a:ea typeface="楷体_GB2312" pitchFamily="1" charset="-122"/>
              </a:rPr>
              <a:t>      任一存储项都可以直接用该项的内容作为地址来存取的存储器，称为相联存储器。</a:t>
            </a:r>
            <a:endParaRPr lang="zh-CN" altLang="en-US" sz="2400" b="1" dirty="0">
              <a:latin typeface="楷体_GB2312" pitchFamily="1" charset="-122"/>
              <a:ea typeface="楷体_GB2312" pitchFamily="1" charset="-122"/>
            </a:endParaRPr>
          </a:p>
          <a:p>
            <a:pPr eaLnBrk="1" hangingPunct="1">
              <a:lnSpc>
                <a:spcPct val="90000"/>
              </a:lnSpc>
              <a:buNone/>
            </a:pPr>
            <a:r>
              <a:rPr lang="zh-CN" altLang="en-US" sz="2400" b="1" dirty="0">
                <a:latin typeface="楷体_GB2312" pitchFamily="1" charset="-122"/>
                <a:ea typeface="楷体_GB2312" pitchFamily="1" charset="-122"/>
              </a:rPr>
              <a:t>      选用来寻址的字段称</a:t>
            </a:r>
            <a:r>
              <a:rPr lang="zh-CN" altLang="en-US" sz="2400" b="1" dirty="0">
                <a:solidFill>
                  <a:srgbClr val="993366"/>
                </a:solidFill>
                <a:latin typeface="楷体_GB2312" pitchFamily="1" charset="-122"/>
                <a:ea typeface="楷体_GB2312" pitchFamily="1" charset="-122"/>
              </a:rPr>
              <a:t>关键字</a:t>
            </a:r>
            <a:r>
              <a:rPr lang="zh-CN" altLang="en-US" sz="2400" b="1" dirty="0">
                <a:latin typeface="楷体_GB2312" pitchFamily="1" charset="-122"/>
                <a:ea typeface="楷体_GB2312" pitchFamily="1" charset="-122"/>
              </a:rPr>
              <a:t>。简称键（KEY）。</a:t>
            </a:r>
            <a:endParaRPr lang="zh-CN" altLang="en-US" sz="2400" b="1" dirty="0">
              <a:latin typeface="楷体_GB2312" pitchFamily="1" charset="-122"/>
              <a:ea typeface="楷体_GB2312" pitchFamily="1" charset="-122"/>
            </a:endParaRPr>
          </a:p>
          <a:p>
            <a:pPr eaLnBrk="1" hangingPunct="1">
              <a:lnSpc>
                <a:spcPct val="90000"/>
              </a:lnSpc>
              <a:buNone/>
            </a:pPr>
            <a:r>
              <a:rPr lang="zh-CN" altLang="en-US" sz="2400" b="1" dirty="0">
                <a:latin typeface="楷体_GB2312" pitchFamily="1" charset="-122"/>
                <a:ea typeface="楷体_GB2312" pitchFamily="1" charset="-122"/>
              </a:rPr>
              <a:t>      存储项的格式：</a:t>
            </a:r>
            <a:endParaRPr lang="zh-CN" altLang="en-US" sz="2400" b="1" dirty="0">
              <a:latin typeface="楷体_GB2312" pitchFamily="1" charset="-122"/>
              <a:ea typeface="楷体_GB2312" pitchFamily="1" charset="-122"/>
            </a:endParaRPr>
          </a:p>
          <a:p>
            <a:pPr eaLnBrk="1" hangingPunct="1">
              <a:lnSpc>
                <a:spcPct val="90000"/>
              </a:lnSpc>
              <a:buNone/>
            </a:pPr>
            <a:r>
              <a:rPr lang="zh-CN" altLang="en-US" sz="2400" b="1" dirty="0">
                <a:latin typeface="楷体_GB2312" pitchFamily="1" charset="-122"/>
                <a:ea typeface="楷体_GB2312" pitchFamily="1" charset="-122"/>
              </a:rPr>
              <a:t>                   </a:t>
            </a:r>
            <a:r>
              <a:rPr lang="zh-CN" altLang="en-US" sz="2400" b="1" dirty="0">
                <a:solidFill>
                  <a:srgbClr val="993366"/>
                </a:solidFill>
                <a:latin typeface="Arial" panose="020B0604020202020204" pitchFamily="34" charset="0"/>
                <a:ea typeface="楷体_GB2312" pitchFamily="1" charset="-122"/>
              </a:rPr>
              <a:t>KEY</a:t>
            </a:r>
            <a:r>
              <a:rPr lang="zh-CN" altLang="en-US" sz="2400" b="1" dirty="0">
                <a:latin typeface="Arial" panose="020B0604020202020204" pitchFamily="34" charset="0"/>
                <a:ea typeface="楷体_GB2312" pitchFamily="1" charset="-122"/>
              </a:rPr>
              <a:t>，</a:t>
            </a:r>
            <a:r>
              <a:rPr lang="zh-CN" altLang="en-US" sz="2400" b="1" dirty="0">
                <a:solidFill>
                  <a:srgbClr val="993366"/>
                </a:solidFill>
                <a:latin typeface="Arial" panose="020B0604020202020204" pitchFamily="34" charset="0"/>
                <a:ea typeface="楷体_GB2312" pitchFamily="1" charset="-122"/>
              </a:rPr>
              <a:t>DATA</a:t>
            </a:r>
            <a:endParaRPr lang="zh-CN" altLang="en-US" sz="2400" b="1" dirty="0">
              <a:solidFill>
                <a:srgbClr val="993366"/>
              </a:solidFill>
              <a:latin typeface="Arial" panose="020B0604020202020204" pitchFamily="34" charset="0"/>
              <a:ea typeface="楷体_GB2312" pitchFamily="1" charset="-122"/>
            </a:endParaRPr>
          </a:p>
        </p:txBody>
      </p:sp>
      <p:graphicFrame>
        <p:nvGraphicFramePr>
          <p:cNvPr id="121860" name="Group 4"/>
          <p:cNvGraphicFramePr>
            <a:graphicFrameLocks noGrp="1"/>
          </p:cNvGraphicFramePr>
          <p:nvPr/>
        </p:nvGraphicFramePr>
        <p:xfrm>
          <a:off x="1931988" y="2209800"/>
          <a:ext cx="6096000" cy="1463675"/>
        </p:xfrm>
        <a:graphic>
          <a:graphicData uri="http://schemas.openxmlformats.org/drawingml/2006/table">
            <a:tbl>
              <a:tblPr/>
              <a:tblGrid>
                <a:gridCol w="1524000"/>
                <a:gridCol w="1524000"/>
                <a:gridCol w="1524000"/>
                <a:gridCol w="1524000"/>
              </a:tblGrid>
              <a:tr h="541338">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学   号</a:t>
                      </a:r>
                      <a:endPar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姓      名</a:t>
                      </a:r>
                      <a:endPar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性     别</a:t>
                      </a:r>
                      <a:endPar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平均成绩</a:t>
                      </a:r>
                      <a:endPar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200112001</a:t>
                      </a:r>
                      <a:endParaRPr kumimoji="0" lang="zh-CN" altLang="en-US"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万  一</a:t>
                      </a:r>
                      <a:endPar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男</a:t>
                      </a:r>
                      <a:endPar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89.8</a:t>
                      </a:r>
                      <a:endParaRPr kumimoji="0" lang="zh-CN" altLang="en-US"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200112002      </a:t>
                      </a:r>
                      <a:endParaRPr kumimoji="0" lang="zh-CN" altLang="en-US"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李  立</a:t>
                      </a:r>
                      <a:endPar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女</a:t>
                      </a:r>
                      <a:endParaRPr kumimoji="0" lang="zh-CN" altLang="zh-CN"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rgbClr val="666699"/>
                          </a:solidFill>
                          <a:latin typeface="Times New Roman" panose="02020603050405020304" pitchFamily="18" charset="0"/>
                          <a:ea typeface="宋体" panose="02010600030101010101" pitchFamily="2" charset="-122"/>
                        </a:defRPr>
                      </a:lvl1pPr>
                      <a:lvl2pPr marL="742950" indent="-285750" eaLnBrk="0" hangingPunct="0">
                        <a:spcBef>
                          <a:spcPct val="20000"/>
                        </a:spcBef>
                        <a:defRPr sz="2400">
                          <a:solidFill>
                            <a:srgbClr val="666699"/>
                          </a:solidFill>
                          <a:latin typeface="Times New Roman" panose="02020603050405020304" pitchFamily="18" charset="0"/>
                          <a:ea typeface="宋体" panose="02010600030101010101" pitchFamily="2" charset="-122"/>
                        </a:defRPr>
                      </a:lvl2pPr>
                      <a:lvl3pPr marL="1143000" indent="-228600" eaLnBrk="0" hangingPunct="0">
                        <a:spcBef>
                          <a:spcPct val="20000"/>
                        </a:spcBef>
                        <a:defRPr sz="2000">
                          <a:solidFill>
                            <a:srgbClr val="666699"/>
                          </a:solidFill>
                          <a:latin typeface="Times New Roman" panose="02020603050405020304" pitchFamily="18" charset="0"/>
                          <a:ea typeface="宋体" panose="02010600030101010101" pitchFamily="2" charset="-122"/>
                        </a:defRPr>
                      </a:lvl3pPr>
                      <a:lvl4pPr marL="16002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4pPr>
                      <a:lvl5pPr marL="2057400" indent="-228600" eaLnBrk="0" hangingPunct="0">
                        <a:spcBef>
                          <a:spcPct val="20000"/>
                        </a:spcBef>
                        <a:defRPr>
                          <a:solidFill>
                            <a:srgbClr val="6666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rgbClr val="666699"/>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90</a:t>
                      </a:r>
                      <a:endParaRPr kumimoji="0" lang="zh-CN" altLang="en-US" sz="20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2906" name="Rectangle 26"/>
          <p:cNvSpPr/>
          <p:nvPr/>
        </p:nvSpPr>
        <p:spPr>
          <a:xfrm>
            <a:off x="393700" y="2060575"/>
            <a:ext cx="1225550" cy="1655763"/>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800" b="1" dirty="0">
                <a:solidFill>
                  <a:schemeClr val="tx1"/>
                </a:solidFill>
                <a:latin typeface="宋体" panose="02010600030101010101" pitchFamily="2" charset="-122"/>
              </a:rPr>
              <a:t>物理地址</a:t>
            </a:r>
            <a:endParaRPr lang="zh-CN" altLang="en-US" sz="2800" b="1" dirty="0">
              <a:solidFill>
                <a:schemeClr val="tx1"/>
              </a:solidFill>
              <a:latin typeface="宋体" panose="02010600030101010101" pitchFamily="2" charset="-122"/>
            </a:endParaRPr>
          </a:p>
          <a:p>
            <a:pPr marL="0" lvl="0" indent="0" algn="ctr" eaLnBrk="1" hangingPunct="1">
              <a:spcBef>
                <a:spcPct val="0"/>
              </a:spcBef>
              <a:buNone/>
            </a:pPr>
            <a:r>
              <a:rPr lang="zh-CN" altLang="en-US" sz="2800" b="1" dirty="0">
                <a:solidFill>
                  <a:schemeClr val="tx1"/>
                </a:solidFill>
                <a:latin typeface="宋体" panose="02010600030101010101" pitchFamily="2" charset="-122"/>
              </a:rPr>
              <a:t>n</a:t>
            </a:r>
            <a:endParaRPr lang="zh-CN" altLang="en-US" sz="2800" b="1" dirty="0">
              <a:solidFill>
                <a:schemeClr val="tx1"/>
              </a:solidFill>
              <a:latin typeface="宋体" panose="02010600030101010101" pitchFamily="2" charset="-122"/>
            </a:endParaRPr>
          </a:p>
          <a:p>
            <a:pPr marL="0" lvl="0" indent="0" algn="ctr" eaLnBrk="1" hangingPunct="1">
              <a:spcBef>
                <a:spcPct val="0"/>
              </a:spcBef>
              <a:buNone/>
            </a:pPr>
            <a:r>
              <a:rPr lang="zh-CN" altLang="en-US" sz="2800" b="1" dirty="0">
                <a:solidFill>
                  <a:schemeClr val="tx1"/>
                </a:solidFill>
                <a:latin typeface="宋体" panose="02010600030101010101" pitchFamily="2" charset="-122"/>
              </a:rPr>
              <a:t>n+1</a:t>
            </a:r>
            <a:endParaRPr lang="zh-CN" altLang="en-US" sz="2800" b="1" dirty="0">
              <a:solidFill>
                <a:schemeClr val="tx1"/>
              </a:solidFill>
              <a:latin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3.</a:t>
            </a:r>
            <a:r>
              <a:rPr lang="en-US" altLang="zh-CN" dirty="0"/>
              <a:t>6</a:t>
            </a:r>
            <a:r>
              <a:rPr lang="zh-CN" altLang="en-US" dirty="0"/>
              <a:t> Cache存储器——</a:t>
            </a:r>
            <a:r>
              <a:rPr lang="zh-CN" altLang="en-US" sz="2400" dirty="0"/>
              <a:t>基本原理</a:t>
            </a:r>
            <a:endParaRPr lang="zh-CN" altLang="en-US" sz="2400" dirty="0"/>
          </a:p>
        </p:txBody>
      </p:sp>
      <p:sp>
        <p:nvSpPr>
          <p:cNvPr id="123907" name="Rectangle 3"/>
          <p:cNvSpPr>
            <a:spLocks noGrp="1"/>
          </p:cNvSpPr>
          <p:nvPr>
            <p:ph type="body" idx="4294967295"/>
          </p:nvPr>
        </p:nvSpPr>
        <p:spPr>
          <a:ln/>
        </p:spPr>
        <p:txBody>
          <a:bodyPr vert="horz" wrap="square" lIns="91440" tIns="45720" rIns="91440" bIns="45720" anchor="t" anchorCtr="0"/>
          <a:p>
            <a:pPr eaLnBrk="1" hangingPunct="1">
              <a:lnSpc>
                <a:spcPct val="90000"/>
              </a:lnSpc>
            </a:pPr>
            <a:r>
              <a:rPr lang="zh-CN" altLang="en-US" b="1" dirty="0">
                <a:latin typeface="楷体_GB2312" pitchFamily="1" charset="-122"/>
                <a:ea typeface="楷体_GB2312" pitchFamily="1" charset="-122"/>
              </a:rPr>
              <a:t>Cache的功能</a:t>
            </a:r>
            <a:endParaRPr lang="zh-CN" altLang="en-US" b="1" dirty="0">
              <a:latin typeface="楷体_GB2312" pitchFamily="1" charset="-122"/>
              <a:ea typeface="楷体_GB2312" pitchFamily="1" charset="-122"/>
            </a:endParaRPr>
          </a:p>
          <a:p>
            <a:pPr eaLnBrk="1" hangingPunct="1">
              <a:lnSpc>
                <a:spcPct val="90000"/>
              </a:lnSpc>
              <a:buNone/>
            </a:pPr>
            <a:r>
              <a:rPr lang="zh-CN" altLang="en-US" b="1" dirty="0">
                <a:latin typeface="楷体_GB2312" pitchFamily="1" charset="-122"/>
                <a:ea typeface="楷体_GB2312" pitchFamily="1" charset="-122"/>
              </a:rPr>
              <a:t>Cache是一种高速缓冲存储器，是</a:t>
            </a:r>
            <a:r>
              <a:rPr lang="zh-CN" altLang="en-US" b="1" dirty="0">
                <a:solidFill>
                  <a:srgbClr val="0000FF"/>
                </a:solidFill>
                <a:latin typeface="楷体_GB2312" pitchFamily="1" charset="-122"/>
                <a:ea typeface="楷体_GB2312" pitchFamily="1" charset="-122"/>
              </a:rPr>
              <a:t>为了解决CPU和主存之间速度不匹配</a:t>
            </a:r>
            <a:r>
              <a:rPr lang="zh-CN" altLang="en-US" b="1" dirty="0">
                <a:latin typeface="楷体_GB2312" pitchFamily="1" charset="-122"/>
                <a:ea typeface="楷体_GB2312" pitchFamily="1" charset="-122"/>
              </a:rPr>
              <a:t>而采用的一项重要技术。</a:t>
            </a:r>
            <a:endParaRPr lang="zh-CN" altLang="en-US" b="1" dirty="0">
              <a:latin typeface="楷体_GB2312" pitchFamily="1" charset="-122"/>
              <a:ea typeface="楷体_GB2312" pitchFamily="1" charset="-122"/>
            </a:endParaRPr>
          </a:p>
          <a:p>
            <a:pPr eaLnBrk="1" hangingPunct="1">
              <a:lnSpc>
                <a:spcPct val="90000"/>
              </a:lnSpc>
              <a:buNone/>
            </a:pPr>
            <a:r>
              <a:rPr lang="zh-CN" altLang="en-US" b="1" dirty="0">
                <a:latin typeface="楷体_GB2312" pitchFamily="1" charset="-122"/>
                <a:ea typeface="楷体_GB2312" pitchFamily="1" charset="-122"/>
              </a:rPr>
              <a:t>Cache能高速地向CPU提供指令和数据，从而加快了程序的执行速度。</a:t>
            </a:r>
            <a:endParaRPr lang="zh-CN" altLang="en-US" b="1" dirty="0">
              <a:latin typeface="楷体_GB2312" pitchFamily="1" charset="-122"/>
              <a:ea typeface="楷体_GB2312" pitchFamily="1" charset="-122"/>
            </a:endParaRPr>
          </a:p>
          <a:p>
            <a:pPr eaLnBrk="1" hangingPunct="1">
              <a:lnSpc>
                <a:spcPct val="90000"/>
              </a:lnSpc>
              <a:buNone/>
            </a:pPr>
            <a:r>
              <a:rPr lang="zh-CN" altLang="en-US" b="1" dirty="0">
                <a:latin typeface="楷体_GB2312" pitchFamily="1" charset="-122"/>
                <a:ea typeface="楷体_GB2312" pitchFamily="1" charset="-122"/>
              </a:rPr>
              <a:t>为追求高速，包括</a:t>
            </a:r>
            <a:r>
              <a:rPr lang="zh-CN" altLang="en-US" b="1" dirty="0">
                <a:solidFill>
                  <a:srgbClr val="0000FF"/>
                </a:solidFill>
                <a:latin typeface="楷体_GB2312" pitchFamily="1" charset="-122"/>
                <a:ea typeface="楷体_GB2312" pitchFamily="1" charset="-122"/>
              </a:rPr>
              <a:t>管理</a:t>
            </a:r>
            <a:r>
              <a:rPr lang="zh-CN" altLang="en-US" b="1" dirty="0">
                <a:latin typeface="楷体_GB2312" pitchFamily="1" charset="-122"/>
                <a:ea typeface="楷体_GB2312" pitchFamily="1" charset="-122"/>
              </a:rPr>
              <a:t>在内的全部功能由硬件实现。这些</a:t>
            </a:r>
            <a:r>
              <a:rPr lang="zh-CN" altLang="en-US" b="1" dirty="0">
                <a:solidFill>
                  <a:srgbClr val="0000FF"/>
                </a:solidFill>
                <a:latin typeface="楷体_GB2312" pitchFamily="1" charset="-122"/>
                <a:ea typeface="楷体_GB2312" pitchFamily="1" charset="-122"/>
              </a:rPr>
              <a:t>对程序员是透明的</a:t>
            </a:r>
            <a:r>
              <a:rPr lang="zh-CN" altLang="en-US" b="1" dirty="0">
                <a:latin typeface="楷体_GB2312" pitchFamily="1" charset="-122"/>
                <a:ea typeface="楷体_GB2312" pitchFamily="1" charset="-122"/>
              </a:rPr>
              <a:t>。</a:t>
            </a:r>
            <a:endParaRPr lang="zh-CN" altLang="en-US" b="1" dirty="0">
              <a:latin typeface="楷体_GB2312" pitchFamily="1" charset="-122"/>
              <a:ea typeface="楷体_GB2312" pitchFamily="1"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p:nvPr>
            <p:ph type="title" idx="4294967295"/>
          </p:nvPr>
        </p:nvSpPr>
        <p:spPr>
          <a:xfrm>
            <a:off x="687388" y="914400"/>
            <a:ext cx="7126287"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400" dirty="0"/>
              <a:t>基本原理</a:t>
            </a:r>
            <a:endParaRPr lang="zh-CN" altLang="en-US" sz="2400" dirty="0"/>
          </a:p>
        </p:txBody>
      </p:sp>
      <p:sp>
        <p:nvSpPr>
          <p:cNvPr id="124931" name="Rectangle 3"/>
          <p:cNvSpPr>
            <a:spLocks noGrp="1"/>
          </p:cNvSpPr>
          <p:nvPr>
            <p:ph type="body" idx="4294967295"/>
          </p:nvPr>
        </p:nvSpPr>
        <p:spPr>
          <a:xfrm>
            <a:off x="250825" y="1828800"/>
            <a:ext cx="8642350" cy="4267200"/>
          </a:xfrm>
          <a:ln/>
        </p:spPr>
        <p:txBody>
          <a:bodyPr vert="horz" wrap="square" lIns="91440" tIns="45720" rIns="91440" bIns="45720" anchor="t" anchorCtr="0"/>
          <a:p>
            <a:pPr eaLnBrk="1" hangingPunct="1"/>
            <a:r>
              <a:rPr lang="zh-CN" altLang="en-US" b="1" dirty="0">
                <a:latin typeface="楷体_GB2312" pitchFamily="1" charset="-122"/>
                <a:ea typeface="楷体_GB2312" pitchFamily="1" charset="-122"/>
              </a:rPr>
              <a:t>小容量快速存储器</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位于CPU和内存之间</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可以在放在CPU内部，也可作为单独的模块。</a:t>
            </a:r>
            <a:endParaRPr lang="zh-CN" altLang="en-US" b="1" dirty="0">
              <a:latin typeface="楷体_GB2312" pitchFamily="1" charset="-122"/>
              <a:ea typeface="楷体_GB2312" pitchFamily="1" charset="-122"/>
            </a:endParaRPr>
          </a:p>
        </p:txBody>
      </p:sp>
      <p:pic>
        <p:nvPicPr>
          <p:cNvPr id="124932" name="Picture 4"/>
          <p:cNvPicPr>
            <a:picLocks noChangeAspect="1"/>
          </p:cNvPicPr>
          <p:nvPr/>
        </p:nvPicPr>
        <p:blipFill>
          <a:blip r:embed="rId1"/>
          <a:srcRect b="37459"/>
          <a:stretch>
            <a:fillRect/>
          </a:stretch>
        </p:blipFill>
        <p:spPr>
          <a:xfrm>
            <a:off x="990600" y="3657600"/>
            <a:ext cx="7162800" cy="2317750"/>
          </a:xfrm>
          <a:prstGeom prst="rect">
            <a:avLst/>
          </a:prstGeom>
          <a:noFill/>
          <a:ln w="9525">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p:nvPr>
            <p:ph type="title" idx="4294967295"/>
          </p:nvPr>
        </p:nvSpPr>
        <p:spPr>
          <a:xfrm>
            <a:off x="468313" y="836613"/>
            <a:ext cx="7772400" cy="823912"/>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400" dirty="0"/>
              <a:t>基本原理</a:t>
            </a:r>
            <a:endParaRPr lang="zh-CN" altLang="en-US" sz="2400" dirty="0"/>
          </a:p>
        </p:txBody>
      </p:sp>
      <p:sp>
        <p:nvSpPr>
          <p:cNvPr id="125955" name="AutoShape 3"/>
          <p:cNvSpPr/>
          <p:nvPr/>
        </p:nvSpPr>
        <p:spPr>
          <a:xfrm>
            <a:off x="838200" y="2209800"/>
            <a:ext cx="2057400" cy="449263"/>
          </a:xfrm>
          <a:prstGeom prst="flowChartProcess">
            <a:avLst/>
          </a:prstGeom>
          <a:solidFill>
            <a:srgbClr val="6699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LRU管理逻辑</a:t>
            </a:r>
            <a:endParaRPr lang="zh-CN" altLang="en-US" sz="2400" dirty="0">
              <a:solidFill>
                <a:schemeClr val="tx1"/>
              </a:solidFill>
              <a:latin typeface="Tahoma" panose="020B0604030504040204" pitchFamily="34" charset="0"/>
            </a:endParaRPr>
          </a:p>
        </p:txBody>
      </p:sp>
      <p:sp>
        <p:nvSpPr>
          <p:cNvPr id="125956" name="AutoShape 4"/>
          <p:cNvSpPr/>
          <p:nvPr/>
        </p:nvSpPr>
        <p:spPr>
          <a:xfrm>
            <a:off x="1371600" y="3124200"/>
            <a:ext cx="1066800" cy="674688"/>
          </a:xfrm>
          <a:prstGeom prst="flowChartProcess">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1800" dirty="0">
                <a:solidFill>
                  <a:schemeClr val="tx1"/>
                </a:solidFill>
                <a:latin typeface="Tahoma" panose="020B0604030504040204" pitchFamily="34" charset="0"/>
              </a:rPr>
              <a:t>相联</a:t>
            </a:r>
            <a:endParaRPr lang="zh-CN" altLang="zh-CN" sz="1800" dirty="0">
              <a:solidFill>
                <a:schemeClr val="tx1"/>
              </a:solidFill>
              <a:latin typeface="Tahoma" panose="020B0604030504040204" pitchFamily="34" charset="0"/>
            </a:endParaRPr>
          </a:p>
          <a:p>
            <a:pPr marL="0" lvl="0" indent="0" algn="ctr" eaLnBrk="1" hangingPunct="1">
              <a:spcBef>
                <a:spcPct val="0"/>
              </a:spcBef>
              <a:buNone/>
            </a:pPr>
            <a:r>
              <a:rPr lang="zh-CN" altLang="zh-CN" sz="1800" dirty="0">
                <a:solidFill>
                  <a:schemeClr val="tx1"/>
                </a:solidFill>
                <a:latin typeface="Tahoma" panose="020B0604030504040204" pitchFamily="34" charset="0"/>
              </a:rPr>
              <a:t>存储器</a:t>
            </a:r>
            <a:endParaRPr lang="zh-CN" altLang="zh-CN" sz="1800" dirty="0">
              <a:solidFill>
                <a:schemeClr val="tx1"/>
              </a:solidFill>
              <a:latin typeface="Tahoma" panose="020B0604030504040204" pitchFamily="34" charset="0"/>
            </a:endParaRPr>
          </a:p>
        </p:txBody>
      </p:sp>
      <p:sp>
        <p:nvSpPr>
          <p:cNvPr id="125957" name="AutoShape 5"/>
          <p:cNvSpPr/>
          <p:nvPr/>
        </p:nvSpPr>
        <p:spPr>
          <a:xfrm>
            <a:off x="152400" y="3429000"/>
            <a:ext cx="609600" cy="2324100"/>
          </a:xfrm>
          <a:prstGeom prst="flowChartProcess">
            <a:avLst/>
          </a:prstGeom>
          <a:solidFill>
            <a:srgbClr val="CCFF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CPU</a:t>
            </a:r>
            <a:endParaRPr lang="zh-CN" altLang="en-US" sz="2400" dirty="0">
              <a:solidFill>
                <a:schemeClr val="tx1"/>
              </a:solidFill>
              <a:latin typeface="Tahoma" panose="020B0604030504040204" pitchFamily="34" charset="0"/>
            </a:endParaRPr>
          </a:p>
        </p:txBody>
      </p:sp>
      <p:sp>
        <p:nvSpPr>
          <p:cNvPr id="125958" name="AutoShape 6"/>
          <p:cNvSpPr/>
          <p:nvPr/>
        </p:nvSpPr>
        <p:spPr>
          <a:xfrm>
            <a:off x="3048000" y="3352800"/>
            <a:ext cx="685800" cy="2324100"/>
          </a:xfrm>
          <a:prstGeom prst="flowChartProcess">
            <a:avLst/>
          </a:prstGeom>
          <a:solidFill>
            <a:srgbClr val="FFCC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dirty="0">
                <a:solidFill>
                  <a:schemeClr val="tx1"/>
                </a:solidFill>
                <a:latin typeface="Tahoma" panose="020B0604030504040204" pitchFamily="34" charset="0"/>
              </a:rPr>
              <a:t>主</a:t>
            </a:r>
            <a:endParaRPr lang="zh-CN" altLang="zh-CN" sz="2400" dirty="0">
              <a:solidFill>
                <a:schemeClr val="tx1"/>
              </a:solidFill>
              <a:latin typeface="Tahoma" panose="020B0604030504040204" pitchFamily="34" charset="0"/>
            </a:endParaRPr>
          </a:p>
          <a:p>
            <a:pPr marL="0" lvl="0" indent="0" algn="ctr" eaLnBrk="1" hangingPunct="1">
              <a:spcBef>
                <a:spcPct val="0"/>
              </a:spcBef>
              <a:buNone/>
            </a:pPr>
            <a:r>
              <a:rPr lang="zh-CN" altLang="zh-CN" sz="2400" dirty="0">
                <a:solidFill>
                  <a:schemeClr val="tx1"/>
                </a:solidFill>
                <a:latin typeface="Tahoma" panose="020B0604030504040204" pitchFamily="34" charset="0"/>
              </a:rPr>
              <a:t>存</a:t>
            </a:r>
            <a:endParaRPr lang="zh-CN" altLang="zh-CN" sz="2400" dirty="0">
              <a:solidFill>
                <a:schemeClr val="tx1"/>
              </a:solidFill>
              <a:latin typeface="Tahoma" panose="020B0604030504040204" pitchFamily="34" charset="0"/>
            </a:endParaRPr>
          </a:p>
        </p:txBody>
      </p:sp>
      <p:sp>
        <p:nvSpPr>
          <p:cNvPr id="125959" name="AutoShape 7"/>
          <p:cNvSpPr/>
          <p:nvPr/>
        </p:nvSpPr>
        <p:spPr>
          <a:xfrm>
            <a:off x="1295400" y="4191000"/>
            <a:ext cx="1295400" cy="674688"/>
          </a:xfrm>
          <a:prstGeom prst="flowChartProcess">
            <a:avLst/>
          </a:prstGeom>
          <a:solidFill>
            <a:srgbClr val="6666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25960" name="Line 8"/>
          <p:cNvSpPr/>
          <p:nvPr/>
        </p:nvSpPr>
        <p:spPr>
          <a:xfrm flipH="1">
            <a:off x="762000" y="5334000"/>
            <a:ext cx="2286000" cy="1588"/>
          </a:xfrm>
          <a:prstGeom prst="line">
            <a:avLst/>
          </a:prstGeom>
          <a:ln w="9525" cap="flat" cmpd="sng">
            <a:solidFill>
              <a:schemeClr val="tx1"/>
            </a:solidFill>
            <a:prstDash val="solid"/>
            <a:headEnd type="none" w="med" len="med"/>
            <a:tailEnd type="triangle" w="med" len="med"/>
          </a:ln>
        </p:spPr>
      </p:sp>
      <p:sp>
        <p:nvSpPr>
          <p:cNvPr id="125961" name="Line 9"/>
          <p:cNvSpPr/>
          <p:nvPr/>
        </p:nvSpPr>
        <p:spPr>
          <a:xfrm>
            <a:off x="762000" y="5562600"/>
            <a:ext cx="2286000" cy="1588"/>
          </a:xfrm>
          <a:prstGeom prst="line">
            <a:avLst/>
          </a:prstGeom>
          <a:ln w="9525" cap="flat" cmpd="sng">
            <a:solidFill>
              <a:schemeClr val="tx1"/>
            </a:solidFill>
            <a:prstDash val="solid"/>
            <a:headEnd type="triangle" w="med" len="med"/>
            <a:tailEnd type="triangle" w="med" len="med"/>
          </a:ln>
        </p:spPr>
      </p:sp>
      <p:sp>
        <p:nvSpPr>
          <p:cNvPr id="125962" name="Line 10"/>
          <p:cNvSpPr/>
          <p:nvPr/>
        </p:nvSpPr>
        <p:spPr>
          <a:xfrm>
            <a:off x="762000" y="3581400"/>
            <a:ext cx="609600" cy="1588"/>
          </a:xfrm>
          <a:prstGeom prst="line">
            <a:avLst/>
          </a:prstGeom>
          <a:ln w="9525" cap="flat" cmpd="sng">
            <a:solidFill>
              <a:schemeClr val="tx1"/>
            </a:solidFill>
            <a:prstDash val="solid"/>
            <a:headEnd type="none" w="med" len="med"/>
            <a:tailEnd type="triangle" w="med" len="med"/>
          </a:ln>
        </p:spPr>
      </p:sp>
      <p:sp>
        <p:nvSpPr>
          <p:cNvPr id="125963" name="Line 11"/>
          <p:cNvSpPr/>
          <p:nvPr/>
        </p:nvSpPr>
        <p:spPr>
          <a:xfrm>
            <a:off x="2438400" y="3581400"/>
            <a:ext cx="609600" cy="1588"/>
          </a:xfrm>
          <a:prstGeom prst="line">
            <a:avLst/>
          </a:prstGeom>
          <a:ln w="9525" cap="flat" cmpd="sng">
            <a:solidFill>
              <a:schemeClr val="tx1"/>
            </a:solidFill>
            <a:prstDash val="solid"/>
            <a:headEnd type="none" w="med" len="med"/>
            <a:tailEnd type="triangle" w="med" len="med"/>
          </a:ln>
        </p:spPr>
      </p:sp>
      <p:sp>
        <p:nvSpPr>
          <p:cNvPr id="125964" name="Line 12"/>
          <p:cNvSpPr/>
          <p:nvPr/>
        </p:nvSpPr>
        <p:spPr>
          <a:xfrm>
            <a:off x="1905000" y="3810000"/>
            <a:ext cx="1588" cy="374650"/>
          </a:xfrm>
          <a:prstGeom prst="line">
            <a:avLst/>
          </a:prstGeom>
          <a:ln w="9525" cap="flat" cmpd="sng">
            <a:solidFill>
              <a:schemeClr val="tx1"/>
            </a:solidFill>
            <a:prstDash val="solid"/>
            <a:headEnd type="none" w="med" len="med"/>
            <a:tailEnd type="triangle" w="med" len="med"/>
          </a:ln>
        </p:spPr>
      </p:sp>
      <p:sp>
        <p:nvSpPr>
          <p:cNvPr id="125965" name="Line 13"/>
          <p:cNvSpPr/>
          <p:nvPr/>
        </p:nvSpPr>
        <p:spPr>
          <a:xfrm>
            <a:off x="1066800" y="3581400"/>
            <a:ext cx="1588" cy="374650"/>
          </a:xfrm>
          <a:prstGeom prst="line">
            <a:avLst/>
          </a:prstGeom>
          <a:ln w="9525" cap="flat" cmpd="sng">
            <a:solidFill>
              <a:schemeClr val="tx1"/>
            </a:solidFill>
            <a:prstDash val="solid"/>
            <a:headEnd type="none" w="med" len="med"/>
            <a:tailEnd type="none" w="med" len="med"/>
          </a:ln>
        </p:spPr>
      </p:sp>
      <p:sp>
        <p:nvSpPr>
          <p:cNvPr id="125966" name="Line 14"/>
          <p:cNvSpPr/>
          <p:nvPr/>
        </p:nvSpPr>
        <p:spPr>
          <a:xfrm>
            <a:off x="1066800" y="3962400"/>
            <a:ext cx="1981200" cy="1588"/>
          </a:xfrm>
          <a:prstGeom prst="line">
            <a:avLst/>
          </a:prstGeom>
          <a:ln w="9525" cap="flat" cmpd="sng">
            <a:solidFill>
              <a:schemeClr val="tx1"/>
            </a:solidFill>
            <a:prstDash val="solid"/>
            <a:headEnd type="none" w="med" len="med"/>
            <a:tailEnd type="triangle" w="med" len="med"/>
          </a:ln>
        </p:spPr>
      </p:sp>
      <p:sp>
        <p:nvSpPr>
          <p:cNvPr id="125967" name="Line 15"/>
          <p:cNvSpPr/>
          <p:nvPr/>
        </p:nvSpPr>
        <p:spPr>
          <a:xfrm>
            <a:off x="1676400" y="4876800"/>
            <a:ext cx="1588" cy="449263"/>
          </a:xfrm>
          <a:prstGeom prst="line">
            <a:avLst/>
          </a:prstGeom>
          <a:ln w="9525" cap="flat" cmpd="sng">
            <a:solidFill>
              <a:schemeClr val="tx1"/>
            </a:solidFill>
            <a:prstDash val="solid"/>
            <a:headEnd type="none" w="med" len="med"/>
            <a:tailEnd type="triangle" w="med" len="med"/>
          </a:ln>
        </p:spPr>
      </p:sp>
      <p:sp>
        <p:nvSpPr>
          <p:cNvPr id="125968" name="Line 16"/>
          <p:cNvSpPr/>
          <p:nvPr/>
        </p:nvSpPr>
        <p:spPr>
          <a:xfrm flipV="1">
            <a:off x="2209800" y="4876800"/>
            <a:ext cx="1588" cy="674688"/>
          </a:xfrm>
          <a:prstGeom prst="line">
            <a:avLst/>
          </a:prstGeom>
          <a:ln w="9525" cap="flat" cmpd="sng">
            <a:solidFill>
              <a:schemeClr val="tx1"/>
            </a:solidFill>
            <a:prstDash val="solid"/>
            <a:headEnd type="none" w="med" len="med"/>
            <a:tailEnd type="triangle" w="med" len="med"/>
          </a:ln>
        </p:spPr>
      </p:sp>
      <p:sp>
        <p:nvSpPr>
          <p:cNvPr id="125969" name="Line 17"/>
          <p:cNvSpPr/>
          <p:nvPr/>
        </p:nvSpPr>
        <p:spPr>
          <a:xfrm flipH="1">
            <a:off x="2590800" y="4343400"/>
            <a:ext cx="457200" cy="1588"/>
          </a:xfrm>
          <a:prstGeom prst="line">
            <a:avLst/>
          </a:prstGeom>
          <a:ln w="9525" cap="flat" cmpd="sng">
            <a:solidFill>
              <a:schemeClr val="tx1"/>
            </a:solidFill>
            <a:prstDash val="solid"/>
            <a:headEnd type="none" w="med" len="med"/>
            <a:tailEnd type="triangle" w="med" len="med"/>
          </a:ln>
        </p:spPr>
      </p:sp>
      <p:sp>
        <p:nvSpPr>
          <p:cNvPr id="125970" name="Line 18"/>
          <p:cNvSpPr/>
          <p:nvPr/>
        </p:nvSpPr>
        <p:spPr>
          <a:xfrm>
            <a:off x="2590800" y="4495800"/>
            <a:ext cx="457200" cy="1588"/>
          </a:xfrm>
          <a:prstGeom prst="line">
            <a:avLst/>
          </a:prstGeom>
          <a:ln w="9525" cap="flat" cmpd="sng">
            <a:solidFill>
              <a:schemeClr val="tx1"/>
            </a:solidFill>
            <a:prstDash val="solid"/>
            <a:headEnd type="none" w="med" len="med"/>
            <a:tailEnd type="triangle" w="med" len="med"/>
          </a:ln>
        </p:spPr>
      </p:sp>
      <p:sp>
        <p:nvSpPr>
          <p:cNvPr id="125971" name="Line 19"/>
          <p:cNvSpPr/>
          <p:nvPr/>
        </p:nvSpPr>
        <p:spPr>
          <a:xfrm>
            <a:off x="1295400" y="4343400"/>
            <a:ext cx="1295400" cy="1588"/>
          </a:xfrm>
          <a:prstGeom prst="line">
            <a:avLst/>
          </a:prstGeom>
          <a:ln w="9525" cap="flat" cmpd="sng">
            <a:solidFill>
              <a:schemeClr val="tx1"/>
            </a:solidFill>
            <a:prstDash val="solid"/>
            <a:headEnd type="none" w="med" len="med"/>
            <a:tailEnd type="none" w="med" len="med"/>
          </a:ln>
        </p:spPr>
      </p:sp>
      <p:sp>
        <p:nvSpPr>
          <p:cNvPr id="125972" name="Line 20"/>
          <p:cNvSpPr/>
          <p:nvPr/>
        </p:nvSpPr>
        <p:spPr>
          <a:xfrm>
            <a:off x="1295400" y="4495800"/>
            <a:ext cx="1295400" cy="1588"/>
          </a:xfrm>
          <a:prstGeom prst="line">
            <a:avLst/>
          </a:prstGeom>
          <a:ln w="9525" cap="flat" cmpd="sng">
            <a:solidFill>
              <a:schemeClr val="tx1"/>
            </a:solidFill>
            <a:prstDash val="solid"/>
            <a:headEnd type="none" w="med" len="med"/>
            <a:tailEnd type="none" w="med" len="med"/>
          </a:ln>
        </p:spPr>
      </p:sp>
      <p:sp>
        <p:nvSpPr>
          <p:cNvPr id="125973" name="Line 21"/>
          <p:cNvSpPr/>
          <p:nvPr/>
        </p:nvSpPr>
        <p:spPr>
          <a:xfrm>
            <a:off x="1295400" y="4648200"/>
            <a:ext cx="1295400" cy="1588"/>
          </a:xfrm>
          <a:prstGeom prst="line">
            <a:avLst/>
          </a:prstGeom>
          <a:ln w="9525" cap="flat" cmpd="sng">
            <a:solidFill>
              <a:schemeClr val="tx1"/>
            </a:solidFill>
            <a:prstDash val="solid"/>
            <a:headEnd type="none" w="med" len="med"/>
            <a:tailEnd type="none" w="med" len="med"/>
          </a:ln>
        </p:spPr>
      </p:sp>
      <p:sp>
        <p:nvSpPr>
          <p:cNvPr id="125974" name="Line 22"/>
          <p:cNvSpPr/>
          <p:nvPr/>
        </p:nvSpPr>
        <p:spPr>
          <a:xfrm>
            <a:off x="1905000" y="4191000"/>
            <a:ext cx="1588" cy="674688"/>
          </a:xfrm>
          <a:prstGeom prst="line">
            <a:avLst/>
          </a:prstGeom>
          <a:ln w="9525" cap="flat" cmpd="sng">
            <a:solidFill>
              <a:schemeClr val="tx1"/>
            </a:solidFill>
            <a:prstDash val="solid"/>
            <a:headEnd type="none" w="med" len="med"/>
            <a:tailEnd type="none" w="med" len="med"/>
          </a:ln>
        </p:spPr>
      </p:sp>
      <p:sp>
        <p:nvSpPr>
          <p:cNvPr id="125975" name="Line 23"/>
          <p:cNvSpPr/>
          <p:nvPr/>
        </p:nvSpPr>
        <p:spPr>
          <a:xfrm>
            <a:off x="2209800" y="4191000"/>
            <a:ext cx="1588" cy="674688"/>
          </a:xfrm>
          <a:prstGeom prst="line">
            <a:avLst/>
          </a:prstGeom>
          <a:ln w="9525" cap="flat" cmpd="sng">
            <a:solidFill>
              <a:schemeClr val="tx1"/>
            </a:solidFill>
            <a:prstDash val="solid"/>
            <a:headEnd type="none" w="med" len="med"/>
            <a:tailEnd type="none" w="med" len="med"/>
          </a:ln>
        </p:spPr>
      </p:sp>
      <p:sp>
        <p:nvSpPr>
          <p:cNvPr id="125976" name="Line 24"/>
          <p:cNvSpPr/>
          <p:nvPr/>
        </p:nvSpPr>
        <p:spPr>
          <a:xfrm>
            <a:off x="1600200" y="4191000"/>
            <a:ext cx="1588" cy="674688"/>
          </a:xfrm>
          <a:prstGeom prst="line">
            <a:avLst/>
          </a:prstGeom>
          <a:ln w="9525" cap="flat" cmpd="sng">
            <a:solidFill>
              <a:schemeClr val="tx1"/>
            </a:solidFill>
            <a:prstDash val="solid"/>
            <a:headEnd type="none" w="med" len="med"/>
            <a:tailEnd type="none" w="med" len="med"/>
          </a:ln>
        </p:spPr>
      </p:sp>
      <p:sp>
        <p:nvSpPr>
          <p:cNvPr id="125977" name="Line 25"/>
          <p:cNvSpPr/>
          <p:nvPr/>
        </p:nvSpPr>
        <p:spPr>
          <a:xfrm>
            <a:off x="1828800" y="2667000"/>
            <a:ext cx="1588" cy="449263"/>
          </a:xfrm>
          <a:prstGeom prst="line">
            <a:avLst/>
          </a:prstGeom>
          <a:ln w="9525" cap="flat" cmpd="sng">
            <a:solidFill>
              <a:schemeClr val="tx1"/>
            </a:solidFill>
            <a:prstDash val="solid"/>
            <a:headEnd type="none" w="med" len="med"/>
            <a:tailEnd type="triangle" w="med" len="med"/>
          </a:ln>
        </p:spPr>
      </p:sp>
      <p:sp>
        <p:nvSpPr>
          <p:cNvPr id="125978" name="AutoShape 26"/>
          <p:cNvSpPr/>
          <p:nvPr/>
        </p:nvSpPr>
        <p:spPr>
          <a:xfrm>
            <a:off x="3962400" y="1905000"/>
            <a:ext cx="4930775" cy="4403725"/>
          </a:xfrm>
          <a:prstGeom prst="flowChartProcess">
            <a:avLst/>
          </a:prstGeom>
          <a:solidFill>
            <a:srgbClr val="FFFFCC"/>
          </a:solidFill>
          <a:ln w="9525" cap="flat" cmpd="sng">
            <a:solidFill>
              <a:schemeClr val="tx1"/>
            </a:solidFill>
            <a:prstDash val="solid"/>
            <a:miter/>
            <a:headEnd type="none" w="med" len="med"/>
            <a:tailEnd type="none" w="med" len="med"/>
          </a:ln>
          <a:effectLst>
            <a:outerShdw dist="107763" dir="18900000"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latin typeface="Tahoma" panose="020B0604030504040204" pitchFamily="34" charset="0"/>
              </a:rPr>
              <a:t>CPU与CACHE之间的数据是以字为</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单位，而CACHE与主存之间的数据</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交换是以块为单位的。当CPU读取</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主存中一个字时，便发出此字的内</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存地址到 CACHE和主存。</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此时CACHE控制逻辑依据地址判断</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此字当前是否在CACHE 中，若是，</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此字立即传送给CPU；若非，则</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用主存读周期把此字从内存读出送</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到CPU，与此同时，把含由这个字</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的整个数据块从主存读出送到</a:t>
            </a:r>
            <a:endParaRPr lang="zh-CN" altLang="en-US" sz="2400" dirty="0">
              <a:solidFill>
                <a:schemeClr val="tx1"/>
              </a:solidFill>
              <a:latin typeface="Tahoma" panose="020B0604030504040204" pitchFamily="34" charset="0"/>
            </a:endParaRPr>
          </a:p>
          <a:p>
            <a:pPr marL="0" lvl="0" indent="0" eaLnBrk="1" hangingPunct="1">
              <a:spcBef>
                <a:spcPct val="0"/>
              </a:spcBef>
              <a:buNone/>
            </a:pPr>
            <a:r>
              <a:rPr lang="zh-CN" altLang="en-US" sz="2400" dirty="0">
                <a:solidFill>
                  <a:schemeClr val="tx1"/>
                </a:solidFill>
                <a:latin typeface="Tahoma" panose="020B0604030504040204" pitchFamily="34" charset="0"/>
              </a:rPr>
              <a:t>CACHE中。</a:t>
            </a:r>
            <a:endParaRPr lang="zh-CN" altLang="en-US" sz="2400" dirty="0">
              <a:solidFill>
                <a:schemeClr val="tx1"/>
              </a:solidFill>
              <a:latin typeface="Tahoma" panose="020B060403050404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400" dirty="0"/>
              <a:t>基本原理</a:t>
            </a:r>
            <a:endParaRPr lang="zh-CN" altLang="en-US" sz="2400" dirty="0"/>
          </a:p>
        </p:txBody>
      </p:sp>
      <p:sp>
        <p:nvSpPr>
          <p:cNvPr id="126979"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solidFill>
                  <a:srgbClr val="993366"/>
                </a:solidFill>
                <a:ea typeface="华文新魏" panose="02010800040101010101" pitchFamily="2" charset="-122"/>
              </a:rPr>
              <a:t>CACHE</a:t>
            </a:r>
            <a:r>
              <a:rPr lang="zh-CN" altLang="en-US" dirty="0">
                <a:solidFill>
                  <a:srgbClr val="993366"/>
                </a:solidFill>
                <a:latin typeface="华文新魏" panose="02010800040101010101" pitchFamily="2" charset="-122"/>
                <a:ea typeface="华文新魏" panose="02010800040101010101" pitchFamily="2" charset="-122"/>
              </a:rPr>
              <a:t>的命中率：</a:t>
            </a:r>
            <a:r>
              <a:rPr lang="zh-CN" altLang="en-US" b="1" dirty="0">
                <a:latin typeface="楷体_GB2312" pitchFamily="1" charset="-122"/>
                <a:ea typeface="楷体_GB2312" pitchFamily="1" charset="-122"/>
              </a:rPr>
              <a:t>在一个程序执行期间，设Nc表示cache完成存取的总次数，Nm表示主存完成存取的总次数，h定义为命中率。则有：</a:t>
            </a:r>
            <a:endParaRPr lang="zh-CN" altLang="en-US" b="1" dirty="0">
              <a:latin typeface="楷体_GB2312" pitchFamily="1" charset="-122"/>
              <a:ea typeface="楷体_GB2312" pitchFamily="1" charset="-122"/>
            </a:endParaRPr>
          </a:p>
        </p:txBody>
      </p:sp>
      <p:graphicFrame>
        <p:nvGraphicFramePr>
          <p:cNvPr id="126980" name="Object 4"/>
          <p:cNvGraphicFramePr>
            <a:graphicFrameLocks noChangeAspect="1"/>
          </p:cNvGraphicFramePr>
          <p:nvPr/>
        </p:nvGraphicFramePr>
        <p:xfrm>
          <a:off x="2895600" y="3886200"/>
          <a:ext cx="2590800" cy="1203325"/>
        </p:xfrm>
        <a:graphic>
          <a:graphicData uri="http://schemas.openxmlformats.org/presentationml/2006/ole">
            <mc:AlternateContent xmlns:mc="http://schemas.openxmlformats.org/markup-compatibility/2006">
              <mc:Choice xmlns:v="urn:schemas-microsoft-com:vml" Requires="v">
                <p:oleObj spid="_x0000_s3078" name="" r:id="rId1" imgW="815340" imgH="433070" progId="Equation.3">
                  <p:embed/>
                </p:oleObj>
              </mc:Choice>
              <mc:Fallback>
                <p:oleObj name="" r:id="rId1" imgW="815340" imgH="433070" progId="Equation.3">
                  <p:embed/>
                  <p:pic>
                    <p:nvPicPr>
                      <p:cNvPr id="0" name="图片 3077"/>
                      <p:cNvPicPr/>
                      <p:nvPr/>
                    </p:nvPicPr>
                    <p:blipFill>
                      <a:blip r:embed="rId2"/>
                      <a:stretch>
                        <a:fillRect/>
                      </a:stretch>
                    </p:blipFill>
                    <p:spPr>
                      <a:xfrm>
                        <a:off x="2895600" y="3886200"/>
                        <a:ext cx="2590800" cy="1203325"/>
                      </a:xfrm>
                      <a:prstGeom prst="rect">
                        <a:avLst/>
                      </a:prstGeom>
                      <a:noFill/>
                      <a:ln w="38100">
                        <a:noFill/>
                        <a:miter/>
                      </a:ln>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400" dirty="0"/>
              <a:t>基本原理</a:t>
            </a:r>
            <a:endParaRPr lang="zh-CN" altLang="en-US" sz="2400" dirty="0"/>
          </a:p>
        </p:txBody>
      </p:sp>
      <p:sp>
        <p:nvSpPr>
          <p:cNvPr id="128003"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t>若t</a:t>
            </a:r>
            <a:r>
              <a:rPr lang="zh-CN" altLang="en-US" b="1" baseline="-25000" dirty="0"/>
              <a:t>c</a:t>
            </a:r>
            <a:r>
              <a:rPr lang="zh-CN" altLang="en-US" b="1" dirty="0"/>
              <a:t>表示命中时的Cache访问时间，t</a:t>
            </a:r>
            <a:r>
              <a:rPr lang="zh-CN" altLang="en-US" b="1" baseline="-25000" dirty="0"/>
              <a:t>m</a:t>
            </a:r>
            <a:r>
              <a:rPr lang="zh-CN" altLang="en-US" b="1" dirty="0"/>
              <a:t>表示未命中时的主存访问时间，1-h表示未命中率，则Cache/主存系统的平均访问时间t</a:t>
            </a:r>
            <a:r>
              <a:rPr lang="zh-CN" altLang="en-US" b="1" baseline="-25000" dirty="0"/>
              <a:t>a</a:t>
            </a:r>
            <a:r>
              <a:rPr lang="zh-CN" altLang="en-US" b="1" dirty="0"/>
              <a:t>为：</a:t>
            </a:r>
            <a:endParaRPr lang="zh-CN" altLang="en-US" b="1" dirty="0"/>
          </a:p>
          <a:p>
            <a:pPr eaLnBrk="1" hangingPunct="1"/>
            <a:r>
              <a:rPr lang="zh-CN" altLang="en-US" b="1" dirty="0"/>
              <a:t>   </a:t>
            </a:r>
            <a:r>
              <a:rPr lang="zh-CN" altLang="en-US" sz="3600" b="1" dirty="0"/>
              <a:t>t</a:t>
            </a:r>
            <a:r>
              <a:rPr lang="zh-CN" altLang="en-US" sz="3600" b="1" baseline="-25000" dirty="0"/>
              <a:t>a</a:t>
            </a:r>
            <a:r>
              <a:rPr lang="zh-CN" altLang="en-US" sz="3600" b="1" dirty="0"/>
              <a:t>=ht</a:t>
            </a:r>
            <a:r>
              <a:rPr lang="zh-CN" altLang="en-US" sz="3600" b="1" baseline="-25000" dirty="0"/>
              <a:t>c</a:t>
            </a:r>
            <a:r>
              <a:rPr lang="zh-CN" altLang="en-US" sz="3600" b="1" dirty="0"/>
              <a:t>+(1-h)t</a:t>
            </a:r>
            <a:r>
              <a:rPr lang="zh-CN" altLang="en-US" sz="3600" b="1" baseline="-25000" dirty="0"/>
              <a:t>m</a:t>
            </a:r>
            <a:endParaRPr lang="zh-CN" altLang="en-US" sz="3600" b="1" baseline="-25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400" dirty="0"/>
              <a:t>基本原理</a:t>
            </a:r>
            <a:endParaRPr lang="zh-CN" altLang="en-US" sz="2400" dirty="0"/>
          </a:p>
        </p:txBody>
      </p:sp>
      <p:sp>
        <p:nvSpPr>
          <p:cNvPr id="129027"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t>设r=t</a:t>
            </a:r>
            <a:r>
              <a:rPr lang="zh-CN" altLang="en-US" b="1" baseline="-25000" dirty="0"/>
              <a:t>m</a:t>
            </a:r>
            <a:r>
              <a:rPr lang="zh-CN" altLang="en-US" b="1" dirty="0"/>
              <a:t>/t</a:t>
            </a:r>
            <a:r>
              <a:rPr lang="zh-CN" altLang="en-US" b="1" baseline="-25000" dirty="0"/>
              <a:t>c</a:t>
            </a:r>
            <a:r>
              <a:rPr lang="zh-CN" altLang="en-US" b="1" dirty="0"/>
              <a:t>表示主存慢于Cache的倍率，e表示访问效率，则有：</a:t>
            </a:r>
            <a:endParaRPr lang="zh-CN" altLang="en-US" dirty="0"/>
          </a:p>
        </p:txBody>
      </p:sp>
      <p:graphicFrame>
        <p:nvGraphicFramePr>
          <p:cNvPr id="129028" name="Object 4"/>
          <p:cNvGraphicFramePr>
            <a:graphicFrameLocks noChangeAspect="1"/>
          </p:cNvGraphicFramePr>
          <p:nvPr/>
        </p:nvGraphicFramePr>
        <p:xfrm>
          <a:off x="838200" y="3276600"/>
          <a:ext cx="7315200" cy="984250"/>
        </p:xfrm>
        <a:graphic>
          <a:graphicData uri="http://schemas.openxmlformats.org/presentationml/2006/ole">
            <mc:AlternateContent xmlns:mc="http://schemas.openxmlformats.org/markup-compatibility/2006">
              <mc:Choice xmlns:v="urn:schemas-microsoft-com:vml" Requires="v">
                <p:oleObj spid="_x0000_s3079" name="" r:id="rId1" imgW="3034030" imgH="431800" progId="Equation.3">
                  <p:embed/>
                </p:oleObj>
              </mc:Choice>
              <mc:Fallback>
                <p:oleObj name="" r:id="rId1" imgW="3034030" imgH="431800" progId="Equation.3">
                  <p:embed/>
                  <p:pic>
                    <p:nvPicPr>
                      <p:cNvPr id="0" name="图片 3078"/>
                      <p:cNvPicPr/>
                      <p:nvPr/>
                    </p:nvPicPr>
                    <p:blipFill>
                      <a:blip r:embed="rId2"/>
                      <a:stretch>
                        <a:fillRect/>
                      </a:stretch>
                    </p:blipFill>
                    <p:spPr>
                      <a:xfrm>
                        <a:off x="838200" y="3276600"/>
                        <a:ext cx="7315200" cy="984250"/>
                      </a:xfrm>
                      <a:prstGeom prst="rect">
                        <a:avLst/>
                      </a:prstGeom>
                      <a:noFill/>
                      <a:ln w="38100">
                        <a:noFill/>
                        <a:miter/>
                      </a:ln>
                    </p:spPr>
                  </p:pic>
                </p:oleObj>
              </mc:Fallback>
            </mc:AlternateContent>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body" idx="4294967295"/>
          </p:nvPr>
        </p:nvSpPr>
        <p:spPr>
          <a:xfrm>
            <a:off x="531813" y="1284288"/>
            <a:ext cx="8216900" cy="4953000"/>
          </a:xfrm>
          <a:ln/>
        </p:spPr>
        <p:txBody>
          <a:bodyPr vert="horz" wrap="square" lIns="91440" tIns="45720" rIns="91440" bIns="45720" anchor="t" anchorCtr="0"/>
          <a:p>
            <a:pPr eaLnBrk="1" hangingPunct="1"/>
            <a:r>
              <a:rPr lang="zh-CN" altLang="en-US" sz="3000" b="1" dirty="0">
                <a:solidFill>
                  <a:schemeClr val="tx1"/>
                </a:solidFill>
              </a:rPr>
              <a:t>CPU执行一段程序时，cache完成存取的次数为1900次，主存完成存取的次 数为100次，已知cache存取周期为50ns，主存存取周期为250ns，求cache/主存系统的效率和平均访问时间。</a:t>
            </a:r>
            <a:endParaRPr lang="zh-CN" altLang="en-US" sz="1800" dirty="0"/>
          </a:p>
          <a:p>
            <a:pPr eaLnBrk="1" hangingPunct="1">
              <a:buNone/>
            </a:pPr>
            <a:r>
              <a:rPr lang="zh-CN" altLang="en-US" sz="2800" dirty="0">
                <a:solidFill>
                  <a:srgbClr val="3333FF"/>
                </a:solidFill>
              </a:rPr>
              <a:t>【解】</a:t>
            </a:r>
            <a:r>
              <a:rPr lang="zh-CN" altLang="en-US" sz="2800" dirty="0">
                <a:solidFill>
                  <a:srgbClr val="0000FF"/>
                </a:solidFill>
              </a:rPr>
              <a:t> </a:t>
            </a:r>
            <a:r>
              <a:rPr lang="zh-CN" altLang="en-US" sz="2800" b="1" dirty="0">
                <a:solidFill>
                  <a:srgbClr val="993366"/>
                </a:solidFill>
              </a:rPr>
              <a:t>h=Nc/(Nc+Nm)=1900/(1900+100)=0.95           </a:t>
            </a:r>
            <a:endParaRPr lang="zh-CN" altLang="en-US" sz="2800" b="1" dirty="0">
              <a:solidFill>
                <a:srgbClr val="993366"/>
              </a:solidFill>
            </a:endParaRPr>
          </a:p>
          <a:p>
            <a:pPr eaLnBrk="1" hangingPunct="1">
              <a:buNone/>
            </a:pPr>
            <a:r>
              <a:rPr lang="zh-CN" altLang="en-US" sz="2800" b="1" dirty="0">
                <a:solidFill>
                  <a:srgbClr val="993366"/>
                </a:solidFill>
              </a:rPr>
              <a:t>             r=tm/tc=250ns/50ns=5</a:t>
            </a:r>
            <a:endParaRPr lang="zh-CN" altLang="en-US" sz="2800" b="1" dirty="0">
              <a:solidFill>
                <a:srgbClr val="993366"/>
              </a:solidFill>
            </a:endParaRPr>
          </a:p>
          <a:p>
            <a:pPr eaLnBrk="1" hangingPunct="1">
              <a:buNone/>
            </a:pPr>
            <a:r>
              <a:rPr lang="zh-CN" altLang="en-US" sz="2800" b="1" dirty="0">
                <a:solidFill>
                  <a:srgbClr val="993366"/>
                </a:solidFill>
              </a:rPr>
              <a:t>　 　    e=1/(r+(1-r)h)=1/(5+(1-5)×0.95)=83.3%</a:t>
            </a:r>
            <a:endParaRPr lang="zh-CN" altLang="en-US" sz="2800" b="1" dirty="0">
              <a:solidFill>
                <a:srgbClr val="993366"/>
              </a:solidFill>
            </a:endParaRPr>
          </a:p>
          <a:p>
            <a:pPr eaLnBrk="1" hangingPunct="1">
              <a:buNone/>
            </a:pPr>
            <a:r>
              <a:rPr lang="zh-CN" altLang="en-US" sz="2800" b="1" dirty="0">
                <a:solidFill>
                  <a:srgbClr val="993366"/>
                </a:solidFill>
              </a:rPr>
              <a:t>　　     ta=tc/e=50ns/0.833=60ns</a:t>
            </a:r>
            <a:endParaRPr lang="zh-CN" altLang="en-US" sz="2800" b="1" dirty="0">
              <a:solidFill>
                <a:srgbClr val="993366"/>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400" dirty="0"/>
              <a:t>地址映射</a:t>
            </a:r>
            <a:endParaRPr lang="zh-CN" altLang="en-US" sz="2400" dirty="0"/>
          </a:p>
        </p:txBody>
      </p:sp>
      <p:sp>
        <p:nvSpPr>
          <p:cNvPr id="131075" name="Rectangle 3"/>
          <p:cNvSpPr>
            <a:spLocks noGrp="1"/>
          </p:cNvSpPr>
          <p:nvPr>
            <p:ph type="body" idx="4294967295"/>
          </p:nvPr>
        </p:nvSpPr>
        <p:spPr>
          <a:ln/>
        </p:spPr>
        <p:txBody>
          <a:bodyPr vert="horz" wrap="square" lIns="91440" tIns="45720" rIns="91440" bIns="45720" anchor="t" anchorCtr="0"/>
          <a:p>
            <a:pPr eaLnBrk="1" hangingPunct="1"/>
            <a:r>
              <a:rPr lang="zh-CN" altLang="en-US" b="1" dirty="0"/>
              <a:t>主存与CACHE的地址映射</a:t>
            </a:r>
            <a:endParaRPr lang="zh-CN" altLang="en-US" b="1" dirty="0"/>
          </a:p>
          <a:p>
            <a:pPr lvl="1" eaLnBrk="1" hangingPunct="1"/>
            <a:r>
              <a:rPr lang="zh-CN" altLang="en-US" b="1" dirty="0"/>
              <a:t>全相联映射方式</a:t>
            </a:r>
            <a:endParaRPr lang="zh-CN" altLang="en-US" b="1" dirty="0"/>
          </a:p>
          <a:p>
            <a:pPr lvl="1" eaLnBrk="1" hangingPunct="1"/>
            <a:r>
              <a:rPr lang="zh-CN" altLang="en-US" b="1" dirty="0"/>
              <a:t>直接映射方式</a:t>
            </a:r>
            <a:endParaRPr lang="zh-CN" altLang="en-US" b="1" dirty="0"/>
          </a:p>
          <a:p>
            <a:pPr lvl="1" eaLnBrk="1" hangingPunct="1"/>
            <a:r>
              <a:rPr lang="zh-CN" altLang="en-US" b="1" dirty="0"/>
              <a:t>组相联映射方式</a:t>
            </a:r>
            <a:endParaRPr lang="zh-CN" altLang="en-US" b="1" dirty="0"/>
          </a:p>
          <a:p>
            <a:pPr lvl="1" eaLnBrk="1" hangingPunct="1"/>
            <a:endParaRPr lang="zh-CN" altLang="en-US" b="1" dirty="0"/>
          </a:p>
          <a:p>
            <a:pPr lvl="1" eaLnBrk="1" hangingPunct="1">
              <a:buNone/>
            </a:pPr>
            <a:r>
              <a:rPr lang="zh-CN" altLang="en-US" sz="3200" b="1" dirty="0">
                <a:solidFill>
                  <a:srgbClr val="0000FF"/>
                </a:solidFill>
                <a:latin typeface="楷体_GB2312" pitchFamily="1" charset="-122"/>
                <a:ea typeface="楷体_GB2312" pitchFamily="1" charset="-122"/>
              </a:rPr>
              <a:t>前提：CACHE与主存都先分成的数据块大小相同的</a:t>
            </a:r>
            <a:r>
              <a:rPr lang="zh-CN" altLang="en-US" sz="3600" b="1" dirty="0">
                <a:solidFill>
                  <a:srgbClr val="FF0000"/>
                </a:solidFill>
                <a:ea typeface="华文新魏" panose="02010800040101010101" pitchFamily="2" charset="-122"/>
              </a:rPr>
              <a:t>块（行）</a:t>
            </a:r>
            <a:r>
              <a:rPr lang="zh-CN" altLang="en-US" sz="3600" b="1" dirty="0">
                <a:solidFill>
                  <a:srgbClr val="0000FF"/>
                </a:solidFill>
                <a:ea typeface="华文新魏" panose="02010800040101010101" pitchFamily="2" charset="-122"/>
              </a:rPr>
              <a:t>。</a:t>
            </a:r>
            <a:endParaRPr lang="zh-CN" altLang="en-US" sz="3600" b="1" dirty="0">
              <a:solidFill>
                <a:srgbClr val="0000FF"/>
              </a:solidFill>
              <a:ea typeface="华文新魏" panose="02010800040101010101" pitchFamily="2"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400" dirty="0"/>
              <a:t>地址映射</a:t>
            </a:r>
            <a:endParaRPr lang="zh-CN" altLang="en-US" sz="2400" dirty="0"/>
          </a:p>
        </p:txBody>
      </p:sp>
      <p:sp>
        <p:nvSpPr>
          <p:cNvPr id="132099" name="Rectangle 3"/>
          <p:cNvSpPr>
            <a:spLocks noGrp="1"/>
          </p:cNvSpPr>
          <p:nvPr>
            <p:ph type="body" idx="4294967295"/>
          </p:nvPr>
        </p:nvSpPr>
        <p:spPr>
          <a:xfrm>
            <a:off x="685800" y="1916113"/>
            <a:ext cx="7772400" cy="4114800"/>
          </a:xfrm>
          <a:ln/>
        </p:spPr>
        <p:txBody>
          <a:bodyPr vert="horz" wrap="square" lIns="91440" tIns="45720" rIns="91440" bIns="45720" anchor="t" anchorCtr="0"/>
          <a:p>
            <a:pPr eaLnBrk="1" hangingPunct="1"/>
            <a:r>
              <a:rPr lang="zh-CN" altLang="en-US" sz="3600" b="1" dirty="0">
                <a:solidFill>
                  <a:srgbClr val="993366"/>
                </a:solidFill>
                <a:ea typeface="华文新魏" panose="02010800040101010101" pitchFamily="2" charset="-122"/>
              </a:rPr>
              <a:t>全相联映射方式：</a:t>
            </a:r>
            <a:endParaRPr lang="zh-CN" altLang="en-US" sz="3600" b="1" dirty="0">
              <a:solidFill>
                <a:srgbClr val="993366"/>
              </a:solidFill>
              <a:ea typeface="华文新魏" panose="02010800040101010101" pitchFamily="2" charset="-122"/>
            </a:endParaRPr>
          </a:p>
          <a:p>
            <a:pPr eaLnBrk="1" hangingPunct="1"/>
            <a:r>
              <a:rPr lang="zh-CN" altLang="en-US" b="1" dirty="0">
                <a:latin typeface="楷体_GB2312" pitchFamily="1" charset="-122"/>
                <a:ea typeface="楷体_GB2312" pitchFamily="1" charset="-122"/>
              </a:rPr>
              <a:t>    在全相联映射中，将主存中一个块的地址与块的内容一起存于CACHE的行中，其中块地址存于CACHE 行的标记部分中。</a:t>
            </a:r>
            <a:endParaRPr lang="zh-CN" altLang="en-US" b="1" dirty="0">
              <a:latin typeface="楷体_GB2312" pitchFamily="1" charset="-122"/>
              <a:ea typeface="楷体_GB2312" pitchFamily="1" charset="-122"/>
            </a:endParaRPr>
          </a:p>
          <a:p>
            <a:pPr eaLnBrk="1" hangingPunct="1"/>
            <a:endParaRPr lang="zh-CN" altLang="en-US" b="1" dirty="0">
              <a:solidFill>
                <a:srgbClr val="0000FF"/>
              </a:solidFill>
              <a:latin typeface="楷体_GB2312" pitchFamily="1" charset="-122"/>
              <a:ea typeface="楷体_GB2312" pitchFamily="1"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type="body" idx="4294967295"/>
          </p:nvPr>
        </p:nvSpPr>
        <p:spPr>
          <a:xfrm>
            <a:off x="539750" y="1144588"/>
            <a:ext cx="8001000" cy="4876800"/>
          </a:xfrm>
          <a:ln/>
        </p:spPr>
        <p:txBody>
          <a:bodyPr vert="horz" wrap="square" lIns="91440" tIns="45720" rIns="91440" bIns="45720" anchor="t" anchorCtr="0"/>
          <a:p>
            <a:pPr eaLnBrk="1" hangingPunct="1"/>
            <a:r>
              <a:rPr lang="zh-CN" altLang="en-US" sz="3600" dirty="0">
                <a:solidFill>
                  <a:srgbClr val="993366"/>
                </a:solidFill>
                <a:ea typeface="华文新魏" panose="02010800040101010101" pitchFamily="2" charset="-122"/>
              </a:rPr>
              <a:t>全相联映射方式</a:t>
            </a:r>
            <a:endParaRPr lang="zh-CN" altLang="en-US" sz="3600" dirty="0">
              <a:solidFill>
                <a:srgbClr val="993366"/>
              </a:solidFill>
              <a:ea typeface="华文新魏" panose="02010800040101010101" pitchFamily="2" charset="-122"/>
            </a:endParaRPr>
          </a:p>
          <a:p>
            <a:pPr eaLnBrk="1" hangingPunct="1"/>
            <a:r>
              <a:rPr lang="zh-CN" altLang="en-US" dirty="0"/>
              <a:t>　　</a:t>
            </a:r>
            <a:r>
              <a:rPr lang="zh-CN" altLang="en-US" b="1" dirty="0">
                <a:solidFill>
                  <a:schemeClr val="tx1"/>
                </a:solidFill>
                <a:latin typeface="楷体_GB2312" pitchFamily="1" charset="-122"/>
                <a:ea typeface="楷体_GB2312" pitchFamily="1" charset="-122"/>
              </a:rPr>
              <a:t>主存中一个块的地址与块的内容一起存于cache的行中，其中块地址存于cache行的标记部分中。</a:t>
            </a:r>
            <a:endParaRPr lang="zh-CN" altLang="en-US" b="1" dirty="0">
              <a:solidFill>
                <a:schemeClr val="tx1"/>
              </a:solidFill>
              <a:latin typeface="楷体_GB2312" pitchFamily="1" charset="-122"/>
              <a:ea typeface="楷体_GB2312" pitchFamily="1" charset="-122"/>
            </a:endParaRPr>
          </a:p>
          <a:p>
            <a:pPr eaLnBrk="1" hangingPunct="1"/>
            <a:r>
              <a:rPr lang="zh-CN" altLang="en-US" b="1" dirty="0">
                <a:solidFill>
                  <a:schemeClr val="tx1"/>
                </a:solidFill>
                <a:latin typeface="楷体_GB2312" pitchFamily="1" charset="-122"/>
                <a:ea typeface="楷体_GB2312" pitchFamily="1" charset="-122"/>
              </a:rPr>
              <a:t>　　这种方法可使主存的一个块直接拷贝到cache中的任意一行上，非常灵活。</a:t>
            </a:r>
            <a:endParaRPr lang="zh-CN" altLang="en-US" b="1" dirty="0">
              <a:solidFill>
                <a:schemeClr val="tx1"/>
              </a:solidFill>
              <a:latin typeface="楷体_GB2312" pitchFamily="1" charset="-122"/>
              <a:ea typeface="楷体_GB2312" pitchFamily="1" charset="-122"/>
            </a:endParaRPr>
          </a:p>
          <a:p>
            <a:pPr eaLnBrk="1" hangingPunct="1"/>
            <a:r>
              <a:rPr lang="zh-CN" altLang="en-US" b="1" dirty="0">
                <a:solidFill>
                  <a:schemeClr val="tx1"/>
                </a:solidFill>
                <a:latin typeface="楷体_GB2312" pitchFamily="1" charset="-122"/>
                <a:ea typeface="楷体_GB2312" pitchFamily="1" charset="-122"/>
              </a:rPr>
              <a:t>　　它的主要缺点是比较器电路难于设计和实现,因此只适合于小容量cache采用。</a:t>
            </a:r>
            <a:endParaRPr lang="zh-CN" altLang="en-US" b="1" dirty="0">
              <a:solidFill>
                <a:schemeClr val="tx1"/>
              </a:solidFill>
              <a:latin typeface="楷体_GB2312" pitchFamily="1" charset="-122"/>
              <a:ea typeface="楷体_GB2312" pitchFamily="1"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2"/>
          <p:cNvSpPr/>
          <p:nvPr>
            <p:ph type="title" idx="4294967295"/>
          </p:nvPr>
        </p:nvSpPr>
        <p:spPr>
          <a:xfrm>
            <a:off x="685800" y="914400"/>
            <a:ext cx="48768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000" dirty="0"/>
              <a:t>地址映射</a:t>
            </a:r>
            <a:endParaRPr lang="zh-CN" altLang="en-US" sz="2000" dirty="0"/>
          </a:p>
        </p:txBody>
      </p:sp>
      <p:grpSp>
        <p:nvGrpSpPr>
          <p:cNvPr id="134147" name="Group 3"/>
          <p:cNvGrpSpPr/>
          <p:nvPr/>
        </p:nvGrpSpPr>
        <p:grpSpPr>
          <a:xfrm>
            <a:off x="685800" y="1524000"/>
            <a:ext cx="7991475" cy="4800600"/>
            <a:chOff x="0" y="0"/>
            <a:chExt cx="4608" cy="2640"/>
          </a:xfrm>
        </p:grpSpPr>
        <p:sp>
          <p:nvSpPr>
            <p:cNvPr id="134148" name="Text Box 4"/>
            <p:cNvSpPr txBox="1"/>
            <p:nvPr/>
          </p:nvSpPr>
          <p:spPr>
            <a:xfrm>
              <a:off x="1265" y="2429"/>
              <a:ext cx="2349" cy="211"/>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a:t>
              </a:r>
              <a:r>
                <a:rPr lang="zh-CN" altLang="en-US" sz="2000" dirty="0">
                  <a:solidFill>
                    <a:schemeClr val="tx1"/>
                  </a:solidFill>
                </a:rPr>
                <a:t>a</a:t>
              </a:r>
              <a:r>
                <a:rPr lang="zh-CN" altLang="en-US" sz="1600" dirty="0">
                  <a:solidFill>
                    <a:schemeClr val="tx1"/>
                  </a:solidFill>
                </a:rPr>
                <a:t>）</a:t>
              </a:r>
              <a:r>
                <a:rPr lang="zh-CN" altLang="en-US" sz="1200" dirty="0">
                  <a:solidFill>
                    <a:schemeClr val="tx1"/>
                  </a:solidFill>
                </a:rPr>
                <a:t> </a:t>
              </a:r>
              <a:r>
                <a:rPr lang="zh-CN" altLang="en-US" sz="2000" dirty="0">
                  <a:solidFill>
                    <a:schemeClr val="tx1"/>
                  </a:solidFill>
                </a:rPr>
                <a:t>全相联映象</a:t>
              </a:r>
              <a:endParaRPr lang="zh-CN" altLang="en-US" sz="2000" dirty="0">
                <a:solidFill>
                  <a:schemeClr val="tx1"/>
                </a:solidFill>
              </a:endParaRPr>
            </a:p>
          </p:txBody>
        </p:sp>
        <p:sp>
          <p:nvSpPr>
            <p:cNvPr id="134149" name="Rectangle 5"/>
            <p:cNvSpPr/>
            <p:nvPr/>
          </p:nvSpPr>
          <p:spPr>
            <a:xfrm>
              <a:off x="723" y="1330"/>
              <a:ext cx="903" cy="14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50" name="Rectangle 6"/>
            <p:cNvSpPr/>
            <p:nvPr/>
          </p:nvSpPr>
          <p:spPr>
            <a:xfrm>
              <a:off x="723" y="745"/>
              <a:ext cx="903" cy="14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51" name="Rectangle 7"/>
            <p:cNvSpPr/>
            <p:nvPr/>
          </p:nvSpPr>
          <p:spPr>
            <a:xfrm>
              <a:off x="723" y="888"/>
              <a:ext cx="903" cy="14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52" name="Rectangle 8"/>
            <p:cNvSpPr/>
            <p:nvPr/>
          </p:nvSpPr>
          <p:spPr>
            <a:xfrm>
              <a:off x="723" y="1033"/>
              <a:ext cx="903" cy="14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53" name="Rectangle 9"/>
            <p:cNvSpPr/>
            <p:nvPr/>
          </p:nvSpPr>
          <p:spPr>
            <a:xfrm>
              <a:off x="723" y="1180"/>
              <a:ext cx="903" cy="14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54" name="Rectangle 10"/>
            <p:cNvSpPr/>
            <p:nvPr/>
          </p:nvSpPr>
          <p:spPr>
            <a:xfrm>
              <a:off x="723" y="1475"/>
              <a:ext cx="903" cy="144"/>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55" name="Rectangle 11"/>
            <p:cNvSpPr/>
            <p:nvPr/>
          </p:nvSpPr>
          <p:spPr>
            <a:xfrm>
              <a:off x="723" y="1619"/>
              <a:ext cx="903" cy="14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56" name="Rectangle 12"/>
            <p:cNvSpPr/>
            <p:nvPr/>
          </p:nvSpPr>
          <p:spPr>
            <a:xfrm>
              <a:off x="723" y="1764"/>
              <a:ext cx="903" cy="14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nvGrpSpPr>
            <p:cNvPr id="134157" name="Group 13"/>
            <p:cNvGrpSpPr/>
            <p:nvPr/>
          </p:nvGrpSpPr>
          <p:grpSpPr>
            <a:xfrm>
              <a:off x="181" y="708"/>
              <a:ext cx="542" cy="1184"/>
              <a:chOff x="0" y="0"/>
              <a:chExt cx="540" cy="2682"/>
            </a:xfrm>
          </p:grpSpPr>
          <p:grpSp>
            <p:nvGrpSpPr>
              <p:cNvPr id="134219" name="Group 14"/>
              <p:cNvGrpSpPr/>
              <p:nvPr/>
            </p:nvGrpSpPr>
            <p:grpSpPr>
              <a:xfrm>
                <a:off x="0" y="0"/>
                <a:ext cx="540" cy="2361"/>
                <a:chOff x="0" y="0"/>
                <a:chExt cx="540" cy="2361"/>
              </a:xfrm>
            </p:grpSpPr>
            <p:sp>
              <p:nvSpPr>
                <p:cNvPr id="134225" name="Text Box 15"/>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0</a:t>
                  </a:r>
                  <a:endParaRPr lang="zh-CN" altLang="en-US" sz="1600" dirty="0">
                    <a:solidFill>
                      <a:schemeClr val="tx1"/>
                    </a:solidFill>
                  </a:endParaRPr>
                </a:p>
              </p:txBody>
            </p:sp>
            <p:sp>
              <p:nvSpPr>
                <p:cNvPr id="134226" name="Text Box 16"/>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2</a:t>
                  </a:r>
                  <a:endParaRPr lang="zh-CN" altLang="en-US" sz="1600" dirty="0">
                    <a:solidFill>
                      <a:schemeClr val="tx1"/>
                    </a:solidFill>
                  </a:endParaRPr>
                </a:p>
              </p:txBody>
            </p:sp>
            <p:sp>
              <p:nvSpPr>
                <p:cNvPr id="134227" name="Text Box 17"/>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4</a:t>
                  </a:r>
                  <a:endParaRPr lang="zh-CN" altLang="en-US" sz="1600" dirty="0">
                    <a:solidFill>
                      <a:schemeClr val="tx1"/>
                    </a:solidFill>
                  </a:endParaRPr>
                </a:p>
              </p:txBody>
            </p:sp>
            <p:sp>
              <p:nvSpPr>
                <p:cNvPr id="134228" name="Text Box 18"/>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6</a:t>
                  </a:r>
                  <a:endParaRPr lang="zh-CN" altLang="en-US" sz="1600" dirty="0">
                    <a:solidFill>
                      <a:schemeClr val="tx1"/>
                    </a:solidFill>
                  </a:endParaRPr>
                </a:p>
              </p:txBody>
            </p:sp>
          </p:grpSp>
          <p:grpSp>
            <p:nvGrpSpPr>
              <p:cNvPr id="134220" name="Group 19"/>
              <p:cNvGrpSpPr/>
              <p:nvPr/>
            </p:nvGrpSpPr>
            <p:grpSpPr>
              <a:xfrm>
                <a:off x="0" y="312"/>
                <a:ext cx="540" cy="2370"/>
                <a:chOff x="0" y="0"/>
                <a:chExt cx="540" cy="2370"/>
              </a:xfrm>
            </p:grpSpPr>
            <p:sp>
              <p:nvSpPr>
                <p:cNvPr id="134221" name="Text Box 20"/>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3</a:t>
                  </a:r>
                  <a:endParaRPr lang="zh-CN" altLang="en-US" sz="1600" dirty="0">
                    <a:solidFill>
                      <a:schemeClr val="tx1"/>
                    </a:solidFill>
                  </a:endParaRPr>
                </a:p>
              </p:txBody>
            </p:sp>
            <p:sp>
              <p:nvSpPr>
                <p:cNvPr id="134222" name="Text Box 21"/>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a:t>
                  </a:r>
                  <a:endParaRPr lang="zh-CN" altLang="en-US" sz="1600" dirty="0">
                    <a:solidFill>
                      <a:schemeClr val="tx1"/>
                    </a:solidFill>
                  </a:endParaRPr>
                </a:p>
              </p:txBody>
            </p:sp>
            <p:sp>
              <p:nvSpPr>
                <p:cNvPr id="134223" name="Text Box 22"/>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5</a:t>
                  </a:r>
                  <a:endParaRPr lang="zh-CN" altLang="en-US" sz="1600" dirty="0">
                    <a:solidFill>
                      <a:schemeClr val="tx1"/>
                    </a:solidFill>
                  </a:endParaRPr>
                </a:p>
              </p:txBody>
            </p:sp>
            <p:sp>
              <p:nvSpPr>
                <p:cNvPr id="134224" name="Text Box 23"/>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7</a:t>
                  </a:r>
                  <a:endParaRPr lang="zh-CN" altLang="en-US" sz="1600" dirty="0">
                    <a:solidFill>
                      <a:schemeClr val="tx1"/>
                    </a:solidFill>
                  </a:endParaRPr>
                </a:p>
              </p:txBody>
            </p:sp>
          </p:grpSp>
        </p:grpSp>
        <p:sp>
          <p:nvSpPr>
            <p:cNvPr id="134158" name="Rectangle 24"/>
            <p:cNvSpPr/>
            <p:nvPr/>
          </p:nvSpPr>
          <p:spPr>
            <a:xfrm>
              <a:off x="2891" y="1871"/>
              <a:ext cx="904" cy="14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59" name="Rectangle 25"/>
            <p:cNvSpPr/>
            <p:nvPr/>
          </p:nvSpPr>
          <p:spPr>
            <a:xfrm>
              <a:off x="2891" y="1308"/>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0" name="Rectangle 26"/>
            <p:cNvSpPr/>
            <p:nvPr/>
          </p:nvSpPr>
          <p:spPr>
            <a:xfrm>
              <a:off x="2891" y="1448"/>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1" name="Rectangle 27"/>
            <p:cNvSpPr/>
            <p:nvPr/>
          </p:nvSpPr>
          <p:spPr>
            <a:xfrm>
              <a:off x="2891" y="1589"/>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2" name="Rectangle 28"/>
            <p:cNvSpPr/>
            <p:nvPr/>
          </p:nvSpPr>
          <p:spPr>
            <a:xfrm>
              <a:off x="2891" y="1730"/>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3" name="Rectangle 29"/>
            <p:cNvSpPr/>
            <p:nvPr/>
          </p:nvSpPr>
          <p:spPr>
            <a:xfrm>
              <a:off x="2891" y="2011"/>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4" name="Rectangle 30"/>
            <p:cNvSpPr/>
            <p:nvPr/>
          </p:nvSpPr>
          <p:spPr>
            <a:xfrm>
              <a:off x="2891" y="2152"/>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5" name="Rectangle 31"/>
            <p:cNvSpPr/>
            <p:nvPr/>
          </p:nvSpPr>
          <p:spPr>
            <a:xfrm>
              <a:off x="2891" y="2293"/>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6" name="Rectangle 32"/>
            <p:cNvSpPr/>
            <p:nvPr/>
          </p:nvSpPr>
          <p:spPr>
            <a:xfrm>
              <a:off x="2891" y="744"/>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7" name="Rectangle 33"/>
            <p:cNvSpPr/>
            <p:nvPr/>
          </p:nvSpPr>
          <p:spPr>
            <a:xfrm>
              <a:off x="2891" y="175"/>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8" name="Rectangle 34"/>
            <p:cNvSpPr/>
            <p:nvPr/>
          </p:nvSpPr>
          <p:spPr>
            <a:xfrm>
              <a:off x="2891" y="321"/>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69" name="Rectangle 35"/>
            <p:cNvSpPr/>
            <p:nvPr/>
          </p:nvSpPr>
          <p:spPr>
            <a:xfrm>
              <a:off x="2891" y="462"/>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70" name="Rectangle 36"/>
            <p:cNvSpPr/>
            <p:nvPr/>
          </p:nvSpPr>
          <p:spPr>
            <a:xfrm>
              <a:off x="2891" y="603"/>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71" name="Rectangle 37"/>
            <p:cNvSpPr/>
            <p:nvPr/>
          </p:nvSpPr>
          <p:spPr>
            <a:xfrm>
              <a:off x="2891" y="885"/>
              <a:ext cx="904" cy="14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72" name="Rectangle 38"/>
            <p:cNvSpPr/>
            <p:nvPr/>
          </p:nvSpPr>
          <p:spPr>
            <a:xfrm>
              <a:off x="2891" y="1025"/>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4173" name="Rectangle 39"/>
            <p:cNvSpPr/>
            <p:nvPr/>
          </p:nvSpPr>
          <p:spPr>
            <a:xfrm>
              <a:off x="2891" y="1166"/>
              <a:ext cx="904" cy="14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nvGrpSpPr>
            <p:cNvPr id="134174" name="Group 40"/>
            <p:cNvGrpSpPr/>
            <p:nvPr/>
          </p:nvGrpSpPr>
          <p:grpSpPr>
            <a:xfrm>
              <a:off x="3795" y="141"/>
              <a:ext cx="542" cy="2358"/>
              <a:chOff x="0" y="0"/>
              <a:chExt cx="540" cy="5223"/>
            </a:xfrm>
          </p:grpSpPr>
          <p:grpSp>
            <p:nvGrpSpPr>
              <p:cNvPr id="134197" name="Group 41"/>
              <p:cNvGrpSpPr/>
              <p:nvPr/>
            </p:nvGrpSpPr>
            <p:grpSpPr>
              <a:xfrm>
                <a:off x="0" y="0"/>
                <a:ext cx="540" cy="2682"/>
                <a:chOff x="0" y="0"/>
                <a:chExt cx="540" cy="2682"/>
              </a:xfrm>
            </p:grpSpPr>
            <p:grpSp>
              <p:nvGrpSpPr>
                <p:cNvPr id="134209" name="Group 42"/>
                <p:cNvGrpSpPr/>
                <p:nvPr/>
              </p:nvGrpSpPr>
              <p:grpSpPr>
                <a:xfrm>
                  <a:off x="0" y="0"/>
                  <a:ext cx="540" cy="2361"/>
                  <a:chOff x="0" y="0"/>
                  <a:chExt cx="540" cy="2361"/>
                </a:xfrm>
              </p:grpSpPr>
              <p:sp>
                <p:nvSpPr>
                  <p:cNvPr id="134215" name="Text Box 43"/>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0</a:t>
                    </a:r>
                    <a:endParaRPr lang="zh-CN" altLang="en-US" sz="1400" dirty="0">
                      <a:solidFill>
                        <a:schemeClr val="tx1"/>
                      </a:solidFill>
                    </a:endParaRPr>
                  </a:p>
                </p:txBody>
              </p:sp>
              <p:sp>
                <p:nvSpPr>
                  <p:cNvPr id="134216" name="Text Box 44"/>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2</a:t>
                    </a:r>
                    <a:endParaRPr lang="zh-CN" altLang="en-US" sz="1400" dirty="0">
                      <a:solidFill>
                        <a:schemeClr val="tx1"/>
                      </a:solidFill>
                    </a:endParaRPr>
                  </a:p>
                </p:txBody>
              </p:sp>
              <p:sp>
                <p:nvSpPr>
                  <p:cNvPr id="134217" name="Text Box 45"/>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4</a:t>
                    </a:r>
                    <a:endParaRPr lang="zh-CN" altLang="en-US" sz="1400" dirty="0">
                      <a:solidFill>
                        <a:schemeClr val="tx1"/>
                      </a:solidFill>
                    </a:endParaRPr>
                  </a:p>
                </p:txBody>
              </p:sp>
              <p:sp>
                <p:nvSpPr>
                  <p:cNvPr id="134218" name="Text Box 46"/>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6</a:t>
                    </a:r>
                    <a:endParaRPr lang="zh-CN" altLang="en-US" sz="1400" dirty="0">
                      <a:solidFill>
                        <a:schemeClr val="tx1"/>
                      </a:solidFill>
                    </a:endParaRPr>
                  </a:p>
                </p:txBody>
              </p:sp>
            </p:grpSp>
            <p:grpSp>
              <p:nvGrpSpPr>
                <p:cNvPr id="134210" name="Group 47"/>
                <p:cNvGrpSpPr/>
                <p:nvPr/>
              </p:nvGrpSpPr>
              <p:grpSpPr>
                <a:xfrm>
                  <a:off x="0" y="312"/>
                  <a:ext cx="540" cy="2370"/>
                  <a:chOff x="0" y="0"/>
                  <a:chExt cx="540" cy="2370"/>
                </a:xfrm>
              </p:grpSpPr>
              <p:sp>
                <p:nvSpPr>
                  <p:cNvPr id="134211" name="Text Box 48"/>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3</a:t>
                    </a:r>
                    <a:endParaRPr lang="zh-CN" altLang="en-US" sz="1400" dirty="0">
                      <a:solidFill>
                        <a:schemeClr val="tx1"/>
                      </a:solidFill>
                    </a:endParaRPr>
                  </a:p>
                </p:txBody>
              </p:sp>
              <p:sp>
                <p:nvSpPr>
                  <p:cNvPr id="134212" name="Text Box 49"/>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a:t>
                    </a:r>
                    <a:endParaRPr lang="zh-CN" altLang="en-US" sz="1400" dirty="0">
                      <a:solidFill>
                        <a:schemeClr val="tx1"/>
                      </a:solidFill>
                    </a:endParaRPr>
                  </a:p>
                </p:txBody>
              </p:sp>
              <p:sp>
                <p:nvSpPr>
                  <p:cNvPr id="134213" name="Text Box 50"/>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5</a:t>
                    </a:r>
                    <a:endParaRPr lang="zh-CN" altLang="en-US" sz="1400" dirty="0">
                      <a:solidFill>
                        <a:schemeClr val="tx1"/>
                      </a:solidFill>
                    </a:endParaRPr>
                  </a:p>
                </p:txBody>
              </p:sp>
              <p:sp>
                <p:nvSpPr>
                  <p:cNvPr id="134214" name="Text Box 51"/>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7</a:t>
                    </a:r>
                    <a:endParaRPr lang="zh-CN" altLang="en-US" sz="1400" dirty="0">
                      <a:solidFill>
                        <a:schemeClr val="tx1"/>
                      </a:solidFill>
                    </a:endParaRPr>
                  </a:p>
                </p:txBody>
              </p:sp>
            </p:grpSp>
          </p:grpSp>
          <p:grpSp>
            <p:nvGrpSpPr>
              <p:cNvPr id="134198" name="Group 52"/>
              <p:cNvGrpSpPr/>
              <p:nvPr/>
            </p:nvGrpSpPr>
            <p:grpSpPr>
              <a:xfrm>
                <a:off x="0" y="2541"/>
                <a:ext cx="540" cy="2682"/>
                <a:chOff x="0" y="0"/>
                <a:chExt cx="540" cy="2682"/>
              </a:xfrm>
            </p:grpSpPr>
            <p:grpSp>
              <p:nvGrpSpPr>
                <p:cNvPr id="134199" name="Group 53"/>
                <p:cNvGrpSpPr/>
                <p:nvPr/>
              </p:nvGrpSpPr>
              <p:grpSpPr>
                <a:xfrm>
                  <a:off x="0" y="0"/>
                  <a:ext cx="540" cy="2361"/>
                  <a:chOff x="0" y="0"/>
                  <a:chExt cx="540" cy="2361"/>
                </a:xfrm>
              </p:grpSpPr>
              <p:sp>
                <p:nvSpPr>
                  <p:cNvPr id="134205" name="Text Box 54"/>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8</a:t>
                    </a:r>
                    <a:endParaRPr lang="zh-CN" altLang="en-US" sz="1400" dirty="0">
                      <a:solidFill>
                        <a:schemeClr val="tx1"/>
                      </a:solidFill>
                    </a:endParaRPr>
                  </a:p>
                </p:txBody>
              </p:sp>
              <p:sp>
                <p:nvSpPr>
                  <p:cNvPr id="134206" name="Text Box 55"/>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10</a:t>
                    </a:r>
                    <a:endParaRPr lang="zh-CN" altLang="en-US" sz="1400" dirty="0">
                      <a:solidFill>
                        <a:schemeClr val="tx1"/>
                      </a:solidFill>
                    </a:endParaRPr>
                  </a:p>
                </p:txBody>
              </p:sp>
              <p:sp>
                <p:nvSpPr>
                  <p:cNvPr id="134207" name="Text Box 56"/>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12</a:t>
                    </a:r>
                    <a:endParaRPr lang="zh-CN" altLang="en-US" sz="1400" dirty="0">
                      <a:solidFill>
                        <a:schemeClr val="tx1"/>
                      </a:solidFill>
                    </a:endParaRPr>
                  </a:p>
                </p:txBody>
              </p:sp>
              <p:sp>
                <p:nvSpPr>
                  <p:cNvPr id="134208" name="Text Box 57"/>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14</a:t>
                    </a:r>
                    <a:endParaRPr lang="zh-CN" altLang="en-US" sz="1400" dirty="0">
                      <a:solidFill>
                        <a:schemeClr val="tx1"/>
                      </a:solidFill>
                    </a:endParaRPr>
                  </a:p>
                </p:txBody>
              </p:sp>
            </p:grpSp>
            <p:grpSp>
              <p:nvGrpSpPr>
                <p:cNvPr id="134200" name="Group 58"/>
                <p:cNvGrpSpPr/>
                <p:nvPr/>
              </p:nvGrpSpPr>
              <p:grpSpPr>
                <a:xfrm>
                  <a:off x="0" y="312"/>
                  <a:ext cx="540" cy="2370"/>
                  <a:chOff x="0" y="0"/>
                  <a:chExt cx="540" cy="2370"/>
                </a:xfrm>
              </p:grpSpPr>
              <p:sp>
                <p:nvSpPr>
                  <p:cNvPr id="134201" name="Text Box 59"/>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11</a:t>
                    </a:r>
                    <a:endParaRPr lang="zh-CN" altLang="en-US" sz="1400" dirty="0">
                      <a:solidFill>
                        <a:schemeClr val="tx1"/>
                      </a:solidFill>
                    </a:endParaRPr>
                  </a:p>
                </p:txBody>
              </p:sp>
              <p:sp>
                <p:nvSpPr>
                  <p:cNvPr id="134202" name="Text Box 60"/>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9</a:t>
                    </a:r>
                    <a:endParaRPr lang="zh-CN" altLang="en-US" sz="1400" dirty="0">
                      <a:solidFill>
                        <a:schemeClr val="tx1"/>
                      </a:solidFill>
                    </a:endParaRPr>
                  </a:p>
                </p:txBody>
              </p:sp>
              <p:sp>
                <p:nvSpPr>
                  <p:cNvPr id="134203" name="Text Box 61"/>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13</a:t>
                    </a:r>
                    <a:endParaRPr lang="zh-CN" altLang="en-US" sz="1400" dirty="0">
                      <a:solidFill>
                        <a:schemeClr val="tx1"/>
                      </a:solidFill>
                    </a:endParaRPr>
                  </a:p>
                </p:txBody>
              </p:sp>
              <p:sp>
                <p:nvSpPr>
                  <p:cNvPr id="134204" name="Text Box 62"/>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15</a:t>
                    </a:r>
                    <a:endParaRPr lang="zh-CN" altLang="en-US" sz="1400" dirty="0">
                      <a:solidFill>
                        <a:schemeClr val="tx1"/>
                      </a:solidFill>
                    </a:endParaRPr>
                  </a:p>
                </p:txBody>
              </p:sp>
            </p:grpSp>
          </p:grpSp>
        </p:grpSp>
        <p:grpSp>
          <p:nvGrpSpPr>
            <p:cNvPr id="134175" name="Group 63"/>
            <p:cNvGrpSpPr/>
            <p:nvPr/>
          </p:nvGrpSpPr>
          <p:grpSpPr>
            <a:xfrm>
              <a:off x="0" y="0"/>
              <a:ext cx="4608" cy="675"/>
              <a:chOff x="0" y="0"/>
              <a:chExt cx="4590" cy="1494"/>
            </a:xfrm>
          </p:grpSpPr>
          <p:sp>
            <p:nvSpPr>
              <p:cNvPr id="134193" name="Text Box 64"/>
              <p:cNvSpPr txBox="1"/>
              <p:nvPr/>
            </p:nvSpPr>
            <p:spPr>
              <a:xfrm>
                <a:off x="0" y="1026"/>
                <a:ext cx="90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1800" dirty="0">
                    <a:solidFill>
                      <a:schemeClr val="tx1"/>
                    </a:solidFill>
                  </a:rPr>
                  <a:t>块号</a:t>
                </a:r>
                <a:endParaRPr lang="zh-CN" altLang="zh-CN" sz="1800" dirty="0">
                  <a:solidFill>
                    <a:schemeClr val="tx1"/>
                  </a:solidFill>
                </a:endParaRPr>
              </a:p>
            </p:txBody>
          </p:sp>
          <p:sp>
            <p:nvSpPr>
              <p:cNvPr id="134194" name="Text Box 65"/>
              <p:cNvSpPr txBox="1"/>
              <p:nvPr/>
            </p:nvSpPr>
            <p:spPr>
              <a:xfrm>
                <a:off x="3690" y="0"/>
                <a:ext cx="90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1800" dirty="0">
                    <a:solidFill>
                      <a:schemeClr val="tx1"/>
                    </a:solidFill>
                  </a:rPr>
                  <a:t>块号</a:t>
                </a:r>
                <a:endParaRPr lang="zh-CN" altLang="zh-CN" sz="1800" dirty="0">
                  <a:solidFill>
                    <a:schemeClr val="tx1"/>
                  </a:solidFill>
                </a:endParaRPr>
              </a:p>
            </p:txBody>
          </p:sp>
          <p:sp>
            <p:nvSpPr>
              <p:cNvPr id="134195" name="Text Box 66"/>
              <p:cNvSpPr txBox="1"/>
              <p:nvPr/>
            </p:nvSpPr>
            <p:spPr>
              <a:xfrm>
                <a:off x="720" y="1026"/>
                <a:ext cx="90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800" dirty="0">
                    <a:solidFill>
                      <a:schemeClr val="tx1"/>
                    </a:solidFill>
                  </a:rPr>
                  <a:t>Cache</a:t>
                </a:r>
                <a:endParaRPr lang="zh-CN" altLang="en-US" sz="1800" dirty="0">
                  <a:solidFill>
                    <a:schemeClr val="tx1"/>
                  </a:solidFill>
                </a:endParaRPr>
              </a:p>
            </p:txBody>
          </p:sp>
          <p:sp>
            <p:nvSpPr>
              <p:cNvPr id="134196" name="Text Box 67"/>
              <p:cNvSpPr txBox="1"/>
              <p:nvPr/>
            </p:nvSpPr>
            <p:spPr>
              <a:xfrm>
                <a:off x="2880" y="0"/>
                <a:ext cx="90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1800" dirty="0">
                    <a:solidFill>
                      <a:schemeClr val="tx1"/>
                    </a:solidFill>
                  </a:rPr>
                  <a:t>主存</a:t>
                </a:r>
                <a:endParaRPr lang="zh-CN" altLang="zh-CN" sz="1800" dirty="0">
                  <a:solidFill>
                    <a:schemeClr val="tx1"/>
                  </a:solidFill>
                </a:endParaRPr>
              </a:p>
            </p:txBody>
          </p:sp>
        </p:grpSp>
        <p:sp>
          <p:nvSpPr>
            <p:cNvPr id="134176" name="Line 68"/>
            <p:cNvSpPr/>
            <p:nvPr/>
          </p:nvSpPr>
          <p:spPr>
            <a:xfrm flipH="1">
              <a:off x="1611" y="252"/>
              <a:ext cx="1265" cy="563"/>
            </a:xfrm>
            <a:prstGeom prst="line">
              <a:avLst/>
            </a:prstGeom>
            <a:ln w="12700" cap="flat" cmpd="sng">
              <a:solidFill>
                <a:srgbClr val="000000"/>
              </a:solidFill>
              <a:prstDash val="dash"/>
              <a:headEnd type="none" w="med" len="med"/>
              <a:tailEnd type="triangle" w="sm" len="lg"/>
            </a:ln>
          </p:spPr>
        </p:sp>
        <p:sp>
          <p:nvSpPr>
            <p:cNvPr id="134177" name="Line 69"/>
            <p:cNvSpPr/>
            <p:nvPr/>
          </p:nvSpPr>
          <p:spPr>
            <a:xfrm flipH="1">
              <a:off x="1584" y="240"/>
              <a:ext cx="1296" cy="707"/>
            </a:xfrm>
            <a:prstGeom prst="line">
              <a:avLst/>
            </a:prstGeom>
            <a:ln w="12700" cap="flat" cmpd="sng">
              <a:solidFill>
                <a:srgbClr val="000000"/>
              </a:solidFill>
              <a:prstDash val="dash"/>
              <a:headEnd type="none" w="med" len="med"/>
              <a:tailEnd type="triangle" w="sm" len="lg"/>
            </a:ln>
          </p:spPr>
        </p:sp>
        <p:sp>
          <p:nvSpPr>
            <p:cNvPr id="134178" name="Line 70"/>
            <p:cNvSpPr/>
            <p:nvPr/>
          </p:nvSpPr>
          <p:spPr>
            <a:xfrm flipH="1">
              <a:off x="1611" y="240"/>
              <a:ext cx="1269" cy="859"/>
            </a:xfrm>
            <a:prstGeom prst="line">
              <a:avLst/>
            </a:prstGeom>
            <a:ln w="12700" cap="flat" cmpd="sng">
              <a:solidFill>
                <a:srgbClr val="000000"/>
              </a:solidFill>
              <a:prstDash val="dash"/>
              <a:headEnd type="none" w="med" len="med"/>
              <a:tailEnd type="triangle" w="sm" len="lg"/>
            </a:ln>
          </p:spPr>
        </p:sp>
        <p:sp>
          <p:nvSpPr>
            <p:cNvPr id="134179" name="Line 71"/>
            <p:cNvSpPr/>
            <p:nvPr/>
          </p:nvSpPr>
          <p:spPr>
            <a:xfrm flipH="1">
              <a:off x="1611" y="240"/>
              <a:ext cx="1269" cy="1021"/>
            </a:xfrm>
            <a:prstGeom prst="line">
              <a:avLst/>
            </a:prstGeom>
            <a:ln w="12700" cap="flat" cmpd="sng">
              <a:solidFill>
                <a:srgbClr val="000000"/>
              </a:solidFill>
              <a:prstDash val="dash"/>
              <a:headEnd type="none" w="med" len="med"/>
              <a:tailEnd type="triangle" w="sm" len="lg"/>
            </a:ln>
          </p:spPr>
        </p:sp>
        <p:sp>
          <p:nvSpPr>
            <p:cNvPr id="134180" name="Line 72"/>
            <p:cNvSpPr/>
            <p:nvPr/>
          </p:nvSpPr>
          <p:spPr>
            <a:xfrm flipH="1">
              <a:off x="1632" y="240"/>
              <a:ext cx="1269" cy="1205"/>
            </a:xfrm>
            <a:prstGeom prst="line">
              <a:avLst/>
            </a:prstGeom>
            <a:ln w="12700" cap="flat" cmpd="sng">
              <a:solidFill>
                <a:srgbClr val="000000"/>
              </a:solidFill>
              <a:prstDash val="dash"/>
              <a:headEnd type="none" w="med" len="med"/>
              <a:tailEnd type="triangle" w="sm" len="lg"/>
            </a:ln>
          </p:spPr>
        </p:sp>
        <p:sp>
          <p:nvSpPr>
            <p:cNvPr id="134181" name="Line 73"/>
            <p:cNvSpPr/>
            <p:nvPr/>
          </p:nvSpPr>
          <p:spPr>
            <a:xfrm flipH="1">
              <a:off x="1611" y="240"/>
              <a:ext cx="1269" cy="1306"/>
            </a:xfrm>
            <a:prstGeom prst="line">
              <a:avLst/>
            </a:prstGeom>
            <a:ln w="12700" cap="flat" cmpd="sng">
              <a:solidFill>
                <a:srgbClr val="000000"/>
              </a:solidFill>
              <a:prstDash val="dash"/>
              <a:headEnd type="none" w="med" len="med"/>
              <a:tailEnd type="triangle" w="sm" len="lg"/>
            </a:ln>
          </p:spPr>
        </p:sp>
        <p:sp>
          <p:nvSpPr>
            <p:cNvPr id="134182" name="Line 74"/>
            <p:cNvSpPr/>
            <p:nvPr/>
          </p:nvSpPr>
          <p:spPr>
            <a:xfrm flipH="1">
              <a:off x="1611" y="240"/>
              <a:ext cx="1269" cy="1441"/>
            </a:xfrm>
            <a:prstGeom prst="line">
              <a:avLst/>
            </a:prstGeom>
            <a:ln w="12700" cap="flat" cmpd="sng">
              <a:solidFill>
                <a:srgbClr val="000000"/>
              </a:solidFill>
              <a:prstDash val="dash"/>
              <a:headEnd type="none" w="med" len="med"/>
              <a:tailEnd type="triangle" w="sm" len="lg"/>
            </a:ln>
          </p:spPr>
        </p:sp>
        <p:sp>
          <p:nvSpPr>
            <p:cNvPr id="134183" name="Line 75"/>
            <p:cNvSpPr/>
            <p:nvPr/>
          </p:nvSpPr>
          <p:spPr>
            <a:xfrm flipH="1">
              <a:off x="1611" y="240"/>
              <a:ext cx="1269" cy="1597"/>
            </a:xfrm>
            <a:prstGeom prst="line">
              <a:avLst/>
            </a:prstGeom>
            <a:ln w="12700" cap="flat" cmpd="sng">
              <a:solidFill>
                <a:srgbClr val="000000"/>
              </a:solidFill>
              <a:prstDash val="dash"/>
              <a:headEnd type="none" w="med" len="med"/>
              <a:tailEnd type="triangle" w="sm" len="lg"/>
            </a:ln>
          </p:spPr>
        </p:sp>
        <p:sp>
          <p:nvSpPr>
            <p:cNvPr id="134184" name="Line 76"/>
            <p:cNvSpPr/>
            <p:nvPr/>
          </p:nvSpPr>
          <p:spPr>
            <a:xfrm flipH="1" flipV="1">
              <a:off x="1626" y="1802"/>
              <a:ext cx="1265" cy="563"/>
            </a:xfrm>
            <a:prstGeom prst="line">
              <a:avLst/>
            </a:prstGeom>
            <a:ln w="12700" cap="flat" cmpd="sng">
              <a:solidFill>
                <a:srgbClr val="000000"/>
              </a:solidFill>
              <a:prstDash val="dash"/>
              <a:headEnd type="none" w="med" len="med"/>
              <a:tailEnd type="triangle" w="sm" len="lg"/>
            </a:ln>
          </p:spPr>
        </p:sp>
        <p:sp>
          <p:nvSpPr>
            <p:cNvPr id="134185" name="Line 77"/>
            <p:cNvSpPr/>
            <p:nvPr/>
          </p:nvSpPr>
          <p:spPr>
            <a:xfrm flipH="1" flipV="1">
              <a:off x="1632" y="1680"/>
              <a:ext cx="1248" cy="672"/>
            </a:xfrm>
            <a:prstGeom prst="line">
              <a:avLst/>
            </a:prstGeom>
            <a:ln w="12700" cap="flat" cmpd="sng">
              <a:solidFill>
                <a:srgbClr val="000000"/>
              </a:solidFill>
              <a:prstDash val="dash"/>
              <a:headEnd type="none" w="med" len="med"/>
              <a:tailEnd type="triangle" w="sm" len="lg"/>
            </a:ln>
          </p:spPr>
        </p:sp>
        <p:sp>
          <p:nvSpPr>
            <p:cNvPr id="134186" name="Line 78"/>
            <p:cNvSpPr/>
            <p:nvPr/>
          </p:nvSpPr>
          <p:spPr>
            <a:xfrm flipH="1" flipV="1">
              <a:off x="1632" y="1536"/>
              <a:ext cx="1296" cy="864"/>
            </a:xfrm>
            <a:prstGeom prst="line">
              <a:avLst/>
            </a:prstGeom>
            <a:ln w="12700" cap="flat" cmpd="sng">
              <a:solidFill>
                <a:srgbClr val="000000"/>
              </a:solidFill>
              <a:prstDash val="dash"/>
              <a:headEnd type="none" w="med" len="med"/>
              <a:tailEnd type="triangle" w="sm" len="lg"/>
            </a:ln>
          </p:spPr>
        </p:sp>
        <p:sp>
          <p:nvSpPr>
            <p:cNvPr id="134187" name="Line 79"/>
            <p:cNvSpPr/>
            <p:nvPr/>
          </p:nvSpPr>
          <p:spPr>
            <a:xfrm flipH="1" flipV="1">
              <a:off x="1632" y="1392"/>
              <a:ext cx="1248" cy="960"/>
            </a:xfrm>
            <a:prstGeom prst="line">
              <a:avLst/>
            </a:prstGeom>
            <a:ln w="12700" cap="flat" cmpd="sng">
              <a:solidFill>
                <a:srgbClr val="000000"/>
              </a:solidFill>
              <a:prstDash val="dash"/>
              <a:headEnd type="none" w="med" len="med"/>
              <a:tailEnd type="triangle" w="sm" len="lg"/>
            </a:ln>
          </p:spPr>
        </p:sp>
        <p:sp>
          <p:nvSpPr>
            <p:cNvPr id="134188" name="Line 80"/>
            <p:cNvSpPr/>
            <p:nvPr/>
          </p:nvSpPr>
          <p:spPr>
            <a:xfrm flipH="1" flipV="1">
              <a:off x="1611" y="1238"/>
              <a:ext cx="1269" cy="1114"/>
            </a:xfrm>
            <a:prstGeom prst="line">
              <a:avLst/>
            </a:prstGeom>
            <a:ln w="12700" cap="flat" cmpd="sng">
              <a:solidFill>
                <a:srgbClr val="000000"/>
              </a:solidFill>
              <a:prstDash val="dash"/>
              <a:headEnd type="none" w="med" len="med"/>
              <a:tailEnd type="triangle" w="sm" len="lg"/>
            </a:ln>
          </p:spPr>
        </p:sp>
        <p:sp>
          <p:nvSpPr>
            <p:cNvPr id="134189" name="Line 81"/>
            <p:cNvSpPr/>
            <p:nvPr/>
          </p:nvSpPr>
          <p:spPr>
            <a:xfrm flipH="1" flipV="1">
              <a:off x="1611" y="1097"/>
              <a:ext cx="1269" cy="1255"/>
            </a:xfrm>
            <a:prstGeom prst="line">
              <a:avLst/>
            </a:prstGeom>
            <a:ln w="12700" cap="flat" cmpd="sng">
              <a:solidFill>
                <a:srgbClr val="000000"/>
              </a:solidFill>
              <a:prstDash val="dash"/>
              <a:headEnd type="none" w="med" len="med"/>
              <a:tailEnd type="triangle" w="sm" len="lg"/>
            </a:ln>
          </p:spPr>
        </p:sp>
        <p:sp>
          <p:nvSpPr>
            <p:cNvPr id="134190" name="Line 82"/>
            <p:cNvSpPr/>
            <p:nvPr/>
          </p:nvSpPr>
          <p:spPr>
            <a:xfrm flipH="1" flipV="1">
              <a:off x="1632" y="960"/>
              <a:ext cx="1200" cy="1392"/>
            </a:xfrm>
            <a:prstGeom prst="line">
              <a:avLst/>
            </a:prstGeom>
            <a:ln w="12700" cap="flat" cmpd="sng">
              <a:solidFill>
                <a:srgbClr val="000000"/>
              </a:solidFill>
              <a:prstDash val="sysDot"/>
              <a:headEnd type="none" w="med" len="med"/>
              <a:tailEnd type="triangle" w="sm" len="lg"/>
            </a:ln>
          </p:spPr>
        </p:sp>
        <p:sp>
          <p:nvSpPr>
            <p:cNvPr id="134191" name="Line 83"/>
            <p:cNvSpPr/>
            <p:nvPr/>
          </p:nvSpPr>
          <p:spPr>
            <a:xfrm flipH="1" flipV="1">
              <a:off x="1611" y="788"/>
              <a:ext cx="1269" cy="1564"/>
            </a:xfrm>
            <a:prstGeom prst="line">
              <a:avLst/>
            </a:prstGeom>
            <a:ln w="12700" cap="flat" cmpd="sng">
              <a:solidFill>
                <a:srgbClr val="000000"/>
              </a:solidFill>
              <a:prstDash val="dash"/>
              <a:headEnd type="none" w="med" len="med"/>
              <a:tailEnd type="triangle" w="sm" len="lg"/>
            </a:ln>
          </p:spPr>
        </p:sp>
        <p:sp>
          <p:nvSpPr>
            <p:cNvPr id="134192" name="Line 84"/>
            <p:cNvSpPr/>
            <p:nvPr/>
          </p:nvSpPr>
          <p:spPr>
            <a:xfrm>
              <a:off x="1008" y="768"/>
              <a:ext cx="0" cy="1152"/>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body" idx="4294967295"/>
          </p:nvPr>
        </p:nvSpPr>
        <p:spPr>
          <a:xfrm>
            <a:off x="457200" y="1219200"/>
            <a:ext cx="8220075" cy="4876800"/>
          </a:xfrm>
          <a:ln/>
        </p:spPr>
        <p:txBody>
          <a:bodyPr vert="horz" wrap="square" lIns="91440" tIns="45720" rIns="91440" bIns="45720" anchor="t" anchorCtr="0"/>
          <a:p>
            <a:pPr eaLnBrk="1" hangingPunct="1">
              <a:lnSpc>
                <a:spcPct val="90000"/>
              </a:lnSpc>
            </a:pPr>
            <a:r>
              <a:rPr lang="zh-CN" altLang="en-US" sz="3600" dirty="0">
                <a:solidFill>
                  <a:srgbClr val="993366"/>
                </a:solidFill>
                <a:ea typeface="华文新魏" panose="02010800040101010101" pitchFamily="2" charset="-122"/>
              </a:rPr>
              <a:t>直接映射方式</a:t>
            </a:r>
            <a:endParaRPr lang="zh-CN" altLang="en-US" sz="3600" dirty="0">
              <a:solidFill>
                <a:srgbClr val="993366"/>
              </a:solidFill>
              <a:ea typeface="华文新魏" panose="02010800040101010101" pitchFamily="2" charset="-122"/>
            </a:endParaRPr>
          </a:p>
          <a:p>
            <a:pPr eaLnBrk="1" hangingPunct="1"/>
            <a:r>
              <a:rPr lang="zh-CN" altLang="en-US" sz="3000" b="1" dirty="0">
                <a:solidFill>
                  <a:schemeClr val="tx1"/>
                </a:solidFill>
                <a:latin typeface="楷体_GB2312" pitchFamily="1" charset="-122"/>
                <a:ea typeface="楷体_GB2312" pitchFamily="1" charset="-122"/>
              </a:rPr>
              <a:t>这也是一种多对一的映射关系，但一个主存块只能拷贝到cache的一个特定行位置上去。</a:t>
            </a:r>
            <a:endParaRPr lang="zh-CN" altLang="en-US" sz="3000" b="1" dirty="0">
              <a:solidFill>
                <a:schemeClr val="tx1"/>
              </a:solidFill>
              <a:latin typeface="楷体_GB2312" pitchFamily="1" charset="-122"/>
              <a:ea typeface="楷体_GB2312" pitchFamily="1" charset="-122"/>
            </a:endParaRPr>
          </a:p>
          <a:p>
            <a:pPr eaLnBrk="1" hangingPunct="1"/>
            <a:r>
              <a:rPr lang="zh-CN" altLang="en-US" sz="3000" b="1" dirty="0">
                <a:solidFill>
                  <a:schemeClr val="tx1"/>
                </a:solidFill>
                <a:latin typeface="楷体_GB2312" pitchFamily="1" charset="-122"/>
                <a:ea typeface="楷体_GB2312" pitchFamily="1" charset="-122"/>
              </a:rPr>
              <a:t>cache的行号i和主存的块号j有如下函数关系：</a:t>
            </a:r>
            <a:r>
              <a:rPr lang="zh-CN" altLang="en-US" sz="3000" b="1" dirty="0">
                <a:solidFill>
                  <a:srgbClr val="FF0000"/>
                </a:solidFill>
                <a:latin typeface="楷体_GB2312" pitchFamily="1" charset="-122"/>
                <a:ea typeface="楷体_GB2312" pitchFamily="1" charset="-122"/>
              </a:rPr>
              <a:t>i=j mod m</a:t>
            </a:r>
            <a:r>
              <a:rPr lang="zh-CN" altLang="en-US" sz="3000" b="1" dirty="0">
                <a:solidFill>
                  <a:schemeClr val="tx1"/>
                </a:solidFill>
                <a:latin typeface="楷体_GB2312" pitchFamily="1" charset="-122"/>
                <a:ea typeface="楷体_GB2312" pitchFamily="1" charset="-122"/>
              </a:rPr>
              <a:t>（m为cache中的总行数）</a:t>
            </a:r>
            <a:endParaRPr lang="zh-CN" altLang="en-US" sz="3000" b="1" dirty="0">
              <a:solidFill>
                <a:schemeClr val="tx1"/>
              </a:solidFill>
              <a:latin typeface="楷体_GB2312" pitchFamily="1" charset="-122"/>
              <a:ea typeface="楷体_GB2312" pitchFamily="1" charset="-122"/>
            </a:endParaRPr>
          </a:p>
          <a:p>
            <a:pPr eaLnBrk="1" hangingPunct="1"/>
            <a:r>
              <a:rPr lang="zh-CN" altLang="en-US" sz="3000" b="1" dirty="0">
                <a:solidFill>
                  <a:schemeClr val="tx1"/>
                </a:solidFill>
                <a:latin typeface="楷体_GB2312" pitchFamily="1" charset="-122"/>
                <a:ea typeface="楷体_GB2312" pitchFamily="1" charset="-122"/>
              </a:rPr>
              <a:t>直接映射方式的优点是硬件简单，成本低。</a:t>
            </a:r>
            <a:endParaRPr lang="zh-CN" altLang="en-US" sz="3000" b="1" dirty="0">
              <a:solidFill>
                <a:schemeClr val="tx1"/>
              </a:solidFill>
              <a:latin typeface="楷体_GB2312" pitchFamily="1" charset="-122"/>
              <a:ea typeface="楷体_GB2312" pitchFamily="1" charset="-122"/>
            </a:endParaRPr>
          </a:p>
          <a:p>
            <a:pPr eaLnBrk="1" hangingPunct="1"/>
            <a:r>
              <a:rPr lang="zh-CN" altLang="en-US" sz="3000" b="1" dirty="0">
                <a:solidFill>
                  <a:schemeClr val="tx1"/>
                </a:solidFill>
                <a:latin typeface="楷体_GB2312" pitchFamily="1" charset="-122"/>
                <a:ea typeface="楷体_GB2312" pitchFamily="1" charset="-122"/>
              </a:rPr>
              <a:t>缺点是每个主存块只有一个固定的行位置可存放，容易产生冲突。因此适合大容量cache采用</a:t>
            </a:r>
            <a:r>
              <a:rPr lang="zh-CN" altLang="en-US" sz="2800" b="1" dirty="0">
                <a:solidFill>
                  <a:schemeClr val="tx1"/>
                </a:solidFill>
                <a:latin typeface="楷体_GB2312" pitchFamily="1" charset="-122"/>
                <a:ea typeface="楷体_GB2312" pitchFamily="1" charset="-122"/>
              </a:rPr>
              <a:t>。</a:t>
            </a:r>
            <a:endParaRPr lang="zh-CN" altLang="en-US" sz="2800" b="1" dirty="0">
              <a:solidFill>
                <a:schemeClr val="tx1"/>
              </a:solidFill>
              <a:latin typeface="楷体_GB2312" pitchFamily="1" charset="-122"/>
              <a:ea typeface="楷体_GB2312" pitchFamily="1"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p:nvPr>
            <p:ph type="title" idx="4294967295"/>
          </p:nvPr>
        </p:nvSpPr>
        <p:spPr>
          <a:xfrm>
            <a:off x="1419225" y="990600"/>
            <a:ext cx="6248400" cy="762000"/>
          </a:xfrm>
          <a:prstGeom prst="rect">
            <a:avLst/>
          </a:prstGeom>
          <a:solidFill>
            <a:srgbClr val="FFFFFF"/>
          </a:solidFill>
          <a:ln w="9525" cap="flat" cmpd="sng">
            <a:solidFill>
              <a:srgbClr val="000000"/>
            </a:solidFill>
            <a:prstDash val="solid"/>
            <a:headEnd type="none" w="med" len="med"/>
            <a:tailEnd type="none" w="med" len="med"/>
          </a:ln>
        </p:spPr>
        <p:txBody>
          <a:bodyPr/>
          <a:p>
            <a:pPr algn="l" eaLnBrk="1" hangingPunct="1"/>
            <a:r>
              <a:rPr lang="zh-CN" altLang="en-US" dirty="0"/>
              <a:t>Cache存储器——</a:t>
            </a:r>
            <a:r>
              <a:rPr lang="zh-CN" altLang="en-US" sz="2400" dirty="0"/>
              <a:t>地址映射</a:t>
            </a:r>
            <a:endParaRPr lang="zh-CN" altLang="en-US" sz="2400" dirty="0"/>
          </a:p>
        </p:txBody>
      </p:sp>
      <p:sp>
        <p:nvSpPr>
          <p:cNvPr id="136195" name="Rectangle 3"/>
          <p:cNvSpPr>
            <a:spLocks noGrp="1"/>
          </p:cNvSpPr>
          <p:nvPr>
            <p:ph type="body" idx="4294967295"/>
          </p:nvPr>
        </p:nvSpPr>
        <p:spPr>
          <a:xfrm>
            <a:off x="685800" y="1828800"/>
            <a:ext cx="7772400" cy="4267200"/>
          </a:xfrm>
          <a:ln/>
        </p:spPr>
        <p:txBody>
          <a:bodyPr vert="horz" wrap="square" lIns="91440" tIns="45720" rIns="91440" bIns="45720" anchor="t" anchorCtr="0"/>
          <a:p>
            <a:pPr marL="0" indent="0" eaLnBrk="1" hangingPunct="1">
              <a:buNone/>
            </a:pPr>
            <a:r>
              <a:rPr lang="zh-CN" altLang="en-US" sz="2800" b="1" dirty="0">
                <a:solidFill>
                  <a:schemeClr val="tx1"/>
                </a:solidFill>
              </a:rPr>
              <a:t>直接映射方式：</a:t>
            </a:r>
            <a:endParaRPr lang="zh-CN" altLang="en-US" sz="2800" b="1" dirty="0">
              <a:solidFill>
                <a:schemeClr val="tx1"/>
              </a:solidFill>
            </a:endParaRPr>
          </a:p>
          <a:p>
            <a:pPr marL="0" indent="0" eaLnBrk="1" hangingPunct="1">
              <a:buNone/>
            </a:pPr>
            <a:r>
              <a:rPr lang="zh-CN" altLang="en-US" sz="2800" b="1" dirty="0">
                <a:solidFill>
                  <a:schemeClr val="tx1"/>
                </a:solidFill>
              </a:rPr>
              <a:t>                </a:t>
            </a:r>
            <a:r>
              <a:rPr lang="zh-CN" altLang="en-US" sz="2800" b="1" dirty="0">
                <a:solidFill>
                  <a:srgbClr val="993366"/>
                </a:solidFill>
              </a:rPr>
              <a:t>i = j   mod  m</a:t>
            </a:r>
            <a:r>
              <a:rPr lang="zh-CN" altLang="en-US" sz="2800" dirty="0"/>
              <a:t>       </a:t>
            </a:r>
            <a:endParaRPr lang="zh-CN" altLang="en-US" sz="2800" dirty="0"/>
          </a:p>
        </p:txBody>
      </p:sp>
      <p:grpSp>
        <p:nvGrpSpPr>
          <p:cNvPr id="136196" name="Group 4"/>
          <p:cNvGrpSpPr/>
          <p:nvPr/>
        </p:nvGrpSpPr>
        <p:grpSpPr>
          <a:xfrm>
            <a:off x="533400" y="2286000"/>
            <a:ext cx="8359775" cy="3886200"/>
            <a:chOff x="0" y="0"/>
            <a:chExt cx="5088" cy="2448"/>
          </a:xfrm>
        </p:grpSpPr>
        <p:sp>
          <p:nvSpPr>
            <p:cNvPr id="136199" name="Text Box 5"/>
            <p:cNvSpPr txBox="1"/>
            <p:nvPr/>
          </p:nvSpPr>
          <p:spPr>
            <a:xfrm>
              <a:off x="1410" y="2265"/>
              <a:ext cx="1230" cy="183"/>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800" dirty="0">
                  <a:solidFill>
                    <a:schemeClr val="tx1"/>
                  </a:solidFill>
                </a:rPr>
                <a:t>（b） 直接映象</a:t>
              </a:r>
              <a:endParaRPr lang="zh-CN" altLang="en-US" sz="1800" dirty="0">
                <a:solidFill>
                  <a:schemeClr val="tx1"/>
                </a:solidFill>
              </a:endParaRPr>
            </a:p>
          </p:txBody>
        </p:sp>
        <p:grpSp>
          <p:nvGrpSpPr>
            <p:cNvPr id="136200" name="Group 6"/>
            <p:cNvGrpSpPr/>
            <p:nvPr/>
          </p:nvGrpSpPr>
          <p:grpSpPr>
            <a:xfrm>
              <a:off x="805" y="756"/>
              <a:ext cx="1007" cy="1009"/>
              <a:chOff x="0" y="0"/>
              <a:chExt cx="900" cy="2487"/>
            </a:xfrm>
          </p:grpSpPr>
          <p:sp>
            <p:nvSpPr>
              <p:cNvPr id="136272" name="Rectangle 7"/>
              <p:cNvSpPr/>
              <p:nvPr/>
            </p:nvSpPr>
            <p:spPr>
              <a:xfrm>
                <a:off x="0" y="1250"/>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73" name="Rectangle 8"/>
              <p:cNvSpPr/>
              <p:nvPr/>
            </p:nvSpPr>
            <p:spPr>
              <a:xfrm>
                <a:off x="0" y="0"/>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74" name="Rectangle 9"/>
              <p:cNvSpPr/>
              <p:nvPr/>
            </p:nvSpPr>
            <p:spPr>
              <a:xfrm>
                <a:off x="0" y="306"/>
                <a:ext cx="900" cy="310"/>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75" name="Rectangle 10"/>
              <p:cNvSpPr/>
              <p:nvPr/>
            </p:nvSpPr>
            <p:spPr>
              <a:xfrm>
                <a:off x="0" y="616"/>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76" name="Rectangle 11"/>
              <p:cNvSpPr/>
              <p:nvPr/>
            </p:nvSpPr>
            <p:spPr>
              <a:xfrm>
                <a:off x="0" y="930"/>
                <a:ext cx="900" cy="31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77" name="Rectangle 12"/>
              <p:cNvSpPr/>
              <p:nvPr/>
            </p:nvSpPr>
            <p:spPr>
              <a:xfrm>
                <a:off x="0" y="1559"/>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78" name="Rectangle 13"/>
              <p:cNvSpPr/>
              <p:nvPr/>
            </p:nvSpPr>
            <p:spPr>
              <a:xfrm>
                <a:off x="0" y="1868"/>
                <a:ext cx="900" cy="31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79" name="Rectangle 14"/>
              <p:cNvSpPr/>
              <p:nvPr/>
            </p:nvSpPr>
            <p:spPr>
              <a:xfrm>
                <a:off x="0" y="2178"/>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nvGrpSpPr>
            <p:cNvPr id="136201" name="Group 15"/>
            <p:cNvGrpSpPr/>
            <p:nvPr/>
          </p:nvGrpSpPr>
          <p:grpSpPr>
            <a:xfrm>
              <a:off x="201" y="724"/>
              <a:ext cx="604" cy="1028"/>
              <a:chOff x="0" y="0"/>
              <a:chExt cx="540" cy="2682"/>
            </a:xfrm>
          </p:grpSpPr>
          <p:grpSp>
            <p:nvGrpSpPr>
              <p:cNvPr id="136262" name="Group 16"/>
              <p:cNvGrpSpPr/>
              <p:nvPr/>
            </p:nvGrpSpPr>
            <p:grpSpPr>
              <a:xfrm>
                <a:off x="0" y="0"/>
                <a:ext cx="540" cy="2361"/>
                <a:chOff x="0" y="0"/>
                <a:chExt cx="540" cy="2361"/>
              </a:xfrm>
            </p:grpSpPr>
            <p:sp>
              <p:nvSpPr>
                <p:cNvPr id="136268" name="Text Box 17"/>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0</a:t>
                  </a:r>
                  <a:endParaRPr lang="zh-CN" altLang="en-US" sz="1400" dirty="0">
                    <a:solidFill>
                      <a:schemeClr val="tx1"/>
                    </a:solidFill>
                  </a:endParaRPr>
                </a:p>
              </p:txBody>
            </p:sp>
            <p:sp>
              <p:nvSpPr>
                <p:cNvPr id="136269" name="Text Box 18"/>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2</a:t>
                  </a:r>
                  <a:endParaRPr lang="zh-CN" altLang="en-US" sz="1400" dirty="0">
                    <a:solidFill>
                      <a:schemeClr val="tx1"/>
                    </a:solidFill>
                  </a:endParaRPr>
                </a:p>
              </p:txBody>
            </p:sp>
            <p:sp>
              <p:nvSpPr>
                <p:cNvPr id="136270" name="Text Box 19"/>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4</a:t>
                  </a:r>
                  <a:endParaRPr lang="zh-CN" altLang="en-US" sz="1400" dirty="0">
                    <a:solidFill>
                      <a:schemeClr val="tx1"/>
                    </a:solidFill>
                  </a:endParaRPr>
                </a:p>
              </p:txBody>
            </p:sp>
            <p:sp>
              <p:nvSpPr>
                <p:cNvPr id="136271" name="Text Box 20"/>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6</a:t>
                  </a:r>
                  <a:endParaRPr lang="zh-CN" altLang="en-US" sz="1400" dirty="0">
                    <a:solidFill>
                      <a:schemeClr val="tx1"/>
                    </a:solidFill>
                  </a:endParaRPr>
                </a:p>
              </p:txBody>
            </p:sp>
          </p:grpSp>
          <p:grpSp>
            <p:nvGrpSpPr>
              <p:cNvPr id="136263" name="Group 21"/>
              <p:cNvGrpSpPr/>
              <p:nvPr/>
            </p:nvGrpSpPr>
            <p:grpSpPr>
              <a:xfrm>
                <a:off x="0" y="312"/>
                <a:ext cx="540" cy="2370"/>
                <a:chOff x="0" y="0"/>
                <a:chExt cx="540" cy="2370"/>
              </a:xfrm>
            </p:grpSpPr>
            <p:sp>
              <p:nvSpPr>
                <p:cNvPr id="136264" name="Text Box 22"/>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3</a:t>
                  </a:r>
                  <a:endParaRPr lang="zh-CN" altLang="en-US" sz="1400" dirty="0">
                    <a:solidFill>
                      <a:schemeClr val="tx1"/>
                    </a:solidFill>
                  </a:endParaRPr>
                </a:p>
              </p:txBody>
            </p:sp>
            <p:sp>
              <p:nvSpPr>
                <p:cNvPr id="136265" name="Text Box 23"/>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a:t>
                  </a:r>
                  <a:endParaRPr lang="zh-CN" altLang="en-US" sz="1400" dirty="0">
                    <a:solidFill>
                      <a:schemeClr val="tx1"/>
                    </a:solidFill>
                  </a:endParaRPr>
                </a:p>
              </p:txBody>
            </p:sp>
            <p:sp>
              <p:nvSpPr>
                <p:cNvPr id="136266" name="Text Box 24"/>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5</a:t>
                  </a:r>
                  <a:endParaRPr lang="zh-CN" altLang="en-US" sz="1400" dirty="0">
                    <a:solidFill>
                      <a:schemeClr val="tx1"/>
                    </a:solidFill>
                  </a:endParaRPr>
                </a:p>
              </p:txBody>
            </p:sp>
            <p:sp>
              <p:nvSpPr>
                <p:cNvPr id="136267" name="Text Box 25"/>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7</a:t>
                  </a:r>
                  <a:endParaRPr lang="zh-CN" altLang="en-US" sz="1400" dirty="0">
                    <a:solidFill>
                      <a:schemeClr val="tx1"/>
                    </a:solidFill>
                  </a:endParaRPr>
                </a:p>
              </p:txBody>
            </p:sp>
          </p:grpSp>
        </p:grpSp>
        <p:sp>
          <p:nvSpPr>
            <p:cNvPr id="136202" name="Rectangle 26"/>
            <p:cNvSpPr/>
            <p:nvPr/>
          </p:nvSpPr>
          <p:spPr>
            <a:xfrm>
              <a:off x="3221" y="1733"/>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03" name="Rectangle 27"/>
            <p:cNvSpPr/>
            <p:nvPr/>
          </p:nvSpPr>
          <p:spPr>
            <a:xfrm>
              <a:off x="3221" y="1245"/>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04" name="Rectangle 28"/>
            <p:cNvSpPr/>
            <p:nvPr/>
          </p:nvSpPr>
          <p:spPr>
            <a:xfrm>
              <a:off x="3221" y="1366"/>
              <a:ext cx="1007" cy="122"/>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05" name="Rectangle 29"/>
            <p:cNvSpPr/>
            <p:nvPr/>
          </p:nvSpPr>
          <p:spPr>
            <a:xfrm>
              <a:off x="3221" y="1488"/>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06" name="Rectangle 30"/>
            <p:cNvSpPr/>
            <p:nvPr/>
          </p:nvSpPr>
          <p:spPr>
            <a:xfrm>
              <a:off x="3221" y="1610"/>
              <a:ext cx="1007" cy="123"/>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07" name="Rectangle 31"/>
            <p:cNvSpPr/>
            <p:nvPr/>
          </p:nvSpPr>
          <p:spPr>
            <a:xfrm>
              <a:off x="3221" y="1855"/>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08" name="Rectangle 32"/>
            <p:cNvSpPr/>
            <p:nvPr/>
          </p:nvSpPr>
          <p:spPr>
            <a:xfrm>
              <a:off x="3221" y="1977"/>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09" name="Rectangle 33"/>
            <p:cNvSpPr/>
            <p:nvPr/>
          </p:nvSpPr>
          <p:spPr>
            <a:xfrm>
              <a:off x="3221" y="2099"/>
              <a:ext cx="1007" cy="123"/>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10" name="Rectangle 34"/>
            <p:cNvSpPr/>
            <p:nvPr/>
          </p:nvSpPr>
          <p:spPr>
            <a:xfrm>
              <a:off x="3221" y="755"/>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11" name="Rectangle 35"/>
            <p:cNvSpPr/>
            <p:nvPr/>
          </p:nvSpPr>
          <p:spPr>
            <a:xfrm>
              <a:off x="3221" y="261"/>
              <a:ext cx="1007" cy="123"/>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12" name="Rectangle 36"/>
            <p:cNvSpPr/>
            <p:nvPr/>
          </p:nvSpPr>
          <p:spPr>
            <a:xfrm>
              <a:off x="3221" y="388"/>
              <a:ext cx="1007" cy="123"/>
            </a:xfrm>
            <a:prstGeom prst="rect">
              <a:avLst/>
            </a:prstGeom>
            <a:solidFill>
              <a:schemeClr val="bg1"/>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13" name="Rectangle 37"/>
            <p:cNvSpPr/>
            <p:nvPr/>
          </p:nvSpPr>
          <p:spPr>
            <a:xfrm>
              <a:off x="3221" y="511"/>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14" name="Rectangle 38"/>
            <p:cNvSpPr/>
            <p:nvPr/>
          </p:nvSpPr>
          <p:spPr>
            <a:xfrm>
              <a:off x="3221" y="633"/>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15" name="Rectangle 39"/>
            <p:cNvSpPr/>
            <p:nvPr/>
          </p:nvSpPr>
          <p:spPr>
            <a:xfrm>
              <a:off x="3221" y="877"/>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16" name="Rectangle 40"/>
            <p:cNvSpPr/>
            <p:nvPr/>
          </p:nvSpPr>
          <p:spPr>
            <a:xfrm>
              <a:off x="3221" y="999"/>
              <a:ext cx="1007" cy="123"/>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217" name="Rectangle 41"/>
            <p:cNvSpPr/>
            <p:nvPr/>
          </p:nvSpPr>
          <p:spPr>
            <a:xfrm>
              <a:off x="3221" y="1122"/>
              <a:ext cx="1007" cy="12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nvGrpSpPr>
            <p:cNvPr id="136218" name="Group 42"/>
            <p:cNvGrpSpPr/>
            <p:nvPr/>
          </p:nvGrpSpPr>
          <p:grpSpPr>
            <a:xfrm>
              <a:off x="4228" y="232"/>
              <a:ext cx="380" cy="2046"/>
              <a:chOff x="0" y="0"/>
              <a:chExt cx="540" cy="5223"/>
            </a:xfrm>
          </p:grpSpPr>
          <p:grpSp>
            <p:nvGrpSpPr>
              <p:cNvPr id="136240" name="Group 43"/>
              <p:cNvGrpSpPr/>
              <p:nvPr/>
            </p:nvGrpSpPr>
            <p:grpSpPr>
              <a:xfrm>
                <a:off x="0" y="0"/>
                <a:ext cx="540" cy="2682"/>
                <a:chOff x="0" y="0"/>
                <a:chExt cx="540" cy="2682"/>
              </a:xfrm>
            </p:grpSpPr>
            <p:grpSp>
              <p:nvGrpSpPr>
                <p:cNvPr id="136252" name="Group 44"/>
                <p:cNvGrpSpPr/>
                <p:nvPr/>
              </p:nvGrpSpPr>
              <p:grpSpPr>
                <a:xfrm>
                  <a:off x="0" y="0"/>
                  <a:ext cx="540" cy="2361"/>
                  <a:chOff x="0" y="0"/>
                  <a:chExt cx="540" cy="2361"/>
                </a:xfrm>
              </p:grpSpPr>
              <p:sp>
                <p:nvSpPr>
                  <p:cNvPr id="136258" name="Text Box 45"/>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0</a:t>
                    </a:r>
                    <a:endParaRPr lang="zh-CN" altLang="en-US" sz="1400" dirty="0">
                      <a:solidFill>
                        <a:schemeClr val="tx1"/>
                      </a:solidFill>
                    </a:endParaRPr>
                  </a:p>
                </p:txBody>
              </p:sp>
              <p:sp>
                <p:nvSpPr>
                  <p:cNvPr id="136259" name="Text Box 46"/>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2</a:t>
                    </a:r>
                    <a:endParaRPr lang="zh-CN" altLang="en-US" sz="1400" dirty="0">
                      <a:solidFill>
                        <a:schemeClr val="tx1"/>
                      </a:solidFill>
                    </a:endParaRPr>
                  </a:p>
                </p:txBody>
              </p:sp>
              <p:sp>
                <p:nvSpPr>
                  <p:cNvPr id="136260" name="Text Box 47"/>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4</a:t>
                    </a:r>
                    <a:endParaRPr lang="zh-CN" altLang="en-US" sz="1400" dirty="0">
                      <a:solidFill>
                        <a:schemeClr val="tx1"/>
                      </a:solidFill>
                    </a:endParaRPr>
                  </a:p>
                </p:txBody>
              </p:sp>
              <p:sp>
                <p:nvSpPr>
                  <p:cNvPr id="136261" name="Text Box 48"/>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6</a:t>
                    </a:r>
                    <a:endParaRPr lang="zh-CN" altLang="en-US" sz="1400" dirty="0">
                      <a:solidFill>
                        <a:schemeClr val="tx1"/>
                      </a:solidFill>
                    </a:endParaRPr>
                  </a:p>
                </p:txBody>
              </p:sp>
            </p:grpSp>
            <p:grpSp>
              <p:nvGrpSpPr>
                <p:cNvPr id="136253" name="Group 49"/>
                <p:cNvGrpSpPr/>
                <p:nvPr/>
              </p:nvGrpSpPr>
              <p:grpSpPr>
                <a:xfrm>
                  <a:off x="0" y="312"/>
                  <a:ext cx="540" cy="2370"/>
                  <a:chOff x="0" y="0"/>
                  <a:chExt cx="540" cy="2370"/>
                </a:xfrm>
              </p:grpSpPr>
              <p:sp>
                <p:nvSpPr>
                  <p:cNvPr id="136254" name="Text Box 50"/>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3</a:t>
                    </a:r>
                    <a:endParaRPr lang="zh-CN" altLang="en-US" sz="1400" dirty="0">
                      <a:solidFill>
                        <a:schemeClr val="tx1"/>
                      </a:solidFill>
                    </a:endParaRPr>
                  </a:p>
                </p:txBody>
              </p:sp>
              <p:sp>
                <p:nvSpPr>
                  <p:cNvPr id="136255" name="Text Box 51"/>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a:t>
                    </a:r>
                    <a:endParaRPr lang="zh-CN" altLang="en-US" sz="1400" dirty="0">
                      <a:solidFill>
                        <a:schemeClr val="tx1"/>
                      </a:solidFill>
                    </a:endParaRPr>
                  </a:p>
                </p:txBody>
              </p:sp>
              <p:sp>
                <p:nvSpPr>
                  <p:cNvPr id="136256" name="Text Box 52"/>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5</a:t>
                    </a:r>
                    <a:endParaRPr lang="zh-CN" altLang="en-US" sz="1400" dirty="0">
                      <a:solidFill>
                        <a:schemeClr val="tx1"/>
                      </a:solidFill>
                    </a:endParaRPr>
                  </a:p>
                </p:txBody>
              </p:sp>
              <p:sp>
                <p:nvSpPr>
                  <p:cNvPr id="136257" name="Text Box 53"/>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7</a:t>
                    </a:r>
                    <a:endParaRPr lang="zh-CN" altLang="en-US" sz="1400" dirty="0">
                      <a:solidFill>
                        <a:schemeClr val="tx1"/>
                      </a:solidFill>
                    </a:endParaRPr>
                  </a:p>
                </p:txBody>
              </p:sp>
            </p:grpSp>
          </p:grpSp>
          <p:grpSp>
            <p:nvGrpSpPr>
              <p:cNvPr id="136241" name="Group 54"/>
              <p:cNvGrpSpPr/>
              <p:nvPr/>
            </p:nvGrpSpPr>
            <p:grpSpPr>
              <a:xfrm>
                <a:off x="0" y="2541"/>
                <a:ext cx="540" cy="2682"/>
                <a:chOff x="0" y="0"/>
                <a:chExt cx="540" cy="2682"/>
              </a:xfrm>
            </p:grpSpPr>
            <p:grpSp>
              <p:nvGrpSpPr>
                <p:cNvPr id="136242" name="Group 55"/>
                <p:cNvGrpSpPr/>
                <p:nvPr/>
              </p:nvGrpSpPr>
              <p:grpSpPr>
                <a:xfrm>
                  <a:off x="0" y="0"/>
                  <a:ext cx="540" cy="2361"/>
                  <a:chOff x="0" y="0"/>
                  <a:chExt cx="540" cy="2361"/>
                </a:xfrm>
              </p:grpSpPr>
              <p:sp>
                <p:nvSpPr>
                  <p:cNvPr id="136248" name="Text Box 56"/>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8</a:t>
                    </a:r>
                    <a:endParaRPr lang="zh-CN" altLang="en-US" sz="1400" dirty="0">
                      <a:solidFill>
                        <a:schemeClr val="tx1"/>
                      </a:solidFill>
                    </a:endParaRPr>
                  </a:p>
                </p:txBody>
              </p:sp>
              <p:sp>
                <p:nvSpPr>
                  <p:cNvPr id="136249" name="Text Box 57"/>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10</a:t>
                    </a:r>
                    <a:endParaRPr lang="zh-CN" altLang="en-US" sz="1400" dirty="0">
                      <a:solidFill>
                        <a:schemeClr val="tx1"/>
                      </a:solidFill>
                    </a:endParaRPr>
                  </a:p>
                </p:txBody>
              </p:sp>
              <p:sp>
                <p:nvSpPr>
                  <p:cNvPr id="136250" name="Text Box 58"/>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12</a:t>
                    </a:r>
                    <a:endParaRPr lang="zh-CN" altLang="en-US" sz="1400" dirty="0">
                      <a:solidFill>
                        <a:schemeClr val="tx1"/>
                      </a:solidFill>
                    </a:endParaRPr>
                  </a:p>
                </p:txBody>
              </p:sp>
              <p:sp>
                <p:nvSpPr>
                  <p:cNvPr id="136251" name="Text Box 59"/>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14</a:t>
                    </a:r>
                    <a:endParaRPr lang="zh-CN" altLang="en-US" sz="1400" dirty="0">
                      <a:solidFill>
                        <a:schemeClr val="tx1"/>
                      </a:solidFill>
                    </a:endParaRPr>
                  </a:p>
                </p:txBody>
              </p:sp>
            </p:grpSp>
            <p:grpSp>
              <p:nvGrpSpPr>
                <p:cNvPr id="136243" name="Group 60"/>
                <p:cNvGrpSpPr/>
                <p:nvPr/>
              </p:nvGrpSpPr>
              <p:grpSpPr>
                <a:xfrm>
                  <a:off x="0" y="312"/>
                  <a:ext cx="540" cy="2370"/>
                  <a:chOff x="0" y="0"/>
                  <a:chExt cx="540" cy="2370"/>
                </a:xfrm>
              </p:grpSpPr>
              <p:sp>
                <p:nvSpPr>
                  <p:cNvPr id="136244" name="Text Box 61"/>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11</a:t>
                    </a:r>
                    <a:endParaRPr lang="zh-CN" altLang="en-US" sz="1400" dirty="0">
                      <a:solidFill>
                        <a:schemeClr val="tx1"/>
                      </a:solidFill>
                    </a:endParaRPr>
                  </a:p>
                </p:txBody>
              </p:sp>
              <p:sp>
                <p:nvSpPr>
                  <p:cNvPr id="136245" name="Text Box 62"/>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9</a:t>
                    </a:r>
                    <a:endParaRPr lang="zh-CN" altLang="en-US" sz="1400" dirty="0">
                      <a:solidFill>
                        <a:schemeClr val="tx1"/>
                      </a:solidFill>
                    </a:endParaRPr>
                  </a:p>
                </p:txBody>
              </p:sp>
              <p:sp>
                <p:nvSpPr>
                  <p:cNvPr id="136246" name="Text Box 63"/>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13</a:t>
                    </a:r>
                    <a:endParaRPr lang="zh-CN" altLang="en-US" sz="1400" dirty="0">
                      <a:solidFill>
                        <a:schemeClr val="tx1"/>
                      </a:solidFill>
                    </a:endParaRPr>
                  </a:p>
                </p:txBody>
              </p:sp>
              <p:sp>
                <p:nvSpPr>
                  <p:cNvPr id="136247" name="Text Box 64"/>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400" dirty="0">
                        <a:solidFill>
                          <a:schemeClr val="tx1"/>
                        </a:solidFill>
                      </a:rPr>
                      <a:t>15</a:t>
                    </a:r>
                    <a:endParaRPr lang="zh-CN" altLang="en-US" sz="1400" dirty="0">
                      <a:solidFill>
                        <a:schemeClr val="tx1"/>
                      </a:solidFill>
                    </a:endParaRPr>
                  </a:p>
                </p:txBody>
              </p:sp>
            </p:grpSp>
          </p:grpSp>
        </p:grpSp>
        <p:sp>
          <p:nvSpPr>
            <p:cNvPr id="136219" name="Text Box 65"/>
            <p:cNvSpPr txBox="1"/>
            <p:nvPr/>
          </p:nvSpPr>
          <p:spPr>
            <a:xfrm>
              <a:off x="0" y="512"/>
              <a:ext cx="1006" cy="183"/>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1800" b="1" dirty="0">
                  <a:solidFill>
                    <a:schemeClr val="tx1"/>
                  </a:solidFill>
                </a:rPr>
                <a:t>块号</a:t>
              </a:r>
              <a:endParaRPr lang="zh-CN" altLang="zh-CN" sz="1800" b="1" dirty="0">
                <a:solidFill>
                  <a:schemeClr val="tx1"/>
                </a:solidFill>
              </a:endParaRPr>
            </a:p>
          </p:txBody>
        </p:sp>
        <p:sp>
          <p:nvSpPr>
            <p:cNvPr id="136220" name="Text Box 66"/>
            <p:cNvSpPr txBox="1"/>
            <p:nvPr/>
          </p:nvSpPr>
          <p:spPr>
            <a:xfrm>
              <a:off x="4082" y="0"/>
              <a:ext cx="1006" cy="183"/>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1800" b="1" dirty="0">
                  <a:solidFill>
                    <a:schemeClr val="tx1"/>
                  </a:solidFill>
                </a:rPr>
                <a:t>块号</a:t>
              </a:r>
              <a:endParaRPr lang="zh-CN" altLang="zh-CN" sz="1800" b="1" dirty="0">
                <a:solidFill>
                  <a:schemeClr val="tx1"/>
                </a:solidFill>
              </a:endParaRPr>
            </a:p>
          </p:txBody>
        </p:sp>
        <p:sp>
          <p:nvSpPr>
            <p:cNvPr id="136221" name="Text Box 67"/>
            <p:cNvSpPr txBox="1"/>
            <p:nvPr/>
          </p:nvSpPr>
          <p:spPr>
            <a:xfrm>
              <a:off x="805" y="512"/>
              <a:ext cx="1007" cy="183"/>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a:spcBef>
                  <a:spcPct val="0"/>
                </a:spcBef>
                <a:buNone/>
              </a:pPr>
              <a:r>
                <a:rPr lang="zh-CN" altLang="en-US" sz="1800" b="1" dirty="0">
                  <a:solidFill>
                    <a:schemeClr val="tx1"/>
                  </a:solidFill>
                </a:rPr>
                <a:t>Cache</a:t>
              </a:r>
              <a:endParaRPr lang="zh-CN" altLang="en-US" sz="1800" b="1" dirty="0">
                <a:solidFill>
                  <a:schemeClr val="tx1"/>
                </a:solidFill>
              </a:endParaRPr>
            </a:p>
          </p:txBody>
        </p:sp>
        <p:sp>
          <p:nvSpPr>
            <p:cNvPr id="136222" name="Text Box 68"/>
            <p:cNvSpPr txBox="1"/>
            <p:nvPr/>
          </p:nvSpPr>
          <p:spPr>
            <a:xfrm>
              <a:off x="3216" y="0"/>
              <a:ext cx="1006" cy="183"/>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1800" b="1" dirty="0">
                  <a:solidFill>
                    <a:schemeClr val="tx1"/>
                  </a:solidFill>
                </a:rPr>
                <a:t>主存</a:t>
              </a:r>
              <a:endParaRPr lang="zh-CN" altLang="zh-CN" sz="1800" b="1" dirty="0">
                <a:solidFill>
                  <a:schemeClr val="tx1"/>
                </a:solidFill>
              </a:endParaRPr>
            </a:p>
          </p:txBody>
        </p:sp>
        <p:grpSp>
          <p:nvGrpSpPr>
            <p:cNvPr id="136223" name="Group 69"/>
            <p:cNvGrpSpPr/>
            <p:nvPr/>
          </p:nvGrpSpPr>
          <p:grpSpPr>
            <a:xfrm>
              <a:off x="1795" y="328"/>
              <a:ext cx="1426" cy="1833"/>
              <a:chOff x="0" y="0"/>
              <a:chExt cx="1275" cy="4680"/>
            </a:xfrm>
          </p:grpSpPr>
          <p:sp>
            <p:nvSpPr>
              <p:cNvPr id="136224" name="Line 70"/>
              <p:cNvSpPr/>
              <p:nvPr/>
            </p:nvSpPr>
            <p:spPr>
              <a:xfrm flipH="1">
                <a:off x="0" y="0"/>
                <a:ext cx="1260" cy="1248"/>
              </a:xfrm>
              <a:prstGeom prst="line">
                <a:avLst/>
              </a:prstGeom>
              <a:ln w="12700" cap="flat" cmpd="sng">
                <a:solidFill>
                  <a:srgbClr val="000000"/>
                </a:solidFill>
                <a:prstDash val="dash"/>
                <a:headEnd type="none" w="med" len="med"/>
                <a:tailEnd type="triangle" w="sm" len="lg"/>
              </a:ln>
            </p:spPr>
          </p:sp>
          <p:sp>
            <p:nvSpPr>
              <p:cNvPr id="136225" name="Line 71"/>
              <p:cNvSpPr/>
              <p:nvPr/>
            </p:nvSpPr>
            <p:spPr>
              <a:xfrm flipH="1">
                <a:off x="0" y="312"/>
                <a:ext cx="1260" cy="1248"/>
              </a:xfrm>
              <a:prstGeom prst="line">
                <a:avLst/>
              </a:prstGeom>
              <a:ln w="12700" cap="flat" cmpd="sng">
                <a:solidFill>
                  <a:srgbClr val="000000"/>
                </a:solidFill>
                <a:prstDash val="dash"/>
                <a:headEnd type="none" w="med" len="med"/>
                <a:tailEnd type="triangle" w="sm" len="lg"/>
              </a:ln>
            </p:spPr>
          </p:sp>
          <p:sp>
            <p:nvSpPr>
              <p:cNvPr id="136226" name="Line 72"/>
              <p:cNvSpPr/>
              <p:nvPr/>
            </p:nvSpPr>
            <p:spPr>
              <a:xfrm flipH="1">
                <a:off x="0" y="627"/>
                <a:ext cx="1260" cy="1248"/>
              </a:xfrm>
              <a:prstGeom prst="line">
                <a:avLst/>
              </a:prstGeom>
              <a:ln w="12700" cap="flat" cmpd="sng">
                <a:solidFill>
                  <a:srgbClr val="000000"/>
                </a:solidFill>
                <a:prstDash val="dash"/>
                <a:headEnd type="none" w="med" len="med"/>
                <a:tailEnd type="triangle" w="sm" len="lg"/>
              </a:ln>
            </p:spPr>
          </p:sp>
          <p:sp>
            <p:nvSpPr>
              <p:cNvPr id="136227" name="Line 73"/>
              <p:cNvSpPr/>
              <p:nvPr/>
            </p:nvSpPr>
            <p:spPr>
              <a:xfrm flipH="1">
                <a:off x="0" y="987"/>
                <a:ext cx="1260" cy="1248"/>
              </a:xfrm>
              <a:prstGeom prst="line">
                <a:avLst/>
              </a:prstGeom>
              <a:ln w="12700" cap="flat" cmpd="sng">
                <a:solidFill>
                  <a:srgbClr val="000000"/>
                </a:solidFill>
                <a:prstDash val="dash"/>
                <a:headEnd type="none" w="med" len="med"/>
                <a:tailEnd type="triangle" w="sm" len="lg"/>
              </a:ln>
            </p:spPr>
          </p:sp>
          <p:sp>
            <p:nvSpPr>
              <p:cNvPr id="136228" name="Line 74"/>
              <p:cNvSpPr/>
              <p:nvPr/>
            </p:nvSpPr>
            <p:spPr>
              <a:xfrm flipH="1">
                <a:off x="0" y="1287"/>
                <a:ext cx="1260" cy="1248"/>
              </a:xfrm>
              <a:prstGeom prst="line">
                <a:avLst/>
              </a:prstGeom>
              <a:ln w="12700" cap="flat" cmpd="sng">
                <a:solidFill>
                  <a:srgbClr val="000000"/>
                </a:solidFill>
                <a:prstDash val="dash"/>
                <a:headEnd type="none" w="med" len="med"/>
                <a:tailEnd type="triangle" w="sm" len="lg"/>
              </a:ln>
            </p:spPr>
          </p:sp>
          <p:sp>
            <p:nvSpPr>
              <p:cNvPr id="136229" name="Line 75"/>
              <p:cNvSpPr/>
              <p:nvPr/>
            </p:nvSpPr>
            <p:spPr>
              <a:xfrm flipH="1">
                <a:off x="0" y="1617"/>
                <a:ext cx="1260" cy="1248"/>
              </a:xfrm>
              <a:prstGeom prst="line">
                <a:avLst/>
              </a:prstGeom>
              <a:ln w="12700" cap="flat" cmpd="sng">
                <a:solidFill>
                  <a:srgbClr val="000000"/>
                </a:solidFill>
                <a:prstDash val="dash"/>
                <a:headEnd type="none" w="med" len="med"/>
                <a:tailEnd type="triangle" w="sm" len="lg"/>
              </a:ln>
            </p:spPr>
          </p:sp>
          <p:sp>
            <p:nvSpPr>
              <p:cNvPr id="136230" name="Line 76"/>
              <p:cNvSpPr/>
              <p:nvPr/>
            </p:nvSpPr>
            <p:spPr>
              <a:xfrm flipH="1">
                <a:off x="0" y="1917"/>
                <a:ext cx="1260" cy="1248"/>
              </a:xfrm>
              <a:prstGeom prst="line">
                <a:avLst/>
              </a:prstGeom>
              <a:ln w="12700" cap="flat" cmpd="sng">
                <a:solidFill>
                  <a:srgbClr val="000000"/>
                </a:solidFill>
                <a:prstDash val="dash"/>
                <a:headEnd type="none" w="med" len="med"/>
                <a:tailEnd type="triangle" w="sm" len="lg"/>
              </a:ln>
            </p:spPr>
          </p:sp>
          <p:sp>
            <p:nvSpPr>
              <p:cNvPr id="136231" name="Line 77"/>
              <p:cNvSpPr/>
              <p:nvPr/>
            </p:nvSpPr>
            <p:spPr>
              <a:xfrm flipH="1">
                <a:off x="0" y="2262"/>
                <a:ext cx="1260" cy="1248"/>
              </a:xfrm>
              <a:prstGeom prst="line">
                <a:avLst/>
              </a:prstGeom>
              <a:ln w="12700" cap="flat" cmpd="sng">
                <a:solidFill>
                  <a:srgbClr val="000000"/>
                </a:solidFill>
                <a:prstDash val="dash"/>
                <a:headEnd type="none" w="med" len="med"/>
                <a:tailEnd type="triangle" w="sm" len="lg"/>
              </a:ln>
            </p:spPr>
          </p:sp>
          <p:sp>
            <p:nvSpPr>
              <p:cNvPr id="136232" name="Line 78"/>
              <p:cNvSpPr/>
              <p:nvPr/>
            </p:nvSpPr>
            <p:spPr>
              <a:xfrm flipH="1" flipV="1">
                <a:off x="15" y="3432"/>
                <a:ext cx="1260" cy="1248"/>
              </a:xfrm>
              <a:prstGeom prst="line">
                <a:avLst/>
              </a:prstGeom>
              <a:ln w="12700" cap="flat" cmpd="sng">
                <a:solidFill>
                  <a:srgbClr val="000000"/>
                </a:solidFill>
                <a:prstDash val="dash"/>
                <a:headEnd type="none" w="med" len="med"/>
                <a:tailEnd type="triangle" w="sm" len="lg"/>
              </a:ln>
            </p:spPr>
          </p:sp>
          <p:sp>
            <p:nvSpPr>
              <p:cNvPr id="136233" name="Line 79"/>
              <p:cNvSpPr/>
              <p:nvPr/>
            </p:nvSpPr>
            <p:spPr>
              <a:xfrm flipH="1" flipV="1">
                <a:off x="15" y="3120"/>
                <a:ext cx="1260" cy="1248"/>
              </a:xfrm>
              <a:prstGeom prst="line">
                <a:avLst/>
              </a:prstGeom>
              <a:ln w="12700" cap="flat" cmpd="sng">
                <a:solidFill>
                  <a:srgbClr val="000000"/>
                </a:solidFill>
                <a:prstDash val="dash"/>
                <a:headEnd type="none" w="med" len="med"/>
                <a:tailEnd type="triangle" w="sm" len="lg"/>
              </a:ln>
            </p:spPr>
          </p:sp>
          <p:sp>
            <p:nvSpPr>
              <p:cNvPr id="136234" name="Line 80"/>
              <p:cNvSpPr/>
              <p:nvPr/>
            </p:nvSpPr>
            <p:spPr>
              <a:xfrm flipH="1" flipV="1">
                <a:off x="15" y="2793"/>
                <a:ext cx="1260" cy="1248"/>
              </a:xfrm>
              <a:prstGeom prst="line">
                <a:avLst/>
              </a:prstGeom>
              <a:ln w="12700" cap="flat" cmpd="sng">
                <a:solidFill>
                  <a:srgbClr val="000000"/>
                </a:solidFill>
                <a:prstDash val="dash"/>
                <a:headEnd type="none" w="med" len="med"/>
                <a:tailEnd type="triangle" w="sm" len="lg"/>
              </a:ln>
            </p:spPr>
          </p:sp>
          <p:sp>
            <p:nvSpPr>
              <p:cNvPr id="136235" name="Line 81"/>
              <p:cNvSpPr/>
              <p:nvPr/>
            </p:nvSpPr>
            <p:spPr>
              <a:xfrm flipH="1" flipV="1">
                <a:off x="0" y="2496"/>
                <a:ext cx="1260" cy="1248"/>
              </a:xfrm>
              <a:prstGeom prst="line">
                <a:avLst/>
              </a:prstGeom>
              <a:ln w="12700" cap="flat" cmpd="sng">
                <a:solidFill>
                  <a:srgbClr val="000000"/>
                </a:solidFill>
                <a:prstDash val="dash"/>
                <a:headEnd type="none" w="med" len="med"/>
                <a:tailEnd type="triangle" w="sm" len="lg"/>
              </a:ln>
            </p:spPr>
          </p:sp>
          <p:sp>
            <p:nvSpPr>
              <p:cNvPr id="136236" name="Line 82"/>
              <p:cNvSpPr/>
              <p:nvPr/>
            </p:nvSpPr>
            <p:spPr>
              <a:xfrm flipH="1" flipV="1">
                <a:off x="0" y="2184"/>
                <a:ext cx="1260" cy="1248"/>
              </a:xfrm>
              <a:prstGeom prst="line">
                <a:avLst/>
              </a:prstGeom>
              <a:ln w="12700" cap="flat" cmpd="sng">
                <a:solidFill>
                  <a:srgbClr val="000000"/>
                </a:solidFill>
                <a:prstDash val="dash"/>
                <a:headEnd type="none" w="med" len="med"/>
                <a:tailEnd type="triangle" w="sm" len="lg"/>
              </a:ln>
            </p:spPr>
          </p:sp>
          <p:sp>
            <p:nvSpPr>
              <p:cNvPr id="136237" name="Line 83"/>
              <p:cNvSpPr/>
              <p:nvPr/>
            </p:nvSpPr>
            <p:spPr>
              <a:xfrm flipH="1" flipV="1">
                <a:off x="0" y="1872"/>
                <a:ext cx="1260" cy="1248"/>
              </a:xfrm>
              <a:prstGeom prst="line">
                <a:avLst/>
              </a:prstGeom>
              <a:ln w="12700" cap="flat" cmpd="sng">
                <a:solidFill>
                  <a:srgbClr val="000000"/>
                </a:solidFill>
                <a:prstDash val="dash"/>
                <a:headEnd type="none" w="med" len="med"/>
                <a:tailEnd type="triangle" w="sm" len="lg"/>
              </a:ln>
            </p:spPr>
          </p:sp>
          <p:sp>
            <p:nvSpPr>
              <p:cNvPr id="136238" name="Line 84"/>
              <p:cNvSpPr/>
              <p:nvPr/>
            </p:nvSpPr>
            <p:spPr>
              <a:xfrm flipH="1" flipV="1">
                <a:off x="0" y="1560"/>
                <a:ext cx="1260" cy="1248"/>
              </a:xfrm>
              <a:prstGeom prst="line">
                <a:avLst/>
              </a:prstGeom>
              <a:ln w="12700" cap="flat" cmpd="sng">
                <a:solidFill>
                  <a:srgbClr val="000000"/>
                </a:solidFill>
                <a:prstDash val="solid"/>
                <a:headEnd type="none" w="med" len="med"/>
                <a:tailEnd type="triangle" w="sm" len="lg"/>
              </a:ln>
            </p:spPr>
          </p:sp>
          <p:sp>
            <p:nvSpPr>
              <p:cNvPr id="136239" name="Line 85"/>
              <p:cNvSpPr/>
              <p:nvPr/>
            </p:nvSpPr>
            <p:spPr>
              <a:xfrm flipH="1" flipV="1">
                <a:off x="0" y="1188"/>
                <a:ext cx="1260" cy="1248"/>
              </a:xfrm>
              <a:prstGeom prst="line">
                <a:avLst/>
              </a:prstGeom>
              <a:ln w="12700" cap="flat" cmpd="sng">
                <a:solidFill>
                  <a:srgbClr val="000000"/>
                </a:solidFill>
                <a:prstDash val="dash"/>
                <a:headEnd type="none" w="med" len="med"/>
                <a:tailEnd type="triangle" w="sm" len="lg"/>
              </a:ln>
            </p:spPr>
          </p:sp>
        </p:grpSp>
      </p:grpSp>
      <p:sp>
        <p:nvSpPr>
          <p:cNvPr id="136197" name="AutoShape 86"/>
          <p:cNvSpPr/>
          <p:nvPr/>
        </p:nvSpPr>
        <p:spPr>
          <a:xfrm>
            <a:off x="7813675" y="2781300"/>
            <a:ext cx="215900" cy="1439863"/>
          </a:xfrm>
          <a:prstGeom prst="rightBrace">
            <a:avLst>
              <a:gd name="adj1" fmla="val 55575"/>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6198" name="AutoShape 87"/>
          <p:cNvSpPr/>
          <p:nvPr/>
        </p:nvSpPr>
        <p:spPr>
          <a:xfrm>
            <a:off x="7796213" y="4343400"/>
            <a:ext cx="215900" cy="1439863"/>
          </a:xfrm>
          <a:prstGeom prst="rightBrace">
            <a:avLst>
              <a:gd name="adj1" fmla="val 55575"/>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p:cNvSpPr>
          <p:nvPr>
            <p:ph type="body" idx="4294967295"/>
          </p:nvPr>
        </p:nvSpPr>
        <p:spPr>
          <a:xfrm>
            <a:off x="609600" y="1219200"/>
            <a:ext cx="8153400" cy="4953000"/>
          </a:xfrm>
          <a:ln/>
        </p:spPr>
        <p:txBody>
          <a:bodyPr vert="horz" wrap="square" lIns="91440" tIns="45720" rIns="91440" bIns="45720" anchor="t" anchorCtr="0"/>
          <a:p>
            <a:pPr eaLnBrk="1" hangingPunct="1">
              <a:lnSpc>
                <a:spcPct val="90000"/>
              </a:lnSpc>
            </a:pPr>
            <a:r>
              <a:rPr lang="zh-CN" altLang="en-US" sz="3600" dirty="0">
                <a:solidFill>
                  <a:srgbClr val="993366"/>
                </a:solidFill>
                <a:ea typeface="华文新魏" panose="02010800040101010101" pitchFamily="2" charset="-122"/>
              </a:rPr>
              <a:t>组相联映射方式</a:t>
            </a:r>
            <a:endParaRPr lang="zh-CN" altLang="en-US" sz="3600" dirty="0">
              <a:solidFill>
                <a:srgbClr val="993366"/>
              </a:solidFill>
              <a:ea typeface="华文新魏" panose="02010800040101010101" pitchFamily="2" charset="-122"/>
            </a:endParaRPr>
          </a:p>
          <a:p>
            <a:pPr eaLnBrk="1" hangingPunct="1">
              <a:lnSpc>
                <a:spcPct val="90000"/>
              </a:lnSpc>
              <a:buNone/>
            </a:pPr>
            <a:r>
              <a:rPr lang="zh-CN" altLang="en-US" dirty="0"/>
              <a:t>　</a:t>
            </a:r>
            <a:r>
              <a:rPr lang="zh-CN" altLang="en-US" dirty="0">
                <a:latin typeface="楷体_GB2312" pitchFamily="1" charset="-122"/>
                <a:ea typeface="楷体_GB2312" pitchFamily="1" charset="-122"/>
              </a:rPr>
              <a:t>　</a:t>
            </a:r>
            <a:r>
              <a:rPr lang="zh-CN" altLang="en-US" b="1" dirty="0">
                <a:solidFill>
                  <a:schemeClr val="tx1"/>
                </a:solidFill>
                <a:latin typeface="楷体_GB2312" pitchFamily="1" charset="-122"/>
                <a:ea typeface="楷体_GB2312" pitchFamily="1" charset="-122"/>
              </a:rPr>
              <a:t>这种方式是前两种方式的折衷方案。它将cache分成u组，每组v行，主存块存放到哪个组是固定的，至于存到该组哪一行是灵活的，即有如下函数关系：</a:t>
            </a:r>
            <a:endParaRPr lang="zh-CN" altLang="en-US" b="1" dirty="0">
              <a:solidFill>
                <a:schemeClr val="tx1"/>
              </a:solidFill>
              <a:latin typeface="楷体_GB2312" pitchFamily="1" charset="-122"/>
              <a:ea typeface="楷体_GB2312" pitchFamily="1" charset="-122"/>
            </a:endParaRPr>
          </a:p>
          <a:p>
            <a:pPr eaLnBrk="1" hangingPunct="1">
              <a:lnSpc>
                <a:spcPct val="90000"/>
              </a:lnSpc>
              <a:buNone/>
            </a:pPr>
            <a:r>
              <a:rPr lang="zh-CN" altLang="en-US" b="1" dirty="0">
                <a:solidFill>
                  <a:srgbClr val="993366"/>
                </a:solidFill>
                <a:latin typeface="楷体_GB2312" pitchFamily="1" charset="-122"/>
                <a:ea typeface="楷体_GB2312" pitchFamily="1" charset="-122"/>
              </a:rPr>
              <a:t>    m＝u×v</a:t>
            </a:r>
            <a:r>
              <a:rPr lang="zh-CN" altLang="en-US" b="1" dirty="0">
                <a:solidFill>
                  <a:srgbClr val="FF0000"/>
                </a:solidFill>
                <a:latin typeface="楷体_GB2312" pitchFamily="1" charset="-122"/>
                <a:ea typeface="楷体_GB2312" pitchFamily="1" charset="-122"/>
              </a:rPr>
              <a:t> 　</a:t>
            </a:r>
            <a:r>
              <a:rPr lang="zh-CN" altLang="en-US" b="1" dirty="0">
                <a:solidFill>
                  <a:schemeClr val="tx1"/>
                </a:solidFill>
                <a:latin typeface="楷体_GB2312" pitchFamily="1" charset="-122"/>
                <a:ea typeface="楷体_GB2312" pitchFamily="1" charset="-122"/>
              </a:rPr>
              <a:t>组号</a:t>
            </a:r>
            <a:r>
              <a:rPr lang="zh-CN" altLang="en-US" dirty="0">
                <a:latin typeface="楷体_GB2312" pitchFamily="1" charset="-122"/>
                <a:ea typeface="楷体_GB2312" pitchFamily="1" charset="-122"/>
              </a:rPr>
              <a:t>　</a:t>
            </a:r>
            <a:r>
              <a:rPr lang="zh-CN" altLang="en-US" b="1" dirty="0">
                <a:solidFill>
                  <a:srgbClr val="993366"/>
                </a:solidFill>
                <a:latin typeface="楷体_GB2312" pitchFamily="1" charset="-122"/>
                <a:ea typeface="楷体_GB2312" pitchFamily="1" charset="-122"/>
              </a:rPr>
              <a:t>q＝j mod u </a:t>
            </a:r>
            <a:endParaRPr lang="zh-CN" altLang="en-US" dirty="0">
              <a:solidFill>
                <a:srgbClr val="993366"/>
              </a:solidFill>
              <a:latin typeface="楷体_GB2312" pitchFamily="1" charset="-122"/>
              <a:ea typeface="楷体_GB2312" pitchFamily="1" charset="-122"/>
            </a:endParaRPr>
          </a:p>
          <a:p>
            <a:pPr eaLnBrk="1" hangingPunct="1">
              <a:lnSpc>
                <a:spcPct val="90000"/>
              </a:lnSpc>
              <a:buNone/>
            </a:pPr>
            <a:r>
              <a:rPr lang="zh-CN" altLang="en-US" dirty="0">
                <a:latin typeface="楷体_GB2312" pitchFamily="1" charset="-122"/>
                <a:ea typeface="楷体_GB2312" pitchFamily="1" charset="-122"/>
              </a:rPr>
              <a:t>　　</a:t>
            </a:r>
            <a:r>
              <a:rPr lang="zh-CN" altLang="en-US" b="1" dirty="0">
                <a:solidFill>
                  <a:schemeClr val="tx1"/>
                </a:solidFill>
                <a:latin typeface="楷体_GB2312" pitchFamily="1" charset="-122"/>
                <a:ea typeface="楷体_GB2312" pitchFamily="1" charset="-122"/>
              </a:rPr>
              <a:t>组相联映射方式中的每组行数</a:t>
            </a:r>
            <a:r>
              <a:rPr lang="zh-CN" altLang="en-US" sz="3600" b="1" dirty="0">
                <a:solidFill>
                  <a:schemeClr val="tx1"/>
                </a:solidFill>
                <a:latin typeface="楷体_GB2312" pitchFamily="1" charset="-122"/>
                <a:ea typeface="楷体_GB2312" pitchFamily="1" charset="-122"/>
              </a:rPr>
              <a:t>v</a:t>
            </a:r>
            <a:r>
              <a:rPr lang="zh-CN" altLang="en-US" b="1" dirty="0">
                <a:solidFill>
                  <a:schemeClr val="tx1"/>
                </a:solidFill>
                <a:latin typeface="楷体_GB2312" pitchFamily="1" charset="-122"/>
                <a:ea typeface="楷体_GB2312" pitchFamily="1" charset="-122"/>
              </a:rPr>
              <a:t>一般取值较小，这种规模的</a:t>
            </a:r>
            <a:r>
              <a:rPr lang="zh-CN" altLang="en-US" sz="3600" b="1" dirty="0">
                <a:solidFill>
                  <a:schemeClr val="tx1"/>
                </a:solidFill>
                <a:latin typeface="楷体_GB2312" pitchFamily="1" charset="-122"/>
                <a:ea typeface="楷体_GB2312" pitchFamily="1" charset="-122"/>
              </a:rPr>
              <a:t>v</a:t>
            </a:r>
            <a:r>
              <a:rPr lang="zh-CN" altLang="en-US" b="1" dirty="0">
                <a:solidFill>
                  <a:schemeClr val="tx1"/>
                </a:solidFill>
                <a:latin typeface="楷体_GB2312" pitchFamily="1" charset="-122"/>
                <a:ea typeface="楷体_GB2312" pitchFamily="1" charset="-122"/>
              </a:rPr>
              <a:t>路比较器容易设计和实现。而块在组中的排放又有一定的灵活性，冲突减少。</a:t>
            </a:r>
            <a:endParaRPr lang="zh-CN" altLang="en-US" b="1" dirty="0">
              <a:solidFill>
                <a:schemeClr val="tx1"/>
              </a:solidFill>
              <a:latin typeface="楷体_GB2312" pitchFamily="1" charset="-122"/>
              <a:ea typeface="楷体_GB2312" pitchFamily="1"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000" dirty="0"/>
              <a:t>地址映射</a:t>
            </a:r>
            <a:endParaRPr lang="zh-CN" altLang="en-US" sz="2000" dirty="0"/>
          </a:p>
        </p:txBody>
      </p:sp>
      <p:sp>
        <p:nvSpPr>
          <p:cNvPr id="138243" name="Rectangle 3"/>
          <p:cNvSpPr>
            <a:spLocks noGrp="1"/>
          </p:cNvSpPr>
          <p:nvPr>
            <p:ph type="body" idx="4294967295"/>
          </p:nvPr>
        </p:nvSpPr>
        <p:spPr>
          <a:xfrm>
            <a:off x="685800" y="1828800"/>
            <a:ext cx="7391400" cy="4267200"/>
          </a:xfrm>
          <a:ln/>
        </p:spPr>
        <p:txBody>
          <a:bodyPr vert="horz" wrap="square" lIns="91440" tIns="45720" rIns="91440" bIns="45720" anchor="t" anchorCtr="0"/>
          <a:p>
            <a:pPr eaLnBrk="1" hangingPunct="1"/>
            <a:r>
              <a:rPr lang="zh-CN" altLang="zh-CN" sz="2800" b="1" dirty="0">
                <a:solidFill>
                  <a:schemeClr val="tx1"/>
                </a:solidFill>
              </a:rPr>
              <a:t>组相联映射方式</a:t>
            </a:r>
            <a:endParaRPr lang="zh-CN" altLang="zh-CN" sz="2800" b="1" dirty="0">
              <a:solidFill>
                <a:schemeClr val="tx1"/>
              </a:solidFill>
            </a:endParaRPr>
          </a:p>
        </p:txBody>
      </p:sp>
      <p:grpSp>
        <p:nvGrpSpPr>
          <p:cNvPr id="138244" name="Group 4"/>
          <p:cNvGrpSpPr/>
          <p:nvPr/>
        </p:nvGrpSpPr>
        <p:grpSpPr>
          <a:xfrm>
            <a:off x="684213" y="1816100"/>
            <a:ext cx="7777162" cy="4627563"/>
            <a:chOff x="0" y="0"/>
            <a:chExt cx="4293" cy="2915"/>
          </a:xfrm>
        </p:grpSpPr>
        <p:sp>
          <p:nvSpPr>
            <p:cNvPr id="138249" name="Text Box 5"/>
            <p:cNvSpPr txBox="1"/>
            <p:nvPr/>
          </p:nvSpPr>
          <p:spPr>
            <a:xfrm>
              <a:off x="1125" y="2640"/>
              <a:ext cx="1632" cy="275"/>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2000" dirty="0">
                  <a:solidFill>
                    <a:schemeClr val="tx1"/>
                  </a:solidFill>
                </a:rPr>
                <a:t>（c） 组相联映象</a:t>
              </a:r>
              <a:endParaRPr lang="zh-CN" altLang="en-US" sz="2000" dirty="0">
                <a:solidFill>
                  <a:schemeClr val="tx1"/>
                </a:solidFill>
              </a:endParaRPr>
            </a:p>
          </p:txBody>
        </p:sp>
        <p:sp>
          <p:nvSpPr>
            <p:cNvPr id="138250" name="Rectangle 6"/>
            <p:cNvSpPr/>
            <p:nvPr/>
          </p:nvSpPr>
          <p:spPr>
            <a:xfrm>
              <a:off x="3146" y="1471"/>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51" name="Text Box 7"/>
            <p:cNvSpPr txBox="1"/>
            <p:nvPr/>
          </p:nvSpPr>
          <p:spPr>
            <a:xfrm>
              <a:off x="3780" y="0"/>
              <a:ext cx="513" cy="240"/>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2000" dirty="0">
                  <a:solidFill>
                    <a:schemeClr val="tx1"/>
                  </a:solidFill>
                </a:rPr>
                <a:t>块号</a:t>
              </a:r>
              <a:endParaRPr lang="zh-CN" altLang="zh-CN" sz="2000" dirty="0">
                <a:solidFill>
                  <a:schemeClr val="tx1"/>
                </a:solidFill>
              </a:endParaRPr>
            </a:p>
          </p:txBody>
        </p:sp>
        <p:sp>
          <p:nvSpPr>
            <p:cNvPr id="138252" name="Text Box 8"/>
            <p:cNvSpPr txBox="1"/>
            <p:nvPr/>
          </p:nvSpPr>
          <p:spPr>
            <a:xfrm>
              <a:off x="0" y="541"/>
              <a:ext cx="705" cy="227"/>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2000" dirty="0">
                  <a:solidFill>
                    <a:schemeClr val="tx1"/>
                  </a:solidFill>
                </a:rPr>
                <a:t>块号</a:t>
              </a:r>
              <a:endParaRPr lang="zh-CN" altLang="zh-CN" sz="2000" dirty="0">
                <a:solidFill>
                  <a:schemeClr val="tx1"/>
                </a:solidFill>
              </a:endParaRPr>
            </a:p>
          </p:txBody>
        </p:sp>
        <p:sp>
          <p:nvSpPr>
            <p:cNvPr id="138253" name="Text Box 9"/>
            <p:cNvSpPr txBox="1"/>
            <p:nvPr/>
          </p:nvSpPr>
          <p:spPr>
            <a:xfrm>
              <a:off x="564" y="541"/>
              <a:ext cx="705" cy="227"/>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2000" dirty="0">
                  <a:solidFill>
                    <a:schemeClr val="tx1"/>
                  </a:solidFill>
                </a:rPr>
                <a:t>Cache</a:t>
              </a:r>
              <a:endParaRPr lang="zh-CN" altLang="en-US" sz="2000" dirty="0">
                <a:solidFill>
                  <a:schemeClr val="tx1"/>
                </a:solidFill>
              </a:endParaRPr>
            </a:p>
          </p:txBody>
        </p:sp>
        <p:sp>
          <p:nvSpPr>
            <p:cNvPr id="138254" name="Text Box 10"/>
            <p:cNvSpPr txBox="1"/>
            <p:nvPr/>
          </p:nvSpPr>
          <p:spPr>
            <a:xfrm>
              <a:off x="3146" y="0"/>
              <a:ext cx="705" cy="227"/>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zh-CN" sz="2000" dirty="0">
                  <a:solidFill>
                    <a:schemeClr val="tx1"/>
                  </a:solidFill>
                </a:rPr>
                <a:t>主存</a:t>
              </a:r>
              <a:endParaRPr lang="zh-CN" altLang="zh-CN" sz="2000" dirty="0">
                <a:solidFill>
                  <a:schemeClr val="tx1"/>
                </a:solidFill>
              </a:endParaRPr>
            </a:p>
          </p:txBody>
        </p:sp>
        <p:grpSp>
          <p:nvGrpSpPr>
            <p:cNvPr id="138255" name="Group 11"/>
            <p:cNvGrpSpPr/>
            <p:nvPr/>
          </p:nvGrpSpPr>
          <p:grpSpPr>
            <a:xfrm>
              <a:off x="114" y="827"/>
              <a:ext cx="2056" cy="1270"/>
              <a:chOff x="0" y="0"/>
              <a:chExt cx="2625" cy="2622"/>
            </a:xfrm>
          </p:grpSpPr>
          <p:grpSp>
            <p:nvGrpSpPr>
              <p:cNvPr id="138311" name="Group 12"/>
              <p:cNvGrpSpPr/>
              <p:nvPr/>
            </p:nvGrpSpPr>
            <p:grpSpPr>
              <a:xfrm>
                <a:off x="0" y="0"/>
                <a:ext cx="1440" cy="2622"/>
                <a:chOff x="0" y="0"/>
                <a:chExt cx="1440" cy="2622"/>
              </a:xfrm>
            </p:grpSpPr>
            <p:grpSp>
              <p:nvGrpSpPr>
                <p:cNvPr id="138325" name="Group 13"/>
                <p:cNvGrpSpPr/>
                <p:nvPr/>
              </p:nvGrpSpPr>
              <p:grpSpPr>
                <a:xfrm>
                  <a:off x="540" y="81"/>
                  <a:ext cx="900" cy="2472"/>
                  <a:chOff x="0" y="0"/>
                  <a:chExt cx="900" cy="2472"/>
                </a:xfrm>
              </p:grpSpPr>
              <p:sp>
                <p:nvSpPr>
                  <p:cNvPr id="138337" name="Rectangle 14"/>
                  <p:cNvSpPr/>
                  <p:nvPr/>
                </p:nvSpPr>
                <p:spPr>
                  <a:xfrm>
                    <a:off x="0" y="1235"/>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338" name="Rectangle 15"/>
                  <p:cNvSpPr/>
                  <p:nvPr/>
                </p:nvSpPr>
                <p:spPr>
                  <a:xfrm>
                    <a:off x="0" y="0"/>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339" name="Rectangle 16"/>
                  <p:cNvSpPr/>
                  <p:nvPr/>
                </p:nvSpPr>
                <p:spPr>
                  <a:xfrm>
                    <a:off x="0" y="306"/>
                    <a:ext cx="900" cy="31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340" name="Rectangle 17"/>
                  <p:cNvSpPr/>
                  <p:nvPr/>
                </p:nvSpPr>
                <p:spPr>
                  <a:xfrm>
                    <a:off x="0" y="616"/>
                    <a:ext cx="900" cy="309"/>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341" name="Rectangle 18"/>
                  <p:cNvSpPr/>
                  <p:nvPr/>
                </p:nvSpPr>
                <p:spPr>
                  <a:xfrm>
                    <a:off x="0" y="925"/>
                    <a:ext cx="900" cy="310"/>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342" name="Rectangle 19"/>
                  <p:cNvSpPr/>
                  <p:nvPr/>
                </p:nvSpPr>
                <p:spPr>
                  <a:xfrm>
                    <a:off x="0" y="1544"/>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343" name="Rectangle 20"/>
                  <p:cNvSpPr/>
                  <p:nvPr/>
                </p:nvSpPr>
                <p:spPr>
                  <a:xfrm>
                    <a:off x="0" y="1853"/>
                    <a:ext cx="900" cy="31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344" name="Rectangle 21"/>
                  <p:cNvSpPr/>
                  <p:nvPr/>
                </p:nvSpPr>
                <p:spPr>
                  <a:xfrm>
                    <a:off x="0" y="2163"/>
                    <a:ext cx="900" cy="309"/>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nvGrpSpPr>
                <p:cNvPr id="138326" name="Group 22"/>
                <p:cNvGrpSpPr/>
                <p:nvPr/>
              </p:nvGrpSpPr>
              <p:grpSpPr>
                <a:xfrm>
                  <a:off x="0" y="0"/>
                  <a:ext cx="540" cy="2622"/>
                  <a:chOff x="0" y="0"/>
                  <a:chExt cx="540" cy="2682"/>
                </a:xfrm>
              </p:grpSpPr>
              <p:grpSp>
                <p:nvGrpSpPr>
                  <p:cNvPr id="138327" name="Group 23"/>
                  <p:cNvGrpSpPr/>
                  <p:nvPr/>
                </p:nvGrpSpPr>
                <p:grpSpPr>
                  <a:xfrm>
                    <a:off x="0" y="0"/>
                    <a:ext cx="540" cy="2361"/>
                    <a:chOff x="0" y="0"/>
                    <a:chExt cx="540" cy="2361"/>
                  </a:xfrm>
                </p:grpSpPr>
                <p:sp>
                  <p:nvSpPr>
                    <p:cNvPr id="138333" name="Text Box 24"/>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0</a:t>
                      </a:r>
                      <a:endParaRPr lang="zh-CN" altLang="en-US" sz="1600" dirty="0">
                        <a:solidFill>
                          <a:schemeClr val="tx1"/>
                        </a:solidFill>
                      </a:endParaRPr>
                    </a:p>
                  </p:txBody>
                </p:sp>
                <p:sp>
                  <p:nvSpPr>
                    <p:cNvPr id="138334" name="Text Box 25"/>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2</a:t>
                      </a:r>
                      <a:endParaRPr lang="zh-CN" altLang="en-US" sz="1600" dirty="0">
                        <a:solidFill>
                          <a:schemeClr val="tx1"/>
                        </a:solidFill>
                      </a:endParaRPr>
                    </a:p>
                  </p:txBody>
                </p:sp>
                <p:sp>
                  <p:nvSpPr>
                    <p:cNvPr id="138335" name="Text Box 26"/>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4</a:t>
                      </a:r>
                      <a:endParaRPr lang="zh-CN" altLang="en-US" sz="1600" dirty="0">
                        <a:solidFill>
                          <a:schemeClr val="tx1"/>
                        </a:solidFill>
                      </a:endParaRPr>
                    </a:p>
                  </p:txBody>
                </p:sp>
                <p:sp>
                  <p:nvSpPr>
                    <p:cNvPr id="138336" name="Text Box 27"/>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6</a:t>
                      </a:r>
                      <a:endParaRPr lang="zh-CN" altLang="en-US" sz="1600" dirty="0">
                        <a:solidFill>
                          <a:schemeClr val="tx1"/>
                        </a:solidFill>
                      </a:endParaRPr>
                    </a:p>
                  </p:txBody>
                </p:sp>
              </p:grpSp>
              <p:grpSp>
                <p:nvGrpSpPr>
                  <p:cNvPr id="138328" name="Group 28"/>
                  <p:cNvGrpSpPr/>
                  <p:nvPr/>
                </p:nvGrpSpPr>
                <p:grpSpPr>
                  <a:xfrm>
                    <a:off x="0" y="312"/>
                    <a:ext cx="540" cy="2370"/>
                    <a:chOff x="0" y="0"/>
                    <a:chExt cx="540" cy="2370"/>
                  </a:xfrm>
                </p:grpSpPr>
                <p:sp>
                  <p:nvSpPr>
                    <p:cNvPr id="138329" name="Text Box 29"/>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3</a:t>
                      </a:r>
                      <a:endParaRPr lang="zh-CN" altLang="en-US" sz="1600" dirty="0">
                        <a:solidFill>
                          <a:schemeClr val="tx1"/>
                        </a:solidFill>
                      </a:endParaRPr>
                    </a:p>
                  </p:txBody>
                </p:sp>
                <p:sp>
                  <p:nvSpPr>
                    <p:cNvPr id="138330" name="Text Box 30"/>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a:t>
                      </a:r>
                      <a:endParaRPr lang="zh-CN" altLang="en-US" sz="1600" dirty="0">
                        <a:solidFill>
                          <a:schemeClr val="tx1"/>
                        </a:solidFill>
                      </a:endParaRPr>
                    </a:p>
                  </p:txBody>
                </p:sp>
                <p:sp>
                  <p:nvSpPr>
                    <p:cNvPr id="138331" name="Text Box 31"/>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5</a:t>
                      </a:r>
                      <a:endParaRPr lang="zh-CN" altLang="en-US" sz="1600" dirty="0">
                        <a:solidFill>
                          <a:schemeClr val="tx1"/>
                        </a:solidFill>
                      </a:endParaRPr>
                    </a:p>
                  </p:txBody>
                </p:sp>
                <p:sp>
                  <p:nvSpPr>
                    <p:cNvPr id="138332" name="Text Box 32"/>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7</a:t>
                      </a:r>
                      <a:endParaRPr lang="zh-CN" altLang="en-US" sz="1600" dirty="0">
                        <a:solidFill>
                          <a:schemeClr val="tx1"/>
                        </a:solidFill>
                      </a:endParaRPr>
                    </a:p>
                  </p:txBody>
                </p:sp>
              </p:grpSp>
            </p:grpSp>
          </p:grpSp>
          <p:grpSp>
            <p:nvGrpSpPr>
              <p:cNvPr id="138312" name="Group 33"/>
              <p:cNvGrpSpPr/>
              <p:nvPr/>
            </p:nvGrpSpPr>
            <p:grpSpPr>
              <a:xfrm>
                <a:off x="1500" y="81"/>
                <a:ext cx="1125" cy="2496"/>
                <a:chOff x="0" y="0"/>
                <a:chExt cx="1125" cy="2496"/>
              </a:xfrm>
            </p:grpSpPr>
            <p:grpSp>
              <p:nvGrpSpPr>
                <p:cNvPr id="138313" name="Group 34"/>
                <p:cNvGrpSpPr/>
                <p:nvPr/>
              </p:nvGrpSpPr>
              <p:grpSpPr>
                <a:xfrm>
                  <a:off x="0" y="0"/>
                  <a:ext cx="1125" cy="624"/>
                  <a:chOff x="0" y="0"/>
                  <a:chExt cx="1125" cy="624"/>
                </a:xfrm>
              </p:grpSpPr>
              <p:sp>
                <p:nvSpPr>
                  <p:cNvPr id="138323" name="Text Box 35"/>
                  <p:cNvSpPr txBox="1"/>
                  <p:nvPr/>
                </p:nvSpPr>
                <p:spPr>
                  <a:xfrm>
                    <a:off x="45" y="60"/>
                    <a:ext cx="108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第0组</a:t>
                    </a:r>
                    <a:endParaRPr lang="zh-CN" altLang="en-US" sz="1600" dirty="0">
                      <a:solidFill>
                        <a:schemeClr val="tx1"/>
                      </a:solidFill>
                    </a:endParaRPr>
                  </a:p>
                </p:txBody>
              </p:sp>
              <p:sp>
                <p:nvSpPr>
                  <p:cNvPr id="138324" name="AutoShape 36"/>
                  <p:cNvSpPr/>
                  <p:nvPr/>
                </p:nvSpPr>
                <p:spPr>
                  <a:xfrm>
                    <a:off x="0" y="0"/>
                    <a:ext cx="180" cy="624"/>
                  </a:xfrm>
                  <a:prstGeom prst="rightBrace">
                    <a:avLst>
                      <a:gd name="adj1" fmla="val 28888"/>
                      <a:gd name="adj2" fmla="val 50000"/>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nvGrpSpPr>
                <p:cNvPr id="138314" name="Group 37"/>
                <p:cNvGrpSpPr/>
                <p:nvPr/>
              </p:nvGrpSpPr>
              <p:grpSpPr>
                <a:xfrm>
                  <a:off x="0" y="624"/>
                  <a:ext cx="1125" cy="624"/>
                  <a:chOff x="0" y="0"/>
                  <a:chExt cx="1125" cy="624"/>
                </a:xfrm>
              </p:grpSpPr>
              <p:sp>
                <p:nvSpPr>
                  <p:cNvPr id="138321" name="Text Box 38"/>
                  <p:cNvSpPr txBox="1"/>
                  <p:nvPr/>
                </p:nvSpPr>
                <p:spPr>
                  <a:xfrm>
                    <a:off x="45" y="60"/>
                    <a:ext cx="108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第1组</a:t>
                    </a:r>
                    <a:endParaRPr lang="zh-CN" altLang="en-US" sz="1600" dirty="0">
                      <a:solidFill>
                        <a:schemeClr val="tx1"/>
                      </a:solidFill>
                    </a:endParaRPr>
                  </a:p>
                </p:txBody>
              </p:sp>
              <p:sp>
                <p:nvSpPr>
                  <p:cNvPr id="138322" name="AutoShape 39"/>
                  <p:cNvSpPr/>
                  <p:nvPr/>
                </p:nvSpPr>
                <p:spPr>
                  <a:xfrm>
                    <a:off x="0" y="0"/>
                    <a:ext cx="180" cy="624"/>
                  </a:xfrm>
                  <a:prstGeom prst="rightBrace">
                    <a:avLst>
                      <a:gd name="adj1" fmla="val 28888"/>
                      <a:gd name="adj2" fmla="val 50000"/>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nvGrpSpPr>
                <p:cNvPr id="138315" name="Group 40"/>
                <p:cNvGrpSpPr/>
                <p:nvPr/>
              </p:nvGrpSpPr>
              <p:grpSpPr>
                <a:xfrm>
                  <a:off x="0" y="1248"/>
                  <a:ext cx="1125" cy="624"/>
                  <a:chOff x="0" y="0"/>
                  <a:chExt cx="1125" cy="624"/>
                </a:xfrm>
              </p:grpSpPr>
              <p:sp>
                <p:nvSpPr>
                  <p:cNvPr id="138319" name="Text Box 41"/>
                  <p:cNvSpPr txBox="1"/>
                  <p:nvPr/>
                </p:nvSpPr>
                <p:spPr>
                  <a:xfrm>
                    <a:off x="45" y="60"/>
                    <a:ext cx="108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第2组</a:t>
                    </a:r>
                    <a:endParaRPr lang="zh-CN" altLang="en-US" sz="1600" dirty="0">
                      <a:solidFill>
                        <a:schemeClr val="tx1"/>
                      </a:solidFill>
                    </a:endParaRPr>
                  </a:p>
                </p:txBody>
              </p:sp>
              <p:sp>
                <p:nvSpPr>
                  <p:cNvPr id="138320" name="AutoShape 42"/>
                  <p:cNvSpPr/>
                  <p:nvPr/>
                </p:nvSpPr>
                <p:spPr>
                  <a:xfrm>
                    <a:off x="0" y="0"/>
                    <a:ext cx="180" cy="624"/>
                  </a:xfrm>
                  <a:prstGeom prst="rightBrace">
                    <a:avLst>
                      <a:gd name="adj1" fmla="val 28888"/>
                      <a:gd name="adj2" fmla="val 50000"/>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nvGrpSpPr>
                <p:cNvPr id="138316" name="Group 43"/>
                <p:cNvGrpSpPr/>
                <p:nvPr/>
              </p:nvGrpSpPr>
              <p:grpSpPr>
                <a:xfrm>
                  <a:off x="0" y="1872"/>
                  <a:ext cx="1125" cy="624"/>
                  <a:chOff x="0" y="0"/>
                  <a:chExt cx="1125" cy="624"/>
                </a:xfrm>
              </p:grpSpPr>
              <p:sp>
                <p:nvSpPr>
                  <p:cNvPr id="138317" name="Text Box 44"/>
                  <p:cNvSpPr txBox="1"/>
                  <p:nvPr/>
                </p:nvSpPr>
                <p:spPr>
                  <a:xfrm>
                    <a:off x="45" y="60"/>
                    <a:ext cx="108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第3组</a:t>
                    </a:r>
                    <a:endParaRPr lang="zh-CN" altLang="en-US" sz="1600" dirty="0">
                      <a:solidFill>
                        <a:schemeClr val="tx1"/>
                      </a:solidFill>
                    </a:endParaRPr>
                  </a:p>
                </p:txBody>
              </p:sp>
              <p:sp>
                <p:nvSpPr>
                  <p:cNvPr id="138318" name="AutoShape 45"/>
                  <p:cNvSpPr/>
                  <p:nvPr/>
                </p:nvSpPr>
                <p:spPr>
                  <a:xfrm>
                    <a:off x="0" y="0"/>
                    <a:ext cx="180" cy="624"/>
                  </a:xfrm>
                  <a:prstGeom prst="rightBrace">
                    <a:avLst>
                      <a:gd name="adj1" fmla="val 28888"/>
                      <a:gd name="adj2" fmla="val 50000"/>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grpSp>
        </p:grpSp>
        <p:sp>
          <p:nvSpPr>
            <p:cNvPr id="138256" name="Rectangle 46"/>
            <p:cNvSpPr/>
            <p:nvPr/>
          </p:nvSpPr>
          <p:spPr>
            <a:xfrm>
              <a:off x="3146" y="2074"/>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57" name="Rectangle 47"/>
            <p:cNvSpPr/>
            <p:nvPr/>
          </p:nvSpPr>
          <p:spPr>
            <a:xfrm>
              <a:off x="3146" y="1620"/>
              <a:ext cx="705" cy="151"/>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58" name="Rectangle 48"/>
            <p:cNvSpPr/>
            <p:nvPr/>
          </p:nvSpPr>
          <p:spPr>
            <a:xfrm>
              <a:off x="3146" y="1771"/>
              <a:ext cx="705" cy="15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59" name="Rectangle 49"/>
            <p:cNvSpPr/>
            <p:nvPr/>
          </p:nvSpPr>
          <p:spPr>
            <a:xfrm>
              <a:off x="3146" y="1923"/>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0" name="Rectangle 50"/>
            <p:cNvSpPr/>
            <p:nvPr/>
          </p:nvSpPr>
          <p:spPr>
            <a:xfrm>
              <a:off x="3146" y="2225"/>
              <a:ext cx="705" cy="151"/>
            </a:xfrm>
            <a:prstGeom prst="rect">
              <a:avLst/>
            </a:prstGeom>
            <a:solidFill>
              <a:schemeClr val="bg1"/>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1" name="Rectangle 51"/>
            <p:cNvSpPr/>
            <p:nvPr/>
          </p:nvSpPr>
          <p:spPr>
            <a:xfrm>
              <a:off x="3146" y="2376"/>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2" name="Rectangle 52"/>
            <p:cNvSpPr/>
            <p:nvPr/>
          </p:nvSpPr>
          <p:spPr>
            <a:xfrm>
              <a:off x="3146" y="2527"/>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3" name="Rectangle 53"/>
            <p:cNvSpPr/>
            <p:nvPr/>
          </p:nvSpPr>
          <p:spPr>
            <a:xfrm>
              <a:off x="3146" y="865"/>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4" name="Rectangle 54"/>
            <p:cNvSpPr/>
            <p:nvPr/>
          </p:nvSpPr>
          <p:spPr>
            <a:xfrm>
              <a:off x="3146" y="262"/>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5" name="Rectangle 55"/>
            <p:cNvSpPr/>
            <p:nvPr/>
          </p:nvSpPr>
          <p:spPr>
            <a:xfrm>
              <a:off x="3146" y="412"/>
              <a:ext cx="705" cy="151"/>
            </a:xfrm>
            <a:prstGeom prst="rect">
              <a:avLst/>
            </a:prstGeom>
            <a:solidFill>
              <a:schemeClr val="bg1"/>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6" name="Rectangle 56"/>
            <p:cNvSpPr/>
            <p:nvPr/>
          </p:nvSpPr>
          <p:spPr>
            <a:xfrm>
              <a:off x="3146" y="563"/>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7" name="Rectangle 57"/>
            <p:cNvSpPr/>
            <p:nvPr/>
          </p:nvSpPr>
          <p:spPr>
            <a:xfrm>
              <a:off x="3146" y="714"/>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8" name="Rectangle 58"/>
            <p:cNvSpPr/>
            <p:nvPr/>
          </p:nvSpPr>
          <p:spPr>
            <a:xfrm>
              <a:off x="3146" y="1016"/>
              <a:ext cx="705" cy="151"/>
            </a:xfrm>
            <a:prstGeom prst="rect">
              <a:avLst/>
            </a:prstGeom>
            <a:solidFill>
              <a:schemeClr val="bg1"/>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69" name="Rectangle 59"/>
            <p:cNvSpPr/>
            <p:nvPr/>
          </p:nvSpPr>
          <p:spPr>
            <a:xfrm>
              <a:off x="3146" y="1167"/>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70" name="Rectangle 60"/>
            <p:cNvSpPr/>
            <p:nvPr/>
          </p:nvSpPr>
          <p:spPr>
            <a:xfrm>
              <a:off x="3146" y="1318"/>
              <a:ext cx="705" cy="151"/>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grpSp>
          <p:nvGrpSpPr>
            <p:cNvPr id="138271" name="Group 61"/>
            <p:cNvGrpSpPr/>
            <p:nvPr/>
          </p:nvGrpSpPr>
          <p:grpSpPr>
            <a:xfrm>
              <a:off x="3851" y="218"/>
              <a:ext cx="423" cy="2530"/>
              <a:chOff x="0" y="0"/>
              <a:chExt cx="540" cy="5223"/>
            </a:xfrm>
          </p:grpSpPr>
          <p:grpSp>
            <p:nvGrpSpPr>
              <p:cNvPr id="138289" name="Group 62"/>
              <p:cNvGrpSpPr/>
              <p:nvPr/>
            </p:nvGrpSpPr>
            <p:grpSpPr>
              <a:xfrm>
                <a:off x="0" y="0"/>
                <a:ext cx="540" cy="2682"/>
                <a:chOff x="0" y="0"/>
                <a:chExt cx="540" cy="2682"/>
              </a:xfrm>
            </p:grpSpPr>
            <p:grpSp>
              <p:nvGrpSpPr>
                <p:cNvPr id="138301" name="Group 63"/>
                <p:cNvGrpSpPr/>
                <p:nvPr/>
              </p:nvGrpSpPr>
              <p:grpSpPr>
                <a:xfrm>
                  <a:off x="0" y="0"/>
                  <a:ext cx="540" cy="2361"/>
                  <a:chOff x="0" y="0"/>
                  <a:chExt cx="540" cy="2361"/>
                </a:xfrm>
              </p:grpSpPr>
              <p:sp>
                <p:nvSpPr>
                  <p:cNvPr id="138307" name="Text Box 64"/>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0</a:t>
                    </a:r>
                    <a:endParaRPr lang="zh-CN" altLang="en-US" sz="1600" dirty="0">
                      <a:solidFill>
                        <a:schemeClr val="tx1"/>
                      </a:solidFill>
                    </a:endParaRPr>
                  </a:p>
                </p:txBody>
              </p:sp>
              <p:sp>
                <p:nvSpPr>
                  <p:cNvPr id="138308" name="Text Box 65"/>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2</a:t>
                    </a:r>
                    <a:endParaRPr lang="zh-CN" altLang="en-US" sz="1600" dirty="0">
                      <a:solidFill>
                        <a:schemeClr val="tx1"/>
                      </a:solidFill>
                    </a:endParaRPr>
                  </a:p>
                </p:txBody>
              </p:sp>
              <p:sp>
                <p:nvSpPr>
                  <p:cNvPr id="138309" name="Text Box 66"/>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4</a:t>
                    </a:r>
                    <a:endParaRPr lang="zh-CN" altLang="en-US" sz="1600" dirty="0">
                      <a:solidFill>
                        <a:schemeClr val="tx1"/>
                      </a:solidFill>
                    </a:endParaRPr>
                  </a:p>
                </p:txBody>
              </p:sp>
              <p:sp>
                <p:nvSpPr>
                  <p:cNvPr id="138310" name="Text Box 67"/>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6</a:t>
                    </a:r>
                    <a:endParaRPr lang="zh-CN" altLang="en-US" sz="1600" dirty="0">
                      <a:solidFill>
                        <a:schemeClr val="tx1"/>
                      </a:solidFill>
                    </a:endParaRPr>
                  </a:p>
                </p:txBody>
              </p:sp>
            </p:grpSp>
            <p:grpSp>
              <p:nvGrpSpPr>
                <p:cNvPr id="138302" name="Group 68"/>
                <p:cNvGrpSpPr/>
                <p:nvPr/>
              </p:nvGrpSpPr>
              <p:grpSpPr>
                <a:xfrm>
                  <a:off x="0" y="312"/>
                  <a:ext cx="540" cy="2370"/>
                  <a:chOff x="0" y="0"/>
                  <a:chExt cx="540" cy="2370"/>
                </a:xfrm>
              </p:grpSpPr>
              <p:sp>
                <p:nvSpPr>
                  <p:cNvPr id="138303" name="Text Box 69"/>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3</a:t>
                    </a:r>
                    <a:endParaRPr lang="zh-CN" altLang="en-US" sz="1600" dirty="0">
                      <a:solidFill>
                        <a:schemeClr val="tx1"/>
                      </a:solidFill>
                    </a:endParaRPr>
                  </a:p>
                </p:txBody>
              </p:sp>
              <p:sp>
                <p:nvSpPr>
                  <p:cNvPr id="138304" name="Text Box 70"/>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a:t>
                    </a:r>
                    <a:endParaRPr lang="zh-CN" altLang="en-US" sz="1600" dirty="0">
                      <a:solidFill>
                        <a:schemeClr val="tx1"/>
                      </a:solidFill>
                    </a:endParaRPr>
                  </a:p>
                </p:txBody>
              </p:sp>
              <p:sp>
                <p:nvSpPr>
                  <p:cNvPr id="138305" name="Text Box 71"/>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5</a:t>
                    </a:r>
                    <a:endParaRPr lang="zh-CN" altLang="en-US" sz="1600" dirty="0">
                      <a:solidFill>
                        <a:schemeClr val="tx1"/>
                      </a:solidFill>
                    </a:endParaRPr>
                  </a:p>
                </p:txBody>
              </p:sp>
              <p:sp>
                <p:nvSpPr>
                  <p:cNvPr id="138306" name="Text Box 72"/>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7</a:t>
                    </a:r>
                    <a:endParaRPr lang="zh-CN" altLang="en-US" sz="1600" dirty="0">
                      <a:solidFill>
                        <a:schemeClr val="tx1"/>
                      </a:solidFill>
                    </a:endParaRPr>
                  </a:p>
                </p:txBody>
              </p:sp>
            </p:grpSp>
          </p:grpSp>
          <p:grpSp>
            <p:nvGrpSpPr>
              <p:cNvPr id="138290" name="Group 73"/>
              <p:cNvGrpSpPr/>
              <p:nvPr/>
            </p:nvGrpSpPr>
            <p:grpSpPr>
              <a:xfrm>
                <a:off x="0" y="2541"/>
                <a:ext cx="540" cy="2682"/>
                <a:chOff x="0" y="0"/>
                <a:chExt cx="540" cy="2682"/>
              </a:xfrm>
            </p:grpSpPr>
            <p:grpSp>
              <p:nvGrpSpPr>
                <p:cNvPr id="138291" name="Group 74"/>
                <p:cNvGrpSpPr/>
                <p:nvPr/>
              </p:nvGrpSpPr>
              <p:grpSpPr>
                <a:xfrm>
                  <a:off x="0" y="0"/>
                  <a:ext cx="540" cy="2361"/>
                  <a:chOff x="0" y="0"/>
                  <a:chExt cx="540" cy="2361"/>
                </a:xfrm>
              </p:grpSpPr>
              <p:sp>
                <p:nvSpPr>
                  <p:cNvPr id="138297" name="Text Box 75"/>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8</a:t>
                    </a:r>
                    <a:endParaRPr lang="zh-CN" altLang="en-US" sz="1600" dirty="0">
                      <a:solidFill>
                        <a:schemeClr val="tx1"/>
                      </a:solidFill>
                    </a:endParaRPr>
                  </a:p>
                </p:txBody>
              </p:sp>
              <p:sp>
                <p:nvSpPr>
                  <p:cNvPr id="138298" name="Text Box 76"/>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10</a:t>
                    </a:r>
                    <a:endParaRPr lang="zh-CN" altLang="en-US" sz="1600" dirty="0">
                      <a:solidFill>
                        <a:schemeClr val="tx1"/>
                      </a:solidFill>
                    </a:endParaRPr>
                  </a:p>
                </p:txBody>
              </p:sp>
              <p:sp>
                <p:nvSpPr>
                  <p:cNvPr id="138299" name="Text Box 77"/>
                  <p:cNvSpPr txBox="1"/>
                  <p:nvPr/>
                </p:nvSpPr>
                <p:spPr>
                  <a:xfrm>
                    <a:off x="0" y="126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12</a:t>
                    </a:r>
                    <a:endParaRPr lang="zh-CN" altLang="en-US" sz="1600" dirty="0">
                      <a:solidFill>
                        <a:schemeClr val="tx1"/>
                      </a:solidFill>
                    </a:endParaRPr>
                  </a:p>
                </p:txBody>
              </p:sp>
              <p:sp>
                <p:nvSpPr>
                  <p:cNvPr id="138300" name="Text Box 78"/>
                  <p:cNvSpPr txBox="1"/>
                  <p:nvPr/>
                </p:nvSpPr>
                <p:spPr>
                  <a:xfrm>
                    <a:off x="0" y="1893"/>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14</a:t>
                    </a:r>
                    <a:endParaRPr lang="zh-CN" altLang="en-US" sz="1600" dirty="0">
                      <a:solidFill>
                        <a:schemeClr val="tx1"/>
                      </a:solidFill>
                    </a:endParaRPr>
                  </a:p>
                </p:txBody>
              </p:sp>
            </p:grpSp>
            <p:grpSp>
              <p:nvGrpSpPr>
                <p:cNvPr id="138292" name="Group 79"/>
                <p:cNvGrpSpPr/>
                <p:nvPr/>
              </p:nvGrpSpPr>
              <p:grpSpPr>
                <a:xfrm>
                  <a:off x="0" y="312"/>
                  <a:ext cx="540" cy="2370"/>
                  <a:chOff x="0" y="0"/>
                  <a:chExt cx="540" cy="2370"/>
                </a:xfrm>
              </p:grpSpPr>
              <p:sp>
                <p:nvSpPr>
                  <p:cNvPr id="138293" name="Text Box 80"/>
                  <p:cNvSpPr txBox="1"/>
                  <p:nvPr/>
                </p:nvSpPr>
                <p:spPr>
                  <a:xfrm>
                    <a:off x="0" y="63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11</a:t>
                    </a:r>
                    <a:endParaRPr lang="zh-CN" altLang="en-US" sz="1600" dirty="0">
                      <a:solidFill>
                        <a:schemeClr val="tx1"/>
                      </a:solidFill>
                    </a:endParaRPr>
                  </a:p>
                </p:txBody>
              </p:sp>
              <p:sp>
                <p:nvSpPr>
                  <p:cNvPr id="138294" name="Text Box 81"/>
                  <p:cNvSpPr txBox="1"/>
                  <p:nvPr/>
                </p:nvSpPr>
                <p:spPr>
                  <a:xfrm>
                    <a:off x="0" y="0"/>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9</a:t>
                    </a:r>
                    <a:endParaRPr lang="zh-CN" altLang="en-US" sz="1600" dirty="0">
                      <a:solidFill>
                        <a:schemeClr val="tx1"/>
                      </a:solidFill>
                    </a:endParaRPr>
                  </a:p>
                </p:txBody>
              </p:sp>
              <p:sp>
                <p:nvSpPr>
                  <p:cNvPr id="138295" name="Text Box 82"/>
                  <p:cNvSpPr txBox="1"/>
                  <p:nvPr/>
                </p:nvSpPr>
                <p:spPr>
                  <a:xfrm>
                    <a:off x="0" y="1269"/>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13</a:t>
                    </a:r>
                    <a:endParaRPr lang="zh-CN" altLang="en-US" sz="1600" dirty="0">
                      <a:solidFill>
                        <a:schemeClr val="tx1"/>
                      </a:solidFill>
                    </a:endParaRPr>
                  </a:p>
                </p:txBody>
              </p:sp>
              <p:sp>
                <p:nvSpPr>
                  <p:cNvPr id="138296" name="Text Box 83"/>
                  <p:cNvSpPr txBox="1"/>
                  <p:nvPr/>
                </p:nvSpPr>
                <p:spPr>
                  <a:xfrm>
                    <a:off x="0" y="1902"/>
                    <a:ext cx="540"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just">
                      <a:spcBef>
                        <a:spcPct val="0"/>
                      </a:spcBef>
                      <a:buNone/>
                    </a:pPr>
                    <a:r>
                      <a:rPr lang="zh-CN" altLang="en-US" sz="1600" dirty="0">
                        <a:solidFill>
                          <a:schemeClr val="tx1"/>
                        </a:solidFill>
                      </a:rPr>
                      <a:t>15</a:t>
                    </a:r>
                    <a:endParaRPr lang="zh-CN" altLang="en-US" sz="1600" dirty="0">
                      <a:solidFill>
                        <a:schemeClr val="tx1"/>
                      </a:solidFill>
                    </a:endParaRPr>
                  </a:p>
                </p:txBody>
              </p:sp>
            </p:grpSp>
          </p:grpSp>
        </p:grpSp>
        <p:grpSp>
          <p:nvGrpSpPr>
            <p:cNvPr id="138272" name="Group 84"/>
            <p:cNvGrpSpPr/>
            <p:nvPr/>
          </p:nvGrpSpPr>
          <p:grpSpPr>
            <a:xfrm>
              <a:off x="2006" y="315"/>
              <a:ext cx="1152" cy="2289"/>
              <a:chOff x="0" y="0"/>
              <a:chExt cx="1470" cy="4725"/>
            </a:xfrm>
          </p:grpSpPr>
          <p:sp>
            <p:nvSpPr>
              <p:cNvPr id="138273" name="Line 85"/>
              <p:cNvSpPr/>
              <p:nvPr/>
            </p:nvSpPr>
            <p:spPr>
              <a:xfrm flipH="1">
                <a:off x="30" y="0"/>
                <a:ext cx="1440" cy="1404"/>
              </a:xfrm>
              <a:prstGeom prst="line">
                <a:avLst/>
              </a:prstGeom>
              <a:ln w="12700" cap="flat" cmpd="sng">
                <a:solidFill>
                  <a:srgbClr val="000000"/>
                </a:solidFill>
                <a:prstDash val="dash"/>
                <a:headEnd type="none" w="med" len="med"/>
                <a:tailEnd type="triangle" w="sm" len="lg"/>
              </a:ln>
            </p:spPr>
          </p:sp>
          <p:sp>
            <p:nvSpPr>
              <p:cNvPr id="138274" name="Line 86"/>
              <p:cNvSpPr/>
              <p:nvPr/>
            </p:nvSpPr>
            <p:spPr>
              <a:xfrm flipH="1">
                <a:off x="15" y="312"/>
                <a:ext cx="1440" cy="1716"/>
              </a:xfrm>
              <a:prstGeom prst="line">
                <a:avLst/>
              </a:prstGeom>
              <a:ln w="12700" cap="flat" cmpd="sng">
                <a:solidFill>
                  <a:srgbClr val="000000"/>
                </a:solidFill>
                <a:prstDash val="dash"/>
                <a:headEnd type="none" w="med" len="med"/>
                <a:tailEnd type="triangle" w="sm" len="lg"/>
              </a:ln>
            </p:spPr>
          </p:sp>
          <p:sp>
            <p:nvSpPr>
              <p:cNvPr id="138275" name="Line 87"/>
              <p:cNvSpPr/>
              <p:nvPr/>
            </p:nvSpPr>
            <p:spPr>
              <a:xfrm flipH="1">
                <a:off x="0" y="639"/>
                <a:ext cx="1440" cy="2028"/>
              </a:xfrm>
              <a:prstGeom prst="line">
                <a:avLst/>
              </a:prstGeom>
              <a:ln w="12700" cap="flat" cmpd="sng">
                <a:solidFill>
                  <a:srgbClr val="000000"/>
                </a:solidFill>
                <a:prstDash val="dash"/>
                <a:headEnd type="none" w="med" len="med"/>
                <a:tailEnd type="triangle" w="sm" len="lg"/>
              </a:ln>
            </p:spPr>
          </p:sp>
          <p:sp>
            <p:nvSpPr>
              <p:cNvPr id="138276" name="Line 88"/>
              <p:cNvSpPr/>
              <p:nvPr/>
            </p:nvSpPr>
            <p:spPr>
              <a:xfrm flipH="1">
                <a:off x="15" y="981"/>
                <a:ext cx="1440" cy="2340"/>
              </a:xfrm>
              <a:prstGeom prst="line">
                <a:avLst/>
              </a:prstGeom>
              <a:ln w="12700" cap="flat" cmpd="sng">
                <a:solidFill>
                  <a:srgbClr val="000000"/>
                </a:solidFill>
                <a:prstDash val="dash"/>
                <a:headEnd type="none" w="med" len="med"/>
                <a:tailEnd type="triangle" w="sm" len="lg"/>
              </a:ln>
            </p:spPr>
          </p:sp>
          <p:sp>
            <p:nvSpPr>
              <p:cNvPr id="138277" name="Line 89"/>
              <p:cNvSpPr/>
              <p:nvPr/>
            </p:nvSpPr>
            <p:spPr>
              <a:xfrm flipH="1">
                <a:off x="15" y="1605"/>
                <a:ext cx="1440" cy="468"/>
              </a:xfrm>
              <a:prstGeom prst="line">
                <a:avLst/>
              </a:prstGeom>
              <a:ln w="12700" cap="flat" cmpd="sng">
                <a:solidFill>
                  <a:srgbClr val="000000"/>
                </a:solidFill>
                <a:prstDash val="dash"/>
                <a:headEnd type="none" w="med" len="med"/>
                <a:tailEnd type="triangle" w="sm" len="lg"/>
              </a:ln>
            </p:spPr>
          </p:sp>
          <p:sp>
            <p:nvSpPr>
              <p:cNvPr id="138278" name="Line 90"/>
              <p:cNvSpPr/>
              <p:nvPr/>
            </p:nvSpPr>
            <p:spPr>
              <a:xfrm flipH="1">
                <a:off x="15" y="1917"/>
                <a:ext cx="1440" cy="832"/>
              </a:xfrm>
              <a:prstGeom prst="line">
                <a:avLst/>
              </a:prstGeom>
              <a:ln w="12700" cap="flat" cmpd="sng">
                <a:solidFill>
                  <a:srgbClr val="000000"/>
                </a:solidFill>
                <a:prstDash val="dash"/>
                <a:headEnd type="none" w="med" len="med"/>
                <a:tailEnd type="triangle" w="sm" len="lg"/>
              </a:ln>
            </p:spPr>
          </p:sp>
          <p:sp>
            <p:nvSpPr>
              <p:cNvPr id="138279" name="Line 91"/>
              <p:cNvSpPr/>
              <p:nvPr/>
            </p:nvSpPr>
            <p:spPr>
              <a:xfrm flipH="1">
                <a:off x="30" y="2259"/>
                <a:ext cx="1440" cy="1092"/>
              </a:xfrm>
              <a:prstGeom prst="line">
                <a:avLst/>
              </a:prstGeom>
              <a:ln w="12700" cap="flat" cmpd="sng">
                <a:solidFill>
                  <a:srgbClr val="000000"/>
                </a:solidFill>
                <a:prstDash val="dash"/>
                <a:headEnd type="none" w="med" len="med"/>
                <a:tailEnd type="triangle" w="sm" len="lg"/>
              </a:ln>
            </p:spPr>
          </p:sp>
          <p:sp>
            <p:nvSpPr>
              <p:cNvPr id="138280" name="Line 92"/>
              <p:cNvSpPr/>
              <p:nvPr/>
            </p:nvSpPr>
            <p:spPr>
              <a:xfrm flipH="1" flipV="1">
                <a:off x="15" y="1419"/>
                <a:ext cx="1440" cy="1092"/>
              </a:xfrm>
              <a:prstGeom prst="line">
                <a:avLst/>
              </a:prstGeom>
              <a:ln w="12700" cap="flat" cmpd="sng">
                <a:solidFill>
                  <a:srgbClr val="000000"/>
                </a:solidFill>
                <a:prstDash val="dash"/>
                <a:headEnd type="none" w="med" len="med"/>
                <a:tailEnd type="triangle" w="sm" len="lg"/>
              </a:ln>
            </p:spPr>
          </p:sp>
          <p:sp>
            <p:nvSpPr>
              <p:cNvPr id="138281" name="Line 93"/>
              <p:cNvSpPr/>
              <p:nvPr/>
            </p:nvSpPr>
            <p:spPr>
              <a:xfrm flipH="1" flipV="1">
                <a:off x="15" y="2043"/>
                <a:ext cx="1440" cy="780"/>
              </a:xfrm>
              <a:prstGeom prst="line">
                <a:avLst/>
              </a:prstGeom>
              <a:ln w="12700" cap="flat" cmpd="sng">
                <a:solidFill>
                  <a:srgbClr val="000000"/>
                </a:solidFill>
                <a:prstDash val="solid"/>
                <a:headEnd type="none" w="med" len="med"/>
                <a:tailEnd type="triangle" w="sm" len="lg"/>
              </a:ln>
            </p:spPr>
          </p:sp>
          <p:sp>
            <p:nvSpPr>
              <p:cNvPr id="138282" name="Line 94"/>
              <p:cNvSpPr/>
              <p:nvPr/>
            </p:nvSpPr>
            <p:spPr>
              <a:xfrm flipH="1" flipV="1">
                <a:off x="15" y="2697"/>
                <a:ext cx="1440" cy="468"/>
              </a:xfrm>
              <a:prstGeom prst="line">
                <a:avLst/>
              </a:prstGeom>
              <a:ln w="12700" cap="flat" cmpd="sng">
                <a:solidFill>
                  <a:srgbClr val="000000"/>
                </a:solidFill>
                <a:prstDash val="dash"/>
                <a:headEnd type="none" w="med" len="med"/>
                <a:tailEnd type="triangle" w="sm" len="lg"/>
              </a:ln>
            </p:spPr>
          </p:sp>
          <p:sp>
            <p:nvSpPr>
              <p:cNvPr id="138283" name="Line 95"/>
              <p:cNvSpPr/>
              <p:nvPr/>
            </p:nvSpPr>
            <p:spPr>
              <a:xfrm flipH="1" flipV="1">
                <a:off x="15" y="3321"/>
                <a:ext cx="1440" cy="156"/>
              </a:xfrm>
              <a:prstGeom prst="line">
                <a:avLst/>
              </a:prstGeom>
              <a:ln w="12700" cap="flat" cmpd="sng">
                <a:solidFill>
                  <a:srgbClr val="000000"/>
                </a:solidFill>
                <a:prstDash val="dash"/>
                <a:headEnd type="none" w="med" len="med"/>
                <a:tailEnd type="triangle" w="sm" len="lg"/>
              </a:ln>
            </p:spPr>
          </p:sp>
          <p:sp>
            <p:nvSpPr>
              <p:cNvPr id="138284" name="Line 96"/>
              <p:cNvSpPr/>
              <p:nvPr/>
            </p:nvSpPr>
            <p:spPr>
              <a:xfrm flipH="1" flipV="1">
                <a:off x="15" y="1449"/>
                <a:ext cx="1440" cy="2340"/>
              </a:xfrm>
              <a:prstGeom prst="line">
                <a:avLst/>
              </a:prstGeom>
              <a:ln w="12700" cap="flat" cmpd="sng">
                <a:solidFill>
                  <a:srgbClr val="000000"/>
                </a:solidFill>
                <a:prstDash val="dash"/>
                <a:headEnd type="none" w="med" len="med"/>
                <a:tailEnd type="triangle" w="sm" len="lg"/>
              </a:ln>
            </p:spPr>
          </p:sp>
          <p:sp>
            <p:nvSpPr>
              <p:cNvPr id="138285" name="Line 97"/>
              <p:cNvSpPr/>
              <p:nvPr/>
            </p:nvSpPr>
            <p:spPr>
              <a:xfrm flipH="1" flipV="1">
                <a:off x="15" y="3321"/>
                <a:ext cx="1440" cy="1404"/>
              </a:xfrm>
              <a:prstGeom prst="line">
                <a:avLst/>
              </a:prstGeom>
              <a:ln w="12700" cap="flat" cmpd="sng">
                <a:solidFill>
                  <a:srgbClr val="000000"/>
                </a:solidFill>
                <a:prstDash val="dash"/>
                <a:headEnd type="none" w="med" len="med"/>
                <a:tailEnd type="triangle" w="sm" len="lg"/>
              </a:ln>
            </p:spPr>
          </p:sp>
          <p:sp>
            <p:nvSpPr>
              <p:cNvPr id="138286" name="Line 98"/>
              <p:cNvSpPr/>
              <p:nvPr/>
            </p:nvSpPr>
            <p:spPr>
              <a:xfrm flipH="1" flipV="1">
                <a:off x="15" y="2073"/>
                <a:ext cx="1440" cy="2028"/>
              </a:xfrm>
              <a:prstGeom prst="line">
                <a:avLst/>
              </a:prstGeom>
              <a:ln w="12700" cap="flat" cmpd="sng">
                <a:solidFill>
                  <a:srgbClr val="000000"/>
                </a:solidFill>
                <a:prstDash val="dash"/>
                <a:headEnd type="none" w="med" len="med"/>
                <a:tailEnd type="triangle" w="sm" len="lg"/>
              </a:ln>
            </p:spPr>
          </p:sp>
          <p:sp>
            <p:nvSpPr>
              <p:cNvPr id="138287" name="Line 99"/>
              <p:cNvSpPr/>
              <p:nvPr/>
            </p:nvSpPr>
            <p:spPr>
              <a:xfrm flipH="1" flipV="1">
                <a:off x="15" y="2697"/>
                <a:ext cx="1440" cy="1716"/>
              </a:xfrm>
              <a:prstGeom prst="line">
                <a:avLst/>
              </a:prstGeom>
              <a:ln w="12700" cap="flat" cmpd="sng">
                <a:solidFill>
                  <a:srgbClr val="000000"/>
                </a:solidFill>
                <a:prstDash val="dash"/>
                <a:headEnd type="none" w="med" len="med"/>
                <a:tailEnd type="triangle" w="sm" len="lg"/>
              </a:ln>
            </p:spPr>
          </p:sp>
          <p:sp>
            <p:nvSpPr>
              <p:cNvPr id="138288" name="Line 100"/>
              <p:cNvSpPr/>
              <p:nvPr/>
            </p:nvSpPr>
            <p:spPr>
              <a:xfrm flipH="1">
                <a:off x="15" y="1293"/>
                <a:ext cx="1455" cy="144"/>
              </a:xfrm>
              <a:prstGeom prst="line">
                <a:avLst/>
              </a:prstGeom>
              <a:ln w="9525" cap="flat" cmpd="sng">
                <a:solidFill>
                  <a:srgbClr val="000000"/>
                </a:solidFill>
                <a:prstDash val="dash"/>
                <a:headEnd type="none" w="med" len="med"/>
                <a:tailEnd type="triangle" w="sm" len="lg"/>
              </a:ln>
            </p:spPr>
          </p:sp>
        </p:grpSp>
      </p:grpSp>
      <p:sp>
        <p:nvSpPr>
          <p:cNvPr id="138245" name="AutoShape 101"/>
          <p:cNvSpPr/>
          <p:nvPr/>
        </p:nvSpPr>
        <p:spPr>
          <a:xfrm>
            <a:off x="8029575" y="2276475"/>
            <a:ext cx="74613" cy="793750"/>
          </a:xfrm>
          <a:prstGeom prst="rightBrace">
            <a:avLst>
              <a:gd name="adj1" fmla="val 88651"/>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46" name="AutoShape 102"/>
          <p:cNvSpPr/>
          <p:nvPr/>
        </p:nvSpPr>
        <p:spPr>
          <a:xfrm>
            <a:off x="8029575" y="3213100"/>
            <a:ext cx="90488" cy="842963"/>
          </a:xfrm>
          <a:prstGeom prst="rightBrace">
            <a:avLst>
              <a:gd name="adj1" fmla="val 77631"/>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47" name="AutoShape 103"/>
          <p:cNvSpPr/>
          <p:nvPr/>
        </p:nvSpPr>
        <p:spPr>
          <a:xfrm>
            <a:off x="8012113" y="4222750"/>
            <a:ext cx="92075" cy="822325"/>
          </a:xfrm>
          <a:prstGeom prst="rightBrace">
            <a:avLst>
              <a:gd name="adj1" fmla="val 74425"/>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38248" name="AutoShape 104"/>
          <p:cNvSpPr/>
          <p:nvPr/>
        </p:nvSpPr>
        <p:spPr>
          <a:xfrm>
            <a:off x="8029575" y="5151438"/>
            <a:ext cx="90488" cy="914400"/>
          </a:xfrm>
          <a:prstGeom prst="rightBrace">
            <a:avLst>
              <a:gd name="adj1" fmla="val 84210"/>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p:nvPr>
            <p:ph type="title" idx="4294967295"/>
          </p:nvPr>
        </p:nvSpPr>
        <p:spPr>
          <a:xfrm>
            <a:off x="685800" y="1066800"/>
            <a:ext cx="7772400" cy="6858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400" dirty="0"/>
              <a:t>替换策略</a:t>
            </a:r>
            <a:endParaRPr lang="zh-CN" altLang="en-US" sz="2400" dirty="0"/>
          </a:p>
        </p:txBody>
      </p:sp>
      <p:sp>
        <p:nvSpPr>
          <p:cNvPr id="139267" name="Rectangle 3"/>
          <p:cNvSpPr>
            <a:spLocks noGrp="1"/>
          </p:cNvSpPr>
          <p:nvPr>
            <p:ph type="body" idx="4294967295"/>
          </p:nvPr>
        </p:nvSpPr>
        <p:spPr>
          <a:xfrm>
            <a:off x="685800" y="1905000"/>
            <a:ext cx="7772400" cy="4191000"/>
          </a:xfrm>
          <a:ln/>
        </p:spPr>
        <p:txBody>
          <a:bodyPr vert="horz" wrap="square" lIns="91440" tIns="45720" rIns="91440" bIns="45720" anchor="t" anchorCtr="0"/>
          <a:p>
            <a:pPr eaLnBrk="1" hangingPunct="1"/>
            <a:r>
              <a:rPr lang="zh-CN" altLang="en-US" b="1" dirty="0"/>
              <a:t>cache工作原理要求它尽量保存最新数据，必然要产生替换。</a:t>
            </a:r>
            <a:endParaRPr lang="zh-CN" altLang="en-US" b="1" dirty="0"/>
          </a:p>
          <a:p>
            <a:pPr eaLnBrk="1" hangingPunct="1"/>
            <a:r>
              <a:rPr lang="zh-CN" altLang="en-US" b="1" dirty="0"/>
              <a:t>替换策略</a:t>
            </a:r>
            <a:endParaRPr lang="zh-CN" altLang="en-US" b="1" dirty="0"/>
          </a:p>
          <a:p>
            <a:pPr lvl="1" eaLnBrk="1" hangingPunct="1"/>
            <a:r>
              <a:rPr lang="zh-CN" altLang="en-US" b="1" dirty="0"/>
              <a:t>随机法</a:t>
            </a:r>
            <a:endParaRPr lang="zh-CN" altLang="en-US" b="1" dirty="0"/>
          </a:p>
          <a:p>
            <a:pPr lvl="1" eaLnBrk="1" hangingPunct="1"/>
            <a:r>
              <a:rPr lang="zh-CN" altLang="en-US" b="1" dirty="0"/>
              <a:t>FIFO</a:t>
            </a:r>
            <a:endParaRPr lang="zh-CN" altLang="en-US" b="1" dirty="0"/>
          </a:p>
          <a:p>
            <a:pPr lvl="1" eaLnBrk="1" hangingPunct="1"/>
            <a:r>
              <a:rPr lang="zh-CN" altLang="en-US" b="1" dirty="0"/>
              <a:t>LRU</a:t>
            </a:r>
            <a:endParaRPr lang="zh-CN" altLang="en-US" b="1" dirty="0"/>
          </a:p>
          <a:p>
            <a:pPr lvl="1" eaLnBrk="1" hangingPunct="1"/>
            <a:r>
              <a:rPr lang="zh-CN" altLang="en-US" b="1" dirty="0"/>
              <a:t>LFU</a:t>
            </a:r>
            <a:endParaRPr lang="zh-CN" altLang="en-US" b="1"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0290" name="Rectangle 2"/>
          <p:cNvSpPr>
            <a:spLocks noGrp="1"/>
          </p:cNvSpPr>
          <p:nvPr>
            <p:ph type="body" idx="4294967295"/>
          </p:nvPr>
        </p:nvSpPr>
        <p:spPr>
          <a:xfrm>
            <a:off x="180975" y="228600"/>
            <a:ext cx="8640763" cy="6400800"/>
          </a:xfrm>
          <a:ln/>
        </p:spPr>
        <p:txBody>
          <a:bodyPr vert="horz" wrap="square" lIns="91440" tIns="45720" rIns="91440" bIns="45720" anchor="t" anchorCtr="0"/>
          <a:p>
            <a:pPr eaLnBrk="1" hangingPunct="1">
              <a:lnSpc>
                <a:spcPct val="90000"/>
              </a:lnSpc>
            </a:pPr>
            <a:r>
              <a:rPr lang="zh-CN" altLang="en-US" sz="2800" b="1" dirty="0">
                <a:solidFill>
                  <a:srgbClr val="993366"/>
                </a:solidFill>
                <a:ea typeface="华文新魏" panose="02010800040101010101" pitchFamily="2" charset="-122"/>
              </a:rPr>
              <a:t>最不经常使用(LFU)算法</a:t>
            </a:r>
            <a:endParaRPr lang="zh-CN" altLang="en-US" sz="2400" b="1" dirty="0"/>
          </a:p>
          <a:p>
            <a:pPr eaLnBrk="1" hangingPunct="1">
              <a:lnSpc>
                <a:spcPct val="90000"/>
              </a:lnSpc>
              <a:buNone/>
            </a:pPr>
            <a:r>
              <a:rPr lang="zh-CN" altLang="en-US" sz="2400" b="1" dirty="0">
                <a:solidFill>
                  <a:schemeClr val="tx1"/>
                </a:solidFill>
                <a:latin typeface="楷体_GB2312" pitchFamily="1" charset="-122"/>
                <a:ea typeface="楷体_GB2312" pitchFamily="1" charset="-122"/>
              </a:rPr>
              <a:t>LFU算法将一段时间内被访问次数最少的那行数据换出。每行设置一个计数器。从0开始计数，每访问一次，被访行的计数器增1。当需要替换时，将计数值最小的行换出，同时将这些行的计数器都清零。</a:t>
            </a:r>
            <a:endParaRPr lang="zh-CN" altLang="en-US" sz="2400" b="1" dirty="0">
              <a:solidFill>
                <a:schemeClr val="tx1"/>
              </a:solidFill>
              <a:latin typeface="楷体_GB2312" pitchFamily="1" charset="-122"/>
              <a:ea typeface="楷体_GB2312" pitchFamily="1" charset="-122"/>
            </a:endParaRPr>
          </a:p>
          <a:p>
            <a:pPr eaLnBrk="1" hangingPunct="1">
              <a:lnSpc>
                <a:spcPct val="90000"/>
              </a:lnSpc>
              <a:buNone/>
            </a:pPr>
            <a:r>
              <a:rPr lang="zh-CN" altLang="en-US" sz="2400" b="1" dirty="0">
                <a:solidFill>
                  <a:schemeClr val="tx1"/>
                </a:solidFill>
                <a:latin typeface="楷体_GB2312" pitchFamily="1" charset="-122"/>
                <a:ea typeface="楷体_GB2312" pitchFamily="1" charset="-122"/>
              </a:rPr>
              <a:t>这种算法将计数周期限定在对这些特定行两次替换之间的间隔时间内，不能严格反映近期访问情况。</a:t>
            </a:r>
            <a:endParaRPr lang="zh-CN" altLang="en-US" sz="2400" b="1" dirty="0">
              <a:solidFill>
                <a:schemeClr val="tx1"/>
              </a:solidFill>
              <a:latin typeface="楷体_GB2312" pitchFamily="1" charset="-122"/>
              <a:ea typeface="楷体_GB2312" pitchFamily="1" charset="-122"/>
            </a:endParaRPr>
          </a:p>
          <a:p>
            <a:pPr eaLnBrk="1" hangingPunct="1">
              <a:lnSpc>
                <a:spcPct val="90000"/>
              </a:lnSpc>
            </a:pPr>
            <a:r>
              <a:rPr lang="zh-CN" altLang="en-US" sz="2800" b="1" dirty="0">
                <a:solidFill>
                  <a:srgbClr val="993366"/>
                </a:solidFill>
                <a:ea typeface="华文新魏" panose="02010800040101010101" pitchFamily="2" charset="-122"/>
              </a:rPr>
              <a:t>近期最少使用(LRU)算法</a:t>
            </a:r>
            <a:r>
              <a:rPr lang="zh-CN" altLang="en-US" sz="2400" b="1" dirty="0"/>
              <a:t> </a:t>
            </a:r>
            <a:endParaRPr lang="zh-CN" altLang="en-US" sz="2400" b="1" dirty="0"/>
          </a:p>
          <a:p>
            <a:pPr eaLnBrk="1" hangingPunct="1">
              <a:lnSpc>
                <a:spcPct val="90000"/>
              </a:lnSpc>
              <a:buNone/>
            </a:pPr>
            <a:r>
              <a:rPr lang="zh-CN" altLang="en-US" sz="2400" b="1" dirty="0">
                <a:solidFill>
                  <a:schemeClr val="tx1"/>
                </a:solidFill>
                <a:latin typeface="楷体_GB2312" pitchFamily="1" charset="-122"/>
                <a:ea typeface="楷体_GB2312" pitchFamily="1" charset="-122"/>
              </a:rPr>
              <a:t>LRU算法将近期内长久未被访问过的行换出。每行也设置一个计数器，cache每命中一次，命中行计数器清零，其它各行计数器增1。当需要替换时，将计数值最大的行换出。</a:t>
            </a:r>
            <a:endParaRPr lang="zh-CN" altLang="en-US" sz="2400" b="1" dirty="0">
              <a:solidFill>
                <a:schemeClr val="tx1"/>
              </a:solidFill>
              <a:latin typeface="楷体_GB2312" pitchFamily="1" charset="-122"/>
              <a:ea typeface="楷体_GB2312" pitchFamily="1" charset="-122"/>
            </a:endParaRPr>
          </a:p>
          <a:p>
            <a:pPr eaLnBrk="1" hangingPunct="1">
              <a:lnSpc>
                <a:spcPct val="90000"/>
              </a:lnSpc>
              <a:buNone/>
            </a:pPr>
            <a:r>
              <a:rPr lang="zh-CN" altLang="en-US" sz="2400" b="1" dirty="0">
                <a:solidFill>
                  <a:schemeClr val="tx1"/>
                </a:solidFill>
                <a:latin typeface="楷体_GB2312" pitchFamily="1" charset="-122"/>
                <a:ea typeface="楷体_GB2312" pitchFamily="1" charset="-122"/>
              </a:rPr>
              <a:t>这种算法保护了刚拷贝到cache中的新数据行，有较高的命中率</a:t>
            </a:r>
            <a:r>
              <a:rPr lang="zh-CN" altLang="en-US" sz="2400" b="1" dirty="0">
                <a:solidFill>
                  <a:schemeClr val="tx1"/>
                </a:solidFill>
              </a:rPr>
              <a:t>。</a:t>
            </a:r>
            <a:r>
              <a:rPr lang="zh-CN" altLang="en-US" sz="2400" b="1" dirty="0"/>
              <a:t> </a:t>
            </a:r>
            <a:endParaRPr lang="zh-CN" altLang="en-US" sz="2400" b="1" dirty="0"/>
          </a:p>
          <a:p>
            <a:pPr eaLnBrk="1" hangingPunct="1">
              <a:lnSpc>
                <a:spcPct val="90000"/>
              </a:lnSpc>
            </a:pPr>
            <a:r>
              <a:rPr lang="zh-CN" altLang="en-US" sz="2800" b="1" dirty="0">
                <a:solidFill>
                  <a:srgbClr val="993366"/>
                </a:solidFill>
                <a:ea typeface="华文新魏" panose="02010800040101010101" pitchFamily="2" charset="-122"/>
              </a:rPr>
              <a:t>随机替换</a:t>
            </a:r>
            <a:endParaRPr lang="zh-CN" altLang="en-US" sz="2800" b="1" dirty="0">
              <a:solidFill>
                <a:srgbClr val="993366"/>
              </a:solidFill>
              <a:ea typeface="华文新魏" panose="02010800040101010101" pitchFamily="2" charset="-122"/>
            </a:endParaRPr>
          </a:p>
          <a:p>
            <a:pPr eaLnBrk="1" hangingPunct="1">
              <a:lnSpc>
                <a:spcPct val="90000"/>
              </a:lnSpc>
              <a:buNone/>
            </a:pPr>
            <a:r>
              <a:rPr lang="zh-CN" altLang="en-US" sz="2400" b="1" dirty="0">
                <a:solidFill>
                  <a:schemeClr val="tx1"/>
                </a:solidFill>
                <a:latin typeface="楷体_GB2312" pitchFamily="1" charset="-122"/>
                <a:ea typeface="楷体_GB2312" pitchFamily="1" charset="-122"/>
              </a:rPr>
              <a:t>随机替换策略从特定的行位置中随机地选取一行换出。在硬件上容易实现，且速度也比前两种策略快。</a:t>
            </a:r>
            <a:endParaRPr lang="zh-CN" altLang="en-US" sz="2400" b="1" dirty="0">
              <a:solidFill>
                <a:schemeClr val="tx1"/>
              </a:solidFill>
              <a:latin typeface="楷体_GB2312" pitchFamily="1" charset="-122"/>
              <a:ea typeface="楷体_GB2312" pitchFamily="1" charset="-122"/>
            </a:endParaRPr>
          </a:p>
          <a:p>
            <a:pPr eaLnBrk="1" hangingPunct="1">
              <a:lnSpc>
                <a:spcPct val="90000"/>
              </a:lnSpc>
              <a:buNone/>
            </a:pPr>
            <a:r>
              <a:rPr lang="zh-CN" altLang="en-US" sz="2400" b="1" dirty="0">
                <a:solidFill>
                  <a:schemeClr val="tx1"/>
                </a:solidFill>
                <a:latin typeface="楷体_GB2312" pitchFamily="1" charset="-122"/>
                <a:ea typeface="楷体_GB2312" pitchFamily="1" charset="-122"/>
              </a:rPr>
              <a:t>缺点是降低了命中率和cache工作效率</a:t>
            </a:r>
            <a:r>
              <a:rPr lang="zh-CN" altLang="en-US" sz="2000" b="1" dirty="0">
                <a:solidFill>
                  <a:schemeClr val="tx1"/>
                </a:solidFill>
                <a:latin typeface="楷体_GB2312" pitchFamily="1" charset="-122"/>
                <a:ea typeface="楷体_GB2312" pitchFamily="1" charset="-122"/>
              </a:rPr>
              <a:t>。</a:t>
            </a:r>
            <a:endParaRPr lang="zh-CN" altLang="en-US" sz="2000" b="1" dirty="0">
              <a:solidFill>
                <a:schemeClr val="tx1"/>
              </a:solidFill>
              <a:latin typeface="楷体_GB2312" pitchFamily="1" charset="-122"/>
              <a:ea typeface="楷体_GB2312" pitchFamily="1"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Cache存储器——</a:t>
            </a:r>
            <a:r>
              <a:rPr lang="zh-CN" altLang="en-US" sz="2000" dirty="0"/>
              <a:t>写操作策略</a:t>
            </a:r>
            <a:endParaRPr lang="zh-CN" altLang="en-US" dirty="0">
              <a:solidFill>
                <a:srgbClr val="FF0000"/>
              </a:solidFill>
            </a:endParaRPr>
          </a:p>
        </p:txBody>
      </p:sp>
      <p:sp>
        <p:nvSpPr>
          <p:cNvPr id="141315" name="Rectangle 3"/>
          <p:cNvSpPr>
            <a:spLocks noGrp="1"/>
          </p:cNvSpPr>
          <p:nvPr>
            <p:ph type="body" idx="4294967295"/>
          </p:nvPr>
        </p:nvSpPr>
        <p:spPr>
          <a:xfrm>
            <a:off x="685800" y="1905000"/>
            <a:ext cx="7772400" cy="4191000"/>
          </a:xfrm>
          <a:ln/>
        </p:spPr>
        <p:txBody>
          <a:bodyPr vert="horz" wrap="square" lIns="91440" tIns="45720" rIns="91440" bIns="45720" anchor="t" anchorCtr="0"/>
          <a:p>
            <a:pPr eaLnBrk="1" hangingPunct="1">
              <a:buNone/>
            </a:pPr>
            <a:r>
              <a:rPr lang="zh-CN" altLang="zh-CN" b="1" dirty="0"/>
              <a:t>写策略</a:t>
            </a:r>
            <a:endParaRPr lang="zh-CN" altLang="zh-CN" b="1" dirty="0"/>
          </a:p>
          <a:p>
            <a:pPr lvl="1" eaLnBrk="1" hangingPunct="1"/>
            <a:r>
              <a:rPr lang="zh-CN" altLang="zh-CN" b="1" dirty="0"/>
              <a:t>写回法</a:t>
            </a:r>
            <a:endParaRPr lang="zh-CN" altLang="zh-CN" b="1" dirty="0"/>
          </a:p>
          <a:p>
            <a:pPr lvl="1" eaLnBrk="1" hangingPunct="1"/>
            <a:r>
              <a:rPr lang="zh-CN" altLang="zh-CN" b="1" dirty="0"/>
              <a:t>全写法</a:t>
            </a:r>
            <a:endParaRPr lang="zh-CN" altLang="zh-CN" b="1" dirty="0"/>
          </a:p>
          <a:p>
            <a:pPr lvl="1" eaLnBrk="1" hangingPunct="1"/>
            <a:r>
              <a:rPr lang="zh-CN" altLang="zh-CN" b="1" dirty="0"/>
              <a:t>写一次法</a:t>
            </a:r>
            <a:endParaRPr lang="zh-CN" altLang="zh-CN" b="1"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Grp="1"/>
          </p:cNvSpPr>
          <p:nvPr>
            <p:ph type="body" idx="4294967295"/>
          </p:nvPr>
        </p:nvSpPr>
        <p:spPr>
          <a:xfrm>
            <a:off x="304800" y="1219200"/>
            <a:ext cx="8534400" cy="4953000"/>
          </a:xfrm>
          <a:ln/>
        </p:spPr>
        <p:txBody>
          <a:bodyPr vert="horz" wrap="square" lIns="91440" tIns="45720" rIns="91440" bIns="45720" anchor="t" anchorCtr="0"/>
          <a:p>
            <a:pPr eaLnBrk="1" hangingPunct="1">
              <a:lnSpc>
                <a:spcPct val="90000"/>
              </a:lnSpc>
            </a:pPr>
            <a:r>
              <a:rPr lang="zh-CN" altLang="en-US" sz="4000" dirty="0">
                <a:solidFill>
                  <a:srgbClr val="993366"/>
                </a:solidFill>
                <a:ea typeface="华文新魏" panose="02010800040101010101" pitchFamily="2" charset="-122"/>
              </a:rPr>
              <a:t>写回法</a:t>
            </a:r>
            <a:r>
              <a:rPr lang="zh-CN" altLang="en-US" sz="3600" dirty="0">
                <a:solidFill>
                  <a:srgbClr val="993366"/>
                </a:solidFill>
                <a:ea typeface="华文新魏" panose="02010800040101010101" pitchFamily="2" charset="-122"/>
              </a:rPr>
              <a:t>：</a:t>
            </a:r>
            <a:endParaRPr lang="zh-CN" altLang="en-US" sz="3600" dirty="0">
              <a:solidFill>
                <a:srgbClr val="993366"/>
              </a:solidFill>
              <a:ea typeface="华文新魏" panose="02010800040101010101" pitchFamily="2" charset="-122"/>
            </a:endParaRPr>
          </a:p>
          <a:p>
            <a:pPr eaLnBrk="1" hangingPunct="1">
              <a:lnSpc>
                <a:spcPct val="90000"/>
              </a:lnSpc>
            </a:pPr>
            <a:r>
              <a:rPr lang="zh-CN" altLang="en-US" sz="2800" dirty="0">
                <a:solidFill>
                  <a:schemeClr val="tx1"/>
                </a:solidFill>
                <a:latin typeface="楷体_GB2312" pitchFamily="1" charset="-122"/>
                <a:ea typeface="楷体_GB2312" pitchFamily="1" charset="-122"/>
              </a:rPr>
              <a:t>    </a:t>
            </a:r>
            <a:r>
              <a:rPr lang="zh-CN" altLang="en-US" sz="2800" b="1" dirty="0">
                <a:solidFill>
                  <a:schemeClr val="tx1"/>
                </a:solidFill>
                <a:latin typeface="楷体_GB2312" pitchFamily="1" charset="-122"/>
                <a:ea typeface="楷体_GB2312" pitchFamily="1" charset="-122"/>
              </a:rPr>
              <a:t>当CPU写CACHE命中时，只修改CACHE的内容，而不立即写入主存。只有</a:t>
            </a:r>
            <a:r>
              <a:rPr lang="zh-CN" altLang="en-US" sz="2800" b="1" dirty="0">
                <a:solidFill>
                  <a:srgbClr val="800000"/>
                </a:solidFill>
                <a:latin typeface="楷体_GB2312" pitchFamily="1" charset="-122"/>
                <a:ea typeface="楷体_GB2312" pitchFamily="1" charset="-122"/>
              </a:rPr>
              <a:t>当此行被换出时才写回主存。</a:t>
            </a:r>
            <a:endParaRPr lang="zh-CN" altLang="en-US" sz="2800" b="1" dirty="0">
              <a:solidFill>
                <a:srgbClr val="800000"/>
              </a:solidFill>
              <a:latin typeface="楷体_GB2312" pitchFamily="1" charset="-122"/>
              <a:ea typeface="楷体_GB2312" pitchFamily="1" charset="-122"/>
            </a:endParaRPr>
          </a:p>
          <a:p>
            <a:pPr eaLnBrk="1" hangingPunct="1">
              <a:lnSpc>
                <a:spcPct val="90000"/>
              </a:lnSpc>
            </a:pPr>
            <a:r>
              <a:rPr lang="zh-CN" altLang="en-US" sz="2800" b="1" dirty="0">
                <a:solidFill>
                  <a:schemeClr val="tx1"/>
                </a:solidFill>
                <a:latin typeface="楷体_GB2312" pitchFamily="1" charset="-122"/>
                <a:ea typeface="楷体_GB2312" pitchFamily="1" charset="-122"/>
              </a:rPr>
              <a:t>    如果CPU写CACHE未命中，未包含欲写字的主存块在CACHE分配一行，将此块整个拷贝到CACHE后对其进行修改。</a:t>
            </a:r>
            <a:endParaRPr lang="zh-CN" altLang="en-US" sz="2800" b="1" dirty="0">
              <a:solidFill>
                <a:schemeClr val="tx1"/>
              </a:solidFill>
              <a:latin typeface="楷体_GB2312" pitchFamily="1" charset="-122"/>
              <a:ea typeface="楷体_GB2312" pitchFamily="1" charset="-122"/>
            </a:endParaRPr>
          </a:p>
          <a:p>
            <a:pPr eaLnBrk="1" hangingPunct="1">
              <a:lnSpc>
                <a:spcPct val="90000"/>
              </a:lnSpc>
            </a:pPr>
            <a:r>
              <a:rPr lang="zh-CN" altLang="en-US" sz="2800" b="1" dirty="0">
                <a:solidFill>
                  <a:schemeClr val="tx1"/>
                </a:solidFill>
                <a:latin typeface="楷体_GB2312" pitchFamily="1" charset="-122"/>
                <a:ea typeface="楷体_GB2312" pitchFamily="1" charset="-122"/>
              </a:rPr>
              <a:t>    实现这种方法时，每个cache行必须配置一个修改位，以反映此行是否被CPU修改过。</a:t>
            </a:r>
            <a:endParaRPr lang="zh-CN" altLang="en-US" sz="2800" b="1" dirty="0">
              <a:solidFill>
                <a:schemeClr val="tx1"/>
              </a:solidFill>
              <a:latin typeface="楷体_GB2312" pitchFamily="1" charset="-122"/>
              <a:ea typeface="楷体_GB2312" pitchFamily="1" charset="-122"/>
            </a:endParaRPr>
          </a:p>
          <a:p>
            <a:pPr eaLnBrk="1" hangingPunct="1">
              <a:lnSpc>
                <a:spcPct val="90000"/>
              </a:lnSpc>
            </a:pPr>
            <a:r>
              <a:rPr lang="zh-CN" altLang="en-US" sz="2800" b="1" dirty="0">
                <a:solidFill>
                  <a:schemeClr val="tx1"/>
                </a:solidFill>
                <a:latin typeface="楷体_GB2312" pitchFamily="1" charset="-122"/>
                <a:ea typeface="楷体_GB2312" pitchFamily="1" charset="-122"/>
              </a:rPr>
              <a:t>    这种方法减少了访问主存的次数，但是存在不一致性的隐患。　　</a:t>
            </a:r>
            <a:endParaRPr lang="zh-CN" altLang="en-US" sz="2800" b="1" dirty="0">
              <a:solidFill>
                <a:schemeClr val="tx1"/>
              </a:solidFill>
              <a:latin typeface="楷体_GB2312" pitchFamily="1" charset="-122"/>
              <a:ea typeface="楷体_GB2312" pitchFamily="1"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Grp="1"/>
          </p:cNvSpPr>
          <p:nvPr>
            <p:ph type="body" idx="4294967295"/>
          </p:nvPr>
        </p:nvSpPr>
        <p:spPr>
          <a:xfrm>
            <a:off x="457200" y="1219200"/>
            <a:ext cx="8001000" cy="4876800"/>
          </a:xfrm>
          <a:ln/>
        </p:spPr>
        <p:txBody>
          <a:bodyPr vert="horz" wrap="square" lIns="91440" tIns="45720" rIns="91440" bIns="45720" anchor="t" anchorCtr="0"/>
          <a:p>
            <a:pPr eaLnBrk="1" hangingPunct="1"/>
            <a:r>
              <a:rPr lang="zh-CN" altLang="en-US" sz="3600" dirty="0">
                <a:solidFill>
                  <a:srgbClr val="993366"/>
                </a:solidFill>
                <a:ea typeface="华文新魏" panose="02010800040101010101" pitchFamily="2" charset="-122"/>
              </a:rPr>
              <a:t>全写法</a:t>
            </a:r>
            <a:r>
              <a:rPr lang="zh-CN" altLang="en-US" dirty="0">
                <a:solidFill>
                  <a:srgbClr val="993366"/>
                </a:solidFill>
                <a:ea typeface="华文新魏" panose="02010800040101010101" pitchFamily="2" charset="-122"/>
              </a:rPr>
              <a:t>：</a:t>
            </a:r>
            <a:endParaRPr lang="zh-CN" altLang="en-US" dirty="0">
              <a:solidFill>
                <a:srgbClr val="993366"/>
              </a:solidFill>
              <a:ea typeface="华文新魏" panose="02010800040101010101" pitchFamily="2" charset="-122"/>
            </a:endParaRPr>
          </a:p>
          <a:p>
            <a:pPr eaLnBrk="1" hangingPunct="1">
              <a:buNone/>
            </a:pPr>
            <a:r>
              <a:rPr lang="zh-CN" altLang="en-US" dirty="0">
                <a:solidFill>
                  <a:schemeClr val="tx1"/>
                </a:solidFill>
                <a:latin typeface="楷体_GB2312" pitchFamily="1" charset="-122"/>
                <a:ea typeface="楷体_GB2312" pitchFamily="1" charset="-122"/>
              </a:rPr>
              <a:t>    </a:t>
            </a:r>
            <a:r>
              <a:rPr lang="zh-CN" altLang="en-US" b="1" dirty="0">
                <a:solidFill>
                  <a:schemeClr val="tx1"/>
                </a:solidFill>
                <a:latin typeface="楷体_GB2312" pitchFamily="1" charset="-122"/>
                <a:ea typeface="楷体_GB2312" pitchFamily="1" charset="-122"/>
              </a:rPr>
              <a:t>当写CACHE命中时，CACHE与主存同时发生写修改，因而较好地维护了CACHE和主存内容的一致性。</a:t>
            </a:r>
            <a:endParaRPr lang="zh-CN" altLang="en-US" b="1" dirty="0">
              <a:solidFill>
                <a:schemeClr val="tx1"/>
              </a:solidFill>
              <a:latin typeface="楷体_GB2312" pitchFamily="1" charset="-122"/>
              <a:ea typeface="楷体_GB2312" pitchFamily="1" charset="-122"/>
            </a:endParaRPr>
          </a:p>
          <a:p>
            <a:pPr eaLnBrk="1" hangingPunct="1">
              <a:buNone/>
            </a:pPr>
            <a:r>
              <a:rPr lang="zh-CN" altLang="en-US" b="1" dirty="0">
                <a:solidFill>
                  <a:schemeClr val="tx1"/>
                </a:solidFill>
                <a:latin typeface="楷体_GB2312" pitchFamily="1" charset="-122"/>
                <a:ea typeface="楷体_GB2312" pitchFamily="1" charset="-122"/>
              </a:rPr>
              <a:t>    当写CACHE未命中时，只能直接向主存进行写入。</a:t>
            </a:r>
            <a:endParaRPr lang="zh-CN" altLang="en-US" b="1" dirty="0">
              <a:solidFill>
                <a:schemeClr val="tx1"/>
              </a:solidFill>
              <a:latin typeface="楷体_GB2312" pitchFamily="1" charset="-122"/>
              <a:ea typeface="楷体_GB2312" pitchFamily="1" charset="-122"/>
            </a:endParaRPr>
          </a:p>
          <a:p>
            <a:pPr eaLnBrk="1" hangingPunct="1">
              <a:buNone/>
            </a:pPr>
            <a:r>
              <a:rPr lang="zh-CN" altLang="en-US" b="1" dirty="0">
                <a:solidFill>
                  <a:schemeClr val="tx1"/>
                </a:solidFill>
                <a:latin typeface="楷体_GB2312" pitchFamily="1" charset="-122"/>
                <a:ea typeface="楷体_GB2312" pitchFamily="1" charset="-122"/>
              </a:rPr>
              <a:t>    缺点是降低了cache的功效。</a:t>
            </a:r>
            <a:endParaRPr lang="zh-CN" altLang="en-US" b="1" dirty="0">
              <a:solidFill>
                <a:schemeClr val="tx1"/>
              </a:solidFill>
              <a:latin typeface="楷体_GB2312" pitchFamily="1" charset="-122"/>
              <a:ea typeface="楷体_GB2312" pitchFamily="1"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2"/>
          <p:cNvSpPr>
            <a:spLocks noGrp="1"/>
          </p:cNvSpPr>
          <p:nvPr>
            <p:ph type="body" idx="4294967295"/>
          </p:nvPr>
        </p:nvSpPr>
        <p:spPr>
          <a:xfrm>
            <a:off x="533400" y="1219200"/>
            <a:ext cx="7924800" cy="4876800"/>
          </a:xfrm>
          <a:ln/>
        </p:spPr>
        <p:txBody>
          <a:bodyPr vert="horz" wrap="square" lIns="91440" tIns="45720" rIns="91440" bIns="45720" anchor="t" anchorCtr="0"/>
          <a:p>
            <a:pPr eaLnBrk="1" hangingPunct="1"/>
            <a:r>
              <a:rPr lang="zh-CN" altLang="en-US" sz="3600" dirty="0">
                <a:solidFill>
                  <a:srgbClr val="993366"/>
                </a:solidFill>
                <a:ea typeface="华文新魏" panose="02010800040101010101" pitchFamily="2" charset="-122"/>
              </a:rPr>
              <a:t>写一次法：</a:t>
            </a:r>
            <a:endParaRPr lang="zh-CN" altLang="en-US" sz="3600" dirty="0">
              <a:solidFill>
                <a:srgbClr val="993366"/>
              </a:solidFill>
              <a:ea typeface="华文新魏" panose="02010800040101010101" pitchFamily="2" charset="-122"/>
            </a:endParaRPr>
          </a:p>
          <a:p>
            <a:pPr eaLnBrk="1" hangingPunct="1">
              <a:buNone/>
            </a:pPr>
            <a:r>
              <a:rPr lang="zh-CN" altLang="en-US" b="1" dirty="0">
                <a:solidFill>
                  <a:schemeClr val="tx1"/>
                </a:solidFill>
                <a:ea typeface="楷体_GB2312" pitchFamily="1" charset="-122"/>
              </a:rPr>
              <a:t>基于写回法并结合全写法的写策略,</a:t>
            </a:r>
            <a:endParaRPr lang="zh-CN" altLang="en-US" b="1" dirty="0">
              <a:solidFill>
                <a:schemeClr val="tx1"/>
              </a:solidFill>
              <a:ea typeface="楷体_GB2312" pitchFamily="1" charset="-122"/>
            </a:endParaRPr>
          </a:p>
          <a:p>
            <a:pPr eaLnBrk="1" hangingPunct="1">
              <a:buNone/>
            </a:pPr>
            <a:r>
              <a:rPr lang="zh-CN" altLang="en-US" b="1" dirty="0">
                <a:solidFill>
                  <a:schemeClr val="tx1"/>
                </a:solidFill>
                <a:ea typeface="楷体_GB2312" pitchFamily="1" charset="-122"/>
              </a:rPr>
              <a:t>写命中与写未命中的处理方法与写回法基本相同，只是第一次写命中时同时要写入主存。</a:t>
            </a:r>
            <a:endParaRPr lang="zh-CN" altLang="en-US" b="1" dirty="0">
              <a:solidFill>
                <a:schemeClr val="tx1"/>
              </a:solidFill>
              <a:ea typeface="楷体_GB2312" pitchFamily="1"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body" idx="4294967295"/>
          </p:nvPr>
        </p:nvSpPr>
        <p:spPr>
          <a:xfrm>
            <a:off x="685800" y="765175"/>
            <a:ext cx="7772400" cy="5330825"/>
          </a:xfrm>
          <a:ln/>
        </p:spPr>
        <p:txBody>
          <a:bodyPr vert="horz" wrap="square" lIns="91440" tIns="45720" rIns="91440" bIns="45720" anchor="t" anchorCtr="0"/>
          <a:p>
            <a:pPr eaLnBrk="1" hangingPunct="1"/>
            <a:endParaRPr lang="zh-CN" altLang="en-US" dirty="0"/>
          </a:p>
          <a:p>
            <a:pPr eaLnBrk="1" hangingPunct="1"/>
            <a:endParaRPr lang="zh-CN" altLang="en-US" dirty="0"/>
          </a:p>
          <a:p>
            <a:pPr eaLnBrk="1" hangingPunct="1"/>
            <a:endParaRPr lang="zh-CN" altLang="en-US" dirty="0"/>
          </a:p>
          <a:p>
            <a:pPr eaLnBrk="1" hangingPunct="1">
              <a:buNone/>
            </a:pPr>
            <a:r>
              <a:rPr lang="zh-CN" altLang="en-US" dirty="0"/>
              <a:t>Cache</a:t>
            </a:r>
            <a:endParaRPr lang="zh-CN" altLang="en-US" dirty="0"/>
          </a:p>
          <a:p>
            <a:pPr eaLnBrk="1" hangingPunct="1"/>
            <a:endParaRPr lang="zh-CN" altLang="en-US" dirty="0"/>
          </a:p>
          <a:p>
            <a:pPr eaLnBrk="1" hangingPunct="1"/>
            <a:endParaRPr lang="zh-CN" altLang="en-US" dirty="0"/>
          </a:p>
        </p:txBody>
      </p:sp>
      <p:grpSp>
        <p:nvGrpSpPr>
          <p:cNvPr id="145411" name="Group 3"/>
          <p:cNvGrpSpPr/>
          <p:nvPr/>
        </p:nvGrpSpPr>
        <p:grpSpPr>
          <a:xfrm>
            <a:off x="1836738" y="1062038"/>
            <a:ext cx="6929437" cy="4913312"/>
            <a:chOff x="0" y="0"/>
            <a:chExt cx="10912" cy="7739"/>
          </a:xfrm>
        </p:grpSpPr>
        <p:sp>
          <p:nvSpPr>
            <p:cNvPr id="145412" name="AutoShape 4"/>
            <p:cNvSpPr/>
            <p:nvPr/>
          </p:nvSpPr>
          <p:spPr>
            <a:xfrm>
              <a:off x="0" y="442"/>
              <a:ext cx="794" cy="3969"/>
            </a:xfrm>
            <a:prstGeom prst="leftBrace">
              <a:avLst>
                <a:gd name="adj1" fmla="val 41656"/>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45413" name="Text Box 5"/>
            <p:cNvSpPr txBox="1"/>
            <p:nvPr/>
          </p:nvSpPr>
          <p:spPr>
            <a:xfrm>
              <a:off x="988" y="0"/>
              <a:ext cx="8765" cy="7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空：怎么将主存内容装入？</a:t>
              </a:r>
              <a:endParaRPr lang="zh-CN" altLang="en-US" sz="2400" dirty="0">
                <a:solidFill>
                  <a:schemeClr val="tx1"/>
                </a:solidFill>
                <a:ea typeface="华文新魏" panose="02010800040101010101" pitchFamily="2" charset="-122"/>
              </a:endParaRPr>
            </a:p>
          </p:txBody>
        </p:sp>
        <p:sp>
          <p:nvSpPr>
            <p:cNvPr id="145414" name="Text Box 6"/>
            <p:cNvSpPr txBox="1"/>
            <p:nvPr/>
          </p:nvSpPr>
          <p:spPr>
            <a:xfrm>
              <a:off x="941" y="4225"/>
              <a:ext cx="647" cy="7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满</a:t>
              </a:r>
              <a:endParaRPr lang="zh-CN" altLang="en-US" sz="2400" dirty="0">
                <a:solidFill>
                  <a:schemeClr val="tx1"/>
                </a:solidFill>
                <a:ea typeface="华文新魏" panose="02010800040101010101" pitchFamily="2" charset="-122"/>
              </a:endParaRPr>
            </a:p>
          </p:txBody>
        </p:sp>
        <p:sp>
          <p:nvSpPr>
            <p:cNvPr id="145415" name="AutoShape 7"/>
            <p:cNvSpPr/>
            <p:nvPr/>
          </p:nvSpPr>
          <p:spPr>
            <a:xfrm>
              <a:off x="1703" y="2257"/>
              <a:ext cx="227" cy="4648"/>
            </a:xfrm>
            <a:prstGeom prst="leftBrace">
              <a:avLst>
                <a:gd name="adj1" fmla="val 170631"/>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45416" name="Text Box 8"/>
            <p:cNvSpPr txBox="1"/>
            <p:nvPr/>
          </p:nvSpPr>
          <p:spPr>
            <a:xfrm>
              <a:off x="2041" y="1802"/>
              <a:ext cx="1399" cy="7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命中</a:t>
              </a:r>
              <a:endParaRPr lang="zh-CN" altLang="en-US" sz="2400" dirty="0">
                <a:solidFill>
                  <a:schemeClr val="tx1"/>
                </a:solidFill>
                <a:ea typeface="华文新魏" panose="02010800040101010101" pitchFamily="2" charset="-122"/>
              </a:endParaRPr>
            </a:p>
          </p:txBody>
        </p:sp>
        <p:sp>
          <p:nvSpPr>
            <p:cNvPr id="145417" name="Text Box 9"/>
            <p:cNvSpPr txBox="1"/>
            <p:nvPr/>
          </p:nvSpPr>
          <p:spPr>
            <a:xfrm>
              <a:off x="2041" y="6452"/>
              <a:ext cx="1399" cy="7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失效</a:t>
              </a:r>
              <a:endParaRPr lang="zh-CN" altLang="en-US" sz="2400" dirty="0">
                <a:solidFill>
                  <a:schemeClr val="tx1"/>
                </a:solidFill>
                <a:ea typeface="华文新魏" panose="02010800040101010101" pitchFamily="2" charset="-122"/>
              </a:endParaRPr>
            </a:p>
          </p:txBody>
        </p:sp>
        <p:sp>
          <p:nvSpPr>
            <p:cNvPr id="145418" name="AutoShape 10"/>
            <p:cNvSpPr/>
            <p:nvPr/>
          </p:nvSpPr>
          <p:spPr>
            <a:xfrm>
              <a:off x="3289" y="1462"/>
              <a:ext cx="227" cy="1588"/>
            </a:xfrm>
            <a:prstGeom prst="leftBrace">
              <a:avLst>
                <a:gd name="adj1" fmla="val 58296"/>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45419" name="AutoShape 11"/>
            <p:cNvSpPr/>
            <p:nvPr/>
          </p:nvSpPr>
          <p:spPr>
            <a:xfrm>
              <a:off x="3292" y="5771"/>
              <a:ext cx="227" cy="1928"/>
            </a:xfrm>
            <a:prstGeom prst="leftBrace">
              <a:avLst>
                <a:gd name="adj1" fmla="val 70778"/>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45420" name="Text Box 12"/>
            <p:cNvSpPr txBox="1"/>
            <p:nvPr/>
          </p:nvSpPr>
          <p:spPr>
            <a:xfrm>
              <a:off x="3516" y="1009"/>
              <a:ext cx="1020" cy="7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读</a:t>
              </a:r>
              <a:endParaRPr lang="zh-CN" altLang="en-US" sz="2400" dirty="0">
                <a:solidFill>
                  <a:schemeClr val="tx1"/>
                </a:solidFill>
                <a:ea typeface="华文新魏" panose="02010800040101010101" pitchFamily="2" charset="-122"/>
              </a:endParaRPr>
            </a:p>
          </p:txBody>
        </p:sp>
        <p:sp>
          <p:nvSpPr>
            <p:cNvPr id="145421" name="Text Box 13"/>
            <p:cNvSpPr txBox="1"/>
            <p:nvPr/>
          </p:nvSpPr>
          <p:spPr>
            <a:xfrm>
              <a:off x="3516" y="2596"/>
              <a:ext cx="7369" cy="7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写：肯定写Cache，是否写主存？</a:t>
              </a:r>
              <a:endParaRPr lang="zh-CN" altLang="en-US" sz="2400" dirty="0">
                <a:solidFill>
                  <a:schemeClr val="tx1"/>
                </a:solidFill>
                <a:ea typeface="华文新魏" panose="02010800040101010101" pitchFamily="2" charset="-122"/>
              </a:endParaRPr>
            </a:p>
          </p:txBody>
        </p:sp>
        <p:sp>
          <p:nvSpPr>
            <p:cNvPr id="145422" name="Text Box 14"/>
            <p:cNvSpPr txBox="1"/>
            <p:nvPr/>
          </p:nvSpPr>
          <p:spPr>
            <a:xfrm>
              <a:off x="3516" y="5318"/>
              <a:ext cx="7030" cy="7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读：替换策略</a:t>
              </a:r>
              <a:endParaRPr lang="zh-CN" altLang="en-US" sz="2400" dirty="0">
                <a:solidFill>
                  <a:schemeClr val="tx1"/>
                </a:solidFill>
                <a:ea typeface="华文新魏" panose="02010800040101010101" pitchFamily="2" charset="-122"/>
              </a:endParaRPr>
            </a:p>
          </p:txBody>
        </p:sp>
        <p:sp>
          <p:nvSpPr>
            <p:cNvPr id="145423" name="Text Box 15"/>
            <p:cNvSpPr txBox="1"/>
            <p:nvPr/>
          </p:nvSpPr>
          <p:spPr>
            <a:xfrm>
              <a:off x="3516" y="7019"/>
              <a:ext cx="7397" cy="7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写：肯定写主存，是否写Cache？</a:t>
              </a:r>
              <a:endParaRPr lang="zh-CN" altLang="en-US" sz="2400" dirty="0">
                <a:solidFill>
                  <a:schemeClr val="tx1"/>
                </a:solidFill>
                <a:ea typeface="华文新魏" panose="02010800040101010101" pitchFamily="2" charset="-122"/>
              </a:endParaRP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p:nvPr>
            <p:ph type="title" idx="4294967295"/>
          </p:nvPr>
        </p:nvSpPr>
        <p:spPr>
          <a:xfrm>
            <a:off x="457200" y="274638"/>
            <a:ext cx="8229600" cy="1143000"/>
          </a:xfrm>
          <a:prstGeom prst="rect">
            <a:avLst/>
          </a:prstGeom>
          <a:noFill/>
          <a:ln w="9525">
            <a:noFill/>
          </a:ln>
        </p:spPr>
        <p:txBody>
          <a:bodyPr anchor="ctr" anchorCtr="0"/>
          <a:p>
            <a:pPr eaLnBrk="1" hangingPunct="1"/>
            <a:r>
              <a:rPr lang="zh-CN" altLang="en-US" dirty="0"/>
              <a:t>Cache的性能分析</a:t>
            </a:r>
            <a:endParaRPr lang="zh-CN" altLang="en-US" dirty="0"/>
          </a:p>
        </p:txBody>
      </p:sp>
      <p:sp>
        <p:nvSpPr>
          <p:cNvPr id="146435" name="Rectangle 3"/>
          <p:cNvSpPr>
            <a:spLocks noGrp="1"/>
          </p:cNvSpPr>
          <p:nvPr>
            <p:ph type="body" idx="4294967295"/>
          </p:nvPr>
        </p:nvSpPr>
        <p:spPr>
          <a:ln/>
        </p:spPr>
        <p:txBody>
          <a:bodyPr vert="horz" wrap="square" lIns="91440" tIns="45720" rIns="91440" bIns="45720" anchor="t" anchorCtr="0"/>
          <a:p>
            <a:pPr eaLnBrk="1" hangingPunct="1"/>
            <a:r>
              <a:rPr lang="zh-CN" altLang="en-US" dirty="0"/>
              <a:t>Cache的命中率与什么有关</a:t>
            </a:r>
            <a:endParaRPr lang="zh-CN" altLang="en-US" dirty="0"/>
          </a:p>
          <a:p>
            <a:pPr eaLnBrk="1" hangingPunct="1">
              <a:buNone/>
            </a:pPr>
            <a:r>
              <a:rPr lang="zh-CN" altLang="en-US" dirty="0"/>
              <a:t>容量、相联度</a:t>
            </a:r>
            <a:endParaRPr lang="zh-CN" altLang="en-US" dirty="0"/>
          </a:p>
          <a:p>
            <a:pPr eaLnBrk="1" hangingPunct="1"/>
            <a:r>
              <a:rPr lang="zh-CN" altLang="en-US" dirty="0"/>
              <a:t>Cache失效的原因</a:t>
            </a:r>
            <a:endParaRPr lang="zh-CN" altLang="en-US" dirty="0"/>
          </a:p>
          <a:p>
            <a:pPr eaLnBrk="1" hangingPunct="1">
              <a:buNone/>
            </a:pPr>
            <a:r>
              <a:rPr lang="zh-CN" altLang="en-US" dirty="0"/>
              <a:t>强制性失效、容量失效、冲突失效</a:t>
            </a:r>
            <a:endParaRPr lang="zh-CN" alt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p:cNvSpPr>
          <p:nvPr>
            <p:ph type="body" idx="4294967295"/>
          </p:nvPr>
        </p:nvSpPr>
        <p:spPr>
          <a:xfrm>
            <a:off x="457200" y="1219200"/>
            <a:ext cx="7772400" cy="5029200"/>
          </a:xfrm>
          <a:ln/>
        </p:spPr>
        <p:txBody>
          <a:bodyPr vert="horz" wrap="square" lIns="91440" tIns="45720" rIns="91440" bIns="45720" anchor="t" anchorCtr="0"/>
          <a:p>
            <a:pPr eaLnBrk="1" hangingPunct="1">
              <a:lnSpc>
                <a:spcPct val="90000"/>
              </a:lnSpc>
            </a:pPr>
            <a:r>
              <a:rPr lang="zh-CN" altLang="en-US" sz="3600" b="1" dirty="0">
                <a:solidFill>
                  <a:srgbClr val="993366"/>
                </a:solidFill>
                <a:latin typeface="华文新魏" panose="02010800040101010101" pitchFamily="2" charset="-122"/>
                <a:ea typeface="华文新魏" panose="02010800040101010101" pitchFamily="2" charset="-122"/>
              </a:rPr>
              <a:t>奔腾PC机的cache 　</a:t>
            </a:r>
            <a:r>
              <a:rPr lang="zh-CN" altLang="en-US" b="1" i="1" dirty="0">
                <a:solidFill>
                  <a:srgbClr val="0000FF"/>
                </a:solidFill>
              </a:rPr>
              <a:t>　　　　　</a:t>
            </a:r>
            <a:r>
              <a:rPr lang="zh-CN" altLang="en-US" b="1" i="1" dirty="0">
                <a:solidFill>
                  <a:srgbClr val="0000FF"/>
                </a:solidFill>
                <a:hlinkClick r:id="rId1" action="ppaction://hlinkfile"/>
              </a:rPr>
              <a:t> </a:t>
            </a:r>
            <a:endParaRPr lang="zh-CN" altLang="en-US" b="1" dirty="0"/>
          </a:p>
          <a:p>
            <a:pPr eaLnBrk="1" hangingPunct="1">
              <a:lnSpc>
                <a:spcPct val="90000"/>
              </a:lnSpc>
            </a:pPr>
            <a:r>
              <a:rPr lang="zh-CN" altLang="en-US" dirty="0"/>
              <a:t>　　</a:t>
            </a:r>
            <a:r>
              <a:rPr lang="zh-CN" altLang="en-US" b="1" dirty="0">
                <a:solidFill>
                  <a:schemeClr val="tx1"/>
                </a:solidFill>
                <a:latin typeface="楷体_GB2312" pitchFamily="1" charset="-122"/>
                <a:ea typeface="楷体_GB2312" pitchFamily="1" charset="-122"/>
              </a:rPr>
              <a:t>奔腾PC机采用两级cache结构。安装在主板上的2级cache(L2)采用2路</a:t>
            </a:r>
            <a:r>
              <a:rPr lang="zh-CN" altLang="en-US" b="1" dirty="0">
                <a:solidFill>
                  <a:srgbClr val="800000"/>
                </a:solidFill>
                <a:latin typeface="楷体_GB2312" pitchFamily="1" charset="-122"/>
                <a:ea typeface="楷体_GB2312" pitchFamily="1" charset="-122"/>
              </a:rPr>
              <a:t>组相联映射方式</a:t>
            </a:r>
            <a:r>
              <a:rPr lang="zh-CN" altLang="en-US" b="1" dirty="0">
                <a:solidFill>
                  <a:schemeClr val="tx1"/>
                </a:solidFill>
                <a:latin typeface="楷体_GB2312" pitchFamily="1" charset="-122"/>
                <a:ea typeface="楷体_GB2312" pitchFamily="1" charset="-122"/>
              </a:rPr>
              <a:t>，集成在CPU内的1级cache(L1)也采用2路</a:t>
            </a:r>
            <a:r>
              <a:rPr lang="zh-CN" altLang="en-US" b="1" dirty="0">
                <a:solidFill>
                  <a:srgbClr val="800000"/>
                </a:solidFill>
                <a:latin typeface="楷体_GB2312" pitchFamily="1" charset="-122"/>
                <a:ea typeface="楷体_GB2312" pitchFamily="1" charset="-122"/>
              </a:rPr>
              <a:t>组相联映射方式</a:t>
            </a:r>
            <a:r>
              <a:rPr lang="zh-CN" altLang="en-US" b="1" dirty="0">
                <a:solidFill>
                  <a:schemeClr val="tx1"/>
                </a:solidFill>
                <a:latin typeface="楷体_GB2312" pitchFamily="1" charset="-122"/>
                <a:ea typeface="楷体_GB2312" pitchFamily="1" charset="-122"/>
              </a:rPr>
              <a:t>，L1又是L2的子集，从而使L1未命中处理时间大大缩短。CPU中的L1分设成各8KB的指令cache和数据cache,有利于CPU高速执行程序。</a:t>
            </a:r>
            <a:endParaRPr lang="zh-CN" altLang="en-US" b="1" dirty="0">
              <a:solidFill>
                <a:schemeClr val="tx1"/>
              </a:solidFill>
              <a:latin typeface="楷体_GB2312" pitchFamily="1" charset="-122"/>
              <a:ea typeface="楷体_GB2312" pitchFamily="1" charset="-122"/>
            </a:endParaRPr>
          </a:p>
          <a:p>
            <a:pPr eaLnBrk="1" hangingPunct="1">
              <a:lnSpc>
                <a:spcPct val="90000"/>
              </a:lnSpc>
            </a:pPr>
            <a:r>
              <a:rPr lang="zh-CN" altLang="en-US" b="1" dirty="0">
                <a:solidFill>
                  <a:schemeClr val="tx1"/>
                </a:solidFill>
                <a:latin typeface="楷体_GB2312" pitchFamily="1" charset="-122"/>
                <a:ea typeface="楷体_GB2312" pitchFamily="1" charset="-122"/>
              </a:rPr>
              <a:t>  L2级cache采用的是</a:t>
            </a:r>
            <a:r>
              <a:rPr lang="zh-CN" altLang="en-US" b="1" dirty="0">
                <a:solidFill>
                  <a:srgbClr val="800000"/>
                </a:solidFill>
                <a:latin typeface="楷体_GB2312" pitchFamily="1" charset="-122"/>
                <a:ea typeface="楷体_GB2312" pitchFamily="1" charset="-122"/>
              </a:rPr>
              <a:t>写回法</a:t>
            </a:r>
            <a:r>
              <a:rPr lang="zh-CN" altLang="en-US" b="1" dirty="0">
                <a:solidFill>
                  <a:schemeClr val="tx1"/>
                </a:solidFill>
                <a:latin typeface="楷体_GB2312" pitchFamily="1" charset="-122"/>
                <a:ea typeface="楷体_GB2312" pitchFamily="1" charset="-122"/>
              </a:rPr>
              <a:t>，L1级数据cache采用的是</a:t>
            </a:r>
            <a:r>
              <a:rPr lang="zh-CN" altLang="en-US" b="1" dirty="0">
                <a:solidFill>
                  <a:srgbClr val="800000"/>
                </a:solidFill>
                <a:latin typeface="楷体_GB2312" pitchFamily="1" charset="-122"/>
                <a:ea typeface="楷体_GB2312" pitchFamily="1" charset="-122"/>
              </a:rPr>
              <a:t>写一次法</a:t>
            </a:r>
            <a:r>
              <a:rPr lang="zh-CN" altLang="en-US" b="1" dirty="0">
                <a:solidFill>
                  <a:schemeClr val="tx1"/>
                </a:solidFill>
                <a:latin typeface="楷体_GB2312" pitchFamily="1" charset="-122"/>
                <a:ea typeface="楷体_GB2312" pitchFamily="1" charset="-122"/>
              </a:rPr>
              <a:t>。</a:t>
            </a:r>
            <a:endParaRPr lang="zh-CN" altLang="en-US" b="1" dirty="0">
              <a:solidFill>
                <a:schemeClr val="tx1"/>
              </a:solidFill>
              <a:latin typeface="楷体_GB2312" pitchFamily="1" charset="-122"/>
              <a:ea typeface="楷体_GB2312" pitchFamily="1"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body" idx="4294967295"/>
          </p:nvPr>
        </p:nvSpPr>
        <p:spPr>
          <a:xfrm>
            <a:off x="609600" y="1828800"/>
            <a:ext cx="7848600" cy="4267200"/>
          </a:xfrm>
          <a:ln/>
        </p:spPr>
        <p:txBody>
          <a:bodyPr vert="horz" wrap="square" lIns="91440" tIns="45720" rIns="91440" bIns="45720" anchor="t" anchorCtr="0"/>
          <a:p>
            <a:pPr eaLnBrk="1" hangingPunct="1"/>
            <a:r>
              <a:rPr lang="zh-CN" altLang="en-US" b="1" dirty="0">
                <a:solidFill>
                  <a:schemeClr val="tx1"/>
                </a:solidFill>
                <a:latin typeface="楷体_GB2312" pitchFamily="1" charset="-122"/>
                <a:ea typeface="楷体_GB2312" pitchFamily="1" charset="-122"/>
              </a:rPr>
              <a:t>    数据cache采用2路组相联结构，采用</a:t>
            </a:r>
            <a:r>
              <a:rPr lang="zh-CN" altLang="en-US" b="1" dirty="0">
                <a:solidFill>
                  <a:srgbClr val="800000"/>
                </a:solidFill>
                <a:latin typeface="楷体_GB2312" pitchFamily="1" charset="-122"/>
                <a:ea typeface="楷体_GB2312" pitchFamily="1" charset="-122"/>
              </a:rPr>
              <a:t>最近最少使用算法</a:t>
            </a:r>
            <a:r>
              <a:rPr lang="zh-CN" altLang="en-US" b="1" dirty="0">
                <a:solidFill>
                  <a:schemeClr val="tx1"/>
                </a:solidFill>
                <a:latin typeface="楷体_GB2312" pitchFamily="1" charset="-122"/>
                <a:ea typeface="楷体_GB2312" pitchFamily="1" charset="-122"/>
              </a:rPr>
              <a:t>LRU替换算法。</a:t>
            </a:r>
            <a:endParaRPr lang="zh-CN" altLang="en-US" b="1" dirty="0">
              <a:solidFill>
                <a:schemeClr val="tx1"/>
              </a:solidFill>
              <a:latin typeface="楷体_GB2312" pitchFamily="1" charset="-122"/>
              <a:ea typeface="楷体_GB2312" pitchFamily="1" charset="-122"/>
            </a:endParaRPr>
          </a:p>
          <a:p>
            <a:pPr eaLnBrk="1" hangingPunct="1"/>
            <a:r>
              <a:rPr lang="zh-CN" altLang="en-US" b="1" dirty="0">
                <a:solidFill>
                  <a:schemeClr val="tx1"/>
                </a:solidFill>
                <a:latin typeface="楷体_GB2312" pitchFamily="1" charset="-122"/>
                <a:ea typeface="楷体_GB2312" pitchFamily="1" charset="-122"/>
              </a:rPr>
              <a:t>    L2级cache的内容是主存的子集，而L1级cache又是L2级cache的子集。L2负责整个系统的cache/主存一致性，L1负责响应L2，与L2一起维护L1/L2两个cache的一致性，保证三级存储系统的一致性。</a:t>
            </a:r>
            <a:endParaRPr lang="zh-CN" altLang="en-US" b="1" dirty="0">
              <a:solidFill>
                <a:schemeClr val="tx1"/>
              </a:solidFill>
              <a:latin typeface="楷体_GB2312" pitchFamily="1" charset="-122"/>
              <a:ea typeface="楷体_GB2312" pitchFamily="1"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Grp="1"/>
          </p:cNvSpPr>
          <p:nvPr>
            <p:ph type="body" idx="4294967295"/>
          </p:nvPr>
        </p:nvSpPr>
        <p:spPr>
          <a:xfrm>
            <a:off x="685800" y="1219200"/>
            <a:ext cx="7772400" cy="4876800"/>
          </a:xfrm>
          <a:ln/>
        </p:spPr>
        <p:txBody>
          <a:bodyPr vert="horz" wrap="square" lIns="91440" tIns="45720" rIns="91440" bIns="45720" anchor="t" anchorCtr="0"/>
          <a:p>
            <a:pPr eaLnBrk="1" hangingPunct="1"/>
            <a:r>
              <a:rPr lang="zh-CN" altLang="en-US" b="1" dirty="0">
                <a:latin typeface="楷体_GB2312" pitchFamily="1" charset="-122"/>
                <a:ea typeface="楷体_GB2312" pitchFamily="1" charset="-122"/>
              </a:rPr>
              <a:t>练习：</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某计算机系统的内存储器由cache和主存构成，cache的存取周期为45ns，主存的存取周期为200ns。已知在一段给定的时间内，CPU共访问内存4500次，其中340次访问主存。问：</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Cache的命中率是多少？</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Cpu访问内存的平均时间是多少纳秒？</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Cache-主存系统的效率是多少？</a:t>
            </a:r>
            <a:endParaRPr lang="zh-CN" altLang="en-US" b="1" dirty="0">
              <a:latin typeface="楷体_GB2312" pitchFamily="1" charset="-122"/>
              <a:ea typeface="楷体_GB2312" pitchFamily="1" charset="-12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body" idx="4294967295"/>
          </p:nvPr>
        </p:nvSpPr>
        <p:spPr>
          <a:xfrm>
            <a:off x="398463" y="1263650"/>
            <a:ext cx="8278812" cy="4114800"/>
          </a:xfrm>
          <a:ln/>
        </p:spPr>
        <p:txBody>
          <a:bodyPr vert="horz" wrap="square" lIns="91440" tIns="45720" rIns="91440" bIns="45720" anchor="t" anchorCtr="0"/>
          <a:p>
            <a:pPr eaLnBrk="1" hangingPunct="1">
              <a:lnSpc>
                <a:spcPct val="80000"/>
              </a:lnSpc>
              <a:buNone/>
            </a:pPr>
            <a:r>
              <a:rPr lang="zh-CN" altLang="en-US" sz="3400" b="1" dirty="0">
                <a:latin typeface="楷体_GB2312" pitchFamily="1" charset="-122"/>
                <a:ea typeface="楷体_GB2312" pitchFamily="1" charset="-122"/>
              </a:rPr>
              <a:t>解：</a:t>
            </a:r>
            <a:endParaRPr lang="zh-CN" altLang="en-US" sz="3400" b="1" dirty="0">
              <a:latin typeface="楷体_GB2312" pitchFamily="1" charset="-122"/>
              <a:ea typeface="楷体_GB2312" pitchFamily="1" charset="-122"/>
            </a:endParaRPr>
          </a:p>
          <a:p>
            <a:pPr eaLnBrk="1" hangingPunct="1">
              <a:lnSpc>
                <a:spcPct val="90000"/>
              </a:lnSpc>
              <a:buNone/>
            </a:pPr>
            <a:r>
              <a:rPr lang="zh-CN" altLang="en-US" sz="3400" b="1" dirty="0">
                <a:latin typeface="楷体_GB2312" pitchFamily="1" charset="-122"/>
                <a:ea typeface="楷体_GB2312" pitchFamily="1" charset="-122"/>
              </a:rPr>
              <a:t>1、cache的命中率</a:t>
            </a:r>
            <a:endParaRPr lang="zh-CN" altLang="en-US" sz="3400" b="1" dirty="0">
              <a:latin typeface="楷体_GB2312" pitchFamily="1" charset="-122"/>
              <a:ea typeface="楷体_GB2312" pitchFamily="1" charset="-122"/>
            </a:endParaRPr>
          </a:p>
          <a:p>
            <a:pPr eaLnBrk="1" hangingPunct="1">
              <a:lnSpc>
                <a:spcPct val="90000"/>
              </a:lnSpc>
              <a:buNone/>
            </a:pPr>
            <a:r>
              <a:rPr lang="zh-CN" altLang="en-US" b="1" dirty="0">
                <a:solidFill>
                  <a:srgbClr val="993366"/>
                </a:solidFill>
              </a:rPr>
              <a:t>h=Nc/(Nc+Nm)=（4500-340）/4500=0.92 </a:t>
            </a:r>
            <a:endParaRPr lang="zh-CN" altLang="en-US" b="1" dirty="0">
              <a:solidFill>
                <a:srgbClr val="993366"/>
              </a:solidFill>
            </a:endParaRPr>
          </a:p>
          <a:p>
            <a:pPr eaLnBrk="1" hangingPunct="1">
              <a:lnSpc>
                <a:spcPct val="90000"/>
              </a:lnSpc>
              <a:buNone/>
            </a:pPr>
            <a:r>
              <a:rPr lang="zh-CN" altLang="en-US" sz="3400" b="1" dirty="0">
                <a:latin typeface="楷体_GB2312" pitchFamily="1" charset="-122"/>
                <a:ea typeface="楷体_GB2312" pitchFamily="1" charset="-122"/>
              </a:rPr>
              <a:t>2、cpu访存的平均时间</a:t>
            </a:r>
            <a:endParaRPr lang="zh-CN" altLang="en-US" sz="3400" b="1" dirty="0">
              <a:latin typeface="楷体_GB2312" pitchFamily="1" charset="-122"/>
              <a:ea typeface="楷体_GB2312" pitchFamily="1" charset="-122"/>
            </a:endParaRPr>
          </a:p>
          <a:p>
            <a:pPr eaLnBrk="1" hangingPunct="1">
              <a:lnSpc>
                <a:spcPct val="90000"/>
              </a:lnSpc>
              <a:buNone/>
            </a:pPr>
            <a:r>
              <a:rPr lang="zh-CN" altLang="en-US" sz="2800" b="1" dirty="0">
                <a:solidFill>
                  <a:srgbClr val="993366"/>
                </a:solidFill>
              </a:rPr>
              <a:t>t</a:t>
            </a:r>
            <a:r>
              <a:rPr lang="zh-CN" altLang="en-US" sz="2800" b="1" baseline="-25000" dirty="0">
                <a:solidFill>
                  <a:srgbClr val="993366"/>
                </a:solidFill>
              </a:rPr>
              <a:t>a</a:t>
            </a:r>
            <a:r>
              <a:rPr lang="zh-CN" altLang="en-US" sz="2800" b="1" dirty="0">
                <a:solidFill>
                  <a:srgbClr val="993366"/>
                </a:solidFill>
              </a:rPr>
              <a:t>=ht</a:t>
            </a:r>
            <a:r>
              <a:rPr lang="zh-CN" altLang="en-US" sz="2800" b="1" baseline="-25000" dirty="0">
                <a:solidFill>
                  <a:srgbClr val="993366"/>
                </a:solidFill>
              </a:rPr>
              <a:t>c</a:t>
            </a:r>
            <a:r>
              <a:rPr lang="zh-CN" altLang="en-US" sz="2800" b="1" dirty="0">
                <a:solidFill>
                  <a:srgbClr val="993366"/>
                </a:solidFill>
              </a:rPr>
              <a:t>+(1-h)t</a:t>
            </a:r>
            <a:r>
              <a:rPr lang="zh-CN" altLang="en-US" sz="2800" b="1" baseline="-25000" dirty="0">
                <a:solidFill>
                  <a:srgbClr val="993366"/>
                </a:solidFill>
              </a:rPr>
              <a:t>m</a:t>
            </a:r>
            <a:r>
              <a:rPr lang="zh-CN" altLang="en-US" sz="2800" b="1" dirty="0">
                <a:solidFill>
                  <a:srgbClr val="993366"/>
                </a:solidFill>
              </a:rPr>
              <a:t>=0.92 ×45+(1-0.92) ×200=57.4（ns）</a:t>
            </a:r>
            <a:endParaRPr lang="zh-CN" altLang="en-US" sz="2800" b="1" dirty="0">
              <a:solidFill>
                <a:srgbClr val="993366"/>
              </a:solidFill>
            </a:endParaRPr>
          </a:p>
          <a:p>
            <a:pPr eaLnBrk="1" hangingPunct="1">
              <a:lnSpc>
                <a:spcPct val="90000"/>
              </a:lnSpc>
              <a:buNone/>
            </a:pPr>
            <a:r>
              <a:rPr lang="zh-CN" altLang="en-US" sz="3400" b="1" dirty="0">
                <a:latin typeface="楷体_GB2312" pitchFamily="1" charset="-122"/>
                <a:ea typeface="楷体_GB2312" pitchFamily="1" charset="-122"/>
              </a:rPr>
              <a:t>3、cache-主存系统的效率</a:t>
            </a:r>
            <a:endParaRPr lang="zh-CN" altLang="en-US" sz="3400" b="1" dirty="0">
              <a:latin typeface="楷体_GB2312" pitchFamily="1" charset="-122"/>
              <a:ea typeface="楷体_GB2312" pitchFamily="1" charset="-122"/>
            </a:endParaRPr>
          </a:p>
          <a:p>
            <a:pPr eaLnBrk="1" hangingPunct="1">
              <a:lnSpc>
                <a:spcPct val="90000"/>
              </a:lnSpc>
              <a:buNone/>
            </a:pPr>
            <a:r>
              <a:rPr lang="zh-CN" altLang="en-US" b="1" dirty="0">
                <a:solidFill>
                  <a:srgbClr val="993366"/>
                </a:solidFill>
              </a:rPr>
              <a:t>e=tc/ ta=45/57.4=0.78=78%</a:t>
            </a:r>
            <a:endParaRPr lang="zh-CN" altLang="en-US" b="1" dirty="0">
              <a:solidFill>
                <a:srgbClr val="993366"/>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p:cNvSpPr>
          <p:nvPr>
            <p:ph type="body" idx="4294967295"/>
          </p:nvPr>
        </p:nvSpPr>
        <p:spPr>
          <a:xfrm>
            <a:off x="1066800" y="2743200"/>
            <a:ext cx="7086600" cy="990600"/>
          </a:xfrm>
          <a:ln/>
        </p:spPr>
        <p:txBody>
          <a:bodyPr vert="horz" wrap="square" lIns="91440" tIns="45720" rIns="91440" bIns="45720" anchor="t" anchorCtr="0"/>
          <a:p>
            <a:pPr algn="ctr" eaLnBrk="1" hangingPunct="1">
              <a:buNone/>
            </a:pPr>
            <a:r>
              <a:rPr lang="zh-CN" altLang="en-US" sz="5400" dirty="0">
                <a:solidFill>
                  <a:srgbClr val="993366"/>
                </a:solidFill>
                <a:latin typeface="华文新魏" panose="02010800040101010101" pitchFamily="2" charset="-122"/>
                <a:ea typeface="华文新魏" panose="02010800040101010101" pitchFamily="2" charset="-122"/>
              </a:rPr>
              <a:t>3.</a:t>
            </a:r>
            <a:r>
              <a:rPr lang="en-US" altLang="zh-CN" sz="5400" dirty="0">
                <a:solidFill>
                  <a:srgbClr val="993366"/>
                </a:solidFill>
                <a:latin typeface="华文新魏" panose="02010800040101010101" pitchFamily="2" charset="-122"/>
                <a:ea typeface="华文新魏" panose="02010800040101010101" pitchFamily="2" charset="-122"/>
              </a:rPr>
              <a:t>7</a:t>
            </a:r>
            <a:r>
              <a:rPr lang="zh-CN" altLang="en-US" sz="5400" dirty="0">
                <a:solidFill>
                  <a:srgbClr val="993366"/>
                </a:solidFill>
                <a:latin typeface="华文新魏" panose="02010800040101010101" pitchFamily="2" charset="-122"/>
                <a:ea typeface="华文新魏" panose="02010800040101010101" pitchFamily="2" charset="-122"/>
              </a:rPr>
              <a:t> 虚拟存储器</a:t>
            </a:r>
            <a:endParaRPr lang="zh-CN" altLang="en-US" sz="5400" dirty="0">
              <a:solidFill>
                <a:srgbClr val="993366"/>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虚拟存储器——</a:t>
            </a:r>
            <a:r>
              <a:rPr lang="zh-CN" altLang="en-US" sz="2800" dirty="0"/>
              <a:t>基本概念</a:t>
            </a:r>
            <a:endParaRPr lang="zh-CN" altLang="en-US" sz="2800" dirty="0"/>
          </a:p>
        </p:txBody>
      </p:sp>
      <p:sp>
        <p:nvSpPr>
          <p:cNvPr id="152579" name="Rectangle 3"/>
          <p:cNvSpPr>
            <a:spLocks noGrp="1"/>
          </p:cNvSpPr>
          <p:nvPr>
            <p:ph type="body" idx="4294967295"/>
          </p:nvPr>
        </p:nvSpPr>
        <p:spPr>
          <a:xfrm>
            <a:off x="325438" y="1762125"/>
            <a:ext cx="8496300" cy="4979988"/>
          </a:xfrm>
          <a:ln/>
        </p:spPr>
        <p:txBody>
          <a:bodyPr vert="horz" wrap="square" lIns="91440" tIns="45720" rIns="91440" bIns="45720" anchor="t" anchorCtr="0"/>
          <a:p>
            <a:pPr eaLnBrk="1" hangingPunct="1"/>
            <a:r>
              <a:rPr lang="zh-CN" altLang="en-US" sz="3600" b="1" dirty="0">
                <a:solidFill>
                  <a:srgbClr val="993366"/>
                </a:solidFill>
                <a:ea typeface="华文新魏" panose="02010800040101010101" pitchFamily="2" charset="-122"/>
              </a:rPr>
              <a:t>什么是虚拟存储器？</a:t>
            </a:r>
            <a:endParaRPr lang="zh-CN" altLang="en-US" sz="3600" b="1" dirty="0">
              <a:solidFill>
                <a:srgbClr val="993366"/>
              </a:solidFill>
              <a:ea typeface="华文新魏" panose="02010800040101010101" pitchFamily="2" charset="-122"/>
            </a:endParaRPr>
          </a:p>
          <a:p>
            <a:pPr eaLnBrk="1" hangingPunct="1">
              <a:buNone/>
            </a:pPr>
            <a:r>
              <a:rPr lang="zh-CN" altLang="en-US" dirty="0">
                <a:latin typeface="楷体_GB2312" pitchFamily="1" charset="-122"/>
                <a:ea typeface="楷体_GB2312" pitchFamily="1" charset="-122"/>
              </a:rPr>
              <a:t>    </a:t>
            </a:r>
            <a:r>
              <a:rPr lang="zh-CN" altLang="en-US" b="1" dirty="0">
                <a:solidFill>
                  <a:srgbClr val="0000FF"/>
                </a:solidFill>
                <a:latin typeface="楷体_GB2312" pitchFamily="1" charset="-122"/>
                <a:ea typeface="楷体_GB2312" pitchFamily="1" charset="-122"/>
              </a:rPr>
              <a:t>虚拟存储器是一个容量非常大的存储器的逻辑模型，不是任何实际的物理存储器。</a:t>
            </a:r>
            <a:endParaRPr lang="zh-CN" altLang="en-US" b="1" dirty="0">
              <a:solidFill>
                <a:srgbClr val="0000FF"/>
              </a:solidFill>
              <a:latin typeface="楷体_GB2312" pitchFamily="1" charset="-122"/>
              <a:ea typeface="楷体_GB2312" pitchFamily="1" charset="-122"/>
            </a:endParaRPr>
          </a:p>
          <a:p>
            <a:pPr eaLnBrk="1" hangingPunct="1">
              <a:buNone/>
            </a:pPr>
            <a:r>
              <a:rPr lang="zh-CN" altLang="en-US" b="1" dirty="0">
                <a:solidFill>
                  <a:srgbClr val="0000FF"/>
                </a:solidFill>
                <a:latin typeface="楷体_GB2312" pitchFamily="1" charset="-122"/>
                <a:ea typeface="楷体_GB2312" pitchFamily="1" charset="-122"/>
              </a:rPr>
              <a:t>    虚拟存储器将主存与外存层次组成了一个有机的整体。它以透明的方式给用户提供了一个比实际主存空间大得多的程序地址空间进行编程，用户在使用过程中不用去管哪是外存，哪是内存，由地址转换部件进行地址映射与转换。</a:t>
            </a:r>
            <a:endParaRPr lang="zh-CN" altLang="en-US" b="1" dirty="0">
              <a:solidFill>
                <a:srgbClr val="0000FF"/>
              </a:solidFill>
              <a:latin typeface="楷体_GB2312" pitchFamily="1" charset="-122"/>
              <a:ea typeface="楷体_GB2312" pitchFamily="1"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Grp="1"/>
          </p:cNvSpPr>
          <p:nvPr>
            <p:ph type="body" idx="4294967295"/>
          </p:nvPr>
        </p:nvSpPr>
        <p:spPr>
          <a:xfrm>
            <a:off x="468313" y="1196975"/>
            <a:ext cx="8351837" cy="5472113"/>
          </a:xfrm>
          <a:ln/>
        </p:spPr>
        <p:txBody>
          <a:bodyPr vert="horz" wrap="square" lIns="91440" tIns="45720" rIns="91440" bIns="45720" anchor="t" anchorCtr="0"/>
          <a:p>
            <a:pPr eaLnBrk="1" hangingPunct="1"/>
            <a:r>
              <a:rPr lang="zh-CN" altLang="en-US" b="1" dirty="0">
                <a:solidFill>
                  <a:srgbClr val="993366"/>
                </a:solidFill>
                <a:latin typeface="华文新魏" panose="02010800040101010101" pitchFamily="2" charset="-122"/>
                <a:ea typeface="华文新魏" panose="02010800040101010101" pitchFamily="2" charset="-122"/>
              </a:rPr>
              <a:t>虚拟地址</a:t>
            </a:r>
            <a:r>
              <a:rPr lang="zh-CN" altLang="en-US" sz="2800" b="1" dirty="0">
                <a:latin typeface="楷体_GB2312" pitchFamily="1" charset="-122"/>
                <a:ea typeface="楷体_GB2312" pitchFamily="1" charset="-122"/>
              </a:rPr>
              <a:t>（虚地址）：</a:t>
            </a:r>
            <a:endParaRPr lang="zh-CN" altLang="en-US" sz="2800" b="1" dirty="0">
              <a:latin typeface="楷体_GB2312" pitchFamily="1" charset="-122"/>
              <a:ea typeface="楷体_GB2312" pitchFamily="1" charset="-122"/>
            </a:endParaRPr>
          </a:p>
          <a:p>
            <a:pPr eaLnBrk="1" hangingPunct="1">
              <a:buNone/>
            </a:pPr>
            <a:r>
              <a:rPr lang="zh-CN" altLang="en-US" sz="2800" b="1" dirty="0">
                <a:latin typeface="楷体_GB2312" pitchFamily="1" charset="-122"/>
                <a:ea typeface="楷体_GB2312" pitchFamily="1" charset="-122"/>
              </a:rPr>
              <a:t>由编译程序生成的，是程序的逻辑地址，其地址空间的大小受到辅助存储器容量的限制。</a:t>
            </a:r>
            <a:endParaRPr lang="zh-CN" altLang="en-US" sz="2800" b="1" dirty="0">
              <a:latin typeface="楷体_GB2312" pitchFamily="1" charset="-122"/>
              <a:ea typeface="楷体_GB2312" pitchFamily="1" charset="-122"/>
            </a:endParaRPr>
          </a:p>
          <a:p>
            <a:pPr eaLnBrk="1" hangingPunct="1"/>
            <a:r>
              <a:rPr lang="zh-CN" altLang="en-US" b="1" dirty="0">
                <a:solidFill>
                  <a:srgbClr val="993366"/>
                </a:solidFill>
                <a:latin typeface="华文新魏" panose="02010800040101010101" pitchFamily="2" charset="-122"/>
                <a:ea typeface="华文新魏" panose="02010800040101010101" pitchFamily="2" charset="-122"/>
              </a:rPr>
              <a:t>虚拟地址空间</a:t>
            </a:r>
            <a:r>
              <a:rPr lang="zh-CN" altLang="en-US" sz="2800" b="1" dirty="0">
                <a:latin typeface="华文新魏" panose="02010800040101010101" pitchFamily="2" charset="-122"/>
                <a:ea typeface="华文新魏" panose="02010800040101010101" pitchFamily="2" charset="-122"/>
              </a:rPr>
              <a:t>（虚存）：</a:t>
            </a:r>
            <a:endParaRPr lang="zh-CN" altLang="en-US" sz="2800" b="1" dirty="0">
              <a:latin typeface="华文新魏" panose="02010800040101010101" pitchFamily="2" charset="-122"/>
              <a:ea typeface="华文新魏" panose="02010800040101010101" pitchFamily="2" charset="-122"/>
            </a:endParaRPr>
          </a:p>
          <a:p>
            <a:pPr eaLnBrk="1" hangingPunct="1">
              <a:buNone/>
            </a:pPr>
            <a:r>
              <a:rPr lang="zh-CN" altLang="en-US" sz="2800" b="1" dirty="0">
                <a:latin typeface="华文新魏" panose="02010800040101010101" pitchFamily="2" charset="-122"/>
                <a:ea typeface="华文新魏" panose="02010800040101010101" pitchFamily="2" charset="-122"/>
              </a:rPr>
              <a:t>受辅助存储器容量的限制。</a:t>
            </a:r>
            <a:endParaRPr lang="zh-CN" altLang="en-US" sz="2800" b="1" dirty="0">
              <a:latin typeface="华文新魏" panose="02010800040101010101" pitchFamily="2" charset="-122"/>
              <a:ea typeface="华文新魏" panose="02010800040101010101" pitchFamily="2" charset="-122"/>
            </a:endParaRPr>
          </a:p>
          <a:p>
            <a:pPr eaLnBrk="1" hangingPunct="1"/>
            <a:r>
              <a:rPr lang="zh-CN" altLang="en-US" b="1" dirty="0">
                <a:solidFill>
                  <a:srgbClr val="993366"/>
                </a:solidFill>
                <a:latin typeface="华文新魏" panose="02010800040101010101" pitchFamily="2" charset="-122"/>
                <a:ea typeface="华文新魏" panose="02010800040101010101" pitchFamily="2" charset="-122"/>
              </a:rPr>
              <a:t>物理地址</a:t>
            </a:r>
            <a:r>
              <a:rPr lang="zh-CN" altLang="en-US" sz="2800" b="1" dirty="0">
                <a:latin typeface="楷体_GB2312" pitchFamily="1" charset="-122"/>
                <a:ea typeface="楷体_GB2312" pitchFamily="1" charset="-122"/>
              </a:rPr>
              <a:t>（实地址）：</a:t>
            </a:r>
            <a:endParaRPr lang="zh-CN" altLang="en-US" sz="2800" b="1" dirty="0">
              <a:latin typeface="楷体_GB2312" pitchFamily="1" charset="-122"/>
              <a:ea typeface="楷体_GB2312" pitchFamily="1" charset="-122"/>
            </a:endParaRPr>
          </a:p>
          <a:p>
            <a:pPr eaLnBrk="1" hangingPunct="1">
              <a:buNone/>
            </a:pPr>
            <a:r>
              <a:rPr lang="zh-CN" altLang="en-US" sz="2800" b="1" dirty="0">
                <a:latin typeface="楷体_GB2312" pitchFamily="1" charset="-122"/>
                <a:ea typeface="楷体_GB2312" pitchFamily="1" charset="-122"/>
              </a:rPr>
              <a:t>由CPU地址引脚送出，用于访问主存的地址。</a:t>
            </a:r>
            <a:endParaRPr lang="zh-CN" altLang="en-US" sz="2800" b="1" dirty="0">
              <a:latin typeface="楷体_GB2312" pitchFamily="1" charset="-122"/>
              <a:ea typeface="楷体_GB2312" pitchFamily="1" charset="-122"/>
            </a:endParaRPr>
          </a:p>
          <a:p>
            <a:pPr eaLnBrk="1" hangingPunct="1"/>
            <a:r>
              <a:rPr lang="zh-CN" altLang="en-US" b="1" dirty="0">
                <a:solidFill>
                  <a:srgbClr val="993366"/>
                </a:solidFill>
                <a:latin typeface="华文新魏" panose="02010800040101010101" pitchFamily="2" charset="-122"/>
                <a:ea typeface="华文新魏" panose="02010800040101010101" pitchFamily="2" charset="-122"/>
              </a:rPr>
              <a:t>物理地址空间</a:t>
            </a:r>
            <a:r>
              <a:rPr lang="zh-CN" altLang="en-US" sz="2800" b="1" dirty="0">
                <a:latin typeface="楷体_GB2312" pitchFamily="1" charset="-122"/>
                <a:ea typeface="楷体_GB2312" pitchFamily="1" charset="-122"/>
              </a:rPr>
              <a:t>（实存）：</a:t>
            </a:r>
            <a:endParaRPr lang="zh-CN" altLang="en-US" sz="2800" b="1" dirty="0">
              <a:latin typeface="楷体_GB2312" pitchFamily="1" charset="-122"/>
              <a:ea typeface="楷体_GB2312" pitchFamily="1" charset="-122"/>
            </a:endParaRPr>
          </a:p>
          <a:p>
            <a:pPr eaLnBrk="1" hangingPunct="1">
              <a:buNone/>
            </a:pPr>
            <a:r>
              <a:rPr lang="zh-CN" altLang="en-US" sz="2800" b="1" dirty="0">
                <a:latin typeface="楷体_GB2312" pitchFamily="1" charset="-122"/>
                <a:ea typeface="楷体_GB2312" pitchFamily="1" charset="-122"/>
              </a:rPr>
              <a:t>CPU地址总线的宽度为m位，那么物理地址空间的大小用2</a:t>
            </a:r>
            <a:r>
              <a:rPr lang="zh-CN" altLang="en-US" sz="2800" b="1" baseline="30000" dirty="0">
                <a:latin typeface="楷体_GB2312" pitchFamily="1" charset="-122"/>
                <a:ea typeface="楷体_GB2312" pitchFamily="1" charset="-122"/>
              </a:rPr>
              <a:t>m</a:t>
            </a:r>
            <a:r>
              <a:rPr lang="zh-CN" altLang="en-US" sz="2800" b="1" dirty="0">
                <a:latin typeface="楷体_GB2312" pitchFamily="1" charset="-122"/>
                <a:ea typeface="楷体_GB2312" pitchFamily="1" charset="-122"/>
              </a:rPr>
              <a:t>来表示。</a:t>
            </a:r>
            <a:endParaRPr lang="zh-CN" altLang="en-US" sz="2800" b="1" dirty="0">
              <a:latin typeface="楷体_GB2312" pitchFamily="1" charset="-122"/>
              <a:ea typeface="楷体_GB2312" pitchFamily="1" charset="-12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p:nvPr>
            <p:ph type="title" idx="4294967295"/>
          </p:nvPr>
        </p:nvSpPr>
        <p:spPr>
          <a:xfrm>
            <a:off x="468313" y="693738"/>
            <a:ext cx="8229600" cy="936625"/>
          </a:xfrm>
          <a:prstGeom prst="rect">
            <a:avLst/>
          </a:prstGeom>
          <a:noFill/>
          <a:ln w="9525">
            <a:noFill/>
          </a:ln>
        </p:spPr>
        <p:txBody>
          <a:bodyPr anchor="ctr" anchorCtr="0"/>
          <a:p>
            <a:pPr algn="l" eaLnBrk="1" hangingPunct="1"/>
            <a:r>
              <a:rPr lang="zh-CN" altLang="en-US" dirty="0"/>
              <a:t>虚存的访问过程</a:t>
            </a:r>
            <a:endParaRPr lang="zh-CN" altLang="en-US" dirty="0"/>
          </a:p>
        </p:txBody>
      </p:sp>
      <p:sp>
        <p:nvSpPr>
          <p:cNvPr id="154627" name="Rectangle 3"/>
          <p:cNvSpPr>
            <a:spLocks noGrp="1"/>
          </p:cNvSpPr>
          <p:nvPr>
            <p:ph type="body" idx="4294967295"/>
          </p:nvPr>
        </p:nvSpPr>
        <p:spPr>
          <a:xfrm>
            <a:off x="250825" y="1765300"/>
            <a:ext cx="8642350" cy="4114800"/>
          </a:xfrm>
          <a:ln/>
        </p:spPr>
        <p:txBody>
          <a:bodyPr vert="horz" wrap="square" lIns="91440" tIns="45720" rIns="91440" bIns="45720" anchor="t" anchorCtr="0"/>
          <a:p>
            <a:pPr eaLnBrk="1" hangingPunct="1"/>
            <a:r>
              <a:rPr lang="zh-CN" altLang="en-US" b="1" dirty="0">
                <a:solidFill>
                  <a:srgbClr val="0000FF"/>
                </a:solidFill>
              </a:rPr>
              <a:t>用户程序</a:t>
            </a:r>
            <a:r>
              <a:rPr lang="zh-CN" altLang="en-US" b="1" dirty="0">
                <a:solidFill>
                  <a:srgbClr val="FF0000"/>
                </a:solidFill>
              </a:rPr>
              <a:t>按虚地址编程</a:t>
            </a:r>
            <a:r>
              <a:rPr lang="zh-CN" altLang="en-US" b="1" dirty="0">
                <a:solidFill>
                  <a:srgbClr val="0000FF"/>
                </a:solidFill>
              </a:rPr>
              <a:t>存放在辅存中。程序运行时，由地址变换机构依据分配给该程序的实地址空间把程序的一部分调入实存。</a:t>
            </a:r>
            <a:endParaRPr lang="zh-CN" altLang="en-US" b="1" dirty="0">
              <a:solidFill>
                <a:srgbClr val="0000FF"/>
              </a:solidFill>
            </a:endParaRPr>
          </a:p>
          <a:p>
            <a:pPr eaLnBrk="1" hangingPunct="1"/>
            <a:r>
              <a:rPr lang="zh-CN" altLang="en-US" b="1" dirty="0">
                <a:solidFill>
                  <a:srgbClr val="0000FF"/>
                </a:solidFill>
              </a:rPr>
              <a:t>每次访问存储器时，先判断该虚地址所对应的部分是否在实存中，如果在，则进行地址转换并用实地址访问主存（即</a:t>
            </a:r>
            <a:r>
              <a:rPr lang="zh-CN" altLang="en-US" b="1" dirty="0">
                <a:solidFill>
                  <a:srgbClr val="FF0000"/>
                </a:solidFill>
              </a:rPr>
              <a:t>主存命中</a:t>
            </a:r>
            <a:r>
              <a:rPr lang="zh-CN" altLang="en-US" b="1" dirty="0">
                <a:solidFill>
                  <a:srgbClr val="0000FF"/>
                </a:solidFill>
              </a:rPr>
              <a:t>）；如果不在，就按照某种算法将辅存中的部分程序调度进内存，再按同样的方法访问主存</a:t>
            </a:r>
            <a:r>
              <a:rPr lang="zh-CN" altLang="en-US" dirty="0">
                <a:solidFill>
                  <a:srgbClr val="0000FF"/>
                </a:solidFill>
              </a:rPr>
              <a:t>。</a:t>
            </a:r>
            <a:endParaRPr lang="zh-CN" altLang="en-US" dirty="0">
              <a:solidFill>
                <a:srgbClr val="0000FF"/>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p:cNvSpPr>
          <p:nvPr>
            <p:ph type="body" idx="4294967295"/>
          </p:nvPr>
        </p:nvSpPr>
        <p:spPr>
          <a:xfrm>
            <a:off x="179388" y="1844675"/>
            <a:ext cx="8659812" cy="4337050"/>
          </a:xfrm>
          <a:ln/>
        </p:spPr>
        <p:txBody>
          <a:bodyPr vert="horz" wrap="square" lIns="91440" tIns="45720" rIns="91440" bIns="45720" anchor="t" anchorCtr="0"/>
          <a:p>
            <a:pPr marL="514350" indent="-514350" eaLnBrk="1" hangingPunct="1">
              <a:lnSpc>
                <a:spcPct val="90000"/>
              </a:lnSpc>
              <a:buFontTx/>
              <a:buAutoNum type="arabicPeriod"/>
            </a:pPr>
            <a:r>
              <a:rPr lang="zh-CN" altLang="en-US" sz="2800" b="1" dirty="0">
                <a:solidFill>
                  <a:srgbClr val="0000FF"/>
                </a:solidFill>
                <a:latin typeface="楷体_GB2312" pitchFamily="1" charset="-122"/>
                <a:ea typeface="楷体_GB2312" pitchFamily="1" charset="-122"/>
              </a:rPr>
              <a:t>CACHE和虚拟存储器</a:t>
            </a:r>
            <a:r>
              <a:rPr lang="zh-CN" altLang="en-US" sz="2800" b="1" dirty="0">
                <a:solidFill>
                  <a:srgbClr val="FF0000"/>
                </a:solidFill>
                <a:latin typeface="楷体_GB2312" pitchFamily="1" charset="-122"/>
                <a:ea typeface="楷体_GB2312" pitchFamily="1" charset="-122"/>
              </a:rPr>
              <a:t>都基于程序局部性原理。</a:t>
            </a:r>
            <a:endParaRPr lang="zh-CN" altLang="en-US" sz="2800" b="1" dirty="0">
              <a:solidFill>
                <a:srgbClr val="FF0000"/>
              </a:solidFill>
              <a:latin typeface="楷体_GB2312" pitchFamily="1" charset="-122"/>
              <a:ea typeface="楷体_GB2312" pitchFamily="1" charset="-122"/>
            </a:endParaRPr>
          </a:p>
          <a:p>
            <a:pPr marL="514350" indent="-514350" eaLnBrk="1" hangingPunct="1">
              <a:lnSpc>
                <a:spcPct val="90000"/>
              </a:lnSpc>
              <a:buFont typeface="Wingdings" panose="05000000000000000000" pitchFamily="2" charset="2"/>
              <a:buAutoNum type="arabicPeriod"/>
            </a:pPr>
            <a:r>
              <a:rPr lang="zh-CN" altLang="en-US" sz="2800" b="1" dirty="0">
                <a:solidFill>
                  <a:srgbClr val="0000FF"/>
                </a:solidFill>
                <a:latin typeface="楷体_GB2312" pitchFamily="1" charset="-122"/>
                <a:ea typeface="楷体_GB2312" pitchFamily="1" charset="-122"/>
              </a:rPr>
              <a:t>都是把程序中</a:t>
            </a:r>
            <a:r>
              <a:rPr lang="zh-CN" altLang="en-US" sz="2800" b="1" dirty="0">
                <a:solidFill>
                  <a:srgbClr val="FF0000"/>
                </a:solidFill>
                <a:latin typeface="楷体_GB2312" pitchFamily="1" charset="-122"/>
                <a:ea typeface="楷体_GB2312" pitchFamily="1" charset="-122"/>
              </a:rPr>
              <a:t>最近常用的部分驻留在高速的容量较小的存储器中</a:t>
            </a:r>
            <a:r>
              <a:rPr lang="zh-CN" altLang="en-US" sz="2800" b="1" dirty="0">
                <a:solidFill>
                  <a:srgbClr val="0000FF"/>
                </a:solidFill>
                <a:latin typeface="楷体_GB2312" pitchFamily="1" charset="-122"/>
                <a:ea typeface="楷体_GB2312" pitchFamily="1" charset="-122"/>
              </a:rPr>
              <a:t>。</a:t>
            </a:r>
            <a:endParaRPr lang="zh-CN" altLang="en-US" sz="2800" b="1" dirty="0">
              <a:solidFill>
                <a:srgbClr val="0000FF"/>
              </a:solidFill>
              <a:latin typeface="楷体_GB2312" pitchFamily="1" charset="-122"/>
              <a:ea typeface="楷体_GB2312" pitchFamily="1" charset="-122"/>
            </a:endParaRPr>
          </a:p>
          <a:p>
            <a:pPr marL="514350" indent="-514350" eaLnBrk="1" hangingPunct="1">
              <a:lnSpc>
                <a:spcPct val="90000"/>
              </a:lnSpc>
              <a:buFont typeface="Wingdings" panose="05000000000000000000" pitchFamily="2" charset="2"/>
              <a:buAutoNum type="arabicPeriod"/>
            </a:pPr>
            <a:r>
              <a:rPr lang="zh-CN" altLang="en-US" sz="2800" b="1" dirty="0">
                <a:solidFill>
                  <a:srgbClr val="0000FF"/>
                </a:solidFill>
                <a:latin typeface="楷体_GB2312" pitchFamily="1" charset="-122"/>
                <a:ea typeface="楷体_GB2312" pitchFamily="1" charset="-122"/>
              </a:rPr>
              <a:t>一旦这部分</a:t>
            </a:r>
            <a:r>
              <a:rPr lang="zh-CN" altLang="en-US" sz="2800" b="1" dirty="0">
                <a:solidFill>
                  <a:srgbClr val="FF0000"/>
                </a:solidFill>
                <a:latin typeface="楷体_GB2312" pitchFamily="1" charset="-122"/>
                <a:ea typeface="楷体_GB2312" pitchFamily="1" charset="-122"/>
              </a:rPr>
              <a:t>变得不常用了</a:t>
            </a:r>
            <a:r>
              <a:rPr lang="zh-CN" altLang="en-US" sz="2800" b="1" dirty="0">
                <a:solidFill>
                  <a:srgbClr val="0000FF"/>
                </a:solidFill>
                <a:latin typeface="楷体_GB2312" pitchFamily="1" charset="-122"/>
                <a:ea typeface="楷体_GB2312" pitchFamily="1" charset="-122"/>
              </a:rPr>
              <a:t>，把他们</a:t>
            </a:r>
            <a:r>
              <a:rPr lang="zh-CN" altLang="en-US" sz="2800" b="1" dirty="0">
                <a:solidFill>
                  <a:srgbClr val="FF0000"/>
                </a:solidFill>
                <a:latin typeface="楷体_GB2312" pitchFamily="1" charset="-122"/>
                <a:ea typeface="楷体_GB2312" pitchFamily="1" charset="-122"/>
              </a:rPr>
              <a:t>送回到低速的存储器中</a:t>
            </a:r>
            <a:r>
              <a:rPr lang="zh-CN" altLang="en-US" sz="2800" b="1" dirty="0">
                <a:solidFill>
                  <a:srgbClr val="0000FF"/>
                </a:solidFill>
                <a:latin typeface="楷体_GB2312" pitchFamily="1" charset="-122"/>
                <a:ea typeface="楷体_GB2312" pitchFamily="1" charset="-122"/>
              </a:rPr>
              <a:t>。</a:t>
            </a:r>
            <a:endParaRPr lang="zh-CN" altLang="en-US" sz="2800" b="1" dirty="0">
              <a:solidFill>
                <a:srgbClr val="0000FF"/>
              </a:solidFill>
              <a:latin typeface="楷体_GB2312" pitchFamily="1" charset="-122"/>
              <a:ea typeface="楷体_GB2312" pitchFamily="1" charset="-122"/>
            </a:endParaRPr>
          </a:p>
          <a:p>
            <a:pPr marL="514350" indent="-514350" eaLnBrk="1" hangingPunct="1">
              <a:lnSpc>
                <a:spcPct val="90000"/>
              </a:lnSpc>
              <a:buFont typeface="Wingdings" panose="05000000000000000000" pitchFamily="2" charset="2"/>
              <a:buAutoNum type="arabicPeriod"/>
            </a:pPr>
            <a:r>
              <a:rPr lang="zh-CN" altLang="en-US" sz="2800" b="1" dirty="0">
                <a:solidFill>
                  <a:srgbClr val="0000FF"/>
                </a:solidFill>
                <a:latin typeface="楷体_GB2312" pitchFamily="1" charset="-122"/>
                <a:ea typeface="楷体_GB2312" pitchFamily="1" charset="-122"/>
              </a:rPr>
              <a:t>这种换入换出是由硬件或操作系统完成的，</a:t>
            </a:r>
            <a:r>
              <a:rPr lang="zh-CN" altLang="en-US" sz="2800" b="1" dirty="0">
                <a:solidFill>
                  <a:srgbClr val="FF0000"/>
                </a:solidFill>
                <a:latin typeface="楷体_GB2312" pitchFamily="1" charset="-122"/>
                <a:ea typeface="楷体_GB2312" pitchFamily="1" charset="-122"/>
              </a:rPr>
              <a:t>对用户都是透明的</a:t>
            </a:r>
            <a:r>
              <a:rPr lang="zh-CN" altLang="en-US" sz="2800" b="1" dirty="0">
                <a:solidFill>
                  <a:srgbClr val="0000FF"/>
                </a:solidFill>
                <a:latin typeface="楷体_GB2312" pitchFamily="1" charset="-122"/>
                <a:ea typeface="楷体_GB2312" pitchFamily="1" charset="-122"/>
              </a:rPr>
              <a:t>。</a:t>
            </a:r>
            <a:endParaRPr lang="zh-CN" altLang="en-US" sz="2800" b="1" dirty="0">
              <a:solidFill>
                <a:srgbClr val="0000FF"/>
              </a:solidFill>
              <a:latin typeface="楷体_GB2312" pitchFamily="1" charset="-122"/>
              <a:ea typeface="楷体_GB2312" pitchFamily="1" charset="-122"/>
            </a:endParaRPr>
          </a:p>
          <a:p>
            <a:pPr marL="514350" indent="-514350" eaLnBrk="1" hangingPunct="1">
              <a:lnSpc>
                <a:spcPct val="90000"/>
              </a:lnSpc>
              <a:buFont typeface="Wingdings" panose="05000000000000000000" pitchFamily="2" charset="2"/>
              <a:buAutoNum type="arabicPeriod"/>
            </a:pPr>
            <a:r>
              <a:rPr lang="zh-CN" altLang="en-US" sz="2800" b="1" dirty="0">
                <a:solidFill>
                  <a:srgbClr val="FF0000"/>
                </a:solidFill>
                <a:latin typeface="楷体_GB2312" pitchFamily="1" charset="-122"/>
                <a:ea typeface="楷体_GB2312" pitchFamily="1" charset="-122"/>
              </a:rPr>
              <a:t>都是为提高性价比</a:t>
            </a:r>
            <a:r>
              <a:rPr lang="zh-CN" altLang="en-US" sz="2800" b="1" dirty="0">
                <a:solidFill>
                  <a:srgbClr val="0000FF"/>
                </a:solidFill>
                <a:latin typeface="楷体_GB2312" pitchFamily="1" charset="-122"/>
                <a:ea typeface="楷体_GB2312" pitchFamily="1" charset="-122"/>
              </a:rPr>
              <a:t>，力图使存储系统的性能接近高速存储器，价格接近低速存储器。</a:t>
            </a:r>
            <a:endParaRPr lang="zh-CN" altLang="en-US" sz="2800" b="1" dirty="0">
              <a:solidFill>
                <a:srgbClr val="0000FF"/>
              </a:solidFill>
              <a:latin typeface="楷体_GB2312" pitchFamily="1" charset="-122"/>
              <a:ea typeface="楷体_GB2312" pitchFamily="1" charset="-122"/>
            </a:endParaRPr>
          </a:p>
          <a:p>
            <a:pPr marL="514350" indent="-514350" eaLnBrk="1" hangingPunct="1">
              <a:lnSpc>
                <a:spcPct val="90000"/>
              </a:lnSpc>
              <a:buFont typeface="Wingdings" panose="05000000000000000000" pitchFamily="2" charset="2"/>
              <a:buAutoNum type="arabicPeriod"/>
            </a:pPr>
            <a:endParaRPr lang="zh-CN" altLang="en-US" sz="2800" b="1" dirty="0">
              <a:solidFill>
                <a:srgbClr val="0000FF"/>
              </a:solidFill>
              <a:latin typeface="楷体_GB2312" pitchFamily="1" charset="-122"/>
              <a:ea typeface="楷体_GB2312" pitchFamily="1" charset="-122"/>
            </a:endParaRPr>
          </a:p>
        </p:txBody>
      </p:sp>
      <p:sp>
        <p:nvSpPr>
          <p:cNvPr id="155651" name="Text Box 3"/>
          <p:cNvSpPr txBox="1"/>
          <p:nvPr/>
        </p:nvSpPr>
        <p:spPr>
          <a:xfrm>
            <a:off x="395288" y="909638"/>
            <a:ext cx="6796087" cy="6397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3600" b="1" dirty="0">
                <a:solidFill>
                  <a:srgbClr val="993366"/>
                </a:solidFill>
                <a:latin typeface="楷体_GB2312" pitchFamily="1" charset="-122"/>
                <a:ea typeface="楷体_GB2312" pitchFamily="1" charset="-122"/>
              </a:rPr>
              <a:t>CACHE和虚拟存储器的相同点：</a:t>
            </a:r>
            <a:endParaRPr lang="zh-CN" altLang="en-US" sz="3600" b="1" dirty="0">
              <a:solidFill>
                <a:srgbClr val="993366"/>
              </a:solidFill>
              <a:latin typeface="楷体_GB2312" pitchFamily="1" charset="-122"/>
              <a:ea typeface="楷体_GB2312" pitchFamily="1" charset="-122"/>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p:nvPr>
            <p:ph type="title" idx="4294967295"/>
          </p:nvPr>
        </p:nvSpPr>
        <p:spPr>
          <a:xfrm>
            <a:off x="395288" y="692150"/>
            <a:ext cx="8229600" cy="1143000"/>
          </a:xfrm>
          <a:prstGeom prst="rect">
            <a:avLst/>
          </a:prstGeom>
          <a:noFill/>
          <a:ln w="9525">
            <a:noFill/>
          </a:ln>
        </p:spPr>
        <p:txBody>
          <a:bodyPr anchor="ctr" anchorCtr="0"/>
          <a:p>
            <a:pPr algn="l" eaLnBrk="1" hangingPunct="1"/>
            <a:r>
              <a:rPr lang="zh-CN" altLang="en-US" b="0" dirty="0">
                <a:solidFill>
                  <a:srgbClr val="993366"/>
                </a:solidFill>
                <a:latin typeface="楷体_GB2312" pitchFamily="1" charset="-122"/>
                <a:ea typeface="楷体_GB2312" pitchFamily="1" charset="-122"/>
              </a:rPr>
              <a:t>CACHE和虚拟存储器的不同点：</a:t>
            </a:r>
            <a:endParaRPr lang="zh-CN" altLang="en-US" b="0" dirty="0">
              <a:solidFill>
                <a:srgbClr val="993366"/>
              </a:solidFill>
              <a:latin typeface="楷体_GB2312" pitchFamily="1" charset="-122"/>
              <a:ea typeface="楷体_GB2312" pitchFamily="1" charset="-122"/>
            </a:endParaRPr>
          </a:p>
        </p:txBody>
      </p:sp>
      <p:sp>
        <p:nvSpPr>
          <p:cNvPr id="156675" name="Rectangle 3"/>
          <p:cNvSpPr>
            <a:spLocks noGrp="1"/>
          </p:cNvSpPr>
          <p:nvPr>
            <p:ph type="body" idx="4294967295"/>
          </p:nvPr>
        </p:nvSpPr>
        <p:spPr>
          <a:xfrm>
            <a:off x="180975" y="1701800"/>
            <a:ext cx="8785225" cy="4608513"/>
          </a:xfrm>
          <a:ln/>
        </p:spPr>
        <p:txBody>
          <a:bodyPr vert="horz" wrap="square" lIns="91440" tIns="45720" rIns="91440" bIns="45720" anchor="t" anchorCtr="0"/>
          <a:p>
            <a:pPr eaLnBrk="1" hangingPunct="1">
              <a:lnSpc>
                <a:spcPct val="90000"/>
              </a:lnSpc>
              <a:buFont typeface="Wingdings" panose="05000000000000000000" pitchFamily="2" charset="2"/>
              <a:buNone/>
            </a:pPr>
            <a:r>
              <a:rPr lang="zh-CN" altLang="en-US" b="1" dirty="0">
                <a:solidFill>
                  <a:schemeClr val="tx1"/>
                </a:solidFill>
                <a:latin typeface="楷体_GB2312" pitchFamily="1" charset="-122"/>
                <a:ea typeface="楷体_GB2312" pitchFamily="1" charset="-122"/>
              </a:rPr>
              <a:t>1</a:t>
            </a:r>
            <a:r>
              <a:rPr lang="zh-CN" altLang="en-US" sz="2800" b="1" dirty="0">
                <a:solidFill>
                  <a:schemeClr val="tx1"/>
                </a:solidFill>
                <a:latin typeface="楷体_GB2312" pitchFamily="1" charset="-122"/>
                <a:ea typeface="楷体_GB2312" pitchFamily="1" charset="-122"/>
              </a:rPr>
              <a:t>、</a:t>
            </a:r>
            <a:r>
              <a:rPr lang="zh-CN" altLang="en-US" sz="2800" b="1" dirty="0">
                <a:solidFill>
                  <a:srgbClr val="FF0000"/>
                </a:solidFill>
                <a:latin typeface="楷体_GB2312" pitchFamily="1" charset="-122"/>
                <a:ea typeface="楷体_GB2312" pitchFamily="1" charset="-122"/>
              </a:rPr>
              <a:t>未命中时的损失不同</a:t>
            </a:r>
            <a:r>
              <a:rPr lang="zh-CN" altLang="en-US" sz="2800" b="1" dirty="0">
                <a:solidFill>
                  <a:schemeClr val="tx1"/>
                </a:solidFill>
                <a:latin typeface="楷体_GB2312" pitchFamily="1" charset="-122"/>
                <a:ea typeface="楷体_GB2312" pitchFamily="1" charset="-122"/>
              </a:rPr>
              <a:t>：在虚拟存储器中未命中的性能损失要远大于cache系统中未命中的损失。</a:t>
            </a:r>
            <a:endParaRPr lang="zh-CN" altLang="en-US" sz="2800" b="1" dirty="0">
              <a:solidFill>
                <a:schemeClr val="tx1"/>
              </a:solidFill>
              <a:latin typeface="楷体_GB2312" pitchFamily="1" charset="-122"/>
              <a:ea typeface="楷体_GB2312" pitchFamily="1" charset="-122"/>
            </a:endParaRPr>
          </a:p>
          <a:p>
            <a:pPr eaLnBrk="1" hangingPunct="1">
              <a:lnSpc>
                <a:spcPct val="90000"/>
              </a:lnSpc>
              <a:buFont typeface="Wingdings" panose="05000000000000000000" pitchFamily="2" charset="2"/>
              <a:buNone/>
            </a:pPr>
            <a:r>
              <a:rPr lang="zh-CN" altLang="en-US" sz="2800" b="1" dirty="0">
                <a:solidFill>
                  <a:schemeClr val="tx1"/>
                </a:solidFill>
                <a:latin typeface="楷体_GB2312" pitchFamily="1" charset="-122"/>
                <a:ea typeface="楷体_GB2312" pitchFamily="1" charset="-122"/>
              </a:rPr>
              <a:t>2、</a:t>
            </a:r>
            <a:r>
              <a:rPr lang="zh-CN" altLang="en-US" sz="2800" b="1" dirty="0">
                <a:solidFill>
                  <a:srgbClr val="FF0000"/>
                </a:solidFill>
                <a:latin typeface="楷体_GB2312" pitchFamily="1" charset="-122"/>
                <a:ea typeface="楷体_GB2312" pitchFamily="1" charset="-122"/>
              </a:rPr>
              <a:t>侧重点不同</a:t>
            </a:r>
            <a:r>
              <a:rPr lang="zh-CN" altLang="en-US" sz="2800" b="1" dirty="0">
                <a:solidFill>
                  <a:schemeClr val="tx1"/>
                </a:solidFill>
                <a:latin typeface="楷体_GB2312" pitchFamily="1" charset="-122"/>
                <a:ea typeface="楷体_GB2312" pitchFamily="1" charset="-122"/>
              </a:rPr>
              <a:t>：前者解决速度问题，后者解决容量问题。</a:t>
            </a:r>
            <a:endParaRPr lang="zh-CN" altLang="en-US" sz="2800" b="1" dirty="0">
              <a:solidFill>
                <a:schemeClr val="tx1"/>
              </a:solidFill>
              <a:latin typeface="楷体_GB2312" pitchFamily="1" charset="-122"/>
              <a:ea typeface="楷体_GB2312" pitchFamily="1" charset="-122"/>
            </a:endParaRPr>
          </a:p>
          <a:p>
            <a:pPr eaLnBrk="1" hangingPunct="1">
              <a:lnSpc>
                <a:spcPct val="90000"/>
              </a:lnSpc>
              <a:buFont typeface="Wingdings" panose="05000000000000000000" pitchFamily="2" charset="2"/>
              <a:buNone/>
            </a:pPr>
            <a:r>
              <a:rPr lang="zh-CN" altLang="en-US" sz="2800" b="1" dirty="0">
                <a:solidFill>
                  <a:schemeClr val="tx1"/>
                </a:solidFill>
                <a:latin typeface="楷体_GB2312" pitchFamily="1" charset="-122"/>
                <a:ea typeface="楷体_GB2312" pitchFamily="1" charset="-122"/>
              </a:rPr>
              <a:t>3、</a:t>
            </a:r>
            <a:r>
              <a:rPr lang="zh-CN" altLang="en-US" sz="2800" b="1" dirty="0">
                <a:solidFill>
                  <a:srgbClr val="FF0000"/>
                </a:solidFill>
                <a:latin typeface="楷体_GB2312" pitchFamily="1" charset="-122"/>
                <a:ea typeface="楷体_GB2312" pitchFamily="1" charset="-122"/>
              </a:rPr>
              <a:t>信息传输不同</a:t>
            </a:r>
            <a:r>
              <a:rPr lang="zh-CN" altLang="en-US" sz="2800" b="1" dirty="0">
                <a:solidFill>
                  <a:schemeClr val="tx1"/>
                </a:solidFill>
                <a:latin typeface="楷体_GB2312" pitchFamily="1" charset="-122"/>
                <a:ea typeface="楷体_GB2312" pitchFamily="1" charset="-122"/>
              </a:rPr>
              <a:t>：每次传输的信息单元的大小相差很大。</a:t>
            </a:r>
            <a:endParaRPr lang="zh-CN" altLang="en-US" sz="2800" b="1" dirty="0">
              <a:solidFill>
                <a:schemeClr val="tx1"/>
              </a:solidFill>
              <a:latin typeface="楷体_GB2312" pitchFamily="1" charset="-122"/>
              <a:ea typeface="楷体_GB2312" pitchFamily="1" charset="-122"/>
            </a:endParaRPr>
          </a:p>
          <a:p>
            <a:pPr eaLnBrk="1" hangingPunct="1">
              <a:lnSpc>
                <a:spcPct val="90000"/>
              </a:lnSpc>
              <a:buFont typeface="Wingdings" panose="05000000000000000000" pitchFamily="2" charset="2"/>
              <a:buNone/>
            </a:pPr>
            <a:r>
              <a:rPr lang="zh-CN" altLang="en-US" sz="2800" b="1" dirty="0">
                <a:solidFill>
                  <a:schemeClr val="tx1"/>
                </a:solidFill>
                <a:latin typeface="楷体_GB2312" pitchFamily="1" charset="-122"/>
                <a:ea typeface="楷体_GB2312" pitchFamily="1" charset="-122"/>
              </a:rPr>
              <a:t>4、</a:t>
            </a:r>
            <a:r>
              <a:rPr lang="zh-CN" altLang="en-US" sz="2800" b="1" dirty="0">
                <a:solidFill>
                  <a:srgbClr val="FF0000"/>
                </a:solidFill>
                <a:latin typeface="楷体_GB2312" pitchFamily="1" charset="-122"/>
                <a:ea typeface="楷体_GB2312" pitchFamily="1" charset="-122"/>
              </a:rPr>
              <a:t>透明性不同</a:t>
            </a:r>
            <a:r>
              <a:rPr lang="zh-CN" altLang="en-US" sz="2800" b="1" dirty="0">
                <a:solidFill>
                  <a:schemeClr val="tx1"/>
                </a:solidFill>
                <a:latin typeface="楷体_GB2312" pitchFamily="1" charset="-122"/>
                <a:ea typeface="楷体_GB2312" pitchFamily="1" charset="-122"/>
              </a:rPr>
              <a:t>：前者完全由硬件完成，后者由硬件和软件共同完成，对系统程序员不透明。</a:t>
            </a:r>
            <a:endParaRPr lang="zh-CN" altLang="en-US" sz="2800" b="1" dirty="0">
              <a:solidFill>
                <a:schemeClr val="tx1"/>
              </a:solidFill>
              <a:latin typeface="楷体_GB2312" pitchFamily="1" charset="-122"/>
              <a:ea typeface="楷体_GB2312" pitchFamily="1" charset="-122"/>
            </a:endParaRPr>
          </a:p>
          <a:p>
            <a:pPr eaLnBrk="1" hangingPunct="1">
              <a:lnSpc>
                <a:spcPct val="90000"/>
              </a:lnSpc>
              <a:buFont typeface="Wingdings" panose="05000000000000000000" pitchFamily="2" charset="2"/>
              <a:buNone/>
            </a:pPr>
            <a:r>
              <a:rPr lang="zh-CN" altLang="en-US" sz="2800" b="1" dirty="0">
                <a:solidFill>
                  <a:schemeClr val="tx1"/>
                </a:solidFill>
                <a:latin typeface="楷体_GB2312" pitchFamily="1" charset="-122"/>
                <a:ea typeface="楷体_GB2312" pitchFamily="1" charset="-122"/>
              </a:rPr>
              <a:t>5、</a:t>
            </a:r>
            <a:r>
              <a:rPr lang="zh-CN" altLang="en-US" sz="2800" b="1" dirty="0">
                <a:solidFill>
                  <a:srgbClr val="FF0000"/>
                </a:solidFill>
                <a:latin typeface="楷体_GB2312" pitchFamily="1" charset="-122"/>
                <a:ea typeface="楷体_GB2312" pitchFamily="1" charset="-122"/>
              </a:rPr>
              <a:t>数据通路不同</a:t>
            </a:r>
            <a:r>
              <a:rPr lang="zh-CN" altLang="en-US" sz="2800" b="1" dirty="0">
                <a:solidFill>
                  <a:schemeClr val="tx1"/>
                </a:solidFill>
                <a:latin typeface="楷体_GB2312" pitchFamily="1" charset="-122"/>
                <a:ea typeface="楷体_GB2312" pitchFamily="1" charset="-122"/>
              </a:rPr>
              <a:t>：CPU与Cache和主存之间有直接的访问通路，但不能直接访问辅存。</a:t>
            </a:r>
            <a:endParaRPr lang="zh-CN" altLang="en-US" sz="2800" b="1" dirty="0">
              <a:solidFill>
                <a:schemeClr val="tx1"/>
              </a:solidFill>
              <a:latin typeface="楷体_GB2312" pitchFamily="1" charset="-122"/>
              <a:ea typeface="楷体_GB2312" pitchFamily="1"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2"/>
          <p:cNvSpPr>
            <a:spLocks noGrp="1"/>
          </p:cNvSpPr>
          <p:nvPr>
            <p:ph type="body" idx="4294967295"/>
          </p:nvPr>
        </p:nvSpPr>
        <p:spPr>
          <a:xfrm>
            <a:off x="685800" y="1219200"/>
            <a:ext cx="8001000" cy="4876800"/>
          </a:xfrm>
          <a:ln/>
        </p:spPr>
        <p:txBody>
          <a:bodyPr vert="horz" wrap="square" lIns="91440" tIns="45720" rIns="91440" bIns="45720" anchor="t" anchorCtr="0"/>
          <a:p>
            <a:pPr eaLnBrk="1" hangingPunct="1"/>
            <a:r>
              <a:rPr lang="zh-CN" altLang="en-US" b="1" dirty="0">
                <a:solidFill>
                  <a:srgbClr val="993366"/>
                </a:solidFill>
                <a:latin typeface="华文新魏" panose="02010800040101010101" pitchFamily="2" charset="-122"/>
                <a:ea typeface="华文新魏" panose="02010800040101010101" pitchFamily="2" charset="-122"/>
              </a:rPr>
              <a:t>主存-外存层次的基本信息传送单位：</a:t>
            </a:r>
            <a:endParaRPr lang="zh-CN" altLang="en-US" b="1" dirty="0">
              <a:solidFill>
                <a:srgbClr val="993366"/>
              </a:solidFill>
              <a:latin typeface="华文新魏" panose="02010800040101010101" pitchFamily="2" charset="-122"/>
              <a:ea typeface="华文新魏" panose="02010800040101010101" pitchFamily="2" charset="-122"/>
            </a:endParaRPr>
          </a:p>
          <a:p>
            <a:pPr eaLnBrk="1" hangingPunct="1"/>
            <a:r>
              <a:rPr lang="zh-CN" altLang="en-US" b="1" dirty="0">
                <a:solidFill>
                  <a:schemeClr val="tx1"/>
                </a:solidFill>
                <a:latin typeface="楷体_GB2312" pitchFamily="1" charset="-122"/>
                <a:ea typeface="楷体_GB2312" pitchFamily="1" charset="-122"/>
              </a:rPr>
              <a:t>主存-外存层次的基本信息传送单位可采用几种不同的方案：</a:t>
            </a:r>
            <a:r>
              <a:rPr lang="zh-CN" altLang="en-US" b="1" dirty="0">
                <a:solidFill>
                  <a:srgbClr val="993366"/>
                </a:solidFill>
                <a:latin typeface="楷体_GB2312" pitchFamily="1" charset="-122"/>
                <a:ea typeface="楷体_GB2312" pitchFamily="1" charset="-122"/>
              </a:rPr>
              <a:t>段、页</a:t>
            </a:r>
            <a:r>
              <a:rPr lang="zh-CN" altLang="en-US" b="1" dirty="0">
                <a:solidFill>
                  <a:schemeClr val="tx1"/>
                </a:solidFill>
                <a:latin typeface="楷体_GB2312" pitchFamily="1" charset="-122"/>
                <a:ea typeface="楷体_GB2312" pitchFamily="1" charset="-122"/>
              </a:rPr>
              <a:t>或</a:t>
            </a:r>
            <a:r>
              <a:rPr lang="zh-CN" altLang="en-US" b="1" dirty="0">
                <a:solidFill>
                  <a:srgbClr val="993366"/>
                </a:solidFill>
                <a:latin typeface="楷体_GB2312" pitchFamily="1" charset="-122"/>
                <a:ea typeface="楷体_GB2312" pitchFamily="1" charset="-122"/>
              </a:rPr>
              <a:t>段页</a:t>
            </a:r>
            <a:r>
              <a:rPr lang="zh-CN" altLang="en-US" b="1" dirty="0">
                <a:solidFill>
                  <a:schemeClr val="tx1"/>
                </a:solidFill>
                <a:latin typeface="楷体_GB2312" pitchFamily="1" charset="-122"/>
                <a:ea typeface="楷体_GB2312" pitchFamily="1" charset="-122"/>
              </a:rPr>
              <a:t>。</a:t>
            </a:r>
            <a:endParaRPr lang="zh-CN" altLang="en-US" b="1" dirty="0">
              <a:solidFill>
                <a:schemeClr val="tx1"/>
              </a:solidFill>
              <a:latin typeface="楷体_GB2312" pitchFamily="1" charset="-122"/>
              <a:ea typeface="楷体_GB2312" pitchFamily="1" charset="-122"/>
            </a:endParaRPr>
          </a:p>
          <a:p>
            <a:pPr eaLnBrk="1" hangingPunct="1"/>
            <a:r>
              <a:rPr lang="zh-CN" altLang="en-US" b="1" dirty="0">
                <a:solidFill>
                  <a:srgbClr val="993366"/>
                </a:solidFill>
                <a:latin typeface="楷体_GB2312" pitchFamily="1" charset="-122"/>
                <a:ea typeface="楷体_GB2312" pitchFamily="1" charset="-122"/>
              </a:rPr>
              <a:t>段</a:t>
            </a:r>
            <a:r>
              <a:rPr lang="zh-CN" altLang="en-US" b="1" dirty="0">
                <a:solidFill>
                  <a:schemeClr val="tx1"/>
                </a:solidFill>
                <a:latin typeface="楷体_GB2312" pitchFamily="1" charset="-122"/>
                <a:ea typeface="楷体_GB2312" pitchFamily="1" charset="-122"/>
              </a:rPr>
              <a:t>是按照程序的逻辑结构划分成的多个相对独立部分，作为独立的逻辑单位。</a:t>
            </a:r>
            <a:endParaRPr lang="zh-CN" altLang="en-US" b="1" dirty="0">
              <a:solidFill>
                <a:schemeClr val="tx1"/>
              </a:solidFill>
              <a:latin typeface="楷体_GB2312" pitchFamily="1" charset="-122"/>
              <a:ea typeface="楷体_GB2312" pitchFamily="1" charset="-122"/>
            </a:endParaRPr>
          </a:p>
          <a:p>
            <a:pPr eaLnBrk="1" hangingPunct="1"/>
            <a:r>
              <a:rPr lang="zh-CN" altLang="en-US" b="1" dirty="0">
                <a:solidFill>
                  <a:srgbClr val="993366"/>
                </a:solidFill>
                <a:latin typeface="楷体_GB2312" pitchFamily="1" charset="-122"/>
                <a:ea typeface="楷体_GB2312" pitchFamily="1" charset="-122"/>
              </a:rPr>
              <a:t>页</a:t>
            </a:r>
            <a:r>
              <a:rPr lang="zh-CN" altLang="en-US" b="1" dirty="0">
                <a:solidFill>
                  <a:schemeClr val="tx1"/>
                </a:solidFill>
                <a:latin typeface="楷体_GB2312" pitchFamily="1" charset="-122"/>
                <a:ea typeface="楷体_GB2312" pitchFamily="1" charset="-122"/>
              </a:rPr>
              <a:t>是主存物理空间中划分出来的等长的固定区域。</a:t>
            </a:r>
            <a:r>
              <a:rPr lang="zh-CN" altLang="en-US" b="1" dirty="0">
                <a:solidFill>
                  <a:srgbClr val="993366"/>
                </a:solidFill>
                <a:latin typeface="楷体_GB2312" pitchFamily="1" charset="-122"/>
                <a:ea typeface="楷体_GB2312" pitchFamily="1" charset="-122"/>
              </a:rPr>
              <a:t>　　</a:t>
            </a:r>
            <a:endParaRPr lang="zh-CN" altLang="en-US" b="1" dirty="0">
              <a:solidFill>
                <a:srgbClr val="993366"/>
              </a:solidFill>
              <a:latin typeface="楷体_GB2312" pitchFamily="1" charset="-122"/>
              <a:ea typeface="楷体_GB2312" pitchFamily="1" charset="-122"/>
            </a:endParaRPr>
          </a:p>
          <a:p>
            <a:pPr eaLnBrk="1" hangingPunct="1"/>
            <a:r>
              <a:rPr lang="zh-CN" altLang="en-US" b="1" dirty="0">
                <a:solidFill>
                  <a:srgbClr val="993366"/>
                </a:solidFill>
                <a:latin typeface="楷体_GB2312" pitchFamily="1" charset="-122"/>
                <a:ea typeface="楷体_GB2312" pitchFamily="1" charset="-122"/>
              </a:rPr>
              <a:t>段页式管理</a:t>
            </a:r>
            <a:r>
              <a:rPr lang="zh-CN" altLang="en-US" b="1" dirty="0">
                <a:solidFill>
                  <a:schemeClr val="tx1"/>
                </a:solidFill>
                <a:latin typeface="楷体_GB2312" pitchFamily="1" charset="-122"/>
                <a:ea typeface="楷体_GB2312" pitchFamily="1" charset="-122"/>
              </a:rPr>
              <a:t>采用分段和分页结合的方法。</a:t>
            </a:r>
            <a:endParaRPr lang="zh-CN" altLang="en-US" b="1" dirty="0">
              <a:solidFill>
                <a:schemeClr val="tx1"/>
              </a:solidFill>
              <a:latin typeface="楷体_GB2312" pitchFamily="1" charset="-122"/>
              <a:ea typeface="楷体_GB2312" pitchFamily="1" charset="-122"/>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p:nvPr>
            <p:ph type="title" idx="4294967295"/>
          </p:nvPr>
        </p:nvSpPr>
        <p:spPr>
          <a:xfrm>
            <a:off x="685800" y="990600"/>
            <a:ext cx="7620000" cy="762000"/>
          </a:xfrm>
          <a:prstGeom prst="rect">
            <a:avLst/>
          </a:prstGeom>
          <a:solidFill>
            <a:srgbClr val="FFFFFF"/>
          </a:solidFill>
          <a:ln w="9525" cap="flat" cmpd="sng">
            <a:solidFill>
              <a:srgbClr val="000000"/>
            </a:solidFill>
            <a:prstDash val="solid"/>
            <a:headEnd type="none" w="med" len="med"/>
            <a:tailEnd type="none" w="med" len="med"/>
          </a:ln>
        </p:spPr>
        <p:txBody>
          <a:bodyPr/>
          <a:p>
            <a:pPr algn="l" eaLnBrk="1" hangingPunct="1"/>
            <a:r>
              <a:rPr lang="zh-CN" altLang="zh-CN" dirty="0">
                <a:solidFill>
                  <a:srgbClr val="993366"/>
                </a:solidFill>
                <a:ea typeface="华文新魏" panose="02010800040101010101" pitchFamily="2" charset="-122"/>
              </a:rPr>
              <a:t>页式虚拟存储器</a:t>
            </a:r>
            <a:endParaRPr lang="zh-CN" altLang="zh-CN" dirty="0">
              <a:solidFill>
                <a:srgbClr val="993366"/>
              </a:solidFill>
              <a:ea typeface="华文新魏" panose="02010800040101010101" pitchFamily="2" charset="-122"/>
            </a:endParaRPr>
          </a:p>
        </p:txBody>
      </p:sp>
      <p:sp>
        <p:nvSpPr>
          <p:cNvPr id="158723" name="Rectangle 3"/>
          <p:cNvSpPr>
            <a:spLocks noGrp="1"/>
          </p:cNvSpPr>
          <p:nvPr>
            <p:ph type="body" idx="4294967295"/>
          </p:nvPr>
        </p:nvSpPr>
        <p:spPr>
          <a:xfrm>
            <a:off x="685800" y="1828800"/>
            <a:ext cx="7848600" cy="4267200"/>
          </a:xfrm>
          <a:ln/>
        </p:spPr>
        <p:txBody>
          <a:bodyPr vert="horz" wrap="square" lIns="91440" tIns="45720" rIns="91440" bIns="45720" anchor="t" anchorCtr="0"/>
          <a:p>
            <a:pPr eaLnBrk="1" hangingPunct="1"/>
            <a:r>
              <a:rPr lang="zh-CN" altLang="zh-CN" b="1" dirty="0">
                <a:ea typeface="楷体_GB2312" pitchFamily="1" charset="-122"/>
              </a:rPr>
              <a:t>页式管理：该系统传送的基本信息单位式定长的页。</a:t>
            </a:r>
            <a:endParaRPr lang="zh-CN" altLang="zh-CN" b="1" dirty="0">
              <a:ea typeface="楷体_GB2312" pitchFamily="1" charset="-122"/>
            </a:endParaRPr>
          </a:p>
          <a:p>
            <a:pPr eaLnBrk="1" hangingPunct="1"/>
            <a:r>
              <a:rPr lang="zh-CN" altLang="zh-CN" b="1" dirty="0">
                <a:ea typeface="楷体_GB2312" pitchFamily="1" charset="-122"/>
              </a:rPr>
              <a:t>逻辑页：在页式虚拟存储系统中，把虚拟空间分成页，称为逻辑页；</a:t>
            </a:r>
            <a:endParaRPr lang="zh-CN" altLang="zh-CN" b="1" dirty="0">
              <a:ea typeface="楷体_GB2312" pitchFamily="1" charset="-122"/>
            </a:endParaRPr>
          </a:p>
          <a:p>
            <a:pPr eaLnBrk="1" hangingPunct="1"/>
            <a:r>
              <a:rPr lang="zh-CN" altLang="zh-CN" b="1" dirty="0">
                <a:ea typeface="楷体_GB2312" pitchFamily="1" charset="-122"/>
              </a:rPr>
              <a:t>物理页：主存空间也分成同样大小的页，称为物理页。</a:t>
            </a:r>
            <a:endParaRPr lang="zh-CN" altLang="zh-CN" b="1" dirty="0">
              <a:ea typeface="楷体_GB2312" pitchFamily="1"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虚拟存储器——</a:t>
            </a:r>
            <a:r>
              <a:rPr lang="zh-CN" altLang="en-US" sz="2400" dirty="0"/>
              <a:t>页式虚拟存储器</a:t>
            </a:r>
            <a:endParaRPr lang="zh-CN" altLang="en-US" sz="2400" dirty="0"/>
          </a:p>
        </p:txBody>
      </p:sp>
      <p:sp>
        <p:nvSpPr>
          <p:cNvPr id="159747" name="Rectangle 3"/>
          <p:cNvSpPr>
            <a:spLocks noGrp="1"/>
          </p:cNvSpPr>
          <p:nvPr>
            <p:ph type="body" idx="4294967295"/>
          </p:nvPr>
        </p:nvSpPr>
        <p:spPr>
          <a:xfrm>
            <a:off x="685800" y="1828800"/>
            <a:ext cx="7848600" cy="4267200"/>
          </a:xfrm>
          <a:ln/>
        </p:spPr>
        <p:txBody>
          <a:bodyPr vert="horz" wrap="square" lIns="91440" tIns="45720" rIns="91440" bIns="45720" anchor="t" anchorCtr="0"/>
          <a:p>
            <a:pPr eaLnBrk="1" hangingPunct="1"/>
            <a:r>
              <a:rPr lang="zh-CN" altLang="en-US" sz="2800" b="1" dirty="0">
                <a:ea typeface="楷体_GB2312" pitchFamily="1" charset="-122"/>
              </a:rPr>
              <a:t>假设逻辑页号为0，1，2，…，m，物理页号为0，1，…，n，显然有m&gt;n，由于页的大小都取2的整数幂个字，所以，页的起点都落在低位字段为零的地址上。</a:t>
            </a:r>
            <a:endParaRPr lang="zh-CN" altLang="en-US" sz="2800" b="1" dirty="0">
              <a:ea typeface="楷体_GB2312" pitchFamily="1" charset="-122"/>
            </a:endParaRPr>
          </a:p>
          <a:p>
            <a:pPr eaLnBrk="1" hangingPunct="1"/>
            <a:r>
              <a:rPr lang="zh-CN" altLang="en-US" sz="2800" b="1" dirty="0">
                <a:solidFill>
                  <a:srgbClr val="993366"/>
                </a:solidFill>
                <a:ea typeface="楷体_GB2312" pitchFamily="1" charset="-122"/>
              </a:rPr>
              <a:t>虚存地址</a:t>
            </a:r>
            <a:r>
              <a:rPr lang="zh-CN" altLang="en-US" sz="2800" b="1" dirty="0">
                <a:ea typeface="楷体_GB2312" pitchFamily="1" charset="-122"/>
              </a:rPr>
              <a:t>分为两个字段：高位字段为逻辑页号，低位字段为页内行地址。</a:t>
            </a:r>
            <a:endParaRPr lang="zh-CN" altLang="en-US" sz="2800" b="1" dirty="0">
              <a:ea typeface="楷体_GB2312" pitchFamily="1" charset="-122"/>
            </a:endParaRPr>
          </a:p>
          <a:p>
            <a:pPr eaLnBrk="1" hangingPunct="1"/>
            <a:r>
              <a:rPr lang="zh-CN" altLang="en-US" sz="2800" b="1" dirty="0">
                <a:solidFill>
                  <a:srgbClr val="993366"/>
                </a:solidFill>
                <a:ea typeface="楷体_GB2312" pitchFamily="1" charset="-122"/>
              </a:rPr>
              <a:t>实存地址</a:t>
            </a:r>
            <a:r>
              <a:rPr lang="zh-CN" altLang="en-US" sz="2800" b="1" dirty="0">
                <a:ea typeface="楷体_GB2312" pitchFamily="1" charset="-122"/>
              </a:rPr>
              <a:t>也分两个字段：高位字段为物理页号，低位字段为页内行地址。由于两者的页面大小一样，所以</a:t>
            </a:r>
            <a:r>
              <a:rPr lang="zh-CN" altLang="en-US" sz="2800" b="1" dirty="0">
                <a:solidFill>
                  <a:srgbClr val="993366"/>
                </a:solidFill>
                <a:ea typeface="楷体_GB2312" pitchFamily="1" charset="-122"/>
              </a:rPr>
              <a:t>页内行地址是相等的。</a:t>
            </a:r>
            <a:r>
              <a:rPr lang="zh-CN" altLang="en-US" sz="2800" b="1" dirty="0"/>
              <a:t> </a:t>
            </a:r>
            <a:endParaRPr lang="zh-CN" altLang="en-US" sz="2800" b="1"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0770" name="Rectangle 2"/>
          <p:cNvSpPr/>
          <p:nvPr>
            <p:ph type="title" idx="4294967295"/>
          </p:nvPr>
        </p:nvSpPr>
        <p:spPr>
          <a:xfrm>
            <a:off x="685800" y="4572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虚拟存储器——</a:t>
            </a:r>
            <a:r>
              <a:rPr lang="zh-CN" altLang="en-US" sz="2000" dirty="0"/>
              <a:t>页式虚拟存储器</a:t>
            </a:r>
            <a:endParaRPr lang="zh-CN" altLang="en-US" sz="2000" dirty="0"/>
          </a:p>
        </p:txBody>
      </p:sp>
      <p:grpSp>
        <p:nvGrpSpPr>
          <p:cNvPr id="160771" name="Group 3"/>
          <p:cNvGrpSpPr/>
          <p:nvPr/>
        </p:nvGrpSpPr>
        <p:grpSpPr>
          <a:xfrm>
            <a:off x="381000" y="1219200"/>
            <a:ext cx="8382000" cy="5029200"/>
            <a:chOff x="0" y="0"/>
            <a:chExt cx="5280" cy="3168"/>
          </a:xfrm>
        </p:grpSpPr>
        <p:sp>
          <p:nvSpPr>
            <p:cNvPr id="160772" name="AutoShape 4"/>
            <p:cNvSpPr/>
            <p:nvPr/>
          </p:nvSpPr>
          <p:spPr>
            <a:xfrm>
              <a:off x="432" y="336"/>
              <a:ext cx="1632" cy="288"/>
            </a:xfrm>
            <a:prstGeom prst="flowChartProcess">
              <a:avLst/>
            </a:prstGeom>
            <a:solidFill>
              <a:srgbClr val="FFCC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b="1" dirty="0">
                  <a:solidFill>
                    <a:schemeClr val="tx1"/>
                  </a:solidFill>
                  <a:latin typeface="Tahoma" panose="020B0604030504040204" pitchFamily="34" charset="0"/>
                </a:rPr>
                <a:t>页面基地址</a:t>
              </a:r>
              <a:endParaRPr lang="zh-CN" altLang="zh-CN" sz="2400" b="1" dirty="0">
                <a:solidFill>
                  <a:schemeClr val="tx1"/>
                </a:solidFill>
                <a:latin typeface="Tahoma" panose="020B0604030504040204" pitchFamily="34" charset="0"/>
              </a:endParaRPr>
            </a:p>
          </p:txBody>
        </p:sp>
        <p:sp>
          <p:nvSpPr>
            <p:cNvPr id="160773" name="AutoShape 5"/>
            <p:cNvSpPr/>
            <p:nvPr/>
          </p:nvSpPr>
          <p:spPr>
            <a:xfrm>
              <a:off x="912" y="1152"/>
              <a:ext cx="1440" cy="1728"/>
            </a:xfrm>
            <a:prstGeom prst="flowChartProcess">
              <a:avLst/>
            </a:prstGeom>
            <a:solidFill>
              <a:srgbClr val="CCFF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60774" name="Line 6"/>
            <p:cNvSpPr/>
            <p:nvPr/>
          </p:nvSpPr>
          <p:spPr>
            <a:xfrm>
              <a:off x="912" y="1344"/>
              <a:ext cx="1440" cy="0"/>
            </a:xfrm>
            <a:prstGeom prst="line">
              <a:avLst/>
            </a:prstGeom>
            <a:ln w="9525" cap="flat" cmpd="sng">
              <a:solidFill>
                <a:schemeClr val="tx1"/>
              </a:solidFill>
              <a:prstDash val="solid"/>
              <a:headEnd type="none" w="med" len="med"/>
              <a:tailEnd type="none" w="med" len="med"/>
            </a:ln>
          </p:spPr>
        </p:sp>
        <p:sp>
          <p:nvSpPr>
            <p:cNvPr id="160775" name="Line 7"/>
            <p:cNvSpPr/>
            <p:nvPr/>
          </p:nvSpPr>
          <p:spPr>
            <a:xfrm>
              <a:off x="912" y="1536"/>
              <a:ext cx="1440" cy="0"/>
            </a:xfrm>
            <a:prstGeom prst="line">
              <a:avLst/>
            </a:prstGeom>
            <a:ln w="9525" cap="flat" cmpd="sng">
              <a:solidFill>
                <a:schemeClr val="tx1"/>
              </a:solidFill>
              <a:prstDash val="solid"/>
              <a:headEnd type="none" w="med" len="med"/>
              <a:tailEnd type="none" w="med" len="med"/>
            </a:ln>
          </p:spPr>
        </p:sp>
        <p:sp>
          <p:nvSpPr>
            <p:cNvPr id="160776" name="Line 8"/>
            <p:cNvSpPr/>
            <p:nvPr/>
          </p:nvSpPr>
          <p:spPr>
            <a:xfrm>
              <a:off x="912" y="2016"/>
              <a:ext cx="1440" cy="0"/>
            </a:xfrm>
            <a:prstGeom prst="line">
              <a:avLst/>
            </a:prstGeom>
            <a:ln w="9525" cap="flat" cmpd="sng">
              <a:solidFill>
                <a:schemeClr val="tx1"/>
              </a:solidFill>
              <a:prstDash val="solid"/>
              <a:headEnd type="none" w="med" len="med"/>
              <a:tailEnd type="none" w="med" len="med"/>
            </a:ln>
          </p:spPr>
        </p:sp>
        <p:sp>
          <p:nvSpPr>
            <p:cNvPr id="160777" name="Line 9"/>
            <p:cNvSpPr/>
            <p:nvPr/>
          </p:nvSpPr>
          <p:spPr>
            <a:xfrm>
              <a:off x="912" y="2208"/>
              <a:ext cx="1440" cy="0"/>
            </a:xfrm>
            <a:prstGeom prst="line">
              <a:avLst/>
            </a:prstGeom>
            <a:ln w="9525" cap="flat" cmpd="sng">
              <a:solidFill>
                <a:schemeClr val="tx1"/>
              </a:solidFill>
              <a:prstDash val="solid"/>
              <a:headEnd type="none" w="med" len="med"/>
              <a:tailEnd type="none" w="med" len="med"/>
            </a:ln>
          </p:spPr>
        </p:sp>
        <p:sp>
          <p:nvSpPr>
            <p:cNvPr id="160778" name="Line 10"/>
            <p:cNvSpPr/>
            <p:nvPr/>
          </p:nvSpPr>
          <p:spPr>
            <a:xfrm>
              <a:off x="912" y="2688"/>
              <a:ext cx="1440" cy="0"/>
            </a:xfrm>
            <a:prstGeom prst="line">
              <a:avLst/>
            </a:prstGeom>
            <a:ln w="9525" cap="flat" cmpd="sng">
              <a:solidFill>
                <a:schemeClr val="tx1"/>
              </a:solidFill>
              <a:prstDash val="solid"/>
              <a:headEnd type="none" w="med" len="med"/>
              <a:tailEnd type="none" w="med" len="med"/>
            </a:ln>
          </p:spPr>
        </p:sp>
        <p:sp>
          <p:nvSpPr>
            <p:cNvPr id="160779" name="Line 11"/>
            <p:cNvSpPr/>
            <p:nvPr/>
          </p:nvSpPr>
          <p:spPr>
            <a:xfrm>
              <a:off x="1632" y="1152"/>
              <a:ext cx="0" cy="1728"/>
            </a:xfrm>
            <a:prstGeom prst="line">
              <a:avLst/>
            </a:prstGeom>
            <a:ln w="9525" cap="flat" cmpd="sng">
              <a:solidFill>
                <a:schemeClr val="tx1"/>
              </a:solidFill>
              <a:prstDash val="sysDot"/>
              <a:headEnd type="none" w="med" len="med"/>
              <a:tailEnd type="none" w="med" len="med"/>
            </a:ln>
          </p:spPr>
        </p:sp>
        <p:sp>
          <p:nvSpPr>
            <p:cNvPr id="160780" name="Line 12"/>
            <p:cNvSpPr/>
            <p:nvPr/>
          </p:nvSpPr>
          <p:spPr>
            <a:xfrm flipH="1">
              <a:off x="96" y="432"/>
              <a:ext cx="336" cy="0"/>
            </a:xfrm>
            <a:prstGeom prst="line">
              <a:avLst/>
            </a:prstGeom>
            <a:ln w="28575" cap="flat" cmpd="sng">
              <a:solidFill>
                <a:schemeClr val="tx1"/>
              </a:solidFill>
              <a:prstDash val="solid"/>
              <a:headEnd type="none" w="med" len="med"/>
              <a:tailEnd type="none" w="med" len="med"/>
            </a:ln>
          </p:spPr>
        </p:sp>
        <p:sp>
          <p:nvSpPr>
            <p:cNvPr id="160781" name="Line 13"/>
            <p:cNvSpPr/>
            <p:nvPr/>
          </p:nvSpPr>
          <p:spPr>
            <a:xfrm>
              <a:off x="96" y="432"/>
              <a:ext cx="0" cy="384"/>
            </a:xfrm>
            <a:prstGeom prst="line">
              <a:avLst/>
            </a:prstGeom>
            <a:ln w="28575" cap="flat" cmpd="sng">
              <a:solidFill>
                <a:schemeClr val="tx1"/>
              </a:solidFill>
              <a:prstDash val="solid"/>
              <a:headEnd type="none" w="med" len="med"/>
              <a:tailEnd type="triangle" w="med" len="med"/>
            </a:ln>
          </p:spPr>
        </p:sp>
        <p:sp>
          <p:nvSpPr>
            <p:cNvPr id="160782" name="Line 14"/>
            <p:cNvSpPr/>
            <p:nvPr/>
          </p:nvSpPr>
          <p:spPr>
            <a:xfrm>
              <a:off x="3120" y="624"/>
              <a:ext cx="0" cy="288"/>
            </a:xfrm>
            <a:prstGeom prst="line">
              <a:avLst/>
            </a:prstGeom>
            <a:ln w="28575" cap="flat" cmpd="sng">
              <a:solidFill>
                <a:schemeClr val="tx1"/>
              </a:solidFill>
              <a:prstDash val="solid"/>
              <a:headEnd type="none" w="med" len="med"/>
              <a:tailEnd type="none" w="med" len="med"/>
            </a:ln>
          </p:spPr>
        </p:sp>
        <p:sp>
          <p:nvSpPr>
            <p:cNvPr id="160783" name="Line 15"/>
            <p:cNvSpPr/>
            <p:nvPr/>
          </p:nvSpPr>
          <p:spPr>
            <a:xfrm flipH="1">
              <a:off x="192" y="912"/>
              <a:ext cx="2928" cy="0"/>
            </a:xfrm>
            <a:prstGeom prst="line">
              <a:avLst/>
            </a:prstGeom>
            <a:ln w="28575" cap="flat" cmpd="sng">
              <a:solidFill>
                <a:schemeClr val="tx1"/>
              </a:solidFill>
              <a:prstDash val="solid"/>
              <a:headEnd type="none" w="med" len="med"/>
              <a:tailEnd type="triangle" w="med" len="med"/>
            </a:ln>
          </p:spPr>
        </p:sp>
        <p:sp>
          <p:nvSpPr>
            <p:cNvPr id="160784" name="Line 16"/>
            <p:cNvSpPr/>
            <p:nvPr/>
          </p:nvSpPr>
          <p:spPr>
            <a:xfrm>
              <a:off x="96" y="1008"/>
              <a:ext cx="0" cy="1104"/>
            </a:xfrm>
            <a:prstGeom prst="line">
              <a:avLst/>
            </a:prstGeom>
            <a:ln w="28575" cap="flat" cmpd="sng">
              <a:solidFill>
                <a:schemeClr val="tx1"/>
              </a:solidFill>
              <a:prstDash val="solid"/>
              <a:headEnd type="none" w="med" len="med"/>
              <a:tailEnd type="none" w="med" len="med"/>
            </a:ln>
          </p:spPr>
        </p:sp>
        <p:sp>
          <p:nvSpPr>
            <p:cNvPr id="160785" name="Line 17"/>
            <p:cNvSpPr/>
            <p:nvPr/>
          </p:nvSpPr>
          <p:spPr>
            <a:xfrm>
              <a:off x="96" y="2112"/>
              <a:ext cx="816" cy="0"/>
            </a:xfrm>
            <a:prstGeom prst="line">
              <a:avLst/>
            </a:prstGeom>
            <a:ln w="28575" cap="flat" cmpd="sng">
              <a:solidFill>
                <a:schemeClr val="tx1"/>
              </a:solidFill>
              <a:prstDash val="solid"/>
              <a:headEnd type="none" w="med" len="med"/>
              <a:tailEnd type="triangle" w="med" len="med"/>
            </a:ln>
          </p:spPr>
        </p:sp>
        <p:sp>
          <p:nvSpPr>
            <p:cNvPr id="160786" name="Line 18"/>
            <p:cNvSpPr/>
            <p:nvPr/>
          </p:nvSpPr>
          <p:spPr>
            <a:xfrm>
              <a:off x="2016" y="2112"/>
              <a:ext cx="960" cy="0"/>
            </a:xfrm>
            <a:prstGeom prst="line">
              <a:avLst/>
            </a:prstGeom>
            <a:ln w="28575" cap="flat" cmpd="sng">
              <a:solidFill>
                <a:schemeClr val="tx1"/>
              </a:solidFill>
              <a:prstDash val="solid"/>
              <a:headEnd type="none" w="med" len="med"/>
              <a:tailEnd type="none" w="med" len="med"/>
            </a:ln>
          </p:spPr>
        </p:sp>
        <p:sp>
          <p:nvSpPr>
            <p:cNvPr id="160787" name="Line 19"/>
            <p:cNvSpPr/>
            <p:nvPr/>
          </p:nvSpPr>
          <p:spPr>
            <a:xfrm>
              <a:off x="2976" y="2112"/>
              <a:ext cx="0" cy="384"/>
            </a:xfrm>
            <a:prstGeom prst="line">
              <a:avLst/>
            </a:prstGeom>
            <a:ln w="28575" cap="flat" cmpd="sng">
              <a:solidFill>
                <a:schemeClr val="tx1"/>
              </a:solidFill>
              <a:prstDash val="solid"/>
              <a:headEnd type="none" w="med" len="med"/>
              <a:tailEnd type="triangle" w="med" len="med"/>
            </a:ln>
          </p:spPr>
        </p:sp>
        <p:sp>
          <p:nvSpPr>
            <p:cNvPr id="160788" name="Line 20"/>
            <p:cNvSpPr/>
            <p:nvPr/>
          </p:nvSpPr>
          <p:spPr>
            <a:xfrm>
              <a:off x="4560" y="624"/>
              <a:ext cx="0" cy="1872"/>
            </a:xfrm>
            <a:prstGeom prst="line">
              <a:avLst/>
            </a:prstGeom>
            <a:ln w="28575" cap="flat" cmpd="sng">
              <a:solidFill>
                <a:schemeClr val="tx1"/>
              </a:solidFill>
              <a:prstDash val="solid"/>
              <a:headEnd type="none" w="med" len="med"/>
              <a:tailEnd type="triangle" w="med" len="med"/>
            </a:ln>
          </p:spPr>
        </p:sp>
        <p:grpSp>
          <p:nvGrpSpPr>
            <p:cNvPr id="160789" name="Group 21"/>
            <p:cNvGrpSpPr/>
            <p:nvPr/>
          </p:nvGrpSpPr>
          <p:grpSpPr>
            <a:xfrm>
              <a:off x="2640" y="336"/>
              <a:ext cx="2592" cy="288"/>
              <a:chOff x="0" y="0"/>
              <a:chExt cx="2592" cy="288"/>
            </a:xfrm>
          </p:grpSpPr>
          <p:sp>
            <p:nvSpPr>
              <p:cNvPr id="160803" name="AutoShape 22"/>
              <p:cNvSpPr/>
              <p:nvPr/>
            </p:nvSpPr>
            <p:spPr>
              <a:xfrm>
                <a:off x="0" y="0"/>
                <a:ext cx="2592" cy="288"/>
              </a:xfrm>
              <a:prstGeom prst="flowChartProcess">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b="1" dirty="0">
                    <a:solidFill>
                      <a:schemeClr val="tx1"/>
                    </a:solidFill>
                    <a:latin typeface="Tahoma" panose="020B0604030504040204" pitchFamily="34" charset="0"/>
                  </a:rPr>
                  <a:t>逻辑页号        页内行地址</a:t>
                </a:r>
                <a:endParaRPr lang="zh-CN" altLang="zh-CN" sz="2400" b="1" dirty="0">
                  <a:solidFill>
                    <a:schemeClr val="tx1"/>
                  </a:solidFill>
                  <a:latin typeface="Tahoma" panose="020B0604030504040204" pitchFamily="34" charset="0"/>
                </a:endParaRPr>
              </a:p>
            </p:txBody>
          </p:sp>
          <p:sp>
            <p:nvSpPr>
              <p:cNvPr id="160804" name="Line 23"/>
              <p:cNvSpPr/>
              <p:nvPr/>
            </p:nvSpPr>
            <p:spPr>
              <a:xfrm>
                <a:off x="1200" y="0"/>
                <a:ext cx="0" cy="288"/>
              </a:xfrm>
              <a:prstGeom prst="line">
                <a:avLst/>
              </a:prstGeom>
              <a:ln w="9525" cap="flat" cmpd="sng">
                <a:solidFill>
                  <a:schemeClr val="tx1"/>
                </a:solidFill>
                <a:prstDash val="solid"/>
                <a:headEnd type="none" w="med" len="med"/>
                <a:tailEnd type="none" w="med" len="med"/>
              </a:ln>
            </p:spPr>
          </p:sp>
        </p:grpSp>
        <p:grpSp>
          <p:nvGrpSpPr>
            <p:cNvPr id="160790" name="Group 24"/>
            <p:cNvGrpSpPr/>
            <p:nvPr/>
          </p:nvGrpSpPr>
          <p:grpSpPr>
            <a:xfrm>
              <a:off x="2640" y="2496"/>
              <a:ext cx="2592" cy="288"/>
              <a:chOff x="0" y="0"/>
              <a:chExt cx="2592" cy="288"/>
            </a:xfrm>
          </p:grpSpPr>
          <p:sp>
            <p:nvSpPr>
              <p:cNvPr id="160801" name="AutoShape 25"/>
              <p:cNvSpPr/>
              <p:nvPr/>
            </p:nvSpPr>
            <p:spPr>
              <a:xfrm>
                <a:off x="0" y="0"/>
                <a:ext cx="2592" cy="288"/>
              </a:xfrm>
              <a:prstGeom prst="flowChartProcess">
                <a:avLst/>
              </a:prstGeom>
              <a:solidFill>
                <a:srgbClr val="FFCC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b="1" dirty="0">
                    <a:solidFill>
                      <a:schemeClr val="tx1"/>
                    </a:solidFill>
                    <a:latin typeface="Tahoma" panose="020B0604030504040204" pitchFamily="34" charset="0"/>
                  </a:rPr>
                  <a:t>物理页号        页内行地址</a:t>
                </a:r>
                <a:endParaRPr lang="zh-CN" altLang="zh-CN" sz="2400" b="1" dirty="0">
                  <a:solidFill>
                    <a:schemeClr val="tx1"/>
                  </a:solidFill>
                  <a:latin typeface="Tahoma" panose="020B0604030504040204" pitchFamily="34" charset="0"/>
                </a:endParaRPr>
              </a:p>
            </p:txBody>
          </p:sp>
          <p:sp>
            <p:nvSpPr>
              <p:cNvPr id="160802" name="Line 26"/>
              <p:cNvSpPr/>
              <p:nvPr/>
            </p:nvSpPr>
            <p:spPr>
              <a:xfrm>
                <a:off x="1200" y="0"/>
                <a:ext cx="0" cy="288"/>
              </a:xfrm>
              <a:prstGeom prst="line">
                <a:avLst/>
              </a:prstGeom>
              <a:ln w="9525" cap="flat" cmpd="sng">
                <a:solidFill>
                  <a:schemeClr val="tx1"/>
                </a:solidFill>
                <a:prstDash val="solid"/>
                <a:headEnd type="none" w="med" len="med"/>
                <a:tailEnd type="none" w="med" len="med"/>
              </a:ln>
            </p:spPr>
          </p:sp>
        </p:grpSp>
        <p:sp>
          <p:nvSpPr>
            <p:cNvPr id="160791" name="Text Box 27"/>
            <p:cNvSpPr txBox="1"/>
            <p:nvPr/>
          </p:nvSpPr>
          <p:spPr>
            <a:xfrm>
              <a:off x="432" y="48"/>
              <a:ext cx="168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2400" b="1" dirty="0">
                  <a:solidFill>
                    <a:schemeClr val="tx1"/>
                  </a:solidFill>
                  <a:latin typeface="Tahoma" panose="020B0604030504040204" pitchFamily="34" charset="0"/>
                </a:rPr>
                <a:t>页表基址寄存器</a:t>
              </a:r>
              <a:endParaRPr lang="zh-CN" altLang="zh-CN" sz="2400" b="1" dirty="0">
                <a:solidFill>
                  <a:schemeClr val="tx1"/>
                </a:solidFill>
                <a:latin typeface="Tahoma" panose="020B0604030504040204" pitchFamily="34" charset="0"/>
              </a:endParaRPr>
            </a:p>
          </p:txBody>
        </p:sp>
        <p:sp>
          <p:nvSpPr>
            <p:cNvPr id="160792" name="Text Box 28"/>
            <p:cNvSpPr txBox="1"/>
            <p:nvPr/>
          </p:nvSpPr>
          <p:spPr>
            <a:xfrm>
              <a:off x="2640" y="0"/>
              <a:ext cx="264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50000"/>
                </a:spcBef>
                <a:buNone/>
              </a:pPr>
              <a:r>
                <a:rPr lang="zh-CN" altLang="zh-CN" sz="2400" b="1" dirty="0">
                  <a:solidFill>
                    <a:schemeClr val="tx1"/>
                  </a:solidFill>
                  <a:latin typeface="Tahoma" panose="020B0604030504040204" pitchFamily="34" charset="0"/>
                </a:rPr>
                <a:t>虚存地址</a:t>
              </a:r>
              <a:endParaRPr lang="zh-CN" altLang="zh-CN" sz="2400" b="1" dirty="0">
                <a:solidFill>
                  <a:schemeClr val="tx1"/>
                </a:solidFill>
                <a:latin typeface="Tahoma" panose="020B0604030504040204" pitchFamily="34" charset="0"/>
              </a:endParaRPr>
            </a:p>
          </p:txBody>
        </p:sp>
        <p:sp>
          <p:nvSpPr>
            <p:cNvPr id="160793" name="Text Box 29"/>
            <p:cNvSpPr txBox="1"/>
            <p:nvPr/>
          </p:nvSpPr>
          <p:spPr>
            <a:xfrm>
              <a:off x="2688" y="2880"/>
              <a:ext cx="2592"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50000"/>
                </a:spcBef>
                <a:buNone/>
              </a:pPr>
              <a:r>
                <a:rPr lang="zh-CN" altLang="zh-CN" sz="2400" b="1" dirty="0">
                  <a:solidFill>
                    <a:schemeClr val="tx1"/>
                  </a:solidFill>
                  <a:latin typeface="Tahoma" panose="020B0604030504040204" pitchFamily="34" charset="0"/>
                </a:rPr>
                <a:t>实存地址</a:t>
              </a:r>
              <a:endParaRPr lang="zh-CN" altLang="zh-CN" sz="2400" b="1" dirty="0">
                <a:solidFill>
                  <a:schemeClr val="tx1"/>
                </a:solidFill>
                <a:latin typeface="Tahoma" panose="020B0604030504040204" pitchFamily="34" charset="0"/>
              </a:endParaRPr>
            </a:p>
          </p:txBody>
        </p:sp>
        <p:grpSp>
          <p:nvGrpSpPr>
            <p:cNvPr id="160794" name="Group 30"/>
            <p:cNvGrpSpPr/>
            <p:nvPr/>
          </p:nvGrpSpPr>
          <p:grpSpPr>
            <a:xfrm>
              <a:off x="0" y="768"/>
              <a:ext cx="288" cy="288"/>
              <a:chOff x="0" y="0"/>
              <a:chExt cx="288" cy="288"/>
            </a:xfrm>
          </p:grpSpPr>
          <p:sp>
            <p:nvSpPr>
              <p:cNvPr id="160799" name="Oval 31"/>
              <p:cNvSpPr/>
              <p:nvPr/>
            </p:nvSpPr>
            <p:spPr>
              <a:xfrm>
                <a:off x="0" y="48"/>
                <a:ext cx="192" cy="192"/>
              </a:xfrm>
              <a:prstGeom prst="ellipse">
                <a:avLst/>
              </a:prstGeom>
              <a:solidFill>
                <a:schemeClr val="hlink"/>
              </a:solidFill>
              <a:ln w="317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60800" name="Text Box 32"/>
              <p:cNvSpPr txBox="1"/>
              <p:nvPr/>
            </p:nvSpPr>
            <p:spPr>
              <a:xfrm>
                <a:off x="0" y="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rgbClr val="CCFFFF"/>
                    </a:solidFill>
                    <a:latin typeface="Tahoma" panose="020B0604030504040204" pitchFamily="34" charset="0"/>
                  </a:rPr>
                  <a:t>+</a:t>
                </a:r>
                <a:endParaRPr lang="zh-CN" altLang="en-US" sz="2400" dirty="0">
                  <a:solidFill>
                    <a:srgbClr val="CCFFFF"/>
                  </a:solidFill>
                  <a:latin typeface="Tahoma" panose="020B0604030504040204" pitchFamily="34" charset="0"/>
                </a:endParaRPr>
              </a:p>
            </p:txBody>
          </p:sp>
        </p:grpSp>
        <p:sp>
          <p:nvSpPr>
            <p:cNvPr id="160795" name="Line 33"/>
            <p:cNvSpPr/>
            <p:nvPr/>
          </p:nvSpPr>
          <p:spPr>
            <a:xfrm>
              <a:off x="720" y="624"/>
              <a:ext cx="0" cy="624"/>
            </a:xfrm>
            <a:prstGeom prst="line">
              <a:avLst/>
            </a:prstGeom>
            <a:ln w="9525" cap="flat" cmpd="sng">
              <a:solidFill>
                <a:schemeClr val="tx1"/>
              </a:solidFill>
              <a:prstDash val="solid"/>
              <a:headEnd type="none" w="med" len="med"/>
              <a:tailEnd type="none" w="med" len="med"/>
            </a:ln>
          </p:spPr>
        </p:sp>
        <p:sp>
          <p:nvSpPr>
            <p:cNvPr id="160796" name="Line 34"/>
            <p:cNvSpPr/>
            <p:nvPr/>
          </p:nvSpPr>
          <p:spPr>
            <a:xfrm>
              <a:off x="720" y="1248"/>
              <a:ext cx="192" cy="0"/>
            </a:xfrm>
            <a:prstGeom prst="line">
              <a:avLst/>
            </a:prstGeom>
            <a:ln w="9525" cap="flat" cmpd="sng">
              <a:solidFill>
                <a:schemeClr val="tx1"/>
              </a:solidFill>
              <a:prstDash val="solid"/>
              <a:headEnd type="none" w="med" len="med"/>
              <a:tailEnd type="triangle" w="med" len="med"/>
            </a:ln>
          </p:spPr>
        </p:sp>
        <p:sp>
          <p:nvSpPr>
            <p:cNvPr id="160797" name="Text Box 35"/>
            <p:cNvSpPr txBox="1"/>
            <p:nvPr/>
          </p:nvSpPr>
          <p:spPr>
            <a:xfrm>
              <a:off x="816" y="2880"/>
              <a:ext cx="163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800" b="1" dirty="0">
                  <a:solidFill>
                    <a:schemeClr val="tx1"/>
                  </a:solidFill>
                  <a:latin typeface="Tahoma" panose="020B0604030504040204" pitchFamily="34" charset="0"/>
                </a:rPr>
                <a:t>页表（在主存中）</a:t>
              </a:r>
              <a:endParaRPr lang="zh-CN" altLang="zh-CN" sz="1800" b="1" dirty="0">
                <a:solidFill>
                  <a:schemeClr val="tx1"/>
                </a:solidFill>
                <a:latin typeface="Tahoma" panose="020B0604030504040204" pitchFamily="34" charset="0"/>
              </a:endParaRPr>
            </a:p>
          </p:txBody>
        </p:sp>
        <p:sp>
          <p:nvSpPr>
            <p:cNvPr id="160798" name="Text Box 36"/>
            <p:cNvSpPr txBox="1"/>
            <p:nvPr/>
          </p:nvSpPr>
          <p:spPr>
            <a:xfrm>
              <a:off x="864" y="912"/>
              <a:ext cx="187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600" b="1" dirty="0">
                  <a:solidFill>
                    <a:schemeClr val="tx1"/>
                  </a:solidFill>
                  <a:latin typeface="Tahoma" panose="020B0604030504040204" pitchFamily="34" charset="0"/>
                </a:rPr>
                <a:t>控制位           主存页面号</a:t>
              </a:r>
              <a:endParaRPr lang="zh-CN" altLang="zh-CN" sz="1600" b="1" dirty="0">
                <a:solidFill>
                  <a:schemeClr val="tx1"/>
                </a:solidFill>
                <a:latin typeface="Tahoma" panose="020B0604030504040204" pitchFamily="34" charset="0"/>
              </a:endParaRPr>
            </a:p>
          </p:txBody>
        </p:sp>
      </p:gr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2"/>
          <p:cNvSpPr>
            <a:spLocks noGrp="1"/>
          </p:cNvSpPr>
          <p:nvPr>
            <p:ph type="body" idx="4294967295"/>
          </p:nvPr>
        </p:nvSpPr>
        <p:spPr>
          <a:xfrm>
            <a:off x="468313" y="1268413"/>
            <a:ext cx="7989887" cy="4800600"/>
          </a:xfrm>
          <a:ln/>
        </p:spPr>
        <p:txBody>
          <a:bodyPr vert="horz" wrap="square" lIns="91440" tIns="45720" rIns="91440" bIns="45720" anchor="t" anchorCtr="0"/>
          <a:p>
            <a:pPr eaLnBrk="1" hangingPunct="1"/>
            <a:r>
              <a:rPr lang="zh-CN" altLang="en-US" sz="2800" dirty="0"/>
              <a:t>        </a:t>
            </a:r>
            <a:r>
              <a:rPr lang="zh-CN" altLang="en-US" b="1" dirty="0">
                <a:latin typeface="楷体_GB2312" pitchFamily="1" charset="-122"/>
                <a:ea typeface="楷体_GB2312" pitchFamily="1" charset="-122"/>
              </a:rPr>
              <a:t>为了避免页表已保存或已调入主存储器时对主存访问次数的增多, 把页表的最活跃部分存放在高速存储器中组成</a:t>
            </a:r>
            <a:r>
              <a:rPr lang="zh-CN" altLang="en-US" b="1" dirty="0">
                <a:solidFill>
                  <a:srgbClr val="993366"/>
                </a:solidFill>
                <a:latin typeface="楷体_GB2312" pitchFamily="1" charset="-122"/>
                <a:ea typeface="楷体_GB2312" pitchFamily="1" charset="-122"/>
              </a:rPr>
              <a:t>快表。</a:t>
            </a:r>
            <a:endParaRPr lang="zh-CN" altLang="en-US" b="1" dirty="0">
              <a:solidFill>
                <a:srgbClr val="993366"/>
              </a:solidFill>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　　快表由</a:t>
            </a:r>
            <a:r>
              <a:rPr lang="zh-CN" altLang="en-US" b="1" dirty="0">
                <a:solidFill>
                  <a:srgbClr val="993366"/>
                </a:solidFill>
                <a:latin typeface="楷体_GB2312" pitchFamily="1" charset="-122"/>
                <a:ea typeface="楷体_GB2312" pitchFamily="1" charset="-122"/>
              </a:rPr>
              <a:t>硬件</a:t>
            </a:r>
            <a:r>
              <a:rPr lang="zh-CN" altLang="en-US" b="1" dirty="0">
                <a:latin typeface="楷体_GB2312" pitchFamily="1" charset="-122"/>
                <a:ea typeface="楷体_GB2312" pitchFamily="1" charset="-122"/>
              </a:rPr>
              <a:t>组成，比页表小得多，查表时，由逻辑页号同时去查快表和慢表，当在快表中有此逻辑页号时，就能很快地找到对应的物理页号送入实主存地址寄存器，从而做到虽采用虚拟存储器但访主存速度几乎没有下降。</a:t>
            </a:r>
            <a:endParaRPr lang="zh-CN" altLang="en-US" b="1" dirty="0">
              <a:latin typeface="楷体_GB2312" pitchFamily="1" charset="-122"/>
              <a:ea typeface="楷体_GB2312" pitchFamily="1" charset="-122"/>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p:nvPr>
            <p:ph type="title" idx="4294967295"/>
          </p:nvPr>
        </p:nvSpPr>
        <p:spPr>
          <a:xfrm>
            <a:off x="685800" y="1011238"/>
            <a:ext cx="7696200" cy="762000"/>
          </a:xfrm>
          <a:prstGeom prst="rect">
            <a:avLst/>
          </a:prstGeom>
          <a:solidFill>
            <a:srgbClr val="FFFFFF"/>
          </a:solidFill>
          <a:ln w="9525" cap="flat" cmpd="sng">
            <a:solidFill>
              <a:srgbClr val="000000"/>
            </a:solidFill>
            <a:prstDash val="solid"/>
            <a:headEnd type="none" w="med" len="med"/>
            <a:tailEnd type="none" w="med" len="med"/>
          </a:ln>
        </p:spPr>
        <p:txBody>
          <a:bodyPr/>
          <a:p>
            <a:pPr algn="l" eaLnBrk="1" hangingPunct="1"/>
            <a:r>
              <a:rPr lang="zh-CN" altLang="zh-CN" dirty="0">
                <a:solidFill>
                  <a:srgbClr val="993366"/>
                </a:solidFill>
                <a:ea typeface="华文新魏" panose="02010800040101010101" pitchFamily="2" charset="-122"/>
              </a:rPr>
              <a:t>段式虚拟存储器</a:t>
            </a:r>
            <a:endParaRPr lang="zh-CN" altLang="zh-CN" dirty="0">
              <a:solidFill>
                <a:srgbClr val="993366"/>
              </a:solidFill>
              <a:ea typeface="华文新魏" panose="02010800040101010101" pitchFamily="2" charset="-122"/>
            </a:endParaRPr>
          </a:p>
        </p:txBody>
      </p:sp>
      <p:sp>
        <p:nvSpPr>
          <p:cNvPr id="162819" name="Rectangle 3"/>
          <p:cNvSpPr>
            <a:spLocks noGrp="1"/>
          </p:cNvSpPr>
          <p:nvPr>
            <p:ph type="body" idx="4294967295"/>
          </p:nvPr>
        </p:nvSpPr>
        <p:spPr>
          <a:xfrm>
            <a:off x="533400" y="1981200"/>
            <a:ext cx="8153400" cy="4114800"/>
          </a:xfrm>
          <a:ln/>
        </p:spPr>
        <p:txBody>
          <a:bodyPr vert="horz" wrap="square" lIns="91440" tIns="45720" rIns="91440" bIns="45720" anchor="t" anchorCtr="0"/>
          <a:p>
            <a:pPr eaLnBrk="1" hangingPunct="1">
              <a:lnSpc>
                <a:spcPct val="90000"/>
              </a:lnSpc>
            </a:pPr>
            <a:r>
              <a:rPr lang="zh-CN" altLang="en-US" sz="2800" dirty="0">
                <a:ea typeface="楷体_GB2312" pitchFamily="1" charset="-122"/>
              </a:rPr>
              <a:t>       </a:t>
            </a:r>
            <a:r>
              <a:rPr lang="zh-CN" altLang="en-US" sz="2800" b="1" dirty="0">
                <a:ea typeface="楷体_GB2312" pitchFamily="1" charset="-122"/>
              </a:rPr>
              <a:t>在段式虚拟存储系统中，段是按照程序的逻辑结构划分的，各个段的长度因程序而异，虚拟地址由段号和段内地址组成。</a:t>
            </a:r>
            <a:r>
              <a:rPr lang="zh-CN" altLang="en-US" sz="2800" b="1" dirty="0"/>
              <a:t> </a:t>
            </a:r>
            <a:endParaRPr lang="zh-CN" altLang="en-US" sz="2800" b="1" dirty="0"/>
          </a:p>
          <a:p>
            <a:pPr eaLnBrk="1" hangingPunct="1">
              <a:lnSpc>
                <a:spcPct val="90000"/>
              </a:lnSpc>
            </a:pPr>
            <a:r>
              <a:rPr lang="zh-CN" altLang="en-US" sz="2800" b="1" dirty="0">
                <a:latin typeface="楷体_GB2312" pitchFamily="1" charset="-122"/>
                <a:ea typeface="楷体_GB2312" pitchFamily="1" charset="-122"/>
              </a:rPr>
              <a:t>    </a:t>
            </a:r>
            <a:r>
              <a:rPr lang="zh-CN" altLang="en-US" sz="2800" b="1" dirty="0">
                <a:solidFill>
                  <a:srgbClr val="993366"/>
                </a:solidFill>
                <a:latin typeface="楷体_GB2312" pitchFamily="1" charset="-122"/>
                <a:ea typeface="楷体_GB2312" pitchFamily="1" charset="-122"/>
              </a:rPr>
              <a:t>优点</a:t>
            </a:r>
            <a:r>
              <a:rPr lang="zh-CN" altLang="en-US" sz="2800" b="1" dirty="0">
                <a:latin typeface="楷体_GB2312" pitchFamily="1" charset="-122"/>
                <a:ea typeface="楷体_GB2312" pitchFamily="1" charset="-122"/>
              </a:rPr>
              <a:t>是段的逻辑独立性使它易于编译、管理、修改和保护,也便于多道程序共享；某些类型的段具有动态可变长度，允许自由调度以便有效利用主存空间。</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latin typeface="楷体_GB2312" pitchFamily="1" charset="-122"/>
                <a:ea typeface="楷体_GB2312" pitchFamily="1" charset="-122"/>
              </a:rPr>
              <a:t>　　</a:t>
            </a:r>
            <a:r>
              <a:rPr lang="zh-CN" altLang="en-US" sz="2800" b="1" dirty="0">
                <a:solidFill>
                  <a:srgbClr val="993366"/>
                </a:solidFill>
                <a:latin typeface="楷体_GB2312" pitchFamily="1" charset="-122"/>
                <a:ea typeface="楷体_GB2312" pitchFamily="1" charset="-122"/>
              </a:rPr>
              <a:t>缺点</a:t>
            </a:r>
            <a:r>
              <a:rPr lang="zh-CN" altLang="en-US" sz="2800" b="1" dirty="0">
                <a:latin typeface="楷体_GB2312" pitchFamily="1" charset="-122"/>
                <a:ea typeface="楷体_GB2312" pitchFamily="1" charset="-122"/>
              </a:rPr>
              <a:t>是因为段的长度各不相同，起点和终点不定，给主存空间分配带来麻烦，而且容易在段间留下许多空余的零碎存储空间，造成浪费。</a:t>
            </a:r>
            <a:endParaRPr lang="zh-CN" altLang="en-US" sz="2800" b="1" dirty="0">
              <a:latin typeface="楷体_GB2312" pitchFamily="1" charset="-122"/>
              <a:ea typeface="楷体_GB2312" pitchFamily="1"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虚拟存储器——</a:t>
            </a:r>
            <a:r>
              <a:rPr lang="zh-CN" altLang="en-US" sz="2400" dirty="0"/>
              <a:t>段式虚拟存储器</a:t>
            </a:r>
            <a:endParaRPr lang="zh-CN" altLang="en-US" sz="2400" dirty="0"/>
          </a:p>
        </p:txBody>
      </p:sp>
      <p:sp>
        <p:nvSpPr>
          <p:cNvPr id="163843" name="Rectangle 3"/>
          <p:cNvSpPr>
            <a:spLocks noGrp="1"/>
          </p:cNvSpPr>
          <p:nvPr>
            <p:ph type="body" idx="4294967295"/>
          </p:nvPr>
        </p:nvSpPr>
        <p:spPr>
          <a:xfrm>
            <a:off x="533400" y="1828800"/>
            <a:ext cx="8153400" cy="4495800"/>
          </a:xfrm>
          <a:ln/>
        </p:spPr>
        <p:txBody>
          <a:bodyPr vert="horz" wrap="square" lIns="91440" tIns="45720" rIns="91440" bIns="45720" anchor="t" anchorCtr="0"/>
          <a:p>
            <a:pPr eaLnBrk="1" hangingPunct="1">
              <a:lnSpc>
                <a:spcPct val="90000"/>
              </a:lnSpc>
            </a:pPr>
            <a:r>
              <a:rPr lang="zh-CN" altLang="en-US" b="1" dirty="0">
                <a:ea typeface="楷体_GB2312" pitchFamily="1" charset="-122"/>
              </a:rPr>
              <a:t>       为了把虚拟地址变换成实主存地址，需要一个段表，装入位为“1”表示该段已调入主存，为“0”则表示该段不在主存中；段的长度可大可小，所以，</a:t>
            </a:r>
            <a:r>
              <a:rPr lang="zh-CN" altLang="en-US" b="1" dirty="0">
                <a:solidFill>
                  <a:srgbClr val="993366"/>
                </a:solidFill>
                <a:ea typeface="楷体_GB2312" pitchFamily="1" charset="-122"/>
              </a:rPr>
              <a:t>段表中需要有长度指示</a:t>
            </a:r>
            <a:r>
              <a:rPr lang="zh-CN" altLang="en-US" b="1" dirty="0">
                <a:ea typeface="楷体_GB2312" pitchFamily="1" charset="-122"/>
              </a:rPr>
              <a:t>。</a:t>
            </a:r>
            <a:endParaRPr lang="zh-CN" altLang="en-US" b="1" dirty="0">
              <a:ea typeface="楷体_GB2312" pitchFamily="1" charset="-122"/>
            </a:endParaRPr>
          </a:p>
          <a:p>
            <a:pPr eaLnBrk="1" hangingPunct="1">
              <a:lnSpc>
                <a:spcPct val="90000"/>
              </a:lnSpc>
            </a:pPr>
            <a:r>
              <a:rPr lang="zh-CN" altLang="en-US" b="1" dirty="0">
                <a:ea typeface="楷体_GB2312" pitchFamily="1" charset="-122"/>
              </a:rPr>
              <a:t>       在访问某段时，如果段内地址值超过段的长度，则发生地址</a:t>
            </a:r>
            <a:r>
              <a:rPr lang="zh-CN" altLang="en-US" b="1" dirty="0">
                <a:solidFill>
                  <a:srgbClr val="993366"/>
                </a:solidFill>
                <a:ea typeface="楷体_GB2312" pitchFamily="1" charset="-122"/>
              </a:rPr>
              <a:t>越界中断</a:t>
            </a:r>
            <a:r>
              <a:rPr lang="zh-CN" altLang="en-US" b="1" dirty="0">
                <a:ea typeface="楷体_GB2312" pitchFamily="1" charset="-122"/>
              </a:rPr>
              <a:t>。段表也是一个段，可以存在外存中，需要时再调入主存。但一般是驻留在主存中。</a:t>
            </a:r>
            <a:r>
              <a:rPr lang="zh-CN" altLang="en-US" b="1" dirty="0"/>
              <a:t> </a:t>
            </a:r>
            <a:endParaRPr lang="zh-CN" altLang="en-US" b="1"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4866" name="Rectangle 2"/>
          <p:cNvSpPr/>
          <p:nvPr>
            <p:ph type="title" idx="4294967295"/>
          </p:nvPr>
        </p:nvSpPr>
        <p:spPr>
          <a:xfrm>
            <a:off x="609600" y="3048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虚拟存储器——</a:t>
            </a:r>
            <a:r>
              <a:rPr lang="zh-CN" altLang="en-US" sz="2000" dirty="0"/>
              <a:t>段式虚拟存储器</a:t>
            </a:r>
            <a:endParaRPr lang="zh-CN" altLang="en-US" sz="2000" dirty="0"/>
          </a:p>
        </p:txBody>
      </p:sp>
      <p:grpSp>
        <p:nvGrpSpPr>
          <p:cNvPr id="164867" name="Group 3"/>
          <p:cNvGrpSpPr/>
          <p:nvPr/>
        </p:nvGrpSpPr>
        <p:grpSpPr>
          <a:xfrm>
            <a:off x="304800" y="1219200"/>
            <a:ext cx="8458200" cy="5029200"/>
            <a:chOff x="0" y="0"/>
            <a:chExt cx="5328" cy="3168"/>
          </a:xfrm>
        </p:grpSpPr>
        <p:sp>
          <p:nvSpPr>
            <p:cNvPr id="164868" name="AutoShape 4"/>
            <p:cNvSpPr/>
            <p:nvPr/>
          </p:nvSpPr>
          <p:spPr>
            <a:xfrm>
              <a:off x="432" y="336"/>
              <a:ext cx="1632" cy="288"/>
            </a:xfrm>
            <a:prstGeom prst="flowChartProcess">
              <a:avLst/>
            </a:prstGeom>
            <a:solidFill>
              <a:srgbClr val="FFCC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dirty="0">
                  <a:solidFill>
                    <a:schemeClr val="tx1"/>
                  </a:solidFill>
                  <a:latin typeface="Tahoma" panose="020B0604030504040204" pitchFamily="34" charset="0"/>
                </a:rPr>
                <a:t>段表基地址</a:t>
              </a:r>
              <a:endParaRPr lang="zh-CN" altLang="zh-CN" sz="2400" dirty="0">
                <a:solidFill>
                  <a:schemeClr val="tx1"/>
                </a:solidFill>
                <a:latin typeface="Tahoma" panose="020B0604030504040204" pitchFamily="34" charset="0"/>
              </a:endParaRPr>
            </a:p>
          </p:txBody>
        </p:sp>
        <p:sp>
          <p:nvSpPr>
            <p:cNvPr id="164869" name="AutoShape 5"/>
            <p:cNvSpPr/>
            <p:nvPr/>
          </p:nvSpPr>
          <p:spPr>
            <a:xfrm>
              <a:off x="912" y="1152"/>
              <a:ext cx="1440" cy="1728"/>
            </a:xfrm>
            <a:prstGeom prst="flowChartProcess">
              <a:avLst/>
            </a:prstGeom>
            <a:solidFill>
              <a:srgbClr val="CCFF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64870" name="Line 6"/>
            <p:cNvSpPr/>
            <p:nvPr/>
          </p:nvSpPr>
          <p:spPr>
            <a:xfrm>
              <a:off x="912" y="1344"/>
              <a:ext cx="1440" cy="0"/>
            </a:xfrm>
            <a:prstGeom prst="line">
              <a:avLst/>
            </a:prstGeom>
            <a:ln w="9525" cap="flat" cmpd="sng">
              <a:solidFill>
                <a:schemeClr val="tx1"/>
              </a:solidFill>
              <a:prstDash val="solid"/>
              <a:headEnd type="none" w="med" len="med"/>
              <a:tailEnd type="none" w="med" len="med"/>
            </a:ln>
          </p:spPr>
        </p:sp>
        <p:sp>
          <p:nvSpPr>
            <p:cNvPr id="164871" name="Line 7"/>
            <p:cNvSpPr/>
            <p:nvPr/>
          </p:nvSpPr>
          <p:spPr>
            <a:xfrm>
              <a:off x="912" y="1536"/>
              <a:ext cx="1440" cy="0"/>
            </a:xfrm>
            <a:prstGeom prst="line">
              <a:avLst/>
            </a:prstGeom>
            <a:ln w="9525" cap="flat" cmpd="sng">
              <a:solidFill>
                <a:schemeClr val="tx1"/>
              </a:solidFill>
              <a:prstDash val="solid"/>
              <a:headEnd type="none" w="med" len="med"/>
              <a:tailEnd type="none" w="med" len="med"/>
            </a:ln>
          </p:spPr>
        </p:sp>
        <p:sp>
          <p:nvSpPr>
            <p:cNvPr id="164872" name="Line 8"/>
            <p:cNvSpPr/>
            <p:nvPr/>
          </p:nvSpPr>
          <p:spPr>
            <a:xfrm>
              <a:off x="912" y="2016"/>
              <a:ext cx="1440" cy="0"/>
            </a:xfrm>
            <a:prstGeom prst="line">
              <a:avLst/>
            </a:prstGeom>
            <a:ln w="9525" cap="flat" cmpd="sng">
              <a:solidFill>
                <a:schemeClr val="tx1"/>
              </a:solidFill>
              <a:prstDash val="solid"/>
              <a:headEnd type="none" w="med" len="med"/>
              <a:tailEnd type="none" w="med" len="med"/>
            </a:ln>
          </p:spPr>
        </p:sp>
        <p:sp>
          <p:nvSpPr>
            <p:cNvPr id="164873" name="Line 9"/>
            <p:cNvSpPr/>
            <p:nvPr/>
          </p:nvSpPr>
          <p:spPr>
            <a:xfrm>
              <a:off x="912" y="2208"/>
              <a:ext cx="1440" cy="0"/>
            </a:xfrm>
            <a:prstGeom prst="line">
              <a:avLst/>
            </a:prstGeom>
            <a:ln w="9525" cap="flat" cmpd="sng">
              <a:solidFill>
                <a:schemeClr val="tx1"/>
              </a:solidFill>
              <a:prstDash val="solid"/>
              <a:headEnd type="none" w="med" len="med"/>
              <a:tailEnd type="none" w="med" len="med"/>
            </a:ln>
          </p:spPr>
        </p:sp>
        <p:sp>
          <p:nvSpPr>
            <p:cNvPr id="164874" name="Line 10"/>
            <p:cNvSpPr/>
            <p:nvPr/>
          </p:nvSpPr>
          <p:spPr>
            <a:xfrm>
              <a:off x="912" y="2688"/>
              <a:ext cx="1440" cy="0"/>
            </a:xfrm>
            <a:prstGeom prst="line">
              <a:avLst/>
            </a:prstGeom>
            <a:ln w="9525" cap="flat" cmpd="sng">
              <a:solidFill>
                <a:schemeClr val="tx1"/>
              </a:solidFill>
              <a:prstDash val="solid"/>
              <a:headEnd type="none" w="med" len="med"/>
              <a:tailEnd type="none" w="med" len="med"/>
            </a:ln>
          </p:spPr>
        </p:sp>
        <p:sp>
          <p:nvSpPr>
            <p:cNvPr id="164875" name="Line 11"/>
            <p:cNvSpPr/>
            <p:nvPr/>
          </p:nvSpPr>
          <p:spPr>
            <a:xfrm>
              <a:off x="1872" y="1152"/>
              <a:ext cx="0" cy="1728"/>
            </a:xfrm>
            <a:prstGeom prst="line">
              <a:avLst/>
            </a:prstGeom>
            <a:ln w="9525" cap="flat" cmpd="sng">
              <a:solidFill>
                <a:schemeClr val="tx1"/>
              </a:solidFill>
              <a:prstDash val="sysDot"/>
              <a:headEnd type="none" w="med" len="med"/>
              <a:tailEnd type="none" w="med" len="med"/>
            </a:ln>
          </p:spPr>
        </p:sp>
        <p:sp>
          <p:nvSpPr>
            <p:cNvPr id="164876" name="Line 12"/>
            <p:cNvSpPr/>
            <p:nvPr/>
          </p:nvSpPr>
          <p:spPr>
            <a:xfrm flipH="1">
              <a:off x="96" y="432"/>
              <a:ext cx="336" cy="0"/>
            </a:xfrm>
            <a:prstGeom prst="line">
              <a:avLst/>
            </a:prstGeom>
            <a:ln w="28575" cap="flat" cmpd="sng">
              <a:solidFill>
                <a:schemeClr val="tx1"/>
              </a:solidFill>
              <a:prstDash val="solid"/>
              <a:headEnd type="none" w="med" len="med"/>
              <a:tailEnd type="none" w="med" len="med"/>
            </a:ln>
          </p:spPr>
        </p:sp>
        <p:sp>
          <p:nvSpPr>
            <p:cNvPr id="164877" name="Line 13"/>
            <p:cNvSpPr/>
            <p:nvPr/>
          </p:nvSpPr>
          <p:spPr>
            <a:xfrm>
              <a:off x="96" y="432"/>
              <a:ext cx="0" cy="384"/>
            </a:xfrm>
            <a:prstGeom prst="line">
              <a:avLst/>
            </a:prstGeom>
            <a:ln w="28575" cap="flat" cmpd="sng">
              <a:solidFill>
                <a:schemeClr val="tx1"/>
              </a:solidFill>
              <a:prstDash val="solid"/>
              <a:headEnd type="none" w="med" len="med"/>
              <a:tailEnd type="triangle" w="med" len="med"/>
            </a:ln>
          </p:spPr>
        </p:sp>
        <p:sp>
          <p:nvSpPr>
            <p:cNvPr id="164878" name="Line 14"/>
            <p:cNvSpPr/>
            <p:nvPr/>
          </p:nvSpPr>
          <p:spPr>
            <a:xfrm>
              <a:off x="3120" y="624"/>
              <a:ext cx="0" cy="288"/>
            </a:xfrm>
            <a:prstGeom prst="line">
              <a:avLst/>
            </a:prstGeom>
            <a:ln w="28575" cap="flat" cmpd="sng">
              <a:solidFill>
                <a:schemeClr val="tx1"/>
              </a:solidFill>
              <a:prstDash val="solid"/>
              <a:headEnd type="none" w="med" len="med"/>
              <a:tailEnd type="none" w="med" len="med"/>
            </a:ln>
          </p:spPr>
        </p:sp>
        <p:sp>
          <p:nvSpPr>
            <p:cNvPr id="164879" name="Line 15"/>
            <p:cNvSpPr/>
            <p:nvPr/>
          </p:nvSpPr>
          <p:spPr>
            <a:xfrm flipH="1">
              <a:off x="192" y="912"/>
              <a:ext cx="2928" cy="0"/>
            </a:xfrm>
            <a:prstGeom prst="line">
              <a:avLst/>
            </a:prstGeom>
            <a:ln w="28575" cap="flat" cmpd="sng">
              <a:solidFill>
                <a:schemeClr val="tx1"/>
              </a:solidFill>
              <a:prstDash val="solid"/>
              <a:headEnd type="none" w="med" len="med"/>
              <a:tailEnd type="triangle" w="med" len="med"/>
            </a:ln>
          </p:spPr>
        </p:sp>
        <p:sp>
          <p:nvSpPr>
            <p:cNvPr id="164880" name="Line 16"/>
            <p:cNvSpPr/>
            <p:nvPr/>
          </p:nvSpPr>
          <p:spPr>
            <a:xfrm>
              <a:off x="96" y="1008"/>
              <a:ext cx="0" cy="1104"/>
            </a:xfrm>
            <a:prstGeom prst="line">
              <a:avLst/>
            </a:prstGeom>
            <a:ln w="28575" cap="flat" cmpd="sng">
              <a:solidFill>
                <a:schemeClr val="tx1"/>
              </a:solidFill>
              <a:prstDash val="solid"/>
              <a:headEnd type="none" w="med" len="med"/>
              <a:tailEnd type="none" w="med" len="med"/>
            </a:ln>
          </p:spPr>
        </p:sp>
        <p:sp>
          <p:nvSpPr>
            <p:cNvPr id="164881" name="Line 17"/>
            <p:cNvSpPr/>
            <p:nvPr/>
          </p:nvSpPr>
          <p:spPr>
            <a:xfrm>
              <a:off x="96" y="2112"/>
              <a:ext cx="816" cy="0"/>
            </a:xfrm>
            <a:prstGeom prst="line">
              <a:avLst/>
            </a:prstGeom>
            <a:ln w="28575" cap="flat" cmpd="sng">
              <a:solidFill>
                <a:schemeClr val="tx1"/>
              </a:solidFill>
              <a:prstDash val="solid"/>
              <a:headEnd type="none" w="med" len="med"/>
              <a:tailEnd type="triangle" w="med" len="med"/>
            </a:ln>
          </p:spPr>
        </p:sp>
        <p:sp>
          <p:nvSpPr>
            <p:cNvPr id="164882" name="Line 18"/>
            <p:cNvSpPr/>
            <p:nvPr/>
          </p:nvSpPr>
          <p:spPr>
            <a:xfrm flipH="1" flipV="1">
              <a:off x="1152" y="1008"/>
              <a:ext cx="0" cy="144"/>
            </a:xfrm>
            <a:prstGeom prst="line">
              <a:avLst/>
            </a:prstGeom>
            <a:ln w="28575" cap="flat" cmpd="sng">
              <a:solidFill>
                <a:schemeClr val="tx1"/>
              </a:solidFill>
              <a:prstDash val="solid"/>
              <a:headEnd type="none" w="med" len="med"/>
              <a:tailEnd type="none" w="med" len="med"/>
            </a:ln>
          </p:spPr>
        </p:sp>
        <p:sp>
          <p:nvSpPr>
            <p:cNvPr id="164883" name="Line 19"/>
            <p:cNvSpPr/>
            <p:nvPr/>
          </p:nvSpPr>
          <p:spPr>
            <a:xfrm>
              <a:off x="4560" y="624"/>
              <a:ext cx="0" cy="864"/>
            </a:xfrm>
            <a:prstGeom prst="line">
              <a:avLst/>
            </a:prstGeom>
            <a:ln w="28575" cap="flat" cmpd="sng">
              <a:solidFill>
                <a:schemeClr val="tx1"/>
              </a:solidFill>
              <a:prstDash val="solid"/>
              <a:headEnd type="none" w="med" len="med"/>
              <a:tailEnd type="triangle" w="med" len="med"/>
            </a:ln>
          </p:spPr>
        </p:sp>
        <p:grpSp>
          <p:nvGrpSpPr>
            <p:cNvPr id="164884" name="Group 20"/>
            <p:cNvGrpSpPr/>
            <p:nvPr/>
          </p:nvGrpSpPr>
          <p:grpSpPr>
            <a:xfrm>
              <a:off x="2640" y="336"/>
              <a:ext cx="2592" cy="288"/>
              <a:chOff x="0" y="0"/>
              <a:chExt cx="2592" cy="288"/>
            </a:xfrm>
          </p:grpSpPr>
          <p:sp>
            <p:nvSpPr>
              <p:cNvPr id="164907" name="AutoShape 21"/>
              <p:cNvSpPr/>
              <p:nvPr/>
            </p:nvSpPr>
            <p:spPr>
              <a:xfrm>
                <a:off x="0" y="0"/>
                <a:ext cx="2592" cy="288"/>
              </a:xfrm>
              <a:prstGeom prst="flowChartProcess">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zh-CN" sz="2400" dirty="0">
                    <a:solidFill>
                      <a:schemeClr val="tx1"/>
                    </a:solidFill>
                    <a:latin typeface="Tahoma" panose="020B0604030504040204" pitchFamily="34" charset="0"/>
                  </a:rPr>
                  <a:t>段号        段内地址</a:t>
                </a:r>
                <a:endParaRPr lang="zh-CN" altLang="zh-CN" sz="2400" dirty="0">
                  <a:solidFill>
                    <a:schemeClr val="tx1"/>
                  </a:solidFill>
                  <a:latin typeface="Tahoma" panose="020B0604030504040204" pitchFamily="34" charset="0"/>
                </a:endParaRPr>
              </a:p>
            </p:txBody>
          </p:sp>
          <p:sp>
            <p:nvSpPr>
              <p:cNvPr id="164908" name="Line 22"/>
              <p:cNvSpPr/>
              <p:nvPr/>
            </p:nvSpPr>
            <p:spPr>
              <a:xfrm>
                <a:off x="1200" y="0"/>
                <a:ext cx="0" cy="288"/>
              </a:xfrm>
              <a:prstGeom prst="line">
                <a:avLst/>
              </a:prstGeom>
              <a:ln w="9525" cap="flat" cmpd="sng">
                <a:solidFill>
                  <a:schemeClr val="tx1"/>
                </a:solidFill>
                <a:prstDash val="solid"/>
                <a:headEnd type="none" w="med" len="med"/>
                <a:tailEnd type="none" w="med" len="med"/>
              </a:ln>
            </p:spPr>
          </p:sp>
        </p:grpSp>
        <p:sp>
          <p:nvSpPr>
            <p:cNvPr id="164885" name="AutoShape 23"/>
            <p:cNvSpPr/>
            <p:nvPr/>
          </p:nvSpPr>
          <p:spPr>
            <a:xfrm>
              <a:off x="3840" y="2496"/>
              <a:ext cx="1488" cy="336"/>
            </a:xfrm>
            <a:prstGeom prst="flowChartProcess">
              <a:avLst/>
            </a:prstGeom>
            <a:solidFill>
              <a:srgbClr val="FFCC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       主存地址       </a:t>
              </a:r>
              <a:endParaRPr lang="zh-CN" altLang="en-US" sz="2400" dirty="0">
                <a:solidFill>
                  <a:schemeClr val="tx1"/>
                </a:solidFill>
                <a:latin typeface="Tahoma" panose="020B0604030504040204" pitchFamily="34" charset="0"/>
              </a:endParaRPr>
            </a:p>
          </p:txBody>
        </p:sp>
        <p:sp>
          <p:nvSpPr>
            <p:cNvPr id="164886" name="Text Box 24"/>
            <p:cNvSpPr txBox="1"/>
            <p:nvPr/>
          </p:nvSpPr>
          <p:spPr>
            <a:xfrm>
              <a:off x="432" y="48"/>
              <a:ext cx="168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2400" dirty="0">
                  <a:solidFill>
                    <a:schemeClr val="tx1"/>
                  </a:solidFill>
                  <a:latin typeface="Tahoma" panose="020B0604030504040204" pitchFamily="34" charset="0"/>
                </a:rPr>
                <a:t>段表基址寄存器</a:t>
              </a:r>
              <a:endParaRPr lang="zh-CN" altLang="zh-CN" sz="2400" dirty="0">
                <a:solidFill>
                  <a:schemeClr val="tx1"/>
                </a:solidFill>
                <a:latin typeface="Tahoma" panose="020B0604030504040204" pitchFamily="34" charset="0"/>
              </a:endParaRPr>
            </a:p>
          </p:txBody>
        </p:sp>
        <p:sp>
          <p:nvSpPr>
            <p:cNvPr id="164887" name="Text Box 25"/>
            <p:cNvSpPr txBox="1"/>
            <p:nvPr/>
          </p:nvSpPr>
          <p:spPr>
            <a:xfrm>
              <a:off x="2640" y="0"/>
              <a:ext cx="264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50000"/>
                </a:spcBef>
                <a:buNone/>
              </a:pPr>
              <a:r>
                <a:rPr lang="zh-CN" altLang="zh-CN" sz="2400" dirty="0">
                  <a:solidFill>
                    <a:schemeClr val="tx1"/>
                  </a:solidFill>
                  <a:latin typeface="Tahoma" panose="020B0604030504040204" pitchFamily="34" charset="0"/>
                </a:rPr>
                <a:t>虚存地址</a:t>
              </a:r>
              <a:endParaRPr lang="zh-CN" altLang="zh-CN" sz="2400" dirty="0">
                <a:solidFill>
                  <a:schemeClr val="tx1"/>
                </a:solidFill>
                <a:latin typeface="Tahoma" panose="020B0604030504040204" pitchFamily="34" charset="0"/>
              </a:endParaRPr>
            </a:p>
          </p:txBody>
        </p:sp>
        <p:sp>
          <p:nvSpPr>
            <p:cNvPr id="164888" name="Text Box 26"/>
            <p:cNvSpPr txBox="1"/>
            <p:nvPr/>
          </p:nvSpPr>
          <p:spPr>
            <a:xfrm>
              <a:off x="2688" y="2880"/>
              <a:ext cx="2592"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50000"/>
                </a:spcBef>
                <a:buNone/>
              </a:pPr>
              <a:r>
                <a:rPr lang="zh-CN" altLang="zh-CN" sz="2400" dirty="0">
                  <a:solidFill>
                    <a:schemeClr val="tx1"/>
                  </a:solidFill>
                  <a:latin typeface="Tahoma" panose="020B0604030504040204" pitchFamily="34" charset="0"/>
                </a:rPr>
                <a:t>实存地址</a:t>
              </a:r>
              <a:endParaRPr lang="zh-CN" altLang="zh-CN" sz="2400" dirty="0">
                <a:solidFill>
                  <a:schemeClr val="tx1"/>
                </a:solidFill>
                <a:latin typeface="Tahoma" panose="020B0604030504040204" pitchFamily="34" charset="0"/>
              </a:endParaRPr>
            </a:p>
          </p:txBody>
        </p:sp>
        <p:grpSp>
          <p:nvGrpSpPr>
            <p:cNvPr id="164889" name="Group 27"/>
            <p:cNvGrpSpPr/>
            <p:nvPr/>
          </p:nvGrpSpPr>
          <p:grpSpPr>
            <a:xfrm>
              <a:off x="0" y="768"/>
              <a:ext cx="288" cy="288"/>
              <a:chOff x="0" y="0"/>
              <a:chExt cx="288" cy="288"/>
            </a:xfrm>
          </p:grpSpPr>
          <p:sp>
            <p:nvSpPr>
              <p:cNvPr id="164905" name="Oval 28"/>
              <p:cNvSpPr/>
              <p:nvPr/>
            </p:nvSpPr>
            <p:spPr>
              <a:xfrm>
                <a:off x="0" y="48"/>
                <a:ext cx="192" cy="192"/>
              </a:xfrm>
              <a:prstGeom prst="ellipse">
                <a:avLst/>
              </a:prstGeom>
              <a:solidFill>
                <a:schemeClr val="hlink"/>
              </a:solidFill>
              <a:ln w="317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64906" name="Text Box 29"/>
              <p:cNvSpPr txBox="1"/>
              <p:nvPr/>
            </p:nvSpPr>
            <p:spPr>
              <a:xfrm>
                <a:off x="0" y="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rgbClr val="CCFFFF"/>
                    </a:solidFill>
                    <a:latin typeface="Tahoma" panose="020B0604030504040204" pitchFamily="34" charset="0"/>
                  </a:rPr>
                  <a:t>+</a:t>
                </a:r>
                <a:endParaRPr lang="zh-CN" altLang="en-US" sz="2400" dirty="0">
                  <a:solidFill>
                    <a:srgbClr val="CCFFFF"/>
                  </a:solidFill>
                  <a:latin typeface="Tahoma" panose="020B0604030504040204" pitchFamily="34" charset="0"/>
                </a:endParaRPr>
              </a:p>
            </p:txBody>
          </p:sp>
        </p:grpSp>
        <p:sp>
          <p:nvSpPr>
            <p:cNvPr id="164890" name="Line 30"/>
            <p:cNvSpPr/>
            <p:nvPr/>
          </p:nvSpPr>
          <p:spPr>
            <a:xfrm>
              <a:off x="720" y="624"/>
              <a:ext cx="0" cy="624"/>
            </a:xfrm>
            <a:prstGeom prst="line">
              <a:avLst/>
            </a:prstGeom>
            <a:ln w="9525" cap="flat" cmpd="sng">
              <a:solidFill>
                <a:schemeClr val="tx1"/>
              </a:solidFill>
              <a:prstDash val="solid"/>
              <a:headEnd type="none" w="med" len="med"/>
              <a:tailEnd type="none" w="med" len="med"/>
            </a:ln>
          </p:spPr>
        </p:sp>
        <p:sp>
          <p:nvSpPr>
            <p:cNvPr id="164891" name="Line 31"/>
            <p:cNvSpPr/>
            <p:nvPr/>
          </p:nvSpPr>
          <p:spPr>
            <a:xfrm>
              <a:off x="720" y="1248"/>
              <a:ext cx="192" cy="0"/>
            </a:xfrm>
            <a:prstGeom prst="line">
              <a:avLst/>
            </a:prstGeom>
            <a:ln w="9525" cap="flat" cmpd="sng">
              <a:solidFill>
                <a:schemeClr val="tx1"/>
              </a:solidFill>
              <a:prstDash val="solid"/>
              <a:headEnd type="none" w="med" len="med"/>
              <a:tailEnd type="triangle" w="med" len="med"/>
            </a:ln>
          </p:spPr>
        </p:sp>
        <p:sp>
          <p:nvSpPr>
            <p:cNvPr id="164892" name="Text Box 32"/>
            <p:cNvSpPr txBox="1"/>
            <p:nvPr/>
          </p:nvSpPr>
          <p:spPr>
            <a:xfrm>
              <a:off x="816" y="2880"/>
              <a:ext cx="163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800" dirty="0">
                  <a:solidFill>
                    <a:schemeClr val="tx1"/>
                  </a:solidFill>
                  <a:latin typeface="Tahoma" panose="020B0604030504040204" pitchFamily="34" charset="0"/>
                </a:rPr>
                <a:t>段表（在主存中）</a:t>
              </a:r>
              <a:endParaRPr lang="zh-CN" altLang="zh-CN" sz="1800" dirty="0">
                <a:solidFill>
                  <a:schemeClr val="tx1"/>
                </a:solidFill>
                <a:latin typeface="Tahoma" panose="020B0604030504040204" pitchFamily="34" charset="0"/>
              </a:endParaRPr>
            </a:p>
          </p:txBody>
        </p:sp>
        <p:sp>
          <p:nvSpPr>
            <p:cNvPr id="164893" name="Line 33"/>
            <p:cNvSpPr/>
            <p:nvPr/>
          </p:nvSpPr>
          <p:spPr>
            <a:xfrm>
              <a:off x="1392" y="1152"/>
              <a:ext cx="0" cy="1728"/>
            </a:xfrm>
            <a:prstGeom prst="line">
              <a:avLst/>
            </a:prstGeom>
            <a:ln w="9525" cap="flat" cmpd="sng">
              <a:solidFill>
                <a:schemeClr val="tx1"/>
              </a:solidFill>
              <a:prstDash val="solid"/>
              <a:headEnd type="none" w="med" len="med"/>
              <a:tailEnd type="none" w="med" len="med"/>
            </a:ln>
          </p:spPr>
        </p:sp>
        <p:sp>
          <p:nvSpPr>
            <p:cNvPr id="164894" name="Line 34"/>
            <p:cNvSpPr/>
            <p:nvPr/>
          </p:nvSpPr>
          <p:spPr>
            <a:xfrm>
              <a:off x="1152" y="1008"/>
              <a:ext cx="2544" cy="0"/>
            </a:xfrm>
            <a:prstGeom prst="line">
              <a:avLst/>
            </a:prstGeom>
            <a:ln w="28575" cap="flat" cmpd="sng">
              <a:solidFill>
                <a:schemeClr val="tx1"/>
              </a:solidFill>
              <a:prstDash val="solid"/>
              <a:headEnd type="none" w="med" len="med"/>
              <a:tailEnd type="none" w="med" len="med"/>
            </a:ln>
          </p:spPr>
        </p:sp>
        <p:sp>
          <p:nvSpPr>
            <p:cNvPr id="164895" name="Line 35"/>
            <p:cNvSpPr/>
            <p:nvPr/>
          </p:nvSpPr>
          <p:spPr>
            <a:xfrm>
              <a:off x="3696" y="1008"/>
              <a:ext cx="0" cy="576"/>
            </a:xfrm>
            <a:prstGeom prst="line">
              <a:avLst/>
            </a:prstGeom>
            <a:ln w="28575" cap="flat" cmpd="sng">
              <a:solidFill>
                <a:schemeClr val="tx1"/>
              </a:solidFill>
              <a:prstDash val="solid"/>
              <a:headEnd type="none" w="med" len="med"/>
              <a:tailEnd type="none" w="med" len="med"/>
            </a:ln>
          </p:spPr>
        </p:sp>
        <p:sp>
          <p:nvSpPr>
            <p:cNvPr id="164896" name="Line 36"/>
            <p:cNvSpPr/>
            <p:nvPr/>
          </p:nvSpPr>
          <p:spPr>
            <a:xfrm>
              <a:off x="3696" y="1584"/>
              <a:ext cx="768" cy="0"/>
            </a:xfrm>
            <a:prstGeom prst="line">
              <a:avLst/>
            </a:prstGeom>
            <a:ln w="28575" cap="flat" cmpd="sng">
              <a:solidFill>
                <a:schemeClr val="tx1"/>
              </a:solidFill>
              <a:prstDash val="solid"/>
              <a:headEnd type="none" w="med" len="med"/>
              <a:tailEnd type="triangle" w="med" len="med"/>
            </a:ln>
          </p:spPr>
        </p:sp>
        <p:grpSp>
          <p:nvGrpSpPr>
            <p:cNvPr id="164897" name="Group 37"/>
            <p:cNvGrpSpPr/>
            <p:nvPr/>
          </p:nvGrpSpPr>
          <p:grpSpPr>
            <a:xfrm>
              <a:off x="4464" y="1440"/>
              <a:ext cx="288" cy="288"/>
              <a:chOff x="0" y="0"/>
              <a:chExt cx="288" cy="288"/>
            </a:xfrm>
          </p:grpSpPr>
          <p:sp>
            <p:nvSpPr>
              <p:cNvPr id="164903" name="Oval 38"/>
              <p:cNvSpPr/>
              <p:nvPr/>
            </p:nvSpPr>
            <p:spPr>
              <a:xfrm>
                <a:off x="0" y="48"/>
                <a:ext cx="192" cy="192"/>
              </a:xfrm>
              <a:prstGeom prst="ellipse">
                <a:avLst/>
              </a:prstGeom>
              <a:solidFill>
                <a:schemeClr val="hlink"/>
              </a:solidFill>
              <a:ln w="317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64904" name="Text Box 39"/>
              <p:cNvSpPr txBox="1"/>
              <p:nvPr/>
            </p:nvSpPr>
            <p:spPr>
              <a:xfrm>
                <a:off x="0" y="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rgbClr val="CCFFFF"/>
                    </a:solidFill>
                    <a:latin typeface="Tahoma" panose="020B0604030504040204" pitchFamily="34" charset="0"/>
                  </a:rPr>
                  <a:t>+</a:t>
                </a:r>
                <a:endParaRPr lang="zh-CN" altLang="en-US" sz="2400" dirty="0">
                  <a:solidFill>
                    <a:srgbClr val="CCFFFF"/>
                  </a:solidFill>
                  <a:latin typeface="Tahoma" panose="020B0604030504040204" pitchFamily="34" charset="0"/>
                </a:endParaRPr>
              </a:p>
            </p:txBody>
          </p:sp>
        </p:grpSp>
        <p:sp>
          <p:nvSpPr>
            <p:cNvPr id="164898" name="Line 40"/>
            <p:cNvSpPr/>
            <p:nvPr/>
          </p:nvSpPr>
          <p:spPr>
            <a:xfrm>
              <a:off x="4560" y="1680"/>
              <a:ext cx="0" cy="816"/>
            </a:xfrm>
            <a:prstGeom prst="line">
              <a:avLst/>
            </a:prstGeom>
            <a:ln w="28575" cap="flat" cmpd="sng">
              <a:solidFill>
                <a:schemeClr val="tx1"/>
              </a:solidFill>
              <a:prstDash val="solid"/>
              <a:headEnd type="none" w="med" len="med"/>
              <a:tailEnd type="triangle" w="med" len="med"/>
            </a:ln>
          </p:spPr>
        </p:sp>
        <p:sp>
          <p:nvSpPr>
            <p:cNvPr id="164899" name="Text Box 41"/>
            <p:cNvSpPr txBox="1"/>
            <p:nvPr/>
          </p:nvSpPr>
          <p:spPr>
            <a:xfrm>
              <a:off x="912" y="1152"/>
              <a:ext cx="528"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400" dirty="0">
                  <a:solidFill>
                    <a:schemeClr val="tx1"/>
                  </a:solidFill>
                  <a:latin typeface="Tahoma" panose="020B0604030504040204" pitchFamily="34" charset="0"/>
                </a:rPr>
                <a:t>段起址</a:t>
              </a:r>
              <a:endParaRPr lang="zh-CN" altLang="zh-CN" sz="1400" dirty="0">
                <a:solidFill>
                  <a:schemeClr val="tx1"/>
                </a:solidFill>
                <a:latin typeface="Tahoma" panose="020B0604030504040204" pitchFamily="34" charset="0"/>
              </a:endParaRPr>
            </a:p>
          </p:txBody>
        </p:sp>
        <p:sp>
          <p:nvSpPr>
            <p:cNvPr id="164900" name="Text Box 42"/>
            <p:cNvSpPr txBox="1"/>
            <p:nvPr/>
          </p:nvSpPr>
          <p:spPr>
            <a:xfrm>
              <a:off x="1392" y="1152"/>
              <a:ext cx="528"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400" dirty="0">
                  <a:solidFill>
                    <a:schemeClr val="tx1"/>
                  </a:solidFill>
                  <a:latin typeface="Tahoma" panose="020B0604030504040204" pitchFamily="34" charset="0"/>
                </a:rPr>
                <a:t>装入位</a:t>
              </a:r>
              <a:endParaRPr lang="zh-CN" altLang="zh-CN" sz="1400" dirty="0">
                <a:solidFill>
                  <a:schemeClr val="tx1"/>
                </a:solidFill>
                <a:latin typeface="Tahoma" panose="020B0604030504040204" pitchFamily="34" charset="0"/>
              </a:endParaRPr>
            </a:p>
          </p:txBody>
        </p:sp>
        <p:sp>
          <p:nvSpPr>
            <p:cNvPr id="164901" name="Text Box 43"/>
            <p:cNvSpPr txBox="1"/>
            <p:nvPr/>
          </p:nvSpPr>
          <p:spPr>
            <a:xfrm>
              <a:off x="1920" y="1152"/>
              <a:ext cx="528"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400" dirty="0">
                  <a:solidFill>
                    <a:schemeClr val="tx1"/>
                  </a:solidFill>
                  <a:latin typeface="Tahoma" panose="020B0604030504040204" pitchFamily="34" charset="0"/>
                </a:rPr>
                <a:t>段长</a:t>
              </a:r>
              <a:endParaRPr lang="zh-CN" altLang="zh-CN" sz="1400" dirty="0">
                <a:solidFill>
                  <a:schemeClr val="tx1"/>
                </a:solidFill>
                <a:latin typeface="Tahoma" panose="020B0604030504040204" pitchFamily="34" charset="0"/>
              </a:endParaRPr>
            </a:p>
          </p:txBody>
        </p:sp>
        <p:sp>
          <p:nvSpPr>
            <p:cNvPr id="164902" name="Text Box 44"/>
            <p:cNvSpPr txBox="1"/>
            <p:nvPr/>
          </p:nvSpPr>
          <p:spPr>
            <a:xfrm>
              <a:off x="432" y="1248"/>
              <a:ext cx="432"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400" dirty="0">
                  <a:solidFill>
                    <a:schemeClr val="tx1"/>
                  </a:solidFill>
                  <a:latin typeface="Tahoma" panose="020B0604030504040204" pitchFamily="34" charset="0"/>
                </a:rPr>
                <a:t>段号</a:t>
              </a:r>
              <a:endParaRPr lang="zh-CN" altLang="zh-CN" sz="1400" dirty="0">
                <a:solidFill>
                  <a:schemeClr val="tx1"/>
                </a:solidFill>
                <a:latin typeface="Tahoma" panose="020B0604030504040204" pitchFamily="34" charset="0"/>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2"/>
          <p:cNvSpPr/>
          <p:nvPr>
            <p:ph type="title" idx="4294967295"/>
          </p:nvPr>
        </p:nvSpPr>
        <p:spPr>
          <a:xfrm>
            <a:off x="685800" y="990600"/>
            <a:ext cx="7772400" cy="762000"/>
          </a:xfrm>
          <a:prstGeom prst="rect">
            <a:avLst/>
          </a:prstGeom>
          <a:solidFill>
            <a:srgbClr val="FFFFFF"/>
          </a:solidFill>
          <a:ln w="9525" cap="flat" cmpd="sng">
            <a:solidFill>
              <a:srgbClr val="000000"/>
            </a:solidFill>
            <a:prstDash val="solid"/>
            <a:headEnd type="none" w="med" len="med"/>
            <a:tailEnd type="none" w="med" len="med"/>
          </a:ln>
        </p:spPr>
        <p:txBody>
          <a:bodyPr/>
          <a:p>
            <a:pPr algn="l" eaLnBrk="1" hangingPunct="1"/>
            <a:r>
              <a:rPr lang="zh-CN" altLang="zh-CN" dirty="0">
                <a:solidFill>
                  <a:srgbClr val="993366"/>
                </a:solidFill>
                <a:ea typeface="华文新魏" panose="02010800040101010101" pitchFamily="2" charset="-122"/>
              </a:rPr>
              <a:t>段页式虚拟存储器</a:t>
            </a:r>
            <a:endParaRPr lang="zh-CN" altLang="zh-CN" dirty="0">
              <a:solidFill>
                <a:srgbClr val="993366"/>
              </a:solidFill>
              <a:ea typeface="华文新魏" panose="02010800040101010101" pitchFamily="2" charset="-122"/>
            </a:endParaRPr>
          </a:p>
        </p:txBody>
      </p:sp>
      <p:sp>
        <p:nvSpPr>
          <p:cNvPr id="165891" name="Rectangle 3"/>
          <p:cNvSpPr>
            <a:spLocks noGrp="1"/>
          </p:cNvSpPr>
          <p:nvPr>
            <p:ph type="body" idx="4294967295"/>
          </p:nvPr>
        </p:nvSpPr>
        <p:spPr>
          <a:xfrm>
            <a:off x="685800" y="1828800"/>
            <a:ext cx="7848600" cy="4267200"/>
          </a:xfrm>
          <a:ln/>
        </p:spPr>
        <p:txBody>
          <a:bodyPr vert="horz" wrap="square" lIns="91440" tIns="45720" rIns="91440" bIns="45720" anchor="t" anchorCtr="0"/>
          <a:p>
            <a:pPr algn="just" eaLnBrk="1" hangingPunct="1">
              <a:lnSpc>
                <a:spcPct val="90000"/>
              </a:lnSpc>
            </a:pPr>
            <a:r>
              <a:rPr lang="zh-CN" altLang="en-US" b="1" dirty="0">
                <a:ea typeface="楷体_GB2312" pitchFamily="1" charset="-122"/>
              </a:rPr>
              <a:t>       </a:t>
            </a:r>
            <a:r>
              <a:rPr lang="zh-CN" altLang="en-US" sz="2800" b="1" dirty="0">
                <a:solidFill>
                  <a:schemeClr val="tx1"/>
                </a:solidFill>
                <a:ea typeface="楷体_GB2312" pitchFamily="1" charset="-122"/>
              </a:rPr>
              <a:t>段页式虚拟存储器是段式虚似存储器和页式虚拟存储器的结合。</a:t>
            </a:r>
            <a:endParaRPr lang="zh-CN" altLang="en-US" sz="2800" b="1" dirty="0">
              <a:solidFill>
                <a:schemeClr val="tx1"/>
              </a:solidFill>
              <a:ea typeface="楷体_GB2312" pitchFamily="1" charset="-122"/>
            </a:endParaRPr>
          </a:p>
          <a:p>
            <a:pPr algn="just" eaLnBrk="1" hangingPunct="1">
              <a:lnSpc>
                <a:spcPct val="90000"/>
              </a:lnSpc>
            </a:pPr>
            <a:r>
              <a:rPr lang="zh-CN" altLang="en-US" sz="2800" b="1" dirty="0">
                <a:solidFill>
                  <a:schemeClr val="tx1"/>
                </a:solidFill>
                <a:ea typeface="楷体_GB2312" pitchFamily="1" charset="-122"/>
              </a:rPr>
              <a:t>        在这种方式中，把程序按</a:t>
            </a:r>
            <a:r>
              <a:rPr lang="zh-CN" altLang="en-US" sz="2800" b="1" dirty="0">
                <a:solidFill>
                  <a:srgbClr val="993366"/>
                </a:solidFill>
                <a:ea typeface="楷体_GB2312" pitchFamily="1" charset="-122"/>
              </a:rPr>
              <a:t>逻辑单位分段</a:t>
            </a:r>
            <a:r>
              <a:rPr lang="zh-CN" altLang="en-US" sz="2800" b="1" dirty="0">
                <a:solidFill>
                  <a:schemeClr val="tx1"/>
                </a:solidFill>
                <a:ea typeface="楷体_GB2312" pitchFamily="1" charset="-122"/>
              </a:rPr>
              <a:t>以后，再把</a:t>
            </a:r>
            <a:r>
              <a:rPr lang="zh-CN" altLang="en-US" sz="2800" b="1" dirty="0">
                <a:solidFill>
                  <a:srgbClr val="993366"/>
                </a:solidFill>
                <a:ea typeface="楷体_GB2312" pitchFamily="1" charset="-122"/>
              </a:rPr>
              <a:t>每段分成固定大小的页</a:t>
            </a:r>
            <a:r>
              <a:rPr lang="zh-CN" altLang="en-US" sz="2800" b="1" dirty="0">
                <a:solidFill>
                  <a:schemeClr val="tx1"/>
                </a:solidFill>
                <a:ea typeface="楷体_GB2312" pitchFamily="1" charset="-122"/>
              </a:rPr>
              <a:t>。程序对主存的</a:t>
            </a:r>
            <a:r>
              <a:rPr lang="zh-CN" altLang="en-US" sz="2800" b="1" dirty="0">
                <a:solidFill>
                  <a:srgbClr val="993366"/>
                </a:solidFill>
                <a:ea typeface="楷体_GB2312" pitchFamily="1" charset="-122"/>
              </a:rPr>
              <a:t>调入调出是按页面进行</a:t>
            </a:r>
            <a:r>
              <a:rPr lang="zh-CN" altLang="en-US" sz="2800" b="1" dirty="0">
                <a:solidFill>
                  <a:schemeClr val="tx1"/>
                </a:solidFill>
                <a:ea typeface="楷体_GB2312" pitchFamily="1" charset="-122"/>
              </a:rPr>
              <a:t>的，但它又可以按段实现共享和保护。</a:t>
            </a:r>
            <a:endParaRPr lang="zh-CN" altLang="en-US" sz="2800" b="1" dirty="0">
              <a:solidFill>
                <a:schemeClr val="tx1"/>
              </a:solidFill>
              <a:ea typeface="楷体_GB2312" pitchFamily="1" charset="-122"/>
            </a:endParaRPr>
          </a:p>
          <a:p>
            <a:pPr algn="just" eaLnBrk="1" hangingPunct="1">
              <a:lnSpc>
                <a:spcPct val="90000"/>
              </a:lnSpc>
            </a:pPr>
            <a:r>
              <a:rPr lang="zh-CN" altLang="en-US" sz="2800" b="1" dirty="0">
                <a:solidFill>
                  <a:schemeClr val="tx1"/>
                </a:solidFill>
                <a:ea typeface="楷体_GB2312" pitchFamily="1" charset="-122"/>
              </a:rPr>
              <a:t>        因此，它可以兼取页式和段式系统的优点。它的缺点是在地址映象过程中需要多次查表。  </a:t>
            </a:r>
            <a:endParaRPr lang="zh-CN" altLang="en-US" sz="2800" b="1" dirty="0">
              <a:solidFill>
                <a:schemeClr val="tx1"/>
              </a:solidFill>
              <a:ea typeface="楷体_GB2312" pitchFamily="1" charset="-122"/>
            </a:endParaRPr>
          </a:p>
          <a:p>
            <a:pPr algn="just" eaLnBrk="1" hangingPunct="1">
              <a:lnSpc>
                <a:spcPct val="90000"/>
              </a:lnSpc>
            </a:pPr>
            <a:r>
              <a:rPr lang="zh-CN" altLang="en-US" sz="2800" b="1" dirty="0">
                <a:solidFill>
                  <a:schemeClr val="tx1"/>
                </a:solidFill>
                <a:ea typeface="楷体_GB2312" pitchFamily="1" charset="-122"/>
              </a:rPr>
              <a:t>        目前，大中型机一般都采用这种段页式存储管理方式</a:t>
            </a:r>
            <a:r>
              <a:rPr lang="zh-CN" altLang="en-US" sz="2800" dirty="0">
                <a:solidFill>
                  <a:schemeClr val="tx1"/>
                </a:solidFill>
                <a:ea typeface="楷体_GB2312" pitchFamily="1" charset="-122"/>
              </a:rPr>
              <a:t>。</a:t>
            </a:r>
            <a:endParaRPr lang="zh-CN" altLang="en-US" sz="2800" dirty="0">
              <a:solidFill>
                <a:schemeClr val="tx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body" idx="4294967295"/>
          </p:nvPr>
        </p:nvSpPr>
        <p:spPr>
          <a:xfrm>
            <a:off x="539750" y="1196975"/>
            <a:ext cx="7772400" cy="4114800"/>
          </a:xfrm>
          <a:ln/>
        </p:spPr>
        <p:txBody>
          <a:bodyPr vert="horz" wrap="square" lIns="91440" tIns="45720" rIns="91440" bIns="45720" anchor="t" anchorCtr="0"/>
          <a:p>
            <a:pPr eaLnBrk="1" hangingPunct="1"/>
            <a:r>
              <a:rPr lang="zh-CN" altLang="zh-CN" sz="3600" b="1" dirty="0">
                <a:solidFill>
                  <a:srgbClr val="993366"/>
                </a:solidFill>
                <a:ea typeface="华文新魏" panose="02010800040101010101" pitchFamily="2" charset="-122"/>
              </a:rPr>
              <a:t>多道程序</a:t>
            </a:r>
            <a:r>
              <a:rPr lang="zh-CN" altLang="zh-CN" sz="2800" b="1" dirty="0">
                <a:solidFill>
                  <a:schemeClr val="tx1"/>
                </a:solidFill>
                <a:ea typeface="楷体_GB2312" pitchFamily="1" charset="-122"/>
              </a:rPr>
              <a:t>：如果有多个用户在机器上独立运行就称为多道程序。</a:t>
            </a:r>
            <a:endParaRPr lang="zh-CN" altLang="zh-CN" sz="2800" b="1" dirty="0">
              <a:solidFill>
                <a:schemeClr val="tx1"/>
              </a:solidFill>
              <a:ea typeface="楷体_GB2312" pitchFamily="1" charset="-122"/>
            </a:endParaRPr>
          </a:p>
          <a:p>
            <a:pPr eaLnBrk="1" hangingPunct="1"/>
            <a:r>
              <a:rPr lang="zh-CN" altLang="zh-CN" sz="2800" b="1" dirty="0">
                <a:solidFill>
                  <a:schemeClr val="tx1"/>
                </a:solidFill>
                <a:ea typeface="楷体_GB2312" pitchFamily="1" charset="-122"/>
              </a:rPr>
              <a:t>多道程序的每一道（每个用户）需要一个基号（用户标志号），可由它指明该道程序的段表起始地址（存放在基址寄存器中）。</a:t>
            </a:r>
            <a:endParaRPr lang="zh-CN" altLang="zh-CN" sz="2800" b="1" dirty="0">
              <a:solidFill>
                <a:schemeClr val="tx1"/>
              </a:solidFill>
              <a:ea typeface="楷体_GB2312" pitchFamily="1" charset="-122"/>
            </a:endParaRPr>
          </a:p>
          <a:p>
            <a:pPr eaLnBrk="1" hangingPunct="1"/>
            <a:r>
              <a:rPr lang="zh-CN" altLang="zh-CN" sz="2800" b="1" dirty="0">
                <a:solidFill>
                  <a:schemeClr val="tx1"/>
                </a:solidFill>
                <a:ea typeface="楷体_GB2312" pitchFamily="1" charset="-122"/>
              </a:rPr>
              <a:t>这样，虚拟地址应包括基号、段号、页号、页内地址。格式如下：</a:t>
            </a:r>
            <a:endParaRPr lang="zh-CN" altLang="zh-CN" sz="2800" b="1" dirty="0">
              <a:solidFill>
                <a:schemeClr val="tx1"/>
              </a:solidFill>
              <a:ea typeface="楷体_GB2312" pitchFamily="1" charset="-122"/>
            </a:endParaRPr>
          </a:p>
        </p:txBody>
      </p:sp>
      <p:grpSp>
        <p:nvGrpSpPr>
          <p:cNvPr id="166915" name="Group 3"/>
          <p:cNvGrpSpPr/>
          <p:nvPr/>
        </p:nvGrpSpPr>
        <p:grpSpPr>
          <a:xfrm>
            <a:off x="1258888" y="4652963"/>
            <a:ext cx="6335712" cy="1008062"/>
            <a:chOff x="0" y="0"/>
            <a:chExt cx="2448" cy="432"/>
          </a:xfrm>
        </p:grpSpPr>
        <p:grpSp>
          <p:nvGrpSpPr>
            <p:cNvPr id="166916" name="Group 4"/>
            <p:cNvGrpSpPr/>
            <p:nvPr/>
          </p:nvGrpSpPr>
          <p:grpSpPr>
            <a:xfrm>
              <a:off x="0" y="192"/>
              <a:ext cx="2352" cy="240"/>
              <a:chOff x="0" y="0"/>
              <a:chExt cx="2352" cy="240"/>
            </a:xfrm>
          </p:grpSpPr>
          <p:sp>
            <p:nvSpPr>
              <p:cNvPr id="166918" name="AutoShape 5"/>
              <p:cNvSpPr/>
              <p:nvPr/>
            </p:nvSpPr>
            <p:spPr>
              <a:xfrm>
                <a:off x="0" y="0"/>
                <a:ext cx="2352" cy="240"/>
              </a:xfrm>
              <a:prstGeom prst="flowChartProcess">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endParaRPr lang="zh-CN" altLang="en-US" sz="2400" dirty="0">
                  <a:solidFill>
                    <a:schemeClr val="tx1"/>
                  </a:solidFill>
                  <a:latin typeface="Tahoma" panose="020B0604030504040204" pitchFamily="34" charset="0"/>
                </a:endParaRPr>
              </a:p>
            </p:txBody>
          </p:sp>
          <p:sp>
            <p:nvSpPr>
              <p:cNvPr id="166919" name="Line 6"/>
              <p:cNvSpPr/>
              <p:nvPr/>
            </p:nvSpPr>
            <p:spPr>
              <a:xfrm>
                <a:off x="480" y="0"/>
                <a:ext cx="0" cy="240"/>
              </a:xfrm>
              <a:prstGeom prst="line">
                <a:avLst/>
              </a:prstGeom>
              <a:ln w="9525" cap="flat" cmpd="sng">
                <a:solidFill>
                  <a:schemeClr val="tx1"/>
                </a:solidFill>
                <a:prstDash val="solid"/>
                <a:headEnd type="none" w="med" len="med"/>
                <a:tailEnd type="none" w="med" len="med"/>
              </a:ln>
            </p:spPr>
          </p:sp>
          <p:sp>
            <p:nvSpPr>
              <p:cNvPr id="166920" name="Line 7"/>
              <p:cNvSpPr/>
              <p:nvPr/>
            </p:nvSpPr>
            <p:spPr>
              <a:xfrm>
                <a:off x="1056" y="0"/>
                <a:ext cx="0" cy="240"/>
              </a:xfrm>
              <a:prstGeom prst="line">
                <a:avLst/>
              </a:prstGeom>
              <a:ln w="9525" cap="flat" cmpd="sng">
                <a:solidFill>
                  <a:schemeClr val="tx1"/>
                </a:solidFill>
                <a:prstDash val="solid"/>
                <a:headEnd type="none" w="med" len="med"/>
                <a:tailEnd type="none" w="med" len="med"/>
              </a:ln>
            </p:spPr>
          </p:sp>
          <p:sp>
            <p:nvSpPr>
              <p:cNvPr id="166921" name="Line 8"/>
              <p:cNvSpPr/>
              <p:nvPr/>
            </p:nvSpPr>
            <p:spPr>
              <a:xfrm>
                <a:off x="1776" y="0"/>
                <a:ext cx="0" cy="240"/>
              </a:xfrm>
              <a:prstGeom prst="line">
                <a:avLst/>
              </a:prstGeom>
              <a:ln w="9525" cap="flat" cmpd="sng">
                <a:solidFill>
                  <a:schemeClr val="tx1"/>
                </a:solidFill>
                <a:prstDash val="solid"/>
                <a:headEnd type="none" w="med" len="med"/>
                <a:tailEnd type="none" w="med" len="med"/>
              </a:ln>
            </p:spPr>
          </p:sp>
        </p:grpSp>
        <p:sp>
          <p:nvSpPr>
            <p:cNvPr id="166917" name="Text Box 9"/>
            <p:cNvSpPr txBox="1"/>
            <p:nvPr/>
          </p:nvSpPr>
          <p:spPr>
            <a:xfrm>
              <a:off x="0" y="0"/>
              <a:ext cx="2448" cy="19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基号        段号           页号         页内地址</a:t>
              </a:r>
              <a:endParaRPr lang="zh-CN" altLang="en-US" sz="2400" dirty="0">
                <a:solidFill>
                  <a:schemeClr val="tx1"/>
                </a:solidFill>
                <a:latin typeface="Tahoma" panose="020B0604030504040204" pitchFamily="34" charset="0"/>
              </a:endParaRPr>
            </a:p>
          </p:txBody>
        </p:sp>
      </p:gr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2"/>
          <p:cNvSpPr>
            <a:spLocks noGrp="1"/>
          </p:cNvSpPr>
          <p:nvPr>
            <p:ph type="body" idx="4294967295"/>
          </p:nvPr>
        </p:nvSpPr>
        <p:spPr>
          <a:xfrm>
            <a:off x="395288" y="981075"/>
            <a:ext cx="8077200" cy="5105400"/>
          </a:xfrm>
          <a:ln/>
        </p:spPr>
        <p:txBody>
          <a:bodyPr vert="horz" wrap="square" lIns="91440" tIns="45720" rIns="91440" bIns="45720" anchor="t" anchorCtr="0"/>
          <a:p>
            <a:pPr algn="just" eaLnBrk="1" hangingPunct="1">
              <a:lnSpc>
                <a:spcPct val="90000"/>
              </a:lnSpc>
            </a:pPr>
            <a:r>
              <a:rPr lang="zh-CN" altLang="en-US" sz="2800" b="1" dirty="0">
                <a:solidFill>
                  <a:srgbClr val="993366"/>
                </a:solidFill>
                <a:ea typeface="楷体_GB2312" pitchFamily="1" charset="-122"/>
              </a:rPr>
              <a:t>例：</a:t>
            </a:r>
            <a:r>
              <a:rPr lang="zh-CN" altLang="en-US" sz="2800" b="1" dirty="0">
                <a:solidFill>
                  <a:schemeClr val="tx1"/>
                </a:solidFill>
                <a:ea typeface="楷体_GB2312" pitchFamily="1" charset="-122"/>
              </a:rPr>
              <a:t>今假设有三道程序（用户标志号为A，B，C），其基址寄存器内容分别为S</a:t>
            </a:r>
            <a:r>
              <a:rPr lang="zh-CN" altLang="en-US" sz="2800" b="1" baseline="-30000" dirty="0">
                <a:solidFill>
                  <a:schemeClr val="tx1"/>
                </a:solidFill>
                <a:ea typeface="楷体_GB2312" pitchFamily="1" charset="-122"/>
              </a:rPr>
              <a:t>A</a:t>
            </a:r>
            <a:r>
              <a:rPr lang="zh-CN" altLang="en-US" sz="2800" b="1" dirty="0">
                <a:solidFill>
                  <a:schemeClr val="tx1"/>
                </a:solidFill>
                <a:ea typeface="楷体_GB2312" pitchFamily="1" charset="-122"/>
              </a:rPr>
              <a:t>，S</a:t>
            </a:r>
            <a:r>
              <a:rPr lang="zh-CN" altLang="en-US" sz="2800" b="1" baseline="-30000" dirty="0">
                <a:solidFill>
                  <a:schemeClr val="tx1"/>
                </a:solidFill>
                <a:ea typeface="楷体_GB2312" pitchFamily="1" charset="-122"/>
              </a:rPr>
              <a:t>B</a:t>
            </a:r>
            <a:r>
              <a:rPr lang="zh-CN" altLang="en-US" sz="2800" b="1" dirty="0">
                <a:solidFill>
                  <a:schemeClr val="tx1"/>
                </a:solidFill>
                <a:ea typeface="楷体_GB2312" pitchFamily="1" charset="-122"/>
              </a:rPr>
              <a:t>，S</a:t>
            </a:r>
            <a:r>
              <a:rPr lang="zh-CN" altLang="en-US" sz="2800" b="1" baseline="-30000" dirty="0">
                <a:solidFill>
                  <a:schemeClr val="tx1"/>
                </a:solidFill>
                <a:ea typeface="楷体_GB2312" pitchFamily="1" charset="-122"/>
              </a:rPr>
              <a:t>C</a:t>
            </a:r>
            <a:r>
              <a:rPr lang="zh-CN" altLang="en-US" sz="2800" b="1" dirty="0">
                <a:solidFill>
                  <a:schemeClr val="tx1"/>
                </a:solidFill>
                <a:ea typeface="楷体_GB2312" pitchFamily="1" charset="-122"/>
              </a:rPr>
              <a:t>，逻辑地址到物理地址的转移过程见下图。在主存中，每道程序都有一张段表，A程序有4段，C程序有3段。每段应有一张页表，段表的每行就表示相应页表的起始位置，而页表内的每行即为相应的物理页号。</a:t>
            </a:r>
            <a:endParaRPr lang="zh-CN" altLang="en-US" sz="2800" b="1" dirty="0">
              <a:solidFill>
                <a:schemeClr val="tx1"/>
              </a:solidFill>
            </a:endParaRPr>
          </a:p>
          <a:p>
            <a:pPr algn="just" eaLnBrk="1" hangingPunct="1">
              <a:lnSpc>
                <a:spcPct val="90000"/>
              </a:lnSpc>
              <a:buNone/>
            </a:pPr>
            <a:r>
              <a:rPr lang="zh-CN" altLang="en-US" sz="2400" b="1" dirty="0">
                <a:solidFill>
                  <a:schemeClr val="tx1"/>
                </a:solidFill>
                <a:ea typeface="楷体_GB2312" pitchFamily="1" charset="-122"/>
              </a:rPr>
              <a:t>    </a:t>
            </a:r>
            <a:r>
              <a:rPr lang="zh-CN" altLang="en-US" sz="2400" b="1" dirty="0">
                <a:solidFill>
                  <a:srgbClr val="993366"/>
                </a:solidFill>
                <a:ea typeface="楷体_GB2312" pitchFamily="1" charset="-122"/>
              </a:rPr>
              <a:t>解：地址转换过程如下：</a:t>
            </a:r>
            <a:endParaRPr lang="zh-CN" altLang="en-US" sz="2400" b="1" dirty="0">
              <a:solidFill>
                <a:srgbClr val="993366"/>
              </a:solidFill>
            </a:endParaRPr>
          </a:p>
          <a:p>
            <a:pPr algn="just" eaLnBrk="1" hangingPunct="1">
              <a:lnSpc>
                <a:spcPct val="90000"/>
              </a:lnSpc>
              <a:buNone/>
            </a:pPr>
            <a:r>
              <a:rPr lang="zh-CN" altLang="en-US" sz="2400" b="1" dirty="0">
                <a:solidFill>
                  <a:srgbClr val="993366"/>
                </a:solidFill>
                <a:ea typeface="楷体_GB2312" pitchFamily="1" charset="-122"/>
              </a:rPr>
              <a:t>    （1）根据基号C，执行S</a:t>
            </a:r>
            <a:r>
              <a:rPr lang="zh-CN" altLang="en-US" sz="2000" b="1" baseline="-30000" dirty="0">
                <a:solidFill>
                  <a:srgbClr val="993366"/>
                </a:solidFill>
                <a:ea typeface="楷体_GB2312" pitchFamily="1" charset="-122"/>
              </a:rPr>
              <a:t>C</a:t>
            </a:r>
            <a:r>
              <a:rPr lang="zh-CN" altLang="en-US" sz="2400" b="1" dirty="0">
                <a:solidFill>
                  <a:srgbClr val="993366"/>
                </a:solidFill>
                <a:ea typeface="楷体_GB2312" pitchFamily="1" charset="-122"/>
              </a:rPr>
              <a:t>（基址寄存器内容）加1（段号）操作，得到段表相应行地址，其内容为页表的起始地址b。</a:t>
            </a:r>
            <a:endParaRPr lang="zh-CN" altLang="en-US" sz="2400" b="1" dirty="0">
              <a:solidFill>
                <a:srgbClr val="993366"/>
              </a:solidFill>
            </a:endParaRPr>
          </a:p>
          <a:p>
            <a:pPr algn="just" eaLnBrk="1" hangingPunct="1">
              <a:lnSpc>
                <a:spcPct val="90000"/>
              </a:lnSpc>
              <a:buNone/>
            </a:pPr>
            <a:r>
              <a:rPr lang="zh-CN" altLang="en-US" sz="2400" b="1" dirty="0">
                <a:solidFill>
                  <a:srgbClr val="993366"/>
                </a:solidFill>
                <a:ea typeface="楷体_GB2312" pitchFamily="1" charset="-122"/>
              </a:rPr>
              <a:t>    （2）执行b（页表起始地址）+2（页号），得到物理页号的地址，其内容即为物理页号10。</a:t>
            </a:r>
            <a:endParaRPr lang="zh-CN" altLang="en-US" sz="2400" b="1" dirty="0">
              <a:solidFill>
                <a:srgbClr val="993366"/>
              </a:solidFill>
            </a:endParaRPr>
          </a:p>
          <a:p>
            <a:pPr algn="just" eaLnBrk="1" hangingPunct="1">
              <a:lnSpc>
                <a:spcPct val="90000"/>
              </a:lnSpc>
              <a:buNone/>
            </a:pPr>
            <a:r>
              <a:rPr lang="zh-CN" altLang="en-US" sz="2400" b="1" dirty="0">
                <a:solidFill>
                  <a:srgbClr val="993366"/>
                </a:solidFill>
                <a:ea typeface="楷体_GB2312" pitchFamily="1" charset="-122"/>
              </a:rPr>
              <a:t>    （3）物理页号与页内地址拼接即得物理地址。</a:t>
            </a:r>
            <a:endParaRPr lang="zh-CN" altLang="en-US" sz="2400" b="1" dirty="0">
              <a:solidFill>
                <a:srgbClr val="993366"/>
              </a:solidFil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8962" name="Rectangle 2"/>
          <p:cNvSpPr/>
          <p:nvPr>
            <p:ph type="title" idx="4294967295"/>
          </p:nvPr>
        </p:nvSpPr>
        <p:spPr>
          <a:xfrm>
            <a:off x="609600" y="3048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虚拟存储器——</a:t>
            </a:r>
            <a:r>
              <a:rPr lang="zh-CN" altLang="en-US" sz="2000" dirty="0"/>
              <a:t>段页式虚拟存储器</a:t>
            </a:r>
            <a:endParaRPr lang="zh-CN" altLang="en-US" sz="2000" dirty="0"/>
          </a:p>
        </p:txBody>
      </p:sp>
      <p:grpSp>
        <p:nvGrpSpPr>
          <p:cNvPr id="168963" name="Group 3"/>
          <p:cNvGrpSpPr/>
          <p:nvPr/>
        </p:nvGrpSpPr>
        <p:grpSpPr>
          <a:xfrm>
            <a:off x="304800" y="1219200"/>
            <a:ext cx="8382000" cy="4953000"/>
            <a:chOff x="0" y="0"/>
            <a:chExt cx="5280" cy="3120"/>
          </a:xfrm>
        </p:grpSpPr>
        <p:grpSp>
          <p:nvGrpSpPr>
            <p:cNvPr id="168964" name="Group 4"/>
            <p:cNvGrpSpPr/>
            <p:nvPr/>
          </p:nvGrpSpPr>
          <p:grpSpPr>
            <a:xfrm>
              <a:off x="2736" y="192"/>
              <a:ext cx="2352" cy="240"/>
              <a:chOff x="0" y="0"/>
              <a:chExt cx="2352" cy="240"/>
            </a:xfrm>
          </p:grpSpPr>
          <p:sp>
            <p:nvSpPr>
              <p:cNvPr id="169032" name="AutoShape 5"/>
              <p:cNvSpPr/>
              <p:nvPr/>
            </p:nvSpPr>
            <p:spPr>
              <a:xfrm>
                <a:off x="0" y="0"/>
                <a:ext cx="2352" cy="240"/>
              </a:xfrm>
              <a:prstGeom prst="flowChartProcess">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C      1         2          d</a:t>
                </a:r>
                <a:endParaRPr lang="zh-CN" altLang="en-US" sz="2400" dirty="0">
                  <a:solidFill>
                    <a:schemeClr val="tx1"/>
                  </a:solidFill>
                  <a:latin typeface="Tahoma" panose="020B0604030504040204" pitchFamily="34" charset="0"/>
                </a:endParaRPr>
              </a:p>
            </p:txBody>
          </p:sp>
          <p:sp>
            <p:nvSpPr>
              <p:cNvPr id="169033" name="Line 6"/>
              <p:cNvSpPr/>
              <p:nvPr/>
            </p:nvSpPr>
            <p:spPr>
              <a:xfrm>
                <a:off x="480" y="0"/>
                <a:ext cx="0" cy="240"/>
              </a:xfrm>
              <a:prstGeom prst="line">
                <a:avLst/>
              </a:prstGeom>
              <a:ln w="9525" cap="flat" cmpd="sng">
                <a:solidFill>
                  <a:schemeClr val="tx1"/>
                </a:solidFill>
                <a:prstDash val="solid"/>
                <a:headEnd type="none" w="med" len="med"/>
                <a:tailEnd type="none" w="med" len="med"/>
              </a:ln>
            </p:spPr>
          </p:sp>
          <p:sp>
            <p:nvSpPr>
              <p:cNvPr id="169034" name="Line 7"/>
              <p:cNvSpPr/>
              <p:nvPr/>
            </p:nvSpPr>
            <p:spPr>
              <a:xfrm>
                <a:off x="1056" y="0"/>
                <a:ext cx="0" cy="240"/>
              </a:xfrm>
              <a:prstGeom prst="line">
                <a:avLst/>
              </a:prstGeom>
              <a:ln w="9525" cap="flat" cmpd="sng">
                <a:solidFill>
                  <a:schemeClr val="tx1"/>
                </a:solidFill>
                <a:prstDash val="solid"/>
                <a:headEnd type="none" w="med" len="med"/>
                <a:tailEnd type="none" w="med" len="med"/>
              </a:ln>
            </p:spPr>
          </p:sp>
          <p:sp>
            <p:nvSpPr>
              <p:cNvPr id="169035" name="Line 8"/>
              <p:cNvSpPr/>
              <p:nvPr/>
            </p:nvSpPr>
            <p:spPr>
              <a:xfrm>
                <a:off x="1776" y="0"/>
                <a:ext cx="0" cy="240"/>
              </a:xfrm>
              <a:prstGeom prst="line">
                <a:avLst/>
              </a:prstGeom>
              <a:ln w="9525" cap="flat" cmpd="sng">
                <a:solidFill>
                  <a:schemeClr val="tx1"/>
                </a:solidFill>
                <a:prstDash val="solid"/>
                <a:headEnd type="none" w="med" len="med"/>
                <a:tailEnd type="none" w="med" len="med"/>
              </a:ln>
            </p:spPr>
          </p:sp>
        </p:grpSp>
        <p:grpSp>
          <p:nvGrpSpPr>
            <p:cNvPr id="168965" name="Group 9"/>
            <p:cNvGrpSpPr/>
            <p:nvPr/>
          </p:nvGrpSpPr>
          <p:grpSpPr>
            <a:xfrm>
              <a:off x="240" y="960"/>
              <a:ext cx="768" cy="768"/>
              <a:chOff x="0" y="0"/>
              <a:chExt cx="768" cy="768"/>
            </a:xfrm>
          </p:grpSpPr>
          <p:sp>
            <p:nvSpPr>
              <p:cNvPr id="169029" name="AutoShape 10"/>
              <p:cNvSpPr/>
              <p:nvPr/>
            </p:nvSpPr>
            <p:spPr>
              <a:xfrm>
                <a:off x="0" y="0"/>
                <a:ext cx="768" cy="768"/>
              </a:xfrm>
              <a:prstGeom prst="flowChartProcess">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SA</a:t>
                </a: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SB</a:t>
                </a:r>
                <a:endParaRPr lang="zh-CN" altLang="en-US" sz="2400" dirty="0">
                  <a:solidFill>
                    <a:schemeClr val="tx1"/>
                  </a:solidFill>
                  <a:latin typeface="Tahoma" panose="020B0604030504040204" pitchFamily="34" charset="0"/>
                </a:endParaRPr>
              </a:p>
              <a:p>
                <a:pPr marL="0" lvl="0" indent="0" algn="ctr" eaLnBrk="1" hangingPunct="1">
                  <a:spcBef>
                    <a:spcPct val="0"/>
                  </a:spcBef>
                  <a:buNone/>
                </a:pPr>
                <a:r>
                  <a:rPr lang="zh-CN" altLang="en-US" sz="2400" dirty="0">
                    <a:solidFill>
                      <a:schemeClr val="tx1"/>
                    </a:solidFill>
                    <a:latin typeface="Tahoma" panose="020B0604030504040204" pitchFamily="34" charset="0"/>
                  </a:rPr>
                  <a:t>SC</a:t>
                </a:r>
                <a:endParaRPr lang="zh-CN" altLang="en-US" sz="2400" dirty="0">
                  <a:solidFill>
                    <a:schemeClr val="tx1"/>
                  </a:solidFill>
                  <a:latin typeface="Tahoma" panose="020B0604030504040204" pitchFamily="34" charset="0"/>
                </a:endParaRPr>
              </a:p>
            </p:txBody>
          </p:sp>
          <p:sp>
            <p:nvSpPr>
              <p:cNvPr id="169030" name="Line 11"/>
              <p:cNvSpPr/>
              <p:nvPr/>
            </p:nvSpPr>
            <p:spPr>
              <a:xfrm>
                <a:off x="0" y="240"/>
                <a:ext cx="768" cy="0"/>
              </a:xfrm>
              <a:prstGeom prst="line">
                <a:avLst/>
              </a:prstGeom>
              <a:ln w="9525" cap="flat" cmpd="sng">
                <a:solidFill>
                  <a:schemeClr val="tx1"/>
                </a:solidFill>
                <a:prstDash val="solid"/>
                <a:headEnd type="none" w="med" len="med"/>
                <a:tailEnd type="none" w="med" len="med"/>
              </a:ln>
            </p:spPr>
          </p:sp>
          <p:sp>
            <p:nvSpPr>
              <p:cNvPr id="169031" name="Line 12"/>
              <p:cNvSpPr/>
              <p:nvPr/>
            </p:nvSpPr>
            <p:spPr>
              <a:xfrm>
                <a:off x="0" y="480"/>
                <a:ext cx="768" cy="0"/>
              </a:xfrm>
              <a:prstGeom prst="line">
                <a:avLst/>
              </a:prstGeom>
              <a:ln w="9525" cap="flat" cmpd="sng">
                <a:solidFill>
                  <a:schemeClr val="tx1"/>
                </a:solidFill>
                <a:prstDash val="solid"/>
                <a:headEnd type="none" w="med" len="med"/>
                <a:tailEnd type="none" w="med" len="med"/>
              </a:ln>
            </p:spPr>
          </p:sp>
        </p:grpSp>
        <p:grpSp>
          <p:nvGrpSpPr>
            <p:cNvPr id="168966" name="Group 13"/>
            <p:cNvGrpSpPr/>
            <p:nvPr/>
          </p:nvGrpSpPr>
          <p:grpSpPr>
            <a:xfrm>
              <a:off x="1728" y="816"/>
              <a:ext cx="720" cy="768"/>
              <a:chOff x="0" y="0"/>
              <a:chExt cx="720" cy="768"/>
            </a:xfrm>
          </p:grpSpPr>
          <p:sp>
            <p:nvSpPr>
              <p:cNvPr id="169025" name="AutoShape 14"/>
              <p:cNvSpPr/>
              <p:nvPr/>
            </p:nvSpPr>
            <p:spPr>
              <a:xfrm>
                <a:off x="0" y="0"/>
                <a:ext cx="720" cy="768"/>
              </a:xfrm>
              <a:prstGeom prst="flowChartProcess">
                <a:avLst/>
              </a:prstGeom>
              <a:solidFill>
                <a:srgbClr val="0099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69026" name="Line 15"/>
              <p:cNvSpPr/>
              <p:nvPr/>
            </p:nvSpPr>
            <p:spPr>
              <a:xfrm>
                <a:off x="0" y="192"/>
                <a:ext cx="720" cy="0"/>
              </a:xfrm>
              <a:prstGeom prst="line">
                <a:avLst/>
              </a:prstGeom>
              <a:ln w="9525" cap="flat" cmpd="sng">
                <a:solidFill>
                  <a:schemeClr val="tx1"/>
                </a:solidFill>
                <a:prstDash val="solid"/>
                <a:headEnd type="none" w="med" len="med"/>
                <a:tailEnd type="none" w="med" len="med"/>
              </a:ln>
            </p:spPr>
          </p:sp>
          <p:sp>
            <p:nvSpPr>
              <p:cNvPr id="169027" name="Line 16"/>
              <p:cNvSpPr/>
              <p:nvPr/>
            </p:nvSpPr>
            <p:spPr>
              <a:xfrm>
                <a:off x="0" y="384"/>
                <a:ext cx="720" cy="0"/>
              </a:xfrm>
              <a:prstGeom prst="line">
                <a:avLst/>
              </a:prstGeom>
              <a:ln w="9525" cap="flat" cmpd="sng">
                <a:solidFill>
                  <a:schemeClr val="tx1"/>
                </a:solidFill>
                <a:prstDash val="solid"/>
                <a:headEnd type="none" w="med" len="med"/>
                <a:tailEnd type="none" w="med" len="med"/>
              </a:ln>
            </p:spPr>
          </p:sp>
          <p:sp>
            <p:nvSpPr>
              <p:cNvPr id="169028" name="Line 17"/>
              <p:cNvSpPr/>
              <p:nvPr/>
            </p:nvSpPr>
            <p:spPr>
              <a:xfrm>
                <a:off x="0" y="576"/>
                <a:ext cx="720" cy="0"/>
              </a:xfrm>
              <a:prstGeom prst="line">
                <a:avLst/>
              </a:prstGeom>
              <a:ln w="9525" cap="flat" cmpd="sng">
                <a:solidFill>
                  <a:schemeClr val="tx1"/>
                </a:solidFill>
                <a:prstDash val="solid"/>
                <a:headEnd type="none" w="med" len="med"/>
                <a:tailEnd type="none" w="med" len="med"/>
              </a:ln>
            </p:spPr>
          </p:sp>
        </p:grpSp>
        <p:sp>
          <p:nvSpPr>
            <p:cNvPr id="168967" name="AutoShape 18"/>
            <p:cNvSpPr/>
            <p:nvPr/>
          </p:nvSpPr>
          <p:spPr>
            <a:xfrm>
              <a:off x="1584" y="1872"/>
              <a:ext cx="720" cy="576"/>
            </a:xfrm>
            <a:prstGeom prst="flowChartProcess">
              <a:avLst/>
            </a:prstGeom>
            <a:solidFill>
              <a:srgbClr val="009999"/>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1800" dirty="0">
                  <a:solidFill>
                    <a:schemeClr val="tx1"/>
                  </a:solidFill>
                  <a:latin typeface="Tahoma" panose="020B0604030504040204" pitchFamily="34" charset="0"/>
                </a:rPr>
                <a:t>A</a:t>
              </a:r>
              <a:endParaRPr lang="zh-CN" altLang="en-US" sz="1800" dirty="0">
                <a:solidFill>
                  <a:schemeClr val="tx1"/>
                </a:solidFill>
                <a:latin typeface="Tahoma" panose="020B0604030504040204" pitchFamily="34" charset="0"/>
              </a:endParaRPr>
            </a:p>
            <a:p>
              <a:pPr marL="0" lvl="0" indent="0" algn="ctr" eaLnBrk="1" hangingPunct="1">
                <a:spcBef>
                  <a:spcPct val="0"/>
                </a:spcBef>
                <a:buNone/>
              </a:pPr>
              <a:r>
                <a:rPr lang="zh-CN" altLang="en-US" sz="1800" dirty="0">
                  <a:solidFill>
                    <a:schemeClr val="tx1"/>
                  </a:solidFill>
                  <a:latin typeface="Tahoma" panose="020B0604030504040204" pitchFamily="34" charset="0"/>
                </a:rPr>
                <a:t>B</a:t>
              </a:r>
              <a:endParaRPr lang="zh-CN" altLang="en-US" sz="1800" dirty="0">
                <a:solidFill>
                  <a:schemeClr val="tx1"/>
                </a:solidFill>
                <a:latin typeface="Tahoma" panose="020B0604030504040204" pitchFamily="34" charset="0"/>
              </a:endParaRPr>
            </a:p>
            <a:p>
              <a:pPr marL="0" lvl="0" indent="0" algn="ctr" eaLnBrk="1" hangingPunct="1">
                <a:spcBef>
                  <a:spcPct val="0"/>
                </a:spcBef>
                <a:buNone/>
              </a:pPr>
              <a:r>
                <a:rPr lang="zh-CN" altLang="en-US" sz="1800" dirty="0">
                  <a:solidFill>
                    <a:schemeClr val="tx1"/>
                  </a:solidFill>
                  <a:latin typeface="Tahoma" panose="020B0604030504040204" pitchFamily="34" charset="0"/>
                </a:rPr>
                <a:t>C</a:t>
              </a:r>
              <a:endParaRPr lang="zh-CN" altLang="en-US" sz="1800" dirty="0">
                <a:solidFill>
                  <a:schemeClr val="tx1"/>
                </a:solidFill>
                <a:latin typeface="Tahoma" panose="020B0604030504040204" pitchFamily="34" charset="0"/>
              </a:endParaRPr>
            </a:p>
          </p:txBody>
        </p:sp>
        <p:sp>
          <p:nvSpPr>
            <p:cNvPr id="168968" name="Line 19"/>
            <p:cNvSpPr/>
            <p:nvPr/>
          </p:nvSpPr>
          <p:spPr>
            <a:xfrm>
              <a:off x="1584" y="2064"/>
              <a:ext cx="720" cy="0"/>
            </a:xfrm>
            <a:prstGeom prst="line">
              <a:avLst/>
            </a:prstGeom>
            <a:ln w="9525" cap="flat" cmpd="sng">
              <a:solidFill>
                <a:schemeClr val="tx1"/>
              </a:solidFill>
              <a:prstDash val="solid"/>
              <a:headEnd type="none" w="med" len="med"/>
              <a:tailEnd type="none" w="med" len="med"/>
            </a:ln>
          </p:spPr>
        </p:sp>
        <p:sp>
          <p:nvSpPr>
            <p:cNvPr id="168969" name="Line 20"/>
            <p:cNvSpPr/>
            <p:nvPr/>
          </p:nvSpPr>
          <p:spPr>
            <a:xfrm>
              <a:off x="1584" y="2256"/>
              <a:ext cx="720" cy="0"/>
            </a:xfrm>
            <a:prstGeom prst="line">
              <a:avLst/>
            </a:prstGeom>
            <a:ln w="9525" cap="flat" cmpd="sng">
              <a:solidFill>
                <a:schemeClr val="tx1"/>
              </a:solidFill>
              <a:prstDash val="solid"/>
              <a:headEnd type="none" w="med" len="med"/>
              <a:tailEnd type="none" w="med" len="med"/>
            </a:ln>
          </p:spPr>
        </p:sp>
        <p:sp>
          <p:nvSpPr>
            <p:cNvPr id="168970" name="AutoShape 21"/>
            <p:cNvSpPr/>
            <p:nvPr/>
          </p:nvSpPr>
          <p:spPr>
            <a:xfrm>
              <a:off x="3984" y="864"/>
              <a:ext cx="1296" cy="288"/>
            </a:xfrm>
            <a:prstGeom prst="flowChartProcess">
              <a:avLst/>
            </a:prstGeom>
            <a:solidFill>
              <a:srgbClr val="FFCC66"/>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10         d</a:t>
              </a:r>
              <a:endParaRPr lang="zh-CN" altLang="en-US" sz="2400" dirty="0">
                <a:solidFill>
                  <a:schemeClr val="tx1"/>
                </a:solidFill>
                <a:latin typeface="Tahoma" panose="020B0604030504040204" pitchFamily="34" charset="0"/>
              </a:endParaRPr>
            </a:p>
          </p:txBody>
        </p:sp>
        <p:sp>
          <p:nvSpPr>
            <p:cNvPr id="168971" name="Line 22"/>
            <p:cNvSpPr/>
            <p:nvPr/>
          </p:nvSpPr>
          <p:spPr>
            <a:xfrm>
              <a:off x="4656" y="864"/>
              <a:ext cx="0" cy="288"/>
            </a:xfrm>
            <a:prstGeom prst="line">
              <a:avLst/>
            </a:prstGeom>
            <a:ln w="9525" cap="flat" cmpd="sng">
              <a:solidFill>
                <a:schemeClr val="tx1"/>
              </a:solidFill>
              <a:prstDash val="solid"/>
              <a:headEnd type="none" w="med" len="med"/>
              <a:tailEnd type="none" w="med" len="med"/>
            </a:ln>
          </p:spPr>
        </p:sp>
        <p:sp>
          <p:nvSpPr>
            <p:cNvPr id="168972" name="AutoShape 23"/>
            <p:cNvSpPr/>
            <p:nvPr/>
          </p:nvSpPr>
          <p:spPr>
            <a:xfrm>
              <a:off x="3552" y="1488"/>
              <a:ext cx="576" cy="192"/>
            </a:xfrm>
            <a:prstGeom prst="flowChartProcess">
              <a:avLst/>
            </a:prstGeom>
            <a:solidFill>
              <a:srgbClr val="FF66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a:t>
              </a:r>
              <a:endParaRPr lang="zh-CN" altLang="en-US" sz="2400" dirty="0">
                <a:solidFill>
                  <a:schemeClr val="tx1"/>
                </a:solidFill>
                <a:latin typeface="Tahoma" panose="020B0604030504040204" pitchFamily="34" charset="0"/>
              </a:endParaRPr>
            </a:p>
          </p:txBody>
        </p:sp>
        <p:sp>
          <p:nvSpPr>
            <p:cNvPr id="168973" name="AutoShape 24"/>
            <p:cNvSpPr/>
            <p:nvPr/>
          </p:nvSpPr>
          <p:spPr>
            <a:xfrm>
              <a:off x="3552" y="1680"/>
              <a:ext cx="576" cy="192"/>
            </a:xfrm>
            <a:prstGeom prst="flowChartProcess">
              <a:avLst/>
            </a:prstGeom>
            <a:solidFill>
              <a:srgbClr val="FF66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2</a:t>
              </a:r>
              <a:endParaRPr lang="zh-CN" altLang="en-US" sz="2400" dirty="0">
                <a:solidFill>
                  <a:schemeClr val="tx1"/>
                </a:solidFill>
                <a:latin typeface="Tahoma" panose="020B0604030504040204" pitchFamily="34" charset="0"/>
              </a:endParaRPr>
            </a:p>
          </p:txBody>
        </p:sp>
        <p:sp>
          <p:nvSpPr>
            <p:cNvPr id="168974" name="AutoShape 25"/>
            <p:cNvSpPr/>
            <p:nvPr/>
          </p:nvSpPr>
          <p:spPr>
            <a:xfrm>
              <a:off x="3552" y="2016"/>
              <a:ext cx="576" cy="192"/>
            </a:xfrm>
            <a:prstGeom prst="flowChartProcess">
              <a:avLst/>
            </a:prstGeom>
            <a:solidFill>
              <a:srgbClr val="FF66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8</a:t>
              </a:r>
              <a:endParaRPr lang="zh-CN" altLang="en-US" sz="2400" dirty="0">
                <a:solidFill>
                  <a:schemeClr val="tx1"/>
                </a:solidFill>
                <a:latin typeface="Tahoma" panose="020B0604030504040204" pitchFamily="34" charset="0"/>
              </a:endParaRPr>
            </a:p>
          </p:txBody>
        </p:sp>
        <p:sp>
          <p:nvSpPr>
            <p:cNvPr id="168975" name="AutoShape 26"/>
            <p:cNvSpPr/>
            <p:nvPr/>
          </p:nvSpPr>
          <p:spPr>
            <a:xfrm>
              <a:off x="3552" y="2208"/>
              <a:ext cx="576" cy="192"/>
            </a:xfrm>
            <a:prstGeom prst="flowChartProcess">
              <a:avLst/>
            </a:prstGeom>
            <a:solidFill>
              <a:srgbClr val="FF66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7</a:t>
              </a:r>
              <a:endParaRPr lang="zh-CN" altLang="en-US" sz="2400" dirty="0">
                <a:solidFill>
                  <a:schemeClr val="tx1"/>
                </a:solidFill>
                <a:latin typeface="Tahoma" panose="020B0604030504040204" pitchFamily="34" charset="0"/>
              </a:endParaRPr>
            </a:p>
          </p:txBody>
        </p:sp>
        <p:sp>
          <p:nvSpPr>
            <p:cNvPr id="168976" name="AutoShape 27"/>
            <p:cNvSpPr/>
            <p:nvPr/>
          </p:nvSpPr>
          <p:spPr>
            <a:xfrm>
              <a:off x="3552" y="2400"/>
              <a:ext cx="576" cy="192"/>
            </a:xfrm>
            <a:prstGeom prst="flowChartProcess">
              <a:avLst/>
            </a:prstGeom>
            <a:solidFill>
              <a:srgbClr val="FF66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10</a:t>
              </a:r>
              <a:endParaRPr lang="zh-CN" altLang="en-US" sz="2400" dirty="0">
                <a:solidFill>
                  <a:schemeClr val="tx1"/>
                </a:solidFill>
                <a:latin typeface="Tahoma" panose="020B0604030504040204" pitchFamily="34" charset="0"/>
              </a:endParaRPr>
            </a:p>
          </p:txBody>
        </p:sp>
        <p:sp>
          <p:nvSpPr>
            <p:cNvPr id="168977" name="AutoShape 28"/>
            <p:cNvSpPr/>
            <p:nvPr/>
          </p:nvSpPr>
          <p:spPr>
            <a:xfrm>
              <a:off x="3552" y="2736"/>
              <a:ext cx="576" cy="192"/>
            </a:xfrm>
            <a:prstGeom prst="flowChartProcess">
              <a:avLst/>
            </a:prstGeom>
            <a:solidFill>
              <a:srgbClr val="FF66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12</a:t>
              </a:r>
              <a:endParaRPr lang="zh-CN" altLang="en-US" sz="2400" dirty="0">
                <a:solidFill>
                  <a:schemeClr val="tx1"/>
                </a:solidFill>
                <a:latin typeface="Tahoma" panose="020B0604030504040204" pitchFamily="34" charset="0"/>
              </a:endParaRPr>
            </a:p>
          </p:txBody>
        </p:sp>
        <p:sp>
          <p:nvSpPr>
            <p:cNvPr id="168978" name="AutoShape 29"/>
            <p:cNvSpPr/>
            <p:nvPr/>
          </p:nvSpPr>
          <p:spPr>
            <a:xfrm>
              <a:off x="3552" y="2928"/>
              <a:ext cx="576" cy="192"/>
            </a:xfrm>
            <a:prstGeom prst="flowChartProcess">
              <a:avLst/>
            </a:prstGeom>
            <a:solidFill>
              <a:srgbClr val="FF66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4</a:t>
              </a:r>
              <a:endParaRPr lang="zh-CN" altLang="en-US" sz="2400" dirty="0">
                <a:solidFill>
                  <a:schemeClr val="tx1"/>
                </a:solidFill>
                <a:latin typeface="Tahoma" panose="020B0604030504040204" pitchFamily="34" charset="0"/>
              </a:endParaRPr>
            </a:p>
          </p:txBody>
        </p:sp>
        <p:sp>
          <p:nvSpPr>
            <p:cNvPr id="168979" name="Line 30"/>
            <p:cNvSpPr/>
            <p:nvPr/>
          </p:nvSpPr>
          <p:spPr>
            <a:xfrm>
              <a:off x="2976" y="432"/>
              <a:ext cx="0" cy="144"/>
            </a:xfrm>
            <a:prstGeom prst="line">
              <a:avLst/>
            </a:prstGeom>
            <a:ln w="9525" cap="flat" cmpd="sng">
              <a:solidFill>
                <a:schemeClr val="tx1"/>
              </a:solidFill>
              <a:prstDash val="solid"/>
              <a:headEnd type="none" w="med" len="med"/>
              <a:tailEnd type="none" w="med" len="med"/>
            </a:ln>
          </p:spPr>
        </p:sp>
        <p:sp>
          <p:nvSpPr>
            <p:cNvPr id="168980" name="Line 31"/>
            <p:cNvSpPr/>
            <p:nvPr/>
          </p:nvSpPr>
          <p:spPr>
            <a:xfrm flipH="1">
              <a:off x="0" y="576"/>
              <a:ext cx="2976" cy="0"/>
            </a:xfrm>
            <a:prstGeom prst="line">
              <a:avLst/>
            </a:prstGeom>
            <a:ln w="9525" cap="flat" cmpd="sng">
              <a:solidFill>
                <a:schemeClr val="tx1"/>
              </a:solidFill>
              <a:prstDash val="solid"/>
              <a:headEnd type="none" w="med" len="med"/>
              <a:tailEnd type="none" w="med" len="med"/>
            </a:ln>
          </p:spPr>
        </p:sp>
        <p:sp>
          <p:nvSpPr>
            <p:cNvPr id="168981" name="Line 32"/>
            <p:cNvSpPr/>
            <p:nvPr/>
          </p:nvSpPr>
          <p:spPr>
            <a:xfrm>
              <a:off x="0" y="576"/>
              <a:ext cx="0" cy="1056"/>
            </a:xfrm>
            <a:prstGeom prst="line">
              <a:avLst/>
            </a:prstGeom>
            <a:ln w="9525" cap="flat" cmpd="sng">
              <a:solidFill>
                <a:schemeClr val="tx1"/>
              </a:solidFill>
              <a:prstDash val="solid"/>
              <a:headEnd type="none" w="med" len="med"/>
              <a:tailEnd type="none" w="med" len="med"/>
            </a:ln>
          </p:spPr>
        </p:sp>
        <p:sp>
          <p:nvSpPr>
            <p:cNvPr id="168982" name="Line 33"/>
            <p:cNvSpPr/>
            <p:nvPr/>
          </p:nvSpPr>
          <p:spPr>
            <a:xfrm>
              <a:off x="0" y="1632"/>
              <a:ext cx="240" cy="0"/>
            </a:xfrm>
            <a:prstGeom prst="line">
              <a:avLst/>
            </a:prstGeom>
            <a:ln w="9525" cap="flat" cmpd="sng">
              <a:solidFill>
                <a:schemeClr val="tx1"/>
              </a:solidFill>
              <a:prstDash val="solid"/>
              <a:headEnd type="none" w="med" len="med"/>
              <a:tailEnd type="triangle" w="med" len="med"/>
            </a:ln>
          </p:spPr>
        </p:sp>
        <p:sp>
          <p:nvSpPr>
            <p:cNvPr id="168983" name="Line 34"/>
            <p:cNvSpPr/>
            <p:nvPr/>
          </p:nvSpPr>
          <p:spPr>
            <a:xfrm>
              <a:off x="1008" y="1584"/>
              <a:ext cx="144" cy="0"/>
            </a:xfrm>
            <a:prstGeom prst="line">
              <a:avLst/>
            </a:prstGeom>
            <a:ln w="9525" cap="flat" cmpd="sng">
              <a:solidFill>
                <a:schemeClr val="tx1"/>
              </a:solidFill>
              <a:prstDash val="solid"/>
              <a:headEnd type="none" w="med" len="med"/>
              <a:tailEnd type="triangle" w="med" len="med"/>
            </a:ln>
          </p:spPr>
        </p:sp>
        <p:grpSp>
          <p:nvGrpSpPr>
            <p:cNvPr id="168984" name="Group 35"/>
            <p:cNvGrpSpPr/>
            <p:nvPr/>
          </p:nvGrpSpPr>
          <p:grpSpPr>
            <a:xfrm>
              <a:off x="1104" y="1440"/>
              <a:ext cx="288" cy="327"/>
              <a:chOff x="0" y="0"/>
              <a:chExt cx="288" cy="327"/>
            </a:xfrm>
          </p:grpSpPr>
          <p:sp>
            <p:nvSpPr>
              <p:cNvPr id="169023" name="Oval 36"/>
              <p:cNvSpPr/>
              <p:nvPr/>
            </p:nvSpPr>
            <p:spPr>
              <a:xfrm>
                <a:off x="48" y="48"/>
                <a:ext cx="192" cy="19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69024" name="Text Box 37"/>
              <p:cNvSpPr txBox="1"/>
              <p:nvPr/>
            </p:nvSpPr>
            <p:spPr>
              <a:xfrm>
                <a:off x="0" y="0"/>
                <a:ext cx="288"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800" dirty="0">
                    <a:solidFill>
                      <a:schemeClr val="tx1"/>
                    </a:solidFill>
                    <a:latin typeface="Tahoma" panose="020B0604030504040204" pitchFamily="34" charset="0"/>
                  </a:rPr>
                  <a:t>+</a:t>
                </a:r>
                <a:endParaRPr lang="zh-CN" altLang="en-US" sz="2800" dirty="0">
                  <a:solidFill>
                    <a:schemeClr val="tx1"/>
                  </a:solidFill>
                  <a:latin typeface="Tahoma" panose="020B0604030504040204" pitchFamily="34" charset="0"/>
                </a:endParaRPr>
              </a:p>
            </p:txBody>
          </p:sp>
        </p:grpSp>
        <p:sp>
          <p:nvSpPr>
            <p:cNvPr id="168985" name="Line 38"/>
            <p:cNvSpPr/>
            <p:nvPr/>
          </p:nvSpPr>
          <p:spPr>
            <a:xfrm>
              <a:off x="3504" y="432"/>
              <a:ext cx="0" cy="192"/>
            </a:xfrm>
            <a:prstGeom prst="line">
              <a:avLst/>
            </a:prstGeom>
            <a:ln w="9525" cap="flat" cmpd="sng">
              <a:solidFill>
                <a:schemeClr val="tx1"/>
              </a:solidFill>
              <a:prstDash val="solid"/>
              <a:headEnd type="none" w="med" len="med"/>
              <a:tailEnd type="none" w="med" len="med"/>
            </a:ln>
          </p:spPr>
        </p:sp>
        <p:sp>
          <p:nvSpPr>
            <p:cNvPr id="168986" name="Line 39"/>
            <p:cNvSpPr/>
            <p:nvPr/>
          </p:nvSpPr>
          <p:spPr>
            <a:xfrm flipH="1">
              <a:off x="1248" y="624"/>
              <a:ext cx="2256" cy="0"/>
            </a:xfrm>
            <a:prstGeom prst="line">
              <a:avLst/>
            </a:prstGeom>
            <a:ln w="9525" cap="flat" cmpd="sng">
              <a:solidFill>
                <a:schemeClr val="tx1"/>
              </a:solidFill>
              <a:prstDash val="solid"/>
              <a:headEnd type="none" w="med" len="med"/>
              <a:tailEnd type="none" w="med" len="med"/>
            </a:ln>
          </p:spPr>
        </p:sp>
        <p:sp>
          <p:nvSpPr>
            <p:cNvPr id="168987" name="Line 40"/>
            <p:cNvSpPr/>
            <p:nvPr/>
          </p:nvSpPr>
          <p:spPr>
            <a:xfrm flipH="1">
              <a:off x="1248" y="624"/>
              <a:ext cx="0" cy="864"/>
            </a:xfrm>
            <a:prstGeom prst="line">
              <a:avLst/>
            </a:prstGeom>
            <a:ln w="9525" cap="flat" cmpd="sng">
              <a:solidFill>
                <a:schemeClr val="tx1"/>
              </a:solidFill>
              <a:prstDash val="solid"/>
              <a:headEnd type="none" w="med" len="med"/>
              <a:tailEnd type="triangle" w="med" len="med"/>
            </a:ln>
          </p:spPr>
        </p:sp>
        <p:sp>
          <p:nvSpPr>
            <p:cNvPr id="168988" name="Line 41"/>
            <p:cNvSpPr/>
            <p:nvPr/>
          </p:nvSpPr>
          <p:spPr>
            <a:xfrm>
              <a:off x="1248" y="1680"/>
              <a:ext cx="0" cy="480"/>
            </a:xfrm>
            <a:prstGeom prst="line">
              <a:avLst/>
            </a:prstGeom>
            <a:ln w="9525" cap="flat" cmpd="sng">
              <a:solidFill>
                <a:schemeClr val="tx1"/>
              </a:solidFill>
              <a:prstDash val="solid"/>
              <a:headEnd type="none" w="med" len="med"/>
              <a:tailEnd type="triangle" w="med" len="med"/>
            </a:ln>
          </p:spPr>
        </p:sp>
        <p:sp>
          <p:nvSpPr>
            <p:cNvPr id="168989" name="Line 42"/>
            <p:cNvSpPr/>
            <p:nvPr/>
          </p:nvSpPr>
          <p:spPr>
            <a:xfrm>
              <a:off x="2304" y="2112"/>
              <a:ext cx="288" cy="0"/>
            </a:xfrm>
            <a:prstGeom prst="line">
              <a:avLst/>
            </a:prstGeom>
            <a:ln w="9525" cap="flat" cmpd="sng">
              <a:solidFill>
                <a:schemeClr val="tx1"/>
              </a:solidFill>
              <a:prstDash val="solid"/>
              <a:headEnd type="none" w="med" len="med"/>
              <a:tailEnd type="triangle" w="med" len="med"/>
            </a:ln>
          </p:spPr>
        </p:sp>
        <p:grpSp>
          <p:nvGrpSpPr>
            <p:cNvPr id="168990" name="Group 43"/>
            <p:cNvGrpSpPr/>
            <p:nvPr/>
          </p:nvGrpSpPr>
          <p:grpSpPr>
            <a:xfrm>
              <a:off x="2544" y="1968"/>
              <a:ext cx="288" cy="288"/>
              <a:chOff x="0" y="0"/>
              <a:chExt cx="288" cy="288"/>
            </a:xfrm>
          </p:grpSpPr>
          <p:sp>
            <p:nvSpPr>
              <p:cNvPr id="169021" name="Oval 44"/>
              <p:cNvSpPr/>
              <p:nvPr/>
            </p:nvSpPr>
            <p:spPr>
              <a:xfrm>
                <a:off x="48" y="48"/>
                <a:ext cx="192" cy="19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endParaRPr lang="zh-CN" altLang="en-US" sz="2400" dirty="0">
                  <a:solidFill>
                    <a:schemeClr val="tx1"/>
                  </a:solidFill>
                  <a:ea typeface="华文新魏" panose="02010800040101010101" pitchFamily="2" charset="-122"/>
                </a:endParaRPr>
              </a:p>
            </p:txBody>
          </p:sp>
          <p:sp>
            <p:nvSpPr>
              <p:cNvPr id="169022" name="Text Box 45"/>
              <p:cNvSpPr txBox="1"/>
              <p:nvPr/>
            </p:nvSpPr>
            <p:spPr>
              <a:xfrm>
                <a:off x="0" y="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grpSp>
        <p:sp>
          <p:nvSpPr>
            <p:cNvPr id="168991" name="Line 46"/>
            <p:cNvSpPr/>
            <p:nvPr/>
          </p:nvSpPr>
          <p:spPr>
            <a:xfrm>
              <a:off x="4176" y="432"/>
              <a:ext cx="0" cy="240"/>
            </a:xfrm>
            <a:prstGeom prst="line">
              <a:avLst/>
            </a:prstGeom>
            <a:ln w="9525" cap="flat" cmpd="sng">
              <a:solidFill>
                <a:schemeClr val="tx1"/>
              </a:solidFill>
              <a:prstDash val="solid"/>
              <a:headEnd type="none" w="med" len="med"/>
              <a:tailEnd type="none" w="med" len="med"/>
            </a:ln>
          </p:spPr>
        </p:sp>
        <p:sp>
          <p:nvSpPr>
            <p:cNvPr id="168992" name="Line 47"/>
            <p:cNvSpPr/>
            <p:nvPr/>
          </p:nvSpPr>
          <p:spPr>
            <a:xfrm flipH="1">
              <a:off x="2688" y="672"/>
              <a:ext cx="1488" cy="0"/>
            </a:xfrm>
            <a:prstGeom prst="line">
              <a:avLst/>
            </a:prstGeom>
            <a:ln w="9525" cap="flat" cmpd="sng">
              <a:solidFill>
                <a:schemeClr val="tx1"/>
              </a:solidFill>
              <a:prstDash val="solid"/>
              <a:headEnd type="none" w="med" len="med"/>
              <a:tailEnd type="none" w="med" len="med"/>
            </a:ln>
          </p:spPr>
        </p:sp>
        <p:sp>
          <p:nvSpPr>
            <p:cNvPr id="168993" name="Line 48"/>
            <p:cNvSpPr/>
            <p:nvPr/>
          </p:nvSpPr>
          <p:spPr>
            <a:xfrm>
              <a:off x="2688" y="672"/>
              <a:ext cx="0" cy="1344"/>
            </a:xfrm>
            <a:prstGeom prst="line">
              <a:avLst/>
            </a:prstGeom>
            <a:ln w="9525" cap="flat" cmpd="sng">
              <a:solidFill>
                <a:schemeClr val="tx1"/>
              </a:solidFill>
              <a:prstDash val="solid"/>
              <a:headEnd type="none" w="med" len="med"/>
              <a:tailEnd type="triangle" w="med" len="med"/>
            </a:ln>
          </p:spPr>
        </p:sp>
        <p:sp>
          <p:nvSpPr>
            <p:cNvPr id="168994" name="Line 49"/>
            <p:cNvSpPr/>
            <p:nvPr/>
          </p:nvSpPr>
          <p:spPr>
            <a:xfrm>
              <a:off x="2784" y="2112"/>
              <a:ext cx="336" cy="0"/>
            </a:xfrm>
            <a:prstGeom prst="line">
              <a:avLst/>
            </a:prstGeom>
            <a:ln w="9525" cap="flat" cmpd="sng">
              <a:solidFill>
                <a:schemeClr val="tx1"/>
              </a:solidFill>
              <a:prstDash val="solid"/>
              <a:headEnd type="none" w="med" len="med"/>
              <a:tailEnd type="none" w="med" len="med"/>
            </a:ln>
          </p:spPr>
        </p:sp>
        <p:sp>
          <p:nvSpPr>
            <p:cNvPr id="168995" name="Line 50"/>
            <p:cNvSpPr/>
            <p:nvPr/>
          </p:nvSpPr>
          <p:spPr>
            <a:xfrm>
              <a:off x="3120" y="2112"/>
              <a:ext cx="0" cy="384"/>
            </a:xfrm>
            <a:prstGeom prst="line">
              <a:avLst/>
            </a:prstGeom>
            <a:ln w="9525" cap="flat" cmpd="sng">
              <a:solidFill>
                <a:schemeClr val="tx1"/>
              </a:solidFill>
              <a:prstDash val="solid"/>
              <a:headEnd type="none" w="med" len="med"/>
              <a:tailEnd type="none" w="med" len="med"/>
            </a:ln>
          </p:spPr>
        </p:sp>
        <p:sp>
          <p:nvSpPr>
            <p:cNvPr id="168996" name="Line 51"/>
            <p:cNvSpPr/>
            <p:nvPr/>
          </p:nvSpPr>
          <p:spPr>
            <a:xfrm>
              <a:off x="3120" y="2496"/>
              <a:ext cx="432" cy="0"/>
            </a:xfrm>
            <a:prstGeom prst="line">
              <a:avLst/>
            </a:prstGeom>
            <a:ln w="9525" cap="flat" cmpd="sng">
              <a:solidFill>
                <a:schemeClr val="tx1"/>
              </a:solidFill>
              <a:prstDash val="solid"/>
              <a:headEnd type="none" w="med" len="med"/>
              <a:tailEnd type="triangle" w="med" len="med"/>
            </a:ln>
          </p:spPr>
        </p:sp>
        <p:sp>
          <p:nvSpPr>
            <p:cNvPr id="168997" name="Line 52"/>
            <p:cNvSpPr/>
            <p:nvPr/>
          </p:nvSpPr>
          <p:spPr>
            <a:xfrm>
              <a:off x="4128" y="2496"/>
              <a:ext cx="336" cy="0"/>
            </a:xfrm>
            <a:prstGeom prst="line">
              <a:avLst/>
            </a:prstGeom>
            <a:ln w="9525" cap="flat" cmpd="sng">
              <a:solidFill>
                <a:schemeClr val="tx1"/>
              </a:solidFill>
              <a:prstDash val="solid"/>
              <a:headEnd type="none" w="med" len="med"/>
              <a:tailEnd type="none" w="med" len="med"/>
            </a:ln>
          </p:spPr>
        </p:sp>
        <p:sp>
          <p:nvSpPr>
            <p:cNvPr id="168998" name="Line 53"/>
            <p:cNvSpPr/>
            <p:nvPr/>
          </p:nvSpPr>
          <p:spPr>
            <a:xfrm flipV="1">
              <a:off x="4464" y="1152"/>
              <a:ext cx="0" cy="1344"/>
            </a:xfrm>
            <a:prstGeom prst="line">
              <a:avLst/>
            </a:prstGeom>
            <a:ln w="9525" cap="flat" cmpd="sng">
              <a:solidFill>
                <a:schemeClr val="tx1"/>
              </a:solidFill>
              <a:prstDash val="solid"/>
              <a:headEnd type="none" w="med" len="med"/>
              <a:tailEnd type="triangle" w="med" len="med"/>
            </a:ln>
          </p:spPr>
        </p:sp>
        <p:sp>
          <p:nvSpPr>
            <p:cNvPr id="168999" name="Line 54"/>
            <p:cNvSpPr/>
            <p:nvPr/>
          </p:nvSpPr>
          <p:spPr>
            <a:xfrm>
              <a:off x="4944" y="432"/>
              <a:ext cx="0" cy="432"/>
            </a:xfrm>
            <a:prstGeom prst="line">
              <a:avLst/>
            </a:prstGeom>
            <a:ln w="9525" cap="flat" cmpd="sng">
              <a:solidFill>
                <a:schemeClr val="tx1"/>
              </a:solidFill>
              <a:prstDash val="solid"/>
              <a:headEnd type="none" w="med" len="med"/>
              <a:tailEnd type="triangle" w="med" len="med"/>
            </a:ln>
          </p:spPr>
        </p:sp>
        <p:sp>
          <p:nvSpPr>
            <p:cNvPr id="169000" name="Text Box 55"/>
            <p:cNvSpPr txBox="1"/>
            <p:nvPr/>
          </p:nvSpPr>
          <p:spPr>
            <a:xfrm>
              <a:off x="240" y="720"/>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800" dirty="0">
                  <a:solidFill>
                    <a:schemeClr val="tx1"/>
                  </a:solidFill>
                  <a:latin typeface="Tahoma" panose="020B0604030504040204" pitchFamily="34" charset="0"/>
                </a:rPr>
                <a:t>基址寄存器</a:t>
              </a:r>
              <a:endParaRPr lang="zh-CN" altLang="zh-CN" sz="1800" dirty="0">
                <a:solidFill>
                  <a:schemeClr val="tx1"/>
                </a:solidFill>
                <a:latin typeface="Tahoma" panose="020B0604030504040204" pitchFamily="34" charset="0"/>
              </a:endParaRPr>
            </a:p>
          </p:txBody>
        </p:sp>
        <p:sp>
          <p:nvSpPr>
            <p:cNvPr id="169001" name="Text Box 56"/>
            <p:cNvSpPr txBox="1"/>
            <p:nvPr/>
          </p:nvSpPr>
          <p:spPr>
            <a:xfrm>
              <a:off x="1680" y="624"/>
              <a:ext cx="1008"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程序A段表</a:t>
              </a:r>
              <a:endParaRPr lang="zh-CN" altLang="en-US" sz="1600" dirty="0">
                <a:solidFill>
                  <a:schemeClr val="tx1"/>
                </a:solidFill>
                <a:latin typeface="Tahoma" panose="020B0604030504040204" pitchFamily="34" charset="0"/>
              </a:endParaRPr>
            </a:p>
          </p:txBody>
        </p:sp>
        <p:sp>
          <p:nvSpPr>
            <p:cNvPr id="169002" name="Text Box 57"/>
            <p:cNvSpPr txBox="1"/>
            <p:nvPr/>
          </p:nvSpPr>
          <p:spPr>
            <a:xfrm>
              <a:off x="1584" y="1680"/>
              <a:ext cx="1008"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程序C段表</a:t>
              </a:r>
              <a:endParaRPr lang="zh-CN" altLang="en-US" sz="1600" dirty="0">
                <a:solidFill>
                  <a:schemeClr val="tx1"/>
                </a:solidFill>
                <a:latin typeface="Tahoma" panose="020B0604030504040204" pitchFamily="34" charset="0"/>
              </a:endParaRPr>
            </a:p>
          </p:txBody>
        </p:sp>
        <p:sp>
          <p:nvSpPr>
            <p:cNvPr id="169003" name="Text Box 58"/>
            <p:cNvSpPr txBox="1"/>
            <p:nvPr/>
          </p:nvSpPr>
          <p:spPr>
            <a:xfrm>
              <a:off x="1296" y="816"/>
              <a:ext cx="4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S </a:t>
              </a:r>
              <a:r>
                <a:rPr lang="zh-CN" altLang="en-US" sz="1600" baseline="-25000" dirty="0">
                  <a:solidFill>
                    <a:schemeClr val="tx1"/>
                  </a:solidFill>
                  <a:latin typeface="Tahoma" panose="020B0604030504040204" pitchFamily="34" charset="0"/>
                </a:rPr>
                <a:t>A+0</a:t>
              </a:r>
              <a:endParaRPr lang="zh-CN" altLang="en-US" sz="1600" baseline="-25000" dirty="0">
                <a:solidFill>
                  <a:schemeClr val="tx1"/>
                </a:solidFill>
                <a:latin typeface="Tahoma" panose="020B0604030504040204" pitchFamily="34" charset="0"/>
              </a:endParaRPr>
            </a:p>
          </p:txBody>
        </p:sp>
        <p:sp>
          <p:nvSpPr>
            <p:cNvPr id="169004" name="Text Box 59"/>
            <p:cNvSpPr txBox="1"/>
            <p:nvPr/>
          </p:nvSpPr>
          <p:spPr>
            <a:xfrm>
              <a:off x="1296" y="1027"/>
              <a:ext cx="4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S </a:t>
              </a:r>
              <a:r>
                <a:rPr lang="zh-CN" altLang="en-US" sz="1600" baseline="-25000" dirty="0">
                  <a:solidFill>
                    <a:schemeClr val="tx1"/>
                  </a:solidFill>
                  <a:latin typeface="Tahoma" panose="020B0604030504040204" pitchFamily="34" charset="0"/>
                </a:rPr>
                <a:t>B+1</a:t>
              </a:r>
              <a:endParaRPr lang="zh-CN" altLang="en-US" sz="1600" baseline="-25000" dirty="0">
                <a:solidFill>
                  <a:schemeClr val="tx1"/>
                </a:solidFill>
                <a:latin typeface="Tahoma" panose="020B0604030504040204" pitchFamily="34" charset="0"/>
              </a:endParaRPr>
            </a:p>
          </p:txBody>
        </p:sp>
        <p:sp>
          <p:nvSpPr>
            <p:cNvPr id="169005" name="Text Box 60"/>
            <p:cNvSpPr txBox="1"/>
            <p:nvPr/>
          </p:nvSpPr>
          <p:spPr>
            <a:xfrm>
              <a:off x="1296" y="1219"/>
              <a:ext cx="4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S </a:t>
              </a:r>
              <a:r>
                <a:rPr lang="zh-CN" altLang="en-US" sz="1600" baseline="-25000" dirty="0">
                  <a:solidFill>
                    <a:schemeClr val="tx1"/>
                  </a:solidFill>
                  <a:latin typeface="Tahoma" panose="020B0604030504040204" pitchFamily="34" charset="0"/>
                </a:rPr>
                <a:t>A+2</a:t>
              </a:r>
              <a:endParaRPr lang="zh-CN" altLang="en-US" sz="1600" baseline="-25000" dirty="0">
                <a:solidFill>
                  <a:schemeClr val="tx1"/>
                </a:solidFill>
                <a:latin typeface="Tahoma" panose="020B0604030504040204" pitchFamily="34" charset="0"/>
              </a:endParaRPr>
            </a:p>
          </p:txBody>
        </p:sp>
        <p:sp>
          <p:nvSpPr>
            <p:cNvPr id="169006" name="Text Box 61"/>
            <p:cNvSpPr txBox="1"/>
            <p:nvPr/>
          </p:nvSpPr>
          <p:spPr>
            <a:xfrm>
              <a:off x="1296" y="1392"/>
              <a:ext cx="4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S </a:t>
              </a:r>
              <a:r>
                <a:rPr lang="zh-CN" altLang="en-US" sz="1600" baseline="-25000" dirty="0">
                  <a:solidFill>
                    <a:schemeClr val="tx1"/>
                  </a:solidFill>
                  <a:latin typeface="Tahoma" panose="020B0604030504040204" pitchFamily="34" charset="0"/>
                </a:rPr>
                <a:t>A+3</a:t>
              </a:r>
              <a:endParaRPr lang="zh-CN" altLang="en-US" sz="1600" baseline="-25000" dirty="0">
                <a:solidFill>
                  <a:schemeClr val="tx1"/>
                </a:solidFill>
                <a:latin typeface="Tahoma" panose="020B0604030504040204" pitchFamily="34" charset="0"/>
              </a:endParaRPr>
            </a:p>
          </p:txBody>
        </p:sp>
        <p:sp>
          <p:nvSpPr>
            <p:cNvPr id="169007" name="Text Box 62"/>
            <p:cNvSpPr txBox="1"/>
            <p:nvPr/>
          </p:nvSpPr>
          <p:spPr>
            <a:xfrm>
              <a:off x="1248" y="1872"/>
              <a:ext cx="4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S </a:t>
              </a:r>
              <a:r>
                <a:rPr lang="zh-CN" altLang="en-US" sz="1600" baseline="-25000" dirty="0">
                  <a:solidFill>
                    <a:schemeClr val="tx1"/>
                  </a:solidFill>
                  <a:latin typeface="Tahoma" panose="020B0604030504040204" pitchFamily="34" charset="0"/>
                </a:rPr>
                <a:t>C+0</a:t>
              </a:r>
              <a:endParaRPr lang="zh-CN" altLang="en-US" sz="1600" baseline="-25000" dirty="0">
                <a:solidFill>
                  <a:schemeClr val="tx1"/>
                </a:solidFill>
                <a:latin typeface="Tahoma" panose="020B0604030504040204" pitchFamily="34" charset="0"/>
              </a:endParaRPr>
            </a:p>
          </p:txBody>
        </p:sp>
        <p:sp>
          <p:nvSpPr>
            <p:cNvPr id="169008" name="Text Box 63"/>
            <p:cNvSpPr txBox="1"/>
            <p:nvPr/>
          </p:nvSpPr>
          <p:spPr>
            <a:xfrm>
              <a:off x="1248" y="2083"/>
              <a:ext cx="4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S </a:t>
              </a:r>
              <a:r>
                <a:rPr lang="zh-CN" altLang="en-US" sz="1600" baseline="-25000" dirty="0">
                  <a:solidFill>
                    <a:schemeClr val="tx1"/>
                  </a:solidFill>
                  <a:latin typeface="Tahoma" panose="020B0604030504040204" pitchFamily="34" charset="0"/>
                </a:rPr>
                <a:t>C+1</a:t>
              </a:r>
              <a:endParaRPr lang="zh-CN" altLang="en-US" sz="1600" baseline="-25000" dirty="0">
                <a:solidFill>
                  <a:schemeClr val="tx1"/>
                </a:solidFill>
                <a:latin typeface="Tahoma" panose="020B0604030504040204" pitchFamily="34" charset="0"/>
              </a:endParaRPr>
            </a:p>
          </p:txBody>
        </p:sp>
        <p:sp>
          <p:nvSpPr>
            <p:cNvPr id="169009" name="Text Box 64"/>
            <p:cNvSpPr txBox="1"/>
            <p:nvPr/>
          </p:nvSpPr>
          <p:spPr>
            <a:xfrm>
              <a:off x="1248" y="2275"/>
              <a:ext cx="43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600" dirty="0">
                  <a:solidFill>
                    <a:schemeClr val="tx1"/>
                  </a:solidFill>
                  <a:latin typeface="Tahoma" panose="020B0604030504040204" pitchFamily="34" charset="0"/>
                </a:rPr>
                <a:t>S </a:t>
              </a:r>
              <a:r>
                <a:rPr lang="zh-CN" altLang="en-US" sz="1600" baseline="-25000" dirty="0">
                  <a:solidFill>
                    <a:schemeClr val="tx1"/>
                  </a:solidFill>
                  <a:latin typeface="Tahoma" panose="020B0604030504040204" pitchFamily="34" charset="0"/>
                </a:rPr>
                <a:t>C+2</a:t>
              </a:r>
              <a:endParaRPr lang="zh-CN" altLang="en-US" sz="1600" baseline="-25000" dirty="0">
                <a:solidFill>
                  <a:schemeClr val="tx1"/>
                </a:solidFill>
                <a:latin typeface="Tahoma" panose="020B0604030504040204" pitchFamily="34" charset="0"/>
              </a:endParaRPr>
            </a:p>
          </p:txBody>
        </p:sp>
        <p:sp>
          <p:nvSpPr>
            <p:cNvPr id="169010" name="Text Box 65"/>
            <p:cNvSpPr txBox="1"/>
            <p:nvPr/>
          </p:nvSpPr>
          <p:spPr>
            <a:xfrm>
              <a:off x="3168" y="1488"/>
              <a:ext cx="3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A+0</a:t>
              </a:r>
              <a:endParaRPr lang="zh-CN" altLang="en-US" sz="1400" dirty="0">
                <a:solidFill>
                  <a:schemeClr val="tx1"/>
                </a:solidFill>
                <a:latin typeface="Tahoma" panose="020B0604030504040204" pitchFamily="34" charset="0"/>
              </a:endParaRPr>
            </a:p>
          </p:txBody>
        </p:sp>
        <p:sp>
          <p:nvSpPr>
            <p:cNvPr id="169011" name="Text Box 66"/>
            <p:cNvSpPr txBox="1"/>
            <p:nvPr/>
          </p:nvSpPr>
          <p:spPr>
            <a:xfrm>
              <a:off x="3168" y="1680"/>
              <a:ext cx="3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A+1</a:t>
              </a:r>
              <a:endParaRPr lang="zh-CN" altLang="en-US" sz="1400" dirty="0">
                <a:solidFill>
                  <a:schemeClr val="tx1"/>
                </a:solidFill>
                <a:latin typeface="Tahoma" panose="020B0604030504040204" pitchFamily="34" charset="0"/>
              </a:endParaRPr>
            </a:p>
          </p:txBody>
        </p:sp>
        <p:sp>
          <p:nvSpPr>
            <p:cNvPr id="169012" name="Text Box 67"/>
            <p:cNvSpPr txBox="1"/>
            <p:nvPr/>
          </p:nvSpPr>
          <p:spPr>
            <a:xfrm>
              <a:off x="3168" y="2016"/>
              <a:ext cx="3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B+0</a:t>
              </a:r>
              <a:endParaRPr lang="zh-CN" altLang="en-US" sz="1400" dirty="0">
                <a:solidFill>
                  <a:schemeClr val="tx1"/>
                </a:solidFill>
                <a:latin typeface="Tahoma" panose="020B0604030504040204" pitchFamily="34" charset="0"/>
              </a:endParaRPr>
            </a:p>
          </p:txBody>
        </p:sp>
        <p:sp>
          <p:nvSpPr>
            <p:cNvPr id="169013" name="Text Box 68"/>
            <p:cNvSpPr txBox="1"/>
            <p:nvPr/>
          </p:nvSpPr>
          <p:spPr>
            <a:xfrm>
              <a:off x="3168" y="2208"/>
              <a:ext cx="3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B+1</a:t>
              </a:r>
              <a:endParaRPr lang="zh-CN" altLang="en-US" sz="1400" dirty="0">
                <a:solidFill>
                  <a:schemeClr val="tx1"/>
                </a:solidFill>
                <a:latin typeface="Tahoma" panose="020B0604030504040204" pitchFamily="34" charset="0"/>
              </a:endParaRPr>
            </a:p>
          </p:txBody>
        </p:sp>
        <p:sp>
          <p:nvSpPr>
            <p:cNvPr id="169014" name="Text Box 69"/>
            <p:cNvSpPr txBox="1"/>
            <p:nvPr/>
          </p:nvSpPr>
          <p:spPr>
            <a:xfrm>
              <a:off x="3168" y="2448"/>
              <a:ext cx="3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B+2</a:t>
              </a:r>
              <a:endParaRPr lang="zh-CN" altLang="en-US" sz="1400" dirty="0">
                <a:solidFill>
                  <a:schemeClr val="tx1"/>
                </a:solidFill>
                <a:latin typeface="Tahoma" panose="020B0604030504040204" pitchFamily="34" charset="0"/>
              </a:endParaRPr>
            </a:p>
          </p:txBody>
        </p:sp>
        <p:sp>
          <p:nvSpPr>
            <p:cNvPr id="169015" name="Text Box 70"/>
            <p:cNvSpPr txBox="1"/>
            <p:nvPr/>
          </p:nvSpPr>
          <p:spPr>
            <a:xfrm>
              <a:off x="3168" y="2736"/>
              <a:ext cx="3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C+0</a:t>
              </a:r>
              <a:endParaRPr lang="zh-CN" altLang="en-US" sz="1400" dirty="0">
                <a:solidFill>
                  <a:schemeClr val="tx1"/>
                </a:solidFill>
                <a:latin typeface="Tahoma" panose="020B0604030504040204" pitchFamily="34" charset="0"/>
              </a:endParaRPr>
            </a:p>
          </p:txBody>
        </p:sp>
        <p:sp>
          <p:nvSpPr>
            <p:cNvPr id="169016" name="Text Box 71"/>
            <p:cNvSpPr txBox="1"/>
            <p:nvPr/>
          </p:nvSpPr>
          <p:spPr>
            <a:xfrm>
              <a:off x="3168" y="2928"/>
              <a:ext cx="33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C+1</a:t>
              </a:r>
              <a:endParaRPr lang="zh-CN" altLang="en-US" sz="1400" dirty="0">
                <a:solidFill>
                  <a:schemeClr val="tx1"/>
                </a:solidFill>
                <a:latin typeface="Tahoma" panose="020B0604030504040204" pitchFamily="34" charset="0"/>
              </a:endParaRPr>
            </a:p>
          </p:txBody>
        </p:sp>
        <p:sp>
          <p:nvSpPr>
            <p:cNvPr id="169017" name="Text Box 72"/>
            <p:cNvSpPr txBox="1"/>
            <p:nvPr/>
          </p:nvSpPr>
          <p:spPr>
            <a:xfrm>
              <a:off x="1392" y="144"/>
              <a:ext cx="124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2400" dirty="0">
                  <a:solidFill>
                    <a:schemeClr val="tx1"/>
                  </a:solidFill>
                  <a:latin typeface="Tahoma" panose="020B0604030504040204" pitchFamily="34" charset="0"/>
                </a:rPr>
                <a:t>逻辑地址</a:t>
              </a:r>
              <a:endParaRPr lang="zh-CN" altLang="zh-CN" sz="2400" dirty="0">
                <a:solidFill>
                  <a:schemeClr val="tx1"/>
                </a:solidFill>
                <a:latin typeface="Tahoma" panose="020B0604030504040204" pitchFamily="34" charset="0"/>
              </a:endParaRPr>
            </a:p>
          </p:txBody>
        </p:sp>
        <p:sp>
          <p:nvSpPr>
            <p:cNvPr id="169018" name="Text Box 73"/>
            <p:cNvSpPr txBox="1"/>
            <p:nvPr/>
          </p:nvSpPr>
          <p:spPr>
            <a:xfrm>
              <a:off x="3024" y="864"/>
              <a:ext cx="124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2400" dirty="0">
                  <a:solidFill>
                    <a:schemeClr val="tx1"/>
                  </a:solidFill>
                  <a:latin typeface="Tahoma" panose="020B0604030504040204" pitchFamily="34" charset="0"/>
                </a:rPr>
                <a:t>物理地址</a:t>
              </a:r>
              <a:endParaRPr lang="zh-CN" altLang="zh-CN" sz="2400" dirty="0">
                <a:solidFill>
                  <a:schemeClr val="tx1"/>
                </a:solidFill>
                <a:latin typeface="Tahoma" panose="020B0604030504040204" pitchFamily="34" charset="0"/>
              </a:endParaRPr>
            </a:p>
          </p:txBody>
        </p:sp>
        <p:sp>
          <p:nvSpPr>
            <p:cNvPr id="169019" name="Text Box 74"/>
            <p:cNvSpPr txBox="1"/>
            <p:nvPr/>
          </p:nvSpPr>
          <p:spPr>
            <a:xfrm>
              <a:off x="2736" y="0"/>
              <a:ext cx="244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800" dirty="0">
                  <a:solidFill>
                    <a:schemeClr val="tx1"/>
                  </a:solidFill>
                  <a:latin typeface="Tahoma" panose="020B0604030504040204" pitchFamily="34" charset="0"/>
                </a:rPr>
                <a:t>基号       段号     页号       页内地址</a:t>
              </a:r>
              <a:endParaRPr lang="zh-CN" altLang="zh-CN" sz="1800" dirty="0">
                <a:solidFill>
                  <a:schemeClr val="tx1"/>
                </a:solidFill>
                <a:latin typeface="Tahoma" panose="020B0604030504040204" pitchFamily="34" charset="0"/>
              </a:endParaRPr>
            </a:p>
          </p:txBody>
        </p:sp>
        <p:sp>
          <p:nvSpPr>
            <p:cNvPr id="169020" name="Text Box 75"/>
            <p:cNvSpPr txBox="1"/>
            <p:nvPr/>
          </p:nvSpPr>
          <p:spPr>
            <a:xfrm>
              <a:off x="4032" y="672"/>
              <a:ext cx="672" cy="2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50000"/>
                </a:spcBef>
                <a:buNone/>
              </a:pPr>
              <a:r>
                <a:rPr lang="zh-CN" altLang="zh-CN" sz="1600" dirty="0">
                  <a:solidFill>
                    <a:schemeClr val="tx1"/>
                  </a:solidFill>
                  <a:latin typeface="Tahoma" panose="020B0604030504040204" pitchFamily="34" charset="0"/>
                </a:rPr>
                <a:t>物理页号</a:t>
              </a:r>
              <a:endParaRPr lang="zh-CN" altLang="zh-CN" sz="1600" dirty="0">
                <a:solidFill>
                  <a:schemeClr val="tx1"/>
                </a:solidFill>
                <a:latin typeface="Tahoma" panose="020B0604030504040204" pitchFamily="34" charset="0"/>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p:nvPr>
            <p:ph type="title" idx="4294967295"/>
          </p:nvPr>
        </p:nvSpPr>
        <p:spPr>
          <a:xfrm>
            <a:off x="685800" y="914400"/>
            <a:ext cx="7772400" cy="838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zh-CN" altLang="en-US" dirty="0"/>
              <a:t>虚拟存储器——</a:t>
            </a:r>
            <a:r>
              <a:rPr lang="zh-CN" altLang="en-US" sz="2400" dirty="0"/>
              <a:t>替换算法</a:t>
            </a:r>
            <a:endParaRPr lang="zh-CN" altLang="en-US" sz="2400" dirty="0"/>
          </a:p>
        </p:txBody>
      </p:sp>
      <p:sp>
        <p:nvSpPr>
          <p:cNvPr id="169987" name="Rectangle 3"/>
          <p:cNvSpPr>
            <a:spLocks noGrp="1"/>
          </p:cNvSpPr>
          <p:nvPr>
            <p:ph type="body" idx="4294967295"/>
          </p:nvPr>
        </p:nvSpPr>
        <p:spPr>
          <a:xfrm>
            <a:off x="457200" y="1828800"/>
            <a:ext cx="8305800" cy="4343400"/>
          </a:xfrm>
          <a:ln/>
        </p:spPr>
        <p:txBody>
          <a:bodyPr vert="horz" wrap="square" lIns="91440" tIns="45720" rIns="91440" bIns="45720" anchor="t" anchorCtr="0"/>
          <a:p>
            <a:pPr eaLnBrk="1" hangingPunct="1"/>
            <a:r>
              <a:rPr lang="zh-CN" altLang="en-US" dirty="0">
                <a:ea typeface="华文新魏" panose="02010800040101010101" pitchFamily="2" charset="-122"/>
              </a:rPr>
              <a:t>替换算法</a:t>
            </a:r>
            <a:endParaRPr lang="zh-CN" altLang="en-US" dirty="0">
              <a:ea typeface="华文新魏" panose="02010800040101010101" pitchFamily="2" charset="-122"/>
            </a:endParaRPr>
          </a:p>
          <a:p>
            <a:pPr eaLnBrk="1" hangingPunct="1"/>
            <a:r>
              <a:rPr lang="zh-CN" altLang="en-US" sz="2800" dirty="0"/>
              <a:t>        </a:t>
            </a:r>
            <a:r>
              <a:rPr lang="zh-CN" altLang="en-US" sz="2800" b="1" dirty="0">
                <a:latin typeface="楷体_GB2312" pitchFamily="1" charset="-122"/>
                <a:ea typeface="楷体_GB2312" pitchFamily="1" charset="-122"/>
              </a:rPr>
              <a:t>虚拟存储器中的页面替换策略和cache中的行替换策略有很多相似之处，但有三点显著不同：</a:t>
            </a:r>
            <a:endParaRPr lang="zh-CN" altLang="en-US" sz="2800" b="1" dirty="0">
              <a:latin typeface="楷体_GB2312" pitchFamily="1" charset="-122"/>
              <a:ea typeface="楷体_GB2312" pitchFamily="1" charset="-122"/>
            </a:endParaRPr>
          </a:p>
          <a:p>
            <a:pPr eaLnBrk="1" hangingPunct="1">
              <a:buNone/>
            </a:pPr>
            <a:r>
              <a:rPr lang="zh-CN" altLang="en-US" sz="2800" b="1" dirty="0">
                <a:solidFill>
                  <a:srgbClr val="993366"/>
                </a:solidFill>
                <a:latin typeface="楷体_GB2312" pitchFamily="1" charset="-122"/>
                <a:ea typeface="楷体_GB2312" pitchFamily="1" charset="-122"/>
              </a:rPr>
              <a:t>(1)缺页至少要涉及前一次磁盘存取，读取所缺的页，缺页使系统蒙受的损失要比cache未命中大得多。</a:t>
            </a:r>
            <a:endParaRPr lang="zh-CN" altLang="en-US" sz="2800" b="1" dirty="0">
              <a:solidFill>
                <a:srgbClr val="993366"/>
              </a:solidFill>
              <a:latin typeface="楷体_GB2312" pitchFamily="1" charset="-122"/>
              <a:ea typeface="楷体_GB2312" pitchFamily="1" charset="-122"/>
            </a:endParaRPr>
          </a:p>
          <a:p>
            <a:pPr eaLnBrk="1" hangingPunct="1">
              <a:buNone/>
            </a:pPr>
            <a:r>
              <a:rPr lang="zh-CN" altLang="en-US" sz="2800" b="1" dirty="0">
                <a:solidFill>
                  <a:srgbClr val="993366"/>
                </a:solidFill>
                <a:latin typeface="楷体_GB2312" pitchFamily="1" charset="-122"/>
                <a:ea typeface="楷体_GB2312" pitchFamily="1" charset="-122"/>
              </a:rPr>
              <a:t>(2)页面替换是由操作系统软件实现的。</a:t>
            </a:r>
            <a:endParaRPr lang="zh-CN" altLang="en-US" sz="2800" b="1" dirty="0">
              <a:solidFill>
                <a:srgbClr val="993366"/>
              </a:solidFill>
              <a:latin typeface="楷体_GB2312" pitchFamily="1" charset="-122"/>
              <a:ea typeface="楷体_GB2312" pitchFamily="1" charset="-122"/>
            </a:endParaRPr>
          </a:p>
          <a:p>
            <a:pPr eaLnBrk="1" hangingPunct="1">
              <a:buNone/>
            </a:pPr>
            <a:r>
              <a:rPr lang="zh-CN" altLang="en-US" sz="2800" b="1" dirty="0">
                <a:solidFill>
                  <a:srgbClr val="993366"/>
                </a:solidFill>
                <a:latin typeface="楷体_GB2312" pitchFamily="1" charset="-122"/>
                <a:ea typeface="楷体_GB2312" pitchFamily="1" charset="-122"/>
              </a:rPr>
              <a:t>(3)页面替换的选择余地很大，属于一个进程的页面都可替换。</a:t>
            </a:r>
            <a:endParaRPr lang="zh-CN" altLang="en-US" sz="2800" b="1" dirty="0">
              <a:solidFill>
                <a:srgbClr val="993366"/>
              </a:solidFill>
              <a:latin typeface="楷体_GB2312" pitchFamily="1" charset="-122"/>
              <a:ea typeface="楷体_GB2312" pitchFamily="1"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body" idx="4294967295"/>
          </p:nvPr>
        </p:nvSpPr>
        <p:spPr>
          <a:xfrm>
            <a:off x="381000" y="1066800"/>
            <a:ext cx="8458200" cy="3352800"/>
          </a:xfrm>
          <a:ln/>
        </p:spPr>
        <p:txBody>
          <a:bodyPr vert="horz" wrap="square" lIns="91440" tIns="45720" rIns="91440" bIns="45720" anchor="t" anchorCtr="0"/>
          <a:p>
            <a:pPr eaLnBrk="1" hangingPunct="1"/>
            <a:r>
              <a:rPr lang="zh-CN" altLang="en-US" sz="2800" b="1" dirty="0">
                <a:solidFill>
                  <a:schemeClr val="tx1"/>
                </a:solidFill>
                <a:latin typeface="楷体_GB2312" pitchFamily="1" charset="-122"/>
                <a:ea typeface="楷体_GB2312" pitchFamily="1" charset="-122"/>
              </a:rPr>
              <a:t>假设主存只有a,b,c三个页框，组成a进c出的FIFO队列，进程访问页面的序列是0，1，2，4，2，3，0，2，1，3，2号。若采用①FIFO算法，②FIFO算法+LRU算法，用列表法分别求两种替换策略情况下的命中率。</a:t>
            </a:r>
            <a:endParaRPr lang="zh-CN" altLang="en-US" sz="2800" b="1" dirty="0">
              <a:solidFill>
                <a:schemeClr val="tx1"/>
              </a:solidFill>
              <a:latin typeface="楷体_GB2312" pitchFamily="1" charset="-122"/>
              <a:ea typeface="楷体_GB2312" pitchFamily="1" charset="-122"/>
            </a:endParaRPr>
          </a:p>
          <a:p>
            <a:pPr eaLnBrk="1" hangingPunct="1"/>
            <a:r>
              <a:rPr lang="zh-CN" altLang="en-US" sz="2400" dirty="0">
                <a:solidFill>
                  <a:srgbClr val="0000FF"/>
                </a:solidFill>
              </a:rPr>
              <a:t>【解】</a:t>
            </a:r>
            <a:r>
              <a:rPr lang="zh-CN" altLang="en-US" sz="2800" b="1" dirty="0">
                <a:latin typeface="楷体_GB2312" pitchFamily="1" charset="-122"/>
                <a:ea typeface="楷体_GB2312" pitchFamily="1" charset="-122"/>
              </a:rPr>
              <a:t>求解表格如下所示</a:t>
            </a:r>
            <a:endParaRPr lang="zh-CN" altLang="en-US" sz="2800" b="1" dirty="0">
              <a:latin typeface="楷体_GB2312" pitchFamily="1" charset="-122"/>
              <a:ea typeface="楷体_GB2312" pitchFamily="1" charset="-122"/>
            </a:endParaRPr>
          </a:p>
        </p:txBody>
      </p:sp>
      <p:pic>
        <p:nvPicPr>
          <p:cNvPr id="171011" name="Picture 3" descr="页面替换算法"/>
          <p:cNvPicPr>
            <a:picLocks noChangeAspect="1"/>
          </p:cNvPicPr>
          <p:nvPr/>
        </p:nvPicPr>
        <p:blipFill>
          <a:blip r:embed="rId1"/>
          <a:stretch>
            <a:fillRect/>
          </a:stretch>
        </p:blipFill>
        <p:spPr>
          <a:xfrm>
            <a:off x="0" y="3733800"/>
            <a:ext cx="9144000" cy="2743200"/>
          </a:xfrm>
          <a:prstGeom prst="rect">
            <a:avLst/>
          </a:prstGeom>
          <a:noFill/>
          <a:ln w="9525">
            <a:no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a:spLocks noGrp="1"/>
          </p:cNvSpPr>
          <p:nvPr>
            <p:ph type="body" idx="4294967295"/>
          </p:nvPr>
        </p:nvSpPr>
        <p:spPr>
          <a:xfrm>
            <a:off x="685800" y="1828800"/>
            <a:ext cx="7772400" cy="4267200"/>
          </a:xfrm>
          <a:ln/>
        </p:spPr>
        <p:txBody>
          <a:bodyPr vert="horz" wrap="square" lIns="91440" tIns="45720" rIns="91440" bIns="45720" anchor="t" anchorCtr="0"/>
          <a:p>
            <a:pPr eaLnBrk="1" hangingPunct="1"/>
            <a:r>
              <a:rPr lang="zh-CN" altLang="en-US" sz="2800" b="1" dirty="0">
                <a:solidFill>
                  <a:schemeClr val="tx1"/>
                </a:solidFill>
                <a:latin typeface="楷体_GB2312" pitchFamily="1" charset="-122"/>
                <a:ea typeface="楷体_GB2312" pitchFamily="1" charset="-122"/>
              </a:rPr>
              <a:t>假设主存只有a,b,c三个页框，组成a进c出的FIFO队列，进程访问页面的序列是3，4，2，6，4，3，7，4，3，6号。若采用①FIFO算法，②FIFO算法+LRU算法，用列表法分别求两种替换策略情况下的命中率。</a:t>
            </a:r>
            <a:endParaRPr lang="zh-CN" altLang="en-US" sz="2800" b="1" dirty="0">
              <a:solidFill>
                <a:schemeClr val="tx1"/>
              </a:solidFill>
              <a:latin typeface="楷体_GB2312" pitchFamily="1" charset="-122"/>
              <a:ea typeface="楷体_GB2312" pitchFamily="1" charset="-122"/>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body" idx="4294967295"/>
          </p:nvPr>
        </p:nvSpPr>
        <p:spPr>
          <a:xfrm>
            <a:off x="685800" y="1219200"/>
            <a:ext cx="7772400" cy="4876800"/>
          </a:xfrm>
          <a:ln/>
        </p:spPr>
        <p:txBody>
          <a:bodyPr vert="horz" wrap="square" lIns="91440" tIns="45720" rIns="91440" bIns="45720" anchor="t" anchorCtr="0"/>
          <a:p>
            <a:pPr eaLnBrk="1" hangingPunct="1">
              <a:buNone/>
            </a:pPr>
            <a:r>
              <a:rPr lang="zh-CN" altLang="en-US" sz="2800" b="1" dirty="0">
                <a:solidFill>
                  <a:srgbClr val="993366"/>
                </a:solidFill>
                <a:latin typeface="楷体_GB2312" pitchFamily="1" charset="-122"/>
                <a:ea typeface="楷体_GB2312" pitchFamily="1" charset="-122"/>
              </a:rPr>
              <a:t>例：在页式虚拟存储器中，若主存容量为16MB，页面容量为4KB，程序地址空间为1G</a:t>
            </a:r>
            <a:r>
              <a:rPr lang="en-US" altLang="zh-CN" sz="2800" b="1" dirty="0">
                <a:solidFill>
                  <a:srgbClr val="993366"/>
                </a:solidFill>
                <a:latin typeface="楷体_GB2312" pitchFamily="1" charset="-122"/>
                <a:ea typeface="楷体_GB2312" pitchFamily="1" charset="-122"/>
              </a:rPr>
              <a:t>B</a:t>
            </a:r>
            <a:r>
              <a:rPr lang="zh-CN" altLang="en-US" sz="2800" b="1" dirty="0">
                <a:solidFill>
                  <a:srgbClr val="993366"/>
                </a:solidFill>
                <a:latin typeface="楷体_GB2312" pitchFamily="1" charset="-122"/>
                <a:ea typeface="楷体_GB2312" pitchFamily="1" charset="-122"/>
              </a:rPr>
              <a:t>，问虚页号有多少位？页表长度为多少？页内地址有多少位？</a:t>
            </a:r>
            <a:endParaRPr lang="zh-CN" altLang="en-US" sz="2800" b="1" dirty="0">
              <a:solidFill>
                <a:srgbClr val="993366"/>
              </a:solidFill>
              <a:latin typeface="楷体_GB2312" pitchFamily="1" charset="-122"/>
              <a:ea typeface="楷体_GB2312" pitchFamily="1" charset="-122"/>
            </a:endParaRPr>
          </a:p>
          <a:p>
            <a:pPr eaLnBrk="1" hangingPunct="1"/>
            <a:r>
              <a:rPr lang="zh-CN" altLang="en-US" b="1" dirty="0">
                <a:solidFill>
                  <a:schemeClr val="tx1"/>
                </a:solidFill>
                <a:latin typeface="楷体_GB2312" pitchFamily="1" charset="-122"/>
                <a:ea typeface="楷体_GB2312" pitchFamily="1" charset="-122"/>
              </a:rPr>
              <a:t>解：由于页面容量为4KB=2</a:t>
            </a:r>
            <a:r>
              <a:rPr lang="zh-CN" altLang="en-US" b="1" baseline="30000" dirty="0">
                <a:solidFill>
                  <a:schemeClr val="tx1"/>
                </a:solidFill>
                <a:latin typeface="楷体_GB2312" pitchFamily="1" charset="-122"/>
                <a:ea typeface="楷体_GB2312" pitchFamily="1" charset="-122"/>
              </a:rPr>
              <a:t>12</a:t>
            </a:r>
            <a:r>
              <a:rPr lang="zh-CN" altLang="en-US" b="1" dirty="0">
                <a:solidFill>
                  <a:schemeClr val="tx1"/>
                </a:solidFill>
                <a:latin typeface="楷体_GB2312" pitchFamily="1" charset="-122"/>
                <a:ea typeface="楷体_GB2312" pitchFamily="1" charset="-122"/>
              </a:rPr>
              <a:t>B，程序地址空间=1GB=2</a:t>
            </a:r>
            <a:r>
              <a:rPr lang="zh-CN" altLang="en-US" b="1" baseline="30000" dirty="0">
                <a:solidFill>
                  <a:schemeClr val="tx1"/>
                </a:solidFill>
                <a:latin typeface="楷体_GB2312" pitchFamily="1" charset="-122"/>
                <a:ea typeface="楷体_GB2312" pitchFamily="1" charset="-122"/>
              </a:rPr>
              <a:t>30</a:t>
            </a:r>
            <a:r>
              <a:rPr lang="zh-CN" altLang="en-US" b="1" dirty="0">
                <a:solidFill>
                  <a:schemeClr val="tx1"/>
                </a:solidFill>
                <a:latin typeface="楷体_GB2312" pitchFamily="1" charset="-122"/>
                <a:ea typeface="楷体_GB2312" pitchFamily="1" charset="-122"/>
              </a:rPr>
              <a:t>B，故虚页号字段位数=30-12=18，页表长度=2</a:t>
            </a:r>
            <a:r>
              <a:rPr lang="zh-CN" altLang="en-US" b="1" baseline="30000" dirty="0">
                <a:solidFill>
                  <a:schemeClr val="tx1"/>
                </a:solidFill>
                <a:latin typeface="楷体_GB2312" pitchFamily="1" charset="-122"/>
                <a:ea typeface="楷体_GB2312" pitchFamily="1" charset="-122"/>
              </a:rPr>
              <a:t>18</a:t>
            </a:r>
            <a:r>
              <a:rPr lang="zh-CN" altLang="en-US" b="1" dirty="0">
                <a:solidFill>
                  <a:schemeClr val="tx1"/>
                </a:solidFill>
                <a:latin typeface="楷体_GB2312" pitchFamily="1" charset="-122"/>
                <a:ea typeface="楷体_GB2312" pitchFamily="1" charset="-122"/>
              </a:rPr>
              <a:t>行，页内地址段为12位数。</a:t>
            </a:r>
            <a:endParaRPr lang="zh-CN" altLang="en-US" b="1" dirty="0">
              <a:solidFill>
                <a:schemeClr val="tx1"/>
              </a:solidFill>
              <a:latin typeface="楷体_GB2312" pitchFamily="1" charset="-122"/>
              <a:ea typeface="楷体_GB2312" pitchFamily="1" charset="-122"/>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a:spLocks noGrp="1"/>
          </p:cNvSpPr>
          <p:nvPr>
            <p:ph type="body" idx="4294967295"/>
          </p:nvPr>
        </p:nvSpPr>
        <p:spPr>
          <a:xfrm>
            <a:off x="381000" y="1066800"/>
            <a:ext cx="8229600" cy="5105400"/>
          </a:xfrm>
          <a:ln/>
        </p:spPr>
        <p:txBody>
          <a:bodyPr vert="horz" wrap="square" lIns="91440" tIns="45720" rIns="91440" bIns="45720" anchor="t" anchorCtr="0"/>
          <a:p>
            <a:pPr eaLnBrk="1" hangingPunct="1">
              <a:lnSpc>
                <a:spcPct val="90000"/>
              </a:lnSpc>
            </a:pPr>
            <a:r>
              <a:rPr lang="zh-CN" altLang="en-US" sz="2800" b="1" dirty="0">
                <a:solidFill>
                  <a:srgbClr val="993366"/>
                </a:solidFill>
                <a:latin typeface="楷体_GB2312" pitchFamily="1" charset="-122"/>
                <a:ea typeface="楷体_GB2312" pitchFamily="1" charset="-122"/>
              </a:rPr>
              <a:t>例：</a:t>
            </a:r>
            <a:r>
              <a:rPr lang="zh-CN" altLang="en-US" sz="2800" b="1" dirty="0">
                <a:solidFill>
                  <a:schemeClr val="tx1"/>
                </a:solidFill>
                <a:latin typeface="楷体_GB2312" pitchFamily="1" charset="-122"/>
                <a:ea typeface="楷体_GB2312" pitchFamily="1" charset="-122"/>
              </a:rPr>
              <a:t>设主存容量4MB，虚存容量1GB，页面大小为4KB。</a:t>
            </a:r>
            <a:endParaRPr lang="zh-CN" altLang="en-US" sz="2800" b="1" dirty="0">
              <a:solidFill>
                <a:schemeClr val="tx1"/>
              </a:solidFill>
              <a:latin typeface="楷体_GB2312" pitchFamily="1" charset="-122"/>
              <a:ea typeface="楷体_GB2312" pitchFamily="1" charset="-122"/>
            </a:endParaRPr>
          </a:p>
          <a:p>
            <a:pPr eaLnBrk="1" hangingPunct="1">
              <a:lnSpc>
                <a:spcPct val="90000"/>
              </a:lnSpc>
            </a:pPr>
            <a:r>
              <a:rPr lang="zh-CN" altLang="en-US" sz="2800" b="1" dirty="0">
                <a:solidFill>
                  <a:schemeClr val="tx1"/>
                </a:solidFill>
                <a:latin typeface="楷体_GB2312" pitchFamily="1" charset="-122"/>
                <a:ea typeface="楷体_GB2312" pitchFamily="1" charset="-122"/>
              </a:rPr>
              <a:t>1、写出主存地址格式。</a:t>
            </a:r>
            <a:endParaRPr lang="zh-CN" altLang="en-US" sz="2800" b="1" dirty="0">
              <a:solidFill>
                <a:schemeClr val="tx1"/>
              </a:solidFill>
              <a:latin typeface="楷体_GB2312" pitchFamily="1" charset="-122"/>
              <a:ea typeface="楷体_GB2312" pitchFamily="1" charset="-122"/>
            </a:endParaRPr>
          </a:p>
          <a:p>
            <a:pPr eaLnBrk="1" hangingPunct="1">
              <a:lnSpc>
                <a:spcPct val="90000"/>
              </a:lnSpc>
            </a:pPr>
            <a:r>
              <a:rPr lang="zh-CN" altLang="en-US" sz="2800" b="1" dirty="0">
                <a:solidFill>
                  <a:schemeClr val="tx1"/>
                </a:solidFill>
                <a:latin typeface="楷体_GB2312" pitchFamily="1" charset="-122"/>
                <a:ea typeface="楷体_GB2312" pitchFamily="1" charset="-122"/>
              </a:rPr>
              <a:t>2、写出虚拟地址格式。</a:t>
            </a:r>
            <a:endParaRPr lang="zh-CN" altLang="en-US" sz="2800" b="1" dirty="0">
              <a:solidFill>
                <a:schemeClr val="tx1"/>
              </a:solidFill>
              <a:latin typeface="楷体_GB2312" pitchFamily="1" charset="-122"/>
              <a:ea typeface="楷体_GB2312" pitchFamily="1" charset="-122"/>
            </a:endParaRPr>
          </a:p>
          <a:p>
            <a:pPr eaLnBrk="1" hangingPunct="1">
              <a:lnSpc>
                <a:spcPct val="90000"/>
              </a:lnSpc>
            </a:pPr>
            <a:r>
              <a:rPr lang="zh-CN" altLang="en-US" sz="2800" b="1" dirty="0">
                <a:solidFill>
                  <a:schemeClr val="tx1"/>
                </a:solidFill>
                <a:latin typeface="楷体_GB2312" pitchFamily="1" charset="-122"/>
                <a:ea typeface="楷体_GB2312" pitchFamily="1" charset="-122"/>
              </a:rPr>
              <a:t>3、页表长度为多少？</a:t>
            </a:r>
            <a:endParaRPr lang="zh-CN" altLang="en-US" sz="2800" b="1" dirty="0">
              <a:solidFill>
                <a:schemeClr val="tx1"/>
              </a:solidFill>
              <a:latin typeface="楷体_GB2312" pitchFamily="1" charset="-122"/>
              <a:ea typeface="楷体_GB2312" pitchFamily="1" charset="-122"/>
            </a:endParaRPr>
          </a:p>
          <a:p>
            <a:pPr eaLnBrk="1" hangingPunct="1">
              <a:lnSpc>
                <a:spcPct val="90000"/>
              </a:lnSpc>
            </a:pPr>
            <a:r>
              <a:rPr lang="zh-CN" altLang="en-US" sz="2800" b="1" dirty="0">
                <a:solidFill>
                  <a:srgbClr val="993366"/>
                </a:solidFill>
                <a:latin typeface="楷体_GB2312" pitchFamily="1" charset="-122"/>
                <a:ea typeface="楷体_GB2312" pitchFamily="1" charset="-122"/>
              </a:rPr>
              <a:t>解：</a:t>
            </a:r>
            <a:endParaRPr lang="zh-CN" altLang="en-US" sz="2800" b="1" dirty="0">
              <a:solidFill>
                <a:srgbClr val="993366"/>
              </a:solidFill>
              <a:latin typeface="楷体_GB2312" pitchFamily="1" charset="-122"/>
              <a:ea typeface="楷体_GB2312" pitchFamily="1" charset="-122"/>
            </a:endParaRPr>
          </a:p>
          <a:p>
            <a:pPr eaLnBrk="1" hangingPunct="1">
              <a:lnSpc>
                <a:spcPct val="90000"/>
              </a:lnSpc>
            </a:pPr>
            <a:r>
              <a:rPr lang="zh-CN" altLang="en-US" sz="2800" b="1" dirty="0">
                <a:solidFill>
                  <a:srgbClr val="993366"/>
                </a:solidFill>
                <a:latin typeface="楷体_GB2312" pitchFamily="1" charset="-122"/>
                <a:ea typeface="楷体_GB2312" pitchFamily="1" charset="-122"/>
              </a:rPr>
              <a:t>主存地址格式为：</a:t>
            </a:r>
            <a:br>
              <a:rPr lang="zh-CN" altLang="en-US" sz="2800" b="1" dirty="0">
                <a:solidFill>
                  <a:srgbClr val="993366"/>
                </a:solidFill>
                <a:latin typeface="楷体_GB2312" pitchFamily="1" charset="-122"/>
                <a:ea typeface="楷体_GB2312" pitchFamily="1" charset="-122"/>
              </a:rPr>
            </a:br>
            <a:endParaRPr lang="zh-CN" altLang="en-US" sz="2800" b="1" dirty="0">
              <a:solidFill>
                <a:srgbClr val="993366"/>
              </a:solidFill>
              <a:latin typeface="楷体_GB2312" pitchFamily="1" charset="-122"/>
              <a:ea typeface="楷体_GB2312" pitchFamily="1" charset="-122"/>
            </a:endParaRPr>
          </a:p>
          <a:p>
            <a:pPr eaLnBrk="1" hangingPunct="1">
              <a:lnSpc>
                <a:spcPct val="90000"/>
              </a:lnSpc>
            </a:pPr>
            <a:r>
              <a:rPr lang="zh-CN" altLang="en-US" sz="2800" b="1" dirty="0">
                <a:solidFill>
                  <a:srgbClr val="993366"/>
                </a:solidFill>
                <a:latin typeface="楷体_GB2312" pitchFamily="1" charset="-122"/>
                <a:ea typeface="楷体_GB2312" pitchFamily="1" charset="-122"/>
              </a:rPr>
              <a:t>虚拟地址格式为：</a:t>
            </a:r>
            <a:endParaRPr lang="zh-CN" altLang="en-US" sz="2800" b="1" dirty="0">
              <a:solidFill>
                <a:srgbClr val="993366"/>
              </a:solidFill>
              <a:latin typeface="楷体_GB2312" pitchFamily="1" charset="-122"/>
              <a:ea typeface="楷体_GB2312" pitchFamily="1" charset="-122"/>
            </a:endParaRPr>
          </a:p>
          <a:p>
            <a:pPr eaLnBrk="1" hangingPunct="1">
              <a:lnSpc>
                <a:spcPct val="90000"/>
              </a:lnSpc>
            </a:pPr>
            <a:endParaRPr lang="zh-CN" altLang="en-US" sz="2800" b="1" dirty="0">
              <a:solidFill>
                <a:srgbClr val="993366"/>
              </a:solidFill>
              <a:latin typeface="楷体_GB2312" pitchFamily="1" charset="-122"/>
              <a:ea typeface="楷体_GB2312" pitchFamily="1" charset="-122"/>
            </a:endParaRPr>
          </a:p>
          <a:p>
            <a:pPr eaLnBrk="1" hangingPunct="1">
              <a:lnSpc>
                <a:spcPct val="90000"/>
              </a:lnSpc>
            </a:pPr>
            <a:r>
              <a:rPr lang="zh-CN" altLang="en-US" sz="2800" b="1" dirty="0">
                <a:solidFill>
                  <a:srgbClr val="993366"/>
                </a:solidFill>
                <a:latin typeface="楷体_GB2312" pitchFamily="1" charset="-122"/>
                <a:ea typeface="楷体_GB2312" pitchFamily="1" charset="-122"/>
              </a:rPr>
              <a:t>页表长度为2</a:t>
            </a:r>
            <a:r>
              <a:rPr lang="zh-CN" altLang="en-US" sz="2800" b="1" baseline="30000" dirty="0">
                <a:solidFill>
                  <a:srgbClr val="993366"/>
                </a:solidFill>
                <a:latin typeface="楷体_GB2312" pitchFamily="1" charset="-122"/>
                <a:ea typeface="楷体_GB2312" pitchFamily="1" charset="-122"/>
              </a:rPr>
              <a:t>18</a:t>
            </a:r>
            <a:r>
              <a:rPr lang="zh-CN" altLang="en-US" sz="2800" b="1" dirty="0">
                <a:solidFill>
                  <a:srgbClr val="993366"/>
                </a:solidFill>
                <a:latin typeface="楷体_GB2312" pitchFamily="1" charset="-122"/>
                <a:ea typeface="楷体_GB2312" pitchFamily="1" charset="-122"/>
              </a:rPr>
              <a:t>=256K（行）。</a:t>
            </a:r>
            <a:endParaRPr lang="zh-CN" altLang="en-US" sz="2800" b="1" dirty="0">
              <a:solidFill>
                <a:srgbClr val="993366"/>
              </a:solidFill>
              <a:latin typeface="楷体_GB2312" pitchFamily="1" charset="-122"/>
              <a:ea typeface="楷体_GB2312" pitchFamily="1" charset="-122"/>
            </a:endParaRPr>
          </a:p>
        </p:txBody>
      </p:sp>
      <p:grpSp>
        <p:nvGrpSpPr>
          <p:cNvPr id="173059" name="Group 3"/>
          <p:cNvGrpSpPr/>
          <p:nvPr/>
        </p:nvGrpSpPr>
        <p:grpSpPr>
          <a:xfrm>
            <a:off x="3352800" y="3810000"/>
            <a:ext cx="5562600" cy="685800"/>
            <a:chOff x="0" y="0"/>
            <a:chExt cx="3504" cy="432"/>
          </a:xfrm>
        </p:grpSpPr>
        <p:sp>
          <p:nvSpPr>
            <p:cNvPr id="174088" name="AutoShape 4"/>
            <p:cNvSpPr/>
            <p:nvPr/>
          </p:nvSpPr>
          <p:spPr>
            <a:xfrm>
              <a:off x="0" y="240"/>
              <a:ext cx="3504" cy="192"/>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  页号（10位）          页内地址（12位）</a:t>
              </a:r>
              <a:endParaRPr lang="zh-CN" altLang="en-US" sz="2400" dirty="0">
                <a:solidFill>
                  <a:schemeClr val="tx1"/>
                </a:solidFill>
                <a:latin typeface="Tahoma" panose="020B0604030504040204" pitchFamily="34" charset="0"/>
              </a:endParaRPr>
            </a:p>
          </p:txBody>
        </p:sp>
        <p:sp>
          <p:nvSpPr>
            <p:cNvPr id="174089" name="Line 5"/>
            <p:cNvSpPr/>
            <p:nvPr/>
          </p:nvSpPr>
          <p:spPr>
            <a:xfrm>
              <a:off x="1728" y="240"/>
              <a:ext cx="0" cy="192"/>
            </a:xfrm>
            <a:prstGeom prst="line">
              <a:avLst/>
            </a:prstGeom>
            <a:ln w="9525" cap="flat" cmpd="sng">
              <a:solidFill>
                <a:schemeClr val="tx1"/>
              </a:solidFill>
              <a:prstDash val="solid"/>
              <a:headEnd type="none" w="med" len="med"/>
              <a:tailEnd type="none" w="med" len="med"/>
            </a:ln>
          </p:spPr>
        </p:sp>
        <p:sp>
          <p:nvSpPr>
            <p:cNvPr id="174090" name="Rectangle 6"/>
            <p:cNvSpPr/>
            <p:nvPr/>
          </p:nvSpPr>
          <p:spPr>
            <a:xfrm>
              <a:off x="0" y="0"/>
              <a:ext cx="3504"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21                          12  11                             0</a:t>
              </a:r>
              <a:endParaRPr lang="zh-CN" altLang="en-US" sz="2400" dirty="0">
                <a:solidFill>
                  <a:schemeClr val="tx1"/>
                </a:solidFill>
                <a:ea typeface="华文新魏" panose="02010800040101010101" pitchFamily="2" charset="-122"/>
              </a:endParaRPr>
            </a:p>
          </p:txBody>
        </p:sp>
      </p:grpSp>
      <p:grpSp>
        <p:nvGrpSpPr>
          <p:cNvPr id="173063" name="Group 7"/>
          <p:cNvGrpSpPr/>
          <p:nvPr/>
        </p:nvGrpSpPr>
        <p:grpSpPr>
          <a:xfrm>
            <a:off x="2971800" y="4953000"/>
            <a:ext cx="6019800" cy="609600"/>
            <a:chOff x="0" y="0"/>
            <a:chExt cx="3792" cy="384"/>
          </a:xfrm>
        </p:grpSpPr>
        <p:sp>
          <p:nvSpPr>
            <p:cNvPr id="174085" name="AutoShape 8"/>
            <p:cNvSpPr/>
            <p:nvPr/>
          </p:nvSpPr>
          <p:spPr>
            <a:xfrm>
              <a:off x="0" y="192"/>
              <a:ext cx="3792" cy="192"/>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2400" dirty="0">
                  <a:solidFill>
                    <a:schemeClr val="tx1"/>
                  </a:solidFill>
                  <a:latin typeface="Tahoma" panose="020B0604030504040204" pitchFamily="34" charset="0"/>
                </a:rPr>
                <a:t>   页面号（18位）        页内地址（12位）</a:t>
              </a:r>
              <a:endParaRPr lang="zh-CN" altLang="en-US" sz="2400" dirty="0">
                <a:solidFill>
                  <a:schemeClr val="tx1"/>
                </a:solidFill>
                <a:latin typeface="Tahoma" panose="020B0604030504040204" pitchFamily="34" charset="0"/>
              </a:endParaRPr>
            </a:p>
          </p:txBody>
        </p:sp>
        <p:sp>
          <p:nvSpPr>
            <p:cNvPr id="174086" name="Line 9"/>
            <p:cNvSpPr/>
            <p:nvPr/>
          </p:nvSpPr>
          <p:spPr>
            <a:xfrm>
              <a:off x="2016" y="192"/>
              <a:ext cx="0" cy="192"/>
            </a:xfrm>
            <a:prstGeom prst="line">
              <a:avLst/>
            </a:prstGeom>
            <a:ln w="9525" cap="flat" cmpd="sng">
              <a:solidFill>
                <a:schemeClr val="tx1"/>
              </a:solidFill>
              <a:prstDash val="solid"/>
              <a:headEnd type="none" w="med" len="med"/>
              <a:tailEnd type="none" w="med" len="med"/>
            </a:ln>
          </p:spPr>
        </p:sp>
        <p:sp>
          <p:nvSpPr>
            <p:cNvPr id="174087" name="Rectangle 10"/>
            <p:cNvSpPr/>
            <p:nvPr/>
          </p:nvSpPr>
          <p:spPr>
            <a:xfrm>
              <a:off x="48" y="0"/>
              <a:ext cx="3744"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2400" dirty="0">
                  <a:solidFill>
                    <a:schemeClr val="tx1"/>
                  </a:solidFill>
                  <a:ea typeface="华文新魏" panose="02010800040101010101" pitchFamily="2" charset="-122"/>
                </a:rPr>
                <a:t>29                               12  11                            0</a:t>
              </a:r>
              <a:endParaRPr lang="zh-CN" altLang="en-US" sz="2400" dirty="0">
                <a:solidFill>
                  <a:schemeClr val="tx1"/>
                </a:solidFill>
                <a:ea typeface="华文新魏" panose="020108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3059"/>
                                        </p:tgtEl>
                                        <p:attrNameLst>
                                          <p:attrName>style.visibility</p:attrName>
                                        </p:attrNameLst>
                                      </p:cBhvr>
                                      <p:to>
                                        <p:strVal val="visible"/>
                                      </p:to>
                                    </p:set>
                                    <p:anim calcmode="lin" valueType="num">
                                      <p:cBhvr additive="base">
                                        <p:cTn id="7" dur="500" fill="hold"/>
                                        <p:tgtEl>
                                          <p:spTgt spid="173059"/>
                                        </p:tgtEl>
                                        <p:attrNameLst>
                                          <p:attrName>ppt_x</p:attrName>
                                        </p:attrNameLst>
                                      </p:cBhvr>
                                      <p:tavLst>
                                        <p:tav tm="0">
                                          <p:val>
                                            <p:strVal val="#ppt_x"/>
                                          </p:val>
                                        </p:tav>
                                        <p:tav tm="100000">
                                          <p:val>
                                            <p:strVal val="#ppt_x"/>
                                          </p:val>
                                        </p:tav>
                                      </p:tavLst>
                                    </p:anim>
                                    <p:anim calcmode="lin" valueType="num">
                                      <p:cBhvr additive="base">
                                        <p:cTn id="8" dur="500" fill="hold"/>
                                        <p:tgtEl>
                                          <p:spTgt spid="1730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3063"/>
                                        </p:tgtEl>
                                        <p:attrNameLst>
                                          <p:attrName>style.visibility</p:attrName>
                                        </p:attrNameLst>
                                      </p:cBhvr>
                                      <p:to>
                                        <p:strVal val="visible"/>
                                      </p:to>
                                    </p:set>
                                    <p:anim calcmode="lin" valueType="num">
                                      <p:cBhvr additive="base">
                                        <p:cTn id="13" dur="500" fill="hold"/>
                                        <p:tgtEl>
                                          <p:spTgt spid="173063"/>
                                        </p:tgtEl>
                                        <p:attrNameLst>
                                          <p:attrName>ppt_x</p:attrName>
                                        </p:attrNameLst>
                                      </p:cBhvr>
                                      <p:tavLst>
                                        <p:tav tm="0">
                                          <p:val>
                                            <p:strVal val="#ppt_x"/>
                                          </p:val>
                                        </p:tav>
                                        <p:tav tm="100000">
                                          <p:val>
                                            <p:strVal val="#ppt_x"/>
                                          </p:val>
                                        </p:tav>
                                      </p:tavLst>
                                    </p:anim>
                                    <p:anim calcmode="lin" valueType="num">
                                      <p:cBhvr additive="base">
                                        <p:cTn id="14" dur="500" fill="hold"/>
                                        <p:tgtEl>
                                          <p:spTgt spid="1730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p:nvPr/>
        </p:nvSpPr>
        <p:spPr>
          <a:xfrm>
            <a:off x="1116013" y="2133600"/>
            <a:ext cx="5976937" cy="2665413"/>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algn="ctr" eaLnBrk="1" hangingPunct="1">
              <a:spcBef>
                <a:spcPct val="0"/>
              </a:spcBef>
              <a:buNone/>
            </a:pPr>
            <a:r>
              <a:rPr lang="zh-CN" altLang="en-US" sz="4400" dirty="0">
                <a:solidFill>
                  <a:schemeClr val="tx1"/>
                </a:solidFill>
                <a:ea typeface="华文新魏" panose="02010800040101010101" pitchFamily="2" charset="-122"/>
              </a:rPr>
              <a:t>存储区域保护</a:t>
            </a:r>
            <a:endParaRPr lang="zh-CN" altLang="en-US" sz="4400" dirty="0">
              <a:solidFill>
                <a:schemeClr val="tx1"/>
              </a:solidFill>
              <a:ea typeface="华文新魏" panose="02010800040101010101" pitchFamily="2" charset="-122"/>
            </a:endParaRPr>
          </a:p>
          <a:p>
            <a:pPr marL="0" lvl="0" indent="0" algn="ctr" eaLnBrk="1" hangingPunct="1">
              <a:spcBef>
                <a:spcPct val="0"/>
              </a:spcBef>
              <a:buNone/>
            </a:pPr>
            <a:endParaRPr lang="zh-CN" altLang="en-US" sz="4400" dirty="0">
              <a:solidFill>
                <a:schemeClr val="tx1"/>
              </a:solidFill>
              <a:ea typeface="华文新魏" panose="02010800040101010101" pitchFamily="2" charset="-122"/>
            </a:endParaRPr>
          </a:p>
          <a:p>
            <a:pPr marL="0" lvl="0" indent="0" algn="ctr" eaLnBrk="1" hangingPunct="1">
              <a:spcBef>
                <a:spcPct val="0"/>
              </a:spcBef>
              <a:buNone/>
            </a:pPr>
            <a:r>
              <a:rPr lang="zh-CN" altLang="en-US" sz="4400" dirty="0">
                <a:solidFill>
                  <a:schemeClr val="tx1"/>
                </a:solidFill>
                <a:ea typeface="华文新魏" panose="02010800040101010101" pitchFamily="2" charset="-122"/>
              </a:rPr>
              <a:t>访问方式保护</a:t>
            </a:r>
            <a:endParaRPr lang="zh-CN" altLang="en-US" sz="4400" dirty="0">
              <a:solidFill>
                <a:schemeClr val="tx1"/>
              </a:solidFill>
              <a:ea typeface="华文新魏" panose="02010800040101010101" pitchFamily="2" charset="-122"/>
            </a:endParaRPr>
          </a:p>
        </p:txBody>
      </p:sp>
      <p:sp>
        <p:nvSpPr>
          <p:cNvPr id="175107" name="Rectangle 3"/>
          <p:cNvSpPr>
            <a:spLocks noGrp="1"/>
          </p:cNvSpPr>
          <p:nvPr>
            <p:ph type="body" idx="4294967295"/>
          </p:nvPr>
        </p:nvSpPr>
        <p:spPr>
          <a:xfrm>
            <a:off x="828675" y="692150"/>
            <a:ext cx="7086600" cy="990600"/>
          </a:xfrm>
          <a:ln/>
        </p:spPr>
        <p:txBody>
          <a:bodyPr vert="horz" wrap="square" lIns="91440" tIns="45720" rIns="91440" bIns="45720" anchor="t" anchorCtr="0"/>
          <a:p>
            <a:pPr algn="ctr" eaLnBrk="1" hangingPunct="1">
              <a:buNone/>
            </a:pPr>
            <a:r>
              <a:rPr lang="zh-CN" altLang="en-US" sz="4800" dirty="0">
                <a:solidFill>
                  <a:srgbClr val="993366"/>
                </a:solidFill>
                <a:latin typeface="华文新魏" panose="02010800040101010101" pitchFamily="2" charset="-122"/>
                <a:ea typeface="华文新魏" panose="02010800040101010101" pitchFamily="2" charset="-122"/>
              </a:rPr>
              <a:t> 3.</a:t>
            </a:r>
            <a:r>
              <a:rPr lang="en-US" altLang="zh-CN" sz="4800" dirty="0">
                <a:solidFill>
                  <a:srgbClr val="993366"/>
                </a:solidFill>
                <a:latin typeface="华文新魏" panose="02010800040101010101" pitchFamily="2" charset="-122"/>
                <a:ea typeface="华文新魏" panose="02010800040101010101" pitchFamily="2" charset="-122"/>
              </a:rPr>
              <a:t>8</a:t>
            </a:r>
            <a:r>
              <a:rPr lang="zh-CN" altLang="en-US" sz="4800" dirty="0">
                <a:solidFill>
                  <a:srgbClr val="993366"/>
                </a:solidFill>
                <a:latin typeface="华文新魏" panose="02010800040101010101" pitchFamily="2" charset="-122"/>
                <a:ea typeface="华文新魏" panose="02010800040101010101" pitchFamily="2" charset="-122"/>
              </a:rPr>
              <a:t>存储保护</a:t>
            </a:r>
            <a:endParaRPr lang="zh-CN" altLang="en-US" sz="4800" dirty="0">
              <a:solidFill>
                <a:srgbClr val="993366"/>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body" idx="4294967295"/>
          </p:nvPr>
        </p:nvSpPr>
        <p:spPr>
          <a:xfrm>
            <a:off x="685800" y="1066800"/>
            <a:ext cx="7772400" cy="5029200"/>
          </a:xfrm>
          <a:ln/>
        </p:spPr>
        <p:txBody>
          <a:bodyPr vert="horz" wrap="square" lIns="91440" tIns="45720" rIns="91440" bIns="45720" anchor="t" anchorCtr="0"/>
          <a:p>
            <a:pPr eaLnBrk="1" hangingPunct="1">
              <a:buNone/>
            </a:pPr>
            <a:r>
              <a:rPr lang="zh-CN" altLang="en-US" sz="4000" dirty="0">
                <a:solidFill>
                  <a:srgbClr val="993366"/>
                </a:solidFill>
                <a:latin typeface="华文新魏" panose="02010800040101010101" pitchFamily="2" charset="-122"/>
                <a:ea typeface="华文新魏" panose="02010800040101010101" pitchFamily="2" charset="-122"/>
              </a:rPr>
              <a:t>存储区域保护</a:t>
            </a:r>
            <a:r>
              <a:rPr lang="zh-CN" altLang="en-US" sz="3600" b="1" i="1" dirty="0">
                <a:solidFill>
                  <a:srgbClr val="0000FF"/>
                </a:solidFill>
              </a:rPr>
              <a:t>　</a:t>
            </a:r>
            <a:r>
              <a:rPr lang="zh-CN" altLang="en-US" b="1" i="1" dirty="0">
                <a:solidFill>
                  <a:srgbClr val="0000FF"/>
                </a:solidFill>
              </a:rPr>
              <a:t>　　　　　　　　　</a:t>
            </a:r>
            <a:r>
              <a:rPr lang="zh-CN" altLang="en-US" b="1" i="1" dirty="0">
                <a:solidFill>
                  <a:srgbClr val="0000FF"/>
                </a:solidFill>
                <a:hlinkClick r:id="rId1" action="ppaction://hlinkfile"/>
              </a:rPr>
              <a:t> </a:t>
            </a:r>
            <a:endParaRPr lang="zh-CN" altLang="en-US" b="1" dirty="0"/>
          </a:p>
          <a:p>
            <a:pPr eaLnBrk="1" hangingPunct="1"/>
            <a:r>
              <a:rPr lang="zh-CN" altLang="en-US" dirty="0"/>
              <a:t>　　</a:t>
            </a:r>
            <a:r>
              <a:rPr lang="zh-CN" altLang="en-US" b="1" dirty="0">
                <a:latin typeface="楷体_GB2312" pitchFamily="1" charset="-122"/>
                <a:ea typeface="楷体_GB2312" pitchFamily="1" charset="-122"/>
              </a:rPr>
              <a:t>当多个用户共享主存时，应防止由于</a:t>
            </a:r>
            <a:r>
              <a:rPr lang="zh-CN" altLang="en-US" b="1" dirty="0">
                <a:solidFill>
                  <a:schemeClr val="tx1"/>
                </a:solidFill>
                <a:latin typeface="楷体_GB2312" pitchFamily="1" charset="-122"/>
                <a:ea typeface="楷体_GB2312" pitchFamily="1" charset="-122"/>
              </a:rPr>
              <a:t>一个用户程序出错而破坏其他用户的程序和系统软件</a:t>
            </a:r>
            <a:r>
              <a:rPr lang="zh-CN" altLang="en-US" b="1" dirty="0">
                <a:latin typeface="楷体_GB2312" pitchFamily="1" charset="-122"/>
                <a:ea typeface="楷体_GB2312" pitchFamily="1" charset="-122"/>
              </a:rPr>
              <a:t>,以及</a:t>
            </a:r>
            <a:r>
              <a:rPr lang="zh-CN" altLang="en-US" b="1" dirty="0">
                <a:solidFill>
                  <a:schemeClr val="tx1"/>
                </a:solidFill>
                <a:latin typeface="楷体_GB2312" pitchFamily="1" charset="-122"/>
                <a:ea typeface="楷体_GB2312" pitchFamily="1" charset="-122"/>
              </a:rPr>
              <a:t>一个用户程序不合法地访问不是分配给它的主存区域</a:t>
            </a:r>
            <a:r>
              <a:rPr lang="zh-CN" altLang="en-US" b="1" dirty="0">
                <a:latin typeface="楷体_GB2312" pitchFamily="1" charset="-122"/>
                <a:ea typeface="楷体_GB2312" pitchFamily="1" charset="-122"/>
              </a:rPr>
              <a:t>。</a:t>
            </a:r>
            <a:endParaRPr lang="zh-CN" altLang="en-US" b="1" dirty="0">
              <a:latin typeface="楷体_GB2312" pitchFamily="1" charset="-122"/>
              <a:ea typeface="楷体_GB2312" pitchFamily="1" charset="-122"/>
            </a:endParaRPr>
          </a:p>
          <a:p>
            <a:pPr eaLnBrk="1" hangingPunct="1"/>
            <a:r>
              <a:rPr lang="zh-CN" altLang="en-US" b="1" dirty="0">
                <a:latin typeface="楷体_GB2312" pitchFamily="1" charset="-122"/>
                <a:ea typeface="楷体_GB2312" pitchFamily="1" charset="-122"/>
              </a:rPr>
              <a:t>　　在虚拟存储系统中，通常采用</a:t>
            </a:r>
            <a:r>
              <a:rPr lang="zh-CN" altLang="en-US" b="1" dirty="0">
                <a:solidFill>
                  <a:srgbClr val="993366"/>
                </a:solidFill>
                <a:latin typeface="楷体_GB2312" pitchFamily="1" charset="-122"/>
                <a:ea typeface="楷体_GB2312" pitchFamily="1" charset="-122"/>
              </a:rPr>
              <a:t>页表保护</a:t>
            </a:r>
            <a:r>
              <a:rPr lang="zh-CN" altLang="en-US" b="1" dirty="0">
                <a:latin typeface="楷体_GB2312" pitchFamily="1" charset="-122"/>
                <a:ea typeface="楷体_GB2312" pitchFamily="1" charset="-122"/>
              </a:rPr>
              <a:t>、</a:t>
            </a:r>
            <a:r>
              <a:rPr lang="zh-CN" altLang="en-US" b="1" dirty="0">
                <a:solidFill>
                  <a:srgbClr val="993366"/>
                </a:solidFill>
                <a:latin typeface="楷体_GB2312" pitchFamily="1" charset="-122"/>
                <a:ea typeface="楷体_GB2312" pitchFamily="1" charset="-122"/>
              </a:rPr>
              <a:t>段表保护</a:t>
            </a:r>
            <a:r>
              <a:rPr lang="zh-CN" altLang="en-US" b="1" dirty="0">
                <a:latin typeface="楷体_GB2312" pitchFamily="1" charset="-122"/>
                <a:ea typeface="楷体_GB2312" pitchFamily="1" charset="-122"/>
              </a:rPr>
              <a:t>和</a:t>
            </a:r>
            <a:r>
              <a:rPr lang="zh-CN" altLang="en-US" b="1" dirty="0">
                <a:solidFill>
                  <a:srgbClr val="993366"/>
                </a:solidFill>
                <a:latin typeface="楷体_GB2312" pitchFamily="1" charset="-122"/>
                <a:ea typeface="楷体_GB2312" pitchFamily="1" charset="-122"/>
              </a:rPr>
              <a:t>键保护</a:t>
            </a:r>
            <a:r>
              <a:rPr lang="zh-CN" altLang="en-US" b="1" dirty="0">
                <a:latin typeface="楷体_GB2312" pitchFamily="1" charset="-122"/>
                <a:ea typeface="楷体_GB2312" pitchFamily="1" charset="-122"/>
              </a:rPr>
              <a:t>方法。</a:t>
            </a:r>
            <a:endParaRPr lang="zh-CN" altLang="en-US" b="1" dirty="0">
              <a:latin typeface="楷体_GB2312" pitchFamily="1" charset="-122"/>
              <a:ea typeface="楷体_GB2312" pitchFamily="1" charset="-122"/>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p:cNvSpPr>
          <p:nvPr>
            <p:ph type="body" idx="4294967295"/>
          </p:nvPr>
        </p:nvSpPr>
        <p:spPr>
          <a:xfrm>
            <a:off x="146050" y="1905000"/>
            <a:ext cx="8602663" cy="4695825"/>
          </a:xfrm>
          <a:ln/>
        </p:spPr>
        <p:txBody>
          <a:bodyPr vert="horz" wrap="square" lIns="91440" tIns="45720" rIns="91440" bIns="45720" anchor="t" anchorCtr="0"/>
          <a:p>
            <a:pPr marL="0" indent="0" eaLnBrk="1" hangingPunct="1">
              <a:lnSpc>
                <a:spcPct val="90000"/>
              </a:lnSpc>
              <a:buNone/>
            </a:pPr>
            <a:r>
              <a:rPr lang="zh-CN" altLang="en-US" sz="2800" b="1" dirty="0">
                <a:solidFill>
                  <a:srgbClr val="993366"/>
                </a:solidFill>
                <a:latin typeface="华文新魏" panose="02010800040101010101" pitchFamily="2" charset="-122"/>
                <a:ea typeface="华文新魏" panose="02010800040101010101" pitchFamily="2" charset="-122"/>
              </a:rPr>
              <a:t>1. 页表保护和段表保护</a:t>
            </a:r>
            <a:r>
              <a:rPr lang="zh-CN" altLang="en-US" sz="2400" b="1" i="1" dirty="0">
                <a:solidFill>
                  <a:srgbClr val="00FFFF"/>
                </a:solidFill>
              </a:rPr>
              <a:t> </a:t>
            </a:r>
            <a:endParaRPr lang="zh-CN" altLang="en-US" sz="2400" b="1" dirty="0"/>
          </a:p>
          <a:p>
            <a:pPr marL="0" indent="0" eaLnBrk="1" hangingPunct="1">
              <a:lnSpc>
                <a:spcPct val="90000"/>
              </a:lnSpc>
              <a:buNone/>
            </a:pPr>
            <a:r>
              <a:rPr lang="zh-CN" altLang="en-US" sz="2400" b="1" dirty="0"/>
              <a:t> </a:t>
            </a:r>
            <a:endParaRPr lang="zh-CN" altLang="en-US" sz="2400" b="1" dirty="0"/>
          </a:p>
          <a:p>
            <a:pPr marL="0" indent="0" eaLnBrk="1" hangingPunct="1">
              <a:lnSpc>
                <a:spcPct val="90000"/>
              </a:lnSpc>
              <a:buNone/>
            </a:pPr>
            <a:endParaRPr lang="zh-CN" altLang="en-US" sz="2400" b="1" dirty="0"/>
          </a:p>
          <a:p>
            <a:pPr marL="0" indent="0" eaLnBrk="1" hangingPunct="1">
              <a:lnSpc>
                <a:spcPct val="90000"/>
              </a:lnSpc>
            </a:pPr>
            <a:r>
              <a:rPr lang="zh-CN" altLang="en-US" sz="2400" b="1" dirty="0">
                <a:solidFill>
                  <a:schemeClr val="tx1"/>
                </a:solidFill>
                <a:latin typeface="楷体_GB2312" pitchFamily="1" charset="-122"/>
                <a:ea typeface="楷体_GB2312" pitchFamily="1" charset="-122"/>
              </a:rPr>
              <a:t>每个程序的段表和页表</a:t>
            </a:r>
            <a:endParaRPr lang="zh-CN" altLang="en-US" sz="2400" b="1" dirty="0">
              <a:solidFill>
                <a:schemeClr val="tx1"/>
              </a:solidFill>
              <a:latin typeface="楷体_GB2312" pitchFamily="1" charset="-122"/>
              <a:ea typeface="楷体_GB2312" pitchFamily="1" charset="-122"/>
            </a:endParaRPr>
          </a:p>
          <a:p>
            <a:pPr marL="0" indent="0" eaLnBrk="1" hangingPunct="1">
              <a:lnSpc>
                <a:spcPct val="90000"/>
              </a:lnSpc>
              <a:buNone/>
            </a:pPr>
            <a:r>
              <a:rPr lang="zh-CN" altLang="en-US" sz="2400" b="1" dirty="0">
                <a:solidFill>
                  <a:schemeClr val="tx1"/>
                </a:solidFill>
                <a:latin typeface="楷体_GB2312" pitchFamily="1" charset="-122"/>
                <a:ea typeface="楷体_GB2312" pitchFamily="1" charset="-122"/>
              </a:rPr>
              <a:t>本身都有自己的保护功能。</a:t>
            </a:r>
            <a:endParaRPr lang="zh-CN" altLang="en-US" sz="2400" b="1" dirty="0">
              <a:solidFill>
                <a:schemeClr val="tx1"/>
              </a:solidFill>
              <a:latin typeface="楷体_GB2312" pitchFamily="1" charset="-122"/>
              <a:ea typeface="楷体_GB2312" pitchFamily="1" charset="-122"/>
            </a:endParaRPr>
          </a:p>
          <a:p>
            <a:pPr marL="0" indent="0" eaLnBrk="1" hangingPunct="1">
              <a:lnSpc>
                <a:spcPct val="90000"/>
              </a:lnSpc>
              <a:buNone/>
            </a:pPr>
            <a:r>
              <a:rPr lang="zh-CN" altLang="en-US" sz="2400" b="1" dirty="0">
                <a:solidFill>
                  <a:schemeClr val="tx1"/>
                </a:solidFill>
                <a:latin typeface="楷体_GB2312" pitchFamily="1" charset="-122"/>
                <a:ea typeface="楷体_GB2312" pitchFamily="1" charset="-122"/>
              </a:rPr>
              <a:t>    </a:t>
            </a:r>
            <a:endParaRPr lang="zh-CN" altLang="en-US" sz="2400" b="1" dirty="0">
              <a:solidFill>
                <a:schemeClr val="tx1"/>
              </a:solidFill>
              <a:latin typeface="楷体_GB2312" pitchFamily="1" charset="-122"/>
              <a:ea typeface="楷体_GB2312" pitchFamily="1" charset="-122"/>
            </a:endParaRPr>
          </a:p>
          <a:p>
            <a:pPr marL="0" indent="0" eaLnBrk="1" hangingPunct="1">
              <a:lnSpc>
                <a:spcPct val="90000"/>
              </a:lnSpc>
            </a:pPr>
            <a:r>
              <a:rPr lang="zh-CN" altLang="en-US" sz="2400" b="1" dirty="0">
                <a:solidFill>
                  <a:schemeClr val="tx1"/>
                </a:solidFill>
                <a:latin typeface="楷体_GB2312" pitchFamily="1" charset="-122"/>
                <a:ea typeface="楷体_GB2312" pitchFamily="1" charset="-122"/>
              </a:rPr>
              <a:t>每个程序的虚页号是固定的，经过虚地址向实地址变换后的实存页号也就固定了。那么不论虚地址如何出错，也只能影响到相对的几个主存页面。不会侵犯其他程序空间。</a:t>
            </a:r>
            <a:endParaRPr lang="zh-CN" altLang="en-US" sz="2400" b="1" dirty="0">
              <a:solidFill>
                <a:schemeClr val="tx1"/>
              </a:solidFill>
              <a:latin typeface="楷体_GB2312" pitchFamily="1" charset="-122"/>
              <a:ea typeface="楷体_GB2312" pitchFamily="1" charset="-122"/>
            </a:endParaRPr>
          </a:p>
          <a:p>
            <a:pPr marL="0" indent="0" eaLnBrk="1" hangingPunct="1">
              <a:lnSpc>
                <a:spcPct val="90000"/>
              </a:lnSpc>
            </a:pPr>
            <a:r>
              <a:rPr lang="zh-CN" altLang="en-US" sz="2400" b="1" dirty="0">
                <a:solidFill>
                  <a:schemeClr val="tx1"/>
                </a:solidFill>
                <a:latin typeface="楷体_GB2312" pitchFamily="1" charset="-122"/>
                <a:ea typeface="楷体_GB2312" pitchFamily="1" charset="-122"/>
              </a:rPr>
              <a:t>段表和页表的保护功能相同，但段表中除包括段表起点外，还包括段长（如图示可判断越界中断）。</a:t>
            </a:r>
            <a:endParaRPr lang="zh-CN" altLang="en-US" sz="2400" b="1" dirty="0">
              <a:solidFill>
                <a:schemeClr val="tx1"/>
              </a:solidFill>
              <a:latin typeface="楷体_GB2312" pitchFamily="1" charset="-122"/>
              <a:ea typeface="楷体_GB2312" pitchFamily="1" charset="-122"/>
            </a:endParaRPr>
          </a:p>
        </p:txBody>
      </p:sp>
      <p:pic>
        <p:nvPicPr>
          <p:cNvPr id="177155" name="Picture 3" descr="页表保护"/>
          <p:cNvPicPr>
            <a:picLocks noChangeAspect="1"/>
          </p:cNvPicPr>
          <p:nvPr/>
        </p:nvPicPr>
        <p:blipFill>
          <a:blip r:embed="rId1"/>
          <a:stretch>
            <a:fillRect/>
          </a:stretch>
        </p:blipFill>
        <p:spPr>
          <a:xfrm>
            <a:off x="3997325" y="0"/>
            <a:ext cx="5148263" cy="4365625"/>
          </a:xfrm>
          <a:prstGeom prst="rect">
            <a:avLst/>
          </a:prstGeom>
          <a:noFill/>
          <a:ln w="9525">
            <a:noFill/>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p:cNvSpPr>
          <p:nvPr>
            <p:ph type="body" idx="4294967295"/>
          </p:nvPr>
        </p:nvSpPr>
        <p:spPr>
          <a:xfrm>
            <a:off x="306388" y="1906588"/>
            <a:ext cx="8947150" cy="4837112"/>
          </a:xfrm>
          <a:ln/>
        </p:spPr>
        <p:txBody>
          <a:bodyPr vert="horz" wrap="square" lIns="91440" tIns="45720" rIns="91440" bIns="45720" anchor="t" anchorCtr="0"/>
          <a:p>
            <a:pPr eaLnBrk="1" hangingPunct="1">
              <a:lnSpc>
                <a:spcPct val="90000"/>
              </a:lnSpc>
            </a:pPr>
            <a:endParaRPr lang="zh-CN" altLang="en-US" sz="3600" b="1" dirty="0">
              <a:solidFill>
                <a:srgbClr val="993366"/>
              </a:solidFill>
              <a:latin typeface="华文新魏" panose="02010800040101010101" pitchFamily="2" charset="-122"/>
              <a:ea typeface="华文新魏" panose="02010800040101010101" pitchFamily="2" charset="-122"/>
            </a:endParaRPr>
          </a:p>
          <a:p>
            <a:pPr eaLnBrk="1" hangingPunct="1">
              <a:lnSpc>
                <a:spcPct val="90000"/>
              </a:lnSpc>
            </a:pP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latin typeface="楷体_GB2312" pitchFamily="1" charset="-122"/>
                <a:ea typeface="楷体_GB2312" pitchFamily="1" charset="-122"/>
              </a:rPr>
              <a:t>这种方法是为主存的每一页配一个键，称为</a:t>
            </a:r>
            <a:r>
              <a:rPr lang="zh-CN" altLang="en-US" sz="2800" b="1" dirty="0">
                <a:solidFill>
                  <a:srgbClr val="993366"/>
                </a:solidFill>
                <a:latin typeface="楷体_GB2312" pitchFamily="1" charset="-122"/>
                <a:ea typeface="楷体_GB2312" pitchFamily="1" charset="-122"/>
              </a:rPr>
              <a:t>存储键</a:t>
            </a:r>
            <a:r>
              <a:rPr lang="zh-CN" altLang="en-US" sz="2800" b="1" dirty="0">
                <a:latin typeface="楷体_GB2312" pitchFamily="1" charset="-122"/>
                <a:ea typeface="楷体_GB2312" pitchFamily="1" charset="-122"/>
              </a:rPr>
              <a:t>，相当于一把</a:t>
            </a:r>
            <a:r>
              <a:rPr lang="zh-CN" altLang="en-US" sz="2800" b="1" dirty="0">
                <a:ea typeface="楷体_GB2312" pitchFamily="1" charset="-122"/>
              </a:rPr>
              <a:t>“</a:t>
            </a:r>
            <a:r>
              <a:rPr lang="zh-CN" altLang="en-US" sz="2800" b="1" dirty="0">
                <a:latin typeface="楷体_GB2312" pitchFamily="1" charset="-122"/>
                <a:ea typeface="楷体_GB2312" pitchFamily="1" charset="-122"/>
              </a:rPr>
              <a:t>锁</a:t>
            </a:r>
            <a:r>
              <a:rPr lang="zh-CN" altLang="en-US" sz="2800" b="1" dirty="0">
                <a:ea typeface="楷体_GB2312" pitchFamily="1" charset="-122"/>
              </a:rPr>
              <a:t>”</a:t>
            </a:r>
            <a:r>
              <a:rPr lang="zh-CN" altLang="en-US" sz="2800" b="1" dirty="0">
                <a:latin typeface="楷体_GB2312" pitchFamily="1" charset="-122"/>
                <a:ea typeface="楷体_GB2312" pitchFamily="1" charset="-122"/>
              </a:rPr>
              <a:t>。为了打开这个锁,必须有钥匙，称为</a:t>
            </a:r>
            <a:r>
              <a:rPr lang="zh-CN" altLang="en-US" sz="2800" b="1" dirty="0">
                <a:solidFill>
                  <a:srgbClr val="993366"/>
                </a:solidFill>
                <a:latin typeface="楷体_GB2312" pitchFamily="1" charset="-122"/>
                <a:ea typeface="楷体_GB2312" pitchFamily="1" charset="-122"/>
              </a:rPr>
              <a:t>访问键</a:t>
            </a:r>
            <a:r>
              <a:rPr lang="zh-CN" altLang="en-US" sz="2800" b="1" dirty="0">
                <a:latin typeface="楷体_GB2312" pitchFamily="1" charset="-122"/>
                <a:ea typeface="楷体_GB2312" pitchFamily="1" charset="-122"/>
              </a:rPr>
              <a:t>。</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latin typeface="楷体_GB2312" pitchFamily="1" charset="-122"/>
                <a:ea typeface="楷体_GB2312" pitchFamily="1" charset="-122"/>
              </a:rPr>
              <a:t>    访问键赋予每道程序，并保存在该道程序的状态寄存器中。当数据要写入主存的某一页时，访问键要与存储键相比较。若两键相符，则允许访问该页，否则拒绝访问。</a:t>
            </a:r>
            <a:endParaRPr lang="zh-CN" altLang="en-US" sz="2800" b="1" dirty="0">
              <a:latin typeface="楷体_GB2312" pitchFamily="1" charset="-122"/>
              <a:ea typeface="楷体_GB2312" pitchFamily="1" charset="-122"/>
            </a:endParaRPr>
          </a:p>
          <a:p>
            <a:pPr eaLnBrk="1" hangingPunct="1">
              <a:lnSpc>
                <a:spcPct val="90000"/>
              </a:lnSpc>
            </a:pPr>
            <a:r>
              <a:rPr lang="zh-CN" altLang="en-US" sz="2800" b="1" dirty="0">
                <a:latin typeface="楷体_GB2312" pitchFamily="1" charset="-122"/>
                <a:ea typeface="楷体_GB2312" pitchFamily="1" charset="-122"/>
              </a:rPr>
              <a:t>    另外还有</a:t>
            </a:r>
            <a:r>
              <a:rPr lang="zh-CN" altLang="en-US" sz="2800" b="1" dirty="0">
                <a:solidFill>
                  <a:srgbClr val="993366"/>
                </a:solidFill>
                <a:latin typeface="楷体_GB2312" pitchFamily="1" charset="-122"/>
                <a:ea typeface="楷体_GB2312" pitchFamily="1" charset="-122"/>
              </a:rPr>
              <a:t>取数保护键</a:t>
            </a:r>
            <a:r>
              <a:rPr lang="zh-CN" altLang="en-US" sz="2800" b="1" dirty="0">
                <a:latin typeface="楷体_GB2312" pitchFamily="1" charset="-122"/>
                <a:ea typeface="楷体_GB2312" pitchFamily="1" charset="-122"/>
              </a:rPr>
              <a:t>，为每个页面设置一个取数键寄存器。</a:t>
            </a:r>
            <a:endParaRPr lang="zh-CN" altLang="en-US" sz="2800" b="1" dirty="0">
              <a:latin typeface="楷体_GB2312" pitchFamily="1" charset="-122"/>
              <a:ea typeface="楷体_GB2312" pitchFamily="1" charset="-122"/>
            </a:endParaRPr>
          </a:p>
        </p:txBody>
      </p:sp>
      <p:pic>
        <p:nvPicPr>
          <p:cNvPr id="178179" name="Picture 3" descr="键保护"/>
          <p:cNvPicPr>
            <a:picLocks noChangeAspect="1"/>
          </p:cNvPicPr>
          <p:nvPr/>
        </p:nvPicPr>
        <p:blipFill>
          <a:blip r:embed="rId1"/>
          <a:stretch>
            <a:fillRect/>
          </a:stretch>
        </p:blipFill>
        <p:spPr>
          <a:xfrm>
            <a:off x="3492500" y="1588"/>
            <a:ext cx="5653088" cy="2925762"/>
          </a:xfrm>
          <a:prstGeom prst="rect">
            <a:avLst/>
          </a:prstGeom>
          <a:noFill/>
          <a:ln w="9525">
            <a:noFill/>
          </a:ln>
        </p:spPr>
      </p:pic>
      <p:sp>
        <p:nvSpPr>
          <p:cNvPr id="178180" name="Text Box 4"/>
          <p:cNvSpPr txBox="1"/>
          <p:nvPr/>
        </p:nvSpPr>
        <p:spPr>
          <a:xfrm>
            <a:off x="293688" y="1033463"/>
            <a:ext cx="3270250" cy="6397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666699"/>
                </a:solidFill>
                <a:latin typeface="+mn-lt"/>
                <a:ea typeface="+mn-ea"/>
                <a:cs typeface="+mn-cs"/>
              </a:defRPr>
            </a:lvl5pPr>
          </a:lstStyle>
          <a:p>
            <a:pPr marL="0" lvl="0" indent="0" eaLnBrk="1" hangingPunct="1">
              <a:spcBef>
                <a:spcPct val="0"/>
              </a:spcBef>
              <a:buNone/>
            </a:pPr>
            <a:r>
              <a:rPr lang="zh-CN" altLang="en-US" sz="3600" b="1" dirty="0">
                <a:solidFill>
                  <a:srgbClr val="993366"/>
                </a:solidFill>
                <a:latin typeface="华文新魏" panose="02010800040101010101" pitchFamily="2" charset="-122"/>
                <a:ea typeface="华文新魏" panose="02010800040101010101" pitchFamily="2" charset="-122"/>
              </a:rPr>
              <a:t>2. 键保护方式</a:t>
            </a:r>
            <a:endParaRPr lang="zh-CN" altLang="en-US" sz="3600" b="1" dirty="0">
              <a:solidFill>
                <a:srgbClr val="993366"/>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body" idx="4294967295"/>
          </p:nvPr>
        </p:nvSpPr>
        <p:spPr>
          <a:xfrm>
            <a:off x="381000" y="1828800"/>
            <a:ext cx="8229600" cy="4495800"/>
          </a:xfrm>
          <a:ln/>
        </p:spPr>
        <p:txBody>
          <a:bodyPr vert="horz" wrap="square" lIns="91440" tIns="45720" rIns="91440" bIns="45720" anchor="t" anchorCtr="0"/>
          <a:p>
            <a:pPr marL="0" indent="0" eaLnBrk="1" hangingPunct="1">
              <a:lnSpc>
                <a:spcPct val="90000"/>
              </a:lnSpc>
              <a:buNone/>
            </a:pPr>
            <a:r>
              <a:rPr lang="zh-CN" altLang="en-US" sz="3600" b="1" dirty="0">
                <a:solidFill>
                  <a:srgbClr val="993366"/>
                </a:solidFill>
                <a:latin typeface="华文新魏" panose="02010800040101010101" pitchFamily="2" charset="-122"/>
                <a:ea typeface="华文新魏" panose="02010800040101010101" pitchFamily="2" charset="-122"/>
              </a:rPr>
              <a:t>3. 环保护方式</a:t>
            </a:r>
            <a:endParaRPr lang="zh-CN" altLang="en-US" sz="3600" b="1" dirty="0">
              <a:solidFill>
                <a:srgbClr val="993366"/>
              </a:solidFill>
              <a:latin typeface="华文新魏" panose="02010800040101010101" pitchFamily="2" charset="-122"/>
              <a:ea typeface="华文新魏" panose="02010800040101010101" pitchFamily="2" charset="-122"/>
            </a:endParaRPr>
          </a:p>
          <a:p>
            <a:pPr marL="0" indent="0" eaLnBrk="1" hangingPunct="1">
              <a:lnSpc>
                <a:spcPct val="90000"/>
              </a:lnSpc>
            </a:pPr>
            <a:r>
              <a:rPr lang="zh-CN" altLang="en-US" sz="2800" b="1" dirty="0">
                <a:latin typeface="楷体_GB2312" pitchFamily="1" charset="-122"/>
                <a:ea typeface="楷体_GB2312" pitchFamily="1" charset="-122"/>
              </a:rPr>
              <a:t>环保护方式可以做到对正在执行的程序本身的核心部分或关键部分进行保护。它是按</a:t>
            </a:r>
            <a:r>
              <a:rPr lang="zh-CN" altLang="en-US" sz="2800" b="1" dirty="0">
                <a:solidFill>
                  <a:srgbClr val="993366"/>
                </a:solidFill>
                <a:latin typeface="楷体_GB2312" pitchFamily="1" charset="-122"/>
                <a:ea typeface="楷体_GB2312" pitchFamily="1" charset="-122"/>
              </a:rPr>
              <a:t>系统程序和用户程序的重要性</a:t>
            </a:r>
            <a:r>
              <a:rPr lang="zh-CN" altLang="en-US" sz="2800" b="1" dirty="0">
                <a:latin typeface="楷体_GB2312" pitchFamily="1" charset="-122"/>
                <a:ea typeface="楷体_GB2312" pitchFamily="1" charset="-122"/>
              </a:rPr>
              <a:t>及</a:t>
            </a:r>
            <a:r>
              <a:rPr lang="zh-CN" altLang="en-US" sz="2800" b="1" dirty="0">
                <a:solidFill>
                  <a:srgbClr val="993366"/>
                </a:solidFill>
                <a:latin typeface="楷体_GB2312" pitchFamily="1" charset="-122"/>
                <a:ea typeface="楷体_GB2312" pitchFamily="1" charset="-122"/>
              </a:rPr>
              <a:t>对整个系统的正常运行的影响程度</a:t>
            </a:r>
            <a:r>
              <a:rPr lang="zh-CN" altLang="en-US" sz="2800" b="1" dirty="0">
                <a:latin typeface="楷体_GB2312" pitchFamily="1" charset="-122"/>
                <a:ea typeface="楷体_GB2312" pitchFamily="1" charset="-122"/>
              </a:rPr>
              <a:t>进行分层，每一层叫做一个环。</a:t>
            </a:r>
            <a:endParaRPr lang="zh-CN" altLang="en-US" sz="2800" b="1" dirty="0">
              <a:latin typeface="楷体_GB2312" pitchFamily="1" charset="-122"/>
              <a:ea typeface="楷体_GB2312" pitchFamily="1" charset="-122"/>
            </a:endParaRPr>
          </a:p>
          <a:p>
            <a:pPr marL="0" indent="0" eaLnBrk="1" hangingPunct="1">
              <a:lnSpc>
                <a:spcPct val="90000"/>
              </a:lnSpc>
            </a:pPr>
            <a:r>
              <a:rPr lang="zh-CN" altLang="en-US" sz="2800" b="1" dirty="0">
                <a:latin typeface="楷体_GB2312" pitchFamily="1" charset="-122"/>
                <a:ea typeface="楷体_GB2312" pitchFamily="1" charset="-122"/>
              </a:rPr>
              <a:t>在现行程序运行前由操作系统定好程序各页的环号，并置入页表中。然后把该道程序的开始环号送入CPU的</a:t>
            </a:r>
            <a:r>
              <a:rPr lang="zh-CN" altLang="en-US" sz="2800" b="1" dirty="0">
                <a:solidFill>
                  <a:srgbClr val="993366"/>
                </a:solidFill>
                <a:latin typeface="楷体_GB2312" pitchFamily="1" charset="-122"/>
                <a:ea typeface="楷体_GB2312" pitchFamily="1" charset="-122"/>
              </a:rPr>
              <a:t>现行环号寄存器</a:t>
            </a:r>
            <a:r>
              <a:rPr lang="zh-CN" altLang="en-US" sz="2800" b="1" dirty="0">
                <a:latin typeface="楷体_GB2312" pitchFamily="1" charset="-122"/>
                <a:ea typeface="楷体_GB2312" pitchFamily="1" charset="-122"/>
              </a:rPr>
              <a:t>。程序可以访问任何外层空间；访问内层空间则需</a:t>
            </a:r>
            <a:r>
              <a:rPr lang="zh-CN" altLang="en-US" sz="2800" b="1" dirty="0">
                <a:solidFill>
                  <a:srgbClr val="993366"/>
                </a:solidFill>
                <a:latin typeface="楷体_GB2312" pitchFamily="1" charset="-122"/>
                <a:ea typeface="楷体_GB2312" pitchFamily="1" charset="-122"/>
              </a:rPr>
              <a:t>由操作系统的环控例行程序判断这个向内访问是否合法</a:t>
            </a:r>
            <a:r>
              <a:rPr lang="zh-CN" altLang="en-US" sz="2800" b="1" dirty="0">
                <a:latin typeface="楷体_GB2312" pitchFamily="1" charset="-122"/>
                <a:ea typeface="楷体_GB2312" pitchFamily="1" charset="-122"/>
              </a:rPr>
              <a:t>。</a:t>
            </a:r>
            <a:endParaRPr lang="zh-CN" altLang="en-US" sz="2800" b="1" dirty="0">
              <a:latin typeface="楷体_GB2312" pitchFamily="1" charset="-122"/>
              <a:ea typeface="楷体_GB2312" pitchFamily="1" charset="-122"/>
            </a:endParaRPr>
          </a:p>
        </p:txBody>
      </p:sp>
      <p:pic>
        <p:nvPicPr>
          <p:cNvPr id="179203" name="Picture 3" descr="环保护"/>
          <p:cNvPicPr>
            <a:picLocks noChangeAspect="1"/>
          </p:cNvPicPr>
          <p:nvPr/>
        </p:nvPicPr>
        <p:blipFill>
          <a:blip r:embed="rId1">
            <a:clrChange>
              <a:clrFrom>
                <a:srgbClr val="FFFFFF"/>
              </a:clrFrom>
              <a:clrTo>
                <a:srgbClr val="FFFFFF">
                  <a:alpha val="0"/>
                </a:srgbClr>
              </a:clrTo>
            </a:clrChange>
          </a:blip>
          <a:stretch>
            <a:fillRect/>
          </a:stretch>
        </p:blipFill>
        <p:spPr>
          <a:xfrm>
            <a:off x="5334000" y="0"/>
            <a:ext cx="3810000" cy="2503488"/>
          </a:xfrm>
          <a:prstGeom prst="rect">
            <a:avLst/>
          </a:prstGeom>
          <a:noFill/>
          <a:ln w="9525">
            <a:noFill/>
          </a:ln>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body" idx="4294967295"/>
          </p:nvPr>
        </p:nvSpPr>
        <p:spPr>
          <a:xfrm>
            <a:off x="457200" y="1125538"/>
            <a:ext cx="8229600" cy="4876800"/>
          </a:xfrm>
          <a:ln/>
        </p:spPr>
        <p:txBody>
          <a:bodyPr vert="horz" wrap="square" lIns="91440" tIns="45720" rIns="91440" bIns="45720" anchor="t" anchorCtr="0"/>
          <a:p>
            <a:pPr eaLnBrk="1" hangingPunct="1">
              <a:buNone/>
            </a:pPr>
            <a:r>
              <a:rPr lang="zh-CN" altLang="en-US" sz="4000" dirty="0">
                <a:solidFill>
                  <a:srgbClr val="993366"/>
                </a:solidFill>
                <a:latin typeface="华文新魏" panose="02010800040101010101" pitchFamily="2" charset="-122"/>
                <a:ea typeface="华文新魏" panose="02010800040101010101" pitchFamily="2" charset="-122"/>
              </a:rPr>
              <a:t>访问方式保护　</a:t>
            </a:r>
            <a:r>
              <a:rPr lang="zh-CN" altLang="en-US" b="1" i="1" dirty="0">
                <a:solidFill>
                  <a:srgbClr val="0000FF"/>
                </a:solidFill>
              </a:rPr>
              <a:t>　　　　　　　　</a:t>
            </a:r>
            <a:r>
              <a:rPr lang="zh-CN" altLang="en-US" b="1" i="1" dirty="0">
                <a:solidFill>
                  <a:srgbClr val="0000FF"/>
                </a:solidFill>
                <a:hlinkClick r:id="rId1" action="ppaction://hlinkfile"/>
              </a:rPr>
              <a:t> </a:t>
            </a:r>
            <a:endParaRPr lang="zh-CN" altLang="en-US" b="1" dirty="0"/>
          </a:p>
          <a:p>
            <a:pPr eaLnBrk="1" hangingPunct="1"/>
            <a:r>
              <a:rPr lang="zh-CN" altLang="en-US" dirty="0"/>
              <a:t>　　</a:t>
            </a:r>
            <a:r>
              <a:rPr lang="zh-CN" altLang="en-US" sz="2800" b="1" dirty="0">
                <a:latin typeface="楷体_GB2312" pitchFamily="1" charset="-122"/>
                <a:ea typeface="楷体_GB2312" pitchFamily="1" charset="-122"/>
              </a:rPr>
              <a:t>对主存信息的使用可以有三种方式:读(R)、写(W)和执行(E),相应的访问方式保护就有R，W，E三种方式形成的逻辑组合.这些访问方式保护通常作为程序状态寄存器的保护位，并且和区域保护结合起来实现。</a:t>
            </a:r>
            <a:endParaRPr lang="zh-CN" altLang="en-US" sz="2800" b="1" dirty="0">
              <a:latin typeface="楷体_GB2312" pitchFamily="1" charset="-122"/>
              <a:ea typeface="楷体_GB2312" pitchFamily="1" charset="-122"/>
            </a:endParaRPr>
          </a:p>
        </p:txBody>
      </p:sp>
      <p:pic>
        <p:nvPicPr>
          <p:cNvPr id="180227" name="Picture 3" descr="访问方式保护"/>
          <p:cNvPicPr>
            <a:picLocks noChangeAspect="1"/>
          </p:cNvPicPr>
          <p:nvPr/>
        </p:nvPicPr>
        <p:blipFill>
          <a:blip r:embed="rId2"/>
          <a:stretch>
            <a:fillRect/>
          </a:stretch>
        </p:blipFill>
        <p:spPr>
          <a:xfrm>
            <a:off x="457200" y="4114800"/>
            <a:ext cx="8394700" cy="1905000"/>
          </a:xfrm>
          <a:prstGeom prst="rect">
            <a:avLst/>
          </a:prstGeom>
          <a:noFill/>
          <a:ln w="9525">
            <a:noFill/>
          </a:ln>
        </p:spPr>
      </p:pic>
    </p:spTree>
  </p:cSld>
  <p:clrMapOvr>
    <a:masterClrMapping/>
  </p:clrMapOvr>
</p:sld>
</file>

<file path=ppt/theme/theme1.xml><?xml version="1.0" encoding="utf-8"?>
<a:theme xmlns:a="http://schemas.openxmlformats.org/drawingml/2006/main" name="Ribbons">
  <a:themeElements>
    <a:clrScheme name="Ribbons 3">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2E2E2"/>
      </a:accent5>
      <a:accent6>
        <a:srgbClr val="878787"/>
      </a:accent6>
      <a:hlink>
        <a:srgbClr val="333333"/>
      </a:hlink>
      <a:folHlink>
        <a:srgbClr val="777777"/>
      </a:folHlink>
    </a:clrScheme>
    <a:fontScheme name="Ribbon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400" b="0"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400" b="0"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defRPr>
        </a:defPPr>
      </a:lstStyle>
    </a:lnDef>
  </a:objectDefaults>
  <a:extraClrSchemeLst>
    <a:extraClrScheme>
      <a:clrScheme name="Ribbons 1">
        <a:dk1>
          <a:srgbClr val="220011"/>
        </a:dk1>
        <a:lt1>
          <a:srgbClr val="FFFFCC"/>
        </a:lt1>
        <a:dk2>
          <a:srgbClr val="660033"/>
        </a:dk2>
        <a:lt2>
          <a:srgbClr val="FFCC00"/>
        </a:lt2>
        <a:accent1>
          <a:srgbClr val="CC0099"/>
        </a:accent1>
        <a:accent2>
          <a:srgbClr val="56002B"/>
        </a:accent2>
        <a:accent3>
          <a:srgbClr val="B8AAAD"/>
        </a:accent3>
        <a:accent4>
          <a:srgbClr val="DADAAE"/>
        </a:accent4>
        <a:accent5>
          <a:srgbClr val="E2AACA"/>
        </a:accent5>
        <a:accent6>
          <a:srgbClr val="4D0026"/>
        </a:accent6>
        <a:hlink>
          <a:srgbClr val="9C004E"/>
        </a:hlink>
        <a:folHlink>
          <a:srgbClr val="FF6600"/>
        </a:folHlink>
      </a:clrScheme>
      <a:clrMap bg1="dk2" tx1="lt1" bg2="dk1" tx2="lt2" accent1="accent1" accent2="accent2" accent3="accent3" accent4="accent4" accent5="accent5" accent6="accent6" hlink="hlink" folHlink="folHlink"/>
    </a:extraClrScheme>
    <a:extraClrScheme>
      <a:clrScheme name="Ribbons 2">
        <a:dk1>
          <a:srgbClr val="001600"/>
        </a:dk1>
        <a:lt1>
          <a:srgbClr val="669900"/>
        </a:lt1>
        <a:dk2>
          <a:srgbClr val="000000"/>
        </a:dk2>
        <a:lt2>
          <a:srgbClr val="006600"/>
        </a:lt2>
        <a:accent1>
          <a:srgbClr val="336600"/>
        </a:accent1>
        <a:accent2>
          <a:srgbClr val="89BA00"/>
        </a:accent2>
        <a:accent3>
          <a:srgbClr val="B8CAAA"/>
        </a:accent3>
        <a:accent4>
          <a:srgbClr val="001100"/>
        </a:accent4>
        <a:accent5>
          <a:srgbClr val="ADB8AA"/>
        </a:accent5>
        <a:accent6>
          <a:srgbClr val="7CA800"/>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Ribbons 3">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2E2E2"/>
        </a:accent5>
        <a:accent6>
          <a:srgbClr val="878787"/>
        </a:accent6>
        <a:hlink>
          <a:srgbClr val="333333"/>
        </a:hlink>
        <a:folHlink>
          <a:srgbClr val="777777"/>
        </a:folHlink>
      </a:clrScheme>
      <a:clrMap bg1="lt1" tx1="dk1" bg2="lt2" tx2="dk2" accent1="accent1" accent2="accent2" accent3="accent3" accent4="accent4" accent5="accent5" accent6="accent6" hlink="hlink" folHlink="folHlink"/>
    </a:extraClrScheme>
    <a:extraClrScheme>
      <a:clrScheme name="Ribbons 4">
        <a:dk1>
          <a:srgbClr val="000F1E"/>
        </a:dk1>
        <a:lt1>
          <a:srgbClr val="FFFFFF"/>
        </a:lt1>
        <a:dk2>
          <a:srgbClr val="003366"/>
        </a:dk2>
        <a:lt2>
          <a:srgbClr val="33CCCC"/>
        </a:lt2>
        <a:accent1>
          <a:srgbClr val="006699"/>
        </a:accent1>
        <a:accent2>
          <a:srgbClr val="003366"/>
        </a:accent2>
        <a:accent3>
          <a:srgbClr val="AAADB8"/>
        </a:accent3>
        <a:accent4>
          <a:srgbClr val="DADADA"/>
        </a:accent4>
        <a:accent5>
          <a:srgbClr val="AAB8CA"/>
        </a:accent5>
        <a:accent6>
          <a:srgbClr val="002D5C"/>
        </a:accent6>
        <a:hlink>
          <a:srgbClr val="0099CC"/>
        </a:hlink>
        <a:folHlink>
          <a:srgbClr val="009999"/>
        </a:folHlink>
      </a:clrScheme>
      <a:clrMap bg1="dk2" tx1="lt1" bg2="dk1" tx2="lt2" accent1="accent1" accent2="accent2" accent3="accent3" accent4="accent4" accent5="accent5" accent6="accent6" hlink="hlink" folHlink="folHlink"/>
    </a:extraClrScheme>
    <a:extraClrScheme>
      <a:clrScheme name="Ribbons 5">
        <a:dk1>
          <a:srgbClr val="002F2E"/>
        </a:dk1>
        <a:lt1>
          <a:srgbClr val="FFFFFF"/>
        </a:lt1>
        <a:dk2>
          <a:srgbClr val="008080"/>
        </a:dk2>
        <a:lt2>
          <a:srgbClr val="66FFCC"/>
        </a:lt2>
        <a:accent1>
          <a:srgbClr val="0099CC"/>
        </a:accent1>
        <a:accent2>
          <a:srgbClr val="005250"/>
        </a:accent2>
        <a:accent3>
          <a:srgbClr val="AAC0C0"/>
        </a:accent3>
        <a:accent4>
          <a:srgbClr val="DADADA"/>
        </a:accent4>
        <a:accent5>
          <a:srgbClr val="AACAE2"/>
        </a:accent5>
        <a:accent6>
          <a:srgbClr val="004948"/>
        </a:accent6>
        <a:hlink>
          <a:srgbClr val="00CC99"/>
        </a:hlink>
        <a:folHlink>
          <a:srgbClr val="009999"/>
        </a:folHlink>
      </a:clrScheme>
      <a:clrMap bg1="dk2" tx1="lt1" bg2="dk1" tx2="lt2" accent1="accent1" accent2="accent2" accent3="accent3" accent4="accent4" accent5="accent5" accent6="accent6" hlink="hlink" folHlink="folHlink"/>
    </a:extraClrScheme>
    <a:extraClrScheme>
      <a:clrScheme name="Ribbons 6">
        <a:dk1>
          <a:srgbClr val="000022"/>
        </a:dk1>
        <a:lt1>
          <a:srgbClr val="FFFFFF"/>
        </a:lt1>
        <a:dk2>
          <a:srgbClr val="000066"/>
        </a:dk2>
        <a:lt2>
          <a:srgbClr val="FFCC00"/>
        </a:lt2>
        <a:accent1>
          <a:srgbClr val="666699"/>
        </a:accent1>
        <a:accent2>
          <a:srgbClr val="000048"/>
        </a:accent2>
        <a:accent3>
          <a:srgbClr val="AAAAB8"/>
        </a:accent3>
        <a:accent4>
          <a:srgbClr val="DADADA"/>
        </a:accent4>
        <a:accent5>
          <a:srgbClr val="B8B8CA"/>
        </a:accent5>
        <a:accent6>
          <a:srgbClr val="000040"/>
        </a:accent6>
        <a:hlink>
          <a:srgbClr val="9999FF"/>
        </a:hlink>
        <a:folHlink>
          <a:srgbClr val="0000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ibbons">
  <a:themeElements>
    <a:clrScheme name="1_Ribbons 3">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2E2E2"/>
      </a:accent5>
      <a:accent6>
        <a:srgbClr val="878787"/>
      </a:accent6>
      <a:hlink>
        <a:srgbClr val="333333"/>
      </a:hlink>
      <a:folHlink>
        <a:srgbClr val="777777"/>
      </a:folHlink>
    </a:clrScheme>
    <a:fontScheme name="1_Ribbon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400" b="0"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400" b="0"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defRPr>
        </a:defPPr>
      </a:lstStyle>
    </a:lnDef>
  </a:objectDefaults>
  <a:extraClrSchemeLst>
    <a:extraClrScheme>
      <a:clrScheme name="1_Ribbons 1">
        <a:dk1>
          <a:srgbClr val="220011"/>
        </a:dk1>
        <a:lt1>
          <a:srgbClr val="FFFFCC"/>
        </a:lt1>
        <a:dk2>
          <a:srgbClr val="660033"/>
        </a:dk2>
        <a:lt2>
          <a:srgbClr val="FFCC00"/>
        </a:lt2>
        <a:accent1>
          <a:srgbClr val="CC0099"/>
        </a:accent1>
        <a:accent2>
          <a:srgbClr val="56002B"/>
        </a:accent2>
        <a:accent3>
          <a:srgbClr val="B8AAAD"/>
        </a:accent3>
        <a:accent4>
          <a:srgbClr val="DADAAE"/>
        </a:accent4>
        <a:accent5>
          <a:srgbClr val="E2AACA"/>
        </a:accent5>
        <a:accent6>
          <a:srgbClr val="4D0026"/>
        </a:accent6>
        <a:hlink>
          <a:srgbClr val="9C004E"/>
        </a:hlink>
        <a:folHlink>
          <a:srgbClr val="FF6600"/>
        </a:folHlink>
      </a:clrScheme>
      <a:clrMap bg1="dk2" tx1="lt1" bg2="dk1" tx2="lt2" accent1="accent1" accent2="accent2" accent3="accent3" accent4="accent4" accent5="accent5" accent6="accent6" hlink="hlink" folHlink="folHlink"/>
    </a:extraClrScheme>
    <a:extraClrScheme>
      <a:clrScheme name="1_Ribbons 2">
        <a:dk1>
          <a:srgbClr val="001600"/>
        </a:dk1>
        <a:lt1>
          <a:srgbClr val="669900"/>
        </a:lt1>
        <a:dk2>
          <a:srgbClr val="000000"/>
        </a:dk2>
        <a:lt2>
          <a:srgbClr val="006600"/>
        </a:lt2>
        <a:accent1>
          <a:srgbClr val="336600"/>
        </a:accent1>
        <a:accent2>
          <a:srgbClr val="89BA00"/>
        </a:accent2>
        <a:accent3>
          <a:srgbClr val="B8CAAA"/>
        </a:accent3>
        <a:accent4>
          <a:srgbClr val="001100"/>
        </a:accent4>
        <a:accent5>
          <a:srgbClr val="ADB8AA"/>
        </a:accent5>
        <a:accent6>
          <a:srgbClr val="7CA800"/>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1_Ribbons 3">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2E2E2"/>
        </a:accent5>
        <a:accent6>
          <a:srgbClr val="878787"/>
        </a:accent6>
        <a:hlink>
          <a:srgbClr val="333333"/>
        </a:hlink>
        <a:folHlink>
          <a:srgbClr val="777777"/>
        </a:folHlink>
      </a:clrScheme>
      <a:clrMap bg1="lt1" tx1="dk1" bg2="lt2" tx2="dk2" accent1="accent1" accent2="accent2" accent3="accent3" accent4="accent4" accent5="accent5" accent6="accent6" hlink="hlink" folHlink="folHlink"/>
    </a:extraClrScheme>
    <a:extraClrScheme>
      <a:clrScheme name="1_Ribbons 4">
        <a:dk1>
          <a:srgbClr val="000F1E"/>
        </a:dk1>
        <a:lt1>
          <a:srgbClr val="FFFFFF"/>
        </a:lt1>
        <a:dk2>
          <a:srgbClr val="003366"/>
        </a:dk2>
        <a:lt2>
          <a:srgbClr val="33CCCC"/>
        </a:lt2>
        <a:accent1>
          <a:srgbClr val="006699"/>
        </a:accent1>
        <a:accent2>
          <a:srgbClr val="003366"/>
        </a:accent2>
        <a:accent3>
          <a:srgbClr val="AAADB8"/>
        </a:accent3>
        <a:accent4>
          <a:srgbClr val="DADADA"/>
        </a:accent4>
        <a:accent5>
          <a:srgbClr val="AAB8CA"/>
        </a:accent5>
        <a:accent6>
          <a:srgbClr val="002D5C"/>
        </a:accent6>
        <a:hlink>
          <a:srgbClr val="0099CC"/>
        </a:hlink>
        <a:folHlink>
          <a:srgbClr val="009999"/>
        </a:folHlink>
      </a:clrScheme>
      <a:clrMap bg1="dk2" tx1="lt1" bg2="dk1" tx2="lt2" accent1="accent1" accent2="accent2" accent3="accent3" accent4="accent4" accent5="accent5" accent6="accent6" hlink="hlink" folHlink="folHlink"/>
    </a:extraClrScheme>
    <a:extraClrScheme>
      <a:clrScheme name="1_Ribbons 5">
        <a:dk1>
          <a:srgbClr val="002F2E"/>
        </a:dk1>
        <a:lt1>
          <a:srgbClr val="FFFFFF"/>
        </a:lt1>
        <a:dk2>
          <a:srgbClr val="008080"/>
        </a:dk2>
        <a:lt2>
          <a:srgbClr val="66FFCC"/>
        </a:lt2>
        <a:accent1>
          <a:srgbClr val="0099CC"/>
        </a:accent1>
        <a:accent2>
          <a:srgbClr val="005250"/>
        </a:accent2>
        <a:accent3>
          <a:srgbClr val="AAC0C0"/>
        </a:accent3>
        <a:accent4>
          <a:srgbClr val="DADADA"/>
        </a:accent4>
        <a:accent5>
          <a:srgbClr val="AACAE2"/>
        </a:accent5>
        <a:accent6>
          <a:srgbClr val="004948"/>
        </a:accent6>
        <a:hlink>
          <a:srgbClr val="00CC99"/>
        </a:hlink>
        <a:folHlink>
          <a:srgbClr val="009999"/>
        </a:folHlink>
      </a:clrScheme>
      <a:clrMap bg1="dk2" tx1="lt1" bg2="dk1" tx2="lt2" accent1="accent1" accent2="accent2" accent3="accent3" accent4="accent4" accent5="accent5" accent6="accent6" hlink="hlink" folHlink="folHlink"/>
    </a:extraClrScheme>
    <a:extraClrScheme>
      <a:clrScheme name="1_Ribbons 6">
        <a:dk1>
          <a:srgbClr val="000022"/>
        </a:dk1>
        <a:lt1>
          <a:srgbClr val="FFFFFF"/>
        </a:lt1>
        <a:dk2>
          <a:srgbClr val="000066"/>
        </a:dk2>
        <a:lt2>
          <a:srgbClr val="FFCC00"/>
        </a:lt2>
        <a:accent1>
          <a:srgbClr val="666699"/>
        </a:accent1>
        <a:accent2>
          <a:srgbClr val="000048"/>
        </a:accent2>
        <a:accent3>
          <a:srgbClr val="AAAAB8"/>
        </a:accent3>
        <a:accent4>
          <a:srgbClr val="DADADA"/>
        </a:accent4>
        <a:accent5>
          <a:srgbClr val="B8B8CA"/>
        </a:accent5>
        <a:accent6>
          <a:srgbClr val="000040"/>
        </a:accent6>
        <a:hlink>
          <a:srgbClr val="9999FF"/>
        </a:hlink>
        <a:folHlink>
          <a:srgbClr val="0000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Designs\Ribbons.pot</Template>
  <TotalTime>0</TotalTime>
  <Words>21769</Words>
  <Application>WPS 演示</Application>
  <PresentationFormat>全屏显示(4:3)</PresentationFormat>
  <Paragraphs>1790</Paragraphs>
  <Slides>157</Slides>
  <Notes>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4</vt:i4>
      </vt:variant>
      <vt:variant>
        <vt:lpstr>幻灯片标题</vt:lpstr>
      </vt:variant>
      <vt:variant>
        <vt:i4>157</vt:i4>
      </vt:variant>
    </vt:vector>
  </HeadingPairs>
  <TitlesOfParts>
    <vt:vector size="175" baseType="lpstr">
      <vt:lpstr>Arial</vt:lpstr>
      <vt:lpstr>宋体</vt:lpstr>
      <vt:lpstr>Wingdings</vt:lpstr>
      <vt:lpstr>Times New Roman</vt:lpstr>
      <vt:lpstr>华文新魏</vt:lpstr>
      <vt:lpstr>Tahoma</vt:lpstr>
      <vt:lpstr>楷体_GB2312</vt:lpstr>
      <vt:lpstr>新宋体</vt:lpstr>
      <vt:lpstr>Calibri</vt:lpstr>
      <vt:lpstr>Verdana</vt:lpstr>
      <vt:lpstr>微软雅黑</vt:lpstr>
      <vt:lpstr>Arial Unicode MS</vt:lpstr>
      <vt:lpstr>Ribbons</vt:lpstr>
      <vt:lpstr>1_Ribbons</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数学与计算机科学学院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计算机组成原理</dc:title>
  <dc:creator>zhjh</dc:creator>
  <cp:lastModifiedBy>顽石</cp:lastModifiedBy>
  <cp:revision>315</cp:revision>
  <dcterms:created xsi:type="dcterms:W3CDTF">2003-07-21T04:46:07Z</dcterms:created>
  <dcterms:modified xsi:type="dcterms:W3CDTF">2026-04-10T04:51:59Z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2052-12.1.0.20754</vt:lpwstr>
  </property>
  <property fmtid="{D5CDD505-2E9C-101B-9397-08002B2CF9AE}" pid="3" name="ICV">
    <vt:lpwstr>8418B769867743A1A2A2876B1AFE4314_12</vt:lpwstr>
  </property>
</Properties>
</file>