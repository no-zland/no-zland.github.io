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9900"/>
    <a:srgbClr val="00CC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页眉占位符 3891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38915" name="日期占位符 38914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strike="noStrike" noProof="1"/>
          </a:p>
        </p:txBody>
      </p:sp>
      <p:sp>
        <p:nvSpPr>
          <p:cNvPr id="12292" name="幻灯片图像占位符 3891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文本占位符 38916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8918" name="页脚占位符 3891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38919" name="灯片编号占位符 38918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  <p:sp>
        <p:nvSpPr>
          <p:cNvPr id="48130" name="幻灯片图像占位符 39937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文本占位符 39938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anchor="t" anchorCtr="0"/>
          <a:lstStyle/>
          <a:p>
            <a:pPr lvl="0"/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  <a:t>35</a:t>
            </a:fld>
            <a:endParaRPr lang="zh-CN" altLang="en-US" sz="1200" dirty="0"/>
          </a:p>
        </p:txBody>
      </p:sp>
      <p:sp>
        <p:nvSpPr>
          <p:cNvPr id="50178" name="幻灯片图像占位符 41985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文本占位符 41986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anchor="t" anchorCtr="0"/>
          <a:lstStyle/>
          <a:p>
            <a:pPr lvl="0"/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48129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051" name="组合 48135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052" name="椭圆 48136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3" name="椭圆 48137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4" name="椭圆 48138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5" name="椭圆 48139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6" name="椭圆 48140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7" name="椭圆 48141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8" name="椭圆 48142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9" name="椭圆 48143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0" name="椭圆 48144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1" name="椭圆 48145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2" name="椭圆 48146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3" name="椭圆 48147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4" name="椭圆 48148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5" name="椭圆 48149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6" name="椭圆 48150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7" name="椭圆 48151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8" name="椭圆 48152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9" name="椭圆 48153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0" name="椭圆 48154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1" name="椭圆 48155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2" name="椭圆 48156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3" name="椭圆 48157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4" name="椭圆 48158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5" name="椭圆 48159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6" name="椭圆 48160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7" name="椭圆 48161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8" name="椭圆 48162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9" name="椭圆 48163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0" name="椭圆 48164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1" name="椭圆 48165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2" name="椭圆 48166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83" name="直接连接符 48167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131" name="标题 48130"/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r">
              <a:buClrTx/>
              <a:buSzTx/>
              <a:buFontTx/>
              <a:defRPr sz="48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48132" name="副标题 48131"/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/>
            </a:lvl1pPr>
            <a:lvl2pPr marL="344805" lvl="1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/>
            </a:lvl2pPr>
            <a:lvl3pPr marL="69405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/>
            </a:lvl3pPr>
            <a:lvl4pPr marL="989330" lvl="3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/>
            </a:lvl4pPr>
            <a:lvl5pPr marL="1282700" lvl="4" indent="0" algn="ctr"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8133" name="日期占位符 48132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00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8134" name="页脚占位符 4813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8135" name="灯片编号占位符 4813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2504" cy="44116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719263"/>
            <a:ext cx="4032504" cy="44116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52930" cy="60086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47105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7" name="标题 47106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文本占位符 47107"/>
          <p:cNvSpPr>
            <a:spLocks noGrp="1"/>
          </p:cNvSpPr>
          <p:nvPr>
            <p:ph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7109" name="日期占位符 47108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2026/4/10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7110" name="页脚占位符 47109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7111" name="灯片编号占位符 47110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grpSp>
        <p:nvGrpSpPr>
          <p:cNvPr id="1032" name="组合 47111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椭圆 47112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" name="椭圆 47113"/>
            <p:cNvSpPr/>
            <p:nvPr/>
          </p:nvSpPr>
          <p:spPr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5" name="椭圆 47114"/>
            <p:cNvSpPr/>
            <p:nvPr/>
          </p:nvSpPr>
          <p:spPr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6" name="椭圆 47115"/>
            <p:cNvSpPr/>
            <p:nvPr/>
          </p:nvSpPr>
          <p:spPr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7" name="椭圆 47116"/>
            <p:cNvSpPr/>
            <p:nvPr/>
          </p:nvSpPr>
          <p:spPr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8" name="椭圆 47117"/>
            <p:cNvSpPr/>
            <p:nvPr/>
          </p:nvSpPr>
          <p:spPr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9" name="椭圆 47118"/>
            <p:cNvSpPr/>
            <p:nvPr/>
          </p:nvSpPr>
          <p:spPr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0" name="椭圆 47119"/>
            <p:cNvSpPr/>
            <p:nvPr/>
          </p:nvSpPr>
          <p:spPr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1" name="椭圆 47120"/>
            <p:cNvSpPr/>
            <p:nvPr/>
          </p:nvSpPr>
          <p:spPr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2" name="椭圆 47121"/>
            <p:cNvSpPr/>
            <p:nvPr/>
          </p:nvSpPr>
          <p:spPr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3" name="椭圆 47122"/>
            <p:cNvSpPr/>
            <p:nvPr/>
          </p:nvSpPr>
          <p:spPr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" name="椭圆 47123"/>
            <p:cNvSpPr/>
            <p:nvPr/>
          </p:nvSpPr>
          <p:spPr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5" name="椭圆 47124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6" name="椭圆 47125"/>
            <p:cNvSpPr/>
            <p:nvPr/>
          </p:nvSpPr>
          <p:spPr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7" name="椭圆 47126"/>
            <p:cNvSpPr/>
            <p:nvPr/>
          </p:nvSpPr>
          <p:spPr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8" name="椭圆 47127"/>
            <p:cNvSpPr/>
            <p:nvPr/>
          </p:nvSpPr>
          <p:spPr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9" name="椭圆 47128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0" name="椭圆 47129"/>
            <p:cNvSpPr/>
            <p:nvPr/>
          </p:nvSpPr>
          <p:spPr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1" name="椭圆 47130"/>
            <p:cNvSpPr/>
            <p:nvPr/>
          </p:nvSpPr>
          <p:spPr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2" name="椭圆 47131"/>
            <p:cNvSpPr/>
            <p:nvPr/>
          </p:nvSpPr>
          <p:spPr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3" name="椭圆 47132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" name="椭圆 47133"/>
            <p:cNvSpPr/>
            <p:nvPr/>
          </p:nvSpPr>
          <p:spPr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5" name="椭圆 47134"/>
            <p:cNvSpPr/>
            <p:nvPr/>
          </p:nvSpPr>
          <p:spPr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6" name="椭圆 47135"/>
            <p:cNvSpPr/>
            <p:nvPr/>
          </p:nvSpPr>
          <p:spPr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7" name="椭圆 47136"/>
            <p:cNvSpPr/>
            <p:nvPr/>
          </p:nvSpPr>
          <p:spPr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8" name="椭圆 47137"/>
            <p:cNvSpPr/>
            <p:nvPr/>
          </p:nvSpPr>
          <p:spPr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9" name="椭圆 47138"/>
            <p:cNvSpPr/>
            <p:nvPr/>
          </p:nvSpPr>
          <p:spPr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0" name="椭圆 47139"/>
            <p:cNvSpPr/>
            <p:nvPr/>
          </p:nvSpPr>
          <p:spPr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1" name="椭圆 47140"/>
            <p:cNvSpPr/>
            <p:nvPr/>
          </p:nvSpPr>
          <p:spPr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2" name="椭圆 47141"/>
            <p:cNvSpPr/>
            <p:nvPr/>
          </p:nvSpPr>
          <p:spPr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3" name="椭圆 47142"/>
            <p:cNvSpPr/>
            <p:nvPr/>
          </p:nvSpPr>
          <p:spPr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92150" lvl="1" indent="-3473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7425" lvl="2" indent="-2933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81430" lvl="3" indent="-2921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98930" lvl="4" indent="-31623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409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en-US" altLang="zh-CN"/>
              <a:t>5  </a:t>
            </a:r>
            <a:r>
              <a:rPr lang="zh-CN" altLang="en-US" dirty="0"/>
              <a:t>串操作类指令</a:t>
            </a:r>
          </a:p>
        </p:txBody>
      </p:sp>
      <p:sp>
        <p:nvSpPr>
          <p:cNvPr id="13314" name="文本占位符 4098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3771900"/>
          </a:xfrm>
          <a:ln/>
        </p:spPr>
        <p:txBody>
          <a:bodyPr anchor="t" anchorCtr="0"/>
          <a:lstStyle/>
          <a:p>
            <a:pPr marL="0" indent="390525" defTabSz="914400">
              <a:tabLst>
                <a:tab pos="2511425" algn="l"/>
              </a:tabLst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串操作指令是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指令系统中比较独特的一类指令，采用比较特殊的数据串寻址方式，常用在操作主存连续区域的数据时</a:t>
            </a:r>
          </a:p>
          <a:p>
            <a:pPr marL="0" indent="390525" defTabSz="914400">
              <a:lnSpc>
                <a:spcPct val="130000"/>
              </a:lnSpc>
              <a:spcBef>
                <a:spcPct val="50000"/>
              </a:spcBef>
              <a:buNone/>
              <a:tabLst>
                <a:tab pos="2511425" algn="l"/>
              </a:tabLst>
            </a:pPr>
            <a:r>
              <a:rPr lang="zh-CN" altLang="en-US" sz="2600" dirty="0"/>
              <a:t>主要熟悉：</a:t>
            </a:r>
            <a:r>
              <a:rPr lang="zh-CN" altLang="en-US" sz="2600" dirty="0">
                <a:solidFill>
                  <a:schemeClr val="tx2"/>
                </a:solidFill>
              </a:rPr>
              <a:t>	</a:t>
            </a:r>
            <a:r>
              <a:rPr lang="en-US" altLang="zh-CN" sz="2600" b="1">
                <a:solidFill>
                  <a:srgbClr val="0000FF"/>
                </a:solidFill>
              </a:rPr>
              <a:t>MOVS  STOS  LODS</a:t>
            </a:r>
          </a:p>
          <a:p>
            <a:pPr marL="0" indent="390525" defTabSz="914400">
              <a:lnSpc>
                <a:spcPct val="130000"/>
              </a:lnSpc>
              <a:buNone/>
              <a:tabLst>
                <a:tab pos="2511425" algn="l"/>
              </a:tabLst>
            </a:pPr>
            <a:r>
              <a:rPr lang="en-US" altLang="zh-CN" sz="2600" b="1">
                <a:solidFill>
                  <a:srgbClr val="0000FF"/>
                </a:solidFill>
              </a:rPr>
              <a:t>	CMPS  SCAS  REP</a:t>
            </a:r>
          </a:p>
          <a:p>
            <a:pPr marL="0" indent="390525" defTabSz="914400">
              <a:lnSpc>
                <a:spcPct val="130000"/>
              </a:lnSpc>
              <a:buNone/>
              <a:tabLst>
                <a:tab pos="2511425" algn="l"/>
              </a:tabLst>
            </a:pPr>
            <a:r>
              <a:rPr lang="zh-CN" altLang="en-US" sz="2600" dirty="0"/>
              <a:t>一般了解：	</a:t>
            </a:r>
            <a:r>
              <a:rPr lang="en-US" altLang="zh-CN" sz="2600"/>
              <a:t>REPZ/REPE  REPNZ/REPNE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12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串数据类型</a:t>
            </a:r>
          </a:p>
        </p:txBody>
      </p:sp>
      <p:sp>
        <p:nvSpPr>
          <p:cNvPr id="14338" name="文本占位符 5122"/>
          <p:cNvSpPr>
            <a:spLocks noGrp="1"/>
          </p:cNvSpPr>
          <p:nvPr>
            <p:ph idx="1"/>
          </p:nvPr>
        </p:nvSpPr>
        <p:spPr>
          <a:xfrm>
            <a:off x="457200" y="1719263"/>
            <a:ext cx="7620000" cy="4411662"/>
          </a:xfrm>
          <a:ln/>
        </p:spPr>
        <p:txBody>
          <a:bodyPr anchor="t" anchorCtr="0"/>
          <a:lstStyle/>
          <a:p>
            <a:pPr marL="0" indent="390525" defTabSz="914400">
              <a:tabLst>
                <a:tab pos="219265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串操作指令的操作数是主存中连续存放的数据串（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String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即在连续的主存区域中，字节或字的序列</a:t>
            </a:r>
          </a:p>
          <a:p>
            <a:pPr marL="0" indent="390525" defTabSz="914400">
              <a:tabLst>
                <a:tab pos="2192655" algn="l"/>
              </a:tabLst>
            </a:pP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串操作指令的操作对象是以字（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）为单位的字串，或是以字节（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）为单位的字节串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614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串寻址方式</a:t>
            </a:r>
          </a:p>
        </p:txBody>
      </p:sp>
      <p:sp>
        <p:nvSpPr>
          <p:cNvPr id="15362" name="文本占位符 6146"/>
          <p:cNvSpPr>
            <a:spLocks noGrp="1"/>
          </p:cNvSpPr>
          <p:nvPr>
            <p:ph idx="1"/>
          </p:nvPr>
        </p:nvSpPr>
        <p:spPr>
          <a:xfrm>
            <a:off x="457200" y="1719263"/>
            <a:ext cx="7467600" cy="4411662"/>
          </a:xfrm>
          <a:ln/>
        </p:spPr>
        <p:txBody>
          <a:bodyPr anchor="t" anchorCtr="0"/>
          <a:lstStyle/>
          <a:p>
            <a:r>
              <a:rPr lang="zh-CN" altLang="en-US" sz="2500" dirty="0">
                <a:solidFill>
                  <a:srgbClr val="009900"/>
                </a:solidFill>
              </a:rPr>
              <a:t>源操作数</a:t>
            </a:r>
            <a:r>
              <a:rPr lang="zh-CN" altLang="en-US" sz="2500" dirty="0">
                <a:solidFill>
                  <a:srgbClr val="0000FF"/>
                </a:solidFill>
              </a:rPr>
              <a:t>用寄存器</a:t>
            </a:r>
            <a:r>
              <a:rPr lang="en-US" altLang="zh-CN" sz="2500">
                <a:solidFill>
                  <a:srgbClr val="0000FF"/>
                </a:solidFill>
              </a:rPr>
              <a:t>SI</a:t>
            </a:r>
            <a:r>
              <a:rPr lang="zh-CN" altLang="en-US" sz="2500" dirty="0">
                <a:solidFill>
                  <a:srgbClr val="0000FF"/>
                </a:solidFill>
              </a:rPr>
              <a:t>寻址，默认在数据段</a:t>
            </a:r>
            <a:r>
              <a:rPr lang="en-US" altLang="zh-CN" sz="2500">
                <a:solidFill>
                  <a:srgbClr val="0000FF"/>
                </a:solidFill>
              </a:rPr>
              <a:t>DS</a:t>
            </a:r>
            <a:r>
              <a:rPr lang="zh-CN" altLang="en-US" sz="2500" dirty="0">
                <a:solidFill>
                  <a:srgbClr val="0000FF"/>
                </a:solidFill>
              </a:rPr>
              <a:t>中，但允许段超越：</a:t>
            </a:r>
            <a:r>
              <a:rPr lang="en-US" altLang="zh-CN" sz="2500" b="1">
                <a:solidFill>
                  <a:srgbClr val="00CC00"/>
                </a:solidFill>
              </a:rPr>
              <a:t>DS:[SI]</a:t>
            </a:r>
          </a:p>
          <a:p>
            <a:r>
              <a:rPr lang="zh-CN" altLang="en-US" sz="2500" dirty="0">
                <a:solidFill>
                  <a:srgbClr val="009900"/>
                </a:solidFill>
              </a:rPr>
              <a:t>目的操作数</a:t>
            </a:r>
            <a:r>
              <a:rPr lang="zh-CN" altLang="en-US" sz="2500" dirty="0">
                <a:solidFill>
                  <a:srgbClr val="0000FF"/>
                </a:solidFill>
              </a:rPr>
              <a:t>用寄存器</a:t>
            </a:r>
            <a:r>
              <a:rPr lang="en-US" altLang="zh-CN" sz="2500">
                <a:solidFill>
                  <a:srgbClr val="0000FF"/>
                </a:solidFill>
              </a:rPr>
              <a:t>DI</a:t>
            </a:r>
            <a:r>
              <a:rPr lang="zh-CN" altLang="en-US" sz="2500" dirty="0">
                <a:solidFill>
                  <a:srgbClr val="0000FF"/>
                </a:solidFill>
              </a:rPr>
              <a:t>寻址，默认在附加段</a:t>
            </a:r>
            <a:r>
              <a:rPr lang="en-US" altLang="zh-CN" sz="2500">
                <a:solidFill>
                  <a:srgbClr val="0000FF"/>
                </a:solidFill>
              </a:rPr>
              <a:t>ES</a:t>
            </a:r>
            <a:r>
              <a:rPr lang="zh-CN" altLang="en-US" sz="2500" dirty="0">
                <a:solidFill>
                  <a:srgbClr val="0000FF"/>
                </a:solidFill>
              </a:rPr>
              <a:t>中，不允许段超越：</a:t>
            </a:r>
            <a:r>
              <a:rPr lang="en-US" altLang="zh-CN" sz="2500" b="1">
                <a:solidFill>
                  <a:srgbClr val="009900"/>
                </a:solidFill>
              </a:rPr>
              <a:t>ES:[DI]</a:t>
            </a:r>
          </a:p>
          <a:p>
            <a:r>
              <a:rPr lang="zh-CN" altLang="en-US" sz="2500" dirty="0">
                <a:solidFill>
                  <a:srgbClr val="009900"/>
                </a:solidFill>
              </a:rPr>
              <a:t>每执行一次串操作指令，</a:t>
            </a:r>
            <a:r>
              <a:rPr lang="en-US" altLang="zh-CN" sz="2500">
                <a:solidFill>
                  <a:srgbClr val="009900"/>
                </a:solidFill>
              </a:rPr>
              <a:t>SI</a:t>
            </a:r>
            <a:r>
              <a:rPr lang="zh-CN" altLang="en-US" sz="2500" dirty="0">
                <a:solidFill>
                  <a:srgbClr val="009900"/>
                </a:solidFill>
              </a:rPr>
              <a:t>和</a:t>
            </a:r>
            <a:r>
              <a:rPr lang="en-US" altLang="zh-CN" sz="2500">
                <a:solidFill>
                  <a:srgbClr val="009900"/>
                </a:solidFill>
              </a:rPr>
              <a:t>DI</a:t>
            </a:r>
            <a:r>
              <a:rPr lang="zh-CN" altLang="en-US" sz="2500" dirty="0">
                <a:solidFill>
                  <a:srgbClr val="009900"/>
                </a:solidFill>
              </a:rPr>
              <a:t>将自动修改</a:t>
            </a:r>
            <a:r>
              <a:rPr lang="zh-CN" altLang="en-US" sz="2500" dirty="0">
                <a:solidFill>
                  <a:srgbClr val="0000FF"/>
                </a:solidFill>
              </a:rPr>
              <a:t>：</a:t>
            </a:r>
          </a:p>
          <a:p>
            <a:pPr lvl="1"/>
            <a:r>
              <a:rPr lang="en-US" altLang="zh-CN">
                <a:solidFill>
                  <a:srgbClr val="0000FF"/>
                </a:solidFill>
              </a:rPr>
              <a:t>±1</a:t>
            </a:r>
            <a:r>
              <a:rPr lang="zh-CN" altLang="en-US" dirty="0">
                <a:solidFill>
                  <a:srgbClr val="0000FF"/>
                </a:solidFill>
              </a:rPr>
              <a:t>（对于字节串）或</a:t>
            </a:r>
            <a:r>
              <a:rPr lang="en-US" altLang="zh-CN">
                <a:solidFill>
                  <a:srgbClr val="0000FF"/>
                </a:solidFill>
              </a:rPr>
              <a:t>±2</a:t>
            </a:r>
            <a:r>
              <a:rPr lang="zh-CN" altLang="en-US" dirty="0">
                <a:solidFill>
                  <a:srgbClr val="0000FF"/>
                </a:solidFill>
              </a:rPr>
              <a:t>（对于字串）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执行指令</a:t>
            </a:r>
            <a:r>
              <a:rPr lang="en-US" altLang="zh-CN">
                <a:solidFill>
                  <a:srgbClr val="0000FF"/>
                </a:solidFill>
              </a:rPr>
              <a:t>CLD</a:t>
            </a:r>
            <a:r>
              <a:rPr lang="zh-CN" altLang="en-US" dirty="0">
                <a:solidFill>
                  <a:srgbClr val="0000FF"/>
                </a:solidFill>
              </a:rPr>
              <a:t>后，</a:t>
            </a:r>
            <a:r>
              <a:rPr lang="en-US" altLang="zh-CN" b="1">
                <a:solidFill>
                  <a:srgbClr val="009900"/>
                </a:solidFill>
              </a:rPr>
              <a:t>DF = 0</a:t>
            </a:r>
            <a:r>
              <a:rPr lang="zh-CN" altLang="en-US" dirty="0">
                <a:solidFill>
                  <a:srgbClr val="0000FF"/>
                </a:solidFill>
              </a:rPr>
              <a:t>，地址指针</a:t>
            </a:r>
            <a:r>
              <a:rPr lang="zh-CN" altLang="en-US" b="1" dirty="0">
                <a:solidFill>
                  <a:srgbClr val="009900"/>
                </a:solidFill>
              </a:rPr>
              <a:t>增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或</a:t>
            </a:r>
            <a:r>
              <a:rPr lang="en-US" altLang="zh-CN">
                <a:solidFill>
                  <a:srgbClr val="0000FF"/>
                </a:solidFill>
              </a:rPr>
              <a:t>2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执行指令</a:t>
            </a:r>
            <a:r>
              <a:rPr lang="en-US" altLang="zh-CN">
                <a:solidFill>
                  <a:srgbClr val="0000FF"/>
                </a:solidFill>
              </a:rPr>
              <a:t>STD</a:t>
            </a:r>
            <a:r>
              <a:rPr lang="zh-CN" altLang="en-US" dirty="0">
                <a:solidFill>
                  <a:srgbClr val="0000FF"/>
                </a:solidFill>
              </a:rPr>
              <a:t>后，</a:t>
            </a:r>
            <a:r>
              <a:rPr lang="en-US" altLang="zh-CN" b="1">
                <a:solidFill>
                  <a:srgbClr val="009900"/>
                </a:solidFill>
              </a:rPr>
              <a:t>DF = 1</a:t>
            </a:r>
            <a:r>
              <a:rPr lang="zh-CN" altLang="en-US" dirty="0">
                <a:solidFill>
                  <a:srgbClr val="0000FF"/>
                </a:solidFill>
              </a:rPr>
              <a:t>，地址指针</a:t>
            </a:r>
            <a:r>
              <a:rPr lang="zh-CN" altLang="en-US" b="1" dirty="0">
                <a:solidFill>
                  <a:srgbClr val="009900"/>
                </a:solidFill>
              </a:rPr>
              <a:t>减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或</a:t>
            </a:r>
            <a:r>
              <a:rPr lang="en-US" altLang="zh-CN">
                <a:solidFill>
                  <a:srgbClr val="0000FF"/>
                </a:solidFill>
              </a:rPr>
              <a:t>2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716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串传送</a:t>
            </a:r>
            <a:r>
              <a:rPr lang="en-US" altLang="zh-CN"/>
              <a:t>MOVS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move string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6386" name="文本占位符 7170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1209675"/>
          </a:xfrm>
          <a:ln/>
        </p:spPr>
        <p:txBody>
          <a:bodyPr anchor="t" anchorCtr="0"/>
          <a:lstStyle/>
          <a:p>
            <a:r>
              <a:rPr lang="zh-CN" altLang="en-US" dirty="0">
                <a:ea typeface="楷体" panose="02010609060101010101" pitchFamily="49" charset="-122"/>
              </a:rPr>
              <a:t>把字节或字操作数从主存的源地址传送至目的地址</a:t>
            </a:r>
          </a:p>
        </p:txBody>
      </p:sp>
      <p:sp>
        <p:nvSpPr>
          <p:cNvPr id="16387" name="流程图: 可选过程 7171"/>
          <p:cNvSpPr/>
          <p:nvPr/>
        </p:nvSpPr>
        <p:spPr>
          <a:xfrm>
            <a:off x="914400" y="2895600"/>
            <a:ext cx="7467600" cy="1447800"/>
          </a:xfrm>
          <a:prstGeom prst="flowChartAlternateProcess">
            <a:avLst/>
          </a:prstGeom>
          <a:gradFill rotWithShape="1">
            <a:gsLst>
              <a:gs pos="0">
                <a:srgbClr val="00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MOVSB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；字节串传送：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ES:[DI]←DS:[SI]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DI←DI±1</a:t>
            </a:r>
          </a:p>
        </p:txBody>
      </p:sp>
      <p:sp>
        <p:nvSpPr>
          <p:cNvPr id="16388" name="流程图: 可选过程 7172"/>
          <p:cNvSpPr/>
          <p:nvPr/>
        </p:nvSpPr>
        <p:spPr>
          <a:xfrm>
            <a:off x="866775" y="4495800"/>
            <a:ext cx="7467600" cy="1447800"/>
          </a:xfrm>
          <a:prstGeom prst="flowChartAlternateProcess">
            <a:avLst/>
          </a:prstGeom>
          <a:gradFill rotWithShape="1">
            <a:gsLst>
              <a:gs pos="0">
                <a:srgbClr val="00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MOVSW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；字串传送：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ES:[DI]←DS:[SI]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SI←SI±2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DI←DI±2</a:t>
            </a:r>
          </a:p>
        </p:txBody>
      </p:sp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标题 8199"/>
          <p:cNvSpPr>
            <a:spLocks noGrp="1"/>
          </p:cNvSpPr>
          <p:nvPr>
            <p:ph type="title"/>
          </p:nvPr>
        </p:nvSpPr>
        <p:spPr>
          <a:xfrm>
            <a:off x="3505200" y="685800"/>
            <a:ext cx="38100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5.1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：字节串传送</a:t>
            </a:r>
          </a:p>
        </p:txBody>
      </p:sp>
      <p:sp>
        <p:nvSpPr>
          <p:cNvPr id="17410" name="文本占位符 8200"/>
          <p:cNvSpPr>
            <a:spLocks noGrp="1"/>
          </p:cNvSpPr>
          <p:nvPr>
            <p:ph idx="1"/>
          </p:nvPr>
        </p:nvSpPr>
        <p:spPr>
          <a:xfrm>
            <a:off x="914400" y="2286000"/>
            <a:ext cx="7772400" cy="3962400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zh-CN" sz="23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source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destination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cx,100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</a:t>
            </a:r>
            <a:r>
              <a:rPr lang="en-US" altLang="zh-CN" sz="2300" err="1">
                <a:latin typeface="宋体" panose="02010600030101010101" pitchFamily="2" charset="-122"/>
              </a:rPr>
              <a:t>cx</a:t>
            </a:r>
            <a:r>
              <a:rPr lang="en-US" altLang="zh-CN" sz="2300">
                <a:latin typeface="宋体" panose="02010600030101010101" pitchFamily="2" charset="-122"/>
              </a:rPr>
              <a:t>←</a:t>
            </a:r>
            <a:r>
              <a:rPr lang="zh-CN" altLang="en-US" sz="2300" dirty="0">
                <a:latin typeface="宋体" panose="02010600030101010101" pitchFamily="2" charset="-122"/>
              </a:rPr>
              <a:t>传送次数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300" dirty="0"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；置</a:t>
            </a:r>
            <a:r>
              <a:rPr lang="en-US" altLang="zh-CN" sz="2300">
                <a:latin typeface="宋体" panose="02010600030101010101" pitchFamily="2" charset="-122"/>
              </a:rPr>
              <a:t>DF=0</a:t>
            </a:r>
            <a:r>
              <a:rPr lang="zh-CN" altLang="en-US" sz="2300" dirty="0">
                <a:latin typeface="宋体" panose="02010600030101010101" pitchFamily="2" charset="-122"/>
              </a:rPr>
              <a:t>，地址增加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tx2"/>
                </a:solidFill>
                <a:latin typeface="宋体" panose="02010600030101010101" pitchFamily="2" charset="-122"/>
              </a:rPr>
              <a:t>again:	</a:t>
            </a:r>
            <a:r>
              <a:rPr lang="en-US" altLang="zh-CN" sz="2300" err="1">
                <a:solidFill>
                  <a:schemeClr val="tx2"/>
                </a:solidFill>
                <a:latin typeface="宋体" panose="02010600030101010101" pitchFamily="2" charset="-122"/>
              </a:rPr>
              <a:t>movsb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</a:t>
            </a:r>
            <a:r>
              <a:rPr lang="zh-CN" altLang="en-US" sz="2300" dirty="0">
                <a:solidFill>
                  <a:schemeClr val="tx2"/>
                </a:solidFill>
                <a:latin typeface="宋体" panose="02010600030101010101" pitchFamily="2" charset="-122"/>
              </a:rPr>
              <a:t>传送一个字节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3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；传送次数减</a:t>
            </a:r>
            <a:r>
              <a:rPr lang="en-US" altLang="zh-CN" sz="2300">
                <a:latin typeface="宋体" panose="02010600030101010101" pitchFamily="2" charset="-122"/>
              </a:rPr>
              <a:t>1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；判断传送次数</a:t>
            </a:r>
            <a:r>
              <a:rPr lang="en-US" altLang="zh-CN" sz="2300" err="1">
                <a:latin typeface="宋体" panose="02010600030101010101" pitchFamily="2" charset="-122"/>
              </a:rPr>
              <a:t>cx</a:t>
            </a:r>
            <a:r>
              <a:rPr lang="zh-CN" altLang="en-US" sz="2300" dirty="0">
                <a:latin typeface="宋体" panose="02010600030101010101" pitchFamily="2" charset="-122"/>
              </a:rPr>
              <a:t>是否为</a:t>
            </a:r>
            <a:r>
              <a:rPr lang="en-US" altLang="zh-CN" sz="2300">
                <a:latin typeface="宋体" panose="02010600030101010101" pitchFamily="2" charset="-122"/>
              </a:rPr>
              <a:t>0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；不为</a:t>
            </a:r>
            <a:r>
              <a:rPr lang="en-US" altLang="zh-CN" sz="2300">
                <a:latin typeface="宋体" panose="02010600030101010101" pitchFamily="2" charset="-122"/>
              </a:rPr>
              <a:t>0</a:t>
            </a:r>
            <a:r>
              <a:rPr lang="zh-CN" altLang="en-US" sz="2300" dirty="0">
                <a:latin typeface="宋体" panose="02010600030101010101" pitchFamily="2" charset="-122"/>
              </a:rPr>
              <a:t>，则到</a:t>
            </a:r>
            <a:r>
              <a:rPr lang="en-US" altLang="zh-CN" sz="2300">
                <a:latin typeface="宋体" panose="02010600030101010101" pitchFamily="2" charset="-122"/>
              </a:rPr>
              <a:t>again</a:t>
            </a:r>
            <a:r>
              <a:rPr lang="zh-CN" altLang="en-US" sz="2300" dirty="0">
                <a:latin typeface="宋体" panose="02010600030101010101" pitchFamily="2" charset="-122"/>
              </a:rPr>
              <a:t>位置执行指令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300" dirty="0">
                <a:latin typeface="宋体" panose="02010600030101010101" pitchFamily="2" charset="-122"/>
              </a:rPr>
              <a:t>	；否则，结束</a:t>
            </a:r>
          </a:p>
        </p:txBody>
      </p:sp>
      <p:grpSp>
        <p:nvGrpSpPr>
          <p:cNvPr id="8202" name="组合 8201"/>
          <p:cNvGrpSpPr/>
          <p:nvPr/>
        </p:nvGrpSpPr>
        <p:grpSpPr>
          <a:xfrm>
            <a:off x="152400" y="1066800"/>
            <a:ext cx="4338638" cy="1619250"/>
            <a:chOff x="243" y="228"/>
            <a:chExt cx="2733" cy="1020"/>
          </a:xfrm>
        </p:grpSpPr>
        <p:sp>
          <p:nvSpPr>
            <p:cNvPr id="17412" name="椭圆 8202"/>
            <p:cNvSpPr/>
            <p:nvPr/>
          </p:nvSpPr>
          <p:spPr>
            <a:xfrm>
              <a:off x="2256" y="960"/>
              <a:ext cx="720" cy="28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3" name="流程图: 可选过程 8203"/>
            <p:cNvSpPr/>
            <p:nvPr/>
          </p:nvSpPr>
          <p:spPr>
            <a:xfrm>
              <a:off x="243" y="228"/>
              <a:ext cx="2103" cy="572"/>
            </a:xfrm>
            <a:prstGeom prst="flowChartAlternateProcess">
              <a:avLst/>
            </a:prstGeom>
            <a:solidFill>
              <a:schemeClr val="bg1"/>
            </a:solidFill>
            <a:ln w="28575" cap="flat" cmpd="sng">
              <a:solidFill>
                <a:srgbClr val="7AA3DA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offset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是汇编操作符，</a:t>
              </a:r>
            </a:p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求出变量的偏移地址</a:t>
              </a:r>
            </a:p>
          </p:txBody>
        </p:sp>
        <p:sp>
          <p:nvSpPr>
            <p:cNvPr id="17414" name="直接连接符 8204"/>
            <p:cNvSpPr/>
            <p:nvPr/>
          </p:nvSpPr>
          <p:spPr>
            <a:xfrm flipH="1" flipV="1">
              <a:off x="2256" y="672"/>
              <a:ext cx="288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标题 9223"/>
          <p:cNvSpPr>
            <a:spLocks noGrp="1"/>
          </p:cNvSpPr>
          <p:nvPr>
            <p:ph type="title"/>
          </p:nvPr>
        </p:nvSpPr>
        <p:spPr>
          <a:xfrm>
            <a:off x="838200" y="762000"/>
            <a:ext cx="39624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5.2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：字串传送</a:t>
            </a:r>
          </a:p>
        </p:txBody>
      </p:sp>
      <p:sp>
        <p:nvSpPr>
          <p:cNvPr id="18434" name="文本占位符 9224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648200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zh-CN" sz="25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source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destination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cx,50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</a:t>
            </a:r>
            <a:r>
              <a:rPr lang="en-US" altLang="zh-CN" sz="2500" err="1">
                <a:latin typeface="宋体" panose="02010600030101010101" pitchFamily="2" charset="-122"/>
              </a:rPr>
              <a:t>cx</a:t>
            </a:r>
            <a:r>
              <a:rPr lang="en-US" altLang="zh-CN" sz="2500">
                <a:latin typeface="宋体" panose="02010600030101010101" pitchFamily="2" charset="-122"/>
              </a:rPr>
              <a:t>←</a:t>
            </a:r>
            <a:r>
              <a:rPr lang="zh-CN" altLang="en-US" sz="2500" dirty="0">
                <a:latin typeface="宋体" panose="02010600030101010101" pitchFamily="2" charset="-122"/>
              </a:rPr>
              <a:t>传送次数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500" dirty="0"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；置</a:t>
            </a:r>
            <a:r>
              <a:rPr lang="en-US" altLang="zh-CN" sz="2500">
                <a:latin typeface="宋体" panose="02010600030101010101" pitchFamily="2" charset="-122"/>
              </a:rPr>
              <a:t>DF=0</a:t>
            </a:r>
            <a:r>
              <a:rPr lang="zh-CN" altLang="en-US" sz="2500" dirty="0">
                <a:latin typeface="宋体" panose="02010600030101010101" pitchFamily="2" charset="-122"/>
              </a:rPr>
              <a:t>，地址增加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again:	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movsw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</a:t>
            </a:r>
            <a:r>
              <a:rPr lang="zh-CN" altLang="en-US" sz="2500" dirty="0">
                <a:solidFill>
                  <a:schemeClr val="tx2"/>
                </a:solidFill>
                <a:latin typeface="宋体" panose="02010600030101010101" pitchFamily="2" charset="-122"/>
              </a:rPr>
              <a:t>传送一个字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5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；传送次数减</a:t>
            </a:r>
            <a:r>
              <a:rPr lang="en-US" altLang="zh-CN" sz="2500">
                <a:latin typeface="宋体" panose="02010600030101010101" pitchFamily="2" charset="-122"/>
              </a:rPr>
              <a:t>1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；判断传送次数</a:t>
            </a:r>
            <a:r>
              <a:rPr lang="en-US" altLang="zh-CN" sz="2500" err="1">
                <a:latin typeface="宋体" panose="02010600030101010101" pitchFamily="2" charset="-122"/>
              </a:rPr>
              <a:t>cx</a:t>
            </a:r>
            <a:r>
              <a:rPr lang="zh-CN" altLang="en-US" sz="2500" dirty="0">
                <a:latin typeface="宋体" panose="02010600030101010101" pitchFamily="2" charset="-122"/>
              </a:rPr>
              <a:t>是否为</a:t>
            </a:r>
            <a:r>
              <a:rPr lang="en-US" altLang="zh-CN" sz="2500">
                <a:latin typeface="宋体" panose="02010600030101010101" pitchFamily="2" charset="-122"/>
              </a:rPr>
              <a:t>0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；不为</a:t>
            </a:r>
            <a:r>
              <a:rPr lang="en-US" altLang="zh-CN" sz="2500">
                <a:latin typeface="宋体" panose="02010600030101010101" pitchFamily="2" charset="-122"/>
              </a:rPr>
              <a:t>0</a:t>
            </a:r>
            <a:r>
              <a:rPr lang="zh-CN" altLang="en-US" sz="2500" dirty="0">
                <a:latin typeface="宋体" panose="02010600030101010101" pitchFamily="2" charset="-122"/>
              </a:rPr>
              <a:t>，则到</a:t>
            </a:r>
            <a:r>
              <a:rPr lang="en-US" altLang="zh-CN" sz="2500">
                <a:latin typeface="宋体" panose="02010600030101010101" pitchFamily="2" charset="-122"/>
              </a:rPr>
              <a:t>again</a:t>
            </a:r>
            <a:r>
              <a:rPr lang="zh-CN" altLang="en-US" sz="2500" dirty="0">
                <a:latin typeface="宋体" panose="02010600030101010101" pitchFamily="2" charset="-122"/>
              </a:rPr>
              <a:t>位置执行指令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500" dirty="0">
                <a:latin typeface="宋体" panose="02010600030101010101" pitchFamily="2" charset="-122"/>
              </a:rPr>
              <a:t>	；否则，结束</a:t>
            </a: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024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串存储</a:t>
            </a:r>
            <a:r>
              <a:rPr lang="en-US" altLang="zh-CN"/>
              <a:t>STOS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store string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9458" name="文本占位符 10242"/>
          <p:cNvSpPr>
            <a:spLocks noGrp="1"/>
          </p:cNvSpPr>
          <p:nvPr>
            <p:ph idx="1"/>
          </p:nvPr>
        </p:nvSpPr>
        <p:spPr>
          <a:ln/>
        </p:spPr>
        <p:txBody>
          <a:bodyPr anchor="t" anchorCtr="0"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把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数据传送至目的地址</a:t>
            </a:r>
          </a:p>
        </p:txBody>
      </p:sp>
      <p:sp>
        <p:nvSpPr>
          <p:cNvPr id="19459" name="流程图: 可选过程 10243"/>
          <p:cNvSpPr/>
          <p:nvPr/>
        </p:nvSpPr>
        <p:spPr>
          <a:xfrm>
            <a:off x="990600" y="2438400"/>
            <a:ext cx="6629400" cy="1447800"/>
          </a:xfrm>
          <a:prstGeom prst="flowChartAlternateProcess">
            <a:avLst/>
          </a:prstGeom>
          <a:gradFill rotWithShape="1">
            <a:gsLst>
              <a:gs pos="0">
                <a:srgbClr val="00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STOSB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；字节串存储：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ES:[DI]←AL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DI←DI±1</a:t>
            </a:r>
          </a:p>
        </p:txBody>
      </p:sp>
      <p:sp>
        <p:nvSpPr>
          <p:cNvPr id="19460" name="流程图: 可选过程 10244"/>
          <p:cNvSpPr/>
          <p:nvPr/>
        </p:nvSpPr>
        <p:spPr>
          <a:xfrm>
            <a:off x="990600" y="4495800"/>
            <a:ext cx="6629400" cy="1447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STOSW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；字串存储：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ES:[DI]←AX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DI←DI±2</a:t>
            </a:r>
          </a:p>
        </p:txBody>
      </p:sp>
    </p:spTree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标题 11271"/>
          <p:cNvSpPr>
            <a:spLocks noGrp="1"/>
          </p:cNvSpPr>
          <p:nvPr>
            <p:ph type="title"/>
          </p:nvPr>
        </p:nvSpPr>
        <p:spPr>
          <a:xfrm>
            <a:off x="838200" y="762000"/>
            <a:ext cx="34226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5.3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：串存储</a:t>
            </a:r>
          </a:p>
        </p:txBody>
      </p:sp>
      <p:sp>
        <p:nvSpPr>
          <p:cNvPr id="20482" name="文本占位符 11272"/>
          <p:cNvSpPr>
            <a:spLocks noGrp="1"/>
          </p:cNvSpPr>
          <p:nvPr>
            <p:ph idx="1"/>
          </p:nvPr>
        </p:nvSpPr>
        <p:spPr>
          <a:xfrm>
            <a:off x="819150" y="2095500"/>
            <a:ext cx="7581900" cy="2887663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zh-CN" sz="23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ax,0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di,0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cx,8000h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</a:t>
            </a:r>
            <a:r>
              <a:rPr lang="en-US" altLang="zh-CN" sz="2300" err="1">
                <a:latin typeface="宋体" panose="02010600030101010101" pitchFamily="2" charset="-122"/>
              </a:rPr>
              <a:t>cx</a:t>
            </a:r>
            <a:r>
              <a:rPr lang="en-US" altLang="zh-CN" sz="2300">
                <a:latin typeface="宋体" panose="02010600030101010101" pitchFamily="2" charset="-122"/>
              </a:rPr>
              <a:t>←</a:t>
            </a:r>
            <a:r>
              <a:rPr lang="zh-CN" altLang="en-US" sz="2300" dirty="0">
                <a:latin typeface="宋体" panose="02010600030101010101" pitchFamily="2" charset="-122"/>
              </a:rPr>
              <a:t>传送次数（</a:t>
            </a:r>
            <a:r>
              <a:rPr lang="en-US" altLang="zh-CN" sz="2300">
                <a:latin typeface="宋体" panose="02010600030101010101" pitchFamily="2" charset="-122"/>
              </a:rPr>
              <a:t>32×1024</a:t>
            </a:r>
            <a:r>
              <a:rPr lang="zh-CN" altLang="en-US" sz="2300" dirty="0">
                <a:latin typeface="宋体" panose="02010600030101010101" pitchFamily="2" charset="-122"/>
              </a:rPr>
              <a:t>）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</a:t>
            </a:r>
            <a:r>
              <a:rPr lang="en-US" altLang="zh-CN" sz="2300">
                <a:latin typeface="宋体" panose="02010600030101010101" pitchFamily="2" charset="-122"/>
              </a:rPr>
              <a:t>DF=0</a:t>
            </a:r>
            <a:r>
              <a:rPr lang="zh-CN" altLang="en-US" sz="2300" dirty="0">
                <a:latin typeface="宋体" panose="02010600030101010101" pitchFamily="2" charset="-122"/>
              </a:rPr>
              <a:t>，地址增加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again: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chemeClr val="tx2"/>
                </a:solidFill>
                <a:latin typeface="宋体" panose="02010600030101010101" pitchFamily="2" charset="-122"/>
              </a:rPr>
              <a:t>stosw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；传送一个字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；传送次数减</a:t>
            </a:r>
            <a:r>
              <a:rPr lang="en-US" altLang="zh-CN" sz="2300">
                <a:latin typeface="宋体" panose="02010600030101010101" pitchFamily="2" charset="-122"/>
              </a:rPr>
              <a:t>1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；传送次数</a:t>
            </a:r>
            <a:r>
              <a:rPr lang="en-US" altLang="zh-CN" sz="2300" err="1">
                <a:latin typeface="宋体" panose="02010600030101010101" pitchFamily="2" charset="-122"/>
              </a:rPr>
              <a:t>cx</a:t>
            </a:r>
            <a:r>
              <a:rPr lang="zh-CN" altLang="en-US" sz="2300" dirty="0">
                <a:latin typeface="宋体" panose="02010600030101010101" pitchFamily="2" charset="-122"/>
              </a:rPr>
              <a:t>是否为</a:t>
            </a:r>
            <a:r>
              <a:rPr lang="en-US" altLang="zh-CN" sz="2300"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11274" name="圆角矩形 11273" descr="画布"/>
          <p:cNvSpPr/>
          <p:nvPr/>
        </p:nvSpPr>
        <p:spPr>
          <a:xfrm>
            <a:off x="838200" y="5026025"/>
            <a:ext cx="7391400" cy="10668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>
            <a:noFill/>
          </a:ln>
        </p:spPr>
        <p:txBody>
          <a:bodyPr anchor="ctr" anchorCtr="0"/>
          <a:lstStyle/>
          <a:p>
            <a:pPr algn="just">
              <a:spcBef>
                <a:spcPct val="20000"/>
              </a:spcBef>
              <a:buBlip>
                <a:blip r:embed="rId3"/>
              </a:buBlip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可将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CLD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改为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STD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吗？如何改用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STOSB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？</a:t>
            </a:r>
          </a:p>
          <a:p>
            <a:pPr algn="just">
              <a:spcBef>
                <a:spcPct val="20000"/>
              </a:spcBef>
              <a:buBlip>
                <a:blip r:embed="rId3"/>
              </a:buBlip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可不用给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赋值吗？</a:t>
            </a:r>
          </a:p>
        </p:txBody>
      </p:sp>
      <p:sp>
        <p:nvSpPr>
          <p:cNvPr id="11275" name="椭圆 11274"/>
          <p:cNvSpPr/>
          <p:nvPr/>
        </p:nvSpPr>
        <p:spPr>
          <a:xfrm>
            <a:off x="4953000" y="1600200"/>
            <a:ext cx="3048000" cy="7620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800" b="1" i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  <a:r>
              <a:rPr lang="zh-CN" altLang="en-US" sz="2800" b="1" i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为偶数即可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 animBg="1"/>
      <p:bldP spid="112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228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串读取</a:t>
            </a:r>
            <a:r>
              <a:rPr lang="en-US" altLang="zh-CN"/>
              <a:t>LODS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load string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1506" name="文本占位符 12290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854075"/>
          </a:xfrm>
          <a:ln/>
        </p:spPr>
        <p:txBody>
          <a:bodyPr anchor="t" anchorCtr="0"/>
          <a:lstStyle/>
          <a:p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把指定主存单元的数据传送给</a:t>
            </a:r>
            <a:r>
              <a:rPr lang="en-US" altLang="zh-CN" sz="2600"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600"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</a:p>
        </p:txBody>
      </p:sp>
      <p:sp>
        <p:nvSpPr>
          <p:cNvPr id="21507" name="流程图: 可选过程 12291"/>
          <p:cNvSpPr/>
          <p:nvPr/>
        </p:nvSpPr>
        <p:spPr>
          <a:xfrm>
            <a:off x="1295400" y="2590800"/>
            <a:ext cx="6629400" cy="1447800"/>
          </a:xfrm>
          <a:prstGeom prst="flowChartAlternateProcess">
            <a:avLst/>
          </a:prstGeom>
          <a:gradFill rotWithShape="1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LODSB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；字节串读取：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AL←DS:[SI]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SI←SI±1</a:t>
            </a:r>
          </a:p>
        </p:txBody>
      </p:sp>
      <p:sp>
        <p:nvSpPr>
          <p:cNvPr id="21508" name="流程图: 可选过程 12292"/>
          <p:cNvSpPr/>
          <p:nvPr/>
        </p:nvSpPr>
        <p:spPr>
          <a:xfrm>
            <a:off x="1295400" y="4419600"/>
            <a:ext cx="6629400" cy="1447800"/>
          </a:xfrm>
          <a:prstGeom prst="flowChartAlternateProcess">
            <a:avLst/>
          </a:prstGeom>
          <a:gradFill rotWithShape="1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LODSW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；字串读取：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AX←DS:[SI]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SI←SI±2</a:t>
            </a:r>
          </a:p>
        </p:txBody>
      </p:sp>
    </p:spTree>
  </p:cSld>
  <p:clrMapOvr>
    <a:masterClrMapping/>
  </p:clrMapOvr>
  <p:transition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标题 13319"/>
          <p:cNvSpPr>
            <a:spLocks noGrp="1"/>
          </p:cNvSpPr>
          <p:nvPr>
            <p:ph type="title"/>
          </p:nvPr>
        </p:nvSpPr>
        <p:spPr>
          <a:xfrm>
            <a:off x="990600" y="762000"/>
            <a:ext cx="40386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5.4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：串读取－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22530" name="文本占位符 13320"/>
          <p:cNvSpPr>
            <a:spLocks noGrp="1"/>
          </p:cNvSpPr>
          <p:nvPr>
            <p:ph idx="1"/>
          </p:nvPr>
        </p:nvSpPr>
        <p:spPr>
          <a:xfrm>
            <a:off x="819150" y="2095500"/>
            <a:ext cx="7581900" cy="3748088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zh-CN" sz="26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block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dplus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bx,offset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dminus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6633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66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663300"/>
                </a:solidFill>
                <a:latin typeface="宋体" panose="02010600030101010101" pitchFamily="2" charset="-122"/>
              </a:rPr>
              <a:t>ax,ds</a:t>
            </a:r>
            <a:endParaRPr lang="en-US" altLang="zh-CN" sz="2600">
              <a:solidFill>
                <a:srgbClr val="663300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rgbClr val="6633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663300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66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663300"/>
                </a:solidFill>
                <a:latin typeface="宋体" panose="02010600030101010101" pitchFamily="2" charset="-122"/>
              </a:rPr>
              <a:t>es,ax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；数据都在一个段中，所以设置</a:t>
            </a:r>
            <a:r>
              <a:rPr lang="en-US" altLang="zh-CN" sz="2600" err="1">
                <a:latin typeface="宋体" panose="02010600030101010101" pitchFamily="2" charset="-122"/>
              </a:rPr>
              <a:t>es</a:t>
            </a:r>
            <a:r>
              <a:rPr lang="en-US" altLang="zh-CN" sz="2600">
                <a:latin typeface="宋体" panose="02010600030101010101" pitchFamily="2" charset="-122"/>
              </a:rPr>
              <a:t>=</a:t>
            </a:r>
            <a:r>
              <a:rPr lang="en-US" altLang="zh-CN" sz="2600" err="1">
                <a:latin typeface="宋体" panose="02010600030101010101" pitchFamily="2" charset="-122"/>
              </a:rPr>
              <a:t>ds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cx,count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cx</a:t>
            </a:r>
            <a:r>
              <a:rPr lang="en-US" altLang="zh-CN" sz="2600">
                <a:latin typeface="宋体" panose="02010600030101010101" pitchFamily="2" charset="-122"/>
              </a:rPr>
              <a:t>←</a:t>
            </a:r>
            <a:r>
              <a:rPr lang="zh-CN" altLang="en-US" sz="2600" dirty="0">
                <a:latin typeface="宋体" panose="02010600030101010101" pitchFamily="2" charset="-122"/>
              </a:rPr>
              <a:t>字节数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6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endParaRPr lang="en-US" altLang="zh-CN" sz="2600" dirty="0">
              <a:latin typeface="宋体" panose="02010600030101010101" pitchFamily="2" charset="-122"/>
            </a:endParaRPr>
          </a:p>
        </p:txBody>
      </p:sp>
      <p:pic>
        <p:nvPicPr>
          <p:cNvPr id="22531" name="图片 13321" descr="5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62865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标题 14343"/>
          <p:cNvSpPr>
            <a:spLocks noGrp="1"/>
          </p:cNvSpPr>
          <p:nvPr>
            <p:ph type="title"/>
          </p:nvPr>
        </p:nvSpPr>
        <p:spPr>
          <a:xfrm>
            <a:off x="838200" y="762000"/>
            <a:ext cx="39624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5.4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：串读取－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23554" name="文本占位符 14344"/>
          <p:cNvSpPr>
            <a:spLocks noGrp="1"/>
          </p:cNvSpPr>
          <p:nvPr>
            <p:ph idx="1"/>
          </p:nvPr>
        </p:nvSpPr>
        <p:spPr>
          <a:xfrm>
            <a:off x="381000" y="1752600"/>
            <a:ext cx="8153400" cy="4090988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200" err="1">
                <a:solidFill>
                  <a:srgbClr val="0000FF"/>
                </a:solidFill>
                <a:latin typeface="宋体" panose="02010600030101010101" pitchFamily="2" charset="-122"/>
              </a:rPr>
              <a:t>go_on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2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 err="1">
                <a:solidFill>
                  <a:schemeClr val="tx2"/>
                </a:solidFill>
                <a:latin typeface="宋体" panose="02010600030101010101" pitchFamily="2" charset="-122"/>
              </a:rPr>
              <a:t>lodsb</a:t>
            </a:r>
            <a:r>
              <a:rPr lang="en-US" altLang="zh-CN" sz="22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latin typeface="宋体" panose="02010600030101010101" pitchFamily="2" charset="-122"/>
              </a:rPr>
              <a:t>；从</a:t>
            </a:r>
            <a:r>
              <a:rPr lang="en-US" altLang="zh-CN" sz="2200">
                <a:latin typeface="宋体" panose="02010600030101010101" pitchFamily="2" charset="-122"/>
              </a:rPr>
              <a:t>block</a:t>
            </a:r>
            <a:r>
              <a:rPr lang="zh-CN" altLang="en-US" sz="2200" dirty="0">
                <a:latin typeface="宋体" panose="02010600030101010101" pitchFamily="2" charset="-122"/>
              </a:rPr>
              <a:t>取出一个数据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test al,80h</a:t>
            </a:r>
            <a:r>
              <a:rPr lang="en-US" altLang="zh-CN" sz="2200"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latin typeface="宋体" panose="02010600030101010101" pitchFamily="2" charset="-122"/>
              </a:rPr>
              <a:t>；检测符号位，判断是正是负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 minus</a:t>
            </a:r>
            <a:r>
              <a:rPr lang="en-US" altLang="zh-CN" sz="2200"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latin typeface="宋体" panose="02010600030101010101" pitchFamily="2" charset="-122"/>
              </a:rPr>
              <a:t>；符号位为</a:t>
            </a:r>
            <a:r>
              <a:rPr lang="en-US" altLang="zh-CN" sz="220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，是负数，转向</a:t>
            </a:r>
            <a:r>
              <a:rPr lang="en-US" altLang="zh-CN" sz="2200">
                <a:latin typeface="宋体" panose="02010600030101010101" pitchFamily="2" charset="-122"/>
              </a:rPr>
              <a:t>minus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2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 err="1">
                <a:solidFill>
                  <a:schemeClr val="tx2"/>
                </a:solidFill>
                <a:latin typeface="宋体" panose="02010600030101010101" pitchFamily="2" charset="-122"/>
              </a:rPr>
              <a:t>stosb</a:t>
            </a:r>
            <a:r>
              <a:rPr lang="en-US" altLang="zh-CN" sz="2200"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latin typeface="宋体" panose="02010600030101010101" pitchFamily="2" charset="-122"/>
              </a:rPr>
              <a:t>；符号位为</a:t>
            </a:r>
            <a:r>
              <a:rPr lang="en-US" altLang="zh-CN" sz="2200">
                <a:latin typeface="宋体" panose="02010600030101010101" pitchFamily="2" charset="-122"/>
              </a:rPr>
              <a:t>0</a:t>
            </a:r>
            <a:r>
              <a:rPr lang="zh-CN" altLang="en-US" sz="2200" dirty="0">
                <a:latin typeface="宋体" panose="02010600030101010101" pitchFamily="2" charset="-122"/>
              </a:rPr>
              <a:t>，是正数，存入</a:t>
            </a:r>
            <a:r>
              <a:rPr lang="en-US" altLang="zh-CN" sz="2200" err="1">
                <a:latin typeface="宋体" panose="02010600030101010101" pitchFamily="2" charset="-122"/>
              </a:rPr>
              <a:t>dplus</a:t>
            </a:r>
            <a:endParaRPr lang="en-US" altLang="zh-CN" sz="22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en-US" altLang="zh-CN" sz="22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 err="1">
                <a:solidFill>
                  <a:srgbClr val="0000FF"/>
                </a:solidFill>
                <a:latin typeface="宋体" panose="02010600030101010101" pitchFamily="2" charset="-122"/>
              </a:rPr>
              <a:t>jmp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  <a:r>
              <a:rPr lang="en-US" altLang="zh-CN" sz="2200"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latin typeface="宋体" panose="02010600030101010101" pitchFamily="2" charset="-122"/>
              </a:rPr>
              <a:t>；程序转移到</a:t>
            </a:r>
            <a:r>
              <a:rPr lang="en-US" altLang="zh-CN" sz="2200">
                <a:latin typeface="宋体" panose="02010600030101010101" pitchFamily="2" charset="-122"/>
              </a:rPr>
              <a:t>again</a:t>
            </a:r>
            <a:r>
              <a:rPr lang="zh-CN" altLang="en-US" sz="2200" dirty="0">
                <a:latin typeface="宋体" panose="02010600030101010101" pitchFamily="2" charset="-122"/>
              </a:rPr>
              <a:t>处继续执行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625850" algn="l"/>
              </a:tabLst>
            </a:pPr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2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err="1">
                <a:solidFill>
                  <a:srgbClr val="0000FF"/>
                </a:solidFill>
                <a:latin typeface="宋体" panose="02010600030101010101" pitchFamily="2" charset="-122"/>
              </a:rPr>
              <a:t>go_on</a:t>
            </a:r>
            <a:r>
              <a:rPr lang="en-US" altLang="zh-CN" sz="22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200" dirty="0">
                <a:solidFill>
                  <a:srgbClr val="0000FF"/>
                </a:solidFill>
                <a:latin typeface="宋体" panose="02010600030101010101" pitchFamily="2" charset="-122"/>
              </a:rPr>
              <a:t>；完成正负数据分离</a:t>
            </a:r>
          </a:p>
        </p:txBody>
      </p:sp>
      <p:pic>
        <p:nvPicPr>
          <p:cNvPr id="23555" name="图片 14345" descr="6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65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图片 14346" descr="5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62865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标题 15367"/>
          <p:cNvSpPr>
            <a:spLocks noGrp="1"/>
          </p:cNvSpPr>
          <p:nvPr>
            <p:ph type="title"/>
          </p:nvPr>
        </p:nvSpPr>
        <p:spPr>
          <a:xfrm>
            <a:off x="685800" y="838200"/>
            <a:ext cx="38862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5.4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：串读取－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24578" name="文本占位符 15368"/>
          <p:cNvSpPr>
            <a:spLocks noGrp="1"/>
          </p:cNvSpPr>
          <p:nvPr>
            <p:ph idx="1"/>
          </p:nvPr>
        </p:nvSpPr>
        <p:spPr>
          <a:xfrm>
            <a:off x="819150" y="2095500"/>
            <a:ext cx="7581900" cy="3748088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minus: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bx,di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chemeClr val="tx2"/>
                </a:solidFill>
                <a:latin typeface="宋体" panose="02010600030101010101" pitchFamily="2" charset="-122"/>
              </a:rPr>
              <a:t>stosb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；把负数存入</a:t>
            </a:r>
            <a:r>
              <a:rPr lang="en-US" altLang="zh-CN" sz="2600" err="1">
                <a:latin typeface="宋体" panose="02010600030101010101" pitchFamily="2" charset="-122"/>
              </a:rPr>
              <a:t>dminus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xchg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bx,di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again: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；字节数减</a:t>
            </a:r>
            <a:r>
              <a:rPr lang="en-US" altLang="zh-CN" sz="2600">
                <a:latin typeface="宋体" panose="02010600030101010101" pitchFamily="2" charset="-122"/>
              </a:rPr>
              <a:t>1</a:t>
            </a:r>
          </a:p>
          <a:p>
            <a:pPr marL="0" indent="0" defTabSz="914400">
              <a:buNone/>
              <a:tabLst>
                <a:tab pos="1336675" algn="l"/>
                <a:tab pos="3625850" algn="l"/>
              </a:tabLst>
            </a:pP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go_on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；完成正负数据分离</a:t>
            </a:r>
          </a:p>
        </p:txBody>
      </p:sp>
      <p:pic>
        <p:nvPicPr>
          <p:cNvPr id="24579" name="图片 15369" descr="6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6286500"/>
            <a:ext cx="57150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6385"/>
          <p:cNvSpPr>
            <a:spLocks noGrp="1"/>
          </p:cNvSpPr>
          <p:nvPr>
            <p:ph type="title"/>
          </p:nvPr>
        </p:nvSpPr>
        <p:spPr>
          <a:xfrm>
            <a:off x="533400" y="609600"/>
            <a:ext cx="6172200" cy="838200"/>
          </a:xfrm>
          <a:ln/>
        </p:spPr>
        <p:txBody>
          <a:bodyPr anchor="b" anchorCtr="0"/>
          <a:lstStyle/>
          <a:p>
            <a:r>
              <a:rPr lang="zh-CN" altLang="en-US" dirty="0"/>
              <a:t>串比较</a:t>
            </a:r>
            <a:r>
              <a:rPr lang="en-US" altLang="zh-CN"/>
              <a:t>CMPS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compare string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5602" name="文本占位符 16386"/>
          <p:cNvSpPr>
            <a:spLocks noGrp="1"/>
          </p:cNvSpPr>
          <p:nvPr>
            <p:ph idx="1"/>
          </p:nvPr>
        </p:nvSpPr>
        <p:spPr>
          <a:xfrm>
            <a:off x="457200" y="1719263"/>
            <a:ext cx="7696200" cy="1350962"/>
          </a:xfrm>
          <a:ln/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dirty="0">
                <a:ea typeface="楷体" panose="02010609060101010101" pitchFamily="49" charset="-122"/>
              </a:rPr>
              <a:t>将主存中的源操作数减去至目的操作数，以便设置标志，进而比较两操作数之间的关系</a:t>
            </a:r>
          </a:p>
        </p:txBody>
      </p:sp>
      <p:sp>
        <p:nvSpPr>
          <p:cNvPr id="25603" name="流程图: 可选过程 16387"/>
          <p:cNvSpPr/>
          <p:nvPr/>
        </p:nvSpPr>
        <p:spPr>
          <a:xfrm>
            <a:off x="914400" y="3048000"/>
            <a:ext cx="7467600" cy="1447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CMPSB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；字节串比较：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DS:[SI]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DI←DI±1</a:t>
            </a:r>
          </a:p>
        </p:txBody>
      </p:sp>
      <p:sp>
        <p:nvSpPr>
          <p:cNvPr id="25604" name="流程图: 可选过程 16388"/>
          <p:cNvSpPr/>
          <p:nvPr/>
        </p:nvSpPr>
        <p:spPr>
          <a:xfrm>
            <a:off x="838200" y="4800600"/>
            <a:ext cx="7467600" cy="1447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CMPSW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；字串比较：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DS:[SI]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SI←SI±2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DI←DI±2</a:t>
            </a:r>
          </a:p>
        </p:txBody>
      </p:sp>
    </p:spTree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标题 17415"/>
          <p:cNvSpPr>
            <a:spLocks noGrp="1"/>
          </p:cNvSpPr>
          <p:nvPr>
            <p:ph type="title"/>
          </p:nvPr>
        </p:nvSpPr>
        <p:spPr>
          <a:xfrm>
            <a:off x="838200" y="838200"/>
            <a:ext cx="41148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5.5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：比较字符串</a:t>
            </a:r>
          </a:p>
        </p:txBody>
      </p:sp>
      <p:sp>
        <p:nvSpPr>
          <p:cNvPr id="26626" name="文本占位符 17416"/>
          <p:cNvSpPr>
            <a:spLocks noGrp="1"/>
          </p:cNvSpPr>
          <p:nvPr>
            <p:ph idx="1"/>
          </p:nvPr>
        </p:nvSpPr>
        <p:spPr>
          <a:xfrm>
            <a:off x="457200" y="2095500"/>
            <a:ext cx="7943850" cy="4152900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string1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string2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cx,count</a:t>
            </a:r>
            <a:endParaRPr lang="en-US" altLang="zh-CN" sz="23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3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again: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chemeClr val="tx2"/>
                </a:solidFill>
                <a:latin typeface="宋体" panose="02010600030101010101" pitchFamily="2" charset="-122"/>
              </a:rPr>
              <a:t>cmpsb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；比较两个字符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zh-CN" altLang="en-US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unmat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；有不同字符，转移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zh-CN" altLang="en-US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endParaRPr lang="en-US" altLang="zh-CN" sz="23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；进行下一个字符比较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zh-CN" altLang="en-US" sz="23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al,0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；字符串相等，设置</a:t>
            </a:r>
            <a:r>
              <a:rPr lang="en-US" altLang="zh-CN" sz="2300">
                <a:latin typeface="宋体" panose="02010600030101010101" pitchFamily="2" charset="-122"/>
              </a:rPr>
              <a:t>00h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jmp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output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；转向</a:t>
            </a:r>
            <a:r>
              <a:rPr lang="en-US" altLang="zh-CN" sz="2300">
                <a:latin typeface="宋体" panose="02010600030101010101" pitchFamily="2" charset="-122"/>
              </a:rPr>
              <a:t>output</a:t>
            </a: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unmat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: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al,0ffh</a:t>
            </a:r>
            <a:r>
              <a:rPr lang="en-US" altLang="zh-CN" sz="2300"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；设置</a:t>
            </a:r>
            <a:r>
              <a:rPr lang="en-US" altLang="zh-CN" sz="2300" err="1">
                <a:latin typeface="宋体" panose="02010600030101010101" pitchFamily="2" charset="-122"/>
              </a:rPr>
              <a:t>ffh</a:t>
            </a:r>
            <a:endParaRPr lang="en-US" altLang="zh-CN" sz="23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7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output:	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3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300" err="1">
                <a:solidFill>
                  <a:srgbClr val="0000FF"/>
                </a:solidFill>
                <a:latin typeface="宋体" panose="02010600030101010101" pitchFamily="2" charset="-122"/>
              </a:rPr>
              <a:t>result,al</a:t>
            </a:r>
            <a:r>
              <a:rPr lang="en-US" altLang="zh-CN" sz="23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300" dirty="0">
                <a:latin typeface="宋体" panose="02010600030101010101" pitchFamily="2" charset="-122"/>
              </a:rPr>
              <a:t>；输出结果标记</a:t>
            </a: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843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串扫描</a:t>
            </a:r>
            <a:r>
              <a:rPr lang="en-US" altLang="zh-CN"/>
              <a:t>SCAS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scan string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7650" name="文本占位符 18434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1350962"/>
          </a:xfrm>
          <a:ln/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600">
                <a:latin typeface="楷体" panose="02010609060101010101" pitchFamily="49" charset="-122"/>
                <a:ea typeface="楷体" panose="02010609060101010101" pitchFamily="49" charset="-122"/>
              </a:rPr>
              <a:t>AL/AX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减去至目的操作数，以便设置标志，进而比较</a:t>
            </a:r>
            <a:r>
              <a:rPr lang="en-US" altLang="zh-CN" sz="2600">
                <a:latin typeface="楷体" panose="02010609060101010101" pitchFamily="49" charset="-122"/>
                <a:ea typeface="楷体" panose="02010609060101010101" pitchFamily="49" charset="-122"/>
              </a:rPr>
              <a:t>AL/AX</a:t>
            </a: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与操作数之间的关系</a:t>
            </a:r>
          </a:p>
        </p:txBody>
      </p:sp>
      <p:sp>
        <p:nvSpPr>
          <p:cNvPr id="27651" name="流程图: 可选过程 18435"/>
          <p:cNvSpPr/>
          <p:nvPr/>
        </p:nvSpPr>
        <p:spPr>
          <a:xfrm>
            <a:off x="1295400" y="2971800"/>
            <a:ext cx="6629400" cy="1447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SCASB	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；字节串扫描：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DI←DI±1</a:t>
            </a:r>
          </a:p>
        </p:txBody>
      </p:sp>
      <p:sp>
        <p:nvSpPr>
          <p:cNvPr id="27652" name="流程图: 可选过程 18436"/>
          <p:cNvSpPr/>
          <p:nvPr/>
        </p:nvSpPr>
        <p:spPr>
          <a:xfrm>
            <a:off x="1219200" y="4724400"/>
            <a:ext cx="6629400" cy="1447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SCASW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；字串扫描：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ES:[DI]</a:t>
            </a:r>
          </a:p>
          <a:p>
            <a:pPr defTabSz="914400"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DI←DI±2</a:t>
            </a:r>
          </a:p>
        </p:txBody>
      </p:sp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标题 19463"/>
          <p:cNvSpPr>
            <a:spLocks noGrp="1"/>
          </p:cNvSpPr>
          <p:nvPr>
            <p:ph type="title"/>
          </p:nvPr>
        </p:nvSpPr>
        <p:spPr>
          <a:xfrm>
            <a:off x="762000" y="685800"/>
            <a:ext cx="4038600" cy="6699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5.6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：查找字符串</a:t>
            </a:r>
          </a:p>
        </p:txBody>
      </p:sp>
      <p:sp>
        <p:nvSpPr>
          <p:cNvPr id="28674" name="文本占位符 19464"/>
          <p:cNvSpPr>
            <a:spLocks noGrp="1"/>
          </p:cNvSpPr>
          <p:nvPr>
            <p:ph idx="1"/>
          </p:nvPr>
        </p:nvSpPr>
        <p:spPr>
          <a:xfrm>
            <a:off x="457200" y="2095500"/>
            <a:ext cx="7943850" cy="4076700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zh-CN" altLang="zh-CN" sz="25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string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al,20h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cx,count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again: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scasb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；搜索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jz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found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；为</a:t>
            </a:r>
            <a:r>
              <a:rPr lang="en-US" altLang="zh-CN" sz="2500">
                <a:latin typeface="宋体" panose="02010600030101010101" pitchFamily="2" charset="-122"/>
              </a:rPr>
              <a:t>0</a:t>
            </a:r>
            <a:r>
              <a:rPr lang="zh-CN" altLang="en-US" sz="2500" dirty="0">
                <a:latin typeface="宋体" panose="02010600030101010101" pitchFamily="2" charset="-122"/>
              </a:rPr>
              <a:t>（</a:t>
            </a:r>
            <a:r>
              <a:rPr lang="en-US" altLang="zh-CN" sz="2500">
                <a:latin typeface="宋体" panose="02010600030101010101" pitchFamily="2" charset="-122"/>
              </a:rPr>
              <a:t>ZF=1</a:t>
            </a:r>
            <a:r>
              <a:rPr lang="zh-CN" altLang="en-US" sz="2500" dirty="0">
                <a:latin typeface="宋体" panose="02010600030101010101" pitchFamily="2" charset="-122"/>
              </a:rPr>
              <a:t>），发现空格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cx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；不是空格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again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；搜索下一个字符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...	</a:t>
            </a:r>
            <a:r>
              <a:rPr lang="zh-CN" altLang="en-US" sz="2500" dirty="0">
                <a:latin typeface="宋体" panose="02010600030101010101" pitchFamily="2" charset="-122"/>
              </a:rPr>
              <a:t>；不含空格，则继续执行</a:t>
            </a:r>
          </a:p>
          <a:p>
            <a:pPr marL="0" indent="0" defTabSz="914400">
              <a:lnSpc>
                <a:spcPct val="90000"/>
              </a:lnSpc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found:	...</a:t>
            </a: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2048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重复前缀指令</a:t>
            </a:r>
            <a:r>
              <a:rPr lang="zh-CN" altLang="zh-CN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repeat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9698" name="文本占位符 20482"/>
          <p:cNvSpPr>
            <a:spLocks noGrp="1"/>
          </p:cNvSpPr>
          <p:nvPr>
            <p:ph idx="1"/>
          </p:nvPr>
        </p:nvSpPr>
        <p:spPr>
          <a:xfrm>
            <a:off x="457200" y="1719263"/>
            <a:ext cx="7848600" cy="4411662"/>
          </a:xfrm>
          <a:ln/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串操作指令执行一次，仅对数据串中的一个字节或字量进行操作。但是串操作指令前，都可以加一个重复前缀，实现串操作的重复执行。重复次数隐含在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CX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寄存器中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重复前缀分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类，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条指令：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配合不影响标志的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MOVS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STOS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LODS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）指令的</a:t>
            </a:r>
            <a:r>
              <a:rPr lang="en-US" altLang="zh-CN" sz="30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前缀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配合影响标志的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CMPS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SCAS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指令的</a:t>
            </a:r>
            <a:r>
              <a:rPr lang="en-US" altLang="zh-CN" sz="30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REPZ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0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REPNZ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前缀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2150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en-US" altLang="zh-CN"/>
              <a:t>REP</a:t>
            </a:r>
            <a:r>
              <a:rPr lang="zh-CN" altLang="en-US" dirty="0"/>
              <a:t>重复前缀指令</a:t>
            </a:r>
            <a:endParaRPr lang="zh-CN" altLang="zh-CN" dirty="0"/>
          </a:p>
        </p:txBody>
      </p:sp>
      <p:sp>
        <p:nvSpPr>
          <p:cNvPr id="30722" name="文本占位符 21506"/>
          <p:cNvSpPr>
            <a:spLocks noGrp="1"/>
          </p:cNvSpPr>
          <p:nvPr>
            <p:ph idx="1"/>
          </p:nvPr>
        </p:nvSpPr>
        <p:spPr>
          <a:xfrm>
            <a:off x="457200" y="3143250"/>
            <a:ext cx="8229600" cy="2987675"/>
          </a:xfrm>
          <a:ln/>
        </p:spPr>
        <p:txBody>
          <a:bodyPr anchor="t" anchorCtr="0"/>
          <a:lstStyle/>
          <a:p>
            <a:r>
              <a:rPr lang="en-US" altLang="zh-CN"/>
              <a:t>REP</a:t>
            </a:r>
            <a:r>
              <a:rPr lang="zh-CN" altLang="en-US" dirty="0"/>
              <a:t>前缀可以理解为：当数据串没有结束</a:t>
            </a: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>
                <a:solidFill>
                  <a:schemeClr val="tx2"/>
                </a:solidFill>
              </a:rPr>
              <a:t>CX≠0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r>
              <a:rPr lang="zh-CN" altLang="en-US" dirty="0"/>
              <a:t>，则继续传送</a:t>
            </a:r>
          </a:p>
          <a:p>
            <a:r>
              <a:rPr lang="zh-CN" altLang="en-US" dirty="0"/>
              <a:t>例</a:t>
            </a:r>
            <a:r>
              <a:rPr lang="en-US" altLang="zh-CN"/>
              <a:t>5.2</a:t>
            </a:r>
            <a:r>
              <a:rPr lang="zh-CN" altLang="en-US" dirty="0"/>
              <a:t>和例</a:t>
            </a:r>
            <a:r>
              <a:rPr lang="en-US" altLang="zh-CN"/>
              <a:t>5.3</a:t>
            </a:r>
            <a:r>
              <a:rPr lang="zh-CN" altLang="en-US" dirty="0"/>
              <a:t>中，程序段的最后</a:t>
            </a:r>
            <a:r>
              <a:rPr lang="en-US" altLang="zh-CN"/>
              <a:t>3</a:t>
            </a:r>
            <a:r>
              <a:rPr lang="zh-CN" altLang="en-US" dirty="0"/>
              <a:t>条指令，可以分别替换为：</a:t>
            </a:r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/>
              <a:t>REP MOVSB </a:t>
            </a:r>
            <a:r>
              <a:rPr lang="zh-CN" altLang="en-US" dirty="0"/>
              <a:t>和 </a:t>
            </a:r>
            <a:r>
              <a:rPr lang="en-US" altLang="zh-CN"/>
              <a:t>REP STOSW</a:t>
            </a:r>
          </a:p>
        </p:txBody>
      </p:sp>
      <p:sp>
        <p:nvSpPr>
          <p:cNvPr id="30723" name="流程图: 可选过程 21507"/>
          <p:cNvSpPr/>
          <p:nvPr/>
        </p:nvSpPr>
        <p:spPr>
          <a:xfrm>
            <a:off x="685800" y="1524000"/>
            <a:ext cx="6629400" cy="10668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REP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；每执行一次串指令，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；直到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，重复执行结束</a:t>
            </a:r>
          </a:p>
        </p:txBody>
      </p:sp>
    </p:spTree>
  </p:cSld>
  <p:clrMapOvr>
    <a:masterClrMapping/>
  </p:clrMapOvr>
  <p:transition spd="med">
    <p:zoom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22529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868362"/>
          </a:xfrm>
          <a:ln/>
        </p:spPr>
        <p:txBody>
          <a:bodyPr anchor="b" anchorCtr="0"/>
          <a:lstStyle/>
          <a:p>
            <a:r>
              <a:rPr lang="zh-CN" altLang="en-US" dirty="0"/>
              <a:t>重复串传送</a:t>
            </a:r>
            <a:r>
              <a:rPr lang="zh-CN" altLang="en-US" sz="3000" b="0" dirty="0">
                <a:solidFill>
                  <a:schemeClr val="tx1"/>
                </a:solidFill>
              </a:rPr>
              <a:t>（例</a:t>
            </a:r>
            <a:r>
              <a:rPr lang="en-US" altLang="zh-CN" sz="3000" b="0">
                <a:solidFill>
                  <a:schemeClr val="tx1"/>
                </a:solidFill>
              </a:rPr>
              <a:t>5.2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1746" name="文本占位符 22530"/>
          <p:cNvSpPr>
            <a:spLocks noGrp="1"/>
          </p:cNvSpPr>
          <p:nvPr>
            <p:ph idx="1"/>
          </p:nvPr>
        </p:nvSpPr>
        <p:spPr>
          <a:xfrm>
            <a:off x="152400" y="1125538"/>
            <a:ext cx="8839200" cy="2514600"/>
          </a:xfrm>
          <a:ln w="28575">
            <a:solidFill>
              <a:schemeClr val="accent2"/>
            </a:solidFill>
            <a:miter/>
          </a:ln>
        </p:spPr>
        <p:txBody>
          <a:bodyPr anchor="t" anchorCtr="0"/>
          <a:lstStyle/>
          <a:p>
            <a:pPr marL="0" indent="390525" defTabSz="914400">
              <a:lnSpc>
                <a:spcPct val="90000"/>
              </a:lnSpc>
              <a:buNone/>
              <a:tabLst>
                <a:tab pos="1803400" algn="l"/>
                <a:tab pos="3530600" algn="l"/>
              </a:tabLst>
            </a:pPr>
            <a:r>
              <a:rPr lang="zh-CN" altLang="zh-CN" sz="26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source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destination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cx,100</a:t>
            </a:r>
            <a:r>
              <a:rPr lang="en-US" altLang="zh-CN" sz="2100"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 err="1">
                <a:latin typeface="宋体" panose="02010600030101010101" pitchFamily="2" charset="-122"/>
              </a:rPr>
              <a:t>cx</a:t>
            </a:r>
            <a:r>
              <a:rPr lang="en-US" altLang="zh-CN" sz="2100">
                <a:latin typeface="宋体" panose="02010600030101010101" pitchFamily="2" charset="-122"/>
              </a:rPr>
              <a:t>←</a:t>
            </a:r>
            <a:r>
              <a:rPr lang="zh-CN" altLang="en-US" sz="2100" dirty="0">
                <a:latin typeface="宋体" panose="02010600030101010101" pitchFamily="2" charset="-122"/>
              </a:rPr>
              <a:t>传送次数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1803400" algn="l"/>
                <a:tab pos="3530600" algn="l"/>
              </a:tabLst>
            </a:pPr>
            <a:r>
              <a:rPr lang="zh-CN" altLang="en-US" sz="21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1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rep 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</a:rPr>
              <a:t>movsb</a:t>
            </a:r>
            <a:endParaRPr lang="en-US" altLang="zh-CN" sz="21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31747" name="矩形 22531"/>
          <p:cNvSpPr/>
          <p:nvPr/>
        </p:nvSpPr>
        <p:spPr>
          <a:xfrm>
            <a:off x="0" y="3810000"/>
            <a:ext cx="8839200" cy="249555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t" anchorCtr="0"/>
          <a:lstStyle/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again: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movsb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；传送一个字节</a:t>
            </a:r>
            <a:endParaRPr lang="zh-CN" altLang="zh-CN" sz="2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803400" algn="l"/>
                <a:tab pos="3530600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；传送次数减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jnz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again</a:t>
            </a: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；判断传送次数</a:t>
            </a:r>
            <a:r>
              <a:rPr lang="en-US" altLang="zh-CN" sz="2100" err="1"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是否为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803400" algn="l"/>
                <a:tab pos="3530600" algn="l"/>
              </a:tabLst>
            </a:pP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；不为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ZF=0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），则转移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again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位置执行</a:t>
            </a: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803400" algn="l"/>
                <a:tab pos="3530600" algn="l"/>
              </a:tabLst>
            </a:pP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	；否则，结束</a:t>
            </a:r>
          </a:p>
        </p:txBody>
      </p:sp>
      <p:grpSp>
        <p:nvGrpSpPr>
          <p:cNvPr id="31748" name="组合 22532"/>
          <p:cNvGrpSpPr/>
          <p:nvPr/>
        </p:nvGrpSpPr>
        <p:grpSpPr>
          <a:xfrm>
            <a:off x="762000" y="2895600"/>
            <a:ext cx="2857500" cy="990600"/>
            <a:chOff x="576" y="1968"/>
            <a:chExt cx="1800" cy="624"/>
          </a:xfrm>
        </p:grpSpPr>
        <p:sp>
          <p:nvSpPr>
            <p:cNvPr id="31749" name="任意多边形 22533"/>
            <p:cNvSpPr/>
            <p:nvPr/>
          </p:nvSpPr>
          <p:spPr>
            <a:xfrm rot="10800000">
              <a:off x="576" y="1968"/>
              <a:ext cx="576" cy="624"/>
            </a:xfrm>
            <a:custGeom>
              <a:avLst/>
              <a:gdLst/>
              <a:ahLst/>
              <a:cxnLst>
                <a:cxn ang="270">
                  <a:pos x="16968" y="0"/>
                </a:cxn>
                <a:cxn ang="180">
                  <a:pos x="12337" y="5434"/>
                </a:cxn>
                <a:cxn ang="270">
                  <a:pos x="5434" y="12337"/>
                </a:cxn>
                <a:cxn ang="180">
                  <a:pos x="0" y="16968"/>
                </a:cxn>
                <a:cxn ang="90">
                  <a:pos x="5434" y="21600"/>
                </a:cxn>
                <a:cxn ang="90">
                  <a:pos x="11998" y="18562"/>
                </a:cxn>
                <a:cxn ang="0">
                  <a:pos x="18562" y="11998"/>
                </a:cxn>
                <a:cxn ang="0">
                  <a:pos x="21600" y="5434"/>
                </a:cxn>
              </a:cxnLst>
              <a:rect l="0" t="0" r="0" b="0"/>
              <a:pathLst>
                <a:path w="21600" h="21600">
                  <a:moveTo>
                    <a:pt x="16968" y="0"/>
                  </a:moveTo>
                  <a:lnTo>
                    <a:pt x="12337" y="5434"/>
                  </a:lnTo>
                  <a:lnTo>
                    <a:pt x="15375" y="5434"/>
                  </a:lnTo>
                  <a:lnTo>
                    <a:pt x="15375" y="15375"/>
                  </a:lnTo>
                  <a:lnTo>
                    <a:pt x="5434" y="15375"/>
                  </a:lnTo>
                  <a:lnTo>
                    <a:pt x="5434" y="12337"/>
                  </a:lnTo>
                  <a:lnTo>
                    <a:pt x="0" y="16968"/>
                  </a:lnTo>
                  <a:lnTo>
                    <a:pt x="5434" y="21600"/>
                  </a:lnTo>
                  <a:lnTo>
                    <a:pt x="5434" y="18562"/>
                  </a:lnTo>
                  <a:lnTo>
                    <a:pt x="18562" y="18562"/>
                  </a:lnTo>
                  <a:lnTo>
                    <a:pt x="18562" y="5434"/>
                  </a:lnTo>
                  <a:lnTo>
                    <a:pt x="21600" y="5434"/>
                  </a:ln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0" name="直接连接符 22534"/>
            <p:cNvSpPr/>
            <p:nvPr/>
          </p:nvSpPr>
          <p:spPr>
            <a:xfrm>
              <a:off x="1272" y="2232"/>
              <a:ext cx="1104" cy="0"/>
            </a:xfrm>
            <a:prstGeom prst="line">
              <a:avLst/>
            </a:prstGeom>
            <a:ln w="76200" cap="sq" cmpd="sng">
              <a:solidFill>
                <a:srgbClr val="2B8D0D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pic>
        <p:nvPicPr>
          <p:cNvPr id="31751" name="图片 22535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2355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重复串存储</a:t>
            </a:r>
            <a:r>
              <a:rPr lang="zh-CN" altLang="en-US" sz="3000" b="0" dirty="0">
                <a:solidFill>
                  <a:schemeClr val="tx1"/>
                </a:solidFill>
              </a:rPr>
              <a:t>（例</a:t>
            </a:r>
            <a:r>
              <a:rPr lang="en-US" altLang="zh-CN" sz="3000" b="0">
                <a:solidFill>
                  <a:schemeClr val="tx1"/>
                </a:solidFill>
              </a:rPr>
              <a:t>5.3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770" name="文本占位符 23554"/>
          <p:cNvSpPr>
            <a:spLocks noGrp="1"/>
          </p:cNvSpPr>
          <p:nvPr>
            <p:ph idx="1"/>
          </p:nvPr>
        </p:nvSpPr>
        <p:spPr>
          <a:xfrm>
            <a:off x="2209800" y="1600200"/>
            <a:ext cx="3078163" cy="2087563"/>
          </a:xfrm>
          <a:ln w="28575">
            <a:solidFill>
              <a:schemeClr val="accent2"/>
            </a:solidFill>
            <a:miter/>
          </a:ln>
        </p:spPr>
        <p:txBody>
          <a:bodyPr anchor="t" anchorCtr="0"/>
          <a:lstStyle/>
          <a:p>
            <a:pPr>
              <a:lnSpc>
                <a:spcPct val="90000"/>
              </a:lnSpc>
              <a:buNone/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ax,0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di,0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cx,8000h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1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</a:rPr>
              <a:t>rep 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</a:rPr>
              <a:t>stosw</a:t>
            </a:r>
            <a:endParaRPr lang="en-US" altLang="zh-CN" sz="21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32771" name="矩形 23555"/>
          <p:cNvSpPr/>
          <p:nvPr/>
        </p:nvSpPr>
        <p:spPr>
          <a:xfrm>
            <a:off x="250825" y="4283075"/>
            <a:ext cx="8001000" cy="16002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t" anchorCtr="0"/>
          <a:lstStyle/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520825" algn="l"/>
                <a:tab pos="3530600" algn="l"/>
              </a:tabLst>
            </a:pP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again: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stosw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；传送一个字</a:t>
            </a: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520825" algn="l"/>
                <a:tab pos="3530600" algn="l"/>
              </a:tabLst>
            </a:pPr>
            <a:r>
              <a:rPr lang="zh-CN" altLang="en-US" sz="2100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；传送次数减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indent="184150" defTabSz="9144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tabLst>
                <a:tab pos="1520825" algn="l"/>
                <a:tab pos="3530600" algn="l"/>
              </a:tabLst>
            </a:pP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10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jnz</a:t>
            </a:r>
            <a:r>
              <a:rPr lang="en-US" altLang="zh-CN" sz="21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again</a:t>
            </a:r>
            <a:r>
              <a:rPr lang="en-US" altLang="zh-CN" sz="210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；判断传送次数</a:t>
            </a:r>
            <a:r>
              <a:rPr lang="en-US" altLang="zh-CN" sz="2100" err="1"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是否为</a:t>
            </a:r>
            <a:r>
              <a:rPr lang="en-US" altLang="zh-CN" sz="21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32772" name="组合 23556"/>
          <p:cNvGrpSpPr/>
          <p:nvPr/>
        </p:nvGrpSpPr>
        <p:grpSpPr>
          <a:xfrm>
            <a:off x="1104900" y="3429000"/>
            <a:ext cx="2857500" cy="838200"/>
            <a:chOff x="576" y="2064"/>
            <a:chExt cx="1800" cy="624"/>
          </a:xfrm>
        </p:grpSpPr>
        <p:sp>
          <p:nvSpPr>
            <p:cNvPr id="32773" name="任意多边形 23557"/>
            <p:cNvSpPr/>
            <p:nvPr/>
          </p:nvSpPr>
          <p:spPr>
            <a:xfrm rot="10800000">
              <a:off x="576" y="2064"/>
              <a:ext cx="576" cy="624"/>
            </a:xfrm>
            <a:custGeom>
              <a:avLst/>
              <a:gdLst/>
              <a:ahLst/>
              <a:cxnLst>
                <a:cxn ang="270">
                  <a:pos x="16968" y="0"/>
                </a:cxn>
                <a:cxn ang="180">
                  <a:pos x="12337" y="5434"/>
                </a:cxn>
                <a:cxn ang="270">
                  <a:pos x="5434" y="12337"/>
                </a:cxn>
                <a:cxn ang="180">
                  <a:pos x="0" y="16968"/>
                </a:cxn>
                <a:cxn ang="90">
                  <a:pos x="5434" y="21600"/>
                </a:cxn>
                <a:cxn ang="90">
                  <a:pos x="11998" y="18562"/>
                </a:cxn>
                <a:cxn ang="0">
                  <a:pos x="18562" y="11998"/>
                </a:cxn>
                <a:cxn ang="0">
                  <a:pos x="21600" y="5434"/>
                </a:cxn>
              </a:cxnLst>
              <a:rect l="0" t="0" r="0" b="0"/>
              <a:pathLst>
                <a:path w="21600" h="21600">
                  <a:moveTo>
                    <a:pt x="16968" y="0"/>
                  </a:moveTo>
                  <a:lnTo>
                    <a:pt x="12337" y="5434"/>
                  </a:lnTo>
                  <a:lnTo>
                    <a:pt x="15375" y="5434"/>
                  </a:lnTo>
                  <a:lnTo>
                    <a:pt x="15375" y="15375"/>
                  </a:lnTo>
                  <a:lnTo>
                    <a:pt x="5434" y="15375"/>
                  </a:lnTo>
                  <a:lnTo>
                    <a:pt x="5434" y="12337"/>
                  </a:lnTo>
                  <a:lnTo>
                    <a:pt x="0" y="16968"/>
                  </a:lnTo>
                  <a:lnTo>
                    <a:pt x="5434" y="21600"/>
                  </a:lnTo>
                  <a:lnTo>
                    <a:pt x="5434" y="18562"/>
                  </a:lnTo>
                  <a:lnTo>
                    <a:pt x="18562" y="18562"/>
                  </a:lnTo>
                  <a:lnTo>
                    <a:pt x="18562" y="5434"/>
                  </a:lnTo>
                  <a:lnTo>
                    <a:pt x="21600" y="5434"/>
                  </a:ln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4" name="直接连接符 23558"/>
            <p:cNvSpPr/>
            <p:nvPr/>
          </p:nvSpPr>
          <p:spPr>
            <a:xfrm>
              <a:off x="1272" y="2256"/>
              <a:ext cx="1104" cy="0"/>
            </a:xfrm>
            <a:prstGeom prst="line">
              <a:avLst/>
            </a:prstGeom>
            <a:ln w="76200" cap="sq" cmpd="sng">
              <a:solidFill>
                <a:srgbClr val="2B8D0D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pic>
        <p:nvPicPr>
          <p:cNvPr id="32775" name="图片 23559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2457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en-US" altLang="zh-CN"/>
              <a:t>REPZ</a:t>
            </a:r>
            <a:r>
              <a:rPr lang="zh-CN" altLang="en-US" dirty="0"/>
              <a:t>重复前缀指令</a:t>
            </a:r>
            <a:endParaRPr lang="zh-CN" altLang="zh-CN" dirty="0"/>
          </a:p>
        </p:txBody>
      </p:sp>
      <p:sp>
        <p:nvSpPr>
          <p:cNvPr id="33794" name="文本占位符 24578"/>
          <p:cNvSpPr>
            <a:spLocks noGrp="1"/>
          </p:cNvSpPr>
          <p:nvPr>
            <p:ph idx="1"/>
          </p:nvPr>
        </p:nvSpPr>
        <p:spPr>
          <a:xfrm>
            <a:off x="893763" y="4122738"/>
            <a:ext cx="7281862" cy="1474787"/>
          </a:xfrm>
          <a:ln/>
        </p:spPr>
        <p:txBody>
          <a:bodyPr anchor="t" anchorCtr="0"/>
          <a:lstStyle/>
          <a:p>
            <a:r>
              <a:rPr lang="en-US" altLang="zh-CN"/>
              <a:t>REPZ/REPE</a:t>
            </a:r>
            <a:r>
              <a:rPr lang="zh-CN" altLang="en-US" dirty="0"/>
              <a:t>前缀可以理解为：当数据串没有结束</a:t>
            </a: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>
                <a:solidFill>
                  <a:schemeClr val="tx2"/>
                </a:solidFill>
              </a:rPr>
              <a:t>CX≠0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r>
              <a:rPr lang="zh-CN" altLang="en-US" dirty="0"/>
              <a:t>，并且串相等</a:t>
            </a: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>
                <a:solidFill>
                  <a:schemeClr val="tx2"/>
                </a:solidFill>
              </a:rPr>
              <a:t>ZF</a:t>
            </a:r>
            <a:r>
              <a:rPr lang="zh-CN" altLang="en-US" dirty="0">
                <a:solidFill>
                  <a:schemeClr val="tx2"/>
                </a:solidFill>
              </a:rPr>
              <a:t>＝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r>
              <a:rPr lang="zh-CN" altLang="en-US" dirty="0"/>
              <a:t>，则继续比较</a:t>
            </a:r>
          </a:p>
        </p:txBody>
      </p:sp>
      <p:sp>
        <p:nvSpPr>
          <p:cNvPr id="33795" name="流程图: 可选过程 24579"/>
          <p:cNvSpPr/>
          <p:nvPr/>
        </p:nvSpPr>
        <p:spPr>
          <a:xfrm>
            <a:off x="533400" y="1905000"/>
            <a:ext cx="7620000" cy="1524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REPZ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；每执行一次串指令，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；并判断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ZF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是否为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；只要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ZF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，重复执行结束</a:t>
            </a:r>
          </a:p>
        </p:txBody>
      </p:sp>
    </p:spTree>
  </p:cSld>
  <p:clrMapOvr>
    <a:masterClrMapping/>
  </p:clrMapOvr>
  <p:transition>
    <p:zoom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2560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en-US" altLang="zh-CN"/>
              <a:t>REPNZ</a:t>
            </a:r>
            <a:r>
              <a:rPr lang="zh-CN" altLang="en-US" dirty="0"/>
              <a:t>重复前缀指令</a:t>
            </a:r>
            <a:endParaRPr lang="zh-CN" altLang="zh-CN" dirty="0"/>
          </a:p>
        </p:txBody>
      </p:sp>
      <p:sp>
        <p:nvSpPr>
          <p:cNvPr id="34818" name="文本占位符 25602"/>
          <p:cNvSpPr>
            <a:spLocks noGrp="1"/>
          </p:cNvSpPr>
          <p:nvPr>
            <p:ph idx="1"/>
          </p:nvPr>
        </p:nvSpPr>
        <p:spPr>
          <a:xfrm>
            <a:off x="609600" y="3886200"/>
            <a:ext cx="7281863" cy="1843088"/>
          </a:xfrm>
          <a:ln/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en-US" altLang="zh-CN"/>
              <a:t>REPNZ/REPNE</a:t>
            </a:r>
            <a:r>
              <a:rPr lang="zh-CN" altLang="en-US" dirty="0"/>
              <a:t>前缀可以理解为：当数据串没有结束</a:t>
            </a: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>
                <a:solidFill>
                  <a:schemeClr val="tx2"/>
                </a:solidFill>
              </a:rPr>
              <a:t>CX≠0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r>
              <a:rPr lang="zh-CN" altLang="en-US" dirty="0"/>
              <a:t>，并且串不相等</a:t>
            </a: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>
                <a:solidFill>
                  <a:schemeClr val="tx2"/>
                </a:solidFill>
              </a:rPr>
              <a:t>ZF</a:t>
            </a:r>
            <a:r>
              <a:rPr lang="zh-CN" altLang="en-US" dirty="0">
                <a:solidFill>
                  <a:schemeClr val="tx2"/>
                </a:solidFill>
              </a:rPr>
              <a:t>＝</a:t>
            </a:r>
            <a:r>
              <a:rPr lang="en-US" altLang="zh-CN">
                <a:solidFill>
                  <a:schemeClr val="tx2"/>
                </a:solidFill>
              </a:rPr>
              <a:t>0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r>
              <a:rPr lang="zh-CN" altLang="en-US" dirty="0"/>
              <a:t>，则继续比较</a:t>
            </a:r>
          </a:p>
        </p:txBody>
      </p:sp>
      <p:sp>
        <p:nvSpPr>
          <p:cNvPr id="34819" name="流程图: 可选过程 25603"/>
          <p:cNvSpPr/>
          <p:nvPr/>
        </p:nvSpPr>
        <p:spPr>
          <a:xfrm>
            <a:off x="533400" y="1905000"/>
            <a:ext cx="7620000" cy="1752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pPr defTabSz="914400"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REPNZ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；每执行一次串指令，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；并判断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ZF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是否为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defTabSz="914400">
              <a:lnSpc>
                <a:spcPct val="90000"/>
              </a:lnSpc>
              <a:tabLst>
                <a:tab pos="1520825" algn="l"/>
              </a:tabLs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；只要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CX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ZF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，重复执行结束</a:t>
            </a:r>
          </a:p>
        </p:txBody>
      </p:sp>
    </p:spTree>
  </p:cSld>
  <p:clrMapOvr>
    <a:masterClrMapping/>
  </p:clrMapOvr>
  <p:transition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标题 26631"/>
          <p:cNvSpPr>
            <a:spLocks noGrp="1"/>
          </p:cNvSpPr>
          <p:nvPr>
            <p:ph type="title"/>
          </p:nvPr>
        </p:nvSpPr>
        <p:spPr>
          <a:xfrm>
            <a:off x="685800" y="838200"/>
            <a:ext cx="42672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5.7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：比较字符串</a:t>
            </a:r>
          </a:p>
        </p:txBody>
      </p:sp>
      <p:sp>
        <p:nvSpPr>
          <p:cNvPr id="35842" name="文本占位符 26632"/>
          <p:cNvSpPr>
            <a:spLocks noGrp="1"/>
          </p:cNvSpPr>
          <p:nvPr>
            <p:ph idx="1"/>
          </p:nvPr>
        </p:nvSpPr>
        <p:spPr>
          <a:xfrm>
            <a:off x="762000" y="1676400"/>
            <a:ext cx="7581900" cy="4038600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si,offset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string1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string2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cx,count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repz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cmpsb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solidFill>
                  <a:srgbClr val="0000FF"/>
                </a:solidFill>
                <a:latin typeface="宋体" panose="02010600030101010101" pitchFamily="2" charset="-122"/>
              </a:rPr>
              <a:t>；重复比较两个字符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zh-CN" altLang="en-US" sz="2500" dirty="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unmat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solidFill>
                  <a:srgbClr val="0000FF"/>
                </a:solidFill>
                <a:latin typeface="宋体" panose="02010600030101010101" pitchFamily="2" charset="-122"/>
              </a:rPr>
              <a:t>；字符串不等，转移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al,0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；字符串相等，设置</a:t>
            </a:r>
            <a:r>
              <a:rPr lang="en-US" altLang="zh-CN" sz="2500">
                <a:latin typeface="宋体" panose="02010600030101010101" pitchFamily="2" charset="-122"/>
              </a:rPr>
              <a:t>00h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jmp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output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；转向</a:t>
            </a:r>
            <a:r>
              <a:rPr lang="en-US" altLang="zh-CN" sz="2500">
                <a:latin typeface="宋体" panose="02010600030101010101" pitchFamily="2" charset="-122"/>
              </a:rPr>
              <a:t>output</a:t>
            </a: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unmat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: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al,0ffh</a:t>
            </a:r>
            <a:r>
              <a:rPr lang="en-US" altLang="zh-CN" sz="2500"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；设置</a:t>
            </a:r>
            <a:r>
              <a:rPr lang="en-US" altLang="zh-CN" sz="2500" err="1">
                <a:latin typeface="宋体" panose="02010600030101010101" pitchFamily="2" charset="-122"/>
              </a:rPr>
              <a:t>ffh</a:t>
            </a:r>
            <a:endParaRPr lang="en-US" altLang="zh-CN" sz="25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80000"/>
              </a:lnSpc>
              <a:buNone/>
              <a:tabLst>
                <a:tab pos="1336675" algn="l"/>
                <a:tab pos="371030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output: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result,al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；输出结果标记</a:t>
            </a:r>
          </a:p>
        </p:txBody>
      </p:sp>
      <p:sp>
        <p:nvSpPr>
          <p:cNvPr id="26634" name="圆角矩形 26633">
            <a:hlinkClick r:id="rId2" action="ppaction://hlinksldjump"/>
          </p:cNvPr>
          <p:cNvSpPr/>
          <p:nvPr/>
        </p:nvSpPr>
        <p:spPr>
          <a:xfrm>
            <a:off x="7524750" y="5734050"/>
            <a:ext cx="977900" cy="43815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fontAlgn="base">
              <a:lnSpc>
                <a:spcPct val="70000"/>
              </a:lnSpc>
            </a:pPr>
            <a:r>
              <a:rPr lang="zh-CN" altLang="en-US" sz="2000" b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解释</a:t>
            </a:r>
            <a:endParaRPr lang="zh-CN" altLang="en-US" sz="2000" b="1" strike="noStrike" noProof="1">
              <a:effectLst>
                <a:outerShdw blurRad="38100" dist="38100" dir="2700000">
                  <a:srgbClr val="FFFFFF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2764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重复比较的解释</a:t>
            </a:r>
          </a:p>
        </p:txBody>
      </p:sp>
      <p:sp>
        <p:nvSpPr>
          <p:cNvPr id="36866" name="文本占位符 27650"/>
          <p:cNvSpPr>
            <a:spLocks noGrp="1"/>
          </p:cNvSpPr>
          <p:nvPr>
            <p:ph idx="1"/>
          </p:nvPr>
        </p:nvSpPr>
        <p:spPr>
          <a:xfrm>
            <a:off x="457200" y="1760538"/>
            <a:ext cx="7696200" cy="4411662"/>
          </a:xfrm>
          <a:ln/>
        </p:spPr>
        <p:txBody>
          <a:bodyPr anchor="t" anchorCtr="0"/>
          <a:lstStyle/>
          <a:p>
            <a:r>
              <a:rPr lang="zh-CN" altLang="en-US" sz="2600" dirty="0">
                <a:latin typeface="宋体" panose="02010600030101010101" pitchFamily="2" charset="-122"/>
              </a:rPr>
              <a:t>指令</a:t>
            </a:r>
            <a:r>
              <a:rPr lang="en-US" altLang="zh-CN" sz="2600" err="1">
                <a:latin typeface="宋体" panose="02010600030101010101" pitchFamily="2" charset="-122"/>
              </a:rPr>
              <a:t>repz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latin typeface="宋体" panose="02010600030101010101" pitchFamily="2" charset="-122"/>
              </a:rPr>
              <a:t>cmpsb</a:t>
            </a:r>
            <a:r>
              <a:rPr lang="zh-CN" altLang="en-US" sz="2600" dirty="0">
                <a:latin typeface="宋体" panose="02010600030101010101" pitchFamily="2" charset="-122"/>
              </a:rPr>
              <a:t>结束重复执行的情况</a:t>
            </a:r>
          </a:p>
          <a:p>
            <a:pPr lvl="1" indent="76200">
              <a:buNone/>
            </a:pPr>
            <a:r>
              <a:rPr lang="en-US" altLang="zh-CN" sz="2200">
                <a:latin typeface="宋体" panose="02010600030101010101" pitchFamily="2" charset="-122"/>
              </a:rPr>
              <a:t>①  ZF</a:t>
            </a:r>
            <a:r>
              <a:rPr lang="zh-CN" altLang="en-US" sz="2200" dirty="0">
                <a:latin typeface="宋体" panose="02010600030101010101" pitchFamily="2" charset="-122"/>
              </a:rPr>
              <a:t>＝</a:t>
            </a:r>
            <a:r>
              <a:rPr lang="en-US" altLang="zh-CN" sz="2200">
                <a:latin typeface="宋体" panose="02010600030101010101" pitchFamily="2" charset="-122"/>
              </a:rPr>
              <a:t>0</a:t>
            </a:r>
            <a:r>
              <a:rPr lang="zh-CN" altLang="en-US" sz="2200" dirty="0">
                <a:latin typeface="宋体" panose="02010600030101010101" pitchFamily="2" charset="-122"/>
              </a:rPr>
              <a:t>，即</a:t>
            </a:r>
            <a:r>
              <a:rPr lang="zh-CN" altLang="en-US" sz="2200" dirty="0">
                <a:solidFill>
                  <a:srgbClr val="0000FF"/>
                </a:solidFill>
                <a:latin typeface="宋体" panose="02010600030101010101" pitchFamily="2" charset="-122"/>
              </a:rPr>
              <a:t>出现不相等的字符</a:t>
            </a:r>
          </a:p>
          <a:p>
            <a:pPr lvl="1" indent="76200">
              <a:buNone/>
            </a:pPr>
            <a:r>
              <a:rPr lang="en-US" altLang="zh-CN" sz="2200">
                <a:latin typeface="宋体" panose="02010600030101010101" pitchFamily="2" charset="-122"/>
              </a:rPr>
              <a:t>②  CX</a:t>
            </a:r>
            <a:r>
              <a:rPr lang="zh-CN" altLang="en-US" sz="2200" dirty="0">
                <a:latin typeface="宋体" panose="02010600030101010101" pitchFamily="2" charset="-122"/>
              </a:rPr>
              <a:t>＝</a:t>
            </a:r>
            <a:r>
              <a:rPr lang="en-US" altLang="zh-CN" sz="2200">
                <a:latin typeface="宋体" panose="02010600030101010101" pitchFamily="2" charset="-122"/>
              </a:rPr>
              <a:t>0</a:t>
            </a:r>
            <a:r>
              <a:rPr lang="zh-CN" altLang="en-US" sz="2200" dirty="0">
                <a:latin typeface="宋体" panose="02010600030101010101" pitchFamily="2" charset="-122"/>
              </a:rPr>
              <a:t>，即</a:t>
            </a:r>
            <a:r>
              <a:rPr lang="zh-CN" altLang="en-US" sz="2200" dirty="0">
                <a:solidFill>
                  <a:srgbClr val="0000FF"/>
                </a:solidFill>
                <a:latin typeface="宋体" panose="02010600030101010101" pitchFamily="2" charset="-122"/>
              </a:rPr>
              <a:t>比较完所有字符</a:t>
            </a:r>
          </a:p>
          <a:p>
            <a:pPr lvl="1" indent="76200">
              <a:buNone/>
            </a:pPr>
            <a:r>
              <a:rPr lang="zh-CN" altLang="en-US" sz="2200" dirty="0">
                <a:latin typeface="宋体" panose="02010600030101010101" pitchFamily="2" charset="-122"/>
              </a:rPr>
              <a:t>这种情况下，如果</a:t>
            </a:r>
            <a:r>
              <a:rPr lang="en-US" altLang="zh-CN" sz="2200">
                <a:latin typeface="宋体" panose="02010600030101010101" pitchFamily="2" charset="-122"/>
              </a:rPr>
              <a:t>ZF</a:t>
            </a:r>
            <a:r>
              <a:rPr lang="zh-CN" altLang="en-US" sz="2200" dirty="0">
                <a:latin typeface="宋体" panose="02010600030101010101" pitchFamily="2" charset="-122"/>
              </a:rPr>
              <a:t>＝</a:t>
            </a:r>
            <a:r>
              <a:rPr lang="en-US" altLang="zh-CN" sz="2200">
                <a:latin typeface="宋体" panose="02010600030101010101" pitchFamily="2" charset="-122"/>
              </a:rPr>
              <a:t>0</a:t>
            </a:r>
            <a:r>
              <a:rPr lang="zh-CN" altLang="en-US" sz="2200" dirty="0">
                <a:latin typeface="宋体" panose="02010600030101010101" pitchFamily="2" charset="-122"/>
              </a:rPr>
              <a:t>，说明最后一个字符不等；而</a:t>
            </a:r>
            <a:r>
              <a:rPr lang="en-US" altLang="zh-CN" sz="2200">
                <a:latin typeface="宋体" panose="02010600030101010101" pitchFamily="2" charset="-122"/>
              </a:rPr>
              <a:t>ZF</a:t>
            </a:r>
            <a:r>
              <a:rPr lang="zh-CN" altLang="en-US" sz="2200" dirty="0">
                <a:latin typeface="宋体" panose="02010600030101010101" pitchFamily="2" charset="-122"/>
              </a:rPr>
              <a:t>＝</a:t>
            </a:r>
            <a:r>
              <a:rPr lang="en-US" altLang="zh-CN" sz="220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表示所有字符比较后都相等，也就是两个字符串相同</a:t>
            </a:r>
          </a:p>
          <a:p>
            <a:r>
              <a:rPr lang="zh-CN" altLang="en-US" sz="2600" dirty="0"/>
              <a:t>所以，重复比较结束后，</a:t>
            </a:r>
            <a:r>
              <a:rPr lang="en-US" altLang="zh-CN" sz="2600" err="1"/>
              <a:t>jnz</a:t>
            </a:r>
            <a:r>
              <a:rPr lang="en-US" altLang="zh-CN" sz="2600"/>
              <a:t> </a:t>
            </a:r>
            <a:r>
              <a:rPr lang="en-US" altLang="zh-CN" sz="2600" err="1"/>
              <a:t>unmat</a:t>
            </a:r>
            <a:r>
              <a:rPr lang="zh-CN" altLang="en-US" sz="2600" dirty="0"/>
              <a:t>指令的条件成立</a:t>
            </a:r>
            <a:r>
              <a:rPr lang="en-US" altLang="zh-CN" sz="2600"/>
              <a:t>ZF</a:t>
            </a:r>
            <a:r>
              <a:rPr lang="zh-CN" altLang="en-US" sz="2600" dirty="0"/>
              <a:t>＝</a:t>
            </a:r>
            <a:r>
              <a:rPr lang="en-US" altLang="zh-CN" sz="2600"/>
              <a:t>0</a:t>
            </a:r>
            <a:r>
              <a:rPr lang="zh-CN" altLang="en-US" sz="2600" dirty="0"/>
              <a:t>，字符串不相等</a:t>
            </a:r>
          </a:p>
        </p:txBody>
      </p:sp>
      <p:pic>
        <p:nvPicPr>
          <p:cNvPr id="36867" name="图片 27651" descr="14_6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6316663"/>
            <a:ext cx="51435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0" name="标题 28679"/>
          <p:cNvSpPr>
            <a:spLocks noGrp="1"/>
          </p:cNvSpPr>
          <p:nvPr>
            <p:ph type="title"/>
          </p:nvPr>
        </p:nvSpPr>
        <p:spPr>
          <a:xfrm>
            <a:off x="990600" y="990600"/>
            <a:ext cx="3810000" cy="6699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5.8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：查找字符串</a:t>
            </a:r>
          </a:p>
        </p:txBody>
      </p:sp>
      <p:sp>
        <p:nvSpPr>
          <p:cNvPr id="37890" name="文本占位符 28680"/>
          <p:cNvSpPr>
            <a:spLocks noGrp="1"/>
          </p:cNvSpPr>
          <p:nvPr>
            <p:ph idx="1"/>
          </p:nvPr>
        </p:nvSpPr>
        <p:spPr>
          <a:xfrm>
            <a:off x="819150" y="2095500"/>
            <a:ext cx="7581900" cy="3748088"/>
          </a:xfrm>
          <a:solidFill>
            <a:schemeClr val="bg1"/>
          </a:solidFill>
          <a:ln/>
        </p:spPr>
        <p:txBody>
          <a:bodyPr anchor="t" anchorCtr="0"/>
          <a:lstStyle/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zh-CN" altLang="zh-CN" sz="2500" dirty="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di,offset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string</a:t>
            </a: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al,20h</a:t>
            </a: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cx,count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cld</a:t>
            </a:r>
            <a:endParaRPr lang="en-US" altLang="zh-CN" sz="25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repnz</a:t>
            </a:r>
            <a:r>
              <a:rPr lang="en-US" altLang="zh-CN" sz="250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500" err="1">
                <a:solidFill>
                  <a:schemeClr val="tx2"/>
                </a:solidFill>
                <a:latin typeface="宋体" panose="02010600030101010101" pitchFamily="2" charset="-122"/>
              </a:rPr>
              <a:t>scasb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；搜索</a:t>
            </a: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 err="1">
                <a:solidFill>
                  <a:srgbClr val="0000FF"/>
                </a:solidFill>
                <a:latin typeface="宋体" panose="02010600030101010101" pitchFamily="2" charset="-122"/>
              </a:rPr>
              <a:t>jz</a:t>
            </a: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 found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500" dirty="0">
                <a:latin typeface="宋体" panose="02010600030101010101" pitchFamily="2" charset="-122"/>
              </a:rPr>
              <a:t>；为</a:t>
            </a:r>
            <a:r>
              <a:rPr lang="en-US" altLang="zh-CN" sz="2500">
                <a:latin typeface="宋体" panose="02010600030101010101" pitchFamily="2" charset="-122"/>
              </a:rPr>
              <a:t>0</a:t>
            </a:r>
            <a:r>
              <a:rPr lang="zh-CN" altLang="en-US" sz="2500" dirty="0">
                <a:latin typeface="宋体" panose="02010600030101010101" pitchFamily="2" charset="-122"/>
              </a:rPr>
              <a:t>（</a:t>
            </a:r>
            <a:r>
              <a:rPr lang="en-US" altLang="zh-CN" sz="2500">
                <a:latin typeface="宋体" panose="02010600030101010101" pitchFamily="2" charset="-122"/>
              </a:rPr>
              <a:t>ZF=1</a:t>
            </a:r>
            <a:r>
              <a:rPr lang="zh-CN" altLang="en-US" sz="2500" dirty="0">
                <a:latin typeface="宋体" panose="02010600030101010101" pitchFamily="2" charset="-122"/>
              </a:rPr>
              <a:t>），发现空格</a:t>
            </a: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zh-CN" altLang="en-US" sz="2500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500">
                <a:solidFill>
                  <a:schemeClr val="accent2"/>
                </a:solidFill>
                <a:latin typeface="宋体" panose="02010600030101010101" pitchFamily="2" charset="-122"/>
              </a:rPr>
              <a:t>...	</a:t>
            </a:r>
            <a:r>
              <a:rPr lang="zh-CN" altLang="en-US" sz="2500" dirty="0">
                <a:latin typeface="宋体" panose="02010600030101010101" pitchFamily="2" charset="-122"/>
              </a:rPr>
              <a:t>；不含空格，则继续执行</a:t>
            </a:r>
          </a:p>
          <a:p>
            <a:pPr marL="0" indent="0" defTabSz="914400">
              <a:buNone/>
              <a:tabLst>
                <a:tab pos="1336675" algn="l"/>
                <a:tab pos="3241675" algn="l"/>
              </a:tabLst>
            </a:pPr>
            <a:r>
              <a:rPr lang="en-US" altLang="zh-CN" sz="2500">
                <a:solidFill>
                  <a:srgbClr val="0000FF"/>
                </a:solidFill>
                <a:latin typeface="宋体" panose="02010600030101010101" pitchFamily="2" charset="-122"/>
              </a:rPr>
              <a:t>found:	...</a:t>
            </a:r>
          </a:p>
        </p:txBody>
      </p:sp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2969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en-US" altLang="zh-CN"/>
              <a:t>6  </a:t>
            </a:r>
            <a:r>
              <a:rPr lang="zh-CN" altLang="en-US" dirty="0"/>
              <a:t>处理机控制类指令</a:t>
            </a:r>
          </a:p>
        </p:txBody>
      </p:sp>
      <p:sp>
        <p:nvSpPr>
          <p:cNvPr id="38914" name="文本占位符 29698"/>
          <p:cNvSpPr>
            <a:spLocks noGrp="1"/>
          </p:cNvSpPr>
          <p:nvPr>
            <p:ph idx="1"/>
          </p:nvPr>
        </p:nvSpPr>
        <p:spPr>
          <a:ln/>
        </p:spPr>
        <p:txBody>
          <a:bodyPr anchor="t" anchorCtr="0"/>
          <a:lstStyle/>
          <a:p>
            <a:r>
              <a:rPr lang="zh-CN" altLang="en-US" dirty="0"/>
              <a:t>对</a:t>
            </a:r>
            <a:r>
              <a:rPr lang="en-US" altLang="zh-CN"/>
              <a:t>CPU</a:t>
            </a:r>
            <a:r>
              <a:rPr lang="zh-CN" altLang="en-US" dirty="0"/>
              <a:t>状态进行控制的指令</a:t>
            </a:r>
          </a:p>
          <a:p>
            <a:pPr lvl="1"/>
            <a:r>
              <a:rPr lang="en-US" altLang="zh-CN" b="1">
                <a:solidFill>
                  <a:srgbClr val="0000FF"/>
                </a:solidFill>
              </a:rPr>
              <a:t>NOP    CS:  SS:  DS:  ES:</a:t>
            </a:r>
          </a:p>
          <a:p>
            <a:pPr lvl="1"/>
            <a:r>
              <a:rPr lang="en-US" altLang="zh-CN" b="1">
                <a:solidFill>
                  <a:srgbClr val="0000FF"/>
                </a:solidFill>
              </a:rPr>
              <a:t>LOCK    HLT    ESC    WAIT</a:t>
            </a:r>
          </a:p>
        </p:txBody>
      </p:sp>
    </p:spTree>
  </p:cSld>
  <p:clrMapOvr>
    <a:masterClrMapping/>
  </p:clrMapOvr>
  <p:transition>
    <p:blinds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3072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空操作指令</a:t>
            </a:r>
          </a:p>
        </p:txBody>
      </p:sp>
      <p:sp>
        <p:nvSpPr>
          <p:cNvPr id="39938" name="文本占位符 30722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4411662"/>
          </a:xfrm>
          <a:ln/>
        </p:spPr>
        <p:txBody>
          <a:bodyPr anchor="t" anchorCtr="0"/>
          <a:lstStyle/>
          <a:p>
            <a:pPr lvl="1">
              <a:lnSpc>
                <a:spcPct val="90000"/>
              </a:lnSpc>
              <a:buNone/>
            </a:pPr>
            <a:r>
              <a:rPr lang="en-US" altLang="zh-CN" sz="3000">
                <a:solidFill>
                  <a:srgbClr val="0000FF"/>
                </a:solidFill>
              </a:rPr>
              <a:t>NOP</a:t>
            </a:r>
          </a:p>
          <a:p>
            <a:pPr lvl="1">
              <a:lnSpc>
                <a:spcPct val="90000"/>
              </a:lnSpc>
              <a:buNone/>
            </a:pPr>
            <a:endParaRPr lang="en-US" altLang="zh-CN" sz="300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600" dirty="0"/>
              <a:t>不执行任何操作，但占用一个字节存储单元，空耗一个指令执行周期</a:t>
            </a:r>
          </a:p>
          <a:p>
            <a:pPr>
              <a:lnSpc>
                <a:spcPct val="90000"/>
              </a:lnSpc>
            </a:pPr>
            <a:r>
              <a:rPr lang="en-US" altLang="zh-CN" sz="2600"/>
              <a:t>NOP</a:t>
            </a:r>
            <a:r>
              <a:rPr lang="zh-CN" altLang="en-US" sz="2600" dirty="0"/>
              <a:t>常用于程序调试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在需要预留指令空间时用</a:t>
            </a:r>
            <a:r>
              <a:rPr lang="en-US" altLang="zh-CN" sz="2200"/>
              <a:t>NOP</a:t>
            </a:r>
            <a:r>
              <a:rPr lang="zh-CN" altLang="en-US" sz="2200" dirty="0"/>
              <a:t>填充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代码空间多余时也可以用</a:t>
            </a:r>
            <a:r>
              <a:rPr lang="en-US" altLang="zh-CN" sz="2200"/>
              <a:t>NOP</a:t>
            </a:r>
            <a:r>
              <a:rPr lang="zh-CN" altLang="en-US" sz="2200" dirty="0"/>
              <a:t>填充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/>
              <a:t>还可以用</a:t>
            </a:r>
            <a:r>
              <a:rPr lang="en-US" altLang="zh-CN" sz="2200"/>
              <a:t>NOP</a:t>
            </a:r>
            <a:r>
              <a:rPr lang="zh-CN" altLang="en-US" sz="2200" dirty="0"/>
              <a:t>实现软件延时</a:t>
            </a:r>
          </a:p>
          <a:p>
            <a:pPr>
              <a:lnSpc>
                <a:spcPct val="90000"/>
              </a:lnSpc>
            </a:pPr>
            <a:r>
              <a:rPr lang="zh-CN" altLang="en-US" sz="2600" dirty="0"/>
              <a:t>事实上，</a:t>
            </a:r>
            <a:r>
              <a:rPr lang="en-US" altLang="zh-CN" sz="2600">
                <a:solidFill>
                  <a:schemeClr val="tx2"/>
                </a:solidFill>
              </a:rPr>
              <a:t>NOP</a:t>
            </a:r>
            <a:r>
              <a:rPr lang="zh-CN" altLang="en-US" sz="2600" dirty="0"/>
              <a:t>和</a:t>
            </a:r>
            <a:r>
              <a:rPr lang="en-US" altLang="zh-CN" sz="2600">
                <a:solidFill>
                  <a:schemeClr val="tx2"/>
                </a:solidFill>
              </a:rPr>
              <a:t>XCHG AX,AX</a:t>
            </a:r>
            <a:r>
              <a:rPr lang="zh-CN" altLang="en-US" sz="2600" dirty="0"/>
              <a:t>的指令代码一样，都是 </a:t>
            </a:r>
            <a:r>
              <a:rPr lang="en-US" altLang="zh-CN" sz="2600"/>
              <a:t>90H</a:t>
            </a:r>
          </a:p>
        </p:txBody>
      </p:sp>
    </p:spTree>
  </p:cSld>
  <p:clrMapOvr>
    <a:masterClrMapping/>
  </p:clrMapOvr>
  <p:transition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174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段超越前缀指令</a:t>
            </a:r>
            <a:endParaRPr lang="zh-CN" altLang="zh-CN" dirty="0"/>
          </a:p>
        </p:txBody>
      </p:sp>
      <p:sp>
        <p:nvSpPr>
          <p:cNvPr id="40962" name="文本占位符 31746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4411662"/>
          </a:xfrm>
          <a:ln/>
        </p:spPr>
        <p:txBody>
          <a:bodyPr anchor="t" anchorCtr="0"/>
          <a:lstStyle/>
          <a:p>
            <a:pPr defTabSz="914400">
              <a:tabLst>
                <a:tab pos="2289175" algn="l"/>
              </a:tabLst>
            </a:pPr>
            <a:r>
              <a:rPr lang="zh-CN" altLang="en-US" dirty="0"/>
              <a:t>在允许段超越的存储器操作数之前，使用段超越前缀指令，将采用指定的段寄存器寻址操作数</a:t>
            </a:r>
          </a:p>
          <a:p>
            <a:pPr defTabSz="914400">
              <a:buNone/>
              <a:tabLst>
                <a:tab pos="2289175" algn="l"/>
              </a:tabLst>
            </a:pPr>
            <a:r>
              <a:rPr lang="en-US" altLang="zh-CN">
                <a:solidFill>
                  <a:srgbClr val="0000FF"/>
                </a:solidFill>
              </a:rPr>
              <a:t>CS:</a:t>
            </a:r>
            <a:r>
              <a:rPr lang="en-US" altLang="zh-CN"/>
              <a:t>	</a:t>
            </a:r>
            <a:r>
              <a:rPr lang="zh-CN" altLang="en-US" sz="2600" dirty="0"/>
              <a:t>；使用代码段的数据</a:t>
            </a:r>
          </a:p>
          <a:p>
            <a:pPr defTabSz="914400">
              <a:buNone/>
              <a:tabLst>
                <a:tab pos="2289175" algn="l"/>
              </a:tabLst>
            </a:pPr>
            <a:r>
              <a:rPr lang="en-US" altLang="zh-CN">
                <a:solidFill>
                  <a:srgbClr val="0000FF"/>
                </a:solidFill>
              </a:rPr>
              <a:t>SS:</a:t>
            </a:r>
            <a:r>
              <a:rPr lang="en-US" altLang="zh-CN"/>
              <a:t>	</a:t>
            </a:r>
            <a:r>
              <a:rPr lang="zh-CN" altLang="en-US" sz="2600" dirty="0"/>
              <a:t>；使用堆栈段的数据</a:t>
            </a:r>
          </a:p>
          <a:p>
            <a:pPr defTabSz="914400">
              <a:buNone/>
              <a:tabLst>
                <a:tab pos="2289175" algn="l"/>
              </a:tabLst>
            </a:pPr>
            <a:r>
              <a:rPr lang="en-US" altLang="zh-CN">
                <a:solidFill>
                  <a:srgbClr val="0000FF"/>
                </a:solidFill>
              </a:rPr>
              <a:t>DS:</a:t>
            </a:r>
            <a:r>
              <a:rPr lang="en-US" altLang="zh-CN"/>
              <a:t>	</a:t>
            </a:r>
            <a:r>
              <a:rPr lang="zh-CN" altLang="en-US" sz="2600" dirty="0"/>
              <a:t>；使用数据段的数据</a:t>
            </a:r>
          </a:p>
          <a:p>
            <a:pPr defTabSz="914400">
              <a:buNone/>
              <a:tabLst>
                <a:tab pos="2289175" algn="l"/>
              </a:tabLst>
            </a:pPr>
            <a:r>
              <a:rPr lang="en-US" altLang="zh-CN">
                <a:solidFill>
                  <a:srgbClr val="0000FF"/>
                </a:solidFill>
              </a:rPr>
              <a:t>ES:</a:t>
            </a:r>
            <a:r>
              <a:rPr lang="en-US" altLang="zh-CN"/>
              <a:t>	</a:t>
            </a:r>
            <a:r>
              <a:rPr lang="zh-CN" altLang="en-US" sz="2600" dirty="0"/>
              <a:t>；使用附加段的数据</a:t>
            </a:r>
          </a:p>
        </p:txBody>
      </p:sp>
    </p:spTree>
  </p:cSld>
  <p:clrMapOvr>
    <a:masterClrMapping/>
  </p:clrMapOvr>
  <p:transition>
    <p:split orient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3276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封锁前缀指令</a:t>
            </a:r>
            <a:endParaRPr lang="zh-CN" altLang="zh-CN" dirty="0"/>
          </a:p>
        </p:txBody>
      </p:sp>
      <p:sp>
        <p:nvSpPr>
          <p:cNvPr id="41986" name="文本占位符 32770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4411662"/>
          </a:xfrm>
          <a:ln/>
        </p:spPr>
        <p:txBody>
          <a:bodyPr anchor="t" anchorCtr="0"/>
          <a:lstStyle/>
          <a:p>
            <a:pPr defTabSz="914400">
              <a:buNone/>
              <a:tabLst>
                <a:tab pos="2289175" algn="l"/>
              </a:tabLst>
            </a:pPr>
            <a:r>
              <a:rPr lang="en-US" altLang="zh-CN" dirty="0">
                <a:solidFill>
                  <a:schemeClr val="bg2"/>
                </a:solidFill>
              </a:rPr>
              <a:t>	</a:t>
            </a:r>
            <a:r>
              <a:rPr lang="en-US" altLang="zh-CN">
                <a:solidFill>
                  <a:srgbClr val="0000FF"/>
                </a:solidFill>
              </a:rPr>
              <a:t>LOCK</a:t>
            </a:r>
            <a:r>
              <a:rPr lang="en-US" altLang="zh-CN"/>
              <a:t>	</a:t>
            </a:r>
            <a:r>
              <a:rPr lang="zh-CN" altLang="en-US" sz="2600" dirty="0"/>
              <a:t>；封锁总线</a:t>
            </a:r>
          </a:p>
          <a:p>
            <a:pPr defTabSz="914400">
              <a:buNone/>
              <a:tabLst>
                <a:tab pos="2289175" algn="l"/>
              </a:tabLst>
            </a:pPr>
            <a:endParaRPr lang="zh-CN" altLang="en-US" sz="2600" dirty="0"/>
          </a:p>
          <a:p>
            <a:pPr defTabSz="914400">
              <a:tabLst>
                <a:tab pos="2289175" algn="l"/>
              </a:tabLst>
            </a:pPr>
            <a:r>
              <a:rPr lang="zh-CN" altLang="en-US" dirty="0"/>
              <a:t>这是一个指令前缀，可放在任何指令前</a:t>
            </a:r>
          </a:p>
          <a:p>
            <a:pPr defTabSz="914400">
              <a:tabLst>
                <a:tab pos="2289175" algn="l"/>
              </a:tabLst>
            </a:pPr>
            <a:r>
              <a:rPr lang="zh-CN" altLang="en-US" dirty="0"/>
              <a:t>这个前缀使得在这个指令执行时间内，</a:t>
            </a:r>
            <a:r>
              <a:rPr lang="en-US" altLang="zh-CN"/>
              <a:t>8086 </a:t>
            </a:r>
            <a:r>
              <a:rPr lang="zh-CN" altLang="en-US" dirty="0"/>
              <a:t>处理器的封锁输出引脚有效，即把总线封锁，使别的控制器不能控制总线；直到该指令执行完后，总线封锁解除</a:t>
            </a:r>
          </a:p>
        </p:txBody>
      </p:sp>
    </p:spTree>
  </p:cSld>
  <p:clrMapOvr>
    <a:masterClrMapping/>
  </p:clrMapOvr>
  <p:transition>
    <p:split orient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33793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暂停指令</a:t>
            </a:r>
            <a:endParaRPr lang="zh-CN" altLang="zh-CN" dirty="0"/>
          </a:p>
        </p:txBody>
      </p:sp>
      <p:sp>
        <p:nvSpPr>
          <p:cNvPr id="43010" name="文本占位符 33794"/>
          <p:cNvSpPr>
            <a:spLocks noGrp="1"/>
          </p:cNvSpPr>
          <p:nvPr>
            <p:ph idx="1"/>
          </p:nvPr>
        </p:nvSpPr>
        <p:spPr>
          <a:xfrm>
            <a:off x="457200" y="1719263"/>
            <a:ext cx="7467600" cy="4411662"/>
          </a:xfrm>
          <a:ln/>
        </p:spPr>
        <p:txBody>
          <a:bodyPr anchor="t" anchorCtr="0"/>
          <a:lstStyle/>
          <a:p>
            <a:pPr defTabSz="914400">
              <a:lnSpc>
                <a:spcPct val="90000"/>
              </a:lnSpc>
              <a:buNone/>
              <a:tabLst>
                <a:tab pos="2289175" algn="l"/>
              </a:tabLst>
            </a:pPr>
            <a:r>
              <a:rPr lang="en-US" altLang="zh-CN" sz="2600" dirty="0">
                <a:solidFill>
                  <a:schemeClr val="tx2"/>
                </a:solidFill>
              </a:rPr>
              <a:t>	</a:t>
            </a:r>
            <a:r>
              <a:rPr lang="en-US" altLang="zh-CN">
                <a:solidFill>
                  <a:srgbClr val="0000FF"/>
                </a:solidFill>
              </a:rPr>
              <a:t>HLT</a:t>
            </a:r>
            <a:r>
              <a:rPr lang="en-US" altLang="zh-CN" sz="2600"/>
              <a:t>	</a:t>
            </a:r>
            <a:r>
              <a:rPr lang="zh-CN" altLang="en-US" sz="2500" dirty="0"/>
              <a:t>；进入暂停状态</a:t>
            </a:r>
          </a:p>
          <a:p>
            <a:pPr defTabSz="914400">
              <a:lnSpc>
                <a:spcPct val="90000"/>
              </a:lnSpc>
              <a:buNone/>
              <a:tabLst>
                <a:tab pos="2289175" algn="l"/>
              </a:tabLst>
            </a:pPr>
            <a:endParaRPr lang="zh-CN" altLang="en-US" sz="2500" dirty="0"/>
          </a:p>
          <a:p>
            <a:pPr defTabSz="914400">
              <a:lnSpc>
                <a:spcPct val="90000"/>
              </a:lnSpc>
              <a:tabLst>
                <a:tab pos="2289175" algn="l"/>
              </a:tabLst>
            </a:pPr>
            <a:r>
              <a:rPr lang="zh-CN" altLang="en-US" sz="2600" dirty="0"/>
              <a:t>暂停指令使</a:t>
            </a:r>
            <a:r>
              <a:rPr lang="en-US" altLang="zh-CN" sz="2600"/>
              <a:t>CPU</a:t>
            </a:r>
            <a:r>
              <a:rPr lang="zh-CN" altLang="en-US" sz="2600" dirty="0"/>
              <a:t>进入暂停状态，这时</a:t>
            </a:r>
            <a:r>
              <a:rPr lang="en-US" altLang="zh-CN" sz="2600"/>
              <a:t>CPU</a:t>
            </a:r>
            <a:r>
              <a:rPr lang="zh-CN" altLang="en-US" sz="2600" dirty="0"/>
              <a:t>不进行任何操作。当</a:t>
            </a:r>
            <a:r>
              <a:rPr lang="en-US" altLang="zh-CN" sz="2600"/>
              <a:t>CPU</a:t>
            </a:r>
            <a:r>
              <a:rPr lang="zh-CN" altLang="en-US" sz="2600" dirty="0"/>
              <a:t>发生复位或来自外部的中断时，</a:t>
            </a:r>
            <a:r>
              <a:rPr lang="en-US" altLang="zh-CN" sz="2600"/>
              <a:t>CPU</a:t>
            </a:r>
            <a:r>
              <a:rPr lang="zh-CN" altLang="en-US" sz="2600" dirty="0"/>
              <a:t>脱离暂停状态</a:t>
            </a:r>
          </a:p>
          <a:p>
            <a:pPr defTabSz="914400">
              <a:lnSpc>
                <a:spcPct val="90000"/>
              </a:lnSpc>
              <a:tabLst>
                <a:tab pos="2289175" algn="l"/>
              </a:tabLst>
            </a:pPr>
            <a:r>
              <a:rPr lang="en-US" altLang="zh-CN" sz="2600"/>
              <a:t>HLT</a:t>
            </a:r>
            <a:r>
              <a:rPr lang="zh-CN" altLang="en-US" sz="2600" dirty="0"/>
              <a:t>指令可用于程序中等待中断。当程序中必须等待中断时，可用</a:t>
            </a:r>
            <a:r>
              <a:rPr lang="en-US" altLang="zh-CN" sz="2600"/>
              <a:t>HLT</a:t>
            </a:r>
            <a:r>
              <a:rPr lang="zh-CN" altLang="en-US" sz="2600" dirty="0"/>
              <a:t>，而不必用软件死循环。然后，中断使</a:t>
            </a:r>
            <a:r>
              <a:rPr lang="en-US" altLang="zh-CN" sz="2600"/>
              <a:t>CPU</a:t>
            </a:r>
            <a:r>
              <a:rPr lang="zh-CN" altLang="en-US" sz="2600" dirty="0"/>
              <a:t>脱离暂停状态，返回执行</a:t>
            </a:r>
            <a:r>
              <a:rPr lang="en-US" altLang="zh-CN" sz="2600"/>
              <a:t>HLT</a:t>
            </a:r>
            <a:r>
              <a:rPr lang="zh-CN" altLang="en-US" sz="2600" dirty="0"/>
              <a:t>的下一条指令</a:t>
            </a:r>
          </a:p>
        </p:txBody>
      </p:sp>
    </p:spTree>
  </p:cSld>
  <p:clrMapOvr>
    <a:masterClrMapping/>
  </p:clrMapOvr>
  <p:transition>
    <p:split orient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34817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交权指令</a:t>
            </a:r>
            <a:endParaRPr lang="zh-CN" altLang="zh-CN" dirty="0"/>
          </a:p>
        </p:txBody>
      </p:sp>
      <p:sp>
        <p:nvSpPr>
          <p:cNvPr id="44034" name="文本占位符 34818"/>
          <p:cNvSpPr>
            <a:spLocks noGrp="1"/>
          </p:cNvSpPr>
          <p:nvPr>
            <p:ph idx="1"/>
          </p:nvPr>
        </p:nvSpPr>
        <p:spPr>
          <a:xfrm>
            <a:off x="517525" y="1719263"/>
            <a:ext cx="8108950" cy="4368800"/>
          </a:xfrm>
          <a:ln/>
        </p:spPr>
        <p:txBody>
          <a:bodyPr anchor="t" anchorCtr="0"/>
          <a:lstStyle/>
          <a:p>
            <a:pPr>
              <a:buNone/>
            </a:pPr>
            <a:r>
              <a:rPr lang="en-US" altLang="zh-CN" dirty="0"/>
              <a:t>	</a:t>
            </a:r>
            <a:r>
              <a:rPr lang="en-US" altLang="zh-CN" sz="2500">
                <a:solidFill>
                  <a:schemeClr val="tx2"/>
                </a:solidFill>
              </a:rPr>
              <a:t>ESC 6</a:t>
            </a:r>
            <a:r>
              <a:rPr lang="zh-CN" altLang="en-US" sz="2500" dirty="0">
                <a:solidFill>
                  <a:schemeClr val="tx2"/>
                </a:solidFill>
              </a:rPr>
              <a:t>位立即数</a:t>
            </a:r>
            <a:r>
              <a:rPr lang="en-US" altLang="zh-CN" sz="2500">
                <a:solidFill>
                  <a:schemeClr val="tx2"/>
                </a:solidFill>
              </a:rPr>
              <a:t>,</a:t>
            </a:r>
            <a:r>
              <a:rPr lang="en-US" altLang="zh-CN" sz="2500" err="1">
                <a:solidFill>
                  <a:schemeClr val="tx2"/>
                </a:solidFill>
              </a:rPr>
              <a:t>reg/mem</a:t>
            </a:r>
            <a:endParaRPr lang="en-US" altLang="zh-CN" sz="250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sz="2400">
                <a:solidFill>
                  <a:schemeClr val="accent2"/>
                </a:solidFill>
              </a:rPr>
              <a:t>                                      </a:t>
            </a:r>
            <a:r>
              <a:rPr lang="zh-CN" altLang="en-US" sz="2400" dirty="0">
                <a:solidFill>
                  <a:schemeClr val="accent2"/>
                </a:solidFill>
              </a:rPr>
              <a:t>；把浮点指令交给浮点处理器执行</a:t>
            </a:r>
          </a:p>
          <a:p>
            <a:r>
              <a:rPr lang="zh-CN" altLang="en-US" sz="2100" dirty="0"/>
              <a:t>浮点协处理器</a:t>
            </a:r>
            <a:r>
              <a:rPr lang="en-US" altLang="zh-CN" sz="2100"/>
              <a:t>8087</a:t>
            </a:r>
            <a:r>
              <a:rPr lang="zh-CN" altLang="en-US" sz="2100" dirty="0"/>
              <a:t>指令是与</a:t>
            </a:r>
            <a:r>
              <a:rPr lang="en-US" altLang="zh-CN" sz="2100"/>
              <a:t>8086</a:t>
            </a:r>
            <a:r>
              <a:rPr lang="zh-CN" altLang="en-US" sz="2100" dirty="0"/>
              <a:t>的整数指令组合在一起的，当</a:t>
            </a:r>
            <a:r>
              <a:rPr lang="en-US" altLang="zh-CN" sz="2100"/>
              <a:t>8086</a:t>
            </a:r>
            <a:r>
              <a:rPr lang="zh-CN" altLang="en-US" sz="2100" dirty="0"/>
              <a:t>发现是一条浮点指令时，就利用</a:t>
            </a:r>
            <a:r>
              <a:rPr lang="en-US" altLang="zh-CN" sz="2100"/>
              <a:t>ESC</a:t>
            </a:r>
            <a:r>
              <a:rPr lang="zh-CN" altLang="en-US" sz="2100" dirty="0"/>
              <a:t>指令将浮点指令交给</a:t>
            </a:r>
            <a:r>
              <a:rPr lang="en-US" altLang="zh-CN" sz="2100"/>
              <a:t>8087</a:t>
            </a:r>
            <a:r>
              <a:rPr lang="zh-CN" altLang="en-US" sz="2100" dirty="0"/>
              <a:t>执行</a:t>
            </a:r>
          </a:p>
          <a:p>
            <a:r>
              <a:rPr lang="zh-CN" altLang="en-US" sz="2100" dirty="0"/>
              <a:t>实际编写程序时，一般采用易于理解的浮点指令助记符格式</a:t>
            </a:r>
          </a:p>
          <a:p>
            <a:pPr>
              <a:buNone/>
            </a:pPr>
            <a:r>
              <a:rPr lang="en-US" altLang="zh-CN" sz="2100">
                <a:solidFill>
                  <a:schemeClr val="accent2"/>
                </a:solidFill>
              </a:rPr>
              <a:t>ESC 6,[SI]</a:t>
            </a:r>
          </a:p>
          <a:p>
            <a:pPr>
              <a:buNone/>
            </a:pPr>
            <a:r>
              <a:rPr lang="en-US" altLang="zh-CN" sz="2100"/>
              <a:t>	</a:t>
            </a:r>
            <a:r>
              <a:rPr lang="zh-CN" altLang="en-US" sz="2100" dirty="0"/>
              <a:t>；实数除法指令：</a:t>
            </a:r>
            <a:r>
              <a:rPr lang="en-US" altLang="zh-CN" sz="2100">
                <a:solidFill>
                  <a:schemeClr val="accent2"/>
                </a:solidFill>
              </a:rPr>
              <a:t>FDIV </a:t>
            </a:r>
            <a:r>
              <a:rPr lang="en-US" altLang="zh-CN" sz="2100" err="1">
                <a:solidFill>
                  <a:schemeClr val="accent2"/>
                </a:solidFill>
              </a:rPr>
              <a:t>dword</a:t>
            </a:r>
            <a:r>
              <a:rPr lang="en-US" altLang="zh-CN" sz="2100">
                <a:solidFill>
                  <a:schemeClr val="accent2"/>
                </a:solidFill>
              </a:rPr>
              <a:t> </a:t>
            </a:r>
            <a:r>
              <a:rPr lang="en-US" altLang="zh-CN" sz="2100" err="1">
                <a:solidFill>
                  <a:schemeClr val="accent2"/>
                </a:solidFill>
              </a:rPr>
              <a:t>ptr</a:t>
            </a:r>
            <a:r>
              <a:rPr lang="en-US" altLang="zh-CN" sz="2100">
                <a:solidFill>
                  <a:schemeClr val="accent2"/>
                </a:solidFill>
              </a:rPr>
              <a:t> [SI]</a:t>
            </a:r>
          </a:p>
          <a:p>
            <a:pPr>
              <a:buNone/>
            </a:pPr>
            <a:r>
              <a:rPr lang="en-US" altLang="zh-CN" sz="2100">
                <a:solidFill>
                  <a:schemeClr val="accent2"/>
                </a:solidFill>
              </a:rPr>
              <a:t>ESC 20H,AL</a:t>
            </a:r>
          </a:p>
          <a:p>
            <a:pPr>
              <a:buNone/>
            </a:pPr>
            <a:r>
              <a:rPr lang="en-US" altLang="zh-CN" sz="2100"/>
              <a:t>	</a:t>
            </a:r>
            <a:r>
              <a:rPr lang="zh-CN" altLang="en-US" sz="2100" dirty="0"/>
              <a:t>；整数加法指令：</a:t>
            </a:r>
            <a:r>
              <a:rPr lang="en-US" altLang="zh-CN" sz="2100">
                <a:solidFill>
                  <a:schemeClr val="accent2"/>
                </a:solidFill>
              </a:rPr>
              <a:t>FADD ST(0),ST</a:t>
            </a:r>
          </a:p>
        </p:txBody>
      </p:sp>
    </p:spTree>
  </p:cSld>
  <p:clrMapOvr>
    <a:masterClrMapping/>
  </p:clrMapOvr>
  <p:transition>
    <p:split orient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3584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等待指令</a:t>
            </a:r>
            <a:endParaRPr lang="zh-CN" altLang="zh-CN" dirty="0"/>
          </a:p>
        </p:txBody>
      </p:sp>
      <p:sp>
        <p:nvSpPr>
          <p:cNvPr id="45058" name="文本占位符 35842"/>
          <p:cNvSpPr>
            <a:spLocks noGrp="1"/>
          </p:cNvSpPr>
          <p:nvPr>
            <p:ph idx="1"/>
          </p:nvPr>
        </p:nvSpPr>
        <p:spPr>
          <a:xfrm>
            <a:off x="457200" y="1719263"/>
            <a:ext cx="8305800" cy="4411662"/>
          </a:xfrm>
          <a:ln/>
        </p:spPr>
        <p:txBody>
          <a:bodyPr anchor="t" anchorCtr="0"/>
          <a:lstStyle/>
          <a:p>
            <a:pPr defTabSz="914400">
              <a:buNone/>
              <a:tabLst>
                <a:tab pos="2289175" algn="l"/>
              </a:tabLst>
            </a:pPr>
            <a:r>
              <a:rPr lang="en-US" altLang="zh-CN" dirty="0">
                <a:solidFill>
                  <a:schemeClr val="bg2"/>
                </a:solidFill>
              </a:rPr>
              <a:t>	</a:t>
            </a:r>
            <a:r>
              <a:rPr lang="en-US" altLang="zh-CN">
                <a:solidFill>
                  <a:srgbClr val="0000FF"/>
                </a:solidFill>
              </a:rPr>
              <a:t>WAIT</a:t>
            </a:r>
            <a:r>
              <a:rPr lang="en-US" altLang="zh-CN"/>
              <a:t>	</a:t>
            </a:r>
            <a:r>
              <a:rPr lang="zh-CN" altLang="en-US" sz="2600" dirty="0"/>
              <a:t>；进入等待状态</a:t>
            </a:r>
          </a:p>
          <a:p>
            <a:pPr defTabSz="914400">
              <a:buNone/>
              <a:tabLst>
                <a:tab pos="2289175" algn="l"/>
              </a:tabLst>
            </a:pPr>
            <a:endParaRPr lang="zh-CN" altLang="en-US" sz="2600" dirty="0"/>
          </a:p>
          <a:p>
            <a:pPr defTabSz="914400">
              <a:tabLst>
                <a:tab pos="2289175" algn="l"/>
              </a:tabLst>
            </a:pPr>
            <a:r>
              <a:rPr lang="en-US" altLang="zh-CN" sz="2600"/>
              <a:t>8086</a:t>
            </a:r>
            <a:r>
              <a:rPr lang="zh-CN" altLang="en-US" sz="2600" dirty="0"/>
              <a:t>利用</a:t>
            </a:r>
            <a:r>
              <a:rPr lang="en-US" altLang="zh-CN" sz="2600"/>
              <a:t>WAIT</a:t>
            </a:r>
            <a:r>
              <a:rPr lang="zh-CN" altLang="en-US" sz="2600" dirty="0"/>
              <a:t>指令和测试引脚实现与</a:t>
            </a:r>
            <a:r>
              <a:rPr lang="en-US" altLang="zh-CN" sz="2600"/>
              <a:t>8087</a:t>
            </a:r>
            <a:r>
              <a:rPr lang="zh-CN" altLang="en-US" sz="2600" dirty="0"/>
              <a:t>同步运行</a:t>
            </a:r>
          </a:p>
          <a:p>
            <a:pPr defTabSz="914400">
              <a:tabLst>
                <a:tab pos="2289175" algn="l"/>
              </a:tabLst>
            </a:pPr>
            <a:r>
              <a:rPr lang="zh-CN" altLang="en-US" sz="2600" dirty="0"/>
              <a:t>浮点指令经由</a:t>
            </a:r>
            <a:r>
              <a:rPr lang="en-US" altLang="zh-CN" sz="2600"/>
              <a:t>8086</a:t>
            </a:r>
            <a:r>
              <a:rPr lang="zh-CN" altLang="en-US" sz="2600" dirty="0"/>
              <a:t>处理发往</a:t>
            </a:r>
            <a:r>
              <a:rPr lang="en-US" altLang="zh-CN" sz="2600"/>
              <a:t>8087</a:t>
            </a:r>
            <a:r>
              <a:rPr lang="zh-CN" altLang="en-US" sz="2600" dirty="0"/>
              <a:t>，并与</a:t>
            </a:r>
            <a:r>
              <a:rPr lang="en-US" altLang="zh-CN" sz="2600"/>
              <a:t>8086</a:t>
            </a:r>
            <a:r>
              <a:rPr lang="zh-CN" altLang="en-US" sz="2600" dirty="0"/>
              <a:t>本身的整数指令在同一个指令序列；而</a:t>
            </a:r>
            <a:r>
              <a:rPr lang="en-US" altLang="zh-CN" sz="2600"/>
              <a:t>8087</a:t>
            </a:r>
            <a:r>
              <a:rPr lang="zh-CN" altLang="en-US" sz="2600" dirty="0"/>
              <a:t>执行浮点指令较慢，所以</a:t>
            </a:r>
            <a:r>
              <a:rPr lang="en-US" altLang="zh-CN" sz="2600"/>
              <a:t>8086</a:t>
            </a:r>
            <a:r>
              <a:rPr lang="zh-CN" altLang="en-US" sz="2600" dirty="0"/>
              <a:t>必须与</a:t>
            </a:r>
            <a:r>
              <a:rPr lang="en-US" altLang="zh-CN" sz="2600"/>
              <a:t>8087</a:t>
            </a:r>
            <a:r>
              <a:rPr lang="zh-CN" altLang="en-US" sz="2600" dirty="0"/>
              <a:t>保持同步</a:t>
            </a:r>
          </a:p>
        </p:txBody>
      </p:sp>
    </p:spTree>
  </p:cSld>
  <p:clrMapOvr>
    <a:masterClrMapping/>
  </p:clrMapOvr>
  <p:transition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3686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总结</a:t>
            </a:r>
            <a:r>
              <a:rPr lang="en-US" altLang="zh-CN"/>
              <a:t>:</a:t>
            </a:r>
          </a:p>
        </p:txBody>
      </p:sp>
      <p:sp>
        <p:nvSpPr>
          <p:cNvPr id="46082" name="文本占位符 36866"/>
          <p:cNvSpPr>
            <a:spLocks noGrp="1"/>
          </p:cNvSpPr>
          <p:nvPr>
            <p:ph idx="1"/>
          </p:nvPr>
        </p:nvSpPr>
        <p:spPr>
          <a:xfrm>
            <a:off x="457200" y="1719263"/>
            <a:ext cx="7620000" cy="4197350"/>
          </a:xfrm>
          <a:ln/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dirty="0"/>
              <a:t>本章详细而完整地介绍了</a:t>
            </a:r>
            <a:r>
              <a:rPr lang="zh-CN" altLang="zh-CN" sz="2600" dirty="0"/>
              <a:t>8086</a:t>
            </a:r>
            <a:r>
              <a:rPr lang="zh-CN" altLang="en-US" sz="2600" dirty="0"/>
              <a:t>的</a:t>
            </a:r>
            <a:r>
              <a:rPr lang="en-US" altLang="zh-CN" sz="2600"/>
              <a:t>16</a:t>
            </a:r>
            <a:r>
              <a:rPr lang="zh-CN" altLang="en-US" sz="2600" dirty="0"/>
              <a:t>位指令系统的每条指令</a:t>
            </a:r>
          </a:p>
          <a:p>
            <a:pPr>
              <a:lnSpc>
                <a:spcPct val="90000"/>
              </a:lnSpc>
            </a:pPr>
            <a:r>
              <a:rPr lang="zh-CN" altLang="en-US" sz="2600" dirty="0"/>
              <a:t>希望大家进行一下整理（总结）：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寻址方式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指令支持的操作数形式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指令对标志的影响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常见编程问题</a:t>
            </a:r>
          </a:p>
          <a:p>
            <a:pPr>
              <a:lnSpc>
                <a:spcPct val="90000"/>
              </a:lnSpc>
            </a:pPr>
            <a:r>
              <a:rPr lang="zh-CN" altLang="en-US" sz="2600" dirty="0"/>
              <a:t>通过复习整理，形成指令系统的整体概念，进而掌握常用指令</a:t>
            </a: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3788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教学要求</a:t>
            </a:r>
            <a:endParaRPr lang="zh-CN" altLang="en-US" sz="3000" dirty="0"/>
          </a:p>
        </p:txBody>
      </p:sp>
      <p:sp>
        <p:nvSpPr>
          <p:cNvPr id="47106" name="文本占位符 37890"/>
          <p:cNvSpPr>
            <a:spLocks noGrp="1"/>
          </p:cNvSpPr>
          <p:nvPr>
            <p:ph idx="1"/>
          </p:nvPr>
        </p:nvSpPr>
        <p:spPr>
          <a:xfrm>
            <a:off x="304800" y="1828800"/>
            <a:ext cx="8229600" cy="4411663"/>
          </a:xfrm>
          <a:ln/>
        </p:spPr>
        <p:txBody>
          <a:bodyPr anchor="t" anchorCtr="0"/>
          <a:lstStyle/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熟悉</a:t>
            </a:r>
            <a:r>
              <a:rPr lang="en-US" altLang="zh-CN"/>
              <a:t>8086</a:t>
            </a:r>
            <a:r>
              <a:rPr lang="zh-CN" altLang="en-US" dirty="0"/>
              <a:t>的基本参数、堆栈工作原理、指令对标志的影响、符号扩展的含义、压缩和非压缩</a:t>
            </a:r>
            <a:r>
              <a:rPr lang="en-US" altLang="zh-CN"/>
              <a:t>BCD</a:t>
            </a:r>
            <a:r>
              <a:rPr lang="zh-CN" altLang="en-US" dirty="0"/>
              <a:t>的格式、</a:t>
            </a:r>
            <a:r>
              <a:rPr lang="zh-CN" altLang="en-US" dirty="0">
                <a:latin typeface="Times New Roman" panose="02020603050405020304" pitchFamily="18" charset="0"/>
              </a:rPr>
              <a:t>串操作寻址特点</a:t>
            </a:r>
            <a:endParaRPr lang="zh-CN" altLang="en-US" dirty="0"/>
          </a:p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掌握基本指令：</a:t>
            </a:r>
            <a:r>
              <a:rPr lang="en-US" altLang="zh-CN"/>
              <a:t>MOV</a:t>
            </a:r>
            <a:r>
              <a:rPr lang="zh-CN" altLang="en-US" dirty="0"/>
              <a:t>／</a:t>
            </a:r>
            <a:r>
              <a:rPr lang="en-US" altLang="zh-CN"/>
              <a:t>XCHG</a:t>
            </a:r>
            <a:r>
              <a:rPr lang="zh-CN" altLang="en-US" dirty="0"/>
              <a:t>、</a:t>
            </a:r>
            <a:r>
              <a:rPr lang="en-US" altLang="zh-CN"/>
              <a:t>PUSH</a:t>
            </a:r>
            <a:r>
              <a:rPr lang="zh-CN" altLang="en-US" dirty="0"/>
              <a:t>／</a:t>
            </a:r>
            <a:r>
              <a:rPr lang="en-US" altLang="zh-CN"/>
              <a:t>POP</a:t>
            </a:r>
            <a:r>
              <a:rPr lang="zh-CN" altLang="en-US" dirty="0"/>
              <a:t>、</a:t>
            </a:r>
            <a:r>
              <a:rPr lang="en-US" altLang="zh-CN"/>
              <a:t>LEA</a:t>
            </a:r>
            <a:r>
              <a:rPr lang="zh-CN" altLang="en-US" dirty="0"/>
              <a:t>；</a:t>
            </a:r>
            <a:r>
              <a:rPr lang="en-US" altLang="zh-CN"/>
              <a:t>ADD</a:t>
            </a:r>
            <a:r>
              <a:rPr lang="zh-CN" altLang="en-US" dirty="0"/>
              <a:t>／</a:t>
            </a:r>
            <a:r>
              <a:rPr lang="en-US" altLang="zh-CN"/>
              <a:t>ADC</a:t>
            </a:r>
            <a:r>
              <a:rPr lang="zh-CN" altLang="en-US" dirty="0"/>
              <a:t>／</a:t>
            </a:r>
            <a:r>
              <a:rPr lang="en-US" altLang="zh-CN"/>
              <a:t>INC</a:t>
            </a:r>
            <a:r>
              <a:rPr lang="zh-CN" altLang="en-US" dirty="0"/>
              <a:t>、</a:t>
            </a:r>
            <a:r>
              <a:rPr lang="en-US" altLang="zh-CN"/>
              <a:t>SUB</a:t>
            </a:r>
            <a:r>
              <a:rPr lang="zh-CN" altLang="en-US" dirty="0"/>
              <a:t>／</a:t>
            </a:r>
            <a:r>
              <a:rPr lang="en-US" altLang="zh-CN"/>
              <a:t>SBB</a:t>
            </a:r>
            <a:r>
              <a:rPr lang="zh-CN" altLang="en-US" dirty="0"/>
              <a:t>／</a:t>
            </a:r>
            <a:r>
              <a:rPr lang="en-US" altLang="zh-CN"/>
              <a:t>DEC</a:t>
            </a:r>
            <a:r>
              <a:rPr lang="zh-CN" altLang="en-US" dirty="0"/>
              <a:t>／</a:t>
            </a:r>
            <a:r>
              <a:rPr lang="en-US" altLang="zh-CN"/>
              <a:t>CMP</a:t>
            </a:r>
            <a:r>
              <a:rPr lang="zh-CN" altLang="en-US" dirty="0"/>
              <a:t>／</a:t>
            </a:r>
            <a:r>
              <a:rPr lang="en-US" altLang="zh-CN"/>
              <a:t>NEG</a:t>
            </a:r>
            <a:r>
              <a:rPr lang="zh-CN" altLang="en-US" dirty="0"/>
              <a:t>；</a:t>
            </a:r>
            <a:r>
              <a:rPr lang="en-US" altLang="zh-CN"/>
              <a:t>AND</a:t>
            </a:r>
            <a:r>
              <a:rPr lang="zh-CN" altLang="en-US" dirty="0"/>
              <a:t>／</a:t>
            </a:r>
            <a:r>
              <a:rPr lang="en-US" altLang="zh-CN"/>
              <a:t>OR</a:t>
            </a:r>
            <a:r>
              <a:rPr lang="zh-CN" altLang="en-US" dirty="0"/>
              <a:t>／</a:t>
            </a:r>
            <a:r>
              <a:rPr lang="en-US" altLang="zh-CN"/>
              <a:t>XOR</a:t>
            </a:r>
            <a:r>
              <a:rPr lang="zh-CN" altLang="en-US" dirty="0"/>
              <a:t>／</a:t>
            </a:r>
            <a:r>
              <a:rPr lang="en-US" altLang="zh-CN"/>
              <a:t>NOT</a:t>
            </a:r>
            <a:r>
              <a:rPr lang="zh-CN" altLang="en-US" dirty="0"/>
              <a:t>／</a:t>
            </a:r>
            <a:r>
              <a:rPr lang="en-US" altLang="zh-CN"/>
              <a:t>TEST</a:t>
            </a:r>
            <a:r>
              <a:rPr lang="zh-CN" altLang="en-US" dirty="0"/>
              <a:t>、</a:t>
            </a:r>
            <a:r>
              <a:rPr lang="en-US" altLang="zh-CN"/>
              <a:t>SHL</a:t>
            </a:r>
            <a:r>
              <a:rPr lang="zh-CN" altLang="en-US" dirty="0"/>
              <a:t>／</a:t>
            </a:r>
            <a:r>
              <a:rPr lang="en-US" altLang="zh-CN"/>
              <a:t>SHR</a:t>
            </a:r>
            <a:r>
              <a:rPr lang="zh-CN" altLang="en-US" dirty="0"/>
              <a:t>／</a:t>
            </a:r>
            <a:r>
              <a:rPr lang="en-US" altLang="zh-CN"/>
              <a:t>SAR</a:t>
            </a:r>
            <a:r>
              <a:rPr lang="zh-CN" altLang="en-US" dirty="0"/>
              <a:t>、</a:t>
            </a:r>
            <a:r>
              <a:rPr lang="en-US" altLang="zh-CN"/>
              <a:t>ROL</a:t>
            </a:r>
            <a:r>
              <a:rPr lang="zh-CN" altLang="en-US" dirty="0"/>
              <a:t>／</a:t>
            </a:r>
            <a:r>
              <a:rPr lang="en-US" altLang="zh-CN"/>
              <a:t>ROR</a:t>
            </a:r>
            <a:r>
              <a:rPr lang="zh-CN" altLang="en-US" dirty="0"/>
              <a:t>／</a:t>
            </a:r>
            <a:r>
              <a:rPr lang="en-US" altLang="zh-CN"/>
              <a:t>RCL</a:t>
            </a:r>
            <a:r>
              <a:rPr lang="zh-CN" altLang="en-US" dirty="0"/>
              <a:t>／</a:t>
            </a:r>
            <a:r>
              <a:rPr lang="en-US" altLang="zh-CN"/>
              <a:t>RCR</a:t>
            </a:r>
            <a:r>
              <a:rPr lang="zh-CN" altLang="en-US" dirty="0"/>
              <a:t>； </a:t>
            </a:r>
            <a:r>
              <a:rPr lang="en-US" altLang="zh-CN"/>
              <a:t>JMP</a:t>
            </a:r>
            <a:r>
              <a:rPr lang="zh-CN" altLang="en-US" dirty="0"/>
              <a:t>／</a:t>
            </a:r>
            <a:r>
              <a:rPr lang="en-US" altLang="zh-CN" err="1"/>
              <a:t>Jcc</a:t>
            </a:r>
            <a:r>
              <a:rPr lang="zh-CN" altLang="en-US" dirty="0"/>
              <a:t>、</a:t>
            </a:r>
            <a:r>
              <a:rPr lang="en-US" altLang="zh-CN"/>
              <a:t>JCXZ</a:t>
            </a:r>
            <a:r>
              <a:rPr lang="zh-CN" altLang="en-US" dirty="0"/>
              <a:t>／</a:t>
            </a:r>
            <a:r>
              <a:rPr lang="en-US" altLang="zh-CN"/>
              <a:t>LOOP</a:t>
            </a:r>
            <a:r>
              <a:rPr lang="zh-CN" altLang="en-US" dirty="0"/>
              <a:t>、</a:t>
            </a:r>
            <a:r>
              <a:rPr lang="en-US" altLang="zh-CN"/>
              <a:t>CALL</a:t>
            </a:r>
            <a:r>
              <a:rPr lang="zh-CN" altLang="en-US" dirty="0"/>
              <a:t>／</a:t>
            </a:r>
            <a:r>
              <a:rPr lang="en-US" altLang="zh-CN"/>
              <a:t>RET</a:t>
            </a:r>
            <a:r>
              <a:rPr lang="zh-CN" altLang="en-US" dirty="0"/>
              <a:t>、</a:t>
            </a:r>
            <a:r>
              <a:rPr lang="en-US" altLang="zh-CN"/>
              <a:t>INT n</a:t>
            </a:r>
            <a:r>
              <a:rPr lang="zh-CN" altLang="en-US" dirty="0"/>
              <a:t>、</a:t>
            </a:r>
            <a:r>
              <a:rPr lang="en-US" altLang="zh-CN"/>
              <a:t>MOVS</a:t>
            </a:r>
            <a:r>
              <a:rPr lang="zh-CN" altLang="en-US" dirty="0"/>
              <a:t>／</a:t>
            </a:r>
            <a:r>
              <a:rPr lang="en-US" altLang="zh-CN"/>
              <a:t>LODS</a:t>
            </a:r>
            <a:r>
              <a:rPr lang="zh-CN" altLang="en-US" dirty="0"/>
              <a:t>／</a:t>
            </a:r>
            <a:r>
              <a:rPr lang="en-US" altLang="zh-CN"/>
              <a:t>STOS</a:t>
            </a:r>
            <a:r>
              <a:rPr lang="zh-CN" altLang="en-US" dirty="0"/>
              <a:t>、</a:t>
            </a:r>
            <a:r>
              <a:rPr lang="en-US" altLang="zh-CN"/>
              <a:t>REP</a:t>
            </a: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4096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lstStyle/>
          <a:p>
            <a:r>
              <a:rPr lang="zh-CN" altLang="en-US" dirty="0"/>
              <a:t>教学要求</a:t>
            </a:r>
            <a:endParaRPr lang="zh-CN" altLang="en-US" sz="3000" dirty="0"/>
          </a:p>
        </p:txBody>
      </p:sp>
      <p:sp>
        <p:nvSpPr>
          <p:cNvPr id="49154" name="文本占位符 40962"/>
          <p:cNvSpPr>
            <a:spLocks noGrp="1"/>
          </p:cNvSpPr>
          <p:nvPr>
            <p:ph idx="1"/>
          </p:nvPr>
        </p:nvSpPr>
        <p:spPr>
          <a:xfrm>
            <a:off x="228600" y="1981200"/>
            <a:ext cx="8229600" cy="4411663"/>
          </a:xfrm>
          <a:ln/>
        </p:spPr>
        <p:txBody>
          <a:bodyPr anchor="t" anchorCtr="0"/>
          <a:lstStyle/>
          <a:p>
            <a:pPr marL="609600" indent="-609600" algn="just">
              <a:buFont typeface="Wingdings" panose="05000000000000000000" pitchFamily="2" charset="2"/>
              <a:buAutoNum type="arabicPeriod" startAt="3"/>
            </a:pPr>
            <a:r>
              <a:rPr lang="zh-CN" altLang="en-US" sz="2600" dirty="0"/>
              <a:t>熟悉特色指令：</a:t>
            </a:r>
            <a:r>
              <a:rPr lang="en-US" altLang="en-US" sz="2600" dirty="0"/>
              <a:t>XLAT</a:t>
            </a:r>
            <a:r>
              <a:rPr lang="zh-CN" altLang="en-US" sz="2600" dirty="0"/>
              <a:t>、</a:t>
            </a:r>
            <a:r>
              <a:rPr lang="en-US" altLang="zh-CN" sz="2600" dirty="0"/>
              <a:t>IN</a:t>
            </a:r>
            <a:r>
              <a:rPr lang="zh-CN" altLang="en-US" sz="2600" dirty="0"/>
              <a:t>／</a:t>
            </a:r>
            <a:r>
              <a:rPr lang="en-US" altLang="zh-CN" sz="2600" dirty="0"/>
              <a:t>OUT</a:t>
            </a:r>
            <a:r>
              <a:rPr lang="zh-CN" altLang="en-US" sz="2600" dirty="0"/>
              <a:t>；</a:t>
            </a:r>
            <a:r>
              <a:rPr lang="en-US" altLang="zh-CN" sz="2600" dirty="0"/>
              <a:t>MUL</a:t>
            </a:r>
            <a:r>
              <a:rPr lang="zh-CN" altLang="en-US" sz="2600" dirty="0"/>
              <a:t>／</a:t>
            </a:r>
            <a:r>
              <a:rPr lang="en-US" altLang="zh-CN" sz="2600" dirty="0"/>
              <a:t>IMUL</a:t>
            </a:r>
            <a:r>
              <a:rPr lang="zh-CN" altLang="en-US" sz="2600" dirty="0"/>
              <a:t>、</a:t>
            </a:r>
            <a:r>
              <a:rPr lang="en-US" altLang="zh-CN" sz="2600" dirty="0"/>
              <a:t>DIV</a:t>
            </a:r>
            <a:r>
              <a:rPr lang="zh-CN" altLang="en-US" sz="2600" dirty="0"/>
              <a:t>／</a:t>
            </a:r>
            <a:r>
              <a:rPr lang="en-US" altLang="zh-CN" sz="2600" dirty="0"/>
              <a:t>IDIV</a:t>
            </a:r>
            <a:r>
              <a:rPr lang="zh-CN" altLang="en-US" sz="2600" dirty="0"/>
              <a:t>、</a:t>
            </a:r>
            <a:r>
              <a:rPr lang="en-US" altLang="en-US" sz="2600" dirty="0"/>
              <a:t>CBW／CWD</a:t>
            </a:r>
            <a:r>
              <a:rPr lang="zh-CN" altLang="en-US" sz="2600" dirty="0"/>
              <a:t>；</a:t>
            </a:r>
            <a:r>
              <a:rPr lang="en-US" altLang="zh-CN" sz="2600" dirty="0"/>
              <a:t>NOP</a:t>
            </a:r>
            <a:r>
              <a:rPr lang="zh-CN" altLang="en-US" sz="2600" dirty="0"/>
              <a:t>、</a:t>
            </a:r>
            <a:r>
              <a:rPr lang="en-US" altLang="zh-CN" sz="2600" dirty="0"/>
              <a:t>CLC</a:t>
            </a:r>
            <a:r>
              <a:rPr lang="zh-CN" altLang="en-US" sz="2600" dirty="0"/>
              <a:t>／</a:t>
            </a:r>
            <a:r>
              <a:rPr lang="en-US" altLang="zh-CN" sz="2600" dirty="0"/>
              <a:t>STC</a:t>
            </a:r>
            <a:r>
              <a:rPr lang="zh-CN" altLang="en-US" sz="2600" dirty="0"/>
              <a:t>／</a:t>
            </a:r>
            <a:r>
              <a:rPr lang="en-US" altLang="zh-CN" sz="2600" dirty="0"/>
              <a:t>CMC</a:t>
            </a:r>
            <a:r>
              <a:rPr lang="zh-CN" altLang="en-US" sz="2600" dirty="0"/>
              <a:t>、</a:t>
            </a:r>
            <a:r>
              <a:rPr lang="en-US" altLang="zh-CN" sz="2600" dirty="0"/>
              <a:t>CLD</a:t>
            </a:r>
            <a:r>
              <a:rPr lang="zh-CN" altLang="en-US" sz="2600" dirty="0"/>
              <a:t>／</a:t>
            </a:r>
            <a:r>
              <a:rPr lang="en-US" altLang="zh-CN" sz="2600" dirty="0"/>
              <a:t>STD</a:t>
            </a:r>
          </a:p>
          <a:p>
            <a:pPr marL="609600" indent="-609600" algn="just">
              <a:buFont typeface="Wingdings" panose="05000000000000000000" pitchFamily="2" charset="2"/>
              <a:buAutoNum type="arabicPeriod" startAt="3"/>
            </a:pPr>
            <a:r>
              <a:rPr lang="zh-CN" altLang="en-US" sz="2600" dirty="0"/>
              <a:t>了解其他指令：</a:t>
            </a:r>
            <a:r>
              <a:rPr lang="en-US" altLang="zh-CN" sz="2600" dirty="0"/>
              <a:t>LAHF</a:t>
            </a:r>
            <a:r>
              <a:rPr lang="zh-CN" altLang="en-US" sz="2600" dirty="0"/>
              <a:t>／</a:t>
            </a:r>
            <a:r>
              <a:rPr lang="en-US" altLang="zh-CN" sz="2600" dirty="0"/>
              <a:t>SAHF</a:t>
            </a:r>
            <a:r>
              <a:rPr lang="zh-CN" altLang="en-US" sz="2600" dirty="0"/>
              <a:t>／</a:t>
            </a:r>
            <a:r>
              <a:rPr lang="en-US" altLang="zh-CN" sz="2600" dirty="0"/>
              <a:t>PUSHF</a:t>
            </a:r>
            <a:r>
              <a:rPr lang="zh-CN" altLang="en-US" sz="2600" dirty="0"/>
              <a:t>／</a:t>
            </a:r>
            <a:r>
              <a:rPr lang="en-US" altLang="zh-CN" sz="2600" dirty="0"/>
              <a:t>POPF</a:t>
            </a:r>
            <a:r>
              <a:rPr lang="zh-CN" altLang="en-US" sz="2600" dirty="0"/>
              <a:t>、</a:t>
            </a:r>
            <a:r>
              <a:rPr lang="en-US" altLang="zh-CN" sz="2600" dirty="0"/>
              <a:t>LDS</a:t>
            </a:r>
            <a:r>
              <a:rPr lang="zh-CN" altLang="en-US" sz="2600" dirty="0"/>
              <a:t>／</a:t>
            </a:r>
            <a:r>
              <a:rPr lang="en-US" altLang="zh-CN" sz="2600" dirty="0"/>
              <a:t>LES</a:t>
            </a:r>
            <a:r>
              <a:rPr lang="zh-CN" altLang="en-US" sz="2600" dirty="0"/>
              <a:t>；</a:t>
            </a:r>
            <a:r>
              <a:rPr lang="en-US" altLang="zh-CN" sz="2600" dirty="0"/>
              <a:t>DAA</a:t>
            </a:r>
            <a:r>
              <a:rPr lang="zh-CN" altLang="en-US" sz="2600" dirty="0"/>
              <a:t>／</a:t>
            </a:r>
            <a:r>
              <a:rPr lang="en-US" altLang="zh-CN" sz="2600" dirty="0"/>
              <a:t>DAS</a:t>
            </a:r>
            <a:r>
              <a:rPr lang="zh-CN" altLang="en-US" sz="2600" dirty="0"/>
              <a:t>、</a:t>
            </a:r>
            <a:r>
              <a:rPr lang="en-US" altLang="zh-CN" sz="2600" dirty="0"/>
              <a:t>AAA</a:t>
            </a:r>
            <a:r>
              <a:rPr lang="zh-CN" altLang="en-US" sz="2600" dirty="0"/>
              <a:t>／</a:t>
            </a:r>
            <a:r>
              <a:rPr lang="en-US" altLang="zh-CN" sz="2600" dirty="0"/>
              <a:t>AAS</a:t>
            </a:r>
            <a:r>
              <a:rPr lang="zh-CN" altLang="en-US" sz="2600" dirty="0"/>
              <a:t>、</a:t>
            </a:r>
            <a:r>
              <a:rPr lang="en-US" altLang="zh-CN" sz="2600" dirty="0"/>
              <a:t>AAM</a:t>
            </a:r>
            <a:r>
              <a:rPr lang="zh-CN" altLang="en-US" sz="2600" dirty="0"/>
              <a:t>／</a:t>
            </a:r>
            <a:r>
              <a:rPr lang="en-US" altLang="zh-CN" sz="2600" dirty="0"/>
              <a:t>AAD</a:t>
            </a:r>
            <a:r>
              <a:rPr lang="zh-CN" altLang="en-US" sz="2600" dirty="0"/>
              <a:t>；</a:t>
            </a:r>
            <a:r>
              <a:rPr lang="en-US" altLang="zh-CN" sz="2600" dirty="0"/>
              <a:t>IRET</a:t>
            </a:r>
            <a:r>
              <a:rPr lang="zh-CN" altLang="en-US" sz="2600" dirty="0"/>
              <a:t>、</a:t>
            </a:r>
            <a:r>
              <a:rPr lang="en-US" altLang="zh-CN" sz="2600" dirty="0"/>
              <a:t>LOOPZ</a:t>
            </a:r>
            <a:r>
              <a:rPr lang="zh-CN" altLang="en-US" sz="2600" dirty="0"/>
              <a:t>／</a:t>
            </a:r>
            <a:r>
              <a:rPr lang="en-US" altLang="zh-CN" sz="2600" dirty="0"/>
              <a:t>LOOPNZ</a:t>
            </a:r>
            <a:r>
              <a:rPr lang="zh-CN" altLang="en-US" sz="2600" dirty="0"/>
              <a:t>、</a:t>
            </a:r>
            <a:r>
              <a:rPr lang="en-US" altLang="zh-CN" sz="2600" dirty="0"/>
              <a:t>INTO</a:t>
            </a:r>
            <a:r>
              <a:rPr lang="zh-CN" altLang="en-US" sz="2600" dirty="0"/>
              <a:t>；</a:t>
            </a:r>
            <a:r>
              <a:rPr lang="en-US" altLang="zh-CN" sz="2600" dirty="0"/>
              <a:t>CMPS</a:t>
            </a:r>
            <a:r>
              <a:rPr lang="zh-CN" altLang="en-US" sz="2600" dirty="0"/>
              <a:t>／</a:t>
            </a:r>
            <a:r>
              <a:rPr lang="en-US" altLang="zh-CN" sz="2600" dirty="0"/>
              <a:t>SCAS</a:t>
            </a:r>
            <a:r>
              <a:rPr lang="zh-CN" altLang="en-US" sz="2600" dirty="0"/>
              <a:t>、</a:t>
            </a:r>
            <a:r>
              <a:rPr lang="en-US" altLang="zh-CN" sz="2600" dirty="0"/>
              <a:t>REPZ</a:t>
            </a:r>
            <a:r>
              <a:rPr lang="zh-CN" altLang="en-US" sz="2600" dirty="0"/>
              <a:t>／</a:t>
            </a:r>
            <a:r>
              <a:rPr lang="en-US" altLang="zh-CN" sz="2600" dirty="0"/>
              <a:t>REPNZ</a:t>
            </a:r>
            <a:r>
              <a:rPr lang="zh-CN" altLang="en-US" sz="2600" dirty="0"/>
              <a:t>；</a:t>
            </a:r>
            <a:r>
              <a:rPr lang="en-US" altLang="zh-CN" sz="2600" dirty="0"/>
              <a:t>LOCK</a:t>
            </a:r>
            <a:r>
              <a:rPr lang="zh-CN" altLang="en-US" sz="2600" dirty="0"/>
              <a:t>／</a:t>
            </a:r>
            <a:r>
              <a:rPr lang="en-US" altLang="zh-CN" sz="2600" dirty="0"/>
              <a:t>HLT</a:t>
            </a:r>
            <a:r>
              <a:rPr lang="zh-CN" altLang="en-US" sz="2600" dirty="0"/>
              <a:t>／</a:t>
            </a:r>
            <a:r>
              <a:rPr lang="en-US" altLang="zh-CN" sz="2600" dirty="0"/>
              <a:t>ESC</a:t>
            </a:r>
            <a:r>
              <a:rPr lang="zh-CN" altLang="en-US" sz="2600" dirty="0"/>
              <a:t>／</a:t>
            </a:r>
            <a:r>
              <a:rPr lang="en-US" altLang="zh-CN" sz="2600" dirty="0"/>
              <a:t>WAIT</a:t>
            </a:r>
            <a:r>
              <a:rPr lang="zh-CN" altLang="en-US" sz="2600" dirty="0"/>
              <a:t>、</a:t>
            </a:r>
            <a:r>
              <a:rPr lang="en-US" altLang="zh-CN" sz="2600" dirty="0"/>
              <a:t>CLI</a:t>
            </a:r>
            <a:r>
              <a:rPr lang="zh-CN" altLang="en-US" sz="2600" dirty="0"/>
              <a:t>／</a:t>
            </a:r>
            <a:r>
              <a:rPr lang="en-US" altLang="zh-CN" sz="2600" dirty="0"/>
              <a:t>STI</a:t>
            </a: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ExNzlkMjFhZjg4ZjExZmExNzU0NmRlZDNmMTA1YmEifQ=="/>
</p:tagLst>
</file>

<file path=ppt/theme/theme1.xml><?xml version="1.0" encoding="utf-8"?>
<a:theme xmlns:a="http://schemas.openxmlformats.org/drawingml/2006/main" name="Network">
  <a:themeElements>
    <a:clrScheme name="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B8989"/>
      </a:accent6>
      <a:hlink>
        <a:srgbClr val="7E9CE8"/>
      </a:hlink>
      <a:folHlink>
        <a:srgbClr val="D8D8E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C0C0C0"/>
        </a:dk2>
        <a:lt2>
          <a:srgbClr val="4F747B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CDCDC"/>
        </a:accent4>
        <a:accent5>
          <a:srgbClr val="C3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D0B0B"/>
        </a:lt1>
        <a:dk2>
          <a:srgbClr val="FFFFFF"/>
        </a:dk2>
        <a:lt2>
          <a:srgbClr val="3C0000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CDCDC"/>
        </a:accent4>
        <a:accent5>
          <a:srgbClr val="B9B9AD"/>
        </a:accent5>
        <a:accent6>
          <a:srgbClr val="B72D00"/>
        </a:accent6>
        <a:hlink>
          <a:srgbClr val="CC9900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15192B"/>
        </a:lt1>
        <a:dk2>
          <a:srgbClr val="CCCCFF"/>
        </a:dk2>
        <a:lt2>
          <a:srgbClr val="666699"/>
        </a:lt2>
        <a:accent1>
          <a:srgbClr val="4F893D"/>
        </a:accent1>
        <a:accent2>
          <a:srgbClr val="666699"/>
        </a:accent2>
        <a:accent3>
          <a:srgbClr val="AAAAAC"/>
        </a:accent3>
        <a:accent4>
          <a:srgbClr val="DCDCDC"/>
        </a:accent4>
        <a:accent5>
          <a:srgbClr val="B3C4AF"/>
        </a:accent5>
        <a:accent6>
          <a:srgbClr val="5B5B89"/>
        </a:accent6>
        <a:hlink>
          <a:srgbClr val="CC9900"/>
        </a:hlink>
        <a:folHlink>
          <a:srgbClr val="4837C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6001A"/>
        </a:lt1>
        <a:dk2>
          <a:srgbClr val="CCCC66"/>
        </a:dk2>
        <a:lt2>
          <a:srgbClr val="666699"/>
        </a:lt2>
        <a:accent1>
          <a:srgbClr val="FF3300"/>
        </a:accent1>
        <a:accent2>
          <a:srgbClr val="FF6600"/>
        </a:accent2>
        <a:accent3>
          <a:srgbClr val="C3AAAA"/>
        </a:accent3>
        <a:accent4>
          <a:srgbClr val="DCDCDC"/>
        </a:accent4>
        <a:accent5>
          <a:srgbClr val="FFADAA"/>
        </a:accent5>
        <a:accent6>
          <a:srgbClr val="E55B00"/>
        </a:accent6>
        <a:hlink>
          <a:srgbClr val="CC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54"/>
        </a:lt1>
        <a:dk2>
          <a:srgbClr val="FFFFFF"/>
        </a:dk2>
        <a:lt2>
          <a:srgbClr val="666699"/>
        </a:lt2>
        <a:accent1>
          <a:srgbClr val="3333FF"/>
        </a:accent1>
        <a:accent2>
          <a:srgbClr val="006699"/>
        </a:accent2>
        <a:accent3>
          <a:srgbClr val="AAAAB4"/>
        </a:accent3>
        <a:accent4>
          <a:srgbClr val="DCDCDC"/>
        </a:accent4>
        <a:accent5>
          <a:srgbClr val="ADADFF"/>
        </a:accent5>
        <a:accent6>
          <a:srgbClr val="005B89"/>
        </a:accent6>
        <a:hlink>
          <a:srgbClr val="669900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0054B"/>
        </a:lt1>
        <a:dk2>
          <a:srgbClr val="FFFFFF"/>
        </a:dk2>
        <a:lt2>
          <a:srgbClr val="808080"/>
        </a:lt2>
        <a:accent1>
          <a:srgbClr val="797B9B"/>
        </a:accent1>
        <a:accent2>
          <a:srgbClr val="6B4FB1"/>
        </a:accent2>
        <a:accent3>
          <a:srgbClr val="ADAAB2"/>
        </a:accent3>
        <a:accent4>
          <a:srgbClr val="DCDCDC"/>
        </a:accent4>
        <a:accent5>
          <a:srgbClr val="BEBFCB"/>
        </a:accent5>
        <a:accent6>
          <a:srgbClr val="5F469E"/>
        </a:accent6>
        <a:hlink>
          <a:srgbClr val="7AACCE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29527B"/>
        </a:lt1>
        <a:dk2>
          <a:srgbClr val="FFFFFF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CDCAF"/>
        </a:accent4>
        <a:accent5>
          <a:srgbClr val="E2E2AA"/>
        </a:accent5>
        <a:accent6>
          <a:srgbClr val="5B8989"/>
        </a:accent6>
        <a:hlink>
          <a:srgbClr val="D8D8E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76949"/>
        </a:lt1>
        <a:dk2>
          <a:srgbClr val="FFFFFF"/>
        </a:dk2>
        <a:lt2>
          <a:srgbClr val="666699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45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7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B8989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</TotalTime>
  <Words>2592</Words>
  <Application>Microsoft Office PowerPoint</Application>
  <PresentationFormat>全屏显示(4:3)</PresentationFormat>
  <Paragraphs>264</Paragraphs>
  <Slides>35</Slides>
  <Notes>2</Notes>
  <HiddenSlides>3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楷体</vt:lpstr>
      <vt:lpstr>宋体</vt:lpstr>
      <vt:lpstr>Arial</vt:lpstr>
      <vt:lpstr>Times New Roman</vt:lpstr>
      <vt:lpstr>Wingdings</vt:lpstr>
      <vt:lpstr>Network</vt:lpstr>
      <vt:lpstr>5  串操作类指令</vt:lpstr>
      <vt:lpstr>串数据类型</vt:lpstr>
      <vt:lpstr>串寻址方式</vt:lpstr>
      <vt:lpstr>串传送MOVS（move string）</vt:lpstr>
      <vt:lpstr>例5.1：字节串传送</vt:lpstr>
      <vt:lpstr>例5.2：字串传送</vt:lpstr>
      <vt:lpstr>串存储STOS（store string）</vt:lpstr>
      <vt:lpstr>例5.3：串存储</vt:lpstr>
      <vt:lpstr>串读取LODS（load string）</vt:lpstr>
      <vt:lpstr>例5.4：串读取－1</vt:lpstr>
      <vt:lpstr>例5.4：串读取－2</vt:lpstr>
      <vt:lpstr>例5.4：串读取－3</vt:lpstr>
      <vt:lpstr>串比较CMPS（compare string）</vt:lpstr>
      <vt:lpstr>例5.5：比较字符串</vt:lpstr>
      <vt:lpstr>串扫描SCAS（scan string）</vt:lpstr>
      <vt:lpstr>例5.6：查找字符串</vt:lpstr>
      <vt:lpstr>重复前缀指令（repeat）</vt:lpstr>
      <vt:lpstr>REP重复前缀指令</vt:lpstr>
      <vt:lpstr>重复串传送（例5.2）</vt:lpstr>
      <vt:lpstr>重复串存储（例5.3）</vt:lpstr>
      <vt:lpstr>REPZ重复前缀指令</vt:lpstr>
      <vt:lpstr>REPNZ重复前缀指令</vt:lpstr>
      <vt:lpstr>例5.7：比较字符串</vt:lpstr>
      <vt:lpstr>重复比较的解释</vt:lpstr>
      <vt:lpstr>例5.8：查找字符串</vt:lpstr>
      <vt:lpstr>6  处理机控制类指令</vt:lpstr>
      <vt:lpstr>空操作指令</vt:lpstr>
      <vt:lpstr>段超越前缀指令</vt:lpstr>
      <vt:lpstr>封锁前缀指令</vt:lpstr>
      <vt:lpstr>暂停指令</vt:lpstr>
      <vt:lpstr>交权指令</vt:lpstr>
      <vt:lpstr>等待指令</vt:lpstr>
      <vt:lpstr>总结:</vt:lpstr>
      <vt:lpstr>教学要求</vt:lpstr>
      <vt:lpstr>教学要求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Jia Hui</dc:creator>
  <cp:lastModifiedBy>Jiahui Zhao</cp:lastModifiedBy>
  <cp:revision>9</cp:revision>
  <dcterms:created xsi:type="dcterms:W3CDTF">2012-09-10T07:07:15Z</dcterms:created>
  <dcterms:modified xsi:type="dcterms:W3CDTF">2026-04-09T16:12:54Z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ICV">
    <vt:lpwstr>6DDC3BC8E2B148438F71B109B5CC7DEF</vt:lpwstr>
  </property>
  <property fmtid="{D5CDD505-2E9C-101B-9397-08002B2CF9AE}" pid="4" name="KSOProductBuildVer">
    <vt:lpwstr>2052-11.1.0.12302</vt:lpwstr>
  </property>
</Properties>
</file>