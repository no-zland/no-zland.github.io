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51" r:id="rId2"/>
  </p:sldMasterIdLst>
  <p:notesMasterIdLst>
    <p:notesMasterId r:id="rId54"/>
  </p:notesMasterIdLst>
  <p:sldIdLst>
    <p:sldId id="329" r:id="rId3"/>
    <p:sldId id="1365" r:id="rId4"/>
    <p:sldId id="1366" r:id="rId5"/>
    <p:sldId id="1369" r:id="rId6"/>
    <p:sldId id="1394" r:id="rId7"/>
    <p:sldId id="1392" r:id="rId8"/>
    <p:sldId id="1370" r:id="rId9"/>
    <p:sldId id="1395" r:id="rId10"/>
    <p:sldId id="1398" r:id="rId11"/>
    <p:sldId id="1371" r:id="rId12"/>
    <p:sldId id="1396" r:id="rId13"/>
    <p:sldId id="1399" r:id="rId14"/>
    <p:sldId id="1367" r:id="rId15"/>
    <p:sldId id="1372" r:id="rId16"/>
    <p:sldId id="1397" r:id="rId17"/>
    <p:sldId id="1393" r:id="rId18"/>
    <p:sldId id="1373" r:id="rId19"/>
    <p:sldId id="1374" r:id="rId20"/>
    <p:sldId id="1400" r:id="rId21"/>
    <p:sldId id="1375" r:id="rId22"/>
    <p:sldId id="1401" r:id="rId23"/>
    <p:sldId id="1376" r:id="rId24"/>
    <p:sldId id="1402" r:id="rId25"/>
    <p:sldId id="1403" r:id="rId26"/>
    <p:sldId id="1377" r:id="rId27"/>
    <p:sldId id="1378" r:id="rId28"/>
    <p:sldId id="1404" r:id="rId29"/>
    <p:sldId id="1406" r:id="rId30"/>
    <p:sldId id="1407" r:id="rId31"/>
    <p:sldId id="1408" r:id="rId32"/>
    <p:sldId id="1379" r:id="rId33"/>
    <p:sldId id="1409" r:id="rId34"/>
    <p:sldId id="1410" r:id="rId35"/>
    <p:sldId id="1411" r:id="rId36"/>
    <p:sldId id="1380" r:id="rId37"/>
    <p:sldId id="1405" r:id="rId38"/>
    <p:sldId id="1412" r:id="rId39"/>
    <p:sldId id="1381" r:id="rId40"/>
    <p:sldId id="1382" r:id="rId41"/>
    <p:sldId id="1383" r:id="rId42"/>
    <p:sldId id="1413" r:id="rId43"/>
    <p:sldId id="1384" r:id="rId44"/>
    <p:sldId id="1385" r:id="rId45"/>
    <p:sldId id="1414" r:id="rId46"/>
    <p:sldId id="1386" r:id="rId47"/>
    <p:sldId id="1387" r:id="rId48"/>
    <p:sldId id="1388" r:id="rId49"/>
    <p:sldId id="1389" r:id="rId50"/>
    <p:sldId id="1390" r:id="rId51"/>
    <p:sldId id="1391" r:id="rId52"/>
    <p:sldId id="1308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8080"/>
    <a:srgbClr val="FF6600"/>
    <a:srgbClr val="0000FF"/>
    <a:srgbClr val="000066"/>
    <a:srgbClr val="993366"/>
    <a:srgbClr val="CCFFFF"/>
    <a:srgbClr val="7297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1" autoAdjust="0"/>
    <p:restoredTop sz="95271" autoAdjust="0"/>
  </p:normalViewPr>
  <p:slideViewPr>
    <p:cSldViewPr>
      <p:cViewPr varScale="1">
        <p:scale>
          <a:sx n="89" d="100"/>
          <a:sy n="89" d="100"/>
        </p:scale>
        <p:origin x="957" y="48"/>
      </p:cViewPr>
      <p:guideLst>
        <p:guide orient="horz" pos="2160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BABB4110-8D7C-3871-6339-ADC974F0E4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088DF489-8B67-22D1-D18F-9934923267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1B49198-F6AA-C768-BC03-C04767F6A40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1973" name="Rectangle 5">
            <a:extLst>
              <a:ext uri="{FF2B5EF4-FFF2-40B4-BE49-F238E27FC236}">
                <a16:creationId xmlns:a16="http://schemas.microsoft.com/office/drawing/2014/main" id="{8621B523-297E-523A-9D41-14B42D7761B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11974" name="Rectangle 6">
            <a:extLst>
              <a:ext uri="{FF2B5EF4-FFF2-40B4-BE49-F238E27FC236}">
                <a16:creationId xmlns:a16="http://schemas.microsoft.com/office/drawing/2014/main" id="{92BFB5D1-67C4-48A6-7152-E1ED6B78EA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1975" name="Rectangle 7">
            <a:extLst>
              <a:ext uri="{FF2B5EF4-FFF2-40B4-BE49-F238E27FC236}">
                <a16:creationId xmlns:a16="http://schemas.microsoft.com/office/drawing/2014/main" id="{0E75B9CF-F6B5-DB81-1236-D4F949A95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C3D6D54-4312-48F0-BC8B-D764CFC64486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快速查看压缩文件内容（无需解压）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44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>
                <a:solidFill>
                  <a:srgbClr val="C00000"/>
                </a:solidFill>
                <a:ea typeface="宋体" panose="02010600030101010101" pitchFamily="2" charset="-122"/>
              </a:rPr>
              <a:t>Zip</a:t>
            </a:r>
            <a:r>
              <a:rPr lang="zh-CN" altLang="en-US" sz="1200" b="1" dirty="0">
                <a:solidFill>
                  <a:srgbClr val="C00000"/>
                </a:solidFill>
                <a:ea typeface="宋体" panose="02010600030101010101" pitchFamily="2" charset="-122"/>
              </a:rPr>
              <a:t>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跨平台兼容性最强（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Windows/Linux/macOS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通用）。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292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837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018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365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2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08F3-E189-6FEF-1179-D30AE0F8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5FBC3-5938-A6E4-91D2-A92381180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4B76BC-F3F5-E8C2-5A66-497CD711F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013B3A-F0DD-E089-EA2B-1B49EE21A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765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F2D3F-B459-82B2-8A35-A577AB1B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EB1DB1-AB95-E2E9-EF0C-713BAEA40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C5385D-2F29-5EDB-7BE6-2EA26977D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DD81F4-5E9F-11DC-070B-127547BE9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618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FB48-11B8-A810-0D42-B13F0E9CD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23609E-F31D-59EE-08A3-12DF19F8D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B9DE9D-77EE-D840-B4E5-71D2AF609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33CB41-74B0-DE0E-70DC-1A4589814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169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804A-0430-E7A9-E78E-0926854A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579509-D255-46C3-0B87-39DED3C05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3BEC0D-442A-DE9A-D171-A5D666B1C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28BE3-5B4F-D044-D221-D642596CB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093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792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3025-68EC-D1A9-DAB3-BE05276B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4E23C0-7055-CF13-CC2B-47C920681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D713A4-6641-2A68-3668-B5764121F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12D937-B3F9-9DDB-E41F-4F8E05734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887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4AC2-1611-B969-DFF1-26B7B6D8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1078EF-C134-84AA-2B47-555FBCC02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E2CB64-3A04-E959-3D19-0592BAF21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457234-753F-39DC-3950-24C5C27A0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872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14334-ADFB-D9E1-EAA2-5388A423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AB0B39-BFE1-E4F0-D1EA-373219FBD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B4084B-C268-7B6F-D0D6-69BBEF76D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617A7B-B183-B4CB-C7AF-81A97420C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834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8ABB-5DAF-2736-0937-3F66C9413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C2C65E-C35A-5D3A-9EFD-3A642384A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AF56F6-21F8-E187-D8DB-9FD4B2C02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RPM Package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Red Hat Package Manager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的缩写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F57431-4639-4D9C-97B5-E93E7EDB2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2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RPM Package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Red Hat Package Manager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的缩写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3D6D54-4312-48F0-BC8B-D764CFC64486}" type="slidenum">
              <a:rPr lang="en-US" altLang="zh-CN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11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8">
            <a:extLst>
              <a:ext uri="{FF2B5EF4-FFF2-40B4-BE49-F238E27FC236}">
                <a16:creationId xmlns:a16="http://schemas.microsoft.com/office/drawing/2014/main" id="{FC6D4256-5D41-256C-C297-D9BA16ECF1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4213" y="333375"/>
            <a:ext cx="5905500" cy="5761038"/>
          </a:xfrm>
          <a:prstGeom prst="ellipse">
            <a:avLst/>
          </a:prstGeom>
          <a:gradFill rotWithShape="1"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gamma/>
                  <a:tint val="0"/>
                  <a:invGamma/>
                  <a:alpha val="80000"/>
                </a:scheme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E1BD6467-90F9-5969-3F9E-E78B68A9A2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716338"/>
            <a:ext cx="9144000" cy="2449512"/>
          </a:xfrm>
          <a:prstGeom prst="rect">
            <a:avLst/>
          </a:prstGeom>
          <a:solidFill>
            <a:srgbClr val="3482D0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4" name="Oval 40">
            <a:extLst>
              <a:ext uri="{FF2B5EF4-FFF2-40B4-BE49-F238E27FC236}">
                <a16:creationId xmlns:a16="http://schemas.microsoft.com/office/drawing/2014/main" id="{080F0A73-33B0-FF00-AC9B-364CCA96A0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05313" y="692150"/>
            <a:ext cx="3529012" cy="36718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18999"/>
              </a:srgbClr>
            </a:outerShdw>
          </a:effec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5" name="Oval 42">
            <a:extLst>
              <a:ext uri="{FF2B5EF4-FFF2-40B4-BE49-F238E27FC236}">
                <a16:creationId xmlns:a16="http://schemas.microsoft.com/office/drawing/2014/main" id="{C303EC1A-5298-4DA4-21B5-DD8322E94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94625" y="242888"/>
            <a:ext cx="935038" cy="936625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18999"/>
              </a:srgbClr>
            </a:outerShdw>
          </a:effec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6" name="Oval 43">
            <a:extLst>
              <a:ext uri="{FF2B5EF4-FFF2-40B4-BE49-F238E27FC236}">
                <a16:creationId xmlns:a16="http://schemas.microsoft.com/office/drawing/2014/main" id="{4E488C22-22E0-ADC9-CDD8-36805E734A4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1638" y="2636838"/>
            <a:ext cx="1223962" cy="1223962"/>
          </a:xfrm>
          <a:prstGeom prst="ellipse">
            <a:avLst/>
          </a:prstGeom>
          <a:solidFill>
            <a:srgbClr val="1BABE5">
              <a:alpha val="10196"/>
            </a:srgbClr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7" name="Oval 49">
            <a:extLst>
              <a:ext uri="{FF2B5EF4-FFF2-40B4-BE49-F238E27FC236}">
                <a16:creationId xmlns:a16="http://schemas.microsoft.com/office/drawing/2014/main" id="{26620E22-6B15-218E-457E-E8E3412F6F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7538" y="714375"/>
            <a:ext cx="3490912" cy="3629025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8" name="Oval 41">
            <a:extLst>
              <a:ext uri="{FF2B5EF4-FFF2-40B4-BE49-F238E27FC236}">
                <a16:creationId xmlns:a16="http://schemas.microsoft.com/office/drawing/2014/main" id="{1E6CB6D9-48EC-DEF5-D4AC-CC0C905A411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73938" y="1393825"/>
            <a:ext cx="1438275" cy="15113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18999"/>
              </a:srgbClr>
            </a:outerShdw>
          </a:effec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pic>
        <p:nvPicPr>
          <p:cNvPr id="9" name="Picture 57" descr="o1">
            <a:extLst>
              <a:ext uri="{FF2B5EF4-FFF2-40B4-BE49-F238E27FC236}">
                <a16:creationId xmlns:a16="http://schemas.microsoft.com/office/drawing/2014/main" id="{9531D817-C0F9-F33A-3F0F-5260C0B1F7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1412875"/>
            <a:ext cx="14097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9" descr="o2">
            <a:extLst>
              <a:ext uri="{FF2B5EF4-FFF2-40B4-BE49-F238E27FC236}">
                <a16:creationId xmlns:a16="http://schemas.microsoft.com/office/drawing/2014/main" id="{C13FDEAA-1C5F-A3A4-C9EC-DA554C1CE0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263" y="260350"/>
            <a:ext cx="90011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2" descr="body_background2">
            <a:extLst>
              <a:ext uri="{FF2B5EF4-FFF2-40B4-BE49-F238E27FC236}">
                <a16:creationId xmlns:a16="http://schemas.microsoft.com/office/drawing/2014/main" id="{D86B115B-B9FF-E551-836D-AA5E8218FE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60350"/>
            <a:ext cx="37242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66">
            <a:extLst>
              <a:ext uri="{FF2B5EF4-FFF2-40B4-BE49-F238E27FC236}">
                <a16:creationId xmlns:a16="http://schemas.microsoft.com/office/drawing/2014/main" id="{78066A6C-5FB3-65F4-9594-21FF9A8ACAA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878638" y="6434138"/>
            <a:ext cx="1941512" cy="260350"/>
            <a:chOff x="4333" y="4053"/>
            <a:chExt cx="1223" cy="164"/>
          </a:xfrm>
        </p:grpSpPr>
        <p:sp>
          <p:nvSpPr>
            <p:cNvPr id="13" name="WordArt 64">
              <a:extLst>
                <a:ext uri="{FF2B5EF4-FFF2-40B4-BE49-F238E27FC236}">
                  <a16:creationId xmlns:a16="http://schemas.microsoft.com/office/drawing/2014/main" id="{9CCFF205-1C18-CCB5-2D80-27B8611A7370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4513" y="4065"/>
              <a:ext cx="1043" cy="12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4241"/>
                </a:avLst>
              </a:prstTxWarp>
            </a:bodyPr>
            <a:lstStyle/>
            <a:p>
              <a:pPr algn="ctr"/>
              <a:r>
                <a:rPr lang="zh-CN" altLang="en-US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沈阳师范大学软件学院</a:t>
              </a:r>
            </a:p>
          </p:txBody>
        </p:sp>
        <p:pic>
          <p:nvPicPr>
            <p:cNvPr id="14" name="Picture 65" descr="body_background1">
              <a:extLst>
                <a:ext uri="{FF2B5EF4-FFF2-40B4-BE49-F238E27FC236}">
                  <a16:creationId xmlns:a16="http://schemas.microsoft.com/office/drawing/2014/main" id="{3AFE404D-9113-4561-8859-8C31117D05B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3" y="4053"/>
              <a:ext cx="15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Oval 44">
            <a:extLst>
              <a:ext uri="{FF2B5EF4-FFF2-40B4-BE49-F238E27FC236}">
                <a16:creationId xmlns:a16="http://schemas.microsoft.com/office/drawing/2014/main" id="{D2700120-470E-BD85-F02C-6270DF78FC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78175" y="2687638"/>
            <a:ext cx="1582738" cy="1582737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hlink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18999"/>
              </a:srgbClr>
            </a:outerShdw>
          </a:effec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3D3F3FA6-AEAA-4ACC-8CFD-A9F3B6BF9F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581400" y="6400800"/>
            <a:ext cx="2209800" cy="244475"/>
          </a:xfrm>
        </p:spPr>
        <p:txBody>
          <a:bodyPr/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EBA3C93B-D3AB-954B-3B35-1B4B96D6DA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381000" y="64008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FFD78378-4801-4534-823D-2512004B987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69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350" y="260350"/>
            <a:ext cx="6019800" cy="4873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09093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4B01552-2A15-DECF-A088-8979C0BAD1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D782E-47CE-4C37-8945-E55E40546EC7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12A278-2326-5C02-CE7E-DFAAF56C137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688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77BDB05-AE43-1693-6FBE-4A8FBA4E44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7EE48-9972-420C-A36E-1000B097C256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9037B7-B147-57BE-72D3-3E83A85D22C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41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F64D08-64F8-5118-0937-BB474D8A4A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1D6B8-F861-41AC-A0D3-830FE4602B6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1C028E5-6D67-9D08-D2C6-B211D58F7C0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04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29B1C-FD0B-7D5A-EE54-C4208504CF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B66EE-EDDD-4B55-B268-39733E8B1C76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02CFDE8-680F-D89C-D4FD-F3D694DCD5E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43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28825D3-0B86-4615-5EE3-128321124EB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3E677-E843-49AA-9584-D05844095420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CE6833-BA4A-09AE-88DA-21E98FACB8F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086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4F84F67-6931-844B-FC7A-E5A98B4806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7ABE6-7C0E-41FA-9686-2BAE5C1B1EC2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12264F8-49AF-A56C-F743-D0F7A645C646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226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AC13BD-AE93-6989-8D3F-210BFFDD83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BFE1A8-7864-4706-9025-95835474B5F9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57DA02-CF26-550B-2298-BE8F1F5E592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683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75642EA-0648-4C06-2B33-E4A0983475D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101A2-720D-419D-8C62-FB8633F34F3D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664704D-C805-7939-2DD6-FD4D7202091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965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A98059-2213-0CAB-EBA0-FAE1E72CAB6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A5516-418B-409D-99F3-243BF7CADED6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1A5C1-6C07-ADCB-687C-16F68AD9944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6555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44C782-7F89-E332-0013-DAFDB86049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0291B-0DCE-4D97-9473-A3B3EADA6A4A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E9EF0-853D-90A5-076A-97741948542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8226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7400" y="260350"/>
            <a:ext cx="6019800" cy="4873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EC9138-98A7-517E-22C0-D5CF3E16A9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EADBEE-C36F-4E05-8AD1-97488F22F74A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4B1D499-5142-A425-5A65-E2052BDB7FE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895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7824" y="260350"/>
            <a:ext cx="6019800" cy="4873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7876A6-98D4-E4B4-6382-3564BC8484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0AE86-EA86-4282-A395-88BA3D8EBAC4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451A85-88C4-2B80-1E04-2CBB7766C6C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8783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60350"/>
            <a:ext cx="8229600" cy="58658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9DC58FC-B058-1D72-83A3-4D24EAA068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FB4A4-DF30-4DE1-9F58-1660EA74D499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5792F0-C42B-D264-D033-8F85B16F742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058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7400" y="260350"/>
            <a:ext cx="6019800" cy="4873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4E3B487-7FB8-FF94-AAF1-2F380118A9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93585-61F3-46F0-A8FF-7BD95B2A0556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3FD57-9EA2-2820-4481-EA471AAA9962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9824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7400" y="260350"/>
            <a:ext cx="6019800" cy="4873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9AD77A-0FE7-780E-CC41-A89726B3D6D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C8CB5F-E0F8-40DC-8482-86CF31D81D3F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C796B51-2FF9-C628-D38B-3FA16016CC8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964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DE82D-7B10-02E5-B6C3-0936C67197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F8AF8-E2D5-48BC-8993-E62A4FECCA5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D2A7A3-4BA4-4F61-637C-3FA9EC969B9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0223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754F23-A8F9-FE5D-789D-BAAB7FAA89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A7760-4EC2-42F5-8C33-2A075E2FBEC4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A6EC2E-8A49-2D8D-7711-F63C23F5B18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250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B6B95F-C5BD-9640-C332-F6F5A88C0F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C43C0C-DE68-49C0-BE2F-8045D45BD76D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65488F-EC82-580E-2FAB-069E3D852D4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7723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5B9FF2-33F8-74AC-4E7E-38A3A46F4B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FD7F0-901A-4477-B7E9-93DEA72A68A7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FDE2F-49FA-9003-C355-F3C6F163634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39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9906B64-25C7-AF7D-0376-6C6A1A242A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50967-DBA6-4F34-9666-772C42FBFD97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3CB760C-C83F-7FE4-F5B9-E1E0269B4BB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6275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153FF7-9480-B058-F7CE-AB8AA0DDA9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B402C-0792-4D6B-B7E3-2110CD680D9B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E8AAD5-B0EE-5B11-E048-D670877D1472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17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6D68A33-BF0D-2B13-15BA-D9C200ADB99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6C469-3D55-490E-9707-A3FE3F821D05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F53AD45-8CB0-4595-4CA5-D2B535783AA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8503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036EE3-0E8C-576C-F09A-4F465E86D3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143BAE-B95C-42A6-9A89-4A625B3D742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B338C9-FD8B-8350-7FF7-5BDA2C64229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509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FD6A9C-E4C7-5F32-C32F-18B2C8F242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36C81-C22E-434C-9FC8-43EF7308B0A1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FD228D-3C7C-B61A-6D0D-C9302416F3B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43239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6F202-5920-8C76-D6DA-C5E8DEF50E9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E246D-B77A-487E-9DD1-7DBB48DDEB01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623FAF-D610-FCA7-877E-DA11E807EB2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9641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45E34-A757-6C1B-29BC-185EDE3ECD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32707-40EC-4459-BC63-A80D1365C3A5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A8F86C-1079-80FA-D220-0A5381468AC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44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44" descr="模板1">
            <a:extLst>
              <a:ext uri="{FF2B5EF4-FFF2-40B4-BE49-F238E27FC236}">
                <a16:creationId xmlns:a16="http://schemas.microsoft.com/office/drawing/2014/main" id="{B112ECC8-ED74-D3A1-9F2C-3118C1591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D998D5DD-CA43-5850-59C9-0F3A5FBA6F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4191000" y="6534150"/>
            <a:ext cx="8382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0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146431-8B3A-455C-95B8-3DA994F0D296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E9D748FB-9E28-DE8F-8119-1851AE5CB9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057400" y="260350"/>
            <a:ext cx="6019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4870E391-39BC-BDB7-4A20-9C8E639FA2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81000" y="6534150"/>
            <a:ext cx="19050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000" b="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AutoShape 129">
            <a:extLst>
              <a:ext uri="{FF2B5EF4-FFF2-40B4-BE49-F238E27FC236}">
                <a16:creationId xmlns:a16="http://schemas.microsoft.com/office/drawing/2014/main" id="{2FF76D11-0CE1-533F-B2AF-9F9CEB1A80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16238" y="260350"/>
            <a:ext cx="6083300" cy="503238"/>
          </a:xfrm>
          <a:prstGeom prst="roundRect">
            <a:avLst>
              <a:gd name="adj" fmla="val 16667"/>
            </a:avLst>
          </a:prstGeom>
          <a:solidFill>
            <a:srgbClr val="3482D0"/>
          </a:solidFill>
          <a:ln w="38100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1031" name="Line 141">
            <a:extLst>
              <a:ext uri="{FF2B5EF4-FFF2-40B4-BE49-F238E27FC236}">
                <a16:creationId xmlns:a16="http://schemas.microsoft.com/office/drawing/2014/main" id="{2BBE5618-E8AE-85CC-3D13-E401B6562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06438"/>
            <a:ext cx="2987675" cy="0"/>
          </a:xfrm>
          <a:prstGeom prst="line">
            <a:avLst/>
          </a:prstGeom>
          <a:noFill/>
          <a:ln w="57150" cmpd="thinThick">
            <a:solidFill>
              <a:srgbClr val="3482D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Oval 142">
            <a:extLst>
              <a:ext uri="{FF2B5EF4-FFF2-40B4-BE49-F238E27FC236}">
                <a16:creationId xmlns:a16="http://schemas.microsoft.com/office/drawing/2014/main" id="{79C14B67-0503-212E-B204-388D06CCD1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38413" y="401638"/>
            <a:ext cx="434975" cy="44767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round/>
            <a:headEnd/>
            <a:tailEnd/>
          </a:ln>
          <a:effectLst>
            <a:outerShdw dist="89803" dir="2700000" algn="ctr" rotWithShape="0">
              <a:srgbClr val="000000">
                <a:alpha val="18999"/>
              </a:srgbClr>
            </a:outerShdw>
          </a:effectLst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1033" name="Oval 143">
            <a:extLst>
              <a:ext uri="{FF2B5EF4-FFF2-40B4-BE49-F238E27FC236}">
                <a16:creationId xmlns:a16="http://schemas.microsoft.com/office/drawing/2014/main" id="{DF1BD602-39BD-1400-170A-9C48EA50C3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55875" y="404813"/>
            <a:ext cx="417513" cy="431800"/>
          </a:xfrm>
          <a:prstGeom prst="ellipse">
            <a:avLst/>
          </a:prstGeom>
          <a:blipFill dpi="0" rotWithShape="1">
            <a:blip r:embed="rId19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None/>
              <a:defRPr/>
            </a:pPr>
            <a:endParaRPr lang="zh-CN" altLang="en-US">
              <a:latin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  <p:sldLayoutId id="2147484048" r:id="rId13"/>
    <p:sldLayoutId id="2147484049" r:id="rId14"/>
    <p:sldLayoutId id="2147484050" r:id="rId15"/>
    <p:sldLayoutId id="2147484051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200">
          <a:solidFill>
            <a:schemeClr val="tx1"/>
          </a:solidFill>
          <a:latin typeface="+mn-lt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5" descr="模板1">
            <a:extLst>
              <a:ext uri="{FF2B5EF4-FFF2-40B4-BE49-F238E27FC236}">
                <a16:creationId xmlns:a16="http://schemas.microsoft.com/office/drawing/2014/main" id="{9C379900-02D1-B908-34AF-B035C99711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7299" name="Rectangle 3">
            <a:extLst>
              <a:ext uri="{FF2B5EF4-FFF2-40B4-BE49-F238E27FC236}">
                <a16:creationId xmlns:a16="http://schemas.microsoft.com/office/drawing/2014/main" id="{3413144B-938C-9962-C3DD-4942736495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4191000" y="6534150"/>
            <a:ext cx="8382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0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1E385C-13E8-4891-ADDF-DF6E0B94FF32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67301" name="Rectangle 5">
            <a:extLst>
              <a:ext uri="{FF2B5EF4-FFF2-40B4-BE49-F238E27FC236}">
                <a16:creationId xmlns:a16="http://schemas.microsoft.com/office/drawing/2014/main" id="{DA01C977-ABBF-0A7C-18F2-1B92124E77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81000" y="6534150"/>
            <a:ext cx="1905000" cy="261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2053" name="Group 17">
            <a:extLst>
              <a:ext uri="{FF2B5EF4-FFF2-40B4-BE49-F238E27FC236}">
                <a16:creationId xmlns:a16="http://schemas.microsoft.com/office/drawing/2014/main" id="{006DF099-7491-0805-C10C-080CC9BD2E7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804025" y="6453188"/>
            <a:ext cx="1941513" cy="260350"/>
            <a:chOff x="4333" y="4053"/>
            <a:chExt cx="1223" cy="164"/>
          </a:xfrm>
        </p:grpSpPr>
        <p:sp>
          <p:nvSpPr>
            <p:cNvPr id="2054" name="WordArt 18">
              <a:extLst>
                <a:ext uri="{FF2B5EF4-FFF2-40B4-BE49-F238E27FC236}">
                  <a16:creationId xmlns:a16="http://schemas.microsoft.com/office/drawing/2014/main" id="{7E5DB377-5A6D-F044-8197-DD7A53935747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4513" y="4065"/>
              <a:ext cx="1043" cy="12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4241"/>
                </a:avLst>
              </a:prstTxWarp>
            </a:bodyPr>
            <a:lstStyle/>
            <a:p>
              <a:pPr algn="ctr"/>
              <a:r>
                <a:rPr lang="zh-CN" altLang="en-US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沈阳师范大学软件学院</a:t>
              </a:r>
            </a:p>
          </p:txBody>
        </p:sp>
        <p:pic>
          <p:nvPicPr>
            <p:cNvPr id="2055" name="Picture 19" descr="body_background1">
              <a:extLst>
                <a:ext uri="{FF2B5EF4-FFF2-40B4-BE49-F238E27FC236}">
                  <a16:creationId xmlns:a16="http://schemas.microsoft.com/office/drawing/2014/main" id="{E0555313-1E96-0017-939F-CB5D2AA62E8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3" y="4053"/>
              <a:ext cx="15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10">
            <a:extLst>
              <a:ext uri="{FF2B5EF4-FFF2-40B4-BE49-F238E27FC236}">
                <a16:creationId xmlns:a16="http://schemas.microsoft.com/office/drawing/2014/main" id="{CC7CACED-A586-758F-5851-153F6E2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20938"/>
            <a:ext cx="7705725" cy="3005137"/>
          </a:xfrm>
          <a:prstGeom prst="roundRect">
            <a:avLst>
              <a:gd name="adj" fmla="val 17509"/>
            </a:avLst>
          </a:prstGeom>
          <a:solidFill>
            <a:srgbClr val="3482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5123" name="AutoShape 12">
            <a:extLst>
              <a:ext uri="{FF2B5EF4-FFF2-40B4-BE49-F238E27FC236}">
                <a16:creationId xmlns:a16="http://schemas.microsoft.com/office/drawing/2014/main" id="{60B41D0F-E05D-93EA-9B16-1CA380ED7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4598988"/>
            <a:ext cx="7370763" cy="7461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CA1E6">
                  <a:alpha val="0"/>
                </a:srgbClr>
              </a:gs>
              <a:gs pos="100000">
                <a:srgbClr val="9BCFF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latin typeface="楷体_GB2312" pitchFamily="49" charset="-122"/>
            </a:endParaRPr>
          </a:p>
        </p:txBody>
      </p:sp>
      <p:sp>
        <p:nvSpPr>
          <p:cNvPr id="5124" name="AutoShape 13">
            <a:extLst>
              <a:ext uri="{FF2B5EF4-FFF2-40B4-BE49-F238E27FC236}">
                <a16:creationId xmlns:a16="http://schemas.microsoft.com/office/drawing/2014/main" id="{6EA4227F-12DD-237E-E1F2-D4DEB58BC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2462213"/>
            <a:ext cx="7270750" cy="7350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E0F7"/>
              </a:gs>
              <a:gs pos="100000">
                <a:srgbClr val="3CA1E6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latin typeface="楷体_GB2312" pitchFamily="49" charset="-122"/>
            </a:endParaRPr>
          </a:p>
        </p:txBody>
      </p:sp>
      <p:grpSp>
        <p:nvGrpSpPr>
          <p:cNvPr id="5125" name="Group 16">
            <a:extLst>
              <a:ext uri="{FF2B5EF4-FFF2-40B4-BE49-F238E27FC236}">
                <a16:creationId xmlns:a16="http://schemas.microsoft.com/office/drawing/2014/main" id="{55035B18-EB95-1ED3-06BE-CE01FAD8A0B3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1412875"/>
            <a:ext cx="1544638" cy="1423988"/>
            <a:chOff x="1289" y="582"/>
            <a:chExt cx="668" cy="668"/>
          </a:xfrm>
        </p:grpSpPr>
        <p:sp>
          <p:nvSpPr>
            <p:cNvPr id="5130" name="Oval 17">
              <a:extLst>
                <a:ext uri="{FF2B5EF4-FFF2-40B4-BE49-F238E27FC236}">
                  <a16:creationId xmlns:a16="http://schemas.microsoft.com/office/drawing/2014/main" id="{D9B78911-24B4-C058-952A-EADE7D289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582"/>
              <a:ext cx="668" cy="66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5131" name="Oval 18">
              <a:extLst>
                <a:ext uri="{FF2B5EF4-FFF2-40B4-BE49-F238E27FC236}">
                  <a16:creationId xmlns:a16="http://schemas.microsoft.com/office/drawing/2014/main" id="{596EE2CA-EA4F-C846-EF9E-A586E6263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587"/>
              <a:ext cx="646" cy="647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5132" name="Oval 19">
              <a:extLst>
                <a:ext uri="{FF2B5EF4-FFF2-40B4-BE49-F238E27FC236}">
                  <a16:creationId xmlns:a16="http://schemas.microsoft.com/office/drawing/2014/main" id="{DD68BEB5-CACE-017B-F0AD-1E7EC520B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591"/>
              <a:ext cx="631" cy="63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5133" name="Oval 20">
              <a:extLst>
                <a:ext uri="{FF2B5EF4-FFF2-40B4-BE49-F238E27FC236}">
                  <a16:creationId xmlns:a16="http://schemas.microsoft.com/office/drawing/2014/main" id="{F01E7AE3-78EE-E976-1348-10633772B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1" y="597"/>
              <a:ext cx="600" cy="589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5134" name="Oval 21">
              <a:extLst>
                <a:ext uri="{FF2B5EF4-FFF2-40B4-BE49-F238E27FC236}">
                  <a16:creationId xmlns:a16="http://schemas.microsoft.com/office/drawing/2014/main" id="{E91AF066-9B9E-0C53-9BE1-C348DBD3D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613"/>
              <a:ext cx="533" cy="47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latin typeface="楷体_GB2312" pitchFamily="49" charset="-122"/>
              </a:endParaRPr>
            </a:p>
          </p:txBody>
        </p:sp>
      </p:grpSp>
      <p:sp>
        <p:nvSpPr>
          <p:cNvPr id="563222" name="Text Box 22">
            <a:extLst>
              <a:ext uri="{FF2B5EF4-FFF2-40B4-BE49-F238E27FC236}">
                <a16:creationId xmlns:a16="http://schemas.microsoft.com/office/drawing/2014/main" id="{2E69EF1B-B5BA-9B88-EEDE-F0D035413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13" y="1647825"/>
            <a:ext cx="56515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5400" b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63207" name="Rectangle 7">
            <a:extLst>
              <a:ext uri="{FF2B5EF4-FFF2-40B4-BE49-F238E27FC236}">
                <a16:creationId xmlns:a16="http://schemas.microsoft.com/office/drawing/2014/main" id="{530E0E78-D1FA-3950-6C8E-49F631407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65556"/>
            <a:ext cx="6659563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5400" dirty="0">
                <a:latin typeface="楷体_GB2312" pitchFamily="49" charset="-122"/>
              </a:rPr>
              <a:t>Linux</a:t>
            </a:r>
            <a:r>
              <a:rPr lang="zh-CN" altLang="en-US" sz="5400" dirty="0">
                <a:latin typeface="楷体_GB2312" pitchFamily="49" charset="-122"/>
              </a:rPr>
              <a:t>系统概述</a:t>
            </a:r>
            <a:endParaRPr lang="en-US" altLang="zh-CN" sz="5400" dirty="0">
              <a:latin typeface="楷体_GB2312" pitchFamily="49" charset="-122"/>
            </a:endParaRPr>
          </a:p>
          <a:p>
            <a:pPr algn="ctr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Linux</a:t>
            </a:r>
            <a:r>
              <a:rPr lang="zh-CN" altLang="en-US" sz="4800" dirty="0">
                <a:solidFill>
                  <a:schemeClr val="tx1"/>
                </a:solidFill>
                <a:ea typeface="宋体" panose="02010600030101010101" pitchFamily="2" charset="-122"/>
              </a:rPr>
              <a:t>系统的</a:t>
            </a: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shell</a:t>
            </a:r>
            <a:r>
              <a:rPr lang="zh-CN" altLang="en-US" sz="4800" dirty="0">
                <a:solidFill>
                  <a:schemeClr val="tx1"/>
                </a:solidFill>
                <a:ea typeface="宋体" panose="02010600030101010101" pitchFamily="2" charset="-122"/>
              </a:rPr>
              <a:t>命令</a:t>
            </a:r>
            <a:endParaRPr lang="zh-CN" altLang="en-US" sz="48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5128" name="Rectangle 27">
            <a:extLst>
              <a:ext uri="{FF2B5EF4-FFF2-40B4-BE49-F238E27FC236}">
                <a16:creationId xmlns:a16="http://schemas.microsoft.com/office/drawing/2014/main" id="{ED859A43-5FE2-180A-96EA-FDE1B7D09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252538"/>
            <a:ext cx="1800225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48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</a:p>
        </p:txBody>
      </p:sp>
      <p:sp>
        <p:nvSpPr>
          <p:cNvPr id="5129" name="Rectangle 29">
            <a:extLst>
              <a:ext uri="{FF2B5EF4-FFF2-40B4-BE49-F238E27FC236}">
                <a16:creationId xmlns:a16="http://schemas.microsoft.com/office/drawing/2014/main" id="{092E65C7-4EF5-0132-CE04-07B3010BD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252538"/>
            <a:ext cx="1800225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48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3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3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FC4CEA2D-5BC2-2BBB-0CEC-771FE5B24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Linux</a:t>
            </a:r>
            <a:r>
              <a:rPr lang="zh-CN" altLang="en-US" sz="2800" dirty="0">
                <a:ea typeface="宋体" panose="02010600030101010101" pitchFamily="2" charset="-122"/>
              </a:rPr>
              <a:t>系统的</a:t>
            </a:r>
            <a:r>
              <a:rPr lang="en-US" altLang="zh-CN" sz="2800" dirty="0">
                <a:ea typeface="宋体" panose="02010600030101010101" pitchFamily="2" charset="-122"/>
              </a:rPr>
              <a:t>shell</a:t>
            </a:r>
            <a:r>
              <a:rPr lang="zh-CN" altLang="en-US" sz="2800" dirty="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76B6DD76-FD47-4DD2-B017-30E68810C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1075"/>
            <a:ext cx="8229600" cy="5616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ea typeface="宋体" panose="02010600030101010101" pitchFamily="2" charset="-122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本身是一个用</a:t>
            </a:r>
            <a:r>
              <a:rPr lang="en-US" altLang="zh-CN" dirty="0">
                <a:ea typeface="宋体" panose="02010600030101010101" pitchFamily="2" charset="-122"/>
              </a:rPr>
              <a:t>C</a:t>
            </a:r>
            <a:r>
              <a:rPr lang="zh-CN" altLang="zh-CN" dirty="0">
                <a:ea typeface="宋体" panose="02010600030101010101" pitchFamily="2" charset="-122"/>
              </a:rPr>
              <a:t>语言编写的程序，是用户使用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的桥梁。</a:t>
            </a:r>
            <a:r>
              <a:rPr lang="en-US" altLang="zh-CN" dirty="0">
                <a:ea typeface="宋体" panose="02010600030101010101" pitchFamily="2" charset="-122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是一种命令语言，</a:t>
            </a:r>
            <a:r>
              <a:rPr lang="zh-CN" altLang="en-US" dirty="0">
                <a:ea typeface="宋体" panose="02010600030101010101" pitchFamily="2" charset="-122"/>
              </a:rPr>
              <a:t>可以</a:t>
            </a:r>
            <a:r>
              <a:rPr lang="zh-CN" altLang="zh-CN" dirty="0">
                <a:ea typeface="宋体" panose="02010600030101010101" pitchFamily="2" charset="-122"/>
              </a:rPr>
              <a:t>交互式地解释和执行用户的命令；</a:t>
            </a:r>
            <a:r>
              <a:rPr lang="zh-CN" altLang="en-US" dirty="0">
                <a:ea typeface="宋体" panose="02010600030101010101" pitchFamily="2" charset="-122"/>
              </a:rPr>
              <a:t>同时也是</a:t>
            </a:r>
            <a:r>
              <a:rPr lang="zh-CN" altLang="zh-CN" dirty="0">
                <a:ea typeface="宋体" panose="02010600030101010101" pitchFamily="2" charset="-122"/>
              </a:rPr>
              <a:t>程序设计语言，</a:t>
            </a:r>
            <a:r>
              <a:rPr lang="zh-CN" altLang="en-US" dirty="0">
                <a:ea typeface="宋体" panose="02010600030101010101" pitchFamily="2" charset="-122"/>
              </a:rPr>
              <a:t>其</a:t>
            </a:r>
            <a:r>
              <a:rPr lang="zh-CN" altLang="zh-CN" dirty="0">
                <a:ea typeface="宋体" panose="02010600030101010101" pitchFamily="2" charset="-122"/>
              </a:rPr>
              <a:t>定义了各种变量和参数，并提供了许多在高级语言中具有的控制结构。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ea typeface="宋体" panose="02010600030101010101" pitchFamily="2" charset="-122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虽然不是</a:t>
            </a:r>
            <a:r>
              <a:rPr lang="en-US" altLang="zh-CN" b="1" dirty="0">
                <a:ea typeface="宋体" panose="02010600030101010101" pitchFamily="2" charset="-122"/>
              </a:rPr>
              <a:t>Linux</a:t>
            </a:r>
            <a:r>
              <a:rPr lang="zh-CN" altLang="zh-CN" b="1" dirty="0">
                <a:ea typeface="宋体" panose="02010600030101010101" pitchFamily="2" charset="-122"/>
              </a:rPr>
              <a:t>系统内核</a:t>
            </a:r>
            <a:r>
              <a:rPr lang="zh-CN" altLang="zh-CN" dirty="0">
                <a:ea typeface="宋体" panose="02010600030101010101" pitchFamily="2" charset="-122"/>
              </a:rPr>
              <a:t>的一部分，但</a:t>
            </a:r>
            <a:r>
              <a:rPr lang="zh-CN" altLang="en-US" dirty="0">
                <a:ea typeface="宋体" panose="02010600030101010101" pitchFamily="2" charset="-122"/>
              </a:rPr>
              <a:t>其可以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调用了系统核心的大部分功能</a:t>
            </a:r>
            <a:r>
              <a:rPr lang="zh-CN" altLang="zh-CN" dirty="0">
                <a:ea typeface="宋体" panose="02010600030101010101" pitchFamily="2" charset="-122"/>
              </a:rPr>
              <a:t>来执行程序、建立文件并以并行的方式协调各个程序的运行。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>
                <a:ea typeface="宋体" panose="02010600030101010101" pitchFamily="2" charset="-122"/>
              </a:rPr>
              <a:t>因此，对于用户来说，</a:t>
            </a:r>
            <a:r>
              <a:rPr lang="en-US" altLang="zh-CN" dirty="0">
                <a:ea typeface="宋体" panose="02010600030101010101" pitchFamily="2" charset="-122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是最重要的实用程序，深入了解和熟练掌握</a:t>
            </a:r>
            <a:r>
              <a:rPr lang="en-US" altLang="zh-CN" dirty="0">
                <a:ea typeface="宋体" panose="02010600030101010101" pitchFamily="2" charset="-122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的特性及其使用方法，是用好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系统的关键。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43864C8E-D267-DCAA-08F6-AA6B738F9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FE5F47CF-D70C-0A19-18D0-6579447B03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</a:pPr>
            <a:r>
              <a:rPr lang="zh-CN" altLang="zh-CN" dirty="0">
                <a:ea typeface="宋体" panose="02010600030101010101" pitchFamily="2" charset="-122"/>
              </a:rPr>
              <a:t>根据实际功能与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系统的特性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zh-CN" altLang="zh-CN" dirty="0">
                <a:ea typeface="宋体" panose="02010600030101010101" pitchFamily="2" charset="-122"/>
              </a:rPr>
              <a:t>将</a:t>
            </a:r>
            <a:r>
              <a:rPr lang="en-US" altLang="zh-CN" dirty="0">
                <a:ea typeface="宋体" panose="02010600030101010101" pitchFamily="2" charset="-122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命令分为十八个具体功能模快命令集，</a:t>
            </a:r>
            <a:r>
              <a:rPr lang="zh-CN" altLang="en-US" dirty="0">
                <a:ea typeface="宋体" panose="02010600030101010101" pitchFamily="2" charset="-122"/>
              </a:rPr>
              <a:t>这里</a:t>
            </a:r>
            <a:r>
              <a:rPr lang="zh-CN" altLang="zh-CN" dirty="0">
                <a:ea typeface="宋体" panose="02010600030101010101" pitchFamily="2" charset="-122"/>
              </a:rPr>
              <a:t>对</a:t>
            </a:r>
            <a:r>
              <a:rPr lang="en-US" altLang="zh-CN" dirty="0">
                <a:ea typeface="宋体" panose="02010600030101010101" pitchFamily="2" charset="-122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命令进行初步介绍。</a:t>
            </a:r>
          </a:p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一、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“文件与目录操作”命令集</a:t>
            </a:r>
            <a:r>
              <a:rPr lang="zh-CN" altLang="zh-CN" dirty="0">
                <a:ea typeface="宋体" panose="02010600030101010101" pitchFamily="2" charset="-122"/>
              </a:rPr>
              <a:t>：</a:t>
            </a:r>
            <a:r>
              <a:rPr lang="zh-CN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主要是为实现对文件与目录进行操作而预设的一些命令。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该</a:t>
            </a:r>
            <a:r>
              <a:rPr lang="zh-CN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命令集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包含有：</a:t>
            </a:r>
            <a:r>
              <a:rPr lang="zh-CN" altLang="zh-CN" b="1" dirty="0">
                <a:ea typeface="宋体" panose="02010600030101010101" pitchFamily="2" charset="-122"/>
              </a:rPr>
              <a:t>复制文件或目录、确定文件类型、改变文件的所有者和组、删除文件或目录、重命名文件、显示目录内容、从文件名中去掉路径和扩展名、移动或重命名文件、快速定位文件的路径、创建目录</a:t>
            </a:r>
            <a:r>
              <a:rPr lang="zh-CN" altLang="zh-CN" dirty="0">
                <a:ea typeface="宋体" panose="02010600030101010101" pitchFamily="2" charset="-122"/>
              </a:rPr>
              <a:t>等命令。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791B877E-9007-0EC6-236F-5604DBCE24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FFA71DA0-9EFD-B3B3-69BC-6DDADA6B4E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0728"/>
            <a:ext cx="8229600" cy="60107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一、文件与目录操作 </a:t>
            </a: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cd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：切换当前工作目录到指定目录；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chmod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：改变文件的权限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cp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：复制文件或目录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如：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cp file.txt backup/</a:t>
            </a: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find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：在指定目录下查找文件并执行指定的操作；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ln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：创建文件链接；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chgrp</a:t>
            </a:r>
            <a:r>
              <a:rPr lang="zh-CN" altLang="zh-CN" sz="2200" dirty="0">
                <a:ea typeface="宋体" panose="02010600030101010101" pitchFamily="2" charset="-122"/>
              </a:rPr>
              <a:t>：改变文件所属组</a:t>
            </a:r>
            <a:r>
              <a:rPr lang="zh-CN" altLang="en-US" sz="2200" dirty="0">
                <a:ea typeface="宋体" panose="02010600030101010101" pitchFamily="2" charset="-122"/>
              </a:rPr>
              <a:t>（需管理员权限）</a:t>
            </a:r>
            <a:r>
              <a:rPr lang="zh-CN" altLang="zh-CN" sz="2200" dirty="0">
                <a:ea typeface="宋体" panose="02010600030101010101" pitchFamily="2" charset="-122"/>
              </a:rPr>
              <a:t> ；</a:t>
            </a:r>
            <a:endParaRPr lang="en-US" altLang="zh-CN" sz="2200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chown</a:t>
            </a:r>
            <a:r>
              <a:rPr lang="zh-CN" altLang="zh-CN" sz="2200" dirty="0">
                <a:ea typeface="宋体" panose="02010600030101010101" pitchFamily="2" charset="-122"/>
              </a:rPr>
              <a:t>：改变文件的所有者和组</a:t>
            </a:r>
            <a:r>
              <a:rPr lang="zh-CN" altLang="en-US" sz="2200" dirty="0">
                <a:ea typeface="宋体" panose="02010600030101010101" pitchFamily="2" charset="-122"/>
              </a:rPr>
              <a:t>（需管理员权限）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basename</a:t>
            </a:r>
            <a:r>
              <a:rPr lang="zh-CN" altLang="zh-CN" sz="2200" dirty="0">
                <a:ea typeface="宋体" panose="02010600030101010101" pitchFamily="2" charset="-122"/>
              </a:rPr>
              <a:t>：从文件名中去掉路径和扩展名；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dd</a:t>
            </a:r>
            <a:r>
              <a:rPr lang="zh-CN" altLang="zh-CN" sz="2200" dirty="0">
                <a:ea typeface="宋体" panose="02010600030101010101" pitchFamily="2" charset="-122"/>
              </a:rPr>
              <a:t>：复制文件并转换文件内容；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file</a:t>
            </a:r>
            <a:r>
              <a:rPr lang="zh-CN" altLang="zh-CN" sz="2200" dirty="0">
                <a:ea typeface="宋体" panose="02010600030101010101" pitchFamily="2" charset="-122"/>
              </a:rPr>
              <a:t>：确定文件类型；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locate/</a:t>
            </a:r>
            <a:r>
              <a:rPr lang="en-US" altLang="zh-CN" sz="2200" dirty="0" err="1">
                <a:ea typeface="宋体" panose="02010600030101010101" pitchFamily="2" charset="-122"/>
              </a:rPr>
              <a:t>slocate</a:t>
            </a:r>
            <a:r>
              <a:rPr lang="zh-CN" altLang="zh-CN" sz="2200" dirty="0">
                <a:ea typeface="宋体" panose="02010600030101010101" pitchFamily="2" charset="-122"/>
              </a:rPr>
              <a:t>：快速定位文件的路径 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E6646-D19B-6536-EE8A-11EB63A8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9DF39EDE-8D32-AC19-9C15-E0D814B04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AAF97ADF-9914-7871-F64D-2B5CF2074E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0728"/>
            <a:ext cx="8229600" cy="56169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一、文件与目录操作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ls/</a:t>
            </a: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dir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vdir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：显示目录内容；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mkdir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：创建目录；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mv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：移动或重命名文件；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pwd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：显示当前工作目录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rm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：删除文件或目录</a:t>
            </a:r>
            <a:r>
              <a:rPr lang="zh-CN" altLang="en-US" sz="2200" dirty="0">
                <a:ea typeface="宋体" panose="02010600030101010101" pitchFamily="2" charset="-122"/>
              </a:rPr>
              <a:t>（清理临时文件或卸载时常用）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6450" indent="-522288" defTabSz="8064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rename</a:t>
            </a:r>
            <a:r>
              <a:rPr lang="zh-CN" altLang="zh-CN" sz="2200" dirty="0">
                <a:ea typeface="宋体" panose="02010600030101010101" pitchFamily="2" charset="-122"/>
              </a:rPr>
              <a:t>：重命名文件；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r>
              <a:rPr lang="en-US" altLang="zh-CN" sz="2200" dirty="0" err="1">
                <a:ea typeface="宋体" panose="02010600030101010101" pitchFamily="2" charset="-122"/>
              </a:rPr>
              <a:t>rmdir</a:t>
            </a:r>
            <a:r>
              <a:rPr lang="zh-CN" altLang="zh-CN" sz="2200" dirty="0">
                <a:ea typeface="宋体" panose="02010600030101010101" pitchFamily="2" charset="-122"/>
              </a:rPr>
              <a:t>：删除空目录；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touch</a:t>
            </a:r>
            <a:r>
              <a:rPr lang="zh-CN" altLang="zh-CN" sz="2200" dirty="0">
                <a:ea typeface="宋体" panose="02010600030101010101" pitchFamily="2" charset="-122"/>
              </a:rPr>
              <a:t>：修改文件的时间属性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updatedb</a:t>
            </a:r>
            <a:r>
              <a:rPr lang="zh-CN" altLang="zh-CN" sz="2200" dirty="0">
                <a:ea typeface="宋体" panose="02010600030101010101" pitchFamily="2" charset="-122"/>
              </a:rPr>
              <a:t>：创建或更新；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slocate</a:t>
            </a:r>
            <a:r>
              <a:rPr lang="zh-CN" altLang="zh-CN" sz="2200" dirty="0">
                <a:ea typeface="宋体" panose="02010600030101010101" pitchFamily="2" charset="-122"/>
              </a:rPr>
              <a:t>：数据库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whereis</a:t>
            </a:r>
            <a:r>
              <a:rPr lang="zh-CN" altLang="zh-CN" sz="2200" dirty="0">
                <a:ea typeface="宋体" panose="02010600030101010101" pitchFamily="2" charset="-122"/>
              </a:rPr>
              <a:t>：显示指令程序、源代码和</a:t>
            </a:r>
            <a:r>
              <a:rPr lang="en-US" altLang="zh-CN" sz="2200" dirty="0">
                <a:ea typeface="宋体" panose="02010600030101010101" pitchFamily="2" charset="-122"/>
              </a:rPr>
              <a:t>man</a:t>
            </a:r>
            <a:r>
              <a:rPr lang="zh-CN" altLang="zh-CN" sz="2200" dirty="0">
                <a:ea typeface="宋体" panose="02010600030101010101" pitchFamily="2" charset="-122"/>
              </a:rPr>
              <a:t>手册页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which</a:t>
            </a:r>
            <a:r>
              <a:rPr lang="zh-CN" altLang="zh-CN" sz="2200" dirty="0">
                <a:ea typeface="宋体" panose="02010600030101010101" pitchFamily="2" charset="-122"/>
              </a:rPr>
              <a:t>：显示指令的绝对路径；</a:t>
            </a:r>
          </a:p>
        </p:txBody>
      </p:sp>
    </p:spTree>
    <p:extLst>
      <p:ext uri="{BB962C8B-B14F-4D97-AF65-F5344CB8AC3E}">
        <p14:creationId xmlns:p14="http://schemas.microsoft.com/office/powerpoint/2010/main" val="2089804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56D8EDF9-08EE-966D-F7C4-6342340D0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C3246331-25DD-A50C-E2AD-8037336696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5434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二、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“备份与压缩”命令集</a:t>
            </a:r>
            <a:r>
              <a:rPr lang="zh-CN" altLang="zh-CN" dirty="0">
                <a:ea typeface="宋体" panose="02010600030101010101" pitchFamily="2" charset="-122"/>
              </a:rPr>
              <a:t>：</a:t>
            </a:r>
            <a:r>
              <a:rPr lang="zh-CN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主要是为实现备份与压缩功能而预设的命令。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该</a:t>
            </a:r>
            <a:r>
              <a:rPr lang="zh-CN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命令集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包含有：</a:t>
            </a:r>
            <a:r>
              <a:rPr lang="en-US" altLang="zh-CN" b="1" dirty="0" err="1">
                <a:ea typeface="宋体" panose="02010600030101010101" pitchFamily="2" charset="-122"/>
              </a:rPr>
              <a:t>arj</a:t>
            </a:r>
            <a:r>
              <a:rPr lang="zh-CN" altLang="zh-CN" b="1" dirty="0">
                <a:ea typeface="宋体" panose="02010600030101010101" pitchFamily="2" charset="-122"/>
              </a:rPr>
              <a:t>件压缩指令、压缩</a:t>
            </a:r>
            <a:r>
              <a:rPr lang="en-US" altLang="zh-CN" b="1" dirty="0">
                <a:ea typeface="宋体" panose="02010600030101010101" pitchFamily="2" charset="-122"/>
              </a:rPr>
              <a:t>bzip2</a:t>
            </a:r>
            <a:r>
              <a:rPr lang="zh-CN" altLang="zh-CN" b="1" dirty="0">
                <a:ea typeface="宋体" panose="02010600030101010101" pitchFamily="2" charset="-122"/>
              </a:rPr>
              <a:t>格式的压缩文件、解压缩文件到标准输出 、创建</a:t>
            </a:r>
            <a:r>
              <a:rPr lang="en-US" altLang="zh-CN" b="1" dirty="0">
                <a:ea typeface="宋体" panose="02010600030101010101" pitchFamily="2" charset="-122"/>
              </a:rPr>
              <a:t>.bz2</a:t>
            </a:r>
            <a:r>
              <a:rPr lang="zh-CN" altLang="zh-CN" b="1" dirty="0">
                <a:ea typeface="宋体" panose="02010600030101010101" pitchFamily="2" charset="-122"/>
              </a:rPr>
              <a:t>格式的压缩文件、压缩数据文件、存取归档包中的文件、文件系统备份、解压缩由</a:t>
            </a:r>
            <a:r>
              <a:rPr lang="en-US" altLang="zh-CN" b="1" dirty="0" err="1">
                <a:ea typeface="宋体" panose="02010600030101010101" pitchFamily="2" charset="-122"/>
              </a:rPr>
              <a:t>gzip</a:t>
            </a:r>
            <a:r>
              <a:rPr lang="zh-CN" altLang="zh-CN" b="1" dirty="0">
                <a:ea typeface="宋体" panose="02010600030101010101" pitchFamily="2" charset="-122"/>
              </a:rPr>
              <a:t>压缩的文件 、压缩可执行程序 、压缩和解压缩指令</a:t>
            </a:r>
            <a:r>
              <a:rPr lang="zh-CN" altLang="zh-CN" dirty="0">
                <a:ea typeface="宋体" panose="02010600030101010101" pitchFamily="2" charset="-122"/>
              </a:rPr>
              <a:t>等命令。</a:t>
            </a:r>
            <a:r>
              <a:rPr lang="en-US" altLang="zh-CN" sz="2200" dirty="0">
                <a:ea typeface="宋体" panose="02010600030101010101" pitchFamily="2" charset="-122"/>
              </a:rPr>
              <a:t>	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42F775C-9582-9796-7911-14F5C8FFA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6AA3C3CC-1AAE-E1FF-1C09-95CD1EED1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8667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二、备份与压缩 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bzip2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：创建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.bz2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格式的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高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压缩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比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文件；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适合大文件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bunzip2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：压缩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bzip2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格式的压缩文件；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zcat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：解压缩文件并送到标准输出；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bzcat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：解压缩文件到标准输出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cpio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：存取归档包中的文件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与 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tar 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类似但更适用于备份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bzip2recover</a:t>
            </a:r>
            <a:r>
              <a:rPr lang="zh-CN" altLang="zh-CN" sz="2200" dirty="0">
                <a:ea typeface="宋体" panose="02010600030101010101" pitchFamily="2" charset="-122"/>
              </a:rPr>
              <a:t>：修复损坏的</a:t>
            </a:r>
            <a:r>
              <a:rPr lang="en-US" altLang="zh-CN" sz="2200" dirty="0">
                <a:ea typeface="宋体" panose="02010600030101010101" pitchFamily="2" charset="-122"/>
              </a:rPr>
              <a:t>.bz2</a:t>
            </a:r>
            <a:r>
              <a:rPr lang="zh-CN" altLang="zh-CN" sz="2200" dirty="0">
                <a:ea typeface="宋体" panose="02010600030101010101" pitchFamily="2" charset="-122"/>
              </a:rPr>
              <a:t>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bzless</a:t>
            </a:r>
            <a:r>
              <a:rPr lang="en-US" altLang="zh-CN" sz="2200" dirty="0">
                <a:ea typeface="宋体" panose="02010600030101010101" pitchFamily="2" charset="-122"/>
              </a:rPr>
              <a:t>/</a:t>
            </a:r>
            <a:r>
              <a:rPr lang="en-US" altLang="zh-CN" sz="2200" dirty="0" err="1">
                <a:ea typeface="宋体" panose="02010600030101010101" pitchFamily="2" charset="-122"/>
              </a:rPr>
              <a:t>bzmore</a:t>
            </a:r>
            <a:r>
              <a:rPr lang="zh-CN" altLang="zh-CN" sz="2200" dirty="0">
                <a:ea typeface="宋体" panose="02010600030101010101" pitchFamily="2" charset="-122"/>
              </a:rPr>
              <a:t>：解压缩</a:t>
            </a:r>
            <a:r>
              <a:rPr lang="en-US" altLang="zh-CN" sz="2200" dirty="0">
                <a:ea typeface="宋体" panose="02010600030101010101" pitchFamily="2" charset="-122"/>
              </a:rPr>
              <a:t>.bz2</a:t>
            </a:r>
            <a:r>
              <a:rPr lang="zh-CN" altLang="zh-CN" sz="2200" dirty="0">
                <a:ea typeface="宋体" panose="02010600030101010101" pitchFamily="2" charset="-122"/>
              </a:rPr>
              <a:t>文件并分屏显示内容；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dump</a:t>
            </a:r>
            <a:r>
              <a:rPr lang="zh-CN" altLang="zh-CN" sz="2200" dirty="0">
                <a:ea typeface="宋体" panose="02010600030101010101" pitchFamily="2" charset="-122"/>
              </a:rPr>
              <a:t>：文件系统备份；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r>
              <a:rPr lang="en-US" altLang="zh-CN" sz="2200" dirty="0" err="1">
                <a:ea typeface="宋体" panose="02010600030101010101" pitchFamily="2" charset="-122"/>
              </a:rPr>
              <a:t>gzexe</a:t>
            </a:r>
            <a:r>
              <a:rPr lang="zh-CN" altLang="zh-CN" sz="2200" dirty="0">
                <a:ea typeface="宋体" panose="02010600030101010101" pitchFamily="2" charset="-122"/>
              </a:rPr>
              <a:t>：压缩可执行程序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zipinfo</a:t>
            </a:r>
            <a:r>
              <a:rPr lang="zh-CN" altLang="zh-CN" sz="2200" dirty="0">
                <a:ea typeface="宋体" panose="02010600030101010101" pitchFamily="2" charset="-122"/>
              </a:rPr>
              <a:t>：显示</a:t>
            </a:r>
            <a:r>
              <a:rPr lang="en-US" altLang="zh-CN" sz="2200" dirty="0">
                <a:ea typeface="宋体" panose="02010600030101010101" pitchFamily="2" charset="-122"/>
              </a:rPr>
              <a:t>zip</a:t>
            </a:r>
            <a:r>
              <a:rPr lang="zh-CN" altLang="zh-CN" sz="2200" dirty="0">
                <a:ea typeface="宋体" panose="02010600030101010101" pitchFamily="2" charset="-122"/>
              </a:rPr>
              <a:t>压缩文件的详细信息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compress</a:t>
            </a:r>
            <a:r>
              <a:rPr lang="zh-CN" altLang="zh-CN" sz="2200" dirty="0">
                <a:ea typeface="宋体" panose="02010600030101010101" pitchFamily="2" charset="-122"/>
              </a:rPr>
              <a:t>：压缩数据文件；</a:t>
            </a:r>
            <a:r>
              <a:rPr lang="en-US" altLang="zh-CN" sz="2200" dirty="0">
                <a:ea typeface="宋体" panose="02010600030101010101" pitchFamily="2" charset="-122"/>
              </a:rPr>
              <a:t>uncompress</a:t>
            </a:r>
            <a:r>
              <a:rPr lang="zh-CN" altLang="zh-CN" sz="2200" dirty="0">
                <a:ea typeface="宋体" panose="02010600030101010101" pitchFamily="2" charset="-122"/>
              </a:rPr>
              <a:t>：解压缩</a:t>
            </a:r>
            <a:r>
              <a:rPr lang="en-US" altLang="zh-CN" sz="2200" dirty="0">
                <a:ea typeface="宋体" panose="02010600030101010101" pitchFamily="2" charset="-122"/>
              </a:rPr>
              <a:t>.Z</a:t>
            </a:r>
            <a:r>
              <a:rPr lang="zh-CN" altLang="zh-CN" sz="2200" dirty="0">
                <a:ea typeface="宋体" panose="02010600030101010101" pitchFamily="2" charset="-122"/>
              </a:rPr>
              <a:t>文件 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284162" indent="0">
              <a:lnSpc>
                <a:spcPct val="110000"/>
              </a:lnSpc>
              <a:buNone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（注：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compress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已被 </a:t>
            </a: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gzip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取代。）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4162" indent="0">
              <a:lnSpc>
                <a:spcPct val="110000"/>
              </a:lnSpc>
              <a:buNone/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zh-CN" altLang="zh-CN" sz="2200" dirty="0">
              <a:ea typeface="宋体" panose="02010600030101010101" pitchFamily="2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4D15F-54F9-0E0D-65BB-A034507A4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与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</a:t>
            </a: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类似但更适用于备份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5F046-FFB9-6205-AB22-A8BC8F7F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CF66D8CB-AD69-9795-FAE3-2C9AE6E0EF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D87BAB36-B35D-2A6C-E9AB-06EAA2650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451850" cy="58667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二、备份与压缩 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tar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：创建备份档案文件；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gzip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：压缩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文件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工具；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压缩工具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(.</a:t>
            </a: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gz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 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，广泛用于日志压缩等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gunzip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：解压缩由</a:t>
            </a: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gzip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压缩的文件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zip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：压缩文件 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(zip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的跨平台兼容性最强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    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unzip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：解压缩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.zip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文件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resotre</a:t>
            </a:r>
            <a:r>
              <a:rPr lang="zh-CN" altLang="zh-CN" sz="2200" dirty="0">
                <a:ea typeface="宋体" panose="02010600030101010101" pitchFamily="2" charset="-122"/>
              </a:rPr>
              <a:t>：还原由</a:t>
            </a:r>
            <a:r>
              <a:rPr lang="en-US" altLang="zh-CN" sz="2200" dirty="0">
                <a:ea typeface="宋体" panose="02010600030101010101" pitchFamily="2" charset="-122"/>
              </a:rPr>
              <a:t>dump</a:t>
            </a:r>
            <a:r>
              <a:rPr lang="zh-CN" altLang="zh-CN" sz="2200" dirty="0">
                <a:ea typeface="宋体" panose="02010600030101010101" pitchFamily="2" charset="-122"/>
              </a:rPr>
              <a:t>备份的文件或文件系统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zforce</a:t>
            </a:r>
            <a:r>
              <a:rPr lang="zh-CN" altLang="zh-CN" sz="2200" dirty="0">
                <a:ea typeface="宋体" panose="02010600030101010101" pitchFamily="2" charset="-122"/>
              </a:rPr>
              <a:t>：强制</a:t>
            </a:r>
            <a:r>
              <a:rPr lang="en-US" altLang="zh-CN" sz="2200" dirty="0" err="1">
                <a:ea typeface="宋体" panose="02010600030101010101" pitchFamily="2" charset="-122"/>
              </a:rPr>
              <a:t>gzip</a:t>
            </a:r>
            <a:r>
              <a:rPr lang="zh-CN" altLang="zh-CN" sz="2200" dirty="0">
                <a:ea typeface="宋体" panose="02010600030101010101" pitchFamily="2" charset="-122"/>
              </a:rPr>
              <a:t>格式的文件加上</a:t>
            </a:r>
            <a:r>
              <a:rPr lang="en-US" altLang="zh-CN" sz="2200" dirty="0">
                <a:ea typeface="宋体" panose="02010600030101010101" pitchFamily="2" charset="-122"/>
              </a:rPr>
              <a:t>.</a:t>
            </a:r>
            <a:r>
              <a:rPr lang="en-US" altLang="zh-CN" sz="2200" dirty="0" err="1">
                <a:ea typeface="宋体" panose="02010600030101010101" pitchFamily="2" charset="-122"/>
              </a:rPr>
              <a:t>gz</a:t>
            </a:r>
            <a:r>
              <a:rPr lang="zh-CN" altLang="zh-CN" sz="2200" dirty="0">
                <a:ea typeface="宋体" panose="02010600030101010101" pitchFamily="2" charset="-122"/>
              </a:rPr>
              <a:t>扩展名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znew</a:t>
            </a:r>
            <a:r>
              <a:rPr lang="zh-CN" altLang="zh-CN" sz="2200" dirty="0">
                <a:ea typeface="宋体" panose="02010600030101010101" pitchFamily="2" charset="-122"/>
              </a:rPr>
              <a:t>：将“</a:t>
            </a:r>
            <a:r>
              <a:rPr lang="en-US" altLang="zh-CN" sz="2200" dirty="0">
                <a:ea typeface="宋体" panose="02010600030101010101" pitchFamily="2" charset="-122"/>
              </a:rPr>
              <a:t>.Z</a:t>
            </a:r>
            <a:r>
              <a:rPr lang="zh-CN" altLang="zh-CN" sz="2200" dirty="0">
                <a:ea typeface="宋体" panose="02010600030101010101" pitchFamily="2" charset="-122"/>
              </a:rPr>
              <a:t>”文件转换成“</a:t>
            </a:r>
            <a:r>
              <a:rPr lang="en-US" altLang="zh-CN" sz="2200" dirty="0">
                <a:ea typeface="宋体" panose="02010600030101010101" pitchFamily="2" charset="-122"/>
              </a:rPr>
              <a:t>.</a:t>
            </a:r>
            <a:r>
              <a:rPr lang="en-US" altLang="zh-CN" sz="2200" dirty="0" err="1">
                <a:ea typeface="宋体" panose="02010600030101010101" pitchFamily="2" charset="-122"/>
              </a:rPr>
              <a:t>gz</a:t>
            </a:r>
            <a:r>
              <a:rPr lang="zh-CN" altLang="zh-CN" sz="2200" dirty="0">
                <a:ea typeface="宋体" panose="02010600030101010101" pitchFamily="2" charset="-122"/>
              </a:rPr>
              <a:t>”文件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lha</a:t>
            </a:r>
            <a:r>
              <a:rPr lang="zh-CN" altLang="zh-CN" sz="2200" dirty="0">
                <a:ea typeface="宋体" panose="02010600030101010101" pitchFamily="2" charset="-122"/>
              </a:rPr>
              <a:t>：压缩和解压缩指令；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ar</a:t>
            </a:r>
            <a:r>
              <a:rPr lang="zh-CN" altLang="zh-CN" sz="2200" dirty="0">
                <a:ea typeface="宋体" panose="02010600030101010101" pitchFamily="2" charset="-122"/>
              </a:rPr>
              <a:t>：创建、修改归档文件和从归档文件中提取文件；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arj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.</a:t>
            </a:r>
            <a:r>
              <a:rPr lang="en-US" altLang="zh-CN" sz="2200" dirty="0" err="1">
                <a:ea typeface="宋体" panose="02010600030101010101" pitchFamily="2" charset="-122"/>
              </a:rPr>
              <a:t>arj</a:t>
            </a:r>
            <a:r>
              <a:rPr lang="zh-CN" altLang="zh-CN" sz="2200" dirty="0">
                <a:ea typeface="宋体" panose="02010600030101010101" pitchFamily="2" charset="-122"/>
              </a:rPr>
              <a:t>文件压缩指令 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r>
              <a:rPr lang="en-US" altLang="zh-CN" sz="2200" dirty="0" err="1">
                <a:ea typeface="宋体" panose="02010600030101010101" pitchFamily="2" charset="-122"/>
              </a:rPr>
              <a:t>unarj</a:t>
            </a:r>
            <a:r>
              <a:rPr lang="zh-CN" altLang="zh-CN" sz="2200" dirty="0">
                <a:ea typeface="宋体" panose="02010600030101010101" pitchFamily="2" charset="-122"/>
              </a:rPr>
              <a:t>：解压缩</a:t>
            </a:r>
            <a:r>
              <a:rPr lang="en-US" altLang="zh-CN" sz="2200" dirty="0">
                <a:ea typeface="宋体" panose="02010600030101010101" pitchFamily="2" charset="-122"/>
              </a:rPr>
              <a:t>.</a:t>
            </a:r>
            <a:r>
              <a:rPr lang="en-US" altLang="zh-CN" sz="2200" dirty="0" err="1">
                <a:ea typeface="宋体" panose="02010600030101010101" pitchFamily="2" charset="-122"/>
              </a:rPr>
              <a:t>arj</a:t>
            </a:r>
            <a:r>
              <a:rPr lang="zh-CN" altLang="zh-CN" sz="2200" dirty="0">
                <a:ea typeface="宋体" panose="02010600030101010101" pitchFamily="2" charset="-122"/>
              </a:rPr>
              <a:t>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284162" indent="0">
              <a:lnSpc>
                <a:spcPct val="110000"/>
              </a:lnSpc>
              <a:buNone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（注：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ar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arj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lha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：老旧格式，现代系统极少使用。）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zh-CN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8082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27ED-908A-25CC-132F-91697DB4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4C0FCDDE-FDB6-2DAA-3017-23643B35E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CFB880A4-AE69-A90C-7567-E2A0AD52C7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5434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三、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“文本处理 ”命令集</a:t>
            </a:r>
            <a:r>
              <a:rPr lang="zh-CN" altLang="zh-CN" dirty="0">
                <a:ea typeface="宋体" panose="02010600030101010101" pitchFamily="2" charset="-122"/>
              </a:rPr>
              <a:t>，</a:t>
            </a:r>
            <a:r>
              <a:rPr lang="zh-CN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主要是对文本进行编辑与编译及调用相应工具的命令集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该</a:t>
            </a:r>
            <a:r>
              <a:rPr lang="zh-CN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命令集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包含有：</a:t>
            </a:r>
            <a:r>
              <a:rPr lang="zh-CN" altLang="zh-CN" b="1" dirty="0">
                <a:ea typeface="宋体" panose="02010600030101010101" pitchFamily="2" charset="-122"/>
              </a:rPr>
              <a:t>比较两个文件的差异、分割文件、显示文件中每行的指定内容 、行文本编辑器、全屏文本编辑器、文本编辑器 、将</a:t>
            </a:r>
            <a:r>
              <a:rPr lang="en-US" altLang="zh-CN" b="1" dirty="0">
                <a:ea typeface="宋体" panose="02010600030101010101" pitchFamily="2" charset="-122"/>
              </a:rPr>
              <a:t>Tab</a:t>
            </a:r>
            <a:r>
              <a:rPr lang="zh-CN" altLang="zh-CN" b="1" dirty="0">
                <a:ea typeface="宋体" panose="02010600030101010101" pitchFamily="2" charset="-122"/>
              </a:rPr>
              <a:t>转换为空白（</a:t>
            </a:r>
            <a:r>
              <a:rPr lang="en-US" altLang="zh-CN" b="1" dirty="0">
                <a:ea typeface="宋体" panose="02010600030101010101" pitchFamily="2" charset="-122"/>
              </a:rPr>
              <a:t>Space</a:t>
            </a:r>
            <a:r>
              <a:rPr lang="zh-CN" altLang="zh-CN" b="1" dirty="0">
                <a:ea typeface="宋体" panose="02010600030101010101" pitchFamily="2" charset="-122"/>
              </a:rPr>
              <a:t>）、交互式拼写检查程序</a:t>
            </a:r>
            <a:r>
              <a:rPr lang="zh-CN" altLang="zh-CN" dirty="0">
                <a:ea typeface="宋体" panose="02010600030101010101" pitchFamily="2" charset="-122"/>
              </a:rPr>
              <a:t>等命令。</a:t>
            </a:r>
          </a:p>
        </p:txBody>
      </p:sp>
    </p:spTree>
    <p:extLst>
      <p:ext uri="{BB962C8B-B14F-4D97-AF65-F5344CB8AC3E}">
        <p14:creationId xmlns:p14="http://schemas.microsoft.com/office/powerpoint/2010/main" val="2799367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86C1B49A-BF3C-3097-0109-DD4AEA8C3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70451BFC-F76A-CEC8-5768-C608DA7A8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4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三、文本处理 </a:t>
            </a:r>
          </a:p>
          <a:p>
            <a:pPr marL="741362" indent="-457200">
              <a:buFont typeface="+mj-lt"/>
              <a:buAutoNum type="arabicPeriod"/>
            </a:pPr>
            <a:r>
              <a:rPr lang="zh-CN" altLang="en-US" sz="2000" b="1" dirty="0"/>
              <a:t>文本查看与过滤类型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cat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：链接文件并显示到标准输出；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grep/</a:t>
            </a: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egrep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：显示文件中匹配的行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，文本搜索核心工具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head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：输出文件开头部分内容 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tail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：输出文件尾部部分内容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less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：分屏查看文本文件 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more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：分屏查看文本文件；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284162" indent="0">
              <a:buNone/>
            </a:pPr>
            <a:r>
              <a:rPr lang="en-US" altLang="zh-CN" sz="2000" b="1" dirty="0"/>
              <a:t>2.   </a:t>
            </a:r>
            <a:r>
              <a:rPr lang="zh-CN" altLang="en-US" sz="2000" b="1" dirty="0"/>
              <a:t>文本编辑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vi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：全屏文本编辑器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sed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：流文件编辑器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tr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：转换或删除文件中的字符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284162" indent="0">
              <a:buNone/>
            </a:pPr>
            <a:r>
              <a:rPr lang="en-US" altLang="zh-CN" sz="2000" b="1" dirty="0"/>
              <a:t>3.   </a:t>
            </a:r>
            <a:r>
              <a:rPr lang="zh-CN" altLang="en-US" sz="2000" b="1" dirty="0"/>
              <a:t>文件比较与处理</a:t>
            </a:r>
            <a:endParaRPr lang="en-US" altLang="zh-CN" sz="2000" b="1" dirty="0"/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diff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：比较并显示两个文件的不同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cut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：显示文件中每行的指定内容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sort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：排序数据文件；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E444B-5A21-280B-26AE-8DAE6BE9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74F2ABF3-A51B-297A-9D38-9C6147529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10F1AFE1-7E2C-0888-4745-005C818888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6886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三、文本处理 </a:t>
            </a:r>
          </a:p>
          <a:p>
            <a:pPr marL="284162" indent="0">
              <a:buNone/>
            </a:pPr>
            <a:r>
              <a:rPr lang="en-US" altLang="zh-CN" sz="2000" b="1" dirty="0"/>
              <a:t>4.   </a:t>
            </a:r>
            <a:r>
              <a:rPr lang="zh-CN" altLang="en-US" sz="2000" b="1" dirty="0"/>
              <a:t>统计与元操作等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wc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：计算文件的字节数、单词数和行数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tee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：将输入内容复制到标准输出和指定文件；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paste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：合并文件的内容 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   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tac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：反序显示文件内容；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反向查看文件。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284162" indent="0">
              <a:buNone/>
            </a:pPr>
            <a:r>
              <a:rPr lang="en-US" altLang="zh-CN" sz="2000" b="1" dirty="0"/>
              <a:t>5.   </a:t>
            </a:r>
            <a:r>
              <a:rPr lang="zh-CN" altLang="en-US" sz="2000" b="1" dirty="0"/>
              <a:t>其他类型工具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spell</a:t>
            </a:r>
            <a:r>
              <a:rPr lang="zh-CN" altLang="zh-CN" sz="2000" dirty="0">
                <a:ea typeface="宋体" panose="02010600030101010101" pitchFamily="2" charset="-122"/>
              </a:rPr>
              <a:t>：拼写检查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split</a:t>
            </a:r>
            <a:r>
              <a:rPr lang="zh-CN" altLang="zh-CN" sz="2000" dirty="0">
                <a:ea typeface="宋体" panose="02010600030101010101" pitchFamily="2" charset="-122"/>
              </a:rPr>
              <a:t>：分割文件 ；</a:t>
            </a:r>
            <a:r>
              <a:rPr lang="en-US" altLang="zh-CN" sz="2000" dirty="0">
                <a:ea typeface="宋体" panose="02010600030101010101" pitchFamily="2" charset="-122"/>
              </a:rPr>
              <a:t>                   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sum</a:t>
            </a:r>
            <a:r>
              <a:rPr lang="zh-CN" altLang="zh-CN" sz="2000" dirty="0">
                <a:ea typeface="宋体" panose="02010600030101010101" pitchFamily="2" charset="-122"/>
              </a:rPr>
              <a:t>：计算并显示文件的校验码；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pico</a:t>
            </a:r>
            <a:r>
              <a:rPr lang="zh-CN" altLang="zh-CN" sz="2000" dirty="0">
                <a:ea typeface="宋体" panose="02010600030101010101" pitchFamily="2" charset="-122"/>
              </a:rPr>
              <a:t>：文本编辑器；</a:t>
            </a:r>
            <a:r>
              <a:rPr lang="en-US" altLang="zh-CN" sz="2000" dirty="0">
                <a:ea typeface="宋体" panose="02010600030101010101" pitchFamily="2" charset="-122"/>
              </a:rPr>
              <a:t>               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unexpand</a:t>
            </a:r>
            <a:r>
              <a:rPr lang="zh-CN" altLang="zh-CN" sz="2000" dirty="0">
                <a:ea typeface="宋体" panose="02010600030101010101" pitchFamily="2" charset="-122"/>
              </a:rPr>
              <a:t>：将空白（</a:t>
            </a:r>
            <a:r>
              <a:rPr lang="en-US" altLang="zh-CN" sz="2000" dirty="0">
                <a:ea typeface="宋体" panose="02010600030101010101" pitchFamily="2" charset="-122"/>
              </a:rPr>
              <a:t>Space</a:t>
            </a:r>
            <a:r>
              <a:rPr lang="zh-CN" altLang="zh-CN" sz="2000" dirty="0">
                <a:ea typeface="宋体" panose="02010600030101010101" pitchFamily="2" charset="-122"/>
              </a:rPr>
              <a:t>）转换为</a:t>
            </a:r>
            <a:r>
              <a:rPr lang="en-US" altLang="zh-CN" sz="2000" dirty="0">
                <a:ea typeface="宋体" panose="02010600030101010101" pitchFamily="2" charset="-122"/>
              </a:rPr>
              <a:t>Tab </a:t>
            </a:r>
            <a:r>
              <a:rPr lang="zh-CN" altLang="zh-CN" sz="2000" dirty="0">
                <a:ea typeface="宋体" panose="02010600030101010101" pitchFamily="2" charset="-122"/>
              </a:rPr>
              <a:t>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uniq</a:t>
            </a:r>
            <a:r>
              <a:rPr lang="zh-CN" altLang="zh-CN" sz="2000" dirty="0">
                <a:ea typeface="宋体" panose="02010600030101010101" pitchFamily="2" charset="-122"/>
              </a:rPr>
              <a:t>：删除文件中的重复行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expand</a:t>
            </a:r>
            <a:r>
              <a:rPr lang="zh-CN" altLang="zh-CN" sz="2000" dirty="0">
                <a:ea typeface="宋体" panose="02010600030101010101" pitchFamily="2" charset="-122"/>
              </a:rPr>
              <a:t>：将</a:t>
            </a:r>
            <a:r>
              <a:rPr lang="en-US" altLang="zh-CN" sz="2000" dirty="0">
                <a:ea typeface="宋体" panose="02010600030101010101" pitchFamily="2" charset="-122"/>
              </a:rPr>
              <a:t>Tab</a:t>
            </a:r>
            <a:r>
              <a:rPr lang="zh-CN" altLang="zh-CN" sz="2000" dirty="0">
                <a:ea typeface="宋体" panose="02010600030101010101" pitchFamily="2" charset="-122"/>
              </a:rPr>
              <a:t>转换为空白（</a:t>
            </a:r>
            <a:r>
              <a:rPr lang="en-US" altLang="zh-CN" sz="2000" dirty="0">
                <a:ea typeface="宋体" panose="02010600030101010101" pitchFamily="2" charset="-122"/>
              </a:rPr>
              <a:t>Space</a:t>
            </a:r>
            <a:r>
              <a:rPr lang="zh-CN" altLang="zh-CN" sz="2000" dirty="0">
                <a:ea typeface="宋体" panose="02010600030101010101" pitchFamily="2" charset="-122"/>
              </a:rPr>
              <a:t>）；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ispell</a:t>
            </a:r>
            <a:r>
              <a:rPr lang="zh-CN" altLang="zh-CN" sz="2000" dirty="0">
                <a:ea typeface="宋体" panose="02010600030101010101" pitchFamily="2" charset="-122"/>
              </a:rPr>
              <a:t>：交互式拼写检查程序；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6961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B3CE-7FF9-D3FF-1B48-6C333B37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0920879A-EE02-3F85-2F09-87053AF1F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99A3DC38-C657-C934-48CD-0D7CF1ABAB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8326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三、文本处理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cksum</a:t>
            </a:r>
            <a:r>
              <a:rPr lang="zh-CN" altLang="zh-CN" sz="2000" dirty="0">
                <a:ea typeface="宋体" panose="02010600030101010101" pitchFamily="2" charset="-122"/>
              </a:rPr>
              <a:t>：检查和计算文件循环冗余校验码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cmp</a:t>
            </a:r>
            <a:r>
              <a:rPr lang="zh-CN" altLang="zh-CN" sz="2000" dirty="0">
                <a:ea typeface="宋体" panose="02010600030101010101" pitchFamily="2" charset="-122"/>
              </a:rPr>
              <a:t>：比较两个文件的差异；</a:t>
            </a:r>
            <a:r>
              <a:rPr lang="en-US" altLang="zh-CN" sz="2000" dirty="0">
                <a:ea typeface="宋体" panose="02010600030101010101" pitchFamily="2" charset="-122"/>
              </a:rPr>
              <a:t>     col</a:t>
            </a:r>
            <a:r>
              <a:rPr lang="zh-CN" altLang="zh-CN" sz="2000" dirty="0">
                <a:ea typeface="宋体" panose="02010600030101010101" pitchFamily="2" charset="-122"/>
              </a:rPr>
              <a:t>：过滤控制字符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colrm</a:t>
            </a:r>
            <a:r>
              <a:rPr lang="zh-CN" altLang="zh-CN" sz="2000" dirty="0">
                <a:ea typeface="宋体" panose="02010600030101010101" pitchFamily="2" charset="-122"/>
              </a:rPr>
              <a:t>：从输入中过滤掉指定的列；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comm</a:t>
            </a:r>
            <a:r>
              <a:rPr lang="zh-CN" altLang="zh-CN" sz="2000" dirty="0">
                <a:ea typeface="宋体" panose="02010600030101010101" pitchFamily="2" charset="-122"/>
              </a:rPr>
              <a:t>：比较两个有序文件的不同；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csplit</a:t>
            </a:r>
            <a:r>
              <a:rPr lang="zh-CN" altLang="zh-CN" sz="2000" dirty="0">
                <a:ea typeface="宋体" panose="02010600030101010101" pitchFamily="2" charset="-122"/>
              </a:rPr>
              <a:t>：分割文件；</a:t>
            </a:r>
            <a:r>
              <a:rPr lang="en-US" altLang="zh-CN" sz="2000" dirty="0">
                <a:ea typeface="宋体" panose="02010600030101010101" pitchFamily="2" charset="-122"/>
              </a:rPr>
              <a:t>                diff3</a:t>
            </a:r>
            <a:r>
              <a:rPr lang="zh-CN" altLang="zh-CN" sz="2000" dirty="0">
                <a:ea typeface="宋体" panose="02010600030101010101" pitchFamily="2" charset="-122"/>
              </a:rPr>
              <a:t>：比较</a:t>
            </a:r>
            <a:r>
              <a:rPr lang="en-US" altLang="zh-CN" sz="2000" dirty="0">
                <a:ea typeface="宋体" panose="02010600030101010101" pitchFamily="2" charset="-122"/>
              </a:rPr>
              <a:t>3</a:t>
            </a:r>
            <a:r>
              <a:rPr lang="zh-CN" altLang="zh-CN" sz="2000" dirty="0">
                <a:ea typeface="宋体" panose="02010600030101010101" pitchFamily="2" charset="-122"/>
              </a:rPr>
              <a:t>个文件的不同；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diffstat</a:t>
            </a:r>
            <a:r>
              <a:rPr lang="zh-CN" altLang="zh-CN" sz="2000" dirty="0">
                <a:ea typeface="宋体" panose="02010600030101010101" pitchFamily="2" charset="-122"/>
              </a:rPr>
              <a:t>：根据</a:t>
            </a:r>
            <a:r>
              <a:rPr lang="en-US" altLang="zh-CN" sz="2000" dirty="0">
                <a:ea typeface="宋体" panose="02010600030101010101" pitchFamily="2" charset="-122"/>
              </a:rPr>
              <a:t>diff</a:t>
            </a:r>
            <a:r>
              <a:rPr lang="zh-CN" altLang="zh-CN" sz="2000" dirty="0">
                <a:ea typeface="宋体" panose="02010600030101010101" pitchFamily="2" charset="-122"/>
              </a:rPr>
              <a:t>指令的结果显示统计信息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ed</a:t>
            </a:r>
            <a:r>
              <a:rPr lang="zh-CN" altLang="zh-CN" sz="2000" dirty="0">
                <a:ea typeface="宋体" panose="02010600030101010101" pitchFamily="2" charset="-122"/>
              </a:rPr>
              <a:t>：行文本编辑器 ；</a:t>
            </a:r>
            <a:r>
              <a:rPr lang="en-US" altLang="zh-CN" sz="2000" dirty="0">
                <a:ea typeface="宋体" panose="02010600030101010101" pitchFamily="2" charset="-122"/>
              </a:rPr>
              <a:t>     emacs</a:t>
            </a:r>
            <a:r>
              <a:rPr lang="zh-CN" altLang="zh-CN" sz="2000" dirty="0">
                <a:ea typeface="宋体" panose="02010600030101010101" pitchFamily="2" charset="-122"/>
              </a:rPr>
              <a:t>：全屏文本编辑器；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ex</a:t>
            </a:r>
            <a:r>
              <a:rPr lang="zh-CN" altLang="zh-CN" sz="2000" dirty="0">
                <a:ea typeface="宋体" panose="02010600030101010101" pitchFamily="2" charset="-122"/>
              </a:rPr>
              <a:t>：文本编辑器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fmt</a:t>
            </a:r>
            <a:r>
              <a:rPr lang="zh-CN" altLang="zh-CN" sz="2000" dirty="0">
                <a:ea typeface="宋体" panose="02010600030101010101" pitchFamily="2" charset="-122"/>
              </a:rPr>
              <a:t>：最优化文本格式；</a:t>
            </a:r>
            <a:r>
              <a:rPr lang="en-US" altLang="zh-CN" sz="2000" dirty="0">
                <a:ea typeface="宋体" panose="02010600030101010101" pitchFamily="2" charset="-122"/>
              </a:rPr>
              <a:t>  fold</a:t>
            </a:r>
            <a:r>
              <a:rPr lang="zh-CN" altLang="zh-CN" sz="2000" dirty="0">
                <a:ea typeface="宋体" panose="02010600030101010101" pitchFamily="2" charset="-122"/>
              </a:rPr>
              <a:t>：设置文件显示的行宽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zh-CN" altLang="zh-CN" sz="2000" dirty="0">
                <a:ea typeface="宋体" panose="02010600030101010101" pitchFamily="2" charset="-122"/>
              </a:rPr>
              <a:t>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jed</a:t>
            </a:r>
            <a:r>
              <a:rPr lang="zh-CN" altLang="zh-CN" sz="2000" dirty="0">
                <a:ea typeface="宋体" panose="02010600030101010101" pitchFamily="2" charset="-122"/>
              </a:rPr>
              <a:t>：文本编辑器；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joe</a:t>
            </a:r>
            <a:r>
              <a:rPr lang="zh-CN" altLang="zh-CN" sz="2000" dirty="0">
                <a:ea typeface="宋体" panose="02010600030101010101" pitchFamily="2" charset="-122"/>
              </a:rPr>
              <a:t>：编辑文本文件 ；</a:t>
            </a:r>
            <a:r>
              <a:rPr lang="en-US" altLang="zh-CN" sz="2000" dirty="0">
                <a:ea typeface="宋体" panose="02010600030101010101" pitchFamily="2" charset="-122"/>
              </a:rPr>
              <a:t>              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join</a:t>
            </a:r>
            <a:r>
              <a:rPr lang="zh-CN" altLang="zh-CN" sz="2000" dirty="0">
                <a:ea typeface="宋体" panose="02010600030101010101" pitchFamily="2" charset="-122"/>
              </a:rPr>
              <a:t>：合并两个文件的相同字段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look</a:t>
            </a:r>
            <a:r>
              <a:rPr lang="zh-CN" altLang="zh-CN" sz="2000" dirty="0">
                <a:ea typeface="宋体" panose="02010600030101010101" pitchFamily="2" charset="-122"/>
              </a:rPr>
              <a:t>：显示文件中以特定字符串开头的行；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od</a:t>
            </a:r>
            <a:r>
              <a:rPr lang="zh-CN" altLang="zh-CN" sz="2000" dirty="0">
                <a:ea typeface="宋体" panose="02010600030101010101" pitchFamily="2" charset="-122"/>
              </a:rPr>
              <a:t>：以数字编码输出文件内容；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7550" indent="-433388">
              <a:buFont typeface="Wingdings" panose="05000000000000000000" pitchFamily="2" charset="2"/>
              <a:buChar char="Ø"/>
            </a:pPr>
            <a:endParaRPr lang="zh-CN" altLang="zh-CN" sz="20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6169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718EB03C-120B-7709-9E94-57A97C165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8539DF49-4A25-2060-4D6F-2B47A5906B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四、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指令”命令集</a:t>
            </a:r>
            <a:r>
              <a:rPr lang="zh-CN" altLang="zh-CN" dirty="0">
                <a:ea typeface="宋体" panose="02010600030101010101" pitchFamily="2" charset="-122"/>
              </a:rPr>
              <a:t>，此命令集有</a:t>
            </a:r>
            <a:r>
              <a:rPr lang="zh-CN" altLang="zh-CN" b="1" dirty="0">
                <a:ea typeface="宋体" panose="02010600030101010101" pitchFamily="2" charset="-122"/>
              </a:rPr>
              <a:t>定义命令别名、显示或设置键盘配置、声明</a:t>
            </a:r>
            <a:r>
              <a:rPr lang="en-US" altLang="zh-CN" b="1" dirty="0"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ea typeface="宋体" panose="02010600030101010101" pitchFamily="2" charset="-122"/>
              </a:rPr>
              <a:t>变量、显示</a:t>
            </a:r>
            <a:r>
              <a:rPr lang="en-US" altLang="zh-CN" b="1" dirty="0"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ea typeface="宋体" panose="02010600030101010101" pitchFamily="2" charset="-122"/>
              </a:rPr>
              <a:t>目录堆栈中的记录、打印字符串到标准输出、编辑并执行历史命令、显示</a:t>
            </a:r>
            <a:r>
              <a:rPr lang="en-US" altLang="zh-CN" b="1" dirty="0"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ea typeface="宋体" panose="02010600030101010101" pitchFamily="2" charset="-122"/>
              </a:rPr>
              <a:t>的作业信息 、向</a:t>
            </a:r>
            <a:r>
              <a:rPr lang="en-US" altLang="zh-CN" b="1" dirty="0"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ea typeface="宋体" panose="02010600030101010101" pitchFamily="2" charset="-122"/>
              </a:rPr>
              <a:t>目录堆栈中添加记录、设置</a:t>
            </a:r>
            <a:r>
              <a:rPr lang="en-US" altLang="zh-CN" b="1" dirty="0"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ea typeface="宋体" panose="02010600030101010101" pitchFamily="2" charset="-122"/>
              </a:rPr>
              <a:t>的执行方式、设置控制</a:t>
            </a:r>
            <a:r>
              <a:rPr lang="en-US" altLang="zh-CN" b="1" dirty="0"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ea typeface="宋体" panose="02010600030101010101" pitchFamily="2" charset="-122"/>
              </a:rPr>
              <a:t>行为变量的开关值 、设置</a:t>
            </a:r>
            <a:r>
              <a:rPr lang="en-US" altLang="zh-CN" b="1" dirty="0">
                <a:ea typeface="宋体" panose="02010600030101010101" pitchFamily="2" charset="-122"/>
              </a:rPr>
              <a:t>shell</a:t>
            </a:r>
            <a:r>
              <a:rPr lang="zh-CN" altLang="zh-CN" b="1" dirty="0">
                <a:ea typeface="宋体" panose="02010600030101010101" pitchFamily="2" charset="-122"/>
              </a:rPr>
              <a:t>的资源限制、设置创建文件的权限掩码、取消由</a:t>
            </a:r>
            <a:r>
              <a:rPr lang="en-US" altLang="zh-CN" b="1" dirty="0">
                <a:ea typeface="宋体" panose="02010600030101010101" pitchFamily="2" charset="-122"/>
              </a:rPr>
              <a:t>alias</a:t>
            </a:r>
            <a:r>
              <a:rPr lang="zh-CN" altLang="zh-CN" b="1" dirty="0">
                <a:ea typeface="宋体" panose="02010600030101010101" pitchFamily="2" charset="-122"/>
              </a:rPr>
              <a:t>定义的命令别名、删除定义的变量或函数。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E272229F-5E5F-F71F-CF86-D00E85E33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7F2DCD54-F5C5-F501-CBF2-17D95B6959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0728"/>
            <a:ext cx="8229600" cy="55446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四、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shell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指令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alias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：定义命令别名；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unalias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：取消由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alias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定义的命令别名；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bg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：将作业（或任务）放到后台运行；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fg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：将后台任务（或作业）切换到前台运行 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dirs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shell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目录堆栈中的记录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export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：设置与显示环境变量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unset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：删除定义的变量或函数；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fc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：编辑并执行历史命令；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eval</a:t>
            </a:r>
            <a:r>
              <a:rPr lang="zh-CN" altLang="zh-CN" sz="2000" dirty="0">
                <a:ea typeface="宋体" panose="02010600030101010101" pitchFamily="2" charset="-122"/>
              </a:rPr>
              <a:t>：执行指定指令并返回结果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exec</a:t>
            </a:r>
            <a:r>
              <a:rPr lang="zh-CN" altLang="zh-CN" sz="2000" dirty="0">
                <a:ea typeface="宋体" panose="02010600030101010101" pitchFamily="2" charset="-122"/>
              </a:rPr>
              <a:t>：执行给定指令后退出登录；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bind</a:t>
            </a:r>
            <a:r>
              <a:rPr lang="zh-CN" altLang="zh-CN" sz="2000" dirty="0">
                <a:ea typeface="宋体" panose="02010600030101010101" pitchFamily="2" charset="-122"/>
              </a:rPr>
              <a:t>：显示或设置键盘配置；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declare</a:t>
            </a:r>
            <a:r>
              <a:rPr lang="zh-CN" altLang="zh-CN" sz="2000" dirty="0">
                <a:ea typeface="宋体" panose="02010600030101010101" pitchFamily="2" charset="-122"/>
              </a:rPr>
              <a:t>：声明</a:t>
            </a:r>
            <a:r>
              <a:rPr lang="en-US" altLang="zh-CN" sz="2000" dirty="0"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ea typeface="宋体" panose="02010600030101010101" pitchFamily="2" charset="-122"/>
              </a:rPr>
              <a:t>变量；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D305E-220B-4C03-A29C-FB909673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F679590A-9B64-05F2-BC6A-DA547DDC1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438EFADF-7D03-F7E1-0B8E-4EC31388DD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0728"/>
            <a:ext cx="8229600" cy="57606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四、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shell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指令 </a:t>
            </a: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history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：显示与操纵历史命令；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jobs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shell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的作业信息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kill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：杀死进程或作业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popd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：从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shell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目录堆栈中删除记录 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pushd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：向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shell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目录堆栈中添加记录；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set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：设置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shell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的执行方式；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        exit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：退出当前；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shopt</a:t>
            </a:r>
            <a:r>
              <a:rPr lang="zh-CN" altLang="zh-CN" sz="2000" dirty="0">
                <a:ea typeface="宋体" panose="02010600030101010101" pitchFamily="2" charset="-122"/>
              </a:rPr>
              <a:t>：设置控制</a:t>
            </a:r>
            <a:r>
              <a:rPr lang="en-US" altLang="zh-CN" sz="2000" dirty="0"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ea typeface="宋体" panose="02010600030101010101" pitchFamily="2" charset="-122"/>
              </a:rPr>
              <a:t>行为变量的开关值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ulimit</a:t>
            </a:r>
            <a:r>
              <a:rPr lang="zh-CN" altLang="zh-CN" sz="2000" dirty="0">
                <a:ea typeface="宋体" panose="02010600030101010101" pitchFamily="2" charset="-122"/>
              </a:rPr>
              <a:t>：设置</a:t>
            </a:r>
            <a:r>
              <a:rPr lang="en-US" altLang="zh-CN" sz="2000" dirty="0"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ea typeface="宋体" panose="02010600030101010101" pitchFamily="2" charset="-122"/>
              </a:rPr>
              <a:t>的资源限制；</a:t>
            </a:r>
            <a:r>
              <a:rPr lang="en-US" altLang="zh-CN" sz="2000" dirty="0">
                <a:ea typeface="宋体" panose="02010600030101010101" pitchFamily="2" charset="-122"/>
              </a:rPr>
              <a:t>          logout</a:t>
            </a:r>
            <a:r>
              <a:rPr lang="zh-CN" altLang="zh-CN" sz="2000" dirty="0">
                <a:ea typeface="宋体" panose="02010600030101010101" pitchFamily="2" charset="-122"/>
              </a:rPr>
              <a:t>：退出登录；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umask</a:t>
            </a:r>
            <a:r>
              <a:rPr lang="zh-CN" altLang="zh-CN" sz="2000" dirty="0">
                <a:ea typeface="宋体" panose="02010600030101010101" pitchFamily="2" charset="-122"/>
              </a:rPr>
              <a:t>：设置创建文件的权限掩码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hash</a:t>
            </a:r>
            <a:r>
              <a:rPr lang="zh-CN" altLang="zh-CN" sz="2000" dirty="0">
                <a:ea typeface="宋体" panose="02010600030101010101" pitchFamily="2" charset="-122"/>
              </a:rPr>
              <a:t>：显示与清除指令时运行查询的哈希表；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62706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 echo</a:t>
            </a:r>
            <a:r>
              <a:rPr lang="zh-CN" altLang="zh-CN" sz="2000" dirty="0">
                <a:ea typeface="宋体" panose="02010600030101010101" pitchFamily="2" charset="-122"/>
              </a:rPr>
              <a:t>：打印字符串到标准输出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627062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 enable</a:t>
            </a:r>
            <a:r>
              <a:rPr lang="zh-CN" altLang="zh-CN" sz="2000" dirty="0">
                <a:ea typeface="宋体" panose="02010600030101010101" pitchFamily="2" charset="-122"/>
              </a:rPr>
              <a:t>：激活与关闭</a:t>
            </a:r>
            <a:r>
              <a:rPr lang="en-US" altLang="zh-CN" sz="2000" dirty="0"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ea typeface="宋体" panose="02010600030101010101" pitchFamily="2" charset="-122"/>
              </a:rPr>
              <a:t>内部命令；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806450" indent="-522288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717550" indent="-433388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5661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23473604-BA2C-CEA8-5FB6-78BDAE27D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98307" name="内容占位符 2">
            <a:extLst>
              <a:ext uri="{FF2B5EF4-FFF2-40B4-BE49-F238E27FC236}">
                <a16:creationId xmlns:a16="http://schemas.microsoft.com/office/drawing/2014/main" id="{508B4847-798D-EE86-8101-D189CB00DE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200" dirty="0">
                <a:ea typeface="宋体" panose="02010600030101010101" pitchFamily="2" charset="-122"/>
              </a:rPr>
              <a:t>此外</a:t>
            </a:r>
            <a:r>
              <a:rPr lang="zh-CN" altLang="en-US" sz="2200" dirty="0">
                <a:ea typeface="宋体" panose="02010600030101010101" pitchFamily="2" charset="-122"/>
              </a:rPr>
              <a:t>，</a:t>
            </a:r>
            <a:r>
              <a:rPr lang="zh-CN" altLang="zh-CN" sz="2200" dirty="0">
                <a:ea typeface="宋体" panose="02010600030101010101" pitchFamily="2" charset="-122"/>
              </a:rPr>
              <a:t>指令集还有</a:t>
            </a:r>
            <a:r>
              <a:rPr lang="zh-CN" altLang="en-US" sz="2200" dirty="0">
                <a:ea typeface="宋体" panose="02010600030101010101" pitchFamily="2" charset="-122"/>
              </a:rPr>
              <a:t>如下一些类别：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6450" indent="-358775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200" b="1" dirty="0">
                <a:solidFill>
                  <a:srgbClr val="C00000"/>
                </a:solidFill>
                <a:ea typeface="宋体" panose="02010600030101010101" pitchFamily="2" charset="-122"/>
              </a:rPr>
              <a:t>打印</a:t>
            </a:r>
            <a:r>
              <a:rPr lang="zh-CN" altLang="zh-CN" sz="2200" b="1" dirty="0">
                <a:ea typeface="宋体" panose="02010600030101010101" pitchFamily="2" charset="-122"/>
              </a:rPr>
              <a:t>相关指令、其他基础指令、</a:t>
            </a:r>
            <a:r>
              <a:rPr lang="zh-CN" altLang="zh-CN" sz="2200" b="1" dirty="0">
                <a:solidFill>
                  <a:srgbClr val="C00000"/>
                </a:solidFill>
                <a:ea typeface="宋体" panose="02010600030101010101" pitchFamily="2" charset="-122"/>
              </a:rPr>
              <a:t>用户管理</a:t>
            </a:r>
            <a:r>
              <a:rPr lang="zh-CN" altLang="en-US" sz="2200" b="1" dirty="0">
                <a:ea typeface="宋体" panose="02010600030101010101" pitchFamily="2" charset="-122"/>
              </a:rPr>
              <a:t>；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806450" indent="-358775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200" b="1" dirty="0">
                <a:solidFill>
                  <a:srgbClr val="C00000"/>
                </a:solidFill>
                <a:ea typeface="宋体" panose="02010600030101010101" pitchFamily="2" charset="-122"/>
              </a:rPr>
              <a:t>进程管理</a:t>
            </a:r>
            <a:r>
              <a:rPr lang="zh-CN" altLang="zh-CN" sz="2200" b="1" dirty="0">
                <a:ea typeface="宋体" panose="02010600030101010101" pitchFamily="2" charset="-122"/>
              </a:rPr>
              <a:t>、磁盘与文件系统管理、内核与性能</a:t>
            </a:r>
            <a:r>
              <a:rPr lang="zh-CN" altLang="en-US" sz="2200" b="1" dirty="0">
                <a:ea typeface="宋体" panose="02010600030101010101" pitchFamily="2" charset="-122"/>
              </a:rPr>
              <a:t>；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806450" indent="-358775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200" b="1" dirty="0">
                <a:ea typeface="宋体" panose="02010600030101010101" pitchFamily="2" charset="-122"/>
              </a:rPr>
              <a:t>X-Window</a:t>
            </a:r>
            <a:r>
              <a:rPr lang="zh-CN" altLang="zh-CN" sz="2200" b="1" dirty="0">
                <a:ea typeface="宋体" panose="02010600030101010101" pitchFamily="2" charset="-122"/>
              </a:rPr>
              <a:t>系统、</a:t>
            </a:r>
            <a:r>
              <a:rPr lang="zh-CN" altLang="zh-CN" sz="2200" b="1" dirty="0">
                <a:solidFill>
                  <a:srgbClr val="C00000"/>
                </a:solidFill>
                <a:ea typeface="宋体" panose="02010600030101010101" pitchFamily="2" charset="-122"/>
              </a:rPr>
              <a:t>系统安全</a:t>
            </a:r>
            <a:r>
              <a:rPr lang="zh-CN" altLang="zh-CN" sz="2200" b="1" dirty="0">
                <a:ea typeface="宋体" panose="02010600030101010101" pitchFamily="2" charset="-122"/>
              </a:rPr>
              <a:t>、编辑相关指令</a:t>
            </a:r>
            <a:r>
              <a:rPr lang="zh-CN" altLang="en-US" sz="2200" b="1" dirty="0">
                <a:ea typeface="宋体" panose="02010600030101010101" pitchFamily="2" charset="-122"/>
              </a:rPr>
              <a:t>；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806450" indent="-358775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200" b="1" dirty="0">
                <a:ea typeface="宋体" panose="02010600030101010101" pitchFamily="2" charset="-122"/>
              </a:rPr>
              <a:t>其他系统管理与维护指令、</a:t>
            </a:r>
            <a:r>
              <a:rPr lang="zh-CN" altLang="zh-CN" sz="2200" b="1" dirty="0">
                <a:solidFill>
                  <a:srgbClr val="C00000"/>
                </a:solidFill>
                <a:ea typeface="宋体" panose="02010600030101010101" pitchFamily="2" charset="-122"/>
              </a:rPr>
              <a:t>网路配置</a:t>
            </a:r>
            <a:r>
              <a:rPr lang="zh-CN" altLang="zh-CN" sz="2200" b="1" dirty="0">
                <a:ea typeface="宋体" panose="02010600030101010101" pitchFamily="2" charset="-122"/>
              </a:rPr>
              <a:t>、网络测试与应用</a:t>
            </a:r>
            <a:r>
              <a:rPr lang="zh-CN" altLang="en-US" sz="2200" b="1" dirty="0">
                <a:ea typeface="宋体" panose="02010600030101010101" pitchFamily="2" charset="-122"/>
              </a:rPr>
              <a:t>；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806450" indent="-358775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zh-CN" sz="2200" b="1" dirty="0">
                <a:ea typeface="宋体" panose="02010600030101010101" pitchFamily="2" charset="-122"/>
              </a:rPr>
              <a:t>高级网络指令、网络服务器指令</a:t>
            </a:r>
            <a:r>
              <a:rPr lang="zh-CN" altLang="zh-CN" sz="2200" dirty="0">
                <a:ea typeface="宋体" panose="02010600030101010101" pitchFamily="2" charset="-122"/>
              </a:rPr>
              <a:t>集等</a:t>
            </a:r>
            <a:r>
              <a:rPr lang="zh-CN" altLang="en-US" sz="2200" dirty="0">
                <a:ea typeface="宋体" panose="02010600030101010101" pitchFamily="2" charset="-122"/>
              </a:rPr>
              <a:t>。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defRPr/>
            </a:pPr>
            <a:endParaRPr lang="zh-CN" altLang="zh-CN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D8DF2F2E-4692-8AF5-D5FB-6345DCCB6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469C3A9F-86F8-86BA-9E5C-729AAF6171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541196" cy="6730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五、打印相关指令 </a:t>
            </a: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enable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：启动打印机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disable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：停止打印机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lp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/ </a:t>
            </a: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lpr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：打印文件；</a:t>
            </a:r>
            <a:r>
              <a:rPr lang="zh-CN" altLang="en-US" sz="2200" dirty="0">
                <a:ea typeface="宋体" panose="02010600030101010101" pitchFamily="2" charset="-122"/>
              </a:rPr>
              <a:t>最基础的打印命令（如 </a:t>
            </a:r>
            <a:r>
              <a:rPr lang="en-US" altLang="zh-CN" sz="2200" dirty="0" err="1">
                <a:ea typeface="宋体" panose="02010600030101010101" pitchFamily="2" charset="-122"/>
              </a:rPr>
              <a:t>lp</a:t>
            </a:r>
            <a:r>
              <a:rPr lang="en-US" altLang="zh-CN" sz="2200" dirty="0">
                <a:ea typeface="宋体" panose="02010600030101010101" pitchFamily="2" charset="-122"/>
              </a:rPr>
              <a:t> file.pdf</a:t>
            </a:r>
            <a:r>
              <a:rPr lang="zh-CN" altLang="en-US" sz="2200" dirty="0">
                <a:ea typeface="宋体" panose="02010600030101010101" pitchFamily="2" charset="-122"/>
              </a:rPr>
              <a:t>）</a:t>
            </a:r>
            <a:r>
              <a:rPr lang="en-US" altLang="zh-CN" sz="2200" dirty="0">
                <a:ea typeface="宋体" panose="02010600030101010101" pitchFamily="2" charset="-122"/>
              </a:rPr>
              <a:t>   </a:t>
            </a: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lpq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：显示当前打印队列；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cancel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：取消打印任务；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lprm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：删除当前打印队列中的作业；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lpstat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检查打印机状态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如 </a:t>
            </a: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lpstat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–t)</a:t>
            </a:r>
            <a:r>
              <a:rPr lang="zh-CN" altLang="en-US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，监控队列流动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lpadmin</a:t>
            </a:r>
            <a:r>
              <a:rPr lang="zh-CN" altLang="zh-CN" sz="2200" dirty="0">
                <a:ea typeface="宋体" panose="02010600030101010101" pitchFamily="2" charset="-122"/>
              </a:rPr>
              <a:t>：配置</a:t>
            </a:r>
            <a:r>
              <a:rPr lang="en-US" altLang="zh-CN" sz="2200" dirty="0">
                <a:ea typeface="宋体" panose="02010600030101010101" pitchFamily="2" charset="-122"/>
              </a:rPr>
              <a:t>cups</a:t>
            </a:r>
            <a:r>
              <a:rPr lang="zh-CN" altLang="zh-CN" sz="2200" dirty="0">
                <a:ea typeface="宋体" panose="02010600030101010101" pitchFamily="2" charset="-122"/>
              </a:rPr>
              <a:t>打印机和类；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管理员配置打印机用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lpc</a:t>
            </a:r>
            <a:r>
              <a:rPr lang="zh-CN" altLang="zh-CN" sz="2200" dirty="0">
                <a:ea typeface="宋体" panose="02010600030101010101" pitchFamily="2" charset="-122"/>
              </a:rPr>
              <a:t>：控制打印机 ；</a:t>
            </a:r>
            <a:r>
              <a:rPr lang="en-US" altLang="zh-CN" sz="2200" dirty="0">
                <a:ea typeface="宋体" panose="02010600030101010101" pitchFamily="2" charset="-122"/>
              </a:rPr>
              <a:t> accept</a:t>
            </a:r>
            <a:r>
              <a:rPr lang="zh-CN" altLang="zh-CN" sz="2200" dirty="0">
                <a:ea typeface="宋体" panose="02010600030101010101" pitchFamily="2" charset="-122"/>
              </a:rPr>
              <a:t>：接受打印请求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pr</a:t>
            </a:r>
            <a:r>
              <a:rPr lang="zh-CN" altLang="zh-CN" sz="2200" dirty="0">
                <a:ea typeface="宋体" panose="02010600030101010101" pitchFamily="2" charset="-122"/>
              </a:rPr>
              <a:t>：打印前转换文本格式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8038" indent="-5365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reject</a:t>
            </a:r>
            <a:r>
              <a:rPr lang="zh-CN" altLang="zh-CN" sz="2200" dirty="0">
                <a:ea typeface="宋体" panose="02010600030101010101" pitchFamily="2" charset="-122"/>
              </a:rPr>
              <a:t>：拒绝打印请求</a:t>
            </a:r>
            <a:r>
              <a:rPr lang="zh-CN" altLang="en-US" sz="2200" dirty="0">
                <a:ea typeface="宋体" panose="02010600030101010101" pitchFamily="2" charset="-122"/>
              </a:rPr>
              <a:t>。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F6EAD849-687A-7AED-EE88-6D8878D85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611E022A-8468-AFF5-574C-E5532BAA1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0728"/>
            <a:ext cx="8435280" cy="53627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六、其他基础指令</a:t>
            </a:r>
          </a:p>
          <a:p>
            <a:pPr marL="285750" indent="0">
              <a:buNone/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、系统基础操作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clear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：清屏指令；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date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：显示和设置系统日期时间；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man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：显示联机帮助手册；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info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：读取帮助文档；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285750" indent="0">
              <a:buNone/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、用户与权限</a:t>
            </a:r>
            <a:endParaRPr lang="en-US" altLang="zh-CN" sz="2000" b="1" dirty="0"/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who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：显示当前已登录用户的信息；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whoami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：显示当前用户名；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mesg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：设置终端写权限；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285750" indent="0">
              <a:buNone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、系统控制</a:t>
            </a:r>
            <a:endParaRPr lang="en-US" altLang="zh-CN" sz="2000" b="1" dirty="0"/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reboot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：重新启动计算机 ；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poweroff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：关闭计算机并切断电源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shutdown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：关闭计算机 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sleep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：睡眠指定长的时间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285750" indent="0">
              <a:buNone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、文件与计算</a:t>
            </a:r>
            <a:endParaRPr lang="en-US" altLang="zh-CN" sz="2000" b="1" dirty="0"/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stat: 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显示文件或文件系统的状态 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bc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: 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实现精确计算的计算器；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md5sum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：计算并显示文件的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md5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摘要信息；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285750" indent="0">
              <a:buNone/>
            </a:pPr>
            <a:r>
              <a:rPr lang="en-US" altLang="zh-CN" sz="2000" b="1" dirty="0"/>
              <a:t>5</a:t>
            </a:r>
            <a:r>
              <a:rPr lang="zh-CN" altLang="en-US" sz="2000" b="1" dirty="0"/>
              <a:t>、通信与辅助</a:t>
            </a:r>
            <a:endParaRPr lang="en-US" altLang="zh-CN" sz="2000" b="1" dirty="0"/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FF0000"/>
                </a:solidFill>
                <a:ea typeface="宋体" panose="02010600030101010101" pitchFamily="2" charset="-122"/>
              </a:rPr>
              <a:t>cal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：显示日历 ；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wall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：向所有终端发送信息</a:t>
            </a:r>
            <a:endParaRPr lang="en-US" altLang="zh-CN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C2F2-D47D-771B-794E-9B8C1E66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370F9C84-54FF-330F-5488-ED9036AD8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5D968B47-8D34-4564-2C7B-57EE098A3B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3627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六、其他基础指令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consoletype</a:t>
            </a:r>
            <a:r>
              <a:rPr lang="zh-CN" altLang="zh-CN" sz="2000" dirty="0">
                <a:ea typeface="宋体" panose="02010600030101010101" pitchFamily="2" charset="-122"/>
              </a:rPr>
              <a:t>：显示当前使用的终端类型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ctrlaltdel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：设置热键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Ctrl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Alt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＋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Del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的功能；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dircolors</a:t>
            </a:r>
            <a:r>
              <a:rPr lang="zh-CN" altLang="zh-CN" sz="2000" dirty="0">
                <a:ea typeface="宋体" panose="02010600030101010101" pitchFamily="2" charset="-122"/>
              </a:rPr>
              <a:t>：设置</a:t>
            </a:r>
            <a:r>
              <a:rPr lang="en-US" altLang="zh-CN" sz="2000" dirty="0">
                <a:ea typeface="宋体" panose="02010600030101010101" pitchFamily="2" charset="-122"/>
              </a:rPr>
              <a:t>ls</a:t>
            </a:r>
            <a:r>
              <a:rPr lang="zh-CN" altLang="zh-CN" sz="2000" dirty="0">
                <a:ea typeface="宋体" panose="02010600030101010101" pitchFamily="2" charset="-122"/>
              </a:rPr>
              <a:t>指令显示时的颜色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eject</a:t>
            </a:r>
            <a:r>
              <a:rPr lang="zh-CN" altLang="zh-CN" sz="2000" dirty="0">
                <a:ea typeface="宋体" panose="02010600030101010101" pitchFamily="2" charset="-122"/>
              </a:rPr>
              <a:t>：弹出可移动设备的介质；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halt</a:t>
            </a:r>
            <a:r>
              <a:rPr lang="zh-CN" altLang="zh-CN" sz="2000" dirty="0">
                <a:ea typeface="宋体" panose="02010600030101010101" pitchFamily="2" charset="-122"/>
              </a:rPr>
              <a:t>：关闭计算机 ；</a:t>
            </a:r>
            <a:r>
              <a:rPr lang="en-US" altLang="zh-CN" sz="2000" dirty="0"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ea typeface="宋体" panose="02010600030101010101" pitchFamily="2" charset="-122"/>
              </a:rPr>
              <a:t>hostid</a:t>
            </a:r>
            <a:r>
              <a:rPr lang="zh-CN" altLang="zh-CN" sz="2000" dirty="0">
                <a:ea typeface="宋体" panose="02010600030101010101" pitchFamily="2" charset="-122"/>
              </a:rPr>
              <a:t>：显示当前主机的数字标识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hwclock</a:t>
            </a:r>
            <a:r>
              <a:rPr lang="zh-CN" altLang="zh-CN" sz="2000" dirty="0">
                <a:ea typeface="宋体" panose="02010600030101010101" pitchFamily="2" charset="-122"/>
              </a:rPr>
              <a:t>：查询和设置系统硬件时钟；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login</a:t>
            </a:r>
            <a:r>
              <a:rPr lang="zh-CN" altLang="zh-CN" sz="2000" dirty="0">
                <a:ea typeface="宋体" panose="02010600030101010101" pitchFamily="2" charset="-122"/>
              </a:rPr>
              <a:t>：登录系统；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mtools</a:t>
            </a:r>
            <a:r>
              <a:rPr lang="zh-CN" altLang="zh-CN" sz="2000" dirty="0">
                <a:ea typeface="宋体" panose="02010600030101010101" pitchFamily="2" charset="-122"/>
              </a:rPr>
              <a:t>：显示</a:t>
            </a:r>
            <a:r>
              <a:rPr lang="en-US" altLang="zh-CN" sz="2000" dirty="0" err="1">
                <a:ea typeface="宋体" panose="02010600030101010101" pitchFamily="2" charset="-122"/>
              </a:rPr>
              <a:t>mtools</a:t>
            </a:r>
            <a:r>
              <a:rPr lang="zh-CN" altLang="zh-CN" sz="2000" dirty="0">
                <a:ea typeface="宋体" panose="02010600030101010101" pitchFamily="2" charset="-122"/>
              </a:rPr>
              <a:t>软件包的指令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mtoolstest</a:t>
            </a:r>
            <a:r>
              <a:rPr lang="zh-CN" altLang="zh-CN" sz="2000" dirty="0">
                <a:ea typeface="宋体" panose="02010600030101010101" pitchFamily="2" charset="-122"/>
              </a:rPr>
              <a:t>：测试并显示；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ea typeface="宋体" panose="02010600030101010101" pitchFamily="2" charset="-122"/>
              </a:rPr>
              <a:t>mtools</a:t>
            </a:r>
            <a:r>
              <a:rPr lang="zh-CN" altLang="zh-CN" sz="2000" dirty="0">
                <a:ea typeface="宋体" panose="02010600030101010101" pitchFamily="2" charset="-122"/>
              </a:rPr>
              <a:t>工具包的配置；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talk</a:t>
            </a:r>
            <a:r>
              <a:rPr lang="zh-CN" altLang="zh-CN" sz="2000" dirty="0">
                <a:ea typeface="宋体" panose="02010600030101010101" pitchFamily="2" charset="-122"/>
              </a:rPr>
              <a:t>：与其他用户交谈；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whatis</a:t>
            </a:r>
            <a:r>
              <a:rPr lang="zh-CN" altLang="zh-CN" sz="2000" dirty="0">
                <a:ea typeface="宋体" panose="02010600030101010101" pitchFamily="2" charset="-122"/>
              </a:rPr>
              <a:t>：在数据库中查询关键字；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write</a:t>
            </a:r>
            <a:r>
              <a:rPr lang="zh-CN" altLang="zh-CN" sz="2000" dirty="0">
                <a:ea typeface="宋体" panose="02010600030101010101" pitchFamily="2" charset="-122"/>
              </a:rPr>
              <a:t>：向指定用户终端发送信息；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yes</a:t>
            </a:r>
            <a:r>
              <a:rPr lang="zh-CN" altLang="zh-CN" sz="2000" dirty="0">
                <a:ea typeface="宋体" panose="02010600030101010101" pitchFamily="2" charset="-122"/>
              </a:rPr>
              <a:t>：不断输出指定字符串；</a:t>
            </a:r>
          </a:p>
        </p:txBody>
      </p:sp>
    </p:spTree>
    <p:extLst>
      <p:ext uri="{BB962C8B-B14F-4D97-AF65-F5344CB8AC3E}">
        <p14:creationId xmlns:p14="http://schemas.microsoft.com/office/powerpoint/2010/main" val="2350866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B83B0D4C-0005-6B8B-2318-A9C3D165E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DF0C6ECE-1B25-F3E9-C6F8-41345674DF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2565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七、用户管理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groupadd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：创建组；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groupdel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：删除组；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groupmod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：修改组信息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groups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：显示用户所属的组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gpasswd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：管理组文件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etc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/group 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； 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grpck</a:t>
            </a:r>
            <a:r>
              <a:rPr lang="zh-CN" altLang="zh-CN" sz="2200" dirty="0">
                <a:ea typeface="宋体" panose="02010600030101010101" pitchFamily="2" charset="-122"/>
              </a:rPr>
              <a:t>：验证组文件</a:t>
            </a:r>
            <a:r>
              <a:rPr lang="en-US" altLang="zh-CN" sz="2200" dirty="0">
                <a:ea typeface="宋体" panose="02010600030101010101" pitchFamily="2" charset="-122"/>
              </a:rPr>
              <a:t>/</a:t>
            </a:r>
            <a:r>
              <a:rPr lang="en-US" altLang="zh-CN" sz="2200" dirty="0" err="1">
                <a:ea typeface="宋体" panose="02010600030101010101" pitchFamily="2" charset="-122"/>
              </a:rPr>
              <a:t>etc</a:t>
            </a:r>
            <a:r>
              <a:rPr lang="en-US" altLang="zh-CN" sz="2200" dirty="0">
                <a:ea typeface="宋体" panose="02010600030101010101" pitchFamily="2" charset="-122"/>
              </a:rPr>
              <a:t>/group</a:t>
            </a:r>
            <a:r>
              <a:rPr lang="zh-CN" altLang="zh-CN" sz="2200" dirty="0">
                <a:ea typeface="宋体" panose="02010600030101010101" pitchFamily="2" charset="-122"/>
              </a:rPr>
              <a:t>的完整性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grpconv</a:t>
            </a:r>
            <a:r>
              <a:rPr lang="zh-CN" altLang="zh-CN" sz="2200" dirty="0">
                <a:ea typeface="宋体" panose="02010600030101010101" pitchFamily="2" charset="-122"/>
              </a:rPr>
              <a:t>：启用组的影子口令文件 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chfn</a:t>
            </a:r>
            <a:r>
              <a:rPr lang="zh-CN" altLang="zh-CN" sz="2200" dirty="0">
                <a:ea typeface="宋体" panose="02010600030101010101" pitchFamily="2" charset="-122"/>
              </a:rPr>
              <a:t>：改变用户的；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finger</a:t>
            </a:r>
            <a:r>
              <a:rPr lang="zh-CN" altLang="zh-CN" sz="2200" dirty="0">
                <a:ea typeface="宋体" panose="02010600030101010101" pitchFamily="2" charset="-122"/>
              </a:rPr>
              <a:t>信息；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chsh</a:t>
            </a:r>
            <a:r>
              <a:rPr lang="zh-CN" altLang="zh-CN" sz="2200" dirty="0">
                <a:ea typeface="宋体" panose="02010600030101010101" pitchFamily="2" charset="-122"/>
              </a:rPr>
              <a:t>：改变用户登录时的默认；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shell finger</a:t>
            </a:r>
            <a:r>
              <a:rPr lang="zh-CN" altLang="zh-CN" sz="2200" dirty="0">
                <a:ea typeface="宋体" panose="02010600030101010101" pitchFamily="2" charset="-122"/>
              </a:rPr>
              <a:t>：用户信息查询程序；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36D1C-FDFB-F47B-C7D9-2C798BC0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EBD55ABC-59C1-64C3-438F-52E8C56FA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8663AE49-0B1E-08A3-0974-7852418CFD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七、用户管理</a:t>
            </a: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passwd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：设置用户密码；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su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：切换用户；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useradd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：创建用户；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userdel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：删除用户；</a:t>
            </a: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b="1" dirty="0" err="1">
                <a:solidFill>
                  <a:srgbClr val="FF0000"/>
                </a:solidFill>
                <a:ea typeface="宋体" panose="02010600030101010101" pitchFamily="2" charset="-122"/>
              </a:rPr>
              <a:t>usermod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：修改用户的配置信息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users</a:t>
            </a:r>
            <a:r>
              <a:rPr lang="zh-CN" altLang="zh-CN" sz="2200" b="1" dirty="0">
                <a:solidFill>
                  <a:srgbClr val="FF0000"/>
                </a:solidFill>
                <a:ea typeface="宋体" panose="02010600030101010101" pitchFamily="2" charset="-122"/>
              </a:rPr>
              <a:t>：显示当前登录系统的用户名 ；</a:t>
            </a:r>
            <a:endParaRPr lang="en-US" altLang="zh-CN" sz="2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logname</a:t>
            </a:r>
            <a:r>
              <a:rPr lang="zh-CN" altLang="zh-CN" sz="2200" dirty="0">
                <a:ea typeface="宋体" panose="02010600030101010101" pitchFamily="2" charset="-122"/>
              </a:rPr>
              <a:t>：显示登录用户名；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grpunconv</a:t>
            </a:r>
            <a:r>
              <a:rPr lang="zh-CN" altLang="zh-CN" sz="2200" dirty="0">
                <a:ea typeface="宋体" panose="02010600030101010101" pitchFamily="2" charset="-122"/>
              </a:rPr>
              <a:t>：关闭组的影子口令文件 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pwck</a:t>
            </a:r>
            <a:r>
              <a:rPr lang="zh-CN" altLang="zh-CN" sz="2200" dirty="0">
                <a:ea typeface="宋体" panose="02010600030101010101" pitchFamily="2" charset="-122"/>
              </a:rPr>
              <a:t>：验证用户文件密码文件的完整性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pwconv</a:t>
            </a:r>
            <a:r>
              <a:rPr lang="zh-CN" altLang="zh-CN" sz="2200" dirty="0">
                <a:ea typeface="宋体" panose="02010600030101010101" pitchFamily="2" charset="-122"/>
              </a:rPr>
              <a:t>：启用用户的影子口令文件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pwunconv</a:t>
            </a:r>
            <a:r>
              <a:rPr lang="zh-CN" altLang="zh-CN" sz="2200" dirty="0">
                <a:ea typeface="宋体" panose="02010600030101010101" pitchFamily="2" charset="-122"/>
              </a:rPr>
              <a:t>：关闭用户的影子口令文件；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6037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C157F04C-4E2A-30B5-CFF7-CDB4A413C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9F01B018-8B19-4FF1-6298-2A04F2A496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52907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八、进程管理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ps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：显示系统当前的进程状态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killall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：根据名称结束进程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pkill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：向指定的进程发送信号；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pgrep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：基于名字查询并显示进程号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pidof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：查找正在运行程序的进程号；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nice</a:t>
            </a:r>
            <a:r>
              <a:rPr lang="zh-CN" altLang="zh-CN" sz="2200" dirty="0">
                <a:ea typeface="宋体" panose="02010600030101010101" pitchFamily="2" charset="-122"/>
              </a:rPr>
              <a:t>：设置进程优先级；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renice</a:t>
            </a:r>
            <a:r>
              <a:rPr lang="zh-CN" altLang="zh-CN" sz="2200" dirty="0">
                <a:ea typeface="宋体" panose="02010600030101010101" pitchFamily="2" charset="-122"/>
              </a:rPr>
              <a:t>：调整进程优先级；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w</a:t>
            </a:r>
            <a:r>
              <a:rPr lang="zh-CN" altLang="zh-CN" sz="2200" dirty="0">
                <a:ea typeface="宋体" panose="02010600030101010101" pitchFamily="2" charset="-122"/>
              </a:rPr>
              <a:t>：显示当前登录用户的相关信息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watch</a:t>
            </a:r>
            <a:r>
              <a:rPr lang="zh-CN" altLang="zh-CN" sz="2200" dirty="0">
                <a:ea typeface="宋体" panose="02010600030101010101" pitchFamily="2" charset="-122"/>
              </a:rPr>
              <a:t>：全屏方式显示指定命令的输出信息；</a:t>
            </a:r>
            <a:r>
              <a:rPr lang="en-US" altLang="zh-CN" sz="2200" dirty="0">
                <a:ea typeface="宋体" panose="02010600030101010101" pitchFamily="2" charset="-122"/>
              </a:rPr>
              <a:t> 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nohup</a:t>
            </a:r>
            <a:r>
              <a:rPr lang="zh-CN" altLang="zh-CN" sz="2200" dirty="0">
                <a:ea typeface="宋体" panose="02010600030101010101" pitchFamily="2" charset="-122"/>
              </a:rPr>
              <a:t>：以忽略挂起信号方式运行程序；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pstree</a:t>
            </a:r>
            <a:r>
              <a:rPr lang="zh-CN" altLang="zh-CN" sz="2200" dirty="0">
                <a:ea typeface="宋体" panose="02010600030101010101" pitchFamily="2" charset="-122"/>
              </a:rPr>
              <a:t>：用树形图显示进程的父子关系 ；</a:t>
            </a:r>
            <a:endParaRPr lang="en-US" altLang="zh-CN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74053-BE76-B1F4-475C-0146D18B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D47A5A60-2B79-C81B-5778-B78DBC11E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3839A74A-EEB3-AFF1-A285-6E19A29ABB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3627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 九、磁盘与文件系统管理</a:t>
            </a: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df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：报告磁盘剩余空间情况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du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统计目录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文件占用空间（如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du -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sh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/var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），与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df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互补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fsck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：检查与修复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文件系统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e2fsck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：检查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ext2/ext3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文件系统；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fdisk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下的分区工具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mount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：加载文件系统；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umount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：卸载已经加载的文件系统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hdparm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：调整硬盘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I/O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性能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sync</a:t>
            </a:r>
            <a:r>
              <a:rPr lang="zh-CN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：强制将缓存数据写入磁盘 ；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badblocks</a:t>
            </a:r>
            <a:r>
              <a:rPr lang="zh-CN" altLang="zh-CN" sz="2000" dirty="0">
                <a:ea typeface="宋体" panose="02010600030101010101" pitchFamily="2" charset="-122"/>
              </a:rPr>
              <a:t>：磁盘坏块检查工具；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blockdev</a:t>
            </a:r>
            <a:r>
              <a:rPr lang="zh-CN" altLang="zh-CN" sz="2000" dirty="0">
                <a:ea typeface="宋体" panose="02010600030101010101" pitchFamily="2" charset="-122"/>
              </a:rPr>
              <a:t>：从命令行调用块设备的</a:t>
            </a:r>
            <a:r>
              <a:rPr lang="en-US" altLang="zh-CN" sz="2000" dirty="0" err="1">
                <a:ea typeface="宋体" panose="02010600030101010101" pitchFamily="2" charset="-122"/>
              </a:rPr>
              <a:t>ioctl</a:t>
            </a:r>
            <a:r>
              <a:rPr lang="zh-CN" altLang="zh-CN" sz="2000" dirty="0">
                <a:ea typeface="宋体" panose="02010600030101010101" pitchFamily="2" charset="-122"/>
              </a:rPr>
              <a:t>函数 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chattr</a:t>
            </a:r>
            <a:r>
              <a:rPr lang="zh-CN" altLang="zh-CN" sz="2000" dirty="0">
                <a:ea typeface="宋体" panose="02010600030101010101" pitchFamily="2" charset="-122"/>
              </a:rPr>
              <a:t>：改变文件的第</a:t>
            </a:r>
            <a:r>
              <a:rPr lang="en-US" altLang="zh-CN" sz="2000" dirty="0">
                <a:ea typeface="宋体" panose="02010600030101010101" pitchFamily="2" charset="-122"/>
              </a:rPr>
              <a:t>2</a:t>
            </a:r>
            <a:r>
              <a:rPr lang="zh-CN" altLang="zh-CN" sz="2000" dirty="0">
                <a:ea typeface="宋体" panose="02010600030101010101" pitchFamily="2" charset="-122"/>
              </a:rPr>
              <a:t>扩展文件系统属性；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ea typeface="宋体" panose="02010600030101010101" pitchFamily="2" charset="-122"/>
              </a:rPr>
              <a:t>convertquota</a:t>
            </a:r>
            <a:r>
              <a:rPr lang="zh-CN" altLang="zh-CN" sz="2000" dirty="0">
                <a:ea typeface="宋体" panose="02010600030101010101" pitchFamily="2" charset="-122"/>
              </a:rPr>
              <a:t>：转换</a:t>
            </a:r>
            <a:r>
              <a:rPr lang="en-US" altLang="zh-CN" sz="2000" dirty="0">
                <a:ea typeface="宋体" panose="02010600030101010101" pitchFamily="2" charset="-122"/>
              </a:rPr>
              <a:t>quota</a:t>
            </a:r>
            <a:r>
              <a:rPr lang="zh-CN" altLang="zh-CN" sz="2000" dirty="0">
                <a:ea typeface="宋体" panose="02010600030101010101" pitchFamily="2" charset="-122"/>
              </a:rPr>
              <a:t>文件格式；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宋体" panose="02010600030101010101" pitchFamily="2" charset="-122"/>
              </a:rPr>
              <a:t>dumpe2fs</a:t>
            </a:r>
            <a:r>
              <a:rPr lang="zh-CN" altLang="zh-CN" sz="2000" dirty="0">
                <a:ea typeface="宋体" panose="02010600030101010101" pitchFamily="2" charset="-122"/>
              </a:rPr>
              <a:t>：显示</a:t>
            </a:r>
            <a:r>
              <a:rPr lang="en-US" altLang="zh-CN" sz="2000" dirty="0">
                <a:ea typeface="宋体" panose="02010600030101010101" pitchFamily="2" charset="-122"/>
              </a:rPr>
              <a:t>ext2/ext3</a:t>
            </a:r>
            <a:r>
              <a:rPr lang="zh-CN" altLang="zh-CN" sz="2000" dirty="0">
                <a:ea typeface="宋体" panose="02010600030101010101" pitchFamily="2" charset="-122"/>
              </a:rPr>
              <a:t>文件系统信息 ；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1864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9916-EF12-3E88-8B0A-6BFB195F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D3946DF1-D804-36DE-2C10-B9E6AD240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52A127B0-097F-82EA-7869-26ABA479C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55070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 九、磁盘与文件系统管理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e2image</a:t>
            </a:r>
            <a:r>
              <a:rPr lang="zh-CN" altLang="zh-CN" sz="2200" dirty="0">
                <a:ea typeface="宋体" panose="02010600030101010101" pitchFamily="2" charset="-122"/>
              </a:rPr>
              <a:t>：保存</a:t>
            </a:r>
            <a:r>
              <a:rPr lang="en-US" altLang="zh-CN" sz="2200" dirty="0">
                <a:ea typeface="宋体" panose="02010600030101010101" pitchFamily="2" charset="-122"/>
              </a:rPr>
              <a:t>ext2/ext3</a:t>
            </a:r>
            <a:r>
              <a:rPr lang="zh-CN" altLang="zh-CN" sz="2200" dirty="0">
                <a:ea typeface="宋体" panose="02010600030101010101" pitchFamily="2" charset="-122"/>
              </a:rPr>
              <a:t>源数据到文件；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e2label</a:t>
            </a:r>
            <a:r>
              <a:rPr lang="zh-CN" altLang="zh-CN" sz="2200" dirty="0">
                <a:ea typeface="宋体" panose="02010600030101010101" pitchFamily="2" charset="-122"/>
              </a:rPr>
              <a:t>：设置</a:t>
            </a:r>
            <a:r>
              <a:rPr lang="en-US" altLang="zh-CN" sz="2200" dirty="0">
                <a:ea typeface="宋体" panose="02010600030101010101" pitchFamily="2" charset="-122"/>
              </a:rPr>
              <a:t>ext2/ext3</a:t>
            </a:r>
            <a:r>
              <a:rPr lang="zh-CN" altLang="zh-CN" sz="2200" dirty="0">
                <a:ea typeface="宋体" panose="02010600030101010101" pitchFamily="2" charset="-122"/>
              </a:rPr>
              <a:t>文件系统标签；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edquota</a:t>
            </a:r>
            <a:r>
              <a:rPr lang="zh-CN" altLang="zh-CN" sz="2200" dirty="0">
                <a:ea typeface="宋体" panose="02010600030101010101" pitchFamily="2" charset="-122"/>
              </a:rPr>
              <a:t>：编辑用户的磁盘空间配额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findfs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：查找文件系统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grub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Linux</a:t>
            </a:r>
            <a:r>
              <a:rPr lang="zh-CN" altLang="zh-CN" sz="2200" dirty="0">
                <a:ea typeface="宋体" panose="02010600030101010101" pitchFamily="2" charset="-122"/>
              </a:rPr>
              <a:t>下的引导加载器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lilo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Linux</a:t>
            </a:r>
            <a:r>
              <a:rPr lang="zh-CN" altLang="zh-CN" sz="2200" dirty="0">
                <a:ea typeface="宋体" panose="02010600030101010101" pitchFamily="2" charset="-122"/>
              </a:rPr>
              <a:t>加载器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lsattr</a:t>
            </a:r>
            <a:r>
              <a:rPr lang="zh-CN" altLang="zh-CN" sz="2200" dirty="0">
                <a:ea typeface="宋体" panose="02010600030101010101" pitchFamily="2" charset="-122"/>
              </a:rPr>
              <a:t>：显示文件的</a:t>
            </a:r>
            <a:r>
              <a:rPr lang="en-US" altLang="zh-CN" sz="2200" dirty="0">
                <a:ea typeface="宋体" panose="02010600030101010101" pitchFamily="2" charset="-122"/>
              </a:rPr>
              <a:t>ext2</a:t>
            </a:r>
            <a:r>
              <a:rPr lang="zh-CN" altLang="zh-CN" sz="2200" dirty="0">
                <a:ea typeface="宋体" panose="02010600030101010101" pitchFamily="2" charset="-122"/>
              </a:rPr>
              <a:t>文件系统属性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mkbootdisk</a:t>
            </a:r>
            <a:r>
              <a:rPr lang="zh-CN" altLang="zh-CN" sz="2200" dirty="0">
                <a:ea typeface="宋体" panose="02010600030101010101" pitchFamily="2" charset="-122"/>
              </a:rPr>
              <a:t>：为当前系统创建专门的引导软盘；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mke2fs</a:t>
            </a:r>
            <a:r>
              <a:rPr lang="zh-CN" altLang="zh-CN" sz="2200" dirty="0">
                <a:ea typeface="宋体" panose="02010600030101010101" pitchFamily="2" charset="-122"/>
              </a:rPr>
              <a:t>：创建第</a:t>
            </a:r>
            <a:r>
              <a:rPr lang="en-US" altLang="zh-CN" sz="2200" dirty="0">
                <a:ea typeface="宋体" panose="02010600030101010101" pitchFamily="2" charset="-122"/>
              </a:rPr>
              <a:t>2</a:t>
            </a:r>
            <a:r>
              <a:rPr lang="zh-CN" altLang="zh-CN" sz="2200" dirty="0">
                <a:ea typeface="宋体" panose="02010600030101010101" pitchFamily="2" charset="-122"/>
              </a:rPr>
              <a:t>扩展文件系统；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mkfs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：创建各种文件系统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mkinitrd</a:t>
            </a:r>
            <a:r>
              <a:rPr lang="zh-CN" altLang="zh-CN" sz="2200" dirty="0">
                <a:ea typeface="宋体" panose="02010600030101010101" pitchFamily="2" charset="-122"/>
              </a:rPr>
              <a:t>：创建初始化</a:t>
            </a:r>
            <a:r>
              <a:rPr lang="en-US" altLang="zh-CN" sz="2200" dirty="0">
                <a:ea typeface="宋体" panose="02010600030101010101" pitchFamily="2" charset="-122"/>
              </a:rPr>
              <a:t>ram</a:t>
            </a:r>
            <a:r>
              <a:rPr lang="zh-CN" altLang="zh-CN" sz="2200" dirty="0">
                <a:ea typeface="宋体" panose="02010600030101010101" pitchFamily="2" charset="-122"/>
              </a:rPr>
              <a:t>磁盘映像文件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endParaRPr lang="zh-CN" altLang="zh-CN" sz="18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7668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9E8EB8F0-A515-8541-C82D-101679D88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E226813C-58EE-9F92-3E47-038118F1ED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46299"/>
            <a:ext cx="8229600" cy="55070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 九、磁盘与文件系统管理</a:t>
            </a: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mkisofs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：创建光盘映像文件；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mknod</a:t>
            </a:r>
            <a:r>
              <a:rPr lang="zh-CN" altLang="zh-CN" sz="2200" dirty="0">
                <a:ea typeface="宋体" panose="02010600030101010101" pitchFamily="2" charset="-122"/>
              </a:rPr>
              <a:t>：创建块设备或字符设备文件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mkswap</a:t>
            </a:r>
            <a:r>
              <a:rPr lang="zh-CN" altLang="zh-CN" sz="2200" dirty="0">
                <a:ea typeface="宋体" panose="02010600030101010101" pitchFamily="2" charset="-122"/>
              </a:rPr>
              <a:t>：创建交换分区文件系统；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mktemp</a:t>
            </a:r>
            <a:r>
              <a:rPr lang="zh-CN" altLang="zh-CN" sz="2200" dirty="0">
                <a:ea typeface="宋体" panose="02010600030101010101" pitchFamily="2" charset="-122"/>
              </a:rPr>
              <a:t>：创建临时文件 ；</a:t>
            </a:r>
            <a:r>
              <a:rPr lang="en-US" altLang="zh-CN" sz="2200" dirty="0">
                <a:ea typeface="宋体" panose="02010600030101010101" pitchFamily="2" charset="-122"/>
              </a:rPr>
              <a:t>parted</a:t>
            </a:r>
            <a:r>
              <a:rPr lang="zh-CN" altLang="zh-CN" sz="2200" dirty="0">
                <a:ea typeface="宋体" panose="02010600030101010101" pitchFamily="2" charset="-122"/>
              </a:rPr>
              <a:t>：磁盘分区管理工具；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quota</a:t>
            </a:r>
            <a:r>
              <a:rPr lang="zh-CN" altLang="zh-CN" sz="2200" dirty="0">
                <a:ea typeface="宋体" panose="02010600030101010101" pitchFamily="2" charset="-122"/>
              </a:rPr>
              <a:t>：显示用户磁盘配额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quotacheck</a:t>
            </a:r>
            <a:r>
              <a:rPr lang="zh-CN" altLang="zh-CN" sz="2200" dirty="0">
                <a:ea typeface="宋体" panose="02010600030101010101" pitchFamily="2" charset="-122"/>
              </a:rPr>
              <a:t>：创建、检查和修复配额文件；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quotaoff</a:t>
            </a:r>
            <a:r>
              <a:rPr lang="zh-CN" altLang="zh-CN" sz="2200" dirty="0">
                <a:ea typeface="宋体" panose="02010600030101010101" pitchFamily="2" charset="-122"/>
              </a:rPr>
              <a:t>：关闭文件系统的磁盘配额功能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quotaon</a:t>
            </a:r>
            <a:r>
              <a:rPr lang="zh-CN" altLang="zh-CN" sz="2200" dirty="0">
                <a:ea typeface="宋体" panose="02010600030101010101" pitchFamily="2" charset="-122"/>
              </a:rPr>
              <a:t>：打开文件系统的磁盘配额功能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quotastat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：显示磁盘配额状态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repquota</a:t>
            </a:r>
            <a:r>
              <a:rPr lang="zh-CN" altLang="zh-CN" sz="2200" dirty="0">
                <a:ea typeface="宋体" panose="02010600030101010101" pitchFamily="2" charset="-122"/>
              </a:rPr>
              <a:t>：显示文件系统磁盘配额信息报表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swapoff</a:t>
            </a:r>
            <a:r>
              <a:rPr lang="zh-CN" altLang="zh-CN" sz="2200" dirty="0">
                <a:ea typeface="宋体" panose="02010600030101010101" pitchFamily="2" charset="-122"/>
              </a:rPr>
              <a:t>：关闭交换空间 ；</a:t>
            </a:r>
            <a:r>
              <a:rPr lang="en-US" altLang="zh-CN" sz="2200" dirty="0" err="1">
                <a:ea typeface="宋体" panose="02010600030101010101" pitchFamily="2" charset="-122"/>
              </a:rPr>
              <a:t>swapon</a:t>
            </a:r>
            <a:r>
              <a:rPr lang="zh-CN" altLang="zh-CN" sz="2200" dirty="0">
                <a:ea typeface="宋体" panose="02010600030101010101" pitchFamily="2" charset="-122"/>
              </a:rPr>
              <a:t>：激活交换空间；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tune2fs</a:t>
            </a:r>
            <a:r>
              <a:rPr lang="zh-CN" altLang="zh-CN" sz="2200" dirty="0">
                <a:ea typeface="宋体" panose="02010600030101010101" pitchFamily="2" charset="-122"/>
              </a:rPr>
              <a:t>：调整</a:t>
            </a:r>
            <a:r>
              <a:rPr lang="en-US" altLang="zh-CN" sz="2200" dirty="0">
                <a:ea typeface="宋体" panose="02010600030101010101" pitchFamily="2" charset="-122"/>
              </a:rPr>
              <a:t>ext2/ext3</a:t>
            </a:r>
            <a:r>
              <a:rPr lang="zh-CN" altLang="zh-CN" sz="2200" dirty="0">
                <a:ea typeface="宋体" panose="02010600030101010101" pitchFamily="2" charset="-122"/>
              </a:rPr>
              <a:t>文件系统的参数 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8F6C5936-1363-9CD3-B363-409FD8B72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D2F3720E-5239-9DE6-B033-739B1D54D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十、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内核与性能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dmesg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：显示内核的输出信息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free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：显示内存使用情况；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top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：显示和管理系统进程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ipcs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：显示进程间通信的状态信息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lsmod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：显示已加载的模块；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modinfo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：显示内核模块信息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modprobe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：加载内核模块并解决依赖关系；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dirty="0" err="1">
                <a:ea typeface="宋体" panose="02010600030101010101" pitchFamily="2" charset="-122"/>
              </a:rPr>
              <a:t>mpstat</a:t>
            </a:r>
            <a:r>
              <a:rPr lang="zh-CN" altLang="zh-CN" sz="2200" dirty="0">
                <a:ea typeface="宋体" panose="02010600030101010101" pitchFamily="2" charset="-122"/>
              </a:rPr>
              <a:t>：显示进程相关状态信息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 </a:t>
            </a:r>
            <a:r>
              <a:rPr lang="en-US" altLang="zh-CN" sz="2200" dirty="0" err="1">
                <a:ea typeface="宋体" panose="02010600030101010101" pitchFamily="2" charset="-122"/>
              </a:rPr>
              <a:t>insmod</a:t>
            </a:r>
            <a:r>
              <a:rPr lang="zh-CN" altLang="zh-CN" sz="2200" dirty="0">
                <a:ea typeface="宋体" panose="02010600030101010101" pitchFamily="2" charset="-122"/>
              </a:rPr>
              <a:t>：加载模块到内核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kernelversion</a:t>
            </a:r>
            <a:r>
              <a:rPr lang="zh-CN" altLang="zh-CN" sz="2200" dirty="0">
                <a:ea typeface="宋体" panose="02010600030101010101" pitchFamily="2" charset="-122"/>
              </a:rPr>
              <a:t>：显示内核主版本号 ；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4211C-CC77-D538-1964-74A0A40F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61BB6238-24D7-0F9B-D591-4F2ED667C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9BCCDF25-C3EB-4F20-CE94-FDA9A122DC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十、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内核与性能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uname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：显示系统信息；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uptime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：显示系统运行时间及平均负载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vmstat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：显示虚拟内存的状态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iostat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：报告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I/O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设备及分区状态；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sar</a:t>
            </a:r>
            <a:r>
              <a:rPr lang="zh-CN" altLang="zh-CN" sz="2200" dirty="0">
                <a:ea typeface="宋体" panose="02010600030101010101" pitchFamily="2" charset="-122"/>
              </a:rPr>
              <a:t>：收集、显示和保存系统活动信息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slabtop</a:t>
            </a:r>
            <a:r>
              <a:rPr lang="zh-CN" altLang="zh-CN" sz="2200" dirty="0">
                <a:ea typeface="宋体" panose="02010600030101010101" pitchFamily="2" charset="-122"/>
              </a:rPr>
              <a:t>：实时显示内核的</a:t>
            </a:r>
            <a:r>
              <a:rPr lang="en-US" altLang="zh-CN" sz="2200" dirty="0">
                <a:ea typeface="宋体" panose="02010600030101010101" pitchFamily="2" charset="-122"/>
              </a:rPr>
              <a:t>slab</a:t>
            </a:r>
            <a:r>
              <a:rPr lang="zh-CN" altLang="zh-CN" sz="2200" dirty="0">
                <a:ea typeface="宋体" panose="02010600030101010101" pitchFamily="2" charset="-122"/>
              </a:rPr>
              <a:t>缓存信息；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sysctl</a:t>
            </a:r>
            <a:r>
              <a:rPr lang="zh-CN" altLang="zh-CN" sz="2200" dirty="0">
                <a:ea typeface="宋体" panose="02010600030101010101" pitchFamily="2" charset="-122"/>
              </a:rPr>
              <a:t>：运行时修改内核参数；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tload</a:t>
            </a:r>
            <a:r>
              <a:rPr lang="zh-CN" altLang="zh-CN" sz="2200" dirty="0">
                <a:ea typeface="宋体" panose="02010600030101010101" pitchFamily="2" charset="-122"/>
              </a:rPr>
              <a:t>：监视系统平均负载情况；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depmod</a:t>
            </a:r>
            <a:r>
              <a:rPr lang="zh-CN" altLang="zh-CN" sz="2200" dirty="0">
                <a:ea typeface="宋体" panose="02010600030101010101" pitchFamily="2" charset="-122"/>
              </a:rPr>
              <a:t>：处理内核可加载模块的依赖关系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rmmod</a:t>
            </a:r>
            <a:r>
              <a:rPr lang="zh-CN" altLang="zh-CN" sz="2200" dirty="0">
                <a:ea typeface="宋体" panose="02010600030101010101" pitchFamily="2" charset="-122"/>
              </a:rPr>
              <a:t>：从内核中删除模块 ；</a:t>
            </a:r>
          </a:p>
        </p:txBody>
      </p:sp>
    </p:spTree>
    <p:extLst>
      <p:ext uri="{BB962C8B-B14F-4D97-AF65-F5344CB8AC3E}">
        <p14:creationId xmlns:p14="http://schemas.microsoft.com/office/powerpoint/2010/main" val="2748429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27CD-CB59-382E-B069-714EFA6C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4014A577-83EB-835E-A850-4873ED0A5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CDF62234-F609-DB86-1D1B-77180F2B9B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650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十一、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系统 </a:t>
            </a:r>
            <a:endParaRPr lang="en-US" altLang="zh-CN" sz="2800" b="1" dirty="0">
              <a:solidFill>
                <a:srgbClr val="0066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     </a:t>
            </a:r>
            <a:r>
              <a:rPr lang="en-US" altLang="zh-CN" sz="2200" b="1" dirty="0">
                <a:ea typeface="宋体" panose="02010600030101010101" pitchFamily="2" charset="-122"/>
              </a:rPr>
              <a:t> X-Window</a:t>
            </a:r>
            <a:r>
              <a:rPr lang="zh-CN" altLang="en-US" sz="2200" b="1" dirty="0">
                <a:ea typeface="宋体" panose="02010600030101010101" pitchFamily="2" charset="-122"/>
              </a:rPr>
              <a:t>系统</a:t>
            </a:r>
            <a:r>
              <a:rPr lang="zh-CN" altLang="en-US" sz="2200" dirty="0">
                <a:ea typeface="宋体" panose="02010600030101010101" pitchFamily="2" charset="-122"/>
              </a:rPr>
              <a:t>是</a:t>
            </a:r>
            <a:r>
              <a:rPr lang="en-US" altLang="zh-CN" sz="2200" dirty="0">
                <a:ea typeface="宋体" panose="02010600030101010101" pitchFamily="2" charset="-122"/>
              </a:rPr>
              <a:t>Linux</a:t>
            </a:r>
            <a:r>
              <a:rPr lang="zh-CN" altLang="en-US" sz="2200" dirty="0">
                <a:ea typeface="宋体" panose="02010600030101010101" pitchFamily="2" charset="-122"/>
              </a:rPr>
              <a:t>系统上最核心的图形用户界面（</a:t>
            </a:r>
            <a:r>
              <a:rPr lang="en-US" altLang="zh-CN" sz="2200" dirty="0">
                <a:ea typeface="宋体" panose="02010600030101010101" pitchFamily="2" charset="-122"/>
              </a:rPr>
              <a:t>GUI</a:t>
            </a:r>
            <a:r>
              <a:rPr lang="zh-CN" altLang="en-US" sz="2200" dirty="0">
                <a:ea typeface="宋体" panose="02010600030101010101" pitchFamily="2" charset="-122"/>
              </a:rPr>
              <a:t>）框架，它采用客户端</a:t>
            </a:r>
            <a:r>
              <a:rPr lang="en-US" altLang="zh-CN" sz="2200" dirty="0">
                <a:ea typeface="宋体" panose="02010600030101010101" pitchFamily="2" charset="-122"/>
              </a:rPr>
              <a:t>-</a:t>
            </a:r>
            <a:r>
              <a:rPr lang="zh-CN" altLang="en-US" sz="2200" dirty="0">
                <a:ea typeface="宋体" panose="02010600030101010101" pitchFamily="2" charset="-122"/>
              </a:rPr>
              <a:t>服务器（</a:t>
            </a:r>
            <a:r>
              <a:rPr lang="en-US" altLang="zh-CN" sz="2200" dirty="0">
                <a:ea typeface="宋体" panose="02010600030101010101" pitchFamily="2" charset="-122"/>
              </a:rPr>
              <a:t>C/S</a:t>
            </a:r>
            <a:r>
              <a:rPr lang="zh-CN" altLang="en-US" sz="2200" dirty="0">
                <a:ea typeface="宋体" panose="02010600030101010101" pitchFamily="2" charset="-122"/>
              </a:rPr>
              <a:t>）架构，负责管理图形显示、输入设备（如鼠标、键盘）和窗口渲染。支持远程图形、多窗口管理。目前仍在（服务器</a:t>
            </a:r>
            <a:r>
              <a:rPr lang="en-US" altLang="zh-CN" sz="2200" dirty="0">
                <a:ea typeface="宋体" panose="02010600030101010101" pitchFamily="2" charset="-122"/>
              </a:rPr>
              <a:t>/</a:t>
            </a:r>
            <a:r>
              <a:rPr lang="zh-CN" altLang="en-US" sz="2200" dirty="0">
                <a:ea typeface="宋体" panose="02010600030101010101" pitchFamily="2" charset="-122"/>
              </a:rPr>
              <a:t>开发者场景）广泛使用。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      CentOS 7</a:t>
            </a:r>
            <a:r>
              <a:rPr lang="zh-CN" altLang="en-US" sz="2200" dirty="0">
                <a:ea typeface="宋体" panose="02010600030101010101" pitchFamily="2" charset="-122"/>
              </a:rPr>
              <a:t>默认安装的是最小化（</a:t>
            </a:r>
            <a:r>
              <a:rPr lang="en-US" altLang="zh-CN" sz="2200" dirty="0">
                <a:ea typeface="宋体" panose="02010600030101010101" pitchFamily="2" charset="-122"/>
              </a:rPr>
              <a:t>Minimal</a:t>
            </a:r>
            <a:r>
              <a:rPr lang="zh-CN" altLang="en-US" sz="2200" dirty="0">
                <a:ea typeface="宋体" panose="02010600030101010101" pitchFamily="2" charset="-122"/>
              </a:rPr>
              <a:t>）版本，不包含图形界面（如</a:t>
            </a:r>
            <a:r>
              <a:rPr lang="en-US" altLang="zh-CN" sz="2200" dirty="0">
                <a:ea typeface="宋体" panose="02010600030101010101" pitchFamily="2" charset="-122"/>
              </a:rPr>
              <a:t>GNOME</a:t>
            </a:r>
            <a:r>
              <a:rPr lang="zh-CN" altLang="en-US" sz="2200" dirty="0">
                <a:ea typeface="宋体" panose="02010600030101010101" pitchFamily="2" charset="-122"/>
              </a:rPr>
              <a:t>或</a:t>
            </a:r>
            <a:r>
              <a:rPr lang="en-US" altLang="zh-CN" sz="2200" dirty="0">
                <a:ea typeface="宋体" panose="02010600030101010101" pitchFamily="2" charset="-122"/>
              </a:rPr>
              <a:t>X Window System</a:t>
            </a:r>
            <a:r>
              <a:rPr lang="zh-CN" altLang="en-US" sz="2200" dirty="0">
                <a:ea typeface="宋体" panose="02010600030101010101" pitchFamily="2" charset="-122"/>
              </a:rPr>
              <a:t>）。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      yum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groupinstall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"X Window System" "GNOME Desktop“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      </a:t>
            </a:r>
            <a:r>
              <a:rPr lang="zh-CN" altLang="en-US" sz="2200" dirty="0">
                <a:ea typeface="宋体" panose="02010600030101010101" pitchFamily="2" charset="-122"/>
              </a:rPr>
              <a:t>安装完成后，</a:t>
            </a:r>
            <a:r>
              <a:rPr lang="en-US" altLang="zh-CN" sz="2200" dirty="0" err="1">
                <a:ea typeface="宋体" panose="02010600030101010101" pitchFamily="2" charset="-122"/>
              </a:rPr>
              <a:t>startx</a:t>
            </a:r>
            <a:r>
              <a:rPr lang="zh-CN" altLang="en-US" sz="2200" dirty="0">
                <a:ea typeface="宋体" panose="02010600030101010101" pitchFamily="2" charset="-122"/>
              </a:rPr>
              <a:t>命令才可进入图形界面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zh-CN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2756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B4527-DFE4-61AB-4C51-2F4C1D57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9AB930CA-759A-D628-2E3D-B96A2E709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D357CD8D-C8B9-B07F-C02A-921B8DA060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650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十一、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系统 </a:t>
            </a:r>
            <a:endParaRPr lang="en-US" altLang="zh-CN" sz="2800" b="1" dirty="0">
              <a:solidFill>
                <a:srgbClr val="0066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      yum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groupinstall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"X Window System" "GNOME Desktop“</a:t>
            </a:r>
          </a:p>
          <a:p>
            <a:pPr marL="0" indent="0" algn="just"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zh-CN" altLang="zh-CN" sz="2200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10CF00-FDF8-EACA-B2B2-A4433B337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132856"/>
            <a:ext cx="5796136" cy="43424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A837C1D-CA21-C83A-B0CE-54C41BDF0490}"/>
              </a:ext>
            </a:extLst>
          </p:cNvPr>
          <p:cNvSpPr txBox="1"/>
          <p:nvPr/>
        </p:nvSpPr>
        <p:spPr>
          <a:xfrm>
            <a:off x="7300332" y="37313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下载过程</a:t>
            </a:r>
          </a:p>
        </p:txBody>
      </p:sp>
    </p:spTree>
    <p:extLst>
      <p:ext uri="{BB962C8B-B14F-4D97-AF65-F5344CB8AC3E}">
        <p14:creationId xmlns:p14="http://schemas.microsoft.com/office/powerpoint/2010/main" val="3621279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61EF-3E42-0E8C-6C8E-B8BC1267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2BF2388D-A207-31B9-7B5F-56685B964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23A64E1D-D768-8BA7-0FC7-D5EBB5CCC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650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十一、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系统 </a:t>
            </a:r>
            <a:endParaRPr lang="en-US" altLang="zh-CN" sz="2800" b="1" dirty="0">
              <a:solidFill>
                <a:srgbClr val="0066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      yum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groupinstall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"X Window System" "GNOME Desktop“</a:t>
            </a:r>
          </a:p>
          <a:p>
            <a:pPr marL="0" indent="0" algn="just"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just">
              <a:buNone/>
            </a:pPr>
            <a:endParaRPr lang="zh-CN" altLang="zh-CN" sz="2200" dirty="0"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92F771-6AB3-2E8E-7392-62002BD62338}"/>
              </a:ext>
            </a:extLst>
          </p:cNvPr>
          <p:cNvSpPr txBox="1"/>
          <p:nvPr/>
        </p:nvSpPr>
        <p:spPr>
          <a:xfrm>
            <a:off x="7989683" y="326175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安装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更新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过程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C17D60-248B-45FE-E27A-40C1436CA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132856"/>
            <a:ext cx="7145221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71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E6BE2282-AD99-C1FC-51A2-790CB387B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22A5334C-C67E-7516-F04B-D68A91C3A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650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十一、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系统 </a:t>
            </a:r>
            <a:endParaRPr lang="en-US" altLang="zh-CN" sz="2800" b="1" dirty="0">
              <a:solidFill>
                <a:srgbClr val="0066FF"/>
              </a:solidFill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     </a:t>
            </a:r>
            <a:r>
              <a:rPr lang="en-US" altLang="zh-CN" sz="2200" b="1" dirty="0">
                <a:ea typeface="宋体" panose="02010600030101010101" pitchFamily="2" charset="-122"/>
              </a:rPr>
              <a:t> X-Window</a:t>
            </a:r>
            <a:r>
              <a:rPr lang="zh-CN" altLang="en-US" sz="2200" b="1" dirty="0">
                <a:ea typeface="宋体" panose="02010600030101010101" pitchFamily="2" charset="-122"/>
              </a:rPr>
              <a:t>系统</a:t>
            </a:r>
            <a:r>
              <a:rPr lang="zh-CN" altLang="en-US" sz="2200" dirty="0">
                <a:ea typeface="宋体" panose="02010600030101010101" pitchFamily="2" charset="-122"/>
              </a:rPr>
              <a:t>是</a:t>
            </a:r>
            <a:r>
              <a:rPr lang="en-US" altLang="zh-CN" sz="2200" dirty="0">
                <a:ea typeface="宋体" panose="02010600030101010101" pitchFamily="2" charset="-122"/>
              </a:rPr>
              <a:t>Linux</a:t>
            </a:r>
            <a:r>
              <a:rPr lang="zh-CN" altLang="en-US" sz="2200" dirty="0">
                <a:ea typeface="宋体" panose="02010600030101010101" pitchFamily="2" charset="-122"/>
              </a:rPr>
              <a:t>系统上最核心的图形用户界面（</a:t>
            </a:r>
            <a:r>
              <a:rPr lang="en-US" altLang="zh-CN" sz="2200" dirty="0">
                <a:ea typeface="宋体" panose="02010600030101010101" pitchFamily="2" charset="-122"/>
              </a:rPr>
              <a:t>GUI</a:t>
            </a:r>
            <a:r>
              <a:rPr lang="zh-CN" altLang="en-US" sz="2200" dirty="0">
                <a:ea typeface="宋体" panose="02010600030101010101" pitchFamily="2" charset="-122"/>
              </a:rPr>
              <a:t>）框架，它采用客户端</a:t>
            </a:r>
            <a:r>
              <a:rPr lang="en-US" altLang="zh-CN" sz="2200" dirty="0">
                <a:ea typeface="宋体" panose="02010600030101010101" pitchFamily="2" charset="-122"/>
              </a:rPr>
              <a:t>-</a:t>
            </a:r>
            <a:r>
              <a:rPr lang="zh-CN" altLang="en-US" sz="2200" dirty="0">
                <a:ea typeface="宋体" panose="02010600030101010101" pitchFamily="2" charset="-122"/>
              </a:rPr>
              <a:t>服务器（</a:t>
            </a:r>
            <a:r>
              <a:rPr lang="en-US" altLang="zh-CN" sz="2200" dirty="0">
                <a:ea typeface="宋体" panose="02010600030101010101" pitchFamily="2" charset="-122"/>
              </a:rPr>
              <a:t>C/S</a:t>
            </a:r>
            <a:r>
              <a:rPr lang="zh-CN" altLang="en-US" sz="2200" dirty="0">
                <a:ea typeface="宋体" panose="02010600030101010101" pitchFamily="2" charset="-122"/>
              </a:rPr>
              <a:t>）架构，负责管理图形显示、输入设备（如鼠标、键盘）和窗口渲染。支持远程图形、多窗口管理。目前仍在（服务器</a:t>
            </a:r>
            <a:r>
              <a:rPr lang="en-US" altLang="zh-CN" sz="2200" dirty="0">
                <a:ea typeface="宋体" panose="02010600030101010101" pitchFamily="2" charset="-122"/>
              </a:rPr>
              <a:t>/</a:t>
            </a:r>
            <a:r>
              <a:rPr lang="zh-CN" altLang="en-US" sz="2200" dirty="0">
                <a:ea typeface="宋体" panose="02010600030101010101" pitchFamily="2" charset="-122"/>
              </a:rPr>
              <a:t>开发者场景）广泛使用。</a:t>
            </a:r>
            <a:endParaRPr lang="zh-CN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startx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：初始化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会话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，进入图形界面。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xhost</a:t>
            </a:r>
            <a:r>
              <a:rPr lang="zh-CN" altLang="zh-CN" sz="2200" dirty="0">
                <a:ea typeface="宋体" panose="02010600030101010101" pitchFamily="2" charset="-122"/>
              </a:rPr>
              <a:t>：显示和配置</a:t>
            </a:r>
            <a:r>
              <a:rPr lang="en-US" altLang="zh-CN" sz="2200" dirty="0">
                <a:ea typeface="宋体" panose="02010600030101010101" pitchFamily="2" charset="-122"/>
              </a:rPr>
              <a:t>X</a:t>
            </a:r>
            <a:r>
              <a:rPr lang="zh-CN" altLang="zh-CN" sz="2200" dirty="0">
                <a:ea typeface="宋体" panose="02010600030101010101" pitchFamily="2" charset="-122"/>
              </a:rPr>
              <a:t>服务器的访问权限；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xinit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X-Window</a:t>
            </a:r>
            <a:r>
              <a:rPr lang="zh-CN" altLang="zh-CN" sz="2200" dirty="0">
                <a:ea typeface="宋体" panose="02010600030101010101" pitchFamily="2" charset="-122"/>
              </a:rPr>
              <a:t>系统初始化程序；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xauth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X</a:t>
            </a:r>
            <a:r>
              <a:rPr lang="zh-CN" altLang="zh-CN" sz="2200" dirty="0">
                <a:ea typeface="宋体" panose="02010600030101010101" pitchFamily="2" charset="-122"/>
              </a:rPr>
              <a:t>系统授权许可文件管理工具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xlsatoms</a:t>
            </a:r>
            <a:r>
              <a:rPr lang="zh-CN" altLang="zh-CN" sz="2200" dirty="0">
                <a:ea typeface="宋体" panose="02010600030101010101" pitchFamily="2" charset="-122"/>
              </a:rPr>
              <a:t>：显示</a:t>
            </a:r>
            <a:r>
              <a:rPr lang="en-US" altLang="zh-CN" sz="2200" dirty="0">
                <a:ea typeface="宋体" panose="02010600030101010101" pitchFamily="2" charset="-122"/>
              </a:rPr>
              <a:t>X</a:t>
            </a:r>
            <a:r>
              <a:rPr lang="zh-CN" altLang="zh-CN" sz="2200" dirty="0">
                <a:ea typeface="宋体" panose="02010600030101010101" pitchFamily="2" charset="-122"/>
              </a:rPr>
              <a:t>服务器原子数据定义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xlsclients</a:t>
            </a:r>
            <a:r>
              <a:rPr lang="zh-CN" altLang="zh-CN" sz="2200" dirty="0">
                <a:ea typeface="宋体" panose="02010600030101010101" pitchFamily="2" charset="-122"/>
              </a:rPr>
              <a:t>：显示指定显示器上运行的</a:t>
            </a:r>
            <a:r>
              <a:rPr lang="en-US" altLang="zh-CN" sz="2200" dirty="0">
                <a:ea typeface="宋体" panose="02010600030101010101" pitchFamily="2" charset="-122"/>
              </a:rPr>
              <a:t>X</a:t>
            </a:r>
            <a:r>
              <a:rPr lang="zh-CN" altLang="zh-CN" sz="2200" dirty="0">
                <a:ea typeface="宋体" panose="02010600030101010101" pitchFamily="2" charset="-122"/>
              </a:rPr>
              <a:t>程序；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xlsfonts</a:t>
            </a:r>
            <a:r>
              <a:rPr lang="zh-CN" altLang="zh-CN" sz="2200" dirty="0">
                <a:ea typeface="宋体" panose="02010600030101010101" pitchFamily="2" charset="-122"/>
              </a:rPr>
              <a:t>：显示</a:t>
            </a:r>
            <a:r>
              <a:rPr lang="en-US" altLang="zh-CN" sz="2200" dirty="0">
                <a:ea typeface="宋体" panose="02010600030101010101" pitchFamily="2" charset="-122"/>
              </a:rPr>
              <a:t>X</a:t>
            </a:r>
            <a:r>
              <a:rPr lang="zh-CN" altLang="zh-CN" sz="2200" dirty="0">
                <a:ea typeface="宋体" panose="02010600030101010101" pitchFamily="2" charset="-122"/>
              </a:rPr>
              <a:t>服务器使用的字体信息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xset</a:t>
            </a:r>
            <a:r>
              <a:rPr lang="zh-CN" altLang="zh-CN" sz="2200" dirty="0">
                <a:ea typeface="宋体" panose="02010600030101010101" pitchFamily="2" charset="-122"/>
              </a:rPr>
              <a:t>：设置</a:t>
            </a:r>
            <a:r>
              <a:rPr lang="en-US" altLang="zh-CN" sz="2200" dirty="0">
                <a:ea typeface="宋体" panose="02010600030101010101" pitchFamily="2" charset="-122"/>
              </a:rPr>
              <a:t>X</a:t>
            </a:r>
            <a:r>
              <a:rPr lang="zh-CN" altLang="zh-CN" sz="2200" dirty="0">
                <a:ea typeface="宋体" panose="02010600030101010101" pitchFamily="2" charset="-122"/>
              </a:rPr>
              <a:t>系统的用户偏爱属性；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70744-2AF3-A926-089F-3EEC7C9F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CAF48AAB-3C6B-9F5B-EA77-D574A85DF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FB485675-09CF-9B6D-AC25-9CDC7CC27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650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十一、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系统 </a:t>
            </a:r>
            <a:endParaRPr lang="en-US" altLang="zh-CN" sz="2800" b="1" dirty="0">
              <a:solidFill>
                <a:srgbClr val="0066FF"/>
              </a:solidFill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     </a:t>
            </a:r>
            <a:r>
              <a:rPr lang="en-US" altLang="zh-CN" sz="2200" b="1" dirty="0">
                <a:ea typeface="宋体" panose="02010600030101010101" pitchFamily="2" charset="-122"/>
              </a:rPr>
              <a:t> 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870CAA-85EB-E6AE-0A9A-0354D9382E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06"/>
          <a:stretch>
            <a:fillRect/>
          </a:stretch>
        </p:blipFill>
        <p:spPr>
          <a:xfrm>
            <a:off x="1115616" y="1726468"/>
            <a:ext cx="6984776" cy="504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29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7E9F-A029-4FC3-886A-3D7627740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E5292F9D-9552-9161-BFC4-4B362247B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746A3170-CC21-ADC8-425E-82A4FCC0AD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650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十一、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系统 </a:t>
            </a:r>
            <a:endParaRPr lang="en-US" altLang="zh-CN" sz="2800" b="1" dirty="0">
              <a:solidFill>
                <a:srgbClr val="0066FF"/>
              </a:solidFill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     </a:t>
            </a:r>
            <a:r>
              <a:rPr lang="en-US" altLang="zh-CN" sz="2200" b="1" dirty="0">
                <a:ea typeface="宋体" panose="02010600030101010101" pitchFamily="2" charset="-122"/>
              </a:rPr>
              <a:t> 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596DF4-420E-FE8E-1F9E-DB1374D8F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772815"/>
            <a:ext cx="6624736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82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B0A31-BFC9-49A4-AF1F-BBABF154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D1DA2C7D-0B91-BEC0-43A1-DD37CF3E8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69496CAC-98F8-5531-6630-E6F1AD0A58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650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十一、</a:t>
            </a: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X-Window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系统 </a:t>
            </a:r>
            <a:endParaRPr lang="en-US" altLang="zh-CN" sz="2800" b="1" dirty="0">
              <a:solidFill>
                <a:srgbClr val="0066FF"/>
              </a:solidFill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     </a:t>
            </a:r>
            <a:r>
              <a:rPr lang="en-US" altLang="zh-CN" sz="2200" b="1" dirty="0">
                <a:ea typeface="宋体" panose="02010600030101010101" pitchFamily="2" charset="-122"/>
              </a:rPr>
              <a:t> 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4AD798-9729-7E5A-6C4E-4AA1D54E8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2" y="1628800"/>
            <a:ext cx="8927976" cy="202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93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A2DD5360-7F4F-FEE0-6F36-8129502C4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7599189A-F50E-987E-8920-510EAE4FBD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十二、系统安全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chroot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：以指定根目录运行指令；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nmap</a:t>
            </a:r>
            <a:r>
              <a:rPr lang="zh-CN" altLang="zh-CN" dirty="0">
                <a:ea typeface="宋体" panose="02010600030101010101" pitchFamily="2" charset="-122"/>
              </a:rPr>
              <a:t>：网络探测工具和安全扫描器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scp</a:t>
            </a:r>
            <a:r>
              <a:rPr lang="zh-CN" altLang="zh-CN" dirty="0">
                <a:ea typeface="宋体" panose="02010600030101010101" pitchFamily="2" charset="-122"/>
              </a:rPr>
              <a:t>：加密的远程复制工具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sftp</a:t>
            </a:r>
            <a:r>
              <a:rPr lang="zh-CN" altLang="zh-CN" dirty="0">
                <a:ea typeface="宋体" panose="02010600030101010101" pitchFamily="2" charset="-122"/>
              </a:rPr>
              <a:t>：安全文件传输工具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slogin</a:t>
            </a:r>
            <a:r>
              <a:rPr lang="zh-CN" altLang="zh-CN" dirty="0">
                <a:ea typeface="宋体" panose="02010600030101010101" pitchFamily="2" charset="-122"/>
              </a:rPr>
              <a:t>：加密的远程登录工具；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ssh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：加密的远程登录工具；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sudo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：以另一个用户身份执行指令；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49C1D-C3A6-52F6-A427-BF290E8F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FBC80447-AD24-DC7E-1B6B-A17A8A9F8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6F9DC8DD-6311-A0AC-09A4-59B466B71B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0026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十三、编程相关指令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awk/gawk</a:t>
            </a:r>
            <a:r>
              <a:rPr lang="zh-CN" altLang="zh-CN" dirty="0">
                <a:ea typeface="宋体" panose="02010600030101010101" pitchFamily="2" charset="-122"/>
              </a:rPr>
              <a:t>：模式扫描与处理语言；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expr</a:t>
            </a:r>
            <a:r>
              <a:rPr lang="zh-CN" altLang="zh-CN" dirty="0">
                <a:ea typeface="宋体" panose="02010600030101010101" pitchFamily="2" charset="-122"/>
              </a:rPr>
              <a:t>：计算表达式的值；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gcc</a:t>
            </a:r>
            <a:r>
              <a:rPr lang="zh-CN" altLang="zh-CN" dirty="0">
                <a:ea typeface="宋体" panose="02010600030101010101" pitchFamily="2" charset="-122"/>
              </a:rPr>
              <a:t>：</a:t>
            </a:r>
            <a:r>
              <a:rPr lang="en-US" altLang="zh-CN" dirty="0">
                <a:ea typeface="宋体" panose="02010600030101010101" pitchFamily="2" charset="-122"/>
              </a:rPr>
              <a:t>GNU</a:t>
            </a:r>
            <a:r>
              <a:rPr lang="zh-CN" altLang="zh-CN" dirty="0">
                <a:ea typeface="宋体" panose="02010600030101010101" pitchFamily="2" charset="-122"/>
              </a:rPr>
              <a:t>的</a:t>
            </a:r>
            <a:r>
              <a:rPr lang="en-US" altLang="zh-CN" dirty="0">
                <a:ea typeface="宋体" panose="02010600030101010101" pitchFamily="2" charset="-122"/>
              </a:rPr>
              <a:t>C</a:t>
            </a:r>
            <a:r>
              <a:rPr lang="zh-CN" altLang="zh-CN" dirty="0">
                <a:ea typeface="宋体" panose="02010600030101010101" pitchFamily="2" charset="-122"/>
              </a:rPr>
              <a:t>语言编译器；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gdb</a:t>
            </a:r>
            <a:r>
              <a:rPr lang="zh-CN" altLang="zh-CN" dirty="0">
                <a:ea typeface="宋体" panose="02010600030101010101" pitchFamily="2" charset="-122"/>
              </a:rPr>
              <a:t>：</a:t>
            </a:r>
            <a:r>
              <a:rPr lang="en-US" altLang="zh-CN" dirty="0">
                <a:ea typeface="宋体" panose="02010600030101010101" pitchFamily="2" charset="-122"/>
              </a:rPr>
              <a:t>GNU</a:t>
            </a:r>
            <a:r>
              <a:rPr lang="zh-CN" altLang="zh-CN" dirty="0">
                <a:ea typeface="宋体" panose="02010600030101010101" pitchFamily="2" charset="-122"/>
              </a:rPr>
              <a:t>调试器；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ldd</a:t>
            </a:r>
            <a:r>
              <a:rPr lang="zh-CN" altLang="zh-CN" dirty="0">
                <a:ea typeface="宋体" panose="02010600030101010101" pitchFamily="2" charset="-122"/>
              </a:rPr>
              <a:t>：显示共享库依赖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make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：工程编译工具 ；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nm</a:t>
            </a:r>
            <a:r>
              <a:rPr lang="zh-CN" altLang="zh-CN" dirty="0">
                <a:ea typeface="宋体" panose="02010600030101010101" pitchFamily="2" charset="-122"/>
              </a:rPr>
              <a:t>：显示目标文件的符号表；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perl</a:t>
            </a:r>
            <a:r>
              <a:rPr lang="zh-CN" altLang="zh-CN" dirty="0">
                <a:ea typeface="宋体" panose="02010600030101010101" pitchFamily="2" charset="-122"/>
              </a:rPr>
              <a:t>：</a:t>
            </a:r>
            <a:r>
              <a:rPr lang="en-US" altLang="zh-CN" dirty="0" err="1">
                <a:ea typeface="宋体" panose="02010600030101010101" pitchFamily="2" charset="-122"/>
              </a:rPr>
              <a:t>perl</a:t>
            </a:r>
            <a:r>
              <a:rPr lang="zh-CN" altLang="zh-CN" dirty="0">
                <a:ea typeface="宋体" panose="02010600030101010101" pitchFamily="2" charset="-122"/>
              </a:rPr>
              <a:t>语言的命令行工具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php</a:t>
            </a:r>
            <a:r>
              <a:rPr lang="zh-CN" altLang="zh-CN" dirty="0">
                <a:ea typeface="宋体" panose="02010600030101010101" pitchFamily="2" charset="-122"/>
              </a:rPr>
              <a:t>：</a:t>
            </a:r>
            <a:r>
              <a:rPr lang="en-US" altLang="zh-CN" dirty="0">
                <a:ea typeface="宋体" panose="02010600030101010101" pitchFamily="2" charset="-122"/>
              </a:rPr>
              <a:t>PHP</a:t>
            </a:r>
            <a:r>
              <a:rPr lang="zh-CN" altLang="zh-CN" dirty="0">
                <a:ea typeface="宋体" panose="02010600030101010101" pitchFamily="2" charset="-122"/>
              </a:rPr>
              <a:t>脚本语言命令行接口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test</a:t>
            </a:r>
            <a:r>
              <a:rPr lang="zh-CN" altLang="zh-CN" dirty="0">
                <a:ea typeface="宋体" panose="02010600030101010101" pitchFamily="2" charset="-122"/>
              </a:rPr>
              <a:t>：条件测试 ；</a:t>
            </a:r>
          </a:p>
        </p:txBody>
      </p:sp>
    </p:spTree>
    <p:extLst>
      <p:ext uri="{BB962C8B-B14F-4D97-AF65-F5344CB8AC3E}">
        <p14:creationId xmlns:p14="http://schemas.microsoft.com/office/powerpoint/2010/main" val="1618989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7135-EE73-E936-C44D-2FFD19250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B51F7503-EF7B-F81B-ADB2-93711F7E1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6717ED37-58EC-8667-1C4D-F5DA1352B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十四、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其他系统管理与维护指令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yum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：软件包自动化管理工具</a:t>
            </a:r>
            <a:r>
              <a:rPr lang="zh-CN" altLang="en-US" dirty="0">
                <a:ea typeface="宋体" panose="02010600030101010101" pitchFamily="2" charset="-122"/>
              </a:rPr>
              <a:t>（安装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升级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删除，如</a:t>
            </a:r>
            <a:r>
              <a:rPr lang="en-US" altLang="zh-CN" dirty="0">
                <a:ea typeface="宋体" panose="02010600030101010101" pitchFamily="2" charset="-122"/>
              </a:rPr>
              <a:t>yum install nginx</a:t>
            </a:r>
            <a:r>
              <a:rPr lang="zh-CN" altLang="en-US" dirty="0">
                <a:ea typeface="宋体" panose="02010600030101010101" pitchFamily="2" charset="-122"/>
              </a:rPr>
              <a:t>）；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crontab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：按照时间设置计划任务 ；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service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Linux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服务管理和控制工具 ；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rpm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Red Hat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软件包管理器；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arch</a:t>
            </a:r>
            <a:r>
              <a:rPr lang="zh-CN" altLang="zh-CN" dirty="0">
                <a:ea typeface="宋体" panose="02010600030101010101" pitchFamily="2" charset="-122"/>
              </a:rPr>
              <a:t>：显示当前主机的硬件架构；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at</a:t>
            </a:r>
            <a:r>
              <a:rPr lang="zh-CN" altLang="zh-CN" dirty="0">
                <a:ea typeface="宋体" panose="02010600030101010101" pitchFamily="2" charset="-122"/>
              </a:rPr>
              <a:t>：按照时间安排任务的执行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atq</a:t>
            </a:r>
            <a:r>
              <a:rPr lang="zh-CN" altLang="zh-CN" dirty="0">
                <a:ea typeface="宋体" panose="02010600030101010101" pitchFamily="2" charset="-122"/>
              </a:rPr>
              <a:t>：查询待执行的任务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atrm</a:t>
            </a:r>
            <a:r>
              <a:rPr lang="zh-CN" altLang="zh-CN" dirty="0">
                <a:ea typeface="宋体" panose="02010600030101010101" pitchFamily="2" charset="-122"/>
              </a:rPr>
              <a:t>：删除待执行的任务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batch</a:t>
            </a:r>
            <a:r>
              <a:rPr lang="zh-CN" altLang="zh-CN" dirty="0">
                <a:ea typeface="宋体" panose="02010600030101010101" pitchFamily="2" charset="-122"/>
              </a:rPr>
              <a:t>：在指定时间运行任务</a:t>
            </a:r>
            <a:r>
              <a:rPr lang="zh-CN" altLang="en-US" dirty="0">
                <a:ea typeface="宋体" panose="02010600030101010101" pitchFamily="2" charset="-122"/>
              </a:rPr>
              <a:t>；</a:t>
            </a:r>
            <a:endParaRPr lang="zh-CN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3020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F15826C2-A24C-5AD6-83CE-9783A265E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A0558498-D4A7-DCD1-6625-25ABD5B1CD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980728"/>
            <a:ext cx="839718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十四、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其他系统管理与维护指令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chkconfig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：设置系统在不同运行等级下所执行的服务；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last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：显示以前登录过系统的用户相关信息 ；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lsusb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：显示所有的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USB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设备 ；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runlevel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：显示当前系统的运行等级；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lastb</a:t>
            </a:r>
            <a:r>
              <a:rPr lang="zh-CN" altLang="zh-CN" dirty="0">
                <a:ea typeface="宋体" panose="02010600030101010101" pitchFamily="2" charset="-122"/>
              </a:rPr>
              <a:t>：显示登录系统失败的用户相关信息；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logrotate</a:t>
            </a:r>
            <a:r>
              <a:rPr lang="zh-CN" altLang="zh-CN" dirty="0">
                <a:ea typeface="宋体" panose="02010600030101010101" pitchFamily="2" charset="-122"/>
              </a:rPr>
              <a:t>：系统日志的轮循工具；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logsave</a:t>
            </a:r>
            <a:r>
              <a:rPr lang="zh-CN" altLang="zh-CN" dirty="0">
                <a:ea typeface="宋体" panose="02010600030101010101" pitchFamily="2" charset="-122"/>
              </a:rPr>
              <a:t>：将命令的输出信息保存到日志文件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logwatch</a:t>
            </a:r>
            <a:r>
              <a:rPr lang="zh-CN" altLang="zh-CN" dirty="0">
                <a:ea typeface="宋体" panose="02010600030101010101" pitchFamily="2" charset="-122"/>
              </a:rPr>
              <a:t>：报告和分析系统日志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patch</a:t>
            </a:r>
            <a:r>
              <a:rPr lang="zh-CN" altLang="zh-CN" dirty="0">
                <a:ea typeface="宋体" panose="02010600030101010101" pitchFamily="2" charset="-122"/>
              </a:rPr>
              <a:t>：补丁与更新文件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telinit</a:t>
            </a:r>
            <a:r>
              <a:rPr lang="zh-CN" altLang="zh-CN" dirty="0">
                <a:ea typeface="宋体" panose="02010600030101010101" pitchFamily="2" charset="-122"/>
              </a:rPr>
              <a:t>：切换当前系统的运行等级 ；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6A9B51E6-7AAF-91CC-78AD-3B8A3D61F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743B6F6E-9F75-7160-94B3-135EBF20B1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2187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十五、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网络配置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dnsdomainname</a:t>
            </a:r>
            <a:r>
              <a:rPr lang="zh-CN" altLang="zh-CN" dirty="0">
                <a:ea typeface="宋体" panose="02010600030101010101" pitchFamily="2" charset="-122"/>
              </a:rPr>
              <a:t>：显示系统的</a:t>
            </a:r>
            <a:r>
              <a:rPr lang="en-US" altLang="zh-CN" dirty="0">
                <a:ea typeface="宋体" panose="02010600030101010101" pitchFamily="2" charset="-122"/>
              </a:rPr>
              <a:t>DNS</a:t>
            </a:r>
            <a:r>
              <a:rPr lang="zh-CN" altLang="zh-CN" dirty="0">
                <a:ea typeface="宋体" panose="02010600030101010101" pitchFamily="2" charset="-122"/>
              </a:rPr>
              <a:t>域名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domainname</a:t>
            </a:r>
            <a:r>
              <a:rPr lang="zh-CN" altLang="zh-CN" dirty="0">
                <a:ea typeface="宋体" panose="02010600030101010101" pitchFamily="2" charset="-122"/>
              </a:rPr>
              <a:t>：显示和设置主机域名；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hostname</a:t>
            </a:r>
            <a:r>
              <a:rPr lang="zh-CN" altLang="zh-CN" dirty="0">
                <a:ea typeface="宋体" panose="02010600030101010101" pitchFamily="2" charset="-122"/>
              </a:rPr>
              <a:t>：显示或者设置系统主机名；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ifcfg</a:t>
            </a:r>
            <a:r>
              <a:rPr lang="zh-CN" altLang="zh-CN" dirty="0">
                <a:ea typeface="宋体" panose="02010600030101010101" pitchFamily="2" charset="-122"/>
              </a:rPr>
              <a:t>：配置网络接口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ifconfig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：配置网络接口的网络参数；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ifdown</a:t>
            </a:r>
            <a:r>
              <a:rPr lang="zh-CN" altLang="zh-CN" dirty="0">
                <a:ea typeface="宋体" panose="02010600030101010101" pitchFamily="2" charset="-122"/>
              </a:rPr>
              <a:t>：关闭指定网络接口；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ifup</a:t>
            </a:r>
            <a:r>
              <a:rPr lang="zh-CN" altLang="zh-CN" dirty="0">
                <a:ea typeface="宋体" panose="02010600030101010101" pitchFamily="2" charset="-122"/>
              </a:rPr>
              <a:t>：启动指定网络接口；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nisdomainname</a:t>
            </a:r>
            <a:r>
              <a:rPr lang="zh-CN" altLang="zh-CN" dirty="0">
                <a:ea typeface="宋体" panose="02010600030101010101" pitchFamily="2" charset="-122"/>
              </a:rPr>
              <a:t>：显示和设置主机域名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route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：显示与操纵本机的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IP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路由表 ；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30213"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ypdomainname</a:t>
            </a:r>
            <a:r>
              <a:rPr lang="zh-CN" altLang="zh-CN" dirty="0">
                <a:ea typeface="宋体" panose="02010600030101010101" pitchFamily="2" charset="-122"/>
              </a:rPr>
              <a:t>：显示和设置主机域名 ；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B57E1C85-C073-A0C2-BF1B-6D39FD23C7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8A36F814-3A0D-4C64-53D9-2EDDECD8D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十六、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网络测试与应用 </a:t>
            </a: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arp</a:t>
            </a:r>
            <a:r>
              <a:rPr lang="zh-CN" altLang="zh-CN" sz="2200" dirty="0">
                <a:ea typeface="宋体" panose="02010600030101010101" pitchFamily="2" charset="-122"/>
              </a:rPr>
              <a:t>：管理本机</a:t>
            </a:r>
            <a:r>
              <a:rPr lang="en-US" altLang="zh-CN" sz="2200" dirty="0" err="1">
                <a:ea typeface="宋体" panose="02010600030101010101" pitchFamily="2" charset="-122"/>
              </a:rPr>
              <a:t>arp</a:t>
            </a:r>
            <a:r>
              <a:rPr lang="zh-CN" altLang="zh-CN" sz="2200" dirty="0">
                <a:ea typeface="宋体" panose="02010600030101010101" pitchFamily="2" charset="-122"/>
              </a:rPr>
              <a:t>缓冲区；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arping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：向相邻主机发送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ARP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请求报文；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arpwatch</a:t>
            </a:r>
            <a:r>
              <a:rPr lang="zh-CN" altLang="zh-CN" sz="2200" dirty="0">
                <a:ea typeface="宋体" panose="02010600030101010101" pitchFamily="2" charset="-122"/>
              </a:rPr>
              <a:t>：监听网络上的</a:t>
            </a:r>
            <a:r>
              <a:rPr lang="en-US" altLang="zh-CN" sz="2200" dirty="0">
                <a:ea typeface="宋体" panose="02010600030101010101" pitchFamily="2" charset="-122"/>
              </a:rPr>
              <a:t>ARP</a:t>
            </a:r>
            <a:r>
              <a:rPr lang="zh-CN" altLang="zh-CN" sz="2200" dirty="0">
                <a:ea typeface="宋体" panose="02010600030101010101" pitchFamily="2" charset="-122"/>
              </a:rPr>
              <a:t>信息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dig</a:t>
            </a:r>
            <a:r>
              <a:rPr lang="zh-CN" altLang="zh-CN" sz="2200" dirty="0">
                <a:ea typeface="宋体" panose="02010600030101010101" pitchFamily="2" charset="-122"/>
              </a:rPr>
              <a:t>：域名查询工具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elinks</a:t>
            </a:r>
            <a:r>
              <a:rPr lang="zh-CN" altLang="zh-CN" sz="2200" dirty="0">
                <a:ea typeface="宋体" panose="02010600030101010101" pitchFamily="2" charset="-122"/>
              </a:rPr>
              <a:t>：纯文本网页浏览器；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elm</a:t>
            </a:r>
            <a:r>
              <a:rPr lang="zh-CN" altLang="zh-CN" sz="2200" dirty="0">
                <a:ea typeface="宋体" panose="02010600030101010101" pitchFamily="2" charset="-122"/>
              </a:rPr>
              <a:t>：电子邮件客户端程序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ftp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：文件传输协议客户端 ；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host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DNS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域名查询工具 </a:t>
            </a:r>
            <a:r>
              <a:rPr lang="zh-CN" altLang="zh-CN" sz="2200" dirty="0">
                <a:ea typeface="宋体" panose="02010600030101010101" pitchFamily="2" charset="-122"/>
              </a:rPr>
              <a:t>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ipcalc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IP</a:t>
            </a:r>
            <a:r>
              <a:rPr lang="zh-CN" altLang="zh-CN" sz="2200" dirty="0">
                <a:ea typeface="宋体" panose="02010600030101010101" pitchFamily="2" charset="-122"/>
              </a:rPr>
              <a:t>地址计算器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lynx</a:t>
            </a:r>
            <a:r>
              <a:rPr lang="zh-CN" altLang="zh-CN" sz="2200" dirty="0">
                <a:ea typeface="宋体" panose="02010600030101010101" pitchFamily="2" charset="-122"/>
              </a:rPr>
              <a:t>：纯文本网页浏览器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47675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mail</a:t>
            </a:r>
            <a:r>
              <a:rPr lang="zh-CN" altLang="zh-CN" sz="2200" dirty="0">
                <a:ea typeface="宋体" panose="02010600030101010101" pitchFamily="2" charset="-122"/>
              </a:rPr>
              <a:t>：电子邮件管理程序 ；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329D-DD28-BB96-0F5D-3E7E3F4A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DB2B8D83-4121-3DDF-13E9-F89F20A25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CC14F5D4-2D52-6F8E-CFD6-8F1B7AC420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43473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十六、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网络测试与应用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ncftp</a:t>
            </a:r>
            <a:r>
              <a:rPr lang="zh-CN" altLang="zh-CN" sz="2200" dirty="0">
                <a:ea typeface="宋体" panose="02010600030101010101" pitchFamily="2" charset="-122"/>
              </a:rPr>
              <a:t>：增强的</a:t>
            </a:r>
            <a:r>
              <a:rPr lang="en-US" altLang="zh-CN" sz="2200" dirty="0">
                <a:ea typeface="宋体" panose="02010600030101010101" pitchFamily="2" charset="-122"/>
              </a:rPr>
              <a:t>FTP</a:t>
            </a:r>
            <a:r>
              <a:rPr lang="zh-CN" altLang="zh-CN" sz="2200" dirty="0">
                <a:ea typeface="宋体" panose="02010600030101010101" pitchFamily="2" charset="-122"/>
              </a:rPr>
              <a:t>客户端工具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netstat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：显示网络状态；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solidFill>
                  <a:srgbClr val="FF0000"/>
                </a:solidFill>
                <a:ea typeface="宋体" panose="02010600030101010101" pitchFamily="2" charset="-122"/>
              </a:rPr>
              <a:t>nslookup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DNS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域名查询工具；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pine</a:t>
            </a:r>
            <a:r>
              <a:rPr lang="zh-CN" altLang="zh-CN" sz="2200" dirty="0">
                <a:ea typeface="宋体" panose="02010600030101010101" pitchFamily="2" charset="-122"/>
              </a:rPr>
              <a:t>：电子邮件和新闻组处理程序；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ping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：测试到达目标主机的网络是否通畅；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rsh</a:t>
            </a:r>
            <a:r>
              <a:rPr lang="zh-CN" altLang="zh-CN" sz="2200" dirty="0">
                <a:ea typeface="宋体" panose="02010600030101010101" pitchFamily="2" charset="-122"/>
              </a:rPr>
              <a:t>：远程</a:t>
            </a:r>
            <a:r>
              <a:rPr lang="en-US" altLang="zh-CN" sz="2200" dirty="0">
                <a:ea typeface="宋体" panose="02010600030101010101" pitchFamily="2" charset="-122"/>
              </a:rPr>
              <a:t>shell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telnet</a:t>
            </a:r>
            <a:r>
              <a:rPr lang="zh-CN" altLang="zh-CN" sz="2200" dirty="0">
                <a:ea typeface="宋体" panose="02010600030101010101" pitchFamily="2" charset="-122"/>
              </a:rPr>
              <a:t>：远程登录工具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tftp</a:t>
            </a:r>
            <a:r>
              <a:rPr lang="zh-CN" altLang="zh-CN" sz="2200" dirty="0">
                <a:ea typeface="宋体" panose="02010600030101010101" pitchFamily="2" charset="-122"/>
              </a:rPr>
              <a:t>：简单文件传输协议客户端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tracepath</a:t>
            </a:r>
            <a:r>
              <a:rPr lang="zh-CN" altLang="zh-CN" sz="2200" dirty="0">
                <a:ea typeface="宋体" panose="02010600030101010101" pitchFamily="2" charset="-122"/>
              </a:rPr>
              <a:t>：追踪数据经过的路由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traceroute</a:t>
            </a:r>
            <a:r>
              <a:rPr lang="zh-CN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：追踪数据包到达目的主机经过的路由；</a:t>
            </a: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wget</a:t>
            </a:r>
            <a:r>
              <a:rPr lang="zh-CN" altLang="zh-CN" sz="2200" dirty="0">
                <a:ea typeface="宋体" panose="02010600030101010101" pitchFamily="2" charset="-122"/>
              </a:rPr>
              <a:t>：从指定</a:t>
            </a:r>
            <a:r>
              <a:rPr lang="en-US" altLang="zh-CN" sz="2200" dirty="0">
                <a:ea typeface="宋体" panose="02010600030101010101" pitchFamily="2" charset="-122"/>
              </a:rPr>
              <a:t>URL</a:t>
            </a:r>
            <a:r>
              <a:rPr lang="zh-CN" altLang="zh-CN" sz="2200" dirty="0">
                <a:ea typeface="宋体" panose="02010600030101010101" pitchFamily="2" charset="-122"/>
              </a:rPr>
              <a:t>地址下载文件；</a:t>
            </a:r>
          </a:p>
        </p:txBody>
      </p:sp>
    </p:spTree>
    <p:extLst>
      <p:ext uri="{BB962C8B-B14F-4D97-AF65-F5344CB8AC3E}">
        <p14:creationId xmlns:p14="http://schemas.microsoft.com/office/powerpoint/2010/main" val="4175721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A80BEB10-AB7F-226B-5C44-417E6B432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DD0D98A0-52AE-0D74-90B7-B945816F19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dirty="0">
                <a:ea typeface="宋体" panose="02010600030101010101" pitchFamily="2" charset="-122"/>
              </a:rPr>
              <a:t> 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十七、高级网络指令</a:t>
            </a:r>
          </a:p>
          <a:p>
            <a:pPr marL="715963" indent="-4302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arptables</a:t>
            </a:r>
            <a:r>
              <a:rPr lang="zh-CN" altLang="zh-CN" dirty="0">
                <a:ea typeface="宋体" panose="02010600030101010101" pitchFamily="2" charset="-122"/>
              </a:rPr>
              <a:t>：管理内核的</a:t>
            </a:r>
            <a:r>
              <a:rPr lang="en-US" altLang="zh-CN" dirty="0">
                <a:ea typeface="宋体" panose="02010600030101010101" pitchFamily="2" charset="-122"/>
              </a:rPr>
              <a:t>ARP</a:t>
            </a:r>
            <a:r>
              <a:rPr lang="zh-CN" altLang="zh-CN" dirty="0">
                <a:ea typeface="宋体" panose="02010600030101010101" pitchFamily="2" charset="-122"/>
              </a:rPr>
              <a:t>规则表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ip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：强大的多功能网络配置工具；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iptables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IP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包过滤与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NAT</a:t>
            </a:r>
            <a:r>
              <a:rPr lang="zh-CN" altLang="zh-CN" dirty="0">
                <a:solidFill>
                  <a:srgbClr val="FF0000"/>
                </a:solidFill>
                <a:ea typeface="宋体" panose="02010600030101010101" pitchFamily="2" charset="-122"/>
              </a:rPr>
              <a:t>管理工具；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iptables-save</a:t>
            </a:r>
            <a:r>
              <a:rPr lang="zh-CN" altLang="zh-CN" dirty="0">
                <a:ea typeface="宋体" panose="02010600030101010101" pitchFamily="2" charset="-122"/>
              </a:rPr>
              <a:t>：保存内核中</a:t>
            </a:r>
            <a:r>
              <a:rPr lang="en-US" altLang="zh-CN" dirty="0">
                <a:ea typeface="宋体" panose="02010600030101010101" pitchFamily="2" charset="-122"/>
              </a:rPr>
              <a:t>iptables</a:t>
            </a:r>
            <a:r>
              <a:rPr lang="zh-CN" altLang="zh-CN" dirty="0">
                <a:ea typeface="宋体" panose="02010600030101010101" pitchFamily="2" charset="-122"/>
              </a:rPr>
              <a:t>的配置 ；</a:t>
            </a:r>
            <a:endParaRPr lang="en-US" altLang="zh-CN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ea typeface="宋体" panose="02010600030101010101" pitchFamily="2" charset="-122"/>
              </a:rPr>
              <a:t>iptables-restore</a:t>
            </a:r>
            <a:r>
              <a:rPr lang="zh-CN" altLang="zh-CN" dirty="0">
                <a:ea typeface="宋体" panose="02010600030101010101" pitchFamily="2" charset="-122"/>
              </a:rPr>
              <a:t>：还原</a:t>
            </a:r>
            <a:r>
              <a:rPr lang="en-US" altLang="zh-CN" dirty="0">
                <a:ea typeface="宋体" panose="02010600030101010101" pitchFamily="2" charset="-122"/>
              </a:rPr>
              <a:t>iptables</a:t>
            </a:r>
            <a:r>
              <a:rPr lang="zh-CN" altLang="zh-CN" dirty="0">
                <a:ea typeface="宋体" panose="02010600030101010101" pitchFamily="2" charset="-122"/>
              </a:rPr>
              <a:t>的配置信息；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宋体" panose="02010600030101010101" pitchFamily="2" charset="-122"/>
              </a:rPr>
              <a:t>tcpdump</a:t>
            </a:r>
            <a:r>
              <a:rPr lang="zh-CN" altLang="zh-CN" dirty="0">
                <a:ea typeface="宋体" panose="02010600030101010101" pitchFamily="2" charset="-122"/>
              </a:rPr>
              <a:t>：监听网络流量；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0589FDE6-5AE4-5B35-3DCF-3B387285F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BE2211DD-9D82-70CD-735C-2743CBBDF2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2187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 十八、网络服务器指令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ab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Web</a:t>
            </a:r>
            <a:r>
              <a:rPr lang="zh-CN" altLang="zh-CN" sz="2200" dirty="0">
                <a:ea typeface="宋体" panose="02010600030101010101" pitchFamily="2" charset="-122"/>
              </a:rPr>
              <a:t>服务器性能测试；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apachectl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Apache HTTP</a:t>
            </a:r>
            <a:r>
              <a:rPr lang="zh-CN" altLang="zh-CN" sz="2200" dirty="0">
                <a:ea typeface="宋体" panose="02010600030101010101" pitchFamily="2" charset="-122"/>
              </a:rPr>
              <a:t>服务器控制接口；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exportfs</a:t>
            </a:r>
            <a:r>
              <a:rPr lang="zh-CN" altLang="zh-CN" sz="2200" dirty="0">
                <a:ea typeface="宋体" panose="02010600030101010101" pitchFamily="2" charset="-122"/>
              </a:rPr>
              <a:t>：管理</a:t>
            </a:r>
            <a:r>
              <a:rPr lang="en-US" altLang="zh-CN" sz="2200" dirty="0">
                <a:ea typeface="宋体" panose="02010600030101010101" pitchFamily="2" charset="-122"/>
              </a:rPr>
              <a:t>NFS</a:t>
            </a:r>
            <a:r>
              <a:rPr lang="zh-CN" altLang="zh-CN" sz="2200" dirty="0">
                <a:ea typeface="宋体" panose="02010600030101010101" pitchFamily="2" charset="-122"/>
              </a:rPr>
              <a:t>服务器共享的文件系统；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htdigest</a:t>
            </a:r>
            <a:r>
              <a:rPr lang="zh-CN" altLang="zh-CN" sz="2200" dirty="0">
                <a:ea typeface="宋体" panose="02010600030101010101" pitchFamily="2" charset="-122"/>
              </a:rPr>
              <a:t>：管理用于摘要认证的用户文件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htpasswd</a:t>
            </a:r>
            <a:r>
              <a:rPr lang="zh-CN" altLang="zh-CN" sz="2200" dirty="0">
                <a:ea typeface="宋体" panose="02010600030101010101" pitchFamily="2" charset="-122"/>
              </a:rPr>
              <a:t>：管理用于基本认证的用户文件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httpd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Apache</a:t>
            </a:r>
            <a:r>
              <a:rPr lang="zh-CN" altLang="zh-CN" sz="2200" dirty="0">
                <a:ea typeface="宋体" panose="02010600030101010101" pitchFamily="2" charset="-122"/>
              </a:rPr>
              <a:t>超文本传输协议服务器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mailq</a:t>
            </a:r>
            <a:r>
              <a:rPr lang="zh-CN" altLang="zh-CN" sz="2200" dirty="0">
                <a:ea typeface="宋体" panose="02010600030101010101" pitchFamily="2" charset="-122"/>
              </a:rPr>
              <a:t>：显示待发送的邮件队列；</a:t>
            </a:r>
            <a:r>
              <a:rPr lang="en-US" altLang="zh-CN" sz="2200" dirty="0">
                <a:ea typeface="宋体" panose="02010600030101010101" pitchFamily="2" charset="-122"/>
              </a:rPr>
              <a:t>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smbpasswd</a:t>
            </a:r>
            <a:r>
              <a:rPr lang="zh-CN" altLang="zh-CN" sz="2200" dirty="0">
                <a:ea typeface="宋体" panose="02010600030101010101" pitchFamily="2" charset="-122"/>
              </a:rPr>
              <a:t>：改变</a:t>
            </a:r>
            <a:r>
              <a:rPr lang="en-US" altLang="zh-CN" sz="2200" dirty="0">
                <a:ea typeface="宋体" panose="02010600030101010101" pitchFamily="2" charset="-122"/>
              </a:rPr>
              <a:t>samba</a:t>
            </a:r>
            <a:r>
              <a:rPr lang="zh-CN" altLang="zh-CN" sz="2200" dirty="0">
                <a:ea typeface="宋体" panose="02010600030101010101" pitchFamily="2" charset="-122"/>
              </a:rPr>
              <a:t>用户的密码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ea typeface="宋体" panose="02010600030101010101" pitchFamily="2" charset="-122"/>
              </a:rPr>
              <a:t>squid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HTTP</a:t>
            </a:r>
            <a:r>
              <a:rPr lang="zh-CN" altLang="zh-CN" sz="2200" dirty="0">
                <a:ea typeface="宋体" panose="02010600030101010101" pitchFamily="2" charset="-122"/>
              </a:rPr>
              <a:t>代理服务器程序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sshd</a:t>
            </a:r>
            <a:r>
              <a:rPr lang="zh-CN" altLang="zh-CN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OpenSSH</a:t>
            </a:r>
            <a:r>
              <a:rPr lang="zh-CN" altLang="zh-CN" sz="2200" dirty="0">
                <a:ea typeface="宋体" panose="02010600030101010101" pitchFamily="2" charset="-122"/>
              </a:rPr>
              <a:t>守护进程；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A31AC-34CD-E9F4-941E-190C9688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F82D8381-3083-71E0-24B9-AF53A5483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161E198F-D3E6-4EE3-E3EB-B709A828E1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29071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 十八、网络服务器指令 </a:t>
            </a: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mysql</a:t>
            </a:r>
            <a:r>
              <a:rPr lang="zh-CN" altLang="en-US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MySQL</a:t>
            </a:r>
            <a:r>
              <a:rPr lang="zh-CN" altLang="en-US" sz="2200" dirty="0">
                <a:ea typeface="宋体" panose="02010600030101010101" pitchFamily="2" charset="-122"/>
              </a:rPr>
              <a:t>服务器的客户端工具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mysqladmin</a:t>
            </a:r>
            <a:r>
              <a:rPr lang="zh-CN" altLang="en-US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MySQL</a:t>
            </a:r>
            <a:r>
              <a:rPr lang="zh-CN" altLang="en-US" sz="2200" dirty="0">
                <a:ea typeface="宋体" panose="02010600030101010101" pitchFamily="2" charset="-122"/>
              </a:rPr>
              <a:t>服务器管理工具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msqldump</a:t>
            </a:r>
            <a:r>
              <a:rPr lang="zh-CN" altLang="en-US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MySQL</a:t>
            </a:r>
            <a:r>
              <a:rPr lang="zh-CN" altLang="en-US" sz="2200" dirty="0">
                <a:ea typeface="宋体" panose="02010600030101010101" pitchFamily="2" charset="-122"/>
              </a:rPr>
              <a:t>服务器备份工具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mysqlimport</a:t>
            </a:r>
            <a:r>
              <a:rPr lang="zh-CN" altLang="en-US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MySQL</a:t>
            </a:r>
            <a:r>
              <a:rPr lang="zh-CN" altLang="en-US" sz="2200" dirty="0">
                <a:ea typeface="宋体" panose="02010600030101010101" pitchFamily="2" charset="-122"/>
              </a:rPr>
              <a:t>数据库导入工具； 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mysqlshow</a:t>
            </a:r>
            <a:r>
              <a:rPr lang="zh-CN" altLang="en-US" sz="2200" dirty="0">
                <a:ea typeface="宋体" panose="02010600030101010101" pitchFamily="2" charset="-122"/>
              </a:rPr>
              <a:t>：显示</a:t>
            </a:r>
            <a:r>
              <a:rPr lang="en-US" altLang="zh-CN" sz="2200" dirty="0">
                <a:ea typeface="宋体" panose="02010600030101010101" pitchFamily="2" charset="-122"/>
              </a:rPr>
              <a:t>MySQL</a:t>
            </a:r>
            <a:r>
              <a:rPr lang="zh-CN" altLang="en-US" sz="2200" dirty="0">
                <a:ea typeface="宋体" panose="02010600030101010101" pitchFamily="2" charset="-122"/>
              </a:rPr>
              <a:t>数据库、表和字段信息；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nfsstat</a:t>
            </a:r>
            <a:r>
              <a:rPr lang="zh-CN" altLang="en-US" sz="2200" dirty="0">
                <a:ea typeface="宋体" panose="02010600030101010101" pitchFamily="2" charset="-122"/>
              </a:rPr>
              <a:t>：显示网络文件系统状态； 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sendmail</a:t>
            </a:r>
            <a:r>
              <a:rPr lang="zh-CN" altLang="en-US" sz="2200" dirty="0">
                <a:ea typeface="宋体" panose="02010600030101010101" pitchFamily="2" charset="-122"/>
              </a:rPr>
              <a:t>：电子邮件传送代理程序； 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showmount</a:t>
            </a:r>
            <a:r>
              <a:rPr lang="zh-CN" altLang="en-US" sz="2200" dirty="0">
                <a:ea typeface="宋体" panose="02010600030101010101" pitchFamily="2" charset="-122"/>
              </a:rPr>
              <a:t>：显示</a:t>
            </a:r>
            <a:r>
              <a:rPr lang="en-US" altLang="zh-CN" sz="2200" dirty="0">
                <a:ea typeface="宋体" panose="02010600030101010101" pitchFamily="2" charset="-122"/>
              </a:rPr>
              <a:t>NFS</a:t>
            </a:r>
            <a:r>
              <a:rPr lang="zh-CN" altLang="en-US" sz="2200" dirty="0">
                <a:ea typeface="宋体" panose="02010600030101010101" pitchFamily="2" charset="-122"/>
              </a:rPr>
              <a:t>服务器上的加载信息 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smbclient</a:t>
            </a:r>
            <a:r>
              <a:rPr lang="zh-CN" altLang="en-US" sz="2200" dirty="0">
                <a:ea typeface="宋体" panose="02010600030101010101" pitchFamily="2" charset="-122"/>
              </a:rPr>
              <a:t>：</a:t>
            </a:r>
            <a:r>
              <a:rPr lang="en-US" altLang="zh-CN" sz="2200" dirty="0">
                <a:ea typeface="宋体" panose="02010600030101010101" pitchFamily="2" charset="-122"/>
              </a:rPr>
              <a:t>samba</a:t>
            </a:r>
            <a:r>
              <a:rPr lang="zh-CN" altLang="en-US" sz="2200" dirty="0">
                <a:ea typeface="宋体" panose="02010600030101010101" pitchFamily="2" charset="-122"/>
              </a:rPr>
              <a:t>服务器客户端工具；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715963" indent="-430213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ea typeface="宋体" panose="02010600030101010101" pitchFamily="2" charset="-122"/>
              </a:rPr>
              <a:t>smbmount</a:t>
            </a:r>
            <a:r>
              <a:rPr lang="zh-CN" altLang="en-US" sz="2200" dirty="0">
                <a:ea typeface="宋体" panose="02010600030101010101" pitchFamily="2" charset="-122"/>
              </a:rPr>
              <a:t>：加载</a:t>
            </a:r>
            <a:r>
              <a:rPr lang="en-US" altLang="zh-CN" sz="2200" dirty="0">
                <a:ea typeface="宋体" panose="02010600030101010101" pitchFamily="2" charset="-122"/>
              </a:rPr>
              <a:t>samba</a:t>
            </a:r>
            <a:r>
              <a:rPr lang="zh-CN" altLang="en-US" sz="2200" dirty="0">
                <a:ea typeface="宋体" panose="02010600030101010101" pitchFamily="2" charset="-122"/>
              </a:rPr>
              <a:t>文件系统； 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956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77DDD83F-9A05-63B1-1ABC-134DFDE5A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9BA54E95-341C-13C5-7355-A6D59E34DA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Linux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系统中有大量的命令，而且许多命令又有众多选项或参数，要想全部记住它们相当困难。</a:t>
            </a:r>
            <a:r>
              <a:rPr lang="zh-CN" altLang="zh-CN" dirty="0">
                <a:ea typeface="宋体" panose="02010600030101010101" pitchFamily="2" charset="-122"/>
              </a:rPr>
              <a:t>对大多数用户来说，也没有必要这样做，因为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用户常用的命令是整个命令集合中的一个子集。</a:t>
            </a:r>
            <a:r>
              <a:rPr lang="zh-CN" altLang="zh-CN" dirty="0">
                <a:ea typeface="宋体" panose="02010600030101010101" pitchFamily="2" charset="-122"/>
              </a:rPr>
              <a:t>硬性记忆命令很难，但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提供了联机帮助手册，利用它，可以方便地查看所有命令的完整说明，包括命令语法、各选项的意义及相关命令等。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D8209C6A-D86D-FA72-FE12-93DE9AD56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505B2A71-73CA-3367-F1E0-180D8C6E45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buNone/>
            </a:pPr>
            <a:r>
              <a:rPr lang="en-US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 man</a:t>
            </a:r>
            <a:r>
              <a:rPr lang="zh-CN" altLang="zh-CN" sz="2800" b="1" dirty="0">
                <a:solidFill>
                  <a:srgbClr val="0066FF"/>
                </a:solidFill>
                <a:ea typeface="宋体" panose="02010600030101010101" pitchFamily="2" charset="-122"/>
              </a:rPr>
              <a:t>命令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man</a:t>
            </a:r>
            <a:r>
              <a:rPr lang="zh-CN" altLang="zh-CN" dirty="0">
                <a:ea typeface="宋体" panose="02010600030101010101" pitchFamily="2" charset="-122"/>
              </a:rPr>
              <a:t>是英文单词“</a:t>
            </a:r>
            <a:r>
              <a:rPr lang="en-US" altLang="zh-CN" dirty="0">
                <a:ea typeface="宋体" panose="02010600030101010101" pitchFamily="2" charset="-122"/>
              </a:rPr>
              <a:t>manual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zh-CN" altLang="zh-CN" dirty="0">
                <a:ea typeface="宋体" panose="02010600030101010101" pitchFamily="2" charset="-122"/>
              </a:rPr>
              <a:t>手册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r>
              <a:rPr lang="zh-CN" altLang="zh-CN" dirty="0">
                <a:ea typeface="宋体" panose="02010600030101010101" pitchFamily="2" charset="-122"/>
              </a:rPr>
              <a:t>”的缩写。该命令可以格式化并显示某一命令联机帮助手册页。通常，</a:t>
            </a:r>
            <a:r>
              <a:rPr lang="zh-CN" altLang="zh-CN" b="1" dirty="0">
                <a:ea typeface="宋体" panose="02010600030101010101" pitchFamily="2" charset="-122"/>
              </a:rPr>
              <a:t>用户只要在命令</a:t>
            </a:r>
            <a:r>
              <a:rPr lang="en-US" altLang="zh-CN" b="1" dirty="0">
                <a:ea typeface="宋体" panose="02010600030101010101" pitchFamily="2" charset="-122"/>
              </a:rPr>
              <a:t>man</a:t>
            </a:r>
            <a:r>
              <a:rPr lang="zh-CN" altLang="zh-CN" b="1" dirty="0">
                <a:ea typeface="宋体" panose="02010600030101010101" pitchFamily="2" charset="-122"/>
              </a:rPr>
              <a:t>之后输入想了解其用法的命令名</a:t>
            </a:r>
            <a:r>
              <a:rPr lang="zh-CN" altLang="zh-CN" dirty="0">
                <a:ea typeface="宋体" panose="02010600030101010101" pitchFamily="2" charset="-122"/>
              </a:rPr>
              <a:t>（例如，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man cat</a:t>
            </a:r>
            <a:r>
              <a:rPr lang="en-US" altLang="zh-CN" dirty="0">
                <a:ea typeface="宋体" panose="02010600030101010101" pitchFamily="2" charset="-122"/>
              </a:rPr>
              <a:t>),man</a:t>
            </a:r>
            <a:r>
              <a:rPr lang="zh-CN" altLang="zh-CN" dirty="0">
                <a:ea typeface="宋体" panose="02010600030101010101" pitchFamily="2" charset="-122"/>
              </a:rPr>
              <a:t>命令就会在屏幕上列出一份完整的说明。 所有用户都可以通过</a:t>
            </a:r>
            <a:r>
              <a:rPr lang="en-US" altLang="zh-CN" dirty="0">
                <a:ea typeface="宋体" panose="02010600030101010101" pitchFamily="2" charset="-122"/>
              </a:rPr>
              <a:t>man</a:t>
            </a:r>
            <a:r>
              <a:rPr lang="zh-CN" altLang="zh-CN" dirty="0">
                <a:ea typeface="宋体" panose="02010600030101010101" pitchFamily="2" charset="-122"/>
              </a:rPr>
              <a:t>命令使用</a:t>
            </a:r>
            <a:r>
              <a:rPr lang="en-US" altLang="zh-CN" dirty="0" err="1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的联机用户手册，包括《操作系统用户手册》的全部内容。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329B20BE-3717-6004-E1C0-BE65817EA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C166DDD1-EB2A-5C57-0846-1182EE8FB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80728"/>
            <a:ext cx="8291264" cy="58326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zh-CN" altLang="zh-CN" sz="2000" dirty="0">
                <a:ea typeface="宋体" panose="02010600030101010101" pitchFamily="2" charset="-122"/>
              </a:rPr>
              <a:t>在联机手册中，常用的命令说明格式如下：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</a:t>
            </a:r>
            <a:r>
              <a:rPr lang="zh-CN" altLang="zh-CN" sz="2000" dirty="0">
                <a:ea typeface="宋体" panose="02010600030101010101" pitchFamily="2" charset="-122"/>
              </a:rPr>
              <a:t>部分表示命令的名称和用法。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Synopsis</a:t>
            </a:r>
            <a:r>
              <a:rPr lang="zh-CN" altLang="zh-CN" sz="2000" dirty="0">
                <a:ea typeface="宋体" panose="02010600030101010101" pitchFamily="2" charset="-122"/>
              </a:rPr>
              <a:t>显示命令的语法格式，列出其所有可供使用选项及参数，说明如何使用该命令。方括号中的内容是可选的。 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Description</a:t>
            </a:r>
            <a:r>
              <a:rPr lang="zh-CN" altLang="zh-CN" sz="2000" dirty="0">
                <a:ea typeface="宋体" panose="02010600030101010101" pitchFamily="2" charset="-122"/>
              </a:rPr>
              <a:t>部分描述命令的详细用法及每个选项的功能。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Retum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value</a:t>
            </a:r>
            <a:r>
              <a:rPr lang="zh-CN" altLang="zh-CN" sz="2000" dirty="0">
                <a:ea typeface="宋体" panose="02010600030101010101" pitchFamily="2" charset="-122"/>
              </a:rPr>
              <a:t>在说明函数的手册页中，说明函数返回值的类型，也可能包括出错时返回的特定值。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Examples</a:t>
            </a:r>
            <a:r>
              <a:rPr lang="zh-CN" altLang="zh-CN" sz="2000" dirty="0">
                <a:ea typeface="宋体" panose="02010600030101010101" pitchFamily="2" charset="-122"/>
              </a:rPr>
              <a:t>部分给出命令执行方式的典型示例。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See Also</a:t>
            </a:r>
            <a:r>
              <a:rPr lang="zh-CN" altLang="zh-CN" sz="2000" dirty="0">
                <a:ea typeface="宋体" panose="02010600030101010101" pitchFamily="2" charset="-122"/>
              </a:rPr>
              <a:t>部分说明命令的其他方面或对命令的其他解释。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Warning</a:t>
            </a:r>
            <a:r>
              <a:rPr lang="zh-CN" altLang="zh-CN" sz="2000" dirty="0">
                <a:ea typeface="宋体" panose="02010600030101010101" pitchFamily="2" charset="-122"/>
              </a:rPr>
              <a:t>部分描述使用命令时可能会遇到的特殊问题。</a:t>
            </a:r>
          </a:p>
          <a:p>
            <a:pPr marL="715963" indent="-430213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Bugs</a:t>
            </a:r>
            <a:r>
              <a:rPr lang="zh-CN" altLang="zh-CN" sz="2000" dirty="0">
                <a:ea typeface="宋体" panose="02010600030101010101" pitchFamily="2" charset="-122"/>
              </a:rPr>
              <a:t>列出任何已知的缺点及隐含的错误。 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注：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通过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man</a:t>
            </a: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命令，可以显示系统中各个命令的用法。它将命令名称为参数。如果在命令行参数中指定了特定命令名称，该命令会显示关于这条命令的手册页。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0C3F27B8-48E8-1C47-0B26-492745380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9A9DEA4D-2B63-354C-F403-1EFDE6CAC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3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dirty="0">
                <a:ea typeface="宋体" panose="02010600030101010101" pitchFamily="2" charset="-122"/>
              </a:rPr>
              <a:t>例如，下面的命令行将显示</a:t>
            </a:r>
            <a:r>
              <a:rPr lang="en-US" altLang="zh-CN" dirty="0" err="1">
                <a:ea typeface="宋体" panose="02010600030101010101" pitchFamily="2" charset="-122"/>
              </a:rPr>
              <a:t>cal</a:t>
            </a:r>
            <a:r>
              <a:rPr lang="zh-CN" altLang="zh-CN" dirty="0">
                <a:ea typeface="宋体" panose="02010600030101010101" pitchFamily="2" charset="-122"/>
              </a:rPr>
              <a:t>命令的手册页： </a:t>
            </a:r>
            <a:endParaRPr lang="zh-CN" altLang="zh-CN" sz="2000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# man </a:t>
            </a:r>
            <a:r>
              <a:rPr lang="en-US" altLang="zh-CN" dirty="0" err="1">
                <a:ea typeface="宋体" panose="02010600030101010101" pitchFamily="2" charset="-122"/>
              </a:rPr>
              <a:t>cal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注：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如果没有特别指定命令名称，该命令会显示所有的手册页。如果只想获得对系统某一部分使用的帮助，可以用适当的缩写形式指定需要获得的某一方面的信息。</a:t>
            </a:r>
          </a:p>
          <a:p>
            <a:r>
              <a:rPr lang="zh-CN" altLang="zh-CN" dirty="0">
                <a:ea typeface="宋体" panose="02010600030101010101" pitchFamily="2" charset="-122"/>
              </a:rPr>
              <a:t>例如，如果想从硬件部分中了解有关硬盘的联机帮助信息，可以输入： </a:t>
            </a:r>
            <a:endParaRPr lang="zh-CN" altLang="zh-CN" sz="2000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# man </a:t>
            </a:r>
            <a:r>
              <a:rPr lang="en-US" altLang="zh-CN" dirty="0" err="1">
                <a:ea typeface="宋体" panose="02010600030101010101" pitchFamily="2" charset="-122"/>
              </a:rPr>
              <a:t>hd</a:t>
            </a:r>
            <a:endParaRPr lang="zh-CN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9DB2D057-C74C-0B0C-0F5F-F8367ECC0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F82002A4-3F15-D8D6-D550-8FB2AB2EE7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3627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zh-CN" b="1" dirty="0">
                <a:ea typeface="宋体" panose="02010600030101010101" pitchFamily="2" charset="-122"/>
              </a:rPr>
              <a:t>一般格式：</a:t>
            </a:r>
            <a:r>
              <a:rPr lang="en-US" altLang="zh-CN" b="1" dirty="0">
                <a:ea typeface="宋体" panose="02010600030101010101" pitchFamily="2" charset="-122"/>
              </a:rPr>
              <a:t>man [</a:t>
            </a:r>
            <a:r>
              <a:rPr lang="zh-CN" altLang="zh-CN" b="1" dirty="0">
                <a:ea typeface="宋体" panose="02010600030101010101" pitchFamily="2" charset="-122"/>
              </a:rPr>
              <a:t>选项</a:t>
            </a:r>
            <a:r>
              <a:rPr lang="en-US" altLang="zh-CN" b="1" dirty="0">
                <a:ea typeface="宋体" panose="02010600030101010101" pitchFamily="2" charset="-122"/>
              </a:rPr>
              <a:t>] </a:t>
            </a:r>
            <a:r>
              <a:rPr lang="zh-CN" altLang="zh-CN" b="1" dirty="0">
                <a:ea typeface="宋体" panose="02010600030101010101" pitchFamily="2" charset="-122"/>
              </a:rPr>
              <a:t>命令名 选项： 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-M </a:t>
            </a:r>
            <a:r>
              <a:rPr lang="zh-CN" altLang="zh-CN" sz="1800" dirty="0">
                <a:ea typeface="宋体" panose="02010600030101010101" pitchFamily="2" charset="-122"/>
              </a:rPr>
              <a:t>路径</a:t>
            </a:r>
            <a:r>
              <a:rPr lang="en-US" altLang="zh-CN" sz="1800" dirty="0">
                <a:ea typeface="宋体" panose="02010600030101010101" pitchFamily="2" charset="-122"/>
              </a:rPr>
              <a:t>,</a:t>
            </a:r>
            <a:r>
              <a:rPr lang="zh-CN" altLang="zh-CN" sz="1800" dirty="0">
                <a:ea typeface="宋体" panose="02010600030101010101" pitchFamily="2" charset="-122"/>
              </a:rPr>
              <a:t>指定查找</a:t>
            </a:r>
            <a:r>
              <a:rPr lang="en-US" altLang="zh-CN" sz="1800" dirty="0">
                <a:ea typeface="宋体" panose="02010600030101010101" pitchFamily="2" charset="-122"/>
              </a:rPr>
              <a:t>man</a:t>
            </a:r>
            <a:r>
              <a:rPr lang="zh-CN" altLang="zh-CN" sz="1800" dirty="0">
                <a:ea typeface="宋体" panose="02010600030101010101" pitchFamily="2" charset="-122"/>
              </a:rPr>
              <a:t>手册页的路径。如果没有这个选项，将使用环境变量</a:t>
            </a:r>
            <a:r>
              <a:rPr lang="en-US" altLang="zh-CN" sz="1800" dirty="0">
                <a:ea typeface="宋体" panose="02010600030101010101" pitchFamily="2" charset="-122"/>
              </a:rPr>
              <a:t>MANPATH</a:t>
            </a:r>
            <a:r>
              <a:rPr lang="zh-CN" altLang="zh-CN" sz="1800" dirty="0">
                <a:ea typeface="宋体" panose="02010600030101010101" pitchFamily="2" charset="-122"/>
              </a:rPr>
              <a:t>指定的路径。如果没有设置</a:t>
            </a:r>
            <a:r>
              <a:rPr lang="en-US" altLang="zh-CN" sz="1800" dirty="0">
                <a:ea typeface="宋体" panose="02010600030101010101" pitchFamily="2" charset="-122"/>
              </a:rPr>
              <a:t>MANPATH</a:t>
            </a:r>
            <a:r>
              <a:rPr lang="zh-CN" altLang="zh-CN" sz="1800" dirty="0">
                <a:ea typeface="宋体" panose="02010600030101010101" pitchFamily="2" charset="-122"/>
              </a:rPr>
              <a:t>变量，就查看</a:t>
            </a:r>
            <a:r>
              <a:rPr lang="en-US" altLang="zh-CN" sz="1800" dirty="0"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a typeface="宋体" panose="02010600030101010101" pitchFamily="2" charset="-122"/>
              </a:rPr>
              <a:t>usr</a:t>
            </a:r>
            <a:r>
              <a:rPr lang="en-US" altLang="zh-CN" sz="1800" dirty="0">
                <a:ea typeface="宋体" panose="02010600030101010101" pitchFamily="2" charset="-122"/>
              </a:rPr>
              <a:t>/share/</a:t>
            </a:r>
            <a:r>
              <a:rPr lang="en-US" altLang="zh-CN" sz="1800" dirty="0" err="1">
                <a:ea typeface="宋体" panose="02010600030101010101" pitchFamily="2" charset="-122"/>
              </a:rPr>
              <a:t>misc</a:t>
            </a:r>
            <a:r>
              <a:rPr lang="en-US" altLang="zh-CN" sz="1800" dirty="0"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a typeface="宋体" panose="02010600030101010101" pitchFamily="2" charset="-122"/>
              </a:rPr>
              <a:t>man.conf</a:t>
            </a:r>
            <a:r>
              <a:rPr lang="zh-CN" altLang="zh-CN" sz="1800" dirty="0">
                <a:ea typeface="宋体" panose="02010600030101010101" pitchFamily="2" charset="-122"/>
              </a:rPr>
              <a:t>文件中关于</a:t>
            </a:r>
            <a:r>
              <a:rPr lang="en-US" altLang="zh-CN" sz="1800" dirty="0">
                <a:ea typeface="宋体" panose="02010600030101010101" pitchFamily="2" charset="-122"/>
              </a:rPr>
              <a:t>man</a:t>
            </a:r>
            <a:r>
              <a:rPr lang="zh-CN" altLang="zh-CN" sz="1800" dirty="0">
                <a:ea typeface="宋体" panose="02010600030101010101" pitchFamily="2" charset="-122"/>
              </a:rPr>
              <a:t>手册页的位置。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-P </a:t>
            </a:r>
            <a:r>
              <a:rPr lang="zh-CN" altLang="zh-CN" sz="1800" dirty="0">
                <a:ea typeface="宋体" panose="02010600030101010101" pitchFamily="2" charset="-122"/>
              </a:rPr>
              <a:t>命令指定显示手册所使用的分页程序。默认使用</a:t>
            </a:r>
            <a:r>
              <a:rPr lang="en-US" altLang="zh-CN" sz="1800" dirty="0"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a typeface="宋体" panose="02010600030101010101" pitchFamily="2" charset="-122"/>
              </a:rPr>
              <a:t>usr</a:t>
            </a:r>
            <a:r>
              <a:rPr lang="en-US" altLang="zh-CN" sz="1800" dirty="0">
                <a:ea typeface="宋体" panose="02010600030101010101" pitchFamily="2" charset="-122"/>
              </a:rPr>
              <a:t>/bin/less-is</a:t>
            </a:r>
            <a:r>
              <a:rPr lang="zh-CN" altLang="zh-CN" sz="1800" dirty="0">
                <a:ea typeface="宋体" panose="02010600030101010101" pitchFamily="2" charset="-122"/>
              </a:rPr>
              <a:t>。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-S </a:t>
            </a:r>
            <a:r>
              <a:rPr lang="zh-CN" altLang="zh-CN" sz="1800" dirty="0">
                <a:ea typeface="宋体" panose="02010600030101010101" pitchFamily="2" charset="-122"/>
              </a:rPr>
              <a:t>章节指定查找手册也的章节列表。该列表是由表示各命令类别的章节号和分割它们“</a:t>
            </a:r>
            <a:r>
              <a:rPr lang="en-US" altLang="zh-CN" sz="1800" dirty="0">
                <a:ea typeface="宋体" panose="02010600030101010101" pitchFamily="2" charset="-122"/>
              </a:rPr>
              <a:t>:</a:t>
            </a:r>
            <a:r>
              <a:rPr lang="zh-CN" altLang="zh-CN" sz="1800" dirty="0">
                <a:ea typeface="宋体" panose="02010600030101010101" pitchFamily="2" charset="-122"/>
              </a:rPr>
              <a:t>”组成。手册中的章节见表。 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-a </a:t>
            </a:r>
            <a:r>
              <a:rPr lang="zh-CN" altLang="zh-CN" sz="1800" dirty="0">
                <a:ea typeface="宋体" panose="02010600030101010101" pitchFamily="2" charset="-122"/>
              </a:rPr>
              <a:t>显示所有的手册页，而不是只显示第一处找到的。 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-d </a:t>
            </a:r>
            <a:r>
              <a:rPr lang="zh-CN" altLang="zh-CN" sz="1800" dirty="0">
                <a:ea typeface="宋体" panose="02010600030101010101" pitchFamily="2" charset="-122"/>
              </a:rPr>
              <a:t>这个选项主要在检查时使用。如果用户加入了新的手册页，就可以用这个选项检查手册页的安装情况。这个选项并不显示手册页的内容。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-D </a:t>
            </a:r>
            <a:r>
              <a:rPr lang="zh-CN" altLang="zh-CN" sz="1800" dirty="0">
                <a:ea typeface="宋体" panose="02010600030101010101" pitchFamily="2" charset="-122"/>
              </a:rPr>
              <a:t>既显示手册页内容，也显示检查信息。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-f </a:t>
            </a:r>
            <a:r>
              <a:rPr lang="zh-CN" altLang="zh-CN" sz="1800" dirty="0">
                <a:ea typeface="宋体" panose="02010600030101010101" pitchFamily="2" charset="-122"/>
              </a:rPr>
              <a:t>只显示出命令的功能而不显示其中详细的说明文件。 </a:t>
            </a:r>
          </a:p>
          <a:p>
            <a:pPr marL="715963" indent="-430213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-w </a:t>
            </a:r>
            <a:r>
              <a:rPr lang="zh-CN" altLang="zh-CN" sz="1800" dirty="0">
                <a:ea typeface="宋体" panose="02010600030101010101" pitchFamily="2" charset="-122"/>
              </a:rPr>
              <a:t>不显示手册页，只显示将被格式化和显示的文件所在的位置。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8F38FE28-CD7C-A017-17E3-22B77A37C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系统的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38CBF20-CFFB-6D24-7384-756A4FDBBD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090612"/>
            <a:ext cx="8229600" cy="543473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zh-CN" altLang="zh-CN" dirty="0">
                <a:ea typeface="宋体" panose="02010600030101010101" pitchFamily="2" charset="-122"/>
              </a:rPr>
              <a:t>示例：查看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date</a:t>
            </a:r>
            <a:r>
              <a:rPr lang="zh-CN" altLang="zh-CN" dirty="0">
                <a:ea typeface="宋体" panose="02010600030101010101" pitchFamily="2" charset="-122"/>
              </a:rPr>
              <a:t>命令的用法：</a:t>
            </a:r>
            <a:r>
              <a:rPr lang="en-US" altLang="zh-CN" dirty="0">
                <a:ea typeface="宋体" panose="02010600030101010101" pitchFamily="2" charset="-122"/>
              </a:rPr>
              <a:t> #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date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help</a:t>
            </a:r>
            <a:r>
              <a:rPr lang="zh-CN" altLang="zh-CN" dirty="0">
                <a:ea typeface="宋体" panose="02010600030101010101" pitchFamily="2" charset="-122"/>
              </a:rPr>
              <a:t>命令 </a:t>
            </a:r>
            <a:endParaRPr lang="zh-CN" altLang="zh-CN" sz="2000" dirty="0"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help</a:t>
            </a:r>
            <a:r>
              <a:rPr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</a:t>
            </a: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help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命令用来</a:t>
            </a:r>
            <a:r>
              <a:rPr lang="zh-CN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查看所有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zh-CN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内置命令</a:t>
            </a:r>
            <a:r>
              <a:rPr lang="zh-CN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的帮助信息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对接收的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命令进行解释并予以执行。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有些命令构造在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内部，从而在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环境内部执行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这种命令称为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内置命令（也称内部命令）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。如果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help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命令后面不带任何参数，则显示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help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命令的用法，列出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内置命令列表。 </a:t>
            </a:r>
            <a:endParaRPr lang="zh-CN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altLang="zh-CN" dirty="0">
                <a:ea typeface="宋体" panose="02010600030101010101" pitchFamily="2" charset="-122"/>
              </a:rPr>
              <a:t>     </a:t>
            </a:r>
            <a:r>
              <a:rPr lang="zh-CN" altLang="zh-CN" dirty="0">
                <a:ea typeface="宋体" panose="02010600030101010101" pitchFamily="2" charset="-122"/>
              </a:rPr>
              <a:t>一般格式：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help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zh-CN" dirty="0">
                <a:ea typeface="宋体" panose="02010600030101010101" pitchFamily="2" charset="-122"/>
              </a:rPr>
              <a:t>命令示例：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ea typeface="宋体" panose="02010600030101010101" pitchFamily="2" charset="-122"/>
              </a:rPr>
              <a:t>命令是一个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zh-CN" altLang="zh-CN" dirty="0">
                <a:ea typeface="宋体" panose="02010600030101010101" pitchFamily="2" charset="-122"/>
              </a:rPr>
              <a:t>内置命令，列出其帮助信息：</a:t>
            </a:r>
            <a:r>
              <a:rPr lang="en-US" altLang="zh-CN" dirty="0">
                <a:ea typeface="宋体" panose="02010600030101010101" pitchFamily="2" charset="-122"/>
              </a:rPr>
              <a:t> #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help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82B04251-973C-D939-FD90-728B77476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Linux</a:t>
            </a:r>
            <a:r>
              <a:rPr lang="zh-CN" altLang="en-US">
                <a:ea typeface="宋体" panose="02010600030101010101" pitchFamily="2" charset="-122"/>
              </a:rPr>
              <a:t>系统的</a:t>
            </a:r>
            <a:r>
              <a:rPr lang="en-US" altLang="zh-CN">
                <a:ea typeface="宋体" panose="02010600030101010101" pitchFamily="2" charset="-122"/>
              </a:rPr>
              <a:t>shell</a:t>
            </a:r>
            <a:r>
              <a:rPr lang="zh-CN" altLang="en-US">
                <a:ea typeface="宋体" panose="02010600030101010101" pitchFamily="2" charset="-122"/>
              </a:rPr>
              <a:t>命令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D47F6843-77FF-7B8C-D950-CFCC5DCAE8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544" y="980728"/>
            <a:ext cx="8229600" cy="52187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>
                <a:ea typeface="宋体" panose="02010600030101010101" pitchFamily="2" charset="-122"/>
              </a:rPr>
              <a:t>经过</a:t>
            </a:r>
            <a:r>
              <a:rPr lang="zh-CN" altLang="en-US" sz="2000" dirty="0">
                <a:ea typeface="宋体" panose="02010600030101010101" pitchFamily="2" charset="-122"/>
              </a:rPr>
              <a:t>上述</a:t>
            </a:r>
            <a:r>
              <a:rPr lang="zh-CN" altLang="zh-CN" sz="2000" dirty="0">
                <a:ea typeface="宋体" panose="02010600030101010101" pitchFamily="2" charset="-122"/>
              </a:rPr>
              <a:t>学习相信</a:t>
            </a:r>
            <a:r>
              <a:rPr lang="zh-CN" altLang="en-US" sz="2000" dirty="0">
                <a:ea typeface="宋体" panose="02010600030101010101" pitchFamily="2" charset="-122"/>
              </a:rPr>
              <a:t>大家</a:t>
            </a:r>
            <a:r>
              <a:rPr lang="zh-CN" altLang="zh-CN" sz="2000" dirty="0">
                <a:ea typeface="宋体" panose="02010600030101010101" pitchFamily="2" charset="-122"/>
              </a:rPr>
              <a:t>对于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系统已经有了初步的了解，为</a:t>
            </a:r>
            <a:r>
              <a:rPr lang="zh-CN" altLang="en-US" sz="2000" dirty="0">
                <a:ea typeface="宋体" panose="02010600030101010101" pitchFamily="2" charset="-122"/>
              </a:rPr>
              <a:t>后续具体的</a:t>
            </a:r>
            <a:r>
              <a:rPr lang="zh-CN" altLang="zh-CN" sz="2000" dirty="0">
                <a:ea typeface="宋体" panose="02010600030101010101" pitchFamily="2" charset="-122"/>
              </a:rPr>
              <a:t>知识学习起到抛砖引玉的作用。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>
                <a:ea typeface="宋体" panose="02010600030101010101" pitchFamily="2" charset="-122"/>
              </a:rPr>
              <a:t>本章的知识比较基础性，从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的特性开始让初学者了解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系统，之后介绍了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系统的常用版本如</a:t>
            </a:r>
            <a:r>
              <a:rPr lang="en-US" altLang="zh-CN" sz="2000" dirty="0">
                <a:ea typeface="宋体" panose="02010600030101010101" pitchFamily="2" charset="-122"/>
              </a:rPr>
              <a:t>Centos</a:t>
            </a:r>
            <a:r>
              <a:rPr lang="zh-CN" altLang="zh-CN" sz="2000" dirty="0"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ea typeface="宋体" panose="02010600030101010101" pitchFamily="2" charset="-122"/>
              </a:rPr>
              <a:t>Ubuntu</a:t>
            </a:r>
            <a:r>
              <a:rPr lang="zh-CN" altLang="zh-CN" sz="2000" dirty="0">
                <a:ea typeface="宋体" panose="02010600030101010101" pitchFamily="2" charset="-122"/>
              </a:rPr>
              <a:t>等，介绍了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系统版本与内核版本的发展过程。除此之外本章主同时介绍了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系统的文件目录结构。最后作为最关键的一点就是对于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系统的操作，所以对于操作</a:t>
            </a:r>
            <a:r>
              <a:rPr lang="en-US" altLang="zh-CN" sz="2000" b="1" dirty="0">
                <a:ea typeface="宋体" panose="02010600030101010101" pitchFamily="2" charset="-122"/>
              </a:rPr>
              <a:t>Linux</a:t>
            </a:r>
            <a:r>
              <a:rPr lang="zh-CN" altLang="zh-CN" sz="2000" b="1" dirty="0">
                <a:ea typeface="宋体" panose="02010600030101010101" pitchFamily="2" charset="-122"/>
              </a:rPr>
              <a:t>系统的操作工具</a:t>
            </a:r>
            <a:r>
              <a:rPr lang="en-US" altLang="zh-CN" sz="2000" b="1" dirty="0">
                <a:ea typeface="宋体" panose="02010600030101010101" pitchFamily="2" charset="-122"/>
              </a:rPr>
              <a:t>Shell</a:t>
            </a:r>
            <a:r>
              <a:rPr lang="zh-CN" altLang="zh-CN" sz="2000" b="1" dirty="0">
                <a:ea typeface="宋体" panose="02010600030101010101" pitchFamily="2" charset="-122"/>
              </a:rPr>
              <a:t>命令</a:t>
            </a:r>
            <a:r>
              <a:rPr lang="zh-CN" altLang="zh-CN" sz="2000" dirty="0">
                <a:ea typeface="宋体" panose="02010600030101010101" pitchFamily="2" charset="-122"/>
              </a:rPr>
              <a:t>也做了一定的讲解。为了实现系统化讲解</a:t>
            </a:r>
            <a:r>
              <a:rPr lang="en-US" altLang="zh-CN" sz="2000" dirty="0"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ea typeface="宋体" panose="02010600030101010101" pitchFamily="2" charset="-122"/>
              </a:rPr>
              <a:t>命令将</a:t>
            </a:r>
            <a:r>
              <a:rPr lang="en-US" altLang="zh-CN" sz="2000" dirty="0"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ea typeface="宋体" panose="02010600030101010101" pitchFamily="2" charset="-122"/>
              </a:rPr>
              <a:t>命令按照计算机实现计算机功能总结为十八命令集，并以此为标准，进行</a:t>
            </a:r>
            <a:r>
              <a:rPr lang="en-US" altLang="zh-CN" sz="2000" dirty="0"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ea typeface="宋体" panose="02010600030101010101" pitchFamily="2" charset="-122"/>
              </a:rPr>
              <a:t>命令介绍。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ea typeface="宋体" panose="02010600030101010101" pitchFamily="2" charset="-122"/>
              </a:rPr>
              <a:t>课程只是</a:t>
            </a:r>
            <a:r>
              <a:rPr lang="zh-CN" altLang="zh-CN" sz="2000" dirty="0">
                <a:ea typeface="宋体" panose="02010600030101010101" pitchFamily="2" charset="-122"/>
              </a:rPr>
              <a:t>简单了解</a:t>
            </a:r>
            <a:r>
              <a:rPr lang="en-US" altLang="zh-CN" sz="2000" dirty="0">
                <a:ea typeface="宋体" panose="02010600030101010101" pitchFamily="2" charset="-122"/>
              </a:rPr>
              <a:t>Linux</a:t>
            </a:r>
            <a:r>
              <a:rPr lang="zh-CN" altLang="zh-CN" sz="2000" dirty="0">
                <a:ea typeface="宋体" panose="02010600030101010101" pitchFamily="2" charset="-122"/>
              </a:rPr>
              <a:t>系统与操作常识即可所以并未进行深入讲解，对于有兴趣的</a:t>
            </a:r>
            <a:r>
              <a:rPr lang="zh-CN" altLang="en-US" sz="2000" dirty="0">
                <a:ea typeface="宋体" panose="02010600030101010101" pitchFamily="2" charset="-122"/>
              </a:rPr>
              <a:t>同学</a:t>
            </a:r>
            <a:r>
              <a:rPr lang="zh-CN" altLang="zh-CN" sz="2000" dirty="0">
                <a:ea typeface="宋体" panose="02010600030101010101" pitchFamily="2" charset="-122"/>
              </a:rPr>
              <a:t>可自行进行学习。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3TGp_natural_light_v2">
  <a:themeElements>
    <a:clrScheme name="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13TGp_natur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-02.potx" id="{4E12B571-AF83-4405-A7A3-0AC907A0C14C}" vid="{730D2088-94B6-4108-8151-12101DCF8550}"/>
    </a:ext>
  </a:extLst>
</a:theme>
</file>

<file path=ppt/theme/theme2.xml><?xml version="1.0" encoding="utf-8"?>
<a:theme xmlns:a="http://schemas.openxmlformats.org/drawingml/2006/main" name="1_213TGp_natural_light_v2">
  <a:themeElements>
    <a:clrScheme name="1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1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1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-02.potx" id="{4E12B571-AF83-4405-A7A3-0AC907A0C14C}" vid="{BF5E8CD1-596B-4E6C-BF60-C82F2978B2AC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2230</TotalTime>
  <Pages>0</Pages>
  <Words>5303</Words>
  <Characters>0</Characters>
  <Application>Microsoft Office PowerPoint</Application>
  <DocSecurity>0</DocSecurity>
  <PresentationFormat>全屏显示(4:3)</PresentationFormat>
  <Lines>0</Lines>
  <Paragraphs>522</Paragraphs>
  <Slides>51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1" baseType="lpstr">
      <vt:lpstr>Arial Unicode MS</vt:lpstr>
      <vt:lpstr>黑体</vt:lpstr>
      <vt:lpstr>楷体</vt:lpstr>
      <vt:lpstr>楷体_GB2312</vt:lpstr>
      <vt:lpstr>宋体</vt:lpstr>
      <vt:lpstr>Arial</vt:lpstr>
      <vt:lpstr>Times New Roman</vt:lpstr>
      <vt:lpstr>Wingdings</vt:lpstr>
      <vt:lpstr>213TGp_natural_light_v2</vt:lpstr>
      <vt:lpstr>1_213TGp_natural_light_v2</vt:lpstr>
      <vt:lpstr>PowerPoint 演示文稿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  <vt:lpstr>Linux系统的shell命令</vt:lpstr>
    </vt:vector>
  </TitlesOfParts>
  <Manager/>
  <Company>intac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subject/>
  <dc:creator>dengzhaohui</dc:creator>
  <cp:keywords/>
  <dc:description/>
  <cp:lastModifiedBy>yuan xinxi</cp:lastModifiedBy>
  <cp:revision>591</cp:revision>
  <dcterms:created xsi:type="dcterms:W3CDTF">2007-01-26T09:25:37Z</dcterms:created>
  <dcterms:modified xsi:type="dcterms:W3CDTF">2025-09-07T05:33:46Z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