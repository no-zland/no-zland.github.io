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5"/>
  </p:notesMasterIdLst>
  <p:sldIdLst>
    <p:sldId id="258" r:id="rId3"/>
    <p:sldId id="442" r:id="rId4"/>
    <p:sldId id="451" r:id="rId5"/>
    <p:sldId id="444" r:id="rId6"/>
    <p:sldId id="446" r:id="rId7"/>
    <p:sldId id="447" r:id="rId8"/>
    <p:sldId id="448" r:id="rId9"/>
    <p:sldId id="449" r:id="rId10"/>
    <p:sldId id="539" r:id="rId11"/>
    <p:sldId id="540" r:id="rId12"/>
    <p:sldId id="450" r:id="rId13"/>
    <p:sldId id="541" r:id="rId14"/>
    <p:sldId id="542" r:id="rId15"/>
    <p:sldId id="543" r:id="rId16"/>
    <p:sldId id="544" r:id="rId17"/>
    <p:sldId id="545" r:id="rId18"/>
    <p:sldId id="546" r:id="rId19"/>
    <p:sldId id="554" r:id="rId20"/>
    <p:sldId id="558" r:id="rId21"/>
    <p:sldId id="559" r:id="rId22"/>
    <p:sldId id="556" r:id="rId23"/>
    <p:sldId id="557" r:id="rId24"/>
    <p:sldId id="560" r:id="rId25"/>
    <p:sldId id="561" r:id="rId26"/>
    <p:sldId id="548" r:id="rId27"/>
    <p:sldId id="562" r:id="rId28"/>
    <p:sldId id="563" r:id="rId29"/>
    <p:sldId id="564" r:id="rId30"/>
    <p:sldId id="565" r:id="rId31"/>
    <p:sldId id="566" r:id="rId32"/>
    <p:sldId id="551" r:id="rId33"/>
    <p:sldId id="264" r:id="rId34"/>
    <p:sldId id="265" r:id="rId35"/>
    <p:sldId id="266" r:id="rId36"/>
    <p:sldId id="267" r:id="rId37"/>
    <p:sldId id="268" r:id="rId38"/>
    <p:sldId id="318" r:id="rId39"/>
    <p:sldId id="269" r:id="rId40"/>
    <p:sldId id="270" r:id="rId41"/>
    <p:sldId id="364" r:id="rId42"/>
    <p:sldId id="585" r:id="rId43"/>
    <p:sldId id="586" r:id="rId44"/>
    <p:sldId id="321" r:id="rId45"/>
    <p:sldId id="322" r:id="rId46"/>
    <p:sldId id="323" r:id="rId47"/>
    <p:sldId id="587" r:id="rId48"/>
    <p:sldId id="588" r:id="rId49"/>
    <p:sldId id="324" r:id="rId50"/>
    <p:sldId id="325" r:id="rId51"/>
    <p:sldId id="326" r:id="rId52"/>
    <p:sldId id="327" r:id="rId53"/>
    <p:sldId id="328" r:id="rId54"/>
    <p:sldId id="329" r:id="rId55"/>
    <p:sldId id="330" r:id="rId56"/>
    <p:sldId id="331" r:id="rId57"/>
    <p:sldId id="332" r:id="rId58"/>
    <p:sldId id="333" r:id="rId59"/>
    <p:sldId id="334" r:id="rId60"/>
    <p:sldId id="335" r:id="rId61"/>
    <p:sldId id="336" r:id="rId62"/>
    <p:sldId id="337" r:id="rId63"/>
    <p:sldId id="338" r:id="rId64"/>
    <p:sldId id="341" r:id="rId65"/>
    <p:sldId id="342" r:id="rId66"/>
    <p:sldId id="361" r:id="rId67"/>
    <p:sldId id="275" r:id="rId68"/>
    <p:sldId id="276" r:id="rId69"/>
    <p:sldId id="277" r:id="rId70"/>
    <p:sldId id="278" r:id="rId71"/>
    <p:sldId id="279" r:id="rId72"/>
    <p:sldId id="280" r:id="rId73"/>
    <p:sldId id="281" r:id="rId74"/>
    <p:sldId id="624" r:id="rId75"/>
    <p:sldId id="625" r:id="rId76"/>
    <p:sldId id="626" r:id="rId77"/>
    <p:sldId id="358" r:id="rId78"/>
    <p:sldId id="359" r:id="rId79"/>
    <p:sldId id="367" r:id="rId80"/>
    <p:sldId id="368" r:id="rId81"/>
    <p:sldId id="369" r:id="rId82"/>
    <p:sldId id="370" r:id="rId83"/>
    <p:sldId id="371" r:id="rId84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6" userDrawn="1">
          <p15:clr>
            <a:srgbClr val="A4A3A4"/>
          </p15:clr>
        </p15:guide>
        <p15:guide id="2" pos="28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993366"/>
    <a:srgbClr val="800000"/>
    <a:srgbClr val="666699"/>
    <a:srgbClr val="00FF00"/>
    <a:srgbClr val="00CC00"/>
    <a:srgbClr val="66FF33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64" d="100"/>
          <a:sy n="64" d="100"/>
        </p:scale>
        <p:origin x="1340" y="52"/>
      </p:cViewPr>
      <p:guideLst>
        <p:guide orient="horz" pos="2256"/>
        <p:guide pos="28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8" Type="http://schemas.openxmlformats.org/officeDocument/2006/relationships/tableStyles" Target="tableStyles.xml"/><Relationship Id="rId87" Type="http://schemas.openxmlformats.org/officeDocument/2006/relationships/viewProps" Target="viewProps.xml"/><Relationship Id="rId86" Type="http://schemas.openxmlformats.org/officeDocument/2006/relationships/presProps" Target="presProps.xml"/><Relationship Id="rId85" Type="http://schemas.openxmlformats.org/officeDocument/2006/relationships/notesMaster" Target="notesMasters/notesMaster1.xml"/><Relationship Id="rId84" Type="http://schemas.openxmlformats.org/officeDocument/2006/relationships/slide" Target="slides/slide82.xml"/><Relationship Id="rId83" Type="http://schemas.openxmlformats.org/officeDocument/2006/relationships/slide" Target="slides/slide81.xml"/><Relationship Id="rId82" Type="http://schemas.openxmlformats.org/officeDocument/2006/relationships/slide" Target="slides/slide80.xml"/><Relationship Id="rId81" Type="http://schemas.openxmlformats.org/officeDocument/2006/relationships/slide" Target="slides/slide79.xml"/><Relationship Id="rId80" Type="http://schemas.openxmlformats.org/officeDocument/2006/relationships/slide" Target="slides/slide78.xml"/><Relationship Id="rId8" Type="http://schemas.openxmlformats.org/officeDocument/2006/relationships/slide" Target="slides/slide6.xml"/><Relationship Id="rId79" Type="http://schemas.openxmlformats.org/officeDocument/2006/relationships/slide" Target="slides/slide77.xml"/><Relationship Id="rId78" Type="http://schemas.openxmlformats.org/officeDocument/2006/relationships/slide" Target="slides/slide76.xml"/><Relationship Id="rId77" Type="http://schemas.openxmlformats.org/officeDocument/2006/relationships/slide" Target="slides/slide75.xml"/><Relationship Id="rId76" Type="http://schemas.openxmlformats.org/officeDocument/2006/relationships/slide" Target="slides/slide74.xml"/><Relationship Id="rId75" Type="http://schemas.openxmlformats.org/officeDocument/2006/relationships/slide" Target="slides/slide73.xml"/><Relationship Id="rId74" Type="http://schemas.openxmlformats.org/officeDocument/2006/relationships/slide" Target="slides/slide72.xml"/><Relationship Id="rId73" Type="http://schemas.openxmlformats.org/officeDocument/2006/relationships/slide" Target="slides/slide71.xml"/><Relationship Id="rId72" Type="http://schemas.openxmlformats.org/officeDocument/2006/relationships/slide" Target="slides/slide70.xml"/><Relationship Id="rId71" Type="http://schemas.openxmlformats.org/officeDocument/2006/relationships/slide" Target="slides/slide69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105D997-9DC8-481B-9EF9-2574A98451CA}" type="slidenum">
              <a:rPr kumimoji="0" lang="zh-CN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533400" y="6172200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ACE7FAB-8B06-477E-BDF6-8CF89A7F12E2}" type="datetime8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noProof="0"/>
              <a:t>单击此处编辑母版标题样式</a:t>
            </a:r>
            <a:endParaRPr lang="zh-CN" noProof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zh-CN" noProof="0"/>
              <a:t>单击此处编辑母版副标题样式</a:t>
            </a:r>
            <a:endParaRPr lang="zh-CN" noProof="0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>
              <a:spcBef>
                <a:spcPct val="0"/>
              </a:spcBef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5D940FB-473E-4281-A4D7-E034DB7A87F1}" type="slidenum">
              <a:rPr kumimoji="0" lang="zh-CN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656438F-0EEF-4F6A-949A-88A3631D2603}" type="datetime8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0F42F99-38D1-4955-A142-85CB71C24ABB}" type="slidenum">
              <a:rPr kumimoji="0" lang="zh-CN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656438F-0EEF-4F6A-949A-88A3631D2603}" type="datetime8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0F42F99-38D1-4955-A142-85CB71C24ABB}" type="slidenum">
              <a:rPr kumimoji="0" lang="zh-CN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656438F-0EEF-4F6A-949A-88A3631D2603}" type="datetime8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0F42F99-38D1-4955-A142-85CB71C24ABB}" type="slidenum">
              <a:rPr kumimoji="0" lang="zh-CN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656438F-0EEF-4F6A-949A-88A3631D2603}" type="datetime8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0F42F99-38D1-4955-A142-85CB71C24ABB}" type="slidenum">
              <a:rPr kumimoji="0" lang="zh-CN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656438F-0EEF-4F6A-949A-88A3631D2603}" type="datetime8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0F42F99-38D1-4955-A142-85CB71C24ABB}" type="slidenum">
              <a:rPr kumimoji="0" lang="zh-CN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656438F-0EEF-4F6A-949A-88A3631D2603}" type="datetime8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0F42F99-38D1-4955-A142-85CB71C24ABB}" type="slidenum">
              <a:rPr kumimoji="0" lang="zh-CN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656438F-0EEF-4F6A-949A-88A3631D2603}" type="datetime8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0F42F99-38D1-4955-A142-85CB71C24ABB}" type="slidenum">
              <a:rPr kumimoji="0" lang="zh-CN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rgbClr val="66669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656438F-0EEF-4F6A-949A-88A3631D2603}" type="datetime8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0F42F99-38D1-4955-A142-85CB71C24ABB}" type="slidenum">
              <a:rPr kumimoji="0" lang="zh-CN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656438F-0EEF-4F6A-949A-88A3631D2603}" type="datetime8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0F42F99-38D1-4955-A142-85CB71C24ABB}" type="slidenum">
              <a:rPr kumimoji="0" lang="zh-CN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1066800"/>
            <a:ext cx="1943100" cy="50292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1066800"/>
            <a:ext cx="5676900" cy="50292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656438F-0EEF-4F6A-949A-88A3631D2603}" type="datetime8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0F42F99-38D1-4955-A142-85CB71C24ABB}" type="slidenum">
              <a:rPr kumimoji="0" lang="zh-CN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1066800"/>
            <a:ext cx="7620000" cy="6858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656438F-0EEF-4F6A-949A-88A3631D2603}" type="datetime8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0F42F99-38D1-4955-A142-85CB71C24ABB}" type="slidenum">
              <a:rPr kumimoji="0" lang="zh-CN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1066800"/>
            <a:ext cx="7620000" cy="6858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rgbClr val="66669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656438F-0EEF-4F6A-949A-88A3631D2603}" type="datetime8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0F42F99-38D1-4955-A142-85CB71C24ABB}" type="slidenum">
              <a:rPr kumimoji="0" lang="zh-CN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1.jpe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1722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400">
                <a:latin typeface="幼圆" panose="02010509060101010101" pitchFamily="49" charset="-122"/>
                <a:ea typeface="幼圆" panose="02010509060101010101" pitchFamily="49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656438F-0EEF-4F6A-949A-88A3631D2603}" type="datetime8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</a:fld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spcBef>
                <a:spcPct val="50000"/>
              </a:spcBef>
              <a:buFont typeface="Arial" panose="020B0604020202020204" pitchFamily="34" charset="0"/>
              <a:buNone/>
              <a:defRPr sz="14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0F42F99-38D1-4955-A142-85CB71C24ABB}" type="slidenum">
              <a:rPr kumimoji="0" lang="zh-CN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8" name="Rectangle 4"/>
          <p:cNvSpPr>
            <a:spLocks noGrp="1"/>
          </p:cNvSpPr>
          <p:nvPr>
            <p:ph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9" name="Rectangle 5"/>
          <p:cNvSpPr>
            <a:spLocks noGrp="1"/>
          </p:cNvSpPr>
          <p:nvPr>
            <p:ph type="title"/>
          </p:nvPr>
        </p:nvSpPr>
        <p:spPr>
          <a:xfrm>
            <a:off x="685800" y="1066800"/>
            <a:ext cx="7620000" cy="6858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0" y="1752600"/>
            <a:ext cx="3124200" cy="111125"/>
          </a:xfrm>
          <a:prstGeom prst="rect">
            <a:avLst/>
          </a:prstGeom>
          <a:solidFill>
            <a:srgbClr val="00CCFF">
              <a:alpha val="50195"/>
            </a:srgbClr>
          </a:solidFill>
          <a:ln>
            <a:noFill/>
          </a:ln>
        </p:spPr>
        <p:txBody>
          <a:bodyPr/>
          <a:lstStyle>
            <a:lvl1pPr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rgbClr val="666699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666699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666699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666699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rgbClr val="666699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666699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666699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666699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666699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.wmf"/><Relationship Id="rId1" Type="http://schemas.openxmlformats.org/officeDocument/2006/relationships/oleObject" Target="../embeddings/oleObject1.bin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Rectangle 2"/>
          <p:cNvSpPr>
            <a:spLocks noGrp="1"/>
          </p:cNvSpPr>
          <p:nvPr>
            <p:ph type="title"/>
          </p:nvPr>
        </p:nvSpPr>
        <p:spPr>
          <a:xfrm>
            <a:off x="685800" y="549275"/>
            <a:ext cx="7246938" cy="560388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en-US" dirty="0"/>
              <a:t>章  运算方法和运算器</a:t>
            </a:r>
            <a:endParaRPr lang="zh-CN" altLang="en-US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主要内容：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66669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数据与文字的表示方法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66669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定点加法、减法运算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66669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定点乘法运算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66669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定点除法运算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66669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定点运算器的组成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66669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浮点运算方法和浮点运算器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66669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/>
          </p:cNvSpPr>
          <p:nvPr>
            <p:ph type="title"/>
          </p:nvPr>
        </p:nvSpPr>
        <p:spPr>
          <a:xfrm>
            <a:off x="252413" y="909638"/>
            <a:ext cx="7620000" cy="685800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dirty="0">
                <a:ea typeface="楷体" panose="02010609060101010101" pitchFamily="49" charset="-122"/>
              </a:rPr>
              <a:t>计算机常用信息的分类：</a:t>
            </a:r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5123" name="AutoShape 3"/>
          <p:cNvSpPr/>
          <p:nvPr/>
        </p:nvSpPr>
        <p:spPr>
          <a:xfrm flipH="1">
            <a:off x="611188" y="3070225"/>
            <a:ext cx="360362" cy="2736850"/>
          </a:xfrm>
          <a:prstGeom prst="rightBrace">
            <a:avLst>
              <a:gd name="adj1" fmla="val 63219"/>
              <a:gd name="adj2" fmla="val 4856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5124" name="Text Box 4"/>
          <p:cNvSpPr txBox="1"/>
          <p:nvPr/>
        </p:nvSpPr>
        <p:spPr>
          <a:xfrm>
            <a:off x="1116013" y="2709863"/>
            <a:ext cx="1989137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b="1" dirty="0">
                <a:solidFill>
                  <a:schemeClr val="tx1"/>
                </a:solidFill>
              </a:rPr>
              <a:t>数据信息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5125" name="AutoShape 5"/>
          <p:cNvSpPr/>
          <p:nvPr/>
        </p:nvSpPr>
        <p:spPr>
          <a:xfrm flipH="1">
            <a:off x="3203575" y="2206625"/>
            <a:ext cx="360363" cy="1584325"/>
          </a:xfrm>
          <a:prstGeom prst="rightBrace">
            <a:avLst>
              <a:gd name="adj1" fmla="val 36596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5126" name="Text Box 6"/>
          <p:cNvSpPr txBox="1"/>
          <p:nvPr/>
        </p:nvSpPr>
        <p:spPr>
          <a:xfrm>
            <a:off x="3563938" y="1844675"/>
            <a:ext cx="2808287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b="1" dirty="0">
                <a:solidFill>
                  <a:schemeClr val="tx1"/>
                </a:solidFill>
              </a:rPr>
              <a:t>数值型数据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5127" name="Text Box 7"/>
          <p:cNvSpPr txBox="1"/>
          <p:nvPr/>
        </p:nvSpPr>
        <p:spPr>
          <a:xfrm>
            <a:off x="3563938" y="3429000"/>
            <a:ext cx="2881312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b="1" dirty="0">
                <a:solidFill>
                  <a:schemeClr val="tx1"/>
                </a:solidFill>
              </a:rPr>
              <a:t>非数值型数据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5128" name="Text Box 8"/>
          <p:cNvSpPr txBox="1"/>
          <p:nvPr/>
        </p:nvSpPr>
        <p:spPr>
          <a:xfrm>
            <a:off x="1117600" y="5302250"/>
            <a:ext cx="230505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b="1" dirty="0">
                <a:solidFill>
                  <a:schemeClr val="tx1"/>
                </a:solidFill>
              </a:rPr>
              <a:t>控制信息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5129" name="AutoShape 9"/>
          <p:cNvSpPr/>
          <p:nvPr/>
        </p:nvSpPr>
        <p:spPr>
          <a:xfrm flipH="1">
            <a:off x="627063" y="3070225"/>
            <a:ext cx="360362" cy="2736850"/>
          </a:xfrm>
          <a:prstGeom prst="rightBrace">
            <a:avLst>
              <a:gd name="adj1" fmla="val 63219"/>
              <a:gd name="adj2" fmla="val 4856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5130" name="Text Box 10"/>
          <p:cNvSpPr txBox="1"/>
          <p:nvPr/>
        </p:nvSpPr>
        <p:spPr>
          <a:xfrm>
            <a:off x="1116013" y="5302250"/>
            <a:ext cx="4303712" cy="5778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b="1" dirty="0">
                <a:solidFill>
                  <a:schemeClr val="tx1"/>
                </a:solidFill>
              </a:rPr>
              <a:t>控制信息（指令信息）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5131" name="AutoShape 11"/>
          <p:cNvSpPr/>
          <p:nvPr/>
        </p:nvSpPr>
        <p:spPr>
          <a:xfrm flipH="1">
            <a:off x="5940425" y="1412875"/>
            <a:ext cx="215900" cy="1223963"/>
          </a:xfrm>
          <a:prstGeom prst="rightBrace">
            <a:avLst>
              <a:gd name="adj1" fmla="val 47190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5132" name="AutoShape 12"/>
          <p:cNvSpPr/>
          <p:nvPr/>
        </p:nvSpPr>
        <p:spPr>
          <a:xfrm flipH="1">
            <a:off x="611188" y="3054350"/>
            <a:ext cx="360362" cy="2736850"/>
          </a:xfrm>
          <a:prstGeom prst="rightBrace">
            <a:avLst>
              <a:gd name="adj1" fmla="val 63219"/>
              <a:gd name="adj2" fmla="val 4856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5133" name="AutoShape 13"/>
          <p:cNvSpPr/>
          <p:nvPr/>
        </p:nvSpPr>
        <p:spPr>
          <a:xfrm flipH="1">
            <a:off x="3203575" y="2190750"/>
            <a:ext cx="360363" cy="1584325"/>
          </a:xfrm>
          <a:prstGeom prst="rightBrace">
            <a:avLst>
              <a:gd name="adj1" fmla="val 36596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5134" name="AutoShape 14"/>
          <p:cNvSpPr/>
          <p:nvPr/>
        </p:nvSpPr>
        <p:spPr>
          <a:xfrm flipH="1">
            <a:off x="627063" y="3054350"/>
            <a:ext cx="360362" cy="2736850"/>
          </a:xfrm>
          <a:prstGeom prst="rightBrace">
            <a:avLst>
              <a:gd name="adj1" fmla="val 63219"/>
              <a:gd name="adj2" fmla="val 4856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solidFill>
                <a:schemeClr val="tx1"/>
              </a:solidFill>
            </a:endParaRPr>
          </a:p>
        </p:txBody>
      </p:sp>
      <p:grpSp>
        <p:nvGrpSpPr>
          <p:cNvPr id="5135" name="Group 15"/>
          <p:cNvGrpSpPr/>
          <p:nvPr/>
        </p:nvGrpSpPr>
        <p:grpSpPr>
          <a:xfrm>
            <a:off x="627063" y="1125538"/>
            <a:ext cx="8408987" cy="4722812"/>
            <a:chOff x="0" y="0"/>
            <a:chExt cx="13242" cy="7438"/>
          </a:xfrm>
        </p:grpSpPr>
        <p:sp>
          <p:nvSpPr>
            <p:cNvPr id="5136" name="AutoShape 16"/>
            <p:cNvSpPr/>
            <p:nvPr/>
          </p:nvSpPr>
          <p:spPr>
            <a:xfrm flipH="1">
              <a:off x="10862" y="4763"/>
              <a:ext cx="341" cy="1701"/>
            </a:xfrm>
            <a:prstGeom prst="rightBrace">
              <a:avLst>
                <a:gd name="adj1" fmla="val 41522"/>
                <a:gd name="adj2" fmla="val 50000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rgbClr val="6666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rgbClr val="666699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rgbClr val="666699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grpSp>
          <p:nvGrpSpPr>
            <p:cNvPr id="5137" name="Group 17"/>
            <p:cNvGrpSpPr/>
            <p:nvPr/>
          </p:nvGrpSpPr>
          <p:grpSpPr>
            <a:xfrm>
              <a:off x="0" y="0"/>
              <a:ext cx="13243" cy="7439"/>
              <a:chOff x="0" y="0"/>
              <a:chExt cx="13243" cy="7439"/>
            </a:xfrm>
          </p:grpSpPr>
          <p:sp>
            <p:nvSpPr>
              <p:cNvPr id="5138" name="AutoShape 18"/>
              <p:cNvSpPr/>
              <p:nvPr/>
            </p:nvSpPr>
            <p:spPr>
              <a:xfrm flipH="1">
                <a:off x="8820" y="3063"/>
                <a:ext cx="455" cy="2381"/>
              </a:xfrm>
              <a:prstGeom prst="rightBrace">
                <a:avLst>
                  <a:gd name="adj1" fmla="val 43559"/>
                  <a:gd name="adj2" fmla="val 50000"/>
                </a:avLst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rgbClr val="666699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rgbClr val="666699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rgbClr val="666699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rgbClr val="666699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666699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39" name="Text Box 19"/>
              <p:cNvSpPr txBox="1"/>
              <p:nvPr/>
            </p:nvSpPr>
            <p:spPr>
              <a:xfrm>
                <a:off x="9275" y="2495"/>
                <a:ext cx="3175" cy="198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rgbClr val="666699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rgbClr val="666699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rgbClr val="666699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rgbClr val="666699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666699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lnSpc>
                    <a:spcPct val="120000"/>
                  </a:lnSpc>
                  <a:spcBef>
                    <a:spcPct val="0"/>
                  </a:spcBef>
                  <a:buNone/>
                </a:pPr>
                <a:r>
                  <a:rPr lang="zh-CN" altLang="en-US" b="1" dirty="0">
                    <a:solidFill>
                      <a:schemeClr val="tx1"/>
                    </a:solidFill>
                  </a:rPr>
                  <a:t>字符</a:t>
                </a:r>
                <a:endParaRPr lang="zh-CN" altLang="en-US" b="1" dirty="0">
                  <a:solidFill>
                    <a:schemeClr val="tx1"/>
                  </a:solidFill>
                </a:endParaRPr>
              </a:p>
              <a:p>
                <a:pPr marL="0" lvl="0" indent="0" eaLnBrk="1" hangingPunct="1">
                  <a:lnSpc>
                    <a:spcPct val="120000"/>
                  </a:lnSpc>
                  <a:spcBef>
                    <a:spcPct val="0"/>
                  </a:spcBef>
                  <a:buNone/>
                </a:pPr>
                <a:r>
                  <a:rPr lang="zh-CN" altLang="en-US" b="1" dirty="0">
                    <a:solidFill>
                      <a:schemeClr val="tx1"/>
                    </a:solidFill>
                  </a:rPr>
                  <a:t>逻辑数据</a:t>
                </a:r>
                <a:endParaRPr lang="zh-CN" altLang="en-US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40" name="Text Box 20"/>
              <p:cNvSpPr txBox="1"/>
              <p:nvPr/>
            </p:nvSpPr>
            <p:spPr>
              <a:xfrm>
                <a:off x="9275" y="5103"/>
                <a:ext cx="1903" cy="9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rgbClr val="666699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rgbClr val="666699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rgbClr val="666699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rgbClr val="666699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666699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zh-CN" altLang="en-US" b="1" dirty="0">
                    <a:solidFill>
                      <a:schemeClr val="tx1"/>
                    </a:solidFill>
                  </a:rPr>
                  <a:t>图形</a:t>
                </a:r>
                <a:endParaRPr lang="zh-CN" altLang="en-US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41" name="Text Box 21"/>
              <p:cNvSpPr txBox="1"/>
              <p:nvPr/>
            </p:nvSpPr>
            <p:spPr>
              <a:xfrm>
                <a:off x="11089" y="4423"/>
                <a:ext cx="2155" cy="216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rgbClr val="666699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rgbClr val="666699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rgbClr val="666699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rgbClr val="666699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666699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zh-CN" altLang="en-US" sz="2800" b="1" dirty="0">
                    <a:solidFill>
                      <a:schemeClr val="tx1"/>
                    </a:solidFill>
                  </a:rPr>
                  <a:t>规则</a:t>
                </a:r>
                <a:endParaRPr lang="zh-CN" altLang="en-US" sz="2800" b="1" dirty="0">
                  <a:solidFill>
                    <a:schemeClr val="tx1"/>
                  </a:solidFill>
                </a:endParaRPr>
              </a:p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800" b="1" dirty="0">
                  <a:solidFill>
                    <a:schemeClr val="tx1"/>
                  </a:solidFill>
                </a:endParaRPr>
              </a:p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zh-CN" altLang="en-US" sz="2800" b="1" dirty="0">
                    <a:solidFill>
                      <a:schemeClr val="tx1"/>
                    </a:solidFill>
                  </a:rPr>
                  <a:t>不规则</a:t>
                </a:r>
                <a:endParaRPr lang="zh-CN" altLang="en-US" sz="28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42" name="Text Box 22"/>
              <p:cNvSpPr txBox="1"/>
              <p:nvPr/>
            </p:nvSpPr>
            <p:spPr>
              <a:xfrm>
                <a:off x="8821" y="0"/>
                <a:ext cx="2541" cy="254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rgbClr val="666699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rgbClr val="666699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rgbClr val="666699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rgbClr val="666699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666699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zh-CN" altLang="en-US" b="1" dirty="0">
                    <a:solidFill>
                      <a:schemeClr val="tx1"/>
                    </a:solidFill>
                  </a:rPr>
                  <a:t>定点数</a:t>
                </a:r>
                <a:endParaRPr lang="zh-CN" altLang="en-US" b="1" dirty="0">
                  <a:solidFill>
                    <a:schemeClr val="tx1"/>
                  </a:solidFill>
                </a:endParaRPr>
              </a:p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3600" b="1" dirty="0">
                  <a:solidFill>
                    <a:schemeClr val="tx1"/>
                  </a:solidFill>
                </a:endParaRPr>
              </a:p>
              <a:p>
                <a:pPr marL="0" lvl="0" indent="0" eaLnBrk="1" hangingPunct="1">
                  <a:spcBef>
                    <a:spcPct val="0"/>
                  </a:spcBef>
                  <a:buNone/>
                </a:pPr>
                <a:r>
                  <a:rPr lang="zh-CN" altLang="en-US" b="1" dirty="0">
                    <a:solidFill>
                      <a:schemeClr val="tx1"/>
                    </a:solidFill>
                  </a:rPr>
                  <a:t>浮点数</a:t>
                </a:r>
                <a:endParaRPr lang="zh-CN" altLang="en-US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43" name="Text Box 23"/>
              <p:cNvSpPr txBox="1"/>
              <p:nvPr/>
            </p:nvSpPr>
            <p:spPr>
              <a:xfrm>
                <a:off x="4625" y="3604"/>
                <a:ext cx="4536" cy="9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rgbClr val="666699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rgbClr val="666699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rgbClr val="666699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rgbClr val="666699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666699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44" name="AutoShape 24"/>
              <p:cNvSpPr/>
              <p:nvPr/>
            </p:nvSpPr>
            <p:spPr>
              <a:xfrm flipH="1">
                <a:off x="8368" y="429"/>
                <a:ext cx="340" cy="1927"/>
              </a:xfrm>
              <a:prstGeom prst="rightBrace">
                <a:avLst>
                  <a:gd name="adj1" fmla="val 47177"/>
                  <a:gd name="adj2" fmla="val 50000"/>
                </a:avLst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rgbClr val="666699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rgbClr val="666699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rgbClr val="666699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rgbClr val="666699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666699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45" name="AutoShape 25"/>
              <p:cNvSpPr/>
              <p:nvPr/>
            </p:nvSpPr>
            <p:spPr>
              <a:xfrm flipH="1">
                <a:off x="4057" y="1652"/>
                <a:ext cx="567" cy="2495"/>
              </a:xfrm>
              <a:prstGeom prst="rightBrace">
                <a:avLst>
                  <a:gd name="adj1" fmla="val 36628"/>
                  <a:gd name="adj2" fmla="val 50000"/>
                </a:avLst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rgbClr val="666699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rgbClr val="666699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rgbClr val="666699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rgbClr val="666699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666699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46" name="Text Box 26"/>
              <p:cNvSpPr txBox="1"/>
              <p:nvPr/>
            </p:nvSpPr>
            <p:spPr>
              <a:xfrm>
                <a:off x="4625" y="1084"/>
                <a:ext cx="4423" cy="9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rgbClr val="666699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rgbClr val="666699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rgbClr val="666699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rgbClr val="666699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666699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47" name="Text Box 27"/>
              <p:cNvSpPr txBox="1"/>
              <p:nvPr/>
            </p:nvSpPr>
            <p:spPr>
              <a:xfrm>
                <a:off x="770" y="6527"/>
                <a:ext cx="6777" cy="9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rgbClr val="666699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rgbClr val="666699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rgbClr val="666699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rgbClr val="666699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666699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48" name="AutoShape 28"/>
              <p:cNvSpPr/>
              <p:nvPr/>
            </p:nvSpPr>
            <p:spPr>
              <a:xfrm flipH="1">
                <a:off x="0" y="3013"/>
                <a:ext cx="567" cy="4309"/>
              </a:xfrm>
              <a:prstGeom prst="rightBrace">
                <a:avLst>
                  <a:gd name="adj1" fmla="val 63260"/>
                  <a:gd name="adj2" fmla="val 48560"/>
                </a:avLst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rgbClr val="666699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rgbClr val="666699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rgbClr val="666699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rgbClr val="666699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666699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49" name="Text Box 29"/>
              <p:cNvSpPr txBox="1"/>
              <p:nvPr/>
            </p:nvSpPr>
            <p:spPr>
              <a:xfrm>
                <a:off x="795" y="2445"/>
                <a:ext cx="3132" cy="9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rgbClr val="666699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rgbClr val="666699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rgbClr val="666699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rgbClr val="666699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666699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b="1" dirty="0">
                  <a:solidFill>
                    <a:schemeClr val="tx1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Rectangle 2"/>
          <p:cNvSpPr>
            <a:spLocks noGrp="1"/>
          </p:cNvSpPr>
          <p:nvPr>
            <p:ph type="title"/>
          </p:nvPr>
        </p:nvSpPr>
        <p:spPr>
          <a:xfrm>
            <a:off x="323850" y="1066800"/>
            <a:ext cx="7981950" cy="6858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2.1 数据与文字的表示方法</a:t>
            </a:r>
            <a:endParaRPr lang="zh-CN" altLang="en-US" dirty="0"/>
          </a:p>
        </p:txBody>
      </p:sp>
      <p:sp>
        <p:nvSpPr>
          <p:cNvPr id="6147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10000"/>
              </a:lnSpc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zh-CN" altLang="en-US" b="1" dirty="0">
                <a:solidFill>
                  <a:srgbClr val="0000FF"/>
                </a:solidFill>
                <a:ea typeface="楷体" panose="02010609060101010101" pitchFamily="49" charset="-122"/>
              </a:rPr>
              <a:t>计算机中最重要的功能是处理信息，如：数值、文字、符号、语言和图象等。计算机内部，各种信息都必须先采用数字化编码的形式被表示，才能传送、存储、加工等。因此掌握信息编码的概念与处理技术是至关重要的。</a:t>
            </a:r>
            <a:endParaRPr lang="zh-CN" altLang="en-US" b="1" dirty="0">
              <a:solidFill>
                <a:srgbClr val="0000FF"/>
              </a:solidFill>
              <a:ea typeface="楷体" panose="02010609060101010101" pitchFamily="49" charset="-122"/>
            </a:endParaRPr>
          </a:p>
          <a:p>
            <a:pPr eaLnBrk="1" hangingPunct="1">
              <a:buChar char="•"/>
            </a:pPr>
            <a:endParaRPr lang="zh-CN" altLang="en-US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dirty="0">
                <a:ea typeface="华文新魏" panose="02010800040101010101" pitchFamily="2" charset="-122"/>
              </a:rPr>
              <a:t>字符与字符串的表示方法</a:t>
            </a:r>
            <a:endParaRPr lang="zh-CN" altLang="en-US" dirty="0">
              <a:ea typeface="华文新魏" panose="02010800040101010101" pitchFamily="2" charset="-122"/>
            </a:endParaRPr>
          </a:p>
        </p:txBody>
      </p:sp>
      <p:sp>
        <p:nvSpPr>
          <p:cNvPr id="7171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zh-CN" altLang="en-US" b="1" dirty="0">
                <a:solidFill>
                  <a:srgbClr val="0000FF"/>
                </a:solidFill>
                <a:ea typeface="楷体" panose="02010609060101010101" pitchFamily="49" charset="-122"/>
              </a:rPr>
              <a:t>所谓编码，就是用少量简单的基本符号，选用一定的组合规则，以表示出大量复杂多样的信息。</a:t>
            </a:r>
            <a:endParaRPr lang="zh-CN" altLang="en-US" b="1" dirty="0">
              <a:solidFill>
                <a:srgbClr val="0000FF"/>
              </a:solidFill>
              <a:ea typeface="楷体" panose="02010609060101010101" pitchFamily="49" charset="-122"/>
            </a:endParaRPr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zh-CN" altLang="en-US" b="1" dirty="0">
                <a:solidFill>
                  <a:srgbClr val="0000FF"/>
                </a:solidFill>
                <a:ea typeface="楷体" panose="02010609060101010101" pitchFamily="49" charset="-122"/>
              </a:rPr>
              <a:t>即</a:t>
            </a:r>
            <a:r>
              <a:rPr lang="zh-CN" altLang="en-US" b="1" dirty="0">
                <a:solidFill>
                  <a:srgbClr val="800000"/>
                </a:solidFill>
              </a:rPr>
              <a:t>用一定位数的二进制数“0”和“1”进行编码给出。</a:t>
            </a:r>
            <a:endParaRPr lang="zh-CN" altLang="en-US" b="1" dirty="0">
              <a:solidFill>
                <a:srgbClr val="8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Rectangle 2"/>
          <p:cNvSpPr>
            <a:spLocks noGrp="1"/>
          </p:cNvSpPr>
          <p:nvPr>
            <p:ph type="title"/>
          </p:nvPr>
        </p:nvSpPr>
        <p:spPr>
          <a:xfrm>
            <a:off x="250825" y="1052513"/>
            <a:ext cx="7620000" cy="6858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2.1.1   英文字符的编码</a:t>
            </a:r>
            <a:endParaRPr lang="zh-CN" altLang="en-US" dirty="0"/>
          </a:p>
        </p:txBody>
      </p:sp>
      <p:sp>
        <p:nvSpPr>
          <p:cNvPr id="8195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b="1" dirty="0">
                <a:solidFill>
                  <a:srgbClr val="0000FF"/>
                </a:solidFill>
              </a:rPr>
              <a:t>常用的字符编码：ASCII码</a:t>
            </a:r>
            <a:endParaRPr lang="zh-CN" altLang="en-US" b="1" dirty="0">
              <a:solidFill>
                <a:srgbClr val="0000FF"/>
              </a:solidFill>
            </a:endParaRPr>
          </a:p>
          <a:p>
            <a:pPr eaLnBrk="1" hangingPunct="1"/>
            <a:r>
              <a:rPr lang="zh-CN" altLang="en-US" b="1" dirty="0">
                <a:solidFill>
                  <a:srgbClr val="0000FF"/>
                </a:solidFill>
              </a:rPr>
              <a:t>ASCII  （American  Standard Code  for Information Interchange)</a:t>
            </a:r>
            <a:endParaRPr lang="zh-CN" altLang="en-US" b="1" dirty="0">
              <a:solidFill>
                <a:srgbClr val="0000FF"/>
              </a:solidFill>
            </a:endParaRPr>
          </a:p>
          <a:p>
            <a:pPr eaLnBrk="1" hangingPunct="1"/>
            <a:r>
              <a:rPr lang="zh-CN" altLang="en-US" b="1" dirty="0">
                <a:solidFill>
                  <a:srgbClr val="0000FF"/>
                </a:solidFill>
              </a:rPr>
              <a:t>ASCII码就是英文字符的计算机内部存储格式，即英文的“机内码”。</a:t>
            </a:r>
            <a:endParaRPr lang="zh-CN" altLang="en-US" b="1" dirty="0">
              <a:solidFill>
                <a:srgbClr val="0000FF"/>
              </a:solidFill>
            </a:endParaRPr>
          </a:p>
          <a:p>
            <a:pPr eaLnBrk="1" hangingPunct="1"/>
            <a:endParaRPr lang="zh-CN" altLang="en-US" b="1" dirty="0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218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609600" y="1752600"/>
            <a:ext cx="2805113" cy="4724400"/>
          </a:xfrm>
          <a:prstGeom prst="rect">
            <a:avLst/>
          </a:prstGeom>
          <a:noFill/>
          <a:ln w="9525">
            <a:noFill/>
          </a:ln>
          <a:effectLst>
            <a:outerShdw dist="107763" dir="2699999" algn="ctr" rotWithShape="0">
              <a:schemeClr val="bg2"/>
            </a:outerShdw>
          </a:effectLst>
        </p:spPr>
      </p:pic>
      <p:sp>
        <p:nvSpPr>
          <p:cNvPr id="9219" name="Rectangle 3"/>
          <p:cNvSpPr/>
          <p:nvPr/>
        </p:nvSpPr>
        <p:spPr>
          <a:xfrm>
            <a:off x="3781425" y="1412875"/>
            <a:ext cx="4691063" cy="2773363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defTabSz="762000">
              <a:lnSpc>
                <a:spcPct val="110000"/>
              </a:lnSpc>
              <a:spcBef>
                <a:spcPct val="0"/>
              </a:spcBef>
              <a:buNone/>
            </a:pPr>
            <a:r>
              <a:rPr lang="zh-CN" altLang="en-US" sz="2000" b="1" dirty="0">
                <a:solidFill>
                  <a:schemeClr val="hlin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包括：</a:t>
            </a:r>
            <a:r>
              <a:rPr lang="zh-CN" altLang="en-US" sz="2000" b="1" dirty="0">
                <a:solidFill>
                  <a:schemeClr val="hlink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0</a:t>
            </a:r>
            <a:r>
              <a:rPr lang="zh-CN" altLang="en-US" sz="2000" b="1" dirty="0">
                <a:solidFill>
                  <a:schemeClr val="hlin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-</a:t>
            </a:r>
            <a:r>
              <a:rPr lang="zh-CN" altLang="en-US" sz="2000" b="1" dirty="0">
                <a:solidFill>
                  <a:schemeClr val="hlink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9</a:t>
            </a:r>
            <a:r>
              <a:rPr lang="zh-CN" altLang="en-US" sz="2000" b="1" dirty="0">
                <a:solidFill>
                  <a:schemeClr val="hlin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十个数字，大小写英文字母</a:t>
            </a:r>
            <a:endParaRPr lang="zh-CN" altLang="en-US" sz="2000" b="1" dirty="0">
              <a:solidFill>
                <a:schemeClr val="hlink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0" lvl="0" indent="0" defTabSz="762000">
              <a:lnSpc>
                <a:spcPct val="110000"/>
              </a:lnSpc>
              <a:spcBef>
                <a:spcPct val="0"/>
              </a:spcBef>
              <a:buNone/>
            </a:pPr>
            <a:r>
              <a:rPr lang="zh-CN" altLang="en-US" sz="2000" b="1" dirty="0">
                <a:solidFill>
                  <a:schemeClr val="hlin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及专用符号等</a:t>
            </a:r>
            <a:r>
              <a:rPr lang="zh-CN" altLang="en-US" sz="2000" b="1" dirty="0">
                <a:solidFill>
                  <a:schemeClr val="hlink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95</a:t>
            </a:r>
            <a:r>
              <a:rPr lang="zh-CN" altLang="en-US" sz="2000" b="1" dirty="0">
                <a:solidFill>
                  <a:schemeClr val="hlin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种可打印字符，33个控制字符（不可打印），共128个字符，占7位。</a:t>
            </a:r>
            <a:endParaRPr lang="zh-CN" altLang="en-US" sz="2000" b="1" dirty="0">
              <a:solidFill>
                <a:schemeClr val="hlink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0" lvl="0" indent="0" defTabSz="762000">
              <a:lnSpc>
                <a:spcPct val="110000"/>
              </a:lnSpc>
              <a:spcBef>
                <a:spcPct val="0"/>
              </a:spcBef>
              <a:buNone/>
            </a:pPr>
            <a:r>
              <a:rPr lang="zh-CN" altLang="en-US" sz="2000" b="1" dirty="0">
                <a:solidFill>
                  <a:schemeClr val="hlink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为凑够一个字节便于存储，首字母为0。</a:t>
            </a:r>
            <a:endParaRPr lang="zh-CN" altLang="en-US" sz="2000" b="1" dirty="0">
              <a:solidFill>
                <a:schemeClr val="hlink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0" lvl="0" indent="0" defTabSz="762000">
              <a:lnSpc>
                <a:spcPct val="110000"/>
              </a:lnSpc>
              <a:spcBef>
                <a:spcPct val="0"/>
              </a:spcBef>
              <a:buNone/>
            </a:pPr>
            <a:endParaRPr lang="zh-CN" altLang="en-US" sz="2000" b="1" dirty="0">
              <a:solidFill>
                <a:schemeClr val="hlink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0" lvl="0" indent="0" defTabSz="762000">
              <a:lnSpc>
                <a:spcPct val="110000"/>
              </a:lnSpc>
              <a:spcBef>
                <a:spcPct val="0"/>
              </a:spcBef>
              <a:buNone/>
            </a:pPr>
            <a:endParaRPr lang="zh-CN" altLang="en-US" sz="2000" b="1" dirty="0">
              <a:solidFill>
                <a:schemeClr val="hlink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0" lvl="0" indent="0" defTabSz="762000">
              <a:lnSpc>
                <a:spcPct val="110000"/>
              </a:lnSpc>
              <a:spcBef>
                <a:spcPct val="0"/>
              </a:spcBef>
              <a:buNone/>
            </a:pPr>
            <a:endParaRPr lang="zh-CN" altLang="en-US" sz="2000" dirty="0">
              <a:solidFill>
                <a:schemeClr val="hlink"/>
              </a:solidFill>
              <a:latin typeface="宋体" panose="02010600030101010101" pitchFamily="2" charset="-122"/>
            </a:endParaRPr>
          </a:p>
        </p:txBody>
      </p:sp>
      <p:sp>
        <p:nvSpPr>
          <p:cNvPr id="9220" name="Rectangle 4"/>
          <p:cNvSpPr>
            <a:spLocks noChangeArrowheads="1"/>
          </p:cNvSpPr>
          <p:nvPr/>
        </p:nvSpPr>
        <p:spPr bwMode="auto">
          <a:xfrm>
            <a:off x="4343400" y="3976688"/>
            <a:ext cx="2457450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7620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例：Computer</a:t>
            </a: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21" name="Rectangle 5"/>
          <p:cNvSpPr>
            <a:spLocks noChangeArrowheads="1"/>
          </p:cNvSpPr>
          <p:nvPr/>
        </p:nvSpPr>
        <p:spPr bwMode="auto">
          <a:xfrm>
            <a:off x="4343400" y="4679950"/>
            <a:ext cx="4222750" cy="11874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2075" tIns="46038" rIns="92075" bIns="46038">
            <a:spAutoFit/>
          </a:bodyPr>
          <a:lstStyle/>
          <a:p>
            <a:pPr marL="0" marR="0" lvl="0" indent="0" algn="l" defTabSz="7620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r>
              <a:rPr kumimoji="0" lang="zh-CN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1000011  </a:t>
            </a:r>
            <a:r>
              <a:rPr kumimoji="0" lang="zh-CN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r>
              <a:rPr kumimoji="0" lang="zh-CN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1101111   </a:t>
            </a:r>
            <a:r>
              <a:rPr kumimoji="0" lang="zh-CN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r>
              <a:rPr kumimoji="0" lang="zh-CN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1101101</a:t>
            </a:r>
            <a:endParaRPr kumimoji="0" lang="zh-CN" altLang="zh-CN" sz="2400" b="1" i="0" u="none" strike="noStrike" kern="1200" cap="none" spc="0" normalizeH="0" baseline="0" noProof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7620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r>
              <a:rPr kumimoji="0" lang="zh-CN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1110000  </a:t>
            </a:r>
            <a:r>
              <a:rPr kumimoji="0" lang="zh-CN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r>
              <a:rPr kumimoji="0" lang="zh-CN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1110101   </a:t>
            </a:r>
            <a:r>
              <a:rPr kumimoji="0" lang="zh-CN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r>
              <a:rPr kumimoji="0" lang="zh-CN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1110100</a:t>
            </a:r>
            <a:endParaRPr kumimoji="0" lang="zh-CN" altLang="zh-CN" sz="2400" b="1" i="0" u="none" strike="noStrike" kern="1200" cap="none" spc="0" normalizeH="0" baseline="0" noProof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7620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r>
              <a:rPr kumimoji="0" lang="zh-CN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1100101  </a:t>
            </a:r>
            <a:r>
              <a:rPr kumimoji="0" lang="zh-CN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r>
              <a:rPr kumimoji="0" lang="zh-CN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1110010</a:t>
            </a:r>
            <a:endParaRPr kumimoji="0" lang="zh-CN" altLang="zh-CN" sz="2400" b="1" i="0" u="none" strike="noStrike" kern="1200" cap="none" spc="0" normalizeH="0" baseline="0" noProof="0">
              <a:ln>
                <a:noFill/>
              </a:ln>
              <a:solidFill>
                <a:schemeClr val="hlin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22" name="Text Box 6"/>
          <p:cNvSpPr txBox="1"/>
          <p:nvPr/>
        </p:nvSpPr>
        <p:spPr>
          <a:xfrm>
            <a:off x="1219200" y="1676400"/>
            <a:ext cx="182880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zh-CN" sz="1600" b="1" dirty="0">
                <a:solidFill>
                  <a:srgbClr val="6600CC"/>
                </a:solidFill>
              </a:rPr>
              <a:t>7   6   5   4   3   2   1</a:t>
            </a:r>
            <a:endParaRPr lang="zh-CN" altLang="zh-CN" sz="1600" b="1" dirty="0">
              <a:solidFill>
                <a:srgbClr val="6600CC"/>
              </a:solidFill>
            </a:endParaRPr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title"/>
          </p:nvPr>
        </p:nvSpPr>
        <p:spPr>
          <a:xfrm>
            <a:off x="179388" y="836613"/>
            <a:ext cx="7620000" cy="6858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一、ASCII码</a:t>
            </a:r>
            <a:endParaRPr kumimoji="0" lang="zh-CN" altLang="en-US" sz="36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j-cs"/>
            </a:endParaRPr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3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0" grpId="0"/>
      <p:bldP spid="9221" grpId="0"/>
      <p:bldP spid="92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Rectangle 2"/>
          <p:cNvSpPr>
            <a:spLocks noGrp="1"/>
          </p:cNvSpPr>
          <p:nvPr>
            <p:ph type="title"/>
          </p:nvPr>
        </p:nvSpPr>
        <p:spPr>
          <a:xfrm>
            <a:off x="179388" y="909638"/>
            <a:ext cx="7620000" cy="685800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dirty="0"/>
              <a:t>二、汉字的编码：（用途不同）</a:t>
            </a:r>
            <a:endParaRPr lang="zh-CN" altLang="en-US" dirty="0"/>
          </a:p>
        </p:txBody>
      </p:sp>
      <p:sp>
        <p:nvSpPr>
          <p:cNvPr id="10243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marL="287655" indent="-287655" eaLnBrk="1" hangingPunct="1"/>
            <a:r>
              <a:rPr lang="zh-CN" altLang="en-US" b="1" dirty="0">
                <a:solidFill>
                  <a:srgbClr val="0000FF"/>
                </a:solidFill>
              </a:rPr>
              <a:t>汉字输入码：为进行汉字输入，将汉字               代码化。</a:t>
            </a:r>
            <a:endParaRPr lang="zh-CN" altLang="en-US" b="1" dirty="0">
              <a:solidFill>
                <a:srgbClr val="0000FF"/>
              </a:solidFill>
            </a:endParaRPr>
          </a:p>
          <a:p>
            <a:pPr marL="287655" indent="-287655" eaLnBrk="1" hangingPunct="1"/>
            <a:r>
              <a:rPr lang="zh-CN" altLang="en-US" b="1" dirty="0">
                <a:solidFill>
                  <a:srgbClr val="0000FF"/>
                </a:solidFill>
              </a:rPr>
              <a:t>汉字机内码：在计算机内部进行汉字处理。</a:t>
            </a:r>
            <a:endParaRPr lang="zh-CN" altLang="en-US" b="1" dirty="0">
              <a:solidFill>
                <a:srgbClr val="0000FF"/>
              </a:solidFill>
            </a:endParaRPr>
          </a:p>
          <a:p>
            <a:pPr marL="287655" indent="-287655" eaLnBrk="1" hangingPunct="1"/>
            <a:r>
              <a:rPr lang="zh-CN" altLang="en-US" b="1" dirty="0">
                <a:solidFill>
                  <a:srgbClr val="0000FF"/>
                </a:solidFill>
              </a:rPr>
              <a:t>汉字字型码：汉字输出时的编码。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1266" name="Group 2"/>
          <p:cNvGrpSpPr/>
          <p:nvPr/>
        </p:nvGrpSpPr>
        <p:grpSpPr>
          <a:xfrm>
            <a:off x="1116013" y="5518150"/>
            <a:ext cx="1827212" cy="1119188"/>
            <a:chOff x="0" y="0"/>
            <a:chExt cx="1151" cy="705"/>
          </a:xfrm>
        </p:grpSpPr>
        <p:sp>
          <p:nvSpPr>
            <p:cNvPr id="11285" name="AutoShape 3"/>
            <p:cNvSpPr/>
            <p:nvPr/>
          </p:nvSpPr>
          <p:spPr>
            <a:xfrm>
              <a:off x="0" y="321"/>
              <a:ext cx="1151" cy="384"/>
            </a:xfrm>
            <a:prstGeom prst="roundRect">
              <a:avLst>
                <a:gd name="adj" fmla="val 50000"/>
              </a:avLst>
            </a:prstGeom>
            <a:solidFill>
              <a:srgbClr val="FFFF66"/>
            </a:solidFill>
            <a:ln w="9525">
              <a:noFill/>
            </a:ln>
            <a:effectLst>
              <a:prstShdw prst="shdw17" dist="17961" dir="2699999">
                <a:srgbClr val="99993D"/>
              </a:prstShdw>
            </a:effectLst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rgbClr val="6666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rgbClr val="666699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rgbClr val="666699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chemeClr val="tx1"/>
                  </a:solidFill>
                  <a:ea typeface="幼圆" panose="02010509060101010101" pitchFamily="49" charset="-122"/>
                </a:rPr>
                <a:t>显示输出</a:t>
              </a:r>
              <a:endParaRPr lang="zh-CN" altLang="en-US" sz="2400" b="1" dirty="0">
                <a:solidFill>
                  <a:schemeClr val="tx1"/>
                </a:solidFill>
                <a:ea typeface="幼圆" panose="02010509060101010101" pitchFamily="49" charset="-122"/>
              </a:endParaRPr>
            </a:p>
          </p:txBody>
        </p:sp>
        <p:sp>
          <p:nvSpPr>
            <p:cNvPr id="11268" name="AutoShape 4"/>
            <p:cNvSpPr>
              <a:spLocks noChangeArrowheads="1"/>
            </p:cNvSpPr>
            <p:nvPr/>
          </p:nvSpPr>
          <p:spPr bwMode="auto">
            <a:xfrm>
              <a:off x="480" y="0"/>
              <a:ext cx="288" cy="288"/>
            </a:xfrm>
            <a:prstGeom prst="downArrow">
              <a:avLst>
                <a:gd name="adj1" fmla="val 50000"/>
                <a:gd name="adj2" fmla="val 25000"/>
              </a:avLst>
            </a:prstGeom>
            <a:gradFill rotWithShape="0">
              <a:gsLst>
                <a:gs pos="0">
                  <a:schemeClr val="tx1">
                    <a:gamma/>
                    <a:tint val="0"/>
                    <a:invGamma/>
                  </a:schemeClr>
                </a:gs>
                <a:gs pos="100000">
                  <a:schemeClr val="tx1"/>
                </a:gs>
              </a:gsLst>
              <a:lin ang="5400000" scaled="1"/>
            </a:gradFill>
            <a:ln>
              <a:noFill/>
            </a:ln>
            <a:effectLst>
              <a:prstShdw prst="shdw17" dist="17961" dir="2700000">
                <a:schemeClr val="tx1">
                  <a:gamma/>
                  <a:shade val="60000"/>
                  <a:invGamma/>
                </a:schemeClr>
              </a:prstShdw>
            </a:effectLst>
          </p:spPr>
          <p:txBody>
            <a:bodyPr vert="eaVert"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1269" name="Group 5"/>
          <p:cNvGrpSpPr/>
          <p:nvPr/>
        </p:nvGrpSpPr>
        <p:grpSpPr>
          <a:xfrm>
            <a:off x="3132138" y="5518150"/>
            <a:ext cx="1827212" cy="1119188"/>
            <a:chOff x="0" y="0"/>
            <a:chExt cx="1151" cy="705"/>
          </a:xfrm>
        </p:grpSpPr>
        <p:sp>
          <p:nvSpPr>
            <p:cNvPr id="11283" name="AutoShape 6"/>
            <p:cNvSpPr/>
            <p:nvPr/>
          </p:nvSpPr>
          <p:spPr>
            <a:xfrm>
              <a:off x="0" y="321"/>
              <a:ext cx="1151" cy="384"/>
            </a:xfrm>
            <a:prstGeom prst="roundRect">
              <a:avLst>
                <a:gd name="adj" fmla="val 50000"/>
              </a:avLst>
            </a:prstGeom>
            <a:solidFill>
              <a:srgbClr val="FFFF66"/>
            </a:solidFill>
            <a:ln w="9525">
              <a:noFill/>
            </a:ln>
            <a:effectLst>
              <a:prstShdw prst="shdw17" dist="17961" dir="2699999">
                <a:srgbClr val="99993D"/>
              </a:prstShdw>
            </a:effectLst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rgbClr val="6666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rgbClr val="666699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rgbClr val="666699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chemeClr val="tx1"/>
                  </a:solidFill>
                  <a:ea typeface="幼圆" panose="02010509060101010101" pitchFamily="49" charset="-122"/>
                </a:rPr>
                <a:t>打印输出</a:t>
              </a:r>
              <a:endParaRPr lang="zh-CN" altLang="en-US" sz="2400" b="1" dirty="0">
                <a:solidFill>
                  <a:schemeClr val="tx1"/>
                </a:solidFill>
                <a:ea typeface="幼圆" panose="02010509060101010101" pitchFamily="49" charset="-122"/>
              </a:endParaRPr>
            </a:p>
          </p:txBody>
        </p:sp>
        <p:sp>
          <p:nvSpPr>
            <p:cNvPr id="3" name="AutoShape 7"/>
            <p:cNvSpPr>
              <a:spLocks noChangeArrowheads="1"/>
            </p:cNvSpPr>
            <p:nvPr/>
          </p:nvSpPr>
          <p:spPr bwMode="auto">
            <a:xfrm>
              <a:off x="432" y="0"/>
              <a:ext cx="288" cy="288"/>
            </a:xfrm>
            <a:prstGeom prst="downArrow">
              <a:avLst>
                <a:gd name="adj1" fmla="val 50000"/>
                <a:gd name="adj2" fmla="val 25000"/>
              </a:avLst>
            </a:prstGeom>
            <a:gradFill rotWithShape="0">
              <a:gsLst>
                <a:gs pos="0">
                  <a:schemeClr val="tx1">
                    <a:gamma/>
                    <a:tint val="0"/>
                    <a:invGamma/>
                  </a:schemeClr>
                </a:gs>
                <a:gs pos="100000">
                  <a:schemeClr val="tx1"/>
                </a:gs>
              </a:gsLst>
              <a:lin ang="5400000" scaled="1"/>
            </a:gradFill>
            <a:ln>
              <a:noFill/>
            </a:ln>
            <a:effectLst>
              <a:prstShdw prst="shdw17" dist="17961" dir="2700000">
                <a:schemeClr val="tx1">
                  <a:gamma/>
                  <a:shade val="60000"/>
                  <a:invGamma/>
                </a:schemeClr>
              </a:prstShdw>
            </a:effectLst>
          </p:spPr>
          <p:txBody>
            <a:bodyPr vert="eaVert"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1272" name="Group 8"/>
          <p:cNvGrpSpPr/>
          <p:nvPr/>
        </p:nvGrpSpPr>
        <p:grpSpPr>
          <a:xfrm>
            <a:off x="1331913" y="4508500"/>
            <a:ext cx="3657600" cy="1066800"/>
            <a:chOff x="0" y="0"/>
            <a:chExt cx="2304" cy="672"/>
          </a:xfrm>
        </p:grpSpPr>
        <p:sp>
          <p:nvSpPr>
            <p:cNvPr id="11281" name="AutoShape 9"/>
            <p:cNvSpPr/>
            <p:nvPr/>
          </p:nvSpPr>
          <p:spPr>
            <a:xfrm>
              <a:off x="0" y="288"/>
              <a:ext cx="2304" cy="384"/>
            </a:xfrm>
            <a:prstGeom prst="roundRect">
              <a:avLst>
                <a:gd name="adj" fmla="val 50000"/>
              </a:avLst>
            </a:prstGeom>
            <a:solidFill>
              <a:srgbClr val="FFFF66"/>
            </a:solidFill>
            <a:ln w="9525">
              <a:noFill/>
            </a:ln>
            <a:effectLst>
              <a:prstShdw prst="shdw17" dist="17961" dir="2699999">
                <a:srgbClr val="99993D"/>
              </a:prstShdw>
            </a:effectLst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rgbClr val="6666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rgbClr val="666699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rgbClr val="666699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chemeClr val="tx1"/>
                  </a:solidFill>
                  <a:ea typeface="幼圆" panose="02010509060101010101" pitchFamily="49" charset="-122"/>
                </a:rPr>
                <a:t>机内码向字形码转换</a:t>
              </a:r>
              <a:endParaRPr lang="zh-CN" altLang="en-US" sz="2400" b="1" dirty="0">
                <a:solidFill>
                  <a:schemeClr val="tx1"/>
                </a:solidFill>
                <a:ea typeface="幼圆" panose="02010509060101010101" pitchFamily="49" charset="-122"/>
              </a:endParaRPr>
            </a:p>
          </p:txBody>
        </p:sp>
        <p:sp>
          <p:nvSpPr>
            <p:cNvPr id="4" name="AutoShape 10"/>
            <p:cNvSpPr>
              <a:spLocks noChangeArrowheads="1"/>
            </p:cNvSpPr>
            <p:nvPr/>
          </p:nvSpPr>
          <p:spPr bwMode="auto">
            <a:xfrm>
              <a:off x="1008" y="0"/>
              <a:ext cx="288" cy="288"/>
            </a:xfrm>
            <a:prstGeom prst="downArrow">
              <a:avLst>
                <a:gd name="adj1" fmla="val 50000"/>
                <a:gd name="adj2" fmla="val 25000"/>
              </a:avLst>
            </a:prstGeom>
            <a:gradFill rotWithShape="0">
              <a:gsLst>
                <a:gs pos="0">
                  <a:schemeClr val="tx1">
                    <a:gamma/>
                    <a:tint val="0"/>
                    <a:invGamma/>
                  </a:schemeClr>
                </a:gs>
                <a:gs pos="100000">
                  <a:schemeClr val="tx1"/>
                </a:gs>
              </a:gsLst>
              <a:lin ang="5400000" scaled="1"/>
            </a:gradFill>
            <a:ln>
              <a:noFill/>
            </a:ln>
            <a:effectLst>
              <a:prstShdw prst="shdw17" dist="17961" dir="2700000">
                <a:schemeClr val="tx1">
                  <a:gamma/>
                  <a:shade val="60000"/>
                  <a:invGamma/>
                </a:schemeClr>
              </a:prstShdw>
            </a:effectLst>
          </p:spPr>
          <p:txBody>
            <a:bodyPr vert="eaVert"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1275" name="Group 11"/>
          <p:cNvGrpSpPr/>
          <p:nvPr/>
        </p:nvGrpSpPr>
        <p:grpSpPr>
          <a:xfrm>
            <a:off x="2411413" y="3429000"/>
            <a:ext cx="1295400" cy="1149350"/>
            <a:chOff x="0" y="0"/>
            <a:chExt cx="816" cy="723"/>
          </a:xfrm>
        </p:grpSpPr>
        <p:sp>
          <p:nvSpPr>
            <p:cNvPr id="11279" name="AutoShape 12"/>
            <p:cNvSpPr/>
            <p:nvPr/>
          </p:nvSpPr>
          <p:spPr>
            <a:xfrm>
              <a:off x="0" y="339"/>
              <a:ext cx="816" cy="384"/>
            </a:xfrm>
            <a:prstGeom prst="roundRect">
              <a:avLst>
                <a:gd name="adj" fmla="val 50000"/>
              </a:avLst>
            </a:prstGeom>
            <a:solidFill>
              <a:srgbClr val="FFFF66"/>
            </a:solidFill>
            <a:ln w="9525">
              <a:noFill/>
            </a:ln>
            <a:effectLst>
              <a:prstShdw prst="shdw17" dist="17961" dir="2699999">
                <a:srgbClr val="99993D"/>
              </a:prstShdw>
            </a:effectLst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rgbClr val="6666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rgbClr val="666699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rgbClr val="666699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chemeClr val="tx1"/>
                  </a:solidFill>
                  <a:ea typeface="幼圆" panose="02010509060101010101" pitchFamily="49" charset="-122"/>
                </a:rPr>
                <a:t>机内码</a:t>
              </a:r>
              <a:endParaRPr lang="zh-CN" altLang="en-US" sz="2400" b="1" dirty="0">
                <a:solidFill>
                  <a:schemeClr val="tx1"/>
                </a:solidFill>
                <a:ea typeface="幼圆" panose="02010509060101010101" pitchFamily="49" charset="-122"/>
              </a:endParaRPr>
            </a:p>
          </p:txBody>
        </p:sp>
        <p:sp>
          <p:nvSpPr>
            <p:cNvPr id="5" name="AutoShape 13"/>
            <p:cNvSpPr>
              <a:spLocks noChangeArrowheads="1"/>
            </p:cNvSpPr>
            <p:nvPr/>
          </p:nvSpPr>
          <p:spPr bwMode="auto">
            <a:xfrm>
              <a:off x="336" y="0"/>
              <a:ext cx="288" cy="336"/>
            </a:xfrm>
            <a:prstGeom prst="downArrow">
              <a:avLst>
                <a:gd name="adj1" fmla="val 50000"/>
                <a:gd name="adj2" fmla="val 29167"/>
              </a:avLst>
            </a:prstGeom>
            <a:gradFill rotWithShape="0">
              <a:gsLst>
                <a:gs pos="0">
                  <a:schemeClr val="tx1">
                    <a:gamma/>
                    <a:tint val="0"/>
                    <a:invGamma/>
                  </a:schemeClr>
                </a:gs>
                <a:gs pos="100000">
                  <a:schemeClr val="tx1"/>
                </a:gs>
              </a:gsLst>
              <a:lin ang="5400000" scaled="1"/>
            </a:gradFill>
            <a:ln>
              <a:noFill/>
            </a:ln>
            <a:effectLst>
              <a:prstShdw prst="shdw17" dist="17961" dir="2700000">
                <a:schemeClr val="tx1">
                  <a:gamma/>
                  <a:shade val="60000"/>
                  <a:invGamma/>
                </a:schemeClr>
              </a:prstShdw>
            </a:effectLst>
          </p:spPr>
          <p:txBody>
            <a:bodyPr vert="eaVert"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1278" name="Group 14"/>
          <p:cNvGrpSpPr/>
          <p:nvPr/>
        </p:nvGrpSpPr>
        <p:grpSpPr>
          <a:xfrm>
            <a:off x="1403350" y="2205038"/>
            <a:ext cx="3429000" cy="1223962"/>
            <a:chOff x="0" y="0"/>
            <a:chExt cx="2160" cy="771"/>
          </a:xfrm>
        </p:grpSpPr>
        <p:sp>
          <p:nvSpPr>
            <p:cNvPr id="11277" name="AutoShape 15"/>
            <p:cNvSpPr/>
            <p:nvPr/>
          </p:nvSpPr>
          <p:spPr>
            <a:xfrm>
              <a:off x="0" y="387"/>
              <a:ext cx="2160" cy="384"/>
            </a:xfrm>
            <a:prstGeom prst="roundRect">
              <a:avLst>
                <a:gd name="adj" fmla="val 50000"/>
              </a:avLst>
            </a:prstGeom>
            <a:solidFill>
              <a:srgbClr val="FFFF66"/>
            </a:solidFill>
            <a:ln w="9525">
              <a:noFill/>
            </a:ln>
            <a:effectLst>
              <a:prstShdw prst="shdw17" dist="17961" dir="2699999">
                <a:srgbClr val="99993D"/>
              </a:prstShdw>
            </a:effectLst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rgbClr val="6666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rgbClr val="666699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rgbClr val="666699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chemeClr val="tx1"/>
                  </a:solidFill>
                  <a:ea typeface="幼圆" panose="02010509060101010101" pitchFamily="49" charset="-122"/>
                </a:rPr>
                <a:t>输入码向机内码转换</a:t>
              </a:r>
              <a:endParaRPr lang="zh-CN" altLang="en-US" sz="2400" b="1" dirty="0">
                <a:solidFill>
                  <a:schemeClr val="tx1"/>
                </a:solidFill>
                <a:ea typeface="幼圆" panose="02010509060101010101" pitchFamily="49" charset="-122"/>
              </a:endParaRPr>
            </a:p>
          </p:txBody>
        </p:sp>
        <p:sp>
          <p:nvSpPr>
            <p:cNvPr id="7" name="AutoShape 16"/>
            <p:cNvSpPr>
              <a:spLocks noChangeArrowheads="1"/>
            </p:cNvSpPr>
            <p:nvPr/>
          </p:nvSpPr>
          <p:spPr bwMode="auto">
            <a:xfrm>
              <a:off x="960" y="0"/>
              <a:ext cx="288" cy="336"/>
            </a:xfrm>
            <a:prstGeom prst="downArrow">
              <a:avLst>
                <a:gd name="adj1" fmla="val 50000"/>
                <a:gd name="adj2" fmla="val 29167"/>
              </a:avLst>
            </a:prstGeom>
            <a:gradFill rotWithShape="0">
              <a:gsLst>
                <a:gs pos="0">
                  <a:schemeClr val="tx1">
                    <a:gamma/>
                    <a:tint val="0"/>
                    <a:invGamma/>
                  </a:schemeClr>
                </a:gs>
                <a:gs pos="100000">
                  <a:schemeClr val="tx1"/>
                </a:gs>
              </a:gsLst>
              <a:lin ang="5400000" scaled="1"/>
            </a:gradFill>
            <a:ln>
              <a:noFill/>
            </a:ln>
            <a:effectLst>
              <a:prstShdw prst="shdw17" dist="17961" dir="2700000">
                <a:schemeClr val="tx1">
                  <a:gamma/>
                  <a:shade val="60000"/>
                  <a:invGamma/>
                </a:schemeClr>
              </a:prstShdw>
            </a:effectLst>
          </p:spPr>
          <p:txBody>
            <a:bodyPr vert="eaVert"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1271" name="Rectangle 17"/>
          <p:cNvSpPr>
            <a:spLocks noGrp="1"/>
          </p:cNvSpPr>
          <p:nvPr>
            <p:ph type="title"/>
          </p:nvPr>
        </p:nvSpPr>
        <p:spPr>
          <a:xfrm>
            <a:off x="1979613" y="836613"/>
            <a:ext cx="4781550" cy="498475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4000" dirty="0">
                <a:latin typeface="Tahoma" panose="020B0604030504040204" pitchFamily="34" charset="0"/>
                <a:ea typeface="隶书" panose="02010509060101010101" pitchFamily="49" charset="-122"/>
              </a:rPr>
              <a:t>中文编码</a:t>
            </a:r>
            <a:endParaRPr lang="zh-CN" altLang="en-US" sz="4000" dirty="0">
              <a:latin typeface="Tahoma" panose="020B0604030504040204" pitchFamily="34" charset="0"/>
              <a:ea typeface="隶书" panose="02010509060101010101" pitchFamily="49" charset="-122"/>
            </a:endParaRPr>
          </a:p>
        </p:txBody>
      </p:sp>
      <p:sp>
        <p:nvSpPr>
          <p:cNvPr id="2" name="AutoShape 18"/>
          <p:cNvSpPr/>
          <p:nvPr/>
        </p:nvSpPr>
        <p:spPr>
          <a:xfrm>
            <a:off x="1619250" y="1628775"/>
            <a:ext cx="3098800" cy="609600"/>
          </a:xfrm>
          <a:prstGeom prst="roundRect">
            <a:avLst>
              <a:gd name="adj" fmla="val 50000"/>
            </a:avLst>
          </a:prstGeom>
          <a:solidFill>
            <a:srgbClr val="FFFF66"/>
          </a:solidFill>
          <a:ln w="9525">
            <a:noFill/>
          </a:ln>
          <a:effectLst>
            <a:prstShdw prst="shdw17" dist="17961" dir="2699999">
              <a:srgbClr val="99993D"/>
            </a:prstShdw>
          </a:effectLst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tx1"/>
                </a:solidFill>
                <a:ea typeface="幼圆" panose="02010509060101010101" pitchFamily="49" charset="-122"/>
              </a:rPr>
              <a:t>字符代码化（输入）</a:t>
            </a:r>
            <a:endParaRPr lang="zh-CN" altLang="en-US" sz="2400" b="1" dirty="0">
              <a:solidFill>
                <a:schemeClr val="tx1"/>
              </a:solidFill>
              <a:ea typeface="幼圆" panose="02010509060101010101" pitchFamily="49" charset="-122"/>
            </a:endParaRPr>
          </a:p>
        </p:txBody>
      </p:sp>
      <p:grpSp>
        <p:nvGrpSpPr>
          <p:cNvPr id="6" name="Group 19"/>
          <p:cNvGrpSpPr/>
          <p:nvPr/>
        </p:nvGrpSpPr>
        <p:grpSpPr>
          <a:xfrm>
            <a:off x="5943600" y="3048000"/>
            <a:ext cx="2370138" cy="2514600"/>
            <a:chOff x="0" y="0"/>
            <a:chExt cx="1493" cy="1584"/>
          </a:xfrm>
        </p:grpSpPr>
        <p:graphicFrame>
          <p:nvGraphicFramePr>
            <p:cNvPr id="8" name="Object 20"/>
            <p:cNvGraphicFramePr>
              <a:graphicFrameLocks noChangeAspect="1"/>
            </p:cNvGraphicFramePr>
            <p:nvPr/>
          </p:nvGraphicFramePr>
          <p:xfrm>
            <a:off x="0" y="0"/>
            <a:ext cx="1493" cy="15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6" name="" r:id="rId1" imgW="4755515" imgH="4827905" progId="">
                    <p:embed/>
                  </p:oleObj>
                </mc:Choice>
                <mc:Fallback>
                  <p:oleObj name="" r:id="rId1" imgW="4755515" imgH="4827905" progId="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0" y="0"/>
                          <a:ext cx="1493" cy="15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76" name="Text Box 21"/>
            <p:cNvSpPr txBox="1"/>
            <p:nvPr/>
          </p:nvSpPr>
          <p:spPr>
            <a:xfrm>
              <a:off x="355" y="134"/>
              <a:ext cx="695" cy="9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rgbClr val="6666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rgbClr val="666699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rgbClr val="666699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lnSpc>
                  <a:spcPct val="125000"/>
                </a:lnSpc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chemeClr val="bg1"/>
                  </a:solidFill>
                  <a:ea typeface="幼圆" panose="02010509060101010101" pitchFamily="49" charset="-122"/>
                </a:rPr>
                <a:t>数字码</a:t>
              </a:r>
              <a:endParaRPr lang="zh-CN" altLang="en-US" sz="2400" b="1" dirty="0">
                <a:solidFill>
                  <a:schemeClr val="bg1"/>
                </a:solidFill>
                <a:ea typeface="幼圆" panose="02010509060101010101" pitchFamily="49" charset="-122"/>
              </a:endParaRPr>
            </a:p>
            <a:p>
              <a:pPr marL="0" lvl="0" indent="0" eaLnBrk="1" hangingPunct="1">
                <a:lnSpc>
                  <a:spcPct val="125000"/>
                </a:lnSpc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chemeClr val="bg1"/>
                  </a:solidFill>
                  <a:ea typeface="幼圆" panose="02010509060101010101" pitchFamily="49" charset="-122"/>
                </a:rPr>
                <a:t>拼音码</a:t>
              </a:r>
              <a:endParaRPr lang="zh-CN" altLang="en-US" sz="2400" b="1" dirty="0">
                <a:solidFill>
                  <a:schemeClr val="bg1"/>
                </a:solidFill>
                <a:ea typeface="幼圆" panose="02010509060101010101" pitchFamily="49" charset="-122"/>
              </a:endParaRPr>
            </a:p>
            <a:p>
              <a:pPr marL="0" lvl="0" indent="0" eaLnBrk="1" hangingPunct="1">
                <a:lnSpc>
                  <a:spcPct val="125000"/>
                </a:lnSpc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chemeClr val="bg1"/>
                  </a:solidFill>
                  <a:ea typeface="幼圆" panose="02010509060101010101" pitchFamily="49" charset="-122"/>
                </a:rPr>
                <a:t>字形码</a:t>
              </a:r>
              <a:endParaRPr lang="zh-CN" altLang="en-US" sz="2400" b="1" dirty="0">
                <a:solidFill>
                  <a:schemeClr val="bg1"/>
                </a:solidFill>
                <a:ea typeface="幼圆" panose="02010509060101010101" pitchFamily="49" charset="-122"/>
              </a:endParaRPr>
            </a:p>
          </p:txBody>
        </p:sp>
      </p:grpSp>
      <p:sp>
        <p:nvSpPr>
          <p:cNvPr id="11274" name="Text Box 22"/>
          <p:cNvSpPr txBox="1"/>
          <p:nvPr/>
        </p:nvSpPr>
        <p:spPr>
          <a:xfrm>
            <a:off x="6280150" y="2454275"/>
            <a:ext cx="182086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tx1"/>
                </a:solidFill>
              </a:rPr>
              <a:t>汉字输入码</a:t>
            </a:r>
            <a:r>
              <a:rPr lang="zh-CN" altLang="en-US" sz="2400" dirty="0">
                <a:solidFill>
                  <a:schemeClr val="tx1"/>
                </a:solidFill>
              </a:rPr>
              <a:t>：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Rectangle 2"/>
          <p:cNvSpPr>
            <a:spLocks noGrp="1"/>
          </p:cNvSpPr>
          <p:nvPr>
            <p:ph type="title"/>
          </p:nvPr>
        </p:nvSpPr>
        <p:spPr>
          <a:xfrm>
            <a:off x="323850" y="765175"/>
            <a:ext cx="7620000" cy="685800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dirty="0"/>
              <a:t>数字码以国标码和区位码为代表：</a:t>
            </a:r>
            <a:endParaRPr lang="zh-CN" altLang="en-US" dirty="0"/>
          </a:p>
        </p:txBody>
      </p:sp>
      <p:sp>
        <p:nvSpPr>
          <p:cNvPr id="12291" name="Rectangle 3"/>
          <p:cNvSpPr>
            <a:spLocks noGrp="1"/>
          </p:cNvSpPr>
          <p:nvPr>
            <p:ph idx="1"/>
          </p:nvPr>
        </p:nvSpPr>
        <p:spPr>
          <a:xfrm>
            <a:off x="323850" y="1844675"/>
            <a:ext cx="8424863" cy="4114800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sz="2800" dirty="0">
                <a:solidFill>
                  <a:srgbClr val="0000FF"/>
                </a:solidFill>
              </a:rPr>
              <a:t>GB2312-80</a:t>
            </a:r>
            <a:r>
              <a:rPr lang="zh-CN" altLang="en-US" sz="2800" dirty="0">
                <a:solidFill>
                  <a:srgbClr val="0000FF"/>
                </a:solidFill>
                <a:latin typeface="宋体" panose="02010600030101010101" pitchFamily="2" charset="-122"/>
              </a:rPr>
              <a:t>(即国标码)，含6763个汉字，分两级又分94个区，每区94个字符。一级拼音排序（16-55区），二级按部首排序。前15区是西文字母、数字、图形符号，以及用户自行定义的专用符号。</a:t>
            </a:r>
            <a:endParaRPr lang="zh-CN" altLang="en-US" sz="2800" dirty="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eaLnBrk="1" hangingPunct="1"/>
            <a:r>
              <a:rPr lang="zh-CN" altLang="en-US" sz="2800" dirty="0">
                <a:solidFill>
                  <a:srgbClr val="0000FF"/>
                </a:solidFill>
                <a:latin typeface="宋体" panose="02010600030101010101" pitchFamily="2" charset="-122"/>
              </a:rPr>
              <a:t>国标码=区位码+2020H</a:t>
            </a:r>
            <a:endParaRPr lang="zh-CN" altLang="en-US" sz="2800" dirty="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eaLnBrk="1" hangingPunct="1"/>
            <a:r>
              <a:rPr lang="zh-CN" altLang="en-US" sz="2800" dirty="0">
                <a:solidFill>
                  <a:srgbClr val="0000FF"/>
                </a:solidFill>
                <a:latin typeface="宋体" panose="02010600030101010101" pitchFamily="2" charset="-122"/>
              </a:rPr>
              <a:t>机内码=国标码+8080H</a:t>
            </a:r>
            <a:endParaRPr lang="zh-CN" altLang="en-US" sz="2800" dirty="0">
              <a:solidFill>
                <a:srgbClr val="0000FF"/>
              </a:solidFill>
              <a:latin typeface="宋体" panose="02010600030101010101" pitchFamily="2" charset="-122"/>
            </a:endParaRPr>
          </a:p>
          <a:p>
            <a:pPr eaLnBrk="1" hangingPunct="1"/>
            <a:r>
              <a:rPr lang="zh-CN" altLang="en-US" sz="2800" dirty="0">
                <a:solidFill>
                  <a:srgbClr val="0000FF"/>
                </a:solidFill>
                <a:latin typeface="宋体" panose="02010600030101010101" pitchFamily="2" charset="-122"/>
              </a:rPr>
              <a:t>注意：区位码用十进制数表示，通常记作“区位-位号”。要转换时，一定要先变成十六进制。</a:t>
            </a:r>
            <a:endParaRPr lang="zh-CN" altLang="en-US" sz="2800" dirty="0">
              <a:solidFill>
                <a:srgbClr val="0000FF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dirty="0"/>
              <a:t>汉字机内码：</a:t>
            </a:r>
            <a:endParaRPr lang="zh-CN" altLang="en-US" dirty="0"/>
          </a:p>
        </p:txBody>
      </p:sp>
      <p:sp>
        <p:nvSpPr>
          <p:cNvPr id="13315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>
                <a:solidFill>
                  <a:srgbClr val="0000FF"/>
                </a:solidFill>
              </a:rPr>
              <a:t>一般2个字节，为与ASCII码相区别，字节的最高位都为1。</a:t>
            </a:r>
            <a:endParaRPr lang="zh-CN" altLang="en-US" dirty="0">
              <a:solidFill>
                <a:srgbClr val="0000FF"/>
              </a:solidFill>
            </a:endParaRPr>
          </a:p>
          <a:p>
            <a:pPr eaLnBrk="1" hangingPunct="1"/>
            <a:endParaRPr lang="zh-CN" altLang="en-US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Rectangle 711"/>
          <p:cNvSpPr>
            <a:spLocks noGrp="1"/>
          </p:cNvSpPr>
          <p:nvPr>
            <p:ph type="title"/>
          </p:nvPr>
        </p:nvSpPr>
        <p:spPr>
          <a:xfrm>
            <a:off x="503238" y="138113"/>
            <a:ext cx="8137525" cy="719137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dirty="0"/>
              <a:t>中文输出码——字模码/点阵代码</a:t>
            </a:r>
            <a:endParaRPr lang="zh-CN" altLang="en-US" dirty="0"/>
          </a:p>
        </p:txBody>
      </p:sp>
      <p:grpSp>
        <p:nvGrpSpPr>
          <p:cNvPr id="14339" name="组合 4"/>
          <p:cNvGrpSpPr/>
          <p:nvPr/>
        </p:nvGrpSpPr>
        <p:grpSpPr>
          <a:xfrm>
            <a:off x="814388" y="1651000"/>
            <a:ext cx="3987800" cy="4090988"/>
            <a:chOff x="813671" y="1651391"/>
            <a:chExt cx="3989080" cy="4091000"/>
          </a:xfrm>
        </p:grpSpPr>
        <p:grpSp>
          <p:nvGrpSpPr>
            <p:cNvPr id="14359" name="Group 2"/>
            <p:cNvGrpSpPr/>
            <p:nvPr/>
          </p:nvGrpSpPr>
          <p:grpSpPr>
            <a:xfrm>
              <a:off x="813671" y="1651391"/>
              <a:ext cx="3989079" cy="4091000"/>
              <a:chOff x="0" y="0"/>
              <a:chExt cx="2484" cy="2451"/>
            </a:xfrm>
          </p:grpSpPr>
          <p:grpSp>
            <p:nvGrpSpPr>
              <p:cNvPr id="14718" name="Group 3"/>
              <p:cNvGrpSpPr/>
              <p:nvPr/>
            </p:nvGrpSpPr>
            <p:grpSpPr>
              <a:xfrm>
                <a:off x="0" y="0"/>
                <a:ext cx="1656" cy="414"/>
                <a:chOff x="0" y="0"/>
                <a:chExt cx="3072" cy="768"/>
              </a:xfrm>
            </p:grpSpPr>
            <p:grpSp>
              <p:nvGrpSpPr>
                <p:cNvPr id="15348" name="Group 4"/>
                <p:cNvGrpSpPr/>
                <p:nvPr/>
              </p:nvGrpSpPr>
              <p:grpSpPr>
                <a:xfrm>
                  <a:off x="0" y="0"/>
                  <a:ext cx="1536" cy="768"/>
                  <a:chOff x="0" y="0"/>
                  <a:chExt cx="1536" cy="768"/>
                </a:xfrm>
              </p:grpSpPr>
              <p:grpSp>
                <p:nvGrpSpPr>
                  <p:cNvPr id="15388" name="Group 5"/>
                  <p:cNvGrpSpPr/>
                  <p:nvPr/>
                </p:nvGrpSpPr>
                <p:grpSpPr>
                  <a:xfrm>
                    <a:off x="0" y="0"/>
                    <a:ext cx="768" cy="768"/>
                    <a:chOff x="0" y="0"/>
                    <a:chExt cx="768" cy="768"/>
                  </a:xfrm>
                </p:grpSpPr>
                <p:grpSp>
                  <p:nvGrpSpPr>
                    <p:cNvPr id="15408" name="Group 6"/>
                    <p:cNvGrpSpPr/>
                    <p:nvPr/>
                  </p:nvGrpSpPr>
                  <p:grpSpPr>
                    <a:xfrm>
                      <a:off x="0" y="0"/>
                      <a:ext cx="768" cy="384"/>
                      <a:chOff x="0" y="0"/>
                      <a:chExt cx="768" cy="384"/>
                    </a:xfrm>
                  </p:grpSpPr>
                  <p:sp>
                    <p:nvSpPr>
                      <p:cNvPr id="15418" name="Rectangle 7"/>
                      <p:cNvSpPr/>
                      <p:nvPr/>
                    </p:nvSpPr>
                    <p:spPr>
                      <a:xfrm>
                        <a:off x="0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419" name="Rectangle 8"/>
                      <p:cNvSpPr/>
                      <p:nvPr/>
                    </p:nvSpPr>
                    <p:spPr>
                      <a:xfrm>
                        <a:off x="192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420" name="Rectangle 9"/>
                      <p:cNvSpPr/>
                      <p:nvPr/>
                    </p:nvSpPr>
                    <p:spPr>
                      <a:xfrm>
                        <a:off x="384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421" name="Rectangle 10"/>
                      <p:cNvSpPr/>
                      <p:nvPr/>
                    </p:nvSpPr>
                    <p:spPr>
                      <a:xfrm>
                        <a:off x="576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422" name="Rectangle 11"/>
                      <p:cNvSpPr/>
                      <p:nvPr/>
                    </p:nvSpPr>
                    <p:spPr>
                      <a:xfrm>
                        <a:off x="576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423" name="Rectangle 12"/>
                      <p:cNvSpPr/>
                      <p:nvPr/>
                    </p:nvSpPr>
                    <p:spPr>
                      <a:xfrm>
                        <a:off x="384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424" name="Rectangle 13"/>
                      <p:cNvSpPr/>
                      <p:nvPr/>
                    </p:nvSpPr>
                    <p:spPr>
                      <a:xfrm>
                        <a:off x="192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425" name="Rectangle 14"/>
                      <p:cNvSpPr/>
                      <p:nvPr/>
                    </p:nvSpPr>
                    <p:spPr>
                      <a:xfrm>
                        <a:off x="0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15409" name="Group 15"/>
                    <p:cNvGrpSpPr/>
                    <p:nvPr/>
                  </p:nvGrpSpPr>
                  <p:grpSpPr>
                    <a:xfrm>
                      <a:off x="0" y="384"/>
                      <a:ext cx="768" cy="384"/>
                      <a:chOff x="0" y="0"/>
                      <a:chExt cx="768" cy="384"/>
                    </a:xfrm>
                  </p:grpSpPr>
                  <p:sp>
                    <p:nvSpPr>
                      <p:cNvPr id="15410" name="Rectangle 16"/>
                      <p:cNvSpPr/>
                      <p:nvPr/>
                    </p:nvSpPr>
                    <p:spPr>
                      <a:xfrm>
                        <a:off x="0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411" name="Rectangle 17"/>
                      <p:cNvSpPr/>
                      <p:nvPr/>
                    </p:nvSpPr>
                    <p:spPr>
                      <a:xfrm>
                        <a:off x="192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412" name="Rectangle 18"/>
                      <p:cNvSpPr/>
                      <p:nvPr/>
                    </p:nvSpPr>
                    <p:spPr>
                      <a:xfrm>
                        <a:off x="384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413" name="Rectangle 19"/>
                      <p:cNvSpPr/>
                      <p:nvPr/>
                    </p:nvSpPr>
                    <p:spPr>
                      <a:xfrm>
                        <a:off x="576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414" name="Rectangle 20"/>
                      <p:cNvSpPr/>
                      <p:nvPr/>
                    </p:nvSpPr>
                    <p:spPr>
                      <a:xfrm>
                        <a:off x="576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415" name="Rectangle 21"/>
                      <p:cNvSpPr/>
                      <p:nvPr/>
                    </p:nvSpPr>
                    <p:spPr>
                      <a:xfrm>
                        <a:off x="384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416" name="Rectangle 22"/>
                      <p:cNvSpPr/>
                      <p:nvPr/>
                    </p:nvSpPr>
                    <p:spPr>
                      <a:xfrm>
                        <a:off x="192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417" name="Rectangle 23"/>
                      <p:cNvSpPr/>
                      <p:nvPr/>
                    </p:nvSpPr>
                    <p:spPr>
                      <a:xfrm>
                        <a:off x="0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</p:grpSp>
              <p:grpSp>
                <p:nvGrpSpPr>
                  <p:cNvPr id="15389" name="Group 24"/>
                  <p:cNvGrpSpPr/>
                  <p:nvPr/>
                </p:nvGrpSpPr>
                <p:grpSpPr>
                  <a:xfrm>
                    <a:off x="768" y="0"/>
                    <a:ext cx="768" cy="768"/>
                    <a:chOff x="0" y="0"/>
                    <a:chExt cx="768" cy="768"/>
                  </a:xfrm>
                </p:grpSpPr>
                <p:grpSp>
                  <p:nvGrpSpPr>
                    <p:cNvPr id="15390" name="Group 25"/>
                    <p:cNvGrpSpPr/>
                    <p:nvPr/>
                  </p:nvGrpSpPr>
                  <p:grpSpPr>
                    <a:xfrm>
                      <a:off x="0" y="0"/>
                      <a:ext cx="768" cy="384"/>
                      <a:chOff x="0" y="0"/>
                      <a:chExt cx="768" cy="384"/>
                    </a:xfrm>
                  </p:grpSpPr>
                  <p:sp>
                    <p:nvSpPr>
                      <p:cNvPr id="15400" name="Rectangle 26"/>
                      <p:cNvSpPr/>
                      <p:nvPr/>
                    </p:nvSpPr>
                    <p:spPr>
                      <a:xfrm>
                        <a:off x="0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401" name="Rectangle 27"/>
                      <p:cNvSpPr/>
                      <p:nvPr/>
                    </p:nvSpPr>
                    <p:spPr>
                      <a:xfrm>
                        <a:off x="192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402" name="Rectangle 28"/>
                      <p:cNvSpPr/>
                      <p:nvPr/>
                    </p:nvSpPr>
                    <p:spPr>
                      <a:xfrm>
                        <a:off x="384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403" name="Rectangle 29"/>
                      <p:cNvSpPr/>
                      <p:nvPr/>
                    </p:nvSpPr>
                    <p:spPr>
                      <a:xfrm>
                        <a:off x="576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404" name="Rectangle 30"/>
                      <p:cNvSpPr/>
                      <p:nvPr/>
                    </p:nvSpPr>
                    <p:spPr>
                      <a:xfrm>
                        <a:off x="576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405" name="Rectangle 31"/>
                      <p:cNvSpPr/>
                      <p:nvPr/>
                    </p:nvSpPr>
                    <p:spPr>
                      <a:xfrm>
                        <a:off x="384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406" name="Rectangle 32"/>
                      <p:cNvSpPr/>
                      <p:nvPr/>
                    </p:nvSpPr>
                    <p:spPr>
                      <a:xfrm>
                        <a:off x="192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407" name="Rectangle 33"/>
                      <p:cNvSpPr/>
                      <p:nvPr/>
                    </p:nvSpPr>
                    <p:spPr>
                      <a:xfrm>
                        <a:off x="0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15391" name="Group 34"/>
                    <p:cNvGrpSpPr/>
                    <p:nvPr/>
                  </p:nvGrpSpPr>
                  <p:grpSpPr>
                    <a:xfrm>
                      <a:off x="0" y="384"/>
                      <a:ext cx="768" cy="384"/>
                      <a:chOff x="0" y="0"/>
                      <a:chExt cx="768" cy="384"/>
                    </a:xfrm>
                  </p:grpSpPr>
                  <p:sp>
                    <p:nvSpPr>
                      <p:cNvPr id="15392" name="Rectangle 35"/>
                      <p:cNvSpPr/>
                      <p:nvPr/>
                    </p:nvSpPr>
                    <p:spPr>
                      <a:xfrm>
                        <a:off x="0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393" name="Rectangle 36"/>
                      <p:cNvSpPr/>
                      <p:nvPr/>
                    </p:nvSpPr>
                    <p:spPr>
                      <a:xfrm>
                        <a:off x="192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394" name="Rectangle 37"/>
                      <p:cNvSpPr/>
                      <p:nvPr/>
                    </p:nvSpPr>
                    <p:spPr>
                      <a:xfrm>
                        <a:off x="384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395" name="Rectangle 38"/>
                      <p:cNvSpPr/>
                      <p:nvPr/>
                    </p:nvSpPr>
                    <p:spPr>
                      <a:xfrm>
                        <a:off x="576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396" name="Rectangle 39"/>
                      <p:cNvSpPr/>
                      <p:nvPr/>
                    </p:nvSpPr>
                    <p:spPr>
                      <a:xfrm>
                        <a:off x="576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397" name="Rectangle 40"/>
                      <p:cNvSpPr/>
                      <p:nvPr/>
                    </p:nvSpPr>
                    <p:spPr>
                      <a:xfrm>
                        <a:off x="384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398" name="Rectangle 41"/>
                      <p:cNvSpPr/>
                      <p:nvPr/>
                    </p:nvSpPr>
                    <p:spPr>
                      <a:xfrm>
                        <a:off x="192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399" name="Rectangle 42"/>
                      <p:cNvSpPr/>
                      <p:nvPr/>
                    </p:nvSpPr>
                    <p:spPr>
                      <a:xfrm>
                        <a:off x="0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15349" name="Group 43"/>
                <p:cNvGrpSpPr/>
                <p:nvPr/>
              </p:nvGrpSpPr>
              <p:grpSpPr>
                <a:xfrm>
                  <a:off x="1536" y="0"/>
                  <a:ext cx="1536" cy="768"/>
                  <a:chOff x="0" y="0"/>
                  <a:chExt cx="1536" cy="768"/>
                </a:xfrm>
              </p:grpSpPr>
              <p:grpSp>
                <p:nvGrpSpPr>
                  <p:cNvPr id="15350" name="Group 44"/>
                  <p:cNvGrpSpPr/>
                  <p:nvPr/>
                </p:nvGrpSpPr>
                <p:grpSpPr>
                  <a:xfrm>
                    <a:off x="0" y="0"/>
                    <a:ext cx="768" cy="768"/>
                    <a:chOff x="0" y="0"/>
                    <a:chExt cx="768" cy="768"/>
                  </a:xfrm>
                </p:grpSpPr>
                <p:grpSp>
                  <p:nvGrpSpPr>
                    <p:cNvPr id="15370" name="Group 45"/>
                    <p:cNvGrpSpPr/>
                    <p:nvPr/>
                  </p:nvGrpSpPr>
                  <p:grpSpPr>
                    <a:xfrm>
                      <a:off x="0" y="0"/>
                      <a:ext cx="768" cy="384"/>
                      <a:chOff x="0" y="0"/>
                      <a:chExt cx="768" cy="384"/>
                    </a:xfrm>
                  </p:grpSpPr>
                  <p:sp>
                    <p:nvSpPr>
                      <p:cNvPr id="15380" name="Rectangle 46"/>
                      <p:cNvSpPr/>
                      <p:nvPr/>
                    </p:nvSpPr>
                    <p:spPr>
                      <a:xfrm>
                        <a:off x="0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381" name="Rectangle 47"/>
                      <p:cNvSpPr/>
                      <p:nvPr/>
                    </p:nvSpPr>
                    <p:spPr>
                      <a:xfrm>
                        <a:off x="192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382" name="Rectangle 48"/>
                      <p:cNvSpPr/>
                      <p:nvPr/>
                    </p:nvSpPr>
                    <p:spPr>
                      <a:xfrm>
                        <a:off x="384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383" name="Rectangle 49"/>
                      <p:cNvSpPr/>
                      <p:nvPr/>
                    </p:nvSpPr>
                    <p:spPr>
                      <a:xfrm>
                        <a:off x="576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384" name="Rectangle 50"/>
                      <p:cNvSpPr/>
                      <p:nvPr/>
                    </p:nvSpPr>
                    <p:spPr>
                      <a:xfrm>
                        <a:off x="576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385" name="Rectangle 51"/>
                      <p:cNvSpPr/>
                      <p:nvPr/>
                    </p:nvSpPr>
                    <p:spPr>
                      <a:xfrm>
                        <a:off x="384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386" name="Rectangle 52"/>
                      <p:cNvSpPr/>
                      <p:nvPr/>
                    </p:nvSpPr>
                    <p:spPr>
                      <a:xfrm>
                        <a:off x="192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387" name="Rectangle 53"/>
                      <p:cNvSpPr/>
                      <p:nvPr/>
                    </p:nvSpPr>
                    <p:spPr>
                      <a:xfrm>
                        <a:off x="0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15371" name="Group 54"/>
                    <p:cNvGrpSpPr/>
                    <p:nvPr/>
                  </p:nvGrpSpPr>
                  <p:grpSpPr>
                    <a:xfrm>
                      <a:off x="0" y="384"/>
                      <a:ext cx="768" cy="384"/>
                      <a:chOff x="0" y="0"/>
                      <a:chExt cx="768" cy="384"/>
                    </a:xfrm>
                  </p:grpSpPr>
                  <p:sp>
                    <p:nvSpPr>
                      <p:cNvPr id="15372" name="Rectangle 55"/>
                      <p:cNvSpPr/>
                      <p:nvPr/>
                    </p:nvSpPr>
                    <p:spPr>
                      <a:xfrm>
                        <a:off x="0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373" name="Rectangle 56"/>
                      <p:cNvSpPr/>
                      <p:nvPr/>
                    </p:nvSpPr>
                    <p:spPr>
                      <a:xfrm>
                        <a:off x="192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374" name="Rectangle 57"/>
                      <p:cNvSpPr/>
                      <p:nvPr/>
                    </p:nvSpPr>
                    <p:spPr>
                      <a:xfrm>
                        <a:off x="384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375" name="Rectangle 58"/>
                      <p:cNvSpPr/>
                      <p:nvPr/>
                    </p:nvSpPr>
                    <p:spPr>
                      <a:xfrm>
                        <a:off x="576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376" name="Rectangle 59"/>
                      <p:cNvSpPr/>
                      <p:nvPr/>
                    </p:nvSpPr>
                    <p:spPr>
                      <a:xfrm>
                        <a:off x="576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377" name="Rectangle 60"/>
                      <p:cNvSpPr/>
                      <p:nvPr/>
                    </p:nvSpPr>
                    <p:spPr>
                      <a:xfrm>
                        <a:off x="384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378" name="Rectangle 61"/>
                      <p:cNvSpPr/>
                      <p:nvPr/>
                    </p:nvSpPr>
                    <p:spPr>
                      <a:xfrm>
                        <a:off x="192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379" name="Rectangle 62"/>
                      <p:cNvSpPr/>
                      <p:nvPr/>
                    </p:nvSpPr>
                    <p:spPr>
                      <a:xfrm>
                        <a:off x="0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</p:grpSp>
              <p:grpSp>
                <p:nvGrpSpPr>
                  <p:cNvPr id="15351" name="Group 63"/>
                  <p:cNvGrpSpPr/>
                  <p:nvPr/>
                </p:nvGrpSpPr>
                <p:grpSpPr>
                  <a:xfrm>
                    <a:off x="768" y="0"/>
                    <a:ext cx="768" cy="768"/>
                    <a:chOff x="0" y="0"/>
                    <a:chExt cx="768" cy="768"/>
                  </a:xfrm>
                </p:grpSpPr>
                <p:grpSp>
                  <p:nvGrpSpPr>
                    <p:cNvPr id="15352" name="Group 64"/>
                    <p:cNvGrpSpPr/>
                    <p:nvPr/>
                  </p:nvGrpSpPr>
                  <p:grpSpPr>
                    <a:xfrm>
                      <a:off x="0" y="0"/>
                      <a:ext cx="768" cy="384"/>
                      <a:chOff x="0" y="0"/>
                      <a:chExt cx="768" cy="384"/>
                    </a:xfrm>
                  </p:grpSpPr>
                  <p:sp>
                    <p:nvSpPr>
                      <p:cNvPr id="15362" name="Rectangle 65"/>
                      <p:cNvSpPr/>
                      <p:nvPr/>
                    </p:nvSpPr>
                    <p:spPr>
                      <a:xfrm>
                        <a:off x="0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363" name="Rectangle 66"/>
                      <p:cNvSpPr/>
                      <p:nvPr/>
                    </p:nvSpPr>
                    <p:spPr>
                      <a:xfrm>
                        <a:off x="192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364" name="Rectangle 67"/>
                      <p:cNvSpPr/>
                      <p:nvPr/>
                    </p:nvSpPr>
                    <p:spPr>
                      <a:xfrm>
                        <a:off x="384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365" name="Rectangle 68"/>
                      <p:cNvSpPr/>
                      <p:nvPr/>
                    </p:nvSpPr>
                    <p:spPr>
                      <a:xfrm>
                        <a:off x="576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366" name="Rectangle 69"/>
                      <p:cNvSpPr/>
                      <p:nvPr/>
                    </p:nvSpPr>
                    <p:spPr>
                      <a:xfrm>
                        <a:off x="576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367" name="Rectangle 70"/>
                      <p:cNvSpPr/>
                      <p:nvPr/>
                    </p:nvSpPr>
                    <p:spPr>
                      <a:xfrm>
                        <a:off x="384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368" name="Rectangle 71"/>
                      <p:cNvSpPr/>
                      <p:nvPr/>
                    </p:nvSpPr>
                    <p:spPr>
                      <a:xfrm>
                        <a:off x="192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369" name="Rectangle 72"/>
                      <p:cNvSpPr/>
                      <p:nvPr/>
                    </p:nvSpPr>
                    <p:spPr>
                      <a:xfrm>
                        <a:off x="0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15353" name="Group 73"/>
                    <p:cNvGrpSpPr/>
                    <p:nvPr/>
                  </p:nvGrpSpPr>
                  <p:grpSpPr>
                    <a:xfrm>
                      <a:off x="0" y="384"/>
                      <a:ext cx="768" cy="384"/>
                      <a:chOff x="0" y="0"/>
                      <a:chExt cx="768" cy="384"/>
                    </a:xfrm>
                  </p:grpSpPr>
                  <p:sp>
                    <p:nvSpPr>
                      <p:cNvPr id="15354" name="Rectangle 74"/>
                      <p:cNvSpPr/>
                      <p:nvPr/>
                    </p:nvSpPr>
                    <p:spPr>
                      <a:xfrm>
                        <a:off x="0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355" name="Rectangle 75"/>
                      <p:cNvSpPr/>
                      <p:nvPr/>
                    </p:nvSpPr>
                    <p:spPr>
                      <a:xfrm>
                        <a:off x="192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356" name="Rectangle 76"/>
                      <p:cNvSpPr/>
                      <p:nvPr/>
                    </p:nvSpPr>
                    <p:spPr>
                      <a:xfrm>
                        <a:off x="384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357" name="Rectangle 77"/>
                      <p:cNvSpPr/>
                      <p:nvPr/>
                    </p:nvSpPr>
                    <p:spPr>
                      <a:xfrm>
                        <a:off x="576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358" name="Rectangle 78"/>
                      <p:cNvSpPr/>
                      <p:nvPr/>
                    </p:nvSpPr>
                    <p:spPr>
                      <a:xfrm>
                        <a:off x="576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359" name="Rectangle 79"/>
                      <p:cNvSpPr/>
                      <p:nvPr/>
                    </p:nvSpPr>
                    <p:spPr>
                      <a:xfrm>
                        <a:off x="384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360" name="Rectangle 80"/>
                      <p:cNvSpPr/>
                      <p:nvPr/>
                    </p:nvSpPr>
                    <p:spPr>
                      <a:xfrm>
                        <a:off x="192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361" name="Rectangle 81"/>
                      <p:cNvSpPr/>
                      <p:nvPr/>
                    </p:nvSpPr>
                    <p:spPr>
                      <a:xfrm>
                        <a:off x="0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</p:grpSp>
            </p:grpSp>
          </p:grpSp>
          <p:grpSp>
            <p:nvGrpSpPr>
              <p:cNvPr id="14719" name="Group 82"/>
              <p:cNvGrpSpPr/>
              <p:nvPr/>
            </p:nvGrpSpPr>
            <p:grpSpPr>
              <a:xfrm>
                <a:off x="1656" y="0"/>
                <a:ext cx="828" cy="414"/>
                <a:chOff x="0" y="0"/>
                <a:chExt cx="1536" cy="768"/>
              </a:xfrm>
            </p:grpSpPr>
            <p:grpSp>
              <p:nvGrpSpPr>
                <p:cNvPr id="15310" name="Group 83"/>
                <p:cNvGrpSpPr/>
                <p:nvPr/>
              </p:nvGrpSpPr>
              <p:grpSpPr>
                <a:xfrm>
                  <a:off x="0" y="0"/>
                  <a:ext cx="768" cy="768"/>
                  <a:chOff x="0" y="0"/>
                  <a:chExt cx="768" cy="768"/>
                </a:xfrm>
              </p:grpSpPr>
              <p:grpSp>
                <p:nvGrpSpPr>
                  <p:cNvPr id="15330" name="Group 84"/>
                  <p:cNvGrpSpPr/>
                  <p:nvPr/>
                </p:nvGrpSpPr>
                <p:grpSpPr>
                  <a:xfrm>
                    <a:off x="0" y="0"/>
                    <a:ext cx="768" cy="384"/>
                    <a:chOff x="0" y="0"/>
                    <a:chExt cx="768" cy="384"/>
                  </a:xfrm>
                </p:grpSpPr>
                <p:sp>
                  <p:nvSpPr>
                    <p:cNvPr id="15340" name="Rectangle 85"/>
                    <p:cNvSpPr/>
                    <p:nvPr/>
                  </p:nvSpPr>
                  <p:spPr>
                    <a:xfrm>
                      <a:off x="0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5341" name="Rectangle 86"/>
                    <p:cNvSpPr/>
                    <p:nvPr/>
                  </p:nvSpPr>
                  <p:spPr>
                    <a:xfrm>
                      <a:off x="192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5342" name="Rectangle 87"/>
                    <p:cNvSpPr/>
                    <p:nvPr/>
                  </p:nvSpPr>
                  <p:spPr>
                    <a:xfrm>
                      <a:off x="384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5343" name="Rectangle 88"/>
                    <p:cNvSpPr/>
                    <p:nvPr/>
                  </p:nvSpPr>
                  <p:spPr>
                    <a:xfrm>
                      <a:off x="576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5344" name="Rectangle 89"/>
                    <p:cNvSpPr/>
                    <p:nvPr/>
                  </p:nvSpPr>
                  <p:spPr>
                    <a:xfrm>
                      <a:off x="576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5345" name="Rectangle 90"/>
                    <p:cNvSpPr/>
                    <p:nvPr/>
                  </p:nvSpPr>
                  <p:spPr>
                    <a:xfrm>
                      <a:off x="384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5346" name="Rectangle 91"/>
                    <p:cNvSpPr/>
                    <p:nvPr/>
                  </p:nvSpPr>
                  <p:spPr>
                    <a:xfrm>
                      <a:off x="192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5347" name="Rectangle 92"/>
                    <p:cNvSpPr/>
                    <p:nvPr/>
                  </p:nvSpPr>
                  <p:spPr>
                    <a:xfrm>
                      <a:off x="0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15331" name="Group 93"/>
                  <p:cNvGrpSpPr/>
                  <p:nvPr/>
                </p:nvGrpSpPr>
                <p:grpSpPr>
                  <a:xfrm>
                    <a:off x="0" y="384"/>
                    <a:ext cx="768" cy="384"/>
                    <a:chOff x="0" y="0"/>
                    <a:chExt cx="768" cy="384"/>
                  </a:xfrm>
                </p:grpSpPr>
                <p:sp>
                  <p:nvSpPr>
                    <p:cNvPr id="15332" name="Rectangle 94"/>
                    <p:cNvSpPr/>
                    <p:nvPr/>
                  </p:nvSpPr>
                  <p:spPr>
                    <a:xfrm>
                      <a:off x="0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5333" name="Rectangle 95"/>
                    <p:cNvSpPr/>
                    <p:nvPr/>
                  </p:nvSpPr>
                  <p:spPr>
                    <a:xfrm>
                      <a:off x="192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5334" name="Rectangle 96"/>
                    <p:cNvSpPr/>
                    <p:nvPr/>
                  </p:nvSpPr>
                  <p:spPr>
                    <a:xfrm>
                      <a:off x="384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5335" name="Rectangle 97"/>
                    <p:cNvSpPr/>
                    <p:nvPr/>
                  </p:nvSpPr>
                  <p:spPr>
                    <a:xfrm>
                      <a:off x="576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5336" name="Rectangle 98"/>
                    <p:cNvSpPr/>
                    <p:nvPr/>
                  </p:nvSpPr>
                  <p:spPr>
                    <a:xfrm>
                      <a:off x="576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5337" name="Rectangle 99"/>
                    <p:cNvSpPr/>
                    <p:nvPr/>
                  </p:nvSpPr>
                  <p:spPr>
                    <a:xfrm>
                      <a:off x="384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5338" name="Rectangle 100"/>
                    <p:cNvSpPr/>
                    <p:nvPr/>
                  </p:nvSpPr>
                  <p:spPr>
                    <a:xfrm>
                      <a:off x="192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5339" name="Rectangle 101"/>
                    <p:cNvSpPr/>
                    <p:nvPr/>
                  </p:nvSpPr>
                  <p:spPr>
                    <a:xfrm>
                      <a:off x="0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</p:grpSp>
            <p:grpSp>
              <p:nvGrpSpPr>
                <p:cNvPr id="15311" name="Group 102"/>
                <p:cNvGrpSpPr/>
                <p:nvPr/>
              </p:nvGrpSpPr>
              <p:grpSpPr>
                <a:xfrm>
                  <a:off x="768" y="0"/>
                  <a:ext cx="768" cy="768"/>
                  <a:chOff x="0" y="0"/>
                  <a:chExt cx="768" cy="768"/>
                </a:xfrm>
              </p:grpSpPr>
              <p:grpSp>
                <p:nvGrpSpPr>
                  <p:cNvPr id="15312" name="Group 103"/>
                  <p:cNvGrpSpPr/>
                  <p:nvPr/>
                </p:nvGrpSpPr>
                <p:grpSpPr>
                  <a:xfrm>
                    <a:off x="0" y="0"/>
                    <a:ext cx="768" cy="384"/>
                    <a:chOff x="0" y="0"/>
                    <a:chExt cx="768" cy="384"/>
                  </a:xfrm>
                </p:grpSpPr>
                <p:sp>
                  <p:nvSpPr>
                    <p:cNvPr id="15322" name="Rectangle 104"/>
                    <p:cNvSpPr/>
                    <p:nvPr/>
                  </p:nvSpPr>
                  <p:spPr>
                    <a:xfrm>
                      <a:off x="0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5323" name="Rectangle 105"/>
                    <p:cNvSpPr/>
                    <p:nvPr/>
                  </p:nvSpPr>
                  <p:spPr>
                    <a:xfrm>
                      <a:off x="192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5324" name="Rectangle 106"/>
                    <p:cNvSpPr/>
                    <p:nvPr/>
                  </p:nvSpPr>
                  <p:spPr>
                    <a:xfrm>
                      <a:off x="384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5325" name="Rectangle 107"/>
                    <p:cNvSpPr/>
                    <p:nvPr/>
                  </p:nvSpPr>
                  <p:spPr>
                    <a:xfrm>
                      <a:off x="576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5326" name="Rectangle 108"/>
                    <p:cNvSpPr/>
                    <p:nvPr/>
                  </p:nvSpPr>
                  <p:spPr>
                    <a:xfrm>
                      <a:off x="576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5327" name="Rectangle 109"/>
                    <p:cNvSpPr/>
                    <p:nvPr/>
                  </p:nvSpPr>
                  <p:spPr>
                    <a:xfrm>
                      <a:off x="384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5328" name="Rectangle 110"/>
                    <p:cNvSpPr/>
                    <p:nvPr/>
                  </p:nvSpPr>
                  <p:spPr>
                    <a:xfrm>
                      <a:off x="192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5329" name="Rectangle 111"/>
                    <p:cNvSpPr/>
                    <p:nvPr/>
                  </p:nvSpPr>
                  <p:spPr>
                    <a:xfrm>
                      <a:off x="0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15313" name="Group 112"/>
                  <p:cNvGrpSpPr/>
                  <p:nvPr/>
                </p:nvGrpSpPr>
                <p:grpSpPr>
                  <a:xfrm>
                    <a:off x="0" y="384"/>
                    <a:ext cx="768" cy="384"/>
                    <a:chOff x="0" y="0"/>
                    <a:chExt cx="768" cy="384"/>
                  </a:xfrm>
                </p:grpSpPr>
                <p:sp>
                  <p:nvSpPr>
                    <p:cNvPr id="15314" name="Rectangle 113"/>
                    <p:cNvSpPr/>
                    <p:nvPr/>
                  </p:nvSpPr>
                  <p:spPr>
                    <a:xfrm>
                      <a:off x="0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5315" name="Rectangle 114"/>
                    <p:cNvSpPr/>
                    <p:nvPr/>
                  </p:nvSpPr>
                  <p:spPr>
                    <a:xfrm>
                      <a:off x="192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5316" name="Rectangle 115"/>
                    <p:cNvSpPr/>
                    <p:nvPr/>
                  </p:nvSpPr>
                  <p:spPr>
                    <a:xfrm>
                      <a:off x="384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5317" name="Rectangle 116"/>
                    <p:cNvSpPr/>
                    <p:nvPr/>
                  </p:nvSpPr>
                  <p:spPr>
                    <a:xfrm>
                      <a:off x="576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5318" name="Rectangle 117"/>
                    <p:cNvSpPr/>
                    <p:nvPr/>
                  </p:nvSpPr>
                  <p:spPr>
                    <a:xfrm>
                      <a:off x="576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5319" name="Rectangle 118"/>
                    <p:cNvSpPr/>
                    <p:nvPr/>
                  </p:nvSpPr>
                  <p:spPr>
                    <a:xfrm>
                      <a:off x="384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5320" name="Rectangle 119"/>
                    <p:cNvSpPr/>
                    <p:nvPr/>
                  </p:nvSpPr>
                  <p:spPr>
                    <a:xfrm>
                      <a:off x="192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5321" name="Rectangle 120"/>
                    <p:cNvSpPr/>
                    <p:nvPr/>
                  </p:nvSpPr>
                  <p:spPr>
                    <a:xfrm>
                      <a:off x="0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</p:grpSp>
          </p:grpSp>
          <p:grpSp>
            <p:nvGrpSpPr>
              <p:cNvPr id="14720" name="Group 121"/>
              <p:cNvGrpSpPr/>
              <p:nvPr/>
            </p:nvGrpSpPr>
            <p:grpSpPr>
              <a:xfrm>
                <a:off x="0" y="405"/>
                <a:ext cx="1656" cy="414"/>
                <a:chOff x="0" y="0"/>
                <a:chExt cx="3072" cy="768"/>
              </a:xfrm>
            </p:grpSpPr>
            <p:grpSp>
              <p:nvGrpSpPr>
                <p:cNvPr id="15232" name="Group 122"/>
                <p:cNvGrpSpPr/>
                <p:nvPr/>
              </p:nvGrpSpPr>
              <p:grpSpPr>
                <a:xfrm>
                  <a:off x="0" y="0"/>
                  <a:ext cx="1536" cy="768"/>
                  <a:chOff x="0" y="0"/>
                  <a:chExt cx="1536" cy="768"/>
                </a:xfrm>
              </p:grpSpPr>
              <p:grpSp>
                <p:nvGrpSpPr>
                  <p:cNvPr id="15272" name="Group 123"/>
                  <p:cNvGrpSpPr/>
                  <p:nvPr/>
                </p:nvGrpSpPr>
                <p:grpSpPr>
                  <a:xfrm>
                    <a:off x="0" y="0"/>
                    <a:ext cx="768" cy="768"/>
                    <a:chOff x="0" y="0"/>
                    <a:chExt cx="768" cy="768"/>
                  </a:xfrm>
                </p:grpSpPr>
                <p:grpSp>
                  <p:nvGrpSpPr>
                    <p:cNvPr id="15292" name="Group 124"/>
                    <p:cNvGrpSpPr/>
                    <p:nvPr/>
                  </p:nvGrpSpPr>
                  <p:grpSpPr>
                    <a:xfrm>
                      <a:off x="0" y="0"/>
                      <a:ext cx="768" cy="384"/>
                      <a:chOff x="0" y="0"/>
                      <a:chExt cx="768" cy="384"/>
                    </a:xfrm>
                  </p:grpSpPr>
                  <p:sp>
                    <p:nvSpPr>
                      <p:cNvPr id="15302" name="Rectangle 125"/>
                      <p:cNvSpPr/>
                      <p:nvPr/>
                    </p:nvSpPr>
                    <p:spPr>
                      <a:xfrm>
                        <a:off x="0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303" name="Rectangle 126"/>
                      <p:cNvSpPr/>
                      <p:nvPr/>
                    </p:nvSpPr>
                    <p:spPr>
                      <a:xfrm>
                        <a:off x="192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304" name="Rectangle 127"/>
                      <p:cNvSpPr/>
                      <p:nvPr/>
                    </p:nvSpPr>
                    <p:spPr>
                      <a:xfrm>
                        <a:off x="384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305" name="Rectangle 128"/>
                      <p:cNvSpPr/>
                      <p:nvPr/>
                    </p:nvSpPr>
                    <p:spPr>
                      <a:xfrm>
                        <a:off x="576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306" name="Rectangle 129"/>
                      <p:cNvSpPr/>
                      <p:nvPr/>
                    </p:nvSpPr>
                    <p:spPr>
                      <a:xfrm>
                        <a:off x="576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307" name="Rectangle 130"/>
                      <p:cNvSpPr/>
                      <p:nvPr/>
                    </p:nvSpPr>
                    <p:spPr>
                      <a:xfrm>
                        <a:off x="384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308" name="Rectangle 131"/>
                      <p:cNvSpPr/>
                      <p:nvPr/>
                    </p:nvSpPr>
                    <p:spPr>
                      <a:xfrm>
                        <a:off x="192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309" name="Rectangle 132"/>
                      <p:cNvSpPr/>
                      <p:nvPr/>
                    </p:nvSpPr>
                    <p:spPr>
                      <a:xfrm>
                        <a:off x="0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15293" name="Group 133"/>
                    <p:cNvGrpSpPr/>
                    <p:nvPr/>
                  </p:nvGrpSpPr>
                  <p:grpSpPr>
                    <a:xfrm>
                      <a:off x="0" y="384"/>
                      <a:ext cx="768" cy="384"/>
                      <a:chOff x="0" y="0"/>
                      <a:chExt cx="768" cy="384"/>
                    </a:xfrm>
                  </p:grpSpPr>
                  <p:sp>
                    <p:nvSpPr>
                      <p:cNvPr id="15294" name="Rectangle 134"/>
                      <p:cNvSpPr/>
                      <p:nvPr/>
                    </p:nvSpPr>
                    <p:spPr>
                      <a:xfrm>
                        <a:off x="0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295" name="Rectangle 135"/>
                      <p:cNvSpPr/>
                      <p:nvPr/>
                    </p:nvSpPr>
                    <p:spPr>
                      <a:xfrm>
                        <a:off x="192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296" name="Rectangle 136"/>
                      <p:cNvSpPr/>
                      <p:nvPr/>
                    </p:nvSpPr>
                    <p:spPr>
                      <a:xfrm>
                        <a:off x="384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297" name="Rectangle 137"/>
                      <p:cNvSpPr/>
                      <p:nvPr/>
                    </p:nvSpPr>
                    <p:spPr>
                      <a:xfrm>
                        <a:off x="576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298" name="Rectangle 138"/>
                      <p:cNvSpPr/>
                      <p:nvPr/>
                    </p:nvSpPr>
                    <p:spPr>
                      <a:xfrm>
                        <a:off x="576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299" name="Rectangle 139"/>
                      <p:cNvSpPr/>
                      <p:nvPr/>
                    </p:nvSpPr>
                    <p:spPr>
                      <a:xfrm>
                        <a:off x="384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300" name="Rectangle 140"/>
                      <p:cNvSpPr/>
                      <p:nvPr/>
                    </p:nvSpPr>
                    <p:spPr>
                      <a:xfrm>
                        <a:off x="192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301" name="Rectangle 141"/>
                      <p:cNvSpPr/>
                      <p:nvPr/>
                    </p:nvSpPr>
                    <p:spPr>
                      <a:xfrm>
                        <a:off x="0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</p:grpSp>
              <p:grpSp>
                <p:nvGrpSpPr>
                  <p:cNvPr id="15273" name="Group 142"/>
                  <p:cNvGrpSpPr/>
                  <p:nvPr/>
                </p:nvGrpSpPr>
                <p:grpSpPr>
                  <a:xfrm>
                    <a:off x="768" y="0"/>
                    <a:ext cx="768" cy="768"/>
                    <a:chOff x="0" y="0"/>
                    <a:chExt cx="768" cy="768"/>
                  </a:xfrm>
                </p:grpSpPr>
                <p:grpSp>
                  <p:nvGrpSpPr>
                    <p:cNvPr id="15274" name="Group 143"/>
                    <p:cNvGrpSpPr/>
                    <p:nvPr/>
                  </p:nvGrpSpPr>
                  <p:grpSpPr>
                    <a:xfrm>
                      <a:off x="0" y="0"/>
                      <a:ext cx="768" cy="384"/>
                      <a:chOff x="0" y="0"/>
                      <a:chExt cx="768" cy="384"/>
                    </a:xfrm>
                  </p:grpSpPr>
                  <p:sp>
                    <p:nvSpPr>
                      <p:cNvPr id="15284" name="Rectangle 144"/>
                      <p:cNvSpPr/>
                      <p:nvPr/>
                    </p:nvSpPr>
                    <p:spPr>
                      <a:xfrm>
                        <a:off x="0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285" name="Rectangle 145"/>
                      <p:cNvSpPr/>
                      <p:nvPr/>
                    </p:nvSpPr>
                    <p:spPr>
                      <a:xfrm>
                        <a:off x="192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286" name="Rectangle 146"/>
                      <p:cNvSpPr/>
                      <p:nvPr/>
                    </p:nvSpPr>
                    <p:spPr>
                      <a:xfrm>
                        <a:off x="384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287" name="Rectangle 147"/>
                      <p:cNvSpPr/>
                      <p:nvPr/>
                    </p:nvSpPr>
                    <p:spPr>
                      <a:xfrm>
                        <a:off x="576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288" name="Rectangle 148"/>
                      <p:cNvSpPr/>
                      <p:nvPr/>
                    </p:nvSpPr>
                    <p:spPr>
                      <a:xfrm>
                        <a:off x="576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289" name="Rectangle 149"/>
                      <p:cNvSpPr/>
                      <p:nvPr/>
                    </p:nvSpPr>
                    <p:spPr>
                      <a:xfrm>
                        <a:off x="384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290" name="Rectangle 150"/>
                      <p:cNvSpPr/>
                      <p:nvPr/>
                    </p:nvSpPr>
                    <p:spPr>
                      <a:xfrm>
                        <a:off x="192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291" name="Rectangle 151"/>
                      <p:cNvSpPr/>
                      <p:nvPr/>
                    </p:nvSpPr>
                    <p:spPr>
                      <a:xfrm>
                        <a:off x="0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15275" name="Group 152"/>
                    <p:cNvGrpSpPr/>
                    <p:nvPr/>
                  </p:nvGrpSpPr>
                  <p:grpSpPr>
                    <a:xfrm>
                      <a:off x="0" y="384"/>
                      <a:ext cx="768" cy="384"/>
                      <a:chOff x="0" y="0"/>
                      <a:chExt cx="768" cy="384"/>
                    </a:xfrm>
                  </p:grpSpPr>
                  <p:sp>
                    <p:nvSpPr>
                      <p:cNvPr id="15276" name="Rectangle 153"/>
                      <p:cNvSpPr/>
                      <p:nvPr/>
                    </p:nvSpPr>
                    <p:spPr>
                      <a:xfrm>
                        <a:off x="0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277" name="Rectangle 154"/>
                      <p:cNvSpPr/>
                      <p:nvPr/>
                    </p:nvSpPr>
                    <p:spPr>
                      <a:xfrm>
                        <a:off x="192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278" name="Rectangle 155"/>
                      <p:cNvSpPr/>
                      <p:nvPr/>
                    </p:nvSpPr>
                    <p:spPr>
                      <a:xfrm>
                        <a:off x="384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279" name="Rectangle 156"/>
                      <p:cNvSpPr/>
                      <p:nvPr/>
                    </p:nvSpPr>
                    <p:spPr>
                      <a:xfrm>
                        <a:off x="576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280" name="Rectangle 157"/>
                      <p:cNvSpPr/>
                      <p:nvPr/>
                    </p:nvSpPr>
                    <p:spPr>
                      <a:xfrm>
                        <a:off x="576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281" name="Rectangle 158"/>
                      <p:cNvSpPr/>
                      <p:nvPr/>
                    </p:nvSpPr>
                    <p:spPr>
                      <a:xfrm>
                        <a:off x="384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282" name="Rectangle 159"/>
                      <p:cNvSpPr/>
                      <p:nvPr/>
                    </p:nvSpPr>
                    <p:spPr>
                      <a:xfrm>
                        <a:off x="192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283" name="Rectangle 160"/>
                      <p:cNvSpPr/>
                      <p:nvPr/>
                    </p:nvSpPr>
                    <p:spPr>
                      <a:xfrm>
                        <a:off x="0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15233" name="Group 161"/>
                <p:cNvGrpSpPr/>
                <p:nvPr/>
              </p:nvGrpSpPr>
              <p:grpSpPr>
                <a:xfrm>
                  <a:off x="1536" y="0"/>
                  <a:ext cx="1536" cy="768"/>
                  <a:chOff x="0" y="0"/>
                  <a:chExt cx="1536" cy="768"/>
                </a:xfrm>
              </p:grpSpPr>
              <p:grpSp>
                <p:nvGrpSpPr>
                  <p:cNvPr id="15234" name="Group 162"/>
                  <p:cNvGrpSpPr/>
                  <p:nvPr/>
                </p:nvGrpSpPr>
                <p:grpSpPr>
                  <a:xfrm>
                    <a:off x="0" y="0"/>
                    <a:ext cx="768" cy="768"/>
                    <a:chOff x="0" y="0"/>
                    <a:chExt cx="768" cy="768"/>
                  </a:xfrm>
                </p:grpSpPr>
                <p:grpSp>
                  <p:nvGrpSpPr>
                    <p:cNvPr id="15254" name="Group 163"/>
                    <p:cNvGrpSpPr/>
                    <p:nvPr/>
                  </p:nvGrpSpPr>
                  <p:grpSpPr>
                    <a:xfrm>
                      <a:off x="0" y="0"/>
                      <a:ext cx="768" cy="384"/>
                      <a:chOff x="0" y="0"/>
                      <a:chExt cx="768" cy="384"/>
                    </a:xfrm>
                  </p:grpSpPr>
                  <p:sp>
                    <p:nvSpPr>
                      <p:cNvPr id="15264" name="Rectangle 164"/>
                      <p:cNvSpPr/>
                      <p:nvPr/>
                    </p:nvSpPr>
                    <p:spPr>
                      <a:xfrm>
                        <a:off x="0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265" name="Rectangle 165"/>
                      <p:cNvSpPr/>
                      <p:nvPr/>
                    </p:nvSpPr>
                    <p:spPr>
                      <a:xfrm>
                        <a:off x="192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266" name="Rectangle 166"/>
                      <p:cNvSpPr/>
                      <p:nvPr/>
                    </p:nvSpPr>
                    <p:spPr>
                      <a:xfrm>
                        <a:off x="384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267" name="Rectangle 167"/>
                      <p:cNvSpPr/>
                      <p:nvPr/>
                    </p:nvSpPr>
                    <p:spPr>
                      <a:xfrm>
                        <a:off x="576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268" name="Rectangle 168"/>
                      <p:cNvSpPr/>
                      <p:nvPr/>
                    </p:nvSpPr>
                    <p:spPr>
                      <a:xfrm>
                        <a:off x="576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269" name="Rectangle 169"/>
                      <p:cNvSpPr/>
                      <p:nvPr/>
                    </p:nvSpPr>
                    <p:spPr>
                      <a:xfrm>
                        <a:off x="384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270" name="Rectangle 170"/>
                      <p:cNvSpPr/>
                      <p:nvPr/>
                    </p:nvSpPr>
                    <p:spPr>
                      <a:xfrm>
                        <a:off x="192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271" name="Rectangle 171"/>
                      <p:cNvSpPr/>
                      <p:nvPr/>
                    </p:nvSpPr>
                    <p:spPr>
                      <a:xfrm>
                        <a:off x="0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15255" name="Group 172"/>
                    <p:cNvGrpSpPr/>
                    <p:nvPr/>
                  </p:nvGrpSpPr>
                  <p:grpSpPr>
                    <a:xfrm>
                      <a:off x="0" y="384"/>
                      <a:ext cx="768" cy="384"/>
                      <a:chOff x="0" y="0"/>
                      <a:chExt cx="768" cy="384"/>
                    </a:xfrm>
                  </p:grpSpPr>
                  <p:sp>
                    <p:nvSpPr>
                      <p:cNvPr id="15256" name="Rectangle 173"/>
                      <p:cNvSpPr/>
                      <p:nvPr/>
                    </p:nvSpPr>
                    <p:spPr>
                      <a:xfrm>
                        <a:off x="0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257" name="Rectangle 174"/>
                      <p:cNvSpPr/>
                      <p:nvPr/>
                    </p:nvSpPr>
                    <p:spPr>
                      <a:xfrm>
                        <a:off x="192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258" name="Rectangle 175"/>
                      <p:cNvSpPr/>
                      <p:nvPr/>
                    </p:nvSpPr>
                    <p:spPr>
                      <a:xfrm>
                        <a:off x="384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259" name="Rectangle 176"/>
                      <p:cNvSpPr/>
                      <p:nvPr/>
                    </p:nvSpPr>
                    <p:spPr>
                      <a:xfrm>
                        <a:off x="576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260" name="Rectangle 177"/>
                      <p:cNvSpPr/>
                      <p:nvPr/>
                    </p:nvSpPr>
                    <p:spPr>
                      <a:xfrm>
                        <a:off x="576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261" name="Rectangle 178"/>
                      <p:cNvSpPr/>
                      <p:nvPr/>
                    </p:nvSpPr>
                    <p:spPr>
                      <a:xfrm>
                        <a:off x="384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262" name="Rectangle 179"/>
                      <p:cNvSpPr/>
                      <p:nvPr/>
                    </p:nvSpPr>
                    <p:spPr>
                      <a:xfrm>
                        <a:off x="192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263" name="Rectangle 180"/>
                      <p:cNvSpPr/>
                      <p:nvPr/>
                    </p:nvSpPr>
                    <p:spPr>
                      <a:xfrm>
                        <a:off x="0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</p:grpSp>
              <p:grpSp>
                <p:nvGrpSpPr>
                  <p:cNvPr id="15235" name="Group 181"/>
                  <p:cNvGrpSpPr/>
                  <p:nvPr/>
                </p:nvGrpSpPr>
                <p:grpSpPr>
                  <a:xfrm>
                    <a:off x="768" y="0"/>
                    <a:ext cx="768" cy="768"/>
                    <a:chOff x="0" y="0"/>
                    <a:chExt cx="768" cy="768"/>
                  </a:xfrm>
                </p:grpSpPr>
                <p:grpSp>
                  <p:nvGrpSpPr>
                    <p:cNvPr id="15236" name="Group 182"/>
                    <p:cNvGrpSpPr/>
                    <p:nvPr/>
                  </p:nvGrpSpPr>
                  <p:grpSpPr>
                    <a:xfrm>
                      <a:off x="0" y="0"/>
                      <a:ext cx="768" cy="384"/>
                      <a:chOff x="0" y="0"/>
                      <a:chExt cx="768" cy="384"/>
                    </a:xfrm>
                  </p:grpSpPr>
                  <p:sp>
                    <p:nvSpPr>
                      <p:cNvPr id="15246" name="Rectangle 183"/>
                      <p:cNvSpPr/>
                      <p:nvPr/>
                    </p:nvSpPr>
                    <p:spPr>
                      <a:xfrm>
                        <a:off x="0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247" name="Rectangle 184"/>
                      <p:cNvSpPr/>
                      <p:nvPr/>
                    </p:nvSpPr>
                    <p:spPr>
                      <a:xfrm>
                        <a:off x="192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248" name="Rectangle 185"/>
                      <p:cNvSpPr/>
                      <p:nvPr/>
                    </p:nvSpPr>
                    <p:spPr>
                      <a:xfrm>
                        <a:off x="384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249" name="Rectangle 186"/>
                      <p:cNvSpPr/>
                      <p:nvPr/>
                    </p:nvSpPr>
                    <p:spPr>
                      <a:xfrm>
                        <a:off x="576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250" name="Rectangle 187"/>
                      <p:cNvSpPr/>
                      <p:nvPr/>
                    </p:nvSpPr>
                    <p:spPr>
                      <a:xfrm>
                        <a:off x="576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251" name="Rectangle 188"/>
                      <p:cNvSpPr/>
                      <p:nvPr/>
                    </p:nvSpPr>
                    <p:spPr>
                      <a:xfrm>
                        <a:off x="384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252" name="Rectangle 189"/>
                      <p:cNvSpPr/>
                      <p:nvPr/>
                    </p:nvSpPr>
                    <p:spPr>
                      <a:xfrm>
                        <a:off x="192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253" name="Rectangle 190"/>
                      <p:cNvSpPr/>
                      <p:nvPr/>
                    </p:nvSpPr>
                    <p:spPr>
                      <a:xfrm>
                        <a:off x="0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15237" name="Group 191"/>
                    <p:cNvGrpSpPr/>
                    <p:nvPr/>
                  </p:nvGrpSpPr>
                  <p:grpSpPr>
                    <a:xfrm>
                      <a:off x="0" y="384"/>
                      <a:ext cx="768" cy="384"/>
                      <a:chOff x="0" y="0"/>
                      <a:chExt cx="768" cy="384"/>
                    </a:xfrm>
                  </p:grpSpPr>
                  <p:sp>
                    <p:nvSpPr>
                      <p:cNvPr id="15238" name="Rectangle 192"/>
                      <p:cNvSpPr/>
                      <p:nvPr/>
                    </p:nvSpPr>
                    <p:spPr>
                      <a:xfrm>
                        <a:off x="0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239" name="Rectangle 193"/>
                      <p:cNvSpPr/>
                      <p:nvPr/>
                    </p:nvSpPr>
                    <p:spPr>
                      <a:xfrm>
                        <a:off x="192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240" name="Rectangle 194"/>
                      <p:cNvSpPr/>
                      <p:nvPr/>
                    </p:nvSpPr>
                    <p:spPr>
                      <a:xfrm>
                        <a:off x="384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241" name="Rectangle 195"/>
                      <p:cNvSpPr/>
                      <p:nvPr/>
                    </p:nvSpPr>
                    <p:spPr>
                      <a:xfrm>
                        <a:off x="576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242" name="Rectangle 196"/>
                      <p:cNvSpPr/>
                      <p:nvPr/>
                    </p:nvSpPr>
                    <p:spPr>
                      <a:xfrm>
                        <a:off x="576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243" name="Rectangle 197"/>
                      <p:cNvSpPr/>
                      <p:nvPr/>
                    </p:nvSpPr>
                    <p:spPr>
                      <a:xfrm>
                        <a:off x="384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244" name="Rectangle 198"/>
                      <p:cNvSpPr/>
                      <p:nvPr/>
                    </p:nvSpPr>
                    <p:spPr>
                      <a:xfrm>
                        <a:off x="192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245" name="Rectangle 199"/>
                      <p:cNvSpPr/>
                      <p:nvPr/>
                    </p:nvSpPr>
                    <p:spPr>
                      <a:xfrm>
                        <a:off x="0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</p:grpSp>
            </p:grpSp>
          </p:grpSp>
          <p:grpSp>
            <p:nvGrpSpPr>
              <p:cNvPr id="14721" name="Group 200"/>
              <p:cNvGrpSpPr/>
              <p:nvPr/>
            </p:nvGrpSpPr>
            <p:grpSpPr>
              <a:xfrm>
                <a:off x="1656" y="405"/>
                <a:ext cx="828" cy="414"/>
                <a:chOff x="0" y="0"/>
                <a:chExt cx="1536" cy="768"/>
              </a:xfrm>
            </p:grpSpPr>
            <p:grpSp>
              <p:nvGrpSpPr>
                <p:cNvPr id="15194" name="Group 201"/>
                <p:cNvGrpSpPr/>
                <p:nvPr/>
              </p:nvGrpSpPr>
              <p:grpSpPr>
                <a:xfrm>
                  <a:off x="0" y="0"/>
                  <a:ext cx="768" cy="768"/>
                  <a:chOff x="0" y="0"/>
                  <a:chExt cx="768" cy="768"/>
                </a:xfrm>
              </p:grpSpPr>
              <p:grpSp>
                <p:nvGrpSpPr>
                  <p:cNvPr id="15214" name="Group 202"/>
                  <p:cNvGrpSpPr/>
                  <p:nvPr/>
                </p:nvGrpSpPr>
                <p:grpSpPr>
                  <a:xfrm>
                    <a:off x="0" y="0"/>
                    <a:ext cx="768" cy="384"/>
                    <a:chOff x="0" y="0"/>
                    <a:chExt cx="768" cy="384"/>
                  </a:xfrm>
                </p:grpSpPr>
                <p:sp>
                  <p:nvSpPr>
                    <p:cNvPr id="15224" name="Rectangle 203"/>
                    <p:cNvSpPr/>
                    <p:nvPr/>
                  </p:nvSpPr>
                  <p:spPr>
                    <a:xfrm>
                      <a:off x="0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5225" name="Rectangle 204"/>
                    <p:cNvSpPr/>
                    <p:nvPr/>
                  </p:nvSpPr>
                  <p:spPr>
                    <a:xfrm>
                      <a:off x="192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5226" name="Rectangle 205"/>
                    <p:cNvSpPr/>
                    <p:nvPr/>
                  </p:nvSpPr>
                  <p:spPr>
                    <a:xfrm>
                      <a:off x="384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5227" name="Rectangle 206"/>
                    <p:cNvSpPr/>
                    <p:nvPr/>
                  </p:nvSpPr>
                  <p:spPr>
                    <a:xfrm>
                      <a:off x="576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5228" name="Rectangle 207"/>
                    <p:cNvSpPr/>
                    <p:nvPr/>
                  </p:nvSpPr>
                  <p:spPr>
                    <a:xfrm>
                      <a:off x="576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5229" name="Rectangle 208"/>
                    <p:cNvSpPr/>
                    <p:nvPr/>
                  </p:nvSpPr>
                  <p:spPr>
                    <a:xfrm>
                      <a:off x="384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5230" name="Rectangle 209"/>
                    <p:cNvSpPr/>
                    <p:nvPr/>
                  </p:nvSpPr>
                  <p:spPr>
                    <a:xfrm>
                      <a:off x="192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5231" name="Rectangle 210"/>
                    <p:cNvSpPr/>
                    <p:nvPr/>
                  </p:nvSpPr>
                  <p:spPr>
                    <a:xfrm>
                      <a:off x="0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15215" name="Group 211"/>
                  <p:cNvGrpSpPr/>
                  <p:nvPr/>
                </p:nvGrpSpPr>
                <p:grpSpPr>
                  <a:xfrm>
                    <a:off x="0" y="384"/>
                    <a:ext cx="768" cy="384"/>
                    <a:chOff x="0" y="0"/>
                    <a:chExt cx="768" cy="384"/>
                  </a:xfrm>
                </p:grpSpPr>
                <p:sp>
                  <p:nvSpPr>
                    <p:cNvPr id="15216" name="Rectangle 212"/>
                    <p:cNvSpPr/>
                    <p:nvPr/>
                  </p:nvSpPr>
                  <p:spPr>
                    <a:xfrm>
                      <a:off x="0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5217" name="Rectangle 213"/>
                    <p:cNvSpPr/>
                    <p:nvPr/>
                  </p:nvSpPr>
                  <p:spPr>
                    <a:xfrm>
                      <a:off x="192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5218" name="Rectangle 214"/>
                    <p:cNvSpPr/>
                    <p:nvPr/>
                  </p:nvSpPr>
                  <p:spPr>
                    <a:xfrm>
                      <a:off x="384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5219" name="Rectangle 215"/>
                    <p:cNvSpPr/>
                    <p:nvPr/>
                  </p:nvSpPr>
                  <p:spPr>
                    <a:xfrm>
                      <a:off x="576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5220" name="Rectangle 216"/>
                    <p:cNvSpPr/>
                    <p:nvPr/>
                  </p:nvSpPr>
                  <p:spPr>
                    <a:xfrm>
                      <a:off x="576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5221" name="Rectangle 217"/>
                    <p:cNvSpPr/>
                    <p:nvPr/>
                  </p:nvSpPr>
                  <p:spPr>
                    <a:xfrm>
                      <a:off x="384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5222" name="Rectangle 218"/>
                    <p:cNvSpPr/>
                    <p:nvPr/>
                  </p:nvSpPr>
                  <p:spPr>
                    <a:xfrm>
                      <a:off x="192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5223" name="Rectangle 219"/>
                    <p:cNvSpPr/>
                    <p:nvPr/>
                  </p:nvSpPr>
                  <p:spPr>
                    <a:xfrm>
                      <a:off x="0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</p:grpSp>
            <p:grpSp>
              <p:nvGrpSpPr>
                <p:cNvPr id="15195" name="Group 220"/>
                <p:cNvGrpSpPr/>
                <p:nvPr/>
              </p:nvGrpSpPr>
              <p:grpSpPr>
                <a:xfrm>
                  <a:off x="768" y="0"/>
                  <a:ext cx="768" cy="768"/>
                  <a:chOff x="0" y="0"/>
                  <a:chExt cx="768" cy="768"/>
                </a:xfrm>
              </p:grpSpPr>
              <p:grpSp>
                <p:nvGrpSpPr>
                  <p:cNvPr id="15196" name="Group 221"/>
                  <p:cNvGrpSpPr/>
                  <p:nvPr/>
                </p:nvGrpSpPr>
                <p:grpSpPr>
                  <a:xfrm>
                    <a:off x="0" y="0"/>
                    <a:ext cx="768" cy="384"/>
                    <a:chOff x="0" y="0"/>
                    <a:chExt cx="768" cy="384"/>
                  </a:xfrm>
                </p:grpSpPr>
                <p:sp>
                  <p:nvSpPr>
                    <p:cNvPr id="15206" name="Rectangle 222"/>
                    <p:cNvSpPr/>
                    <p:nvPr/>
                  </p:nvSpPr>
                  <p:spPr>
                    <a:xfrm>
                      <a:off x="0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5207" name="Rectangle 223"/>
                    <p:cNvSpPr/>
                    <p:nvPr/>
                  </p:nvSpPr>
                  <p:spPr>
                    <a:xfrm>
                      <a:off x="192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5208" name="Rectangle 224"/>
                    <p:cNvSpPr/>
                    <p:nvPr/>
                  </p:nvSpPr>
                  <p:spPr>
                    <a:xfrm>
                      <a:off x="384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5209" name="Rectangle 225"/>
                    <p:cNvSpPr/>
                    <p:nvPr/>
                  </p:nvSpPr>
                  <p:spPr>
                    <a:xfrm>
                      <a:off x="576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5210" name="Rectangle 226"/>
                    <p:cNvSpPr/>
                    <p:nvPr/>
                  </p:nvSpPr>
                  <p:spPr>
                    <a:xfrm>
                      <a:off x="576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5211" name="Rectangle 227"/>
                    <p:cNvSpPr/>
                    <p:nvPr/>
                  </p:nvSpPr>
                  <p:spPr>
                    <a:xfrm>
                      <a:off x="384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5212" name="Rectangle 228"/>
                    <p:cNvSpPr/>
                    <p:nvPr/>
                  </p:nvSpPr>
                  <p:spPr>
                    <a:xfrm>
                      <a:off x="192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5213" name="Rectangle 229"/>
                    <p:cNvSpPr/>
                    <p:nvPr/>
                  </p:nvSpPr>
                  <p:spPr>
                    <a:xfrm>
                      <a:off x="0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15197" name="Group 230"/>
                  <p:cNvGrpSpPr/>
                  <p:nvPr/>
                </p:nvGrpSpPr>
                <p:grpSpPr>
                  <a:xfrm>
                    <a:off x="0" y="384"/>
                    <a:ext cx="768" cy="384"/>
                    <a:chOff x="0" y="0"/>
                    <a:chExt cx="768" cy="384"/>
                  </a:xfrm>
                </p:grpSpPr>
                <p:sp>
                  <p:nvSpPr>
                    <p:cNvPr id="15198" name="Rectangle 231"/>
                    <p:cNvSpPr/>
                    <p:nvPr/>
                  </p:nvSpPr>
                  <p:spPr>
                    <a:xfrm>
                      <a:off x="0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5199" name="Rectangle 232"/>
                    <p:cNvSpPr/>
                    <p:nvPr/>
                  </p:nvSpPr>
                  <p:spPr>
                    <a:xfrm>
                      <a:off x="192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5200" name="Rectangle 233"/>
                    <p:cNvSpPr/>
                    <p:nvPr/>
                  </p:nvSpPr>
                  <p:spPr>
                    <a:xfrm>
                      <a:off x="384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5201" name="Rectangle 234"/>
                    <p:cNvSpPr/>
                    <p:nvPr/>
                  </p:nvSpPr>
                  <p:spPr>
                    <a:xfrm>
                      <a:off x="576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5202" name="Rectangle 235"/>
                    <p:cNvSpPr/>
                    <p:nvPr/>
                  </p:nvSpPr>
                  <p:spPr>
                    <a:xfrm>
                      <a:off x="576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5203" name="Rectangle 236"/>
                    <p:cNvSpPr/>
                    <p:nvPr/>
                  </p:nvSpPr>
                  <p:spPr>
                    <a:xfrm>
                      <a:off x="384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5204" name="Rectangle 237"/>
                    <p:cNvSpPr/>
                    <p:nvPr/>
                  </p:nvSpPr>
                  <p:spPr>
                    <a:xfrm>
                      <a:off x="192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5205" name="Rectangle 238"/>
                    <p:cNvSpPr/>
                    <p:nvPr/>
                  </p:nvSpPr>
                  <p:spPr>
                    <a:xfrm>
                      <a:off x="0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</p:grpSp>
          </p:grpSp>
          <p:grpSp>
            <p:nvGrpSpPr>
              <p:cNvPr id="14722" name="Group 239"/>
              <p:cNvGrpSpPr/>
              <p:nvPr/>
            </p:nvGrpSpPr>
            <p:grpSpPr>
              <a:xfrm>
                <a:off x="0" y="811"/>
                <a:ext cx="1656" cy="414"/>
                <a:chOff x="0" y="0"/>
                <a:chExt cx="3072" cy="768"/>
              </a:xfrm>
            </p:grpSpPr>
            <p:grpSp>
              <p:nvGrpSpPr>
                <p:cNvPr id="15116" name="Group 240"/>
                <p:cNvGrpSpPr/>
                <p:nvPr/>
              </p:nvGrpSpPr>
              <p:grpSpPr>
                <a:xfrm>
                  <a:off x="0" y="0"/>
                  <a:ext cx="1536" cy="768"/>
                  <a:chOff x="0" y="0"/>
                  <a:chExt cx="1536" cy="768"/>
                </a:xfrm>
              </p:grpSpPr>
              <p:grpSp>
                <p:nvGrpSpPr>
                  <p:cNvPr id="15156" name="Group 241"/>
                  <p:cNvGrpSpPr/>
                  <p:nvPr/>
                </p:nvGrpSpPr>
                <p:grpSpPr>
                  <a:xfrm>
                    <a:off x="0" y="0"/>
                    <a:ext cx="768" cy="768"/>
                    <a:chOff x="0" y="0"/>
                    <a:chExt cx="768" cy="768"/>
                  </a:xfrm>
                </p:grpSpPr>
                <p:grpSp>
                  <p:nvGrpSpPr>
                    <p:cNvPr id="15176" name="Group 242"/>
                    <p:cNvGrpSpPr/>
                    <p:nvPr/>
                  </p:nvGrpSpPr>
                  <p:grpSpPr>
                    <a:xfrm>
                      <a:off x="0" y="0"/>
                      <a:ext cx="768" cy="384"/>
                      <a:chOff x="0" y="0"/>
                      <a:chExt cx="768" cy="384"/>
                    </a:xfrm>
                  </p:grpSpPr>
                  <p:sp>
                    <p:nvSpPr>
                      <p:cNvPr id="15186" name="Rectangle 243"/>
                      <p:cNvSpPr/>
                      <p:nvPr/>
                    </p:nvSpPr>
                    <p:spPr>
                      <a:xfrm>
                        <a:off x="0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187" name="Rectangle 244"/>
                      <p:cNvSpPr/>
                      <p:nvPr/>
                    </p:nvSpPr>
                    <p:spPr>
                      <a:xfrm>
                        <a:off x="192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188" name="Rectangle 245"/>
                      <p:cNvSpPr/>
                      <p:nvPr/>
                    </p:nvSpPr>
                    <p:spPr>
                      <a:xfrm>
                        <a:off x="384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189" name="Rectangle 246"/>
                      <p:cNvSpPr/>
                      <p:nvPr/>
                    </p:nvSpPr>
                    <p:spPr>
                      <a:xfrm>
                        <a:off x="576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190" name="Rectangle 247"/>
                      <p:cNvSpPr/>
                      <p:nvPr/>
                    </p:nvSpPr>
                    <p:spPr>
                      <a:xfrm>
                        <a:off x="576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191" name="Rectangle 248"/>
                      <p:cNvSpPr/>
                      <p:nvPr/>
                    </p:nvSpPr>
                    <p:spPr>
                      <a:xfrm>
                        <a:off x="384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192" name="Rectangle 249"/>
                      <p:cNvSpPr/>
                      <p:nvPr/>
                    </p:nvSpPr>
                    <p:spPr>
                      <a:xfrm>
                        <a:off x="192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193" name="Rectangle 250"/>
                      <p:cNvSpPr/>
                      <p:nvPr/>
                    </p:nvSpPr>
                    <p:spPr>
                      <a:xfrm>
                        <a:off x="0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15177" name="Group 251"/>
                    <p:cNvGrpSpPr/>
                    <p:nvPr/>
                  </p:nvGrpSpPr>
                  <p:grpSpPr>
                    <a:xfrm>
                      <a:off x="0" y="384"/>
                      <a:ext cx="768" cy="384"/>
                      <a:chOff x="0" y="0"/>
                      <a:chExt cx="768" cy="384"/>
                    </a:xfrm>
                  </p:grpSpPr>
                  <p:sp>
                    <p:nvSpPr>
                      <p:cNvPr id="15178" name="Rectangle 252"/>
                      <p:cNvSpPr/>
                      <p:nvPr/>
                    </p:nvSpPr>
                    <p:spPr>
                      <a:xfrm>
                        <a:off x="0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179" name="Rectangle 253"/>
                      <p:cNvSpPr/>
                      <p:nvPr/>
                    </p:nvSpPr>
                    <p:spPr>
                      <a:xfrm>
                        <a:off x="192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180" name="Rectangle 254"/>
                      <p:cNvSpPr/>
                      <p:nvPr/>
                    </p:nvSpPr>
                    <p:spPr>
                      <a:xfrm>
                        <a:off x="384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181" name="Rectangle 255"/>
                      <p:cNvSpPr/>
                      <p:nvPr/>
                    </p:nvSpPr>
                    <p:spPr>
                      <a:xfrm>
                        <a:off x="576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182" name="Rectangle 256"/>
                      <p:cNvSpPr/>
                      <p:nvPr/>
                    </p:nvSpPr>
                    <p:spPr>
                      <a:xfrm>
                        <a:off x="576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183" name="Rectangle 257"/>
                      <p:cNvSpPr/>
                      <p:nvPr/>
                    </p:nvSpPr>
                    <p:spPr>
                      <a:xfrm>
                        <a:off x="384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184" name="Rectangle 258"/>
                      <p:cNvSpPr/>
                      <p:nvPr/>
                    </p:nvSpPr>
                    <p:spPr>
                      <a:xfrm>
                        <a:off x="192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185" name="Rectangle 259"/>
                      <p:cNvSpPr/>
                      <p:nvPr/>
                    </p:nvSpPr>
                    <p:spPr>
                      <a:xfrm>
                        <a:off x="0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</p:grpSp>
              <p:grpSp>
                <p:nvGrpSpPr>
                  <p:cNvPr id="15157" name="Group 260"/>
                  <p:cNvGrpSpPr/>
                  <p:nvPr/>
                </p:nvGrpSpPr>
                <p:grpSpPr>
                  <a:xfrm>
                    <a:off x="768" y="0"/>
                    <a:ext cx="768" cy="768"/>
                    <a:chOff x="0" y="0"/>
                    <a:chExt cx="768" cy="768"/>
                  </a:xfrm>
                </p:grpSpPr>
                <p:grpSp>
                  <p:nvGrpSpPr>
                    <p:cNvPr id="15158" name="Group 261"/>
                    <p:cNvGrpSpPr/>
                    <p:nvPr/>
                  </p:nvGrpSpPr>
                  <p:grpSpPr>
                    <a:xfrm>
                      <a:off x="0" y="0"/>
                      <a:ext cx="768" cy="384"/>
                      <a:chOff x="0" y="0"/>
                      <a:chExt cx="768" cy="384"/>
                    </a:xfrm>
                  </p:grpSpPr>
                  <p:sp>
                    <p:nvSpPr>
                      <p:cNvPr id="15168" name="Rectangle 262"/>
                      <p:cNvSpPr/>
                      <p:nvPr/>
                    </p:nvSpPr>
                    <p:spPr>
                      <a:xfrm>
                        <a:off x="0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169" name="Rectangle 263"/>
                      <p:cNvSpPr/>
                      <p:nvPr/>
                    </p:nvSpPr>
                    <p:spPr>
                      <a:xfrm>
                        <a:off x="192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170" name="Rectangle 264"/>
                      <p:cNvSpPr/>
                      <p:nvPr/>
                    </p:nvSpPr>
                    <p:spPr>
                      <a:xfrm>
                        <a:off x="384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171" name="Rectangle 265"/>
                      <p:cNvSpPr/>
                      <p:nvPr/>
                    </p:nvSpPr>
                    <p:spPr>
                      <a:xfrm>
                        <a:off x="576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172" name="Rectangle 266"/>
                      <p:cNvSpPr/>
                      <p:nvPr/>
                    </p:nvSpPr>
                    <p:spPr>
                      <a:xfrm>
                        <a:off x="576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173" name="Rectangle 267"/>
                      <p:cNvSpPr/>
                      <p:nvPr/>
                    </p:nvSpPr>
                    <p:spPr>
                      <a:xfrm>
                        <a:off x="384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174" name="Rectangle 268"/>
                      <p:cNvSpPr/>
                      <p:nvPr/>
                    </p:nvSpPr>
                    <p:spPr>
                      <a:xfrm>
                        <a:off x="192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175" name="Rectangle 269"/>
                      <p:cNvSpPr/>
                      <p:nvPr/>
                    </p:nvSpPr>
                    <p:spPr>
                      <a:xfrm>
                        <a:off x="0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15159" name="Group 270"/>
                    <p:cNvGrpSpPr/>
                    <p:nvPr/>
                  </p:nvGrpSpPr>
                  <p:grpSpPr>
                    <a:xfrm>
                      <a:off x="0" y="384"/>
                      <a:ext cx="768" cy="384"/>
                      <a:chOff x="0" y="0"/>
                      <a:chExt cx="768" cy="384"/>
                    </a:xfrm>
                  </p:grpSpPr>
                  <p:sp>
                    <p:nvSpPr>
                      <p:cNvPr id="15160" name="Rectangle 271"/>
                      <p:cNvSpPr/>
                      <p:nvPr/>
                    </p:nvSpPr>
                    <p:spPr>
                      <a:xfrm>
                        <a:off x="0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161" name="Rectangle 272"/>
                      <p:cNvSpPr/>
                      <p:nvPr/>
                    </p:nvSpPr>
                    <p:spPr>
                      <a:xfrm>
                        <a:off x="192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162" name="Rectangle 273"/>
                      <p:cNvSpPr/>
                      <p:nvPr/>
                    </p:nvSpPr>
                    <p:spPr>
                      <a:xfrm>
                        <a:off x="384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163" name="Rectangle 274"/>
                      <p:cNvSpPr/>
                      <p:nvPr/>
                    </p:nvSpPr>
                    <p:spPr>
                      <a:xfrm>
                        <a:off x="576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164" name="Rectangle 275"/>
                      <p:cNvSpPr/>
                      <p:nvPr/>
                    </p:nvSpPr>
                    <p:spPr>
                      <a:xfrm>
                        <a:off x="576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165" name="Rectangle 276"/>
                      <p:cNvSpPr/>
                      <p:nvPr/>
                    </p:nvSpPr>
                    <p:spPr>
                      <a:xfrm>
                        <a:off x="384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166" name="Rectangle 277"/>
                      <p:cNvSpPr/>
                      <p:nvPr/>
                    </p:nvSpPr>
                    <p:spPr>
                      <a:xfrm>
                        <a:off x="192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167" name="Rectangle 278"/>
                      <p:cNvSpPr/>
                      <p:nvPr/>
                    </p:nvSpPr>
                    <p:spPr>
                      <a:xfrm>
                        <a:off x="0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15117" name="Group 279"/>
                <p:cNvGrpSpPr/>
                <p:nvPr/>
              </p:nvGrpSpPr>
              <p:grpSpPr>
                <a:xfrm>
                  <a:off x="1536" y="0"/>
                  <a:ext cx="1536" cy="768"/>
                  <a:chOff x="0" y="0"/>
                  <a:chExt cx="1536" cy="768"/>
                </a:xfrm>
              </p:grpSpPr>
              <p:grpSp>
                <p:nvGrpSpPr>
                  <p:cNvPr id="15118" name="Group 280"/>
                  <p:cNvGrpSpPr/>
                  <p:nvPr/>
                </p:nvGrpSpPr>
                <p:grpSpPr>
                  <a:xfrm>
                    <a:off x="0" y="0"/>
                    <a:ext cx="768" cy="768"/>
                    <a:chOff x="0" y="0"/>
                    <a:chExt cx="768" cy="768"/>
                  </a:xfrm>
                </p:grpSpPr>
                <p:grpSp>
                  <p:nvGrpSpPr>
                    <p:cNvPr id="15138" name="Group 281"/>
                    <p:cNvGrpSpPr/>
                    <p:nvPr/>
                  </p:nvGrpSpPr>
                  <p:grpSpPr>
                    <a:xfrm>
                      <a:off x="0" y="0"/>
                      <a:ext cx="768" cy="384"/>
                      <a:chOff x="0" y="0"/>
                      <a:chExt cx="768" cy="384"/>
                    </a:xfrm>
                  </p:grpSpPr>
                  <p:sp>
                    <p:nvSpPr>
                      <p:cNvPr id="15148" name="Rectangle 282"/>
                      <p:cNvSpPr/>
                      <p:nvPr/>
                    </p:nvSpPr>
                    <p:spPr>
                      <a:xfrm>
                        <a:off x="0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149" name="Rectangle 283"/>
                      <p:cNvSpPr/>
                      <p:nvPr/>
                    </p:nvSpPr>
                    <p:spPr>
                      <a:xfrm>
                        <a:off x="192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150" name="Rectangle 284"/>
                      <p:cNvSpPr/>
                      <p:nvPr/>
                    </p:nvSpPr>
                    <p:spPr>
                      <a:xfrm>
                        <a:off x="384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151" name="Rectangle 285"/>
                      <p:cNvSpPr/>
                      <p:nvPr/>
                    </p:nvSpPr>
                    <p:spPr>
                      <a:xfrm>
                        <a:off x="576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152" name="Rectangle 286"/>
                      <p:cNvSpPr/>
                      <p:nvPr/>
                    </p:nvSpPr>
                    <p:spPr>
                      <a:xfrm>
                        <a:off x="576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153" name="Rectangle 287"/>
                      <p:cNvSpPr/>
                      <p:nvPr/>
                    </p:nvSpPr>
                    <p:spPr>
                      <a:xfrm>
                        <a:off x="384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154" name="Rectangle 288"/>
                      <p:cNvSpPr/>
                      <p:nvPr/>
                    </p:nvSpPr>
                    <p:spPr>
                      <a:xfrm>
                        <a:off x="192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155" name="Rectangle 289"/>
                      <p:cNvSpPr/>
                      <p:nvPr/>
                    </p:nvSpPr>
                    <p:spPr>
                      <a:xfrm>
                        <a:off x="0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15139" name="Group 290"/>
                    <p:cNvGrpSpPr/>
                    <p:nvPr/>
                  </p:nvGrpSpPr>
                  <p:grpSpPr>
                    <a:xfrm>
                      <a:off x="0" y="384"/>
                      <a:ext cx="768" cy="384"/>
                      <a:chOff x="0" y="0"/>
                      <a:chExt cx="768" cy="384"/>
                    </a:xfrm>
                  </p:grpSpPr>
                  <p:sp>
                    <p:nvSpPr>
                      <p:cNvPr id="15140" name="Rectangle 291"/>
                      <p:cNvSpPr/>
                      <p:nvPr/>
                    </p:nvSpPr>
                    <p:spPr>
                      <a:xfrm>
                        <a:off x="0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141" name="Rectangle 292"/>
                      <p:cNvSpPr/>
                      <p:nvPr/>
                    </p:nvSpPr>
                    <p:spPr>
                      <a:xfrm>
                        <a:off x="192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142" name="Rectangle 293"/>
                      <p:cNvSpPr/>
                      <p:nvPr/>
                    </p:nvSpPr>
                    <p:spPr>
                      <a:xfrm>
                        <a:off x="384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143" name="Rectangle 294"/>
                      <p:cNvSpPr/>
                      <p:nvPr/>
                    </p:nvSpPr>
                    <p:spPr>
                      <a:xfrm>
                        <a:off x="576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144" name="Rectangle 295"/>
                      <p:cNvSpPr/>
                      <p:nvPr/>
                    </p:nvSpPr>
                    <p:spPr>
                      <a:xfrm>
                        <a:off x="576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145" name="Rectangle 296"/>
                      <p:cNvSpPr/>
                      <p:nvPr/>
                    </p:nvSpPr>
                    <p:spPr>
                      <a:xfrm>
                        <a:off x="384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146" name="Rectangle 297"/>
                      <p:cNvSpPr/>
                      <p:nvPr/>
                    </p:nvSpPr>
                    <p:spPr>
                      <a:xfrm>
                        <a:off x="192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147" name="Rectangle 298"/>
                      <p:cNvSpPr/>
                      <p:nvPr/>
                    </p:nvSpPr>
                    <p:spPr>
                      <a:xfrm>
                        <a:off x="0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</p:grpSp>
              <p:grpSp>
                <p:nvGrpSpPr>
                  <p:cNvPr id="15119" name="Group 299"/>
                  <p:cNvGrpSpPr/>
                  <p:nvPr/>
                </p:nvGrpSpPr>
                <p:grpSpPr>
                  <a:xfrm>
                    <a:off x="768" y="0"/>
                    <a:ext cx="768" cy="768"/>
                    <a:chOff x="0" y="0"/>
                    <a:chExt cx="768" cy="768"/>
                  </a:xfrm>
                </p:grpSpPr>
                <p:grpSp>
                  <p:nvGrpSpPr>
                    <p:cNvPr id="15120" name="Group 300"/>
                    <p:cNvGrpSpPr/>
                    <p:nvPr/>
                  </p:nvGrpSpPr>
                  <p:grpSpPr>
                    <a:xfrm>
                      <a:off x="0" y="0"/>
                      <a:ext cx="768" cy="384"/>
                      <a:chOff x="0" y="0"/>
                      <a:chExt cx="768" cy="384"/>
                    </a:xfrm>
                  </p:grpSpPr>
                  <p:sp>
                    <p:nvSpPr>
                      <p:cNvPr id="15130" name="Rectangle 301"/>
                      <p:cNvSpPr/>
                      <p:nvPr/>
                    </p:nvSpPr>
                    <p:spPr>
                      <a:xfrm>
                        <a:off x="0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131" name="Rectangle 302"/>
                      <p:cNvSpPr/>
                      <p:nvPr/>
                    </p:nvSpPr>
                    <p:spPr>
                      <a:xfrm>
                        <a:off x="192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132" name="Rectangle 303"/>
                      <p:cNvSpPr/>
                      <p:nvPr/>
                    </p:nvSpPr>
                    <p:spPr>
                      <a:xfrm>
                        <a:off x="384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133" name="Rectangle 304"/>
                      <p:cNvSpPr/>
                      <p:nvPr/>
                    </p:nvSpPr>
                    <p:spPr>
                      <a:xfrm>
                        <a:off x="576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134" name="Rectangle 305"/>
                      <p:cNvSpPr/>
                      <p:nvPr/>
                    </p:nvSpPr>
                    <p:spPr>
                      <a:xfrm>
                        <a:off x="576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135" name="Rectangle 306"/>
                      <p:cNvSpPr/>
                      <p:nvPr/>
                    </p:nvSpPr>
                    <p:spPr>
                      <a:xfrm>
                        <a:off x="384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136" name="Rectangle 307"/>
                      <p:cNvSpPr/>
                      <p:nvPr/>
                    </p:nvSpPr>
                    <p:spPr>
                      <a:xfrm>
                        <a:off x="192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137" name="Rectangle 308"/>
                      <p:cNvSpPr/>
                      <p:nvPr/>
                    </p:nvSpPr>
                    <p:spPr>
                      <a:xfrm>
                        <a:off x="0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15121" name="Group 309"/>
                    <p:cNvGrpSpPr/>
                    <p:nvPr/>
                  </p:nvGrpSpPr>
                  <p:grpSpPr>
                    <a:xfrm>
                      <a:off x="0" y="384"/>
                      <a:ext cx="768" cy="384"/>
                      <a:chOff x="0" y="0"/>
                      <a:chExt cx="768" cy="384"/>
                    </a:xfrm>
                  </p:grpSpPr>
                  <p:sp>
                    <p:nvSpPr>
                      <p:cNvPr id="15122" name="Rectangle 310"/>
                      <p:cNvSpPr/>
                      <p:nvPr/>
                    </p:nvSpPr>
                    <p:spPr>
                      <a:xfrm>
                        <a:off x="0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123" name="Rectangle 311"/>
                      <p:cNvSpPr/>
                      <p:nvPr/>
                    </p:nvSpPr>
                    <p:spPr>
                      <a:xfrm>
                        <a:off x="192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124" name="Rectangle 312"/>
                      <p:cNvSpPr/>
                      <p:nvPr/>
                    </p:nvSpPr>
                    <p:spPr>
                      <a:xfrm>
                        <a:off x="384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125" name="Rectangle 313"/>
                      <p:cNvSpPr/>
                      <p:nvPr/>
                    </p:nvSpPr>
                    <p:spPr>
                      <a:xfrm>
                        <a:off x="576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126" name="Rectangle 314"/>
                      <p:cNvSpPr/>
                      <p:nvPr/>
                    </p:nvSpPr>
                    <p:spPr>
                      <a:xfrm>
                        <a:off x="576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127" name="Rectangle 315"/>
                      <p:cNvSpPr/>
                      <p:nvPr/>
                    </p:nvSpPr>
                    <p:spPr>
                      <a:xfrm>
                        <a:off x="384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128" name="Rectangle 316"/>
                      <p:cNvSpPr/>
                      <p:nvPr/>
                    </p:nvSpPr>
                    <p:spPr>
                      <a:xfrm>
                        <a:off x="192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129" name="Rectangle 317"/>
                      <p:cNvSpPr/>
                      <p:nvPr/>
                    </p:nvSpPr>
                    <p:spPr>
                      <a:xfrm>
                        <a:off x="0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</p:grpSp>
            </p:grpSp>
          </p:grpSp>
          <p:grpSp>
            <p:nvGrpSpPr>
              <p:cNvPr id="14723" name="Group 318"/>
              <p:cNvGrpSpPr/>
              <p:nvPr/>
            </p:nvGrpSpPr>
            <p:grpSpPr>
              <a:xfrm>
                <a:off x="1656" y="811"/>
                <a:ext cx="828" cy="414"/>
                <a:chOff x="0" y="0"/>
                <a:chExt cx="1536" cy="768"/>
              </a:xfrm>
            </p:grpSpPr>
            <p:grpSp>
              <p:nvGrpSpPr>
                <p:cNvPr id="15078" name="Group 319"/>
                <p:cNvGrpSpPr/>
                <p:nvPr/>
              </p:nvGrpSpPr>
              <p:grpSpPr>
                <a:xfrm>
                  <a:off x="0" y="0"/>
                  <a:ext cx="768" cy="768"/>
                  <a:chOff x="0" y="0"/>
                  <a:chExt cx="768" cy="768"/>
                </a:xfrm>
              </p:grpSpPr>
              <p:grpSp>
                <p:nvGrpSpPr>
                  <p:cNvPr id="15098" name="Group 320"/>
                  <p:cNvGrpSpPr/>
                  <p:nvPr/>
                </p:nvGrpSpPr>
                <p:grpSpPr>
                  <a:xfrm>
                    <a:off x="0" y="0"/>
                    <a:ext cx="768" cy="384"/>
                    <a:chOff x="0" y="0"/>
                    <a:chExt cx="768" cy="384"/>
                  </a:xfrm>
                </p:grpSpPr>
                <p:sp>
                  <p:nvSpPr>
                    <p:cNvPr id="15108" name="Rectangle 321"/>
                    <p:cNvSpPr/>
                    <p:nvPr/>
                  </p:nvSpPr>
                  <p:spPr>
                    <a:xfrm>
                      <a:off x="0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5109" name="Rectangle 322"/>
                    <p:cNvSpPr/>
                    <p:nvPr/>
                  </p:nvSpPr>
                  <p:spPr>
                    <a:xfrm>
                      <a:off x="192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5110" name="Rectangle 323"/>
                    <p:cNvSpPr/>
                    <p:nvPr/>
                  </p:nvSpPr>
                  <p:spPr>
                    <a:xfrm>
                      <a:off x="384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5111" name="Rectangle 324"/>
                    <p:cNvSpPr/>
                    <p:nvPr/>
                  </p:nvSpPr>
                  <p:spPr>
                    <a:xfrm>
                      <a:off x="576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5112" name="Rectangle 325"/>
                    <p:cNvSpPr/>
                    <p:nvPr/>
                  </p:nvSpPr>
                  <p:spPr>
                    <a:xfrm>
                      <a:off x="576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5113" name="Rectangle 326"/>
                    <p:cNvSpPr/>
                    <p:nvPr/>
                  </p:nvSpPr>
                  <p:spPr>
                    <a:xfrm>
                      <a:off x="384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5114" name="Rectangle 327"/>
                    <p:cNvSpPr/>
                    <p:nvPr/>
                  </p:nvSpPr>
                  <p:spPr>
                    <a:xfrm>
                      <a:off x="192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5115" name="Rectangle 328"/>
                    <p:cNvSpPr/>
                    <p:nvPr/>
                  </p:nvSpPr>
                  <p:spPr>
                    <a:xfrm>
                      <a:off x="0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15099" name="Group 329"/>
                  <p:cNvGrpSpPr/>
                  <p:nvPr/>
                </p:nvGrpSpPr>
                <p:grpSpPr>
                  <a:xfrm>
                    <a:off x="0" y="384"/>
                    <a:ext cx="768" cy="384"/>
                    <a:chOff x="0" y="0"/>
                    <a:chExt cx="768" cy="384"/>
                  </a:xfrm>
                </p:grpSpPr>
                <p:sp>
                  <p:nvSpPr>
                    <p:cNvPr id="15100" name="Rectangle 330"/>
                    <p:cNvSpPr/>
                    <p:nvPr/>
                  </p:nvSpPr>
                  <p:spPr>
                    <a:xfrm>
                      <a:off x="0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5101" name="Rectangle 331"/>
                    <p:cNvSpPr/>
                    <p:nvPr/>
                  </p:nvSpPr>
                  <p:spPr>
                    <a:xfrm>
                      <a:off x="192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5102" name="Rectangle 332"/>
                    <p:cNvSpPr/>
                    <p:nvPr/>
                  </p:nvSpPr>
                  <p:spPr>
                    <a:xfrm>
                      <a:off x="384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5103" name="Rectangle 333"/>
                    <p:cNvSpPr/>
                    <p:nvPr/>
                  </p:nvSpPr>
                  <p:spPr>
                    <a:xfrm>
                      <a:off x="576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5104" name="Rectangle 334"/>
                    <p:cNvSpPr/>
                    <p:nvPr/>
                  </p:nvSpPr>
                  <p:spPr>
                    <a:xfrm>
                      <a:off x="576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5105" name="Rectangle 335"/>
                    <p:cNvSpPr/>
                    <p:nvPr/>
                  </p:nvSpPr>
                  <p:spPr>
                    <a:xfrm>
                      <a:off x="384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5106" name="Rectangle 336"/>
                    <p:cNvSpPr/>
                    <p:nvPr/>
                  </p:nvSpPr>
                  <p:spPr>
                    <a:xfrm>
                      <a:off x="192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5107" name="Rectangle 337"/>
                    <p:cNvSpPr/>
                    <p:nvPr/>
                  </p:nvSpPr>
                  <p:spPr>
                    <a:xfrm>
                      <a:off x="0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</p:grpSp>
            <p:grpSp>
              <p:nvGrpSpPr>
                <p:cNvPr id="15079" name="Group 338"/>
                <p:cNvGrpSpPr/>
                <p:nvPr/>
              </p:nvGrpSpPr>
              <p:grpSpPr>
                <a:xfrm>
                  <a:off x="768" y="0"/>
                  <a:ext cx="768" cy="768"/>
                  <a:chOff x="0" y="0"/>
                  <a:chExt cx="768" cy="768"/>
                </a:xfrm>
              </p:grpSpPr>
              <p:grpSp>
                <p:nvGrpSpPr>
                  <p:cNvPr id="15080" name="Group 339"/>
                  <p:cNvGrpSpPr/>
                  <p:nvPr/>
                </p:nvGrpSpPr>
                <p:grpSpPr>
                  <a:xfrm>
                    <a:off x="0" y="0"/>
                    <a:ext cx="768" cy="384"/>
                    <a:chOff x="0" y="0"/>
                    <a:chExt cx="768" cy="384"/>
                  </a:xfrm>
                </p:grpSpPr>
                <p:sp>
                  <p:nvSpPr>
                    <p:cNvPr id="15090" name="Rectangle 340"/>
                    <p:cNvSpPr/>
                    <p:nvPr/>
                  </p:nvSpPr>
                  <p:spPr>
                    <a:xfrm>
                      <a:off x="0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5091" name="Rectangle 341"/>
                    <p:cNvSpPr/>
                    <p:nvPr/>
                  </p:nvSpPr>
                  <p:spPr>
                    <a:xfrm>
                      <a:off x="192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5092" name="Rectangle 342"/>
                    <p:cNvSpPr/>
                    <p:nvPr/>
                  </p:nvSpPr>
                  <p:spPr>
                    <a:xfrm>
                      <a:off x="384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5093" name="Rectangle 343"/>
                    <p:cNvSpPr/>
                    <p:nvPr/>
                  </p:nvSpPr>
                  <p:spPr>
                    <a:xfrm>
                      <a:off x="576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5094" name="Rectangle 344"/>
                    <p:cNvSpPr/>
                    <p:nvPr/>
                  </p:nvSpPr>
                  <p:spPr>
                    <a:xfrm>
                      <a:off x="576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5095" name="Rectangle 345"/>
                    <p:cNvSpPr/>
                    <p:nvPr/>
                  </p:nvSpPr>
                  <p:spPr>
                    <a:xfrm>
                      <a:off x="384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5096" name="Rectangle 346"/>
                    <p:cNvSpPr/>
                    <p:nvPr/>
                  </p:nvSpPr>
                  <p:spPr>
                    <a:xfrm>
                      <a:off x="192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5097" name="Rectangle 347"/>
                    <p:cNvSpPr/>
                    <p:nvPr/>
                  </p:nvSpPr>
                  <p:spPr>
                    <a:xfrm>
                      <a:off x="0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15081" name="Group 348"/>
                  <p:cNvGrpSpPr/>
                  <p:nvPr/>
                </p:nvGrpSpPr>
                <p:grpSpPr>
                  <a:xfrm>
                    <a:off x="0" y="384"/>
                    <a:ext cx="768" cy="384"/>
                    <a:chOff x="0" y="0"/>
                    <a:chExt cx="768" cy="384"/>
                  </a:xfrm>
                </p:grpSpPr>
                <p:sp>
                  <p:nvSpPr>
                    <p:cNvPr id="15082" name="Rectangle 349"/>
                    <p:cNvSpPr/>
                    <p:nvPr/>
                  </p:nvSpPr>
                  <p:spPr>
                    <a:xfrm>
                      <a:off x="0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5083" name="Rectangle 350"/>
                    <p:cNvSpPr/>
                    <p:nvPr/>
                  </p:nvSpPr>
                  <p:spPr>
                    <a:xfrm>
                      <a:off x="192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5084" name="Rectangle 351"/>
                    <p:cNvSpPr/>
                    <p:nvPr/>
                  </p:nvSpPr>
                  <p:spPr>
                    <a:xfrm>
                      <a:off x="384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5085" name="Rectangle 352"/>
                    <p:cNvSpPr/>
                    <p:nvPr/>
                  </p:nvSpPr>
                  <p:spPr>
                    <a:xfrm>
                      <a:off x="576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5086" name="Rectangle 353"/>
                    <p:cNvSpPr/>
                    <p:nvPr/>
                  </p:nvSpPr>
                  <p:spPr>
                    <a:xfrm>
                      <a:off x="576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5087" name="Rectangle 354"/>
                    <p:cNvSpPr/>
                    <p:nvPr/>
                  </p:nvSpPr>
                  <p:spPr>
                    <a:xfrm>
                      <a:off x="384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5088" name="Rectangle 355"/>
                    <p:cNvSpPr/>
                    <p:nvPr/>
                  </p:nvSpPr>
                  <p:spPr>
                    <a:xfrm>
                      <a:off x="192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5089" name="Rectangle 356"/>
                    <p:cNvSpPr/>
                    <p:nvPr/>
                  </p:nvSpPr>
                  <p:spPr>
                    <a:xfrm>
                      <a:off x="0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</p:grpSp>
          </p:grpSp>
          <p:grpSp>
            <p:nvGrpSpPr>
              <p:cNvPr id="14724" name="Group 357"/>
              <p:cNvGrpSpPr/>
              <p:nvPr/>
            </p:nvGrpSpPr>
            <p:grpSpPr>
              <a:xfrm>
                <a:off x="0" y="1216"/>
                <a:ext cx="1656" cy="414"/>
                <a:chOff x="0" y="0"/>
                <a:chExt cx="3072" cy="768"/>
              </a:xfrm>
            </p:grpSpPr>
            <p:grpSp>
              <p:nvGrpSpPr>
                <p:cNvPr id="15000" name="Group 358"/>
                <p:cNvGrpSpPr/>
                <p:nvPr/>
              </p:nvGrpSpPr>
              <p:grpSpPr>
                <a:xfrm>
                  <a:off x="0" y="0"/>
                  <a:ext cx="1536" cy="768"/>
                  <a:chOff x="0" y="0"/>
                  <a:chExt cx="1536" cy="768"/>
                </a:xfrm>
              </p:grpSpPr>
              <p:grpSp>
                <p:nvGrpSpPr>
                  <p:cNvPr id="15040" name="Group 359"/>
                  <p:cNvGrpSpPr/>
                  <p:nvPr/>
                </p:nvGrpSpPr>
                <p:grpSpPr>
                  <a:xfrm>
                    <a:off x="0" y="0"/>
                    <a:ext cx="768" cy="768"/>
                    <a:chOff x="0" y="0"/>
                    <a:chExt cx="768" cy="768"/>
                  </a:xfrm>
                </p:grpSpPr>
                <p:grpSp>
                  <p:nvGrpSpPr>
                    <p:cNvPr id="15060" name="Group 360"/>
                    <p:cNvGrpSpPr/>
                    <p:nvPr/>
                  </p:nvGrpSpPr>
                  <p:grpSpPr>
                    <a:xfrm>
                      <a:off x="0" y="0"/>
                      <a:ext cx="768" cy="384"/>
                      <a:chOff x="0" y="0"/>
                      <a:chExt cx="768" cy="384"/>
                    </a:xfrm>
                  </p:grpSpPr>
                  <p:sp>
                    <p:nvSpPr>
                      <p:cNvPr id="15070" name="Rectangle 361"/>
                      <p:cNvSpPr/>
                      <p:nvPr/>
                    </p:nvSpPr>
                    <p:spPr>
                      <a:xfrm>
                        <a:off x="0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071" name="Rectangle 362"/>
                      <p:cNvSpPr/>
                      <p:nvPr/>
                    </p:nvSpPr>
                    <p:spPr>
                      <a:xfrm>
                        <a:off x="192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072" name="Rectangle 363"/>
                      <p:cNvSpPr/>
                      <p:nvPr/>
                    </p:nvSpPr>
                    <p:spPr>
                      <a:xfrm>
                        <a:off x="384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073" name="Rectangle 364"/>
                      <p:cNvSpPr/>
                      <p:nvPr/>
                    </p:nvSpPr>
                    <p:spPr>
                      <a:xfrm>
                        <a:off x="576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074" name="Rectangle 365"/>
                      <p:cNvSpPr/>
                      <p:nvPr/>
                    </p:nvSpPr>
                    <p:spPr>
                      <a:xfrm>
                        <a:off x="576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075" name="Rectangle 366"/>
                      <p:cNvSpPr/>
                      <p:nvPr/>
                    </p:nvSpPr>
                    <p:spPr>
                      <a:xfrm>
                        <a:off x="384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076" name="Rectangle 367"/>
                      <p:cNvSpPr/>
                      <p:nvPr/>
                    </p:nvSpPr>
                    <p:spPr>
                      <a:xfrm>
                        <a:off x="192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077" name="Rectangle 368"/>
                      <p:cNvSpPr/>
                      <p:nvPr/>
                    </p:nvSpPr>
                    <p:spPr>
                      <a:xfrm>
                        <a:off x="0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15061" name="Group 369"/>
                    <p:cNvGrpSpPr/>
                    <p:nvPr/>
                  </p:nvGrpSpPr>
                  <p:grpSpPr>
                    <a:xfrm>
                      <a:off x="0" y="384"/>
                      <a:ext cx="768" cy="384"/>
                      <a:chOff x="0" y="0"/>
                      <a:chExt cx="768" cy="384"/>
                    </a:xfrm>
                  </p:grpSpPr>
                  <p:sp>
                    <p:nvSpPr>
                      <p:cNvPr id="15062" name="Rectangle 370"/>
                      <p:cNvSpPr/>
                      <p:nvPr/>
                    </p:nvSpPr>
                    <p:spPr>
                      <a:xfrm>
                        <a:off x="0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063" name="Rectangle 371"/>
                      <p:cNvSpPr/>
                      <p:nvPr/>
                    </p:nvSpPr>
                    <p:spPr>
                      <a:xfrm>
                        <a:off x="192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064" name="Rectangle 372"/>
                      <p:cNvSpPr/>
                      <p:nvPr/>
                    </p:nvSpPr>
                    <p:spPr>
                      <a:xfrm>
                        <a:off x="384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065" name="Rectangle 373"/>
                      <p:cNvSpPr/>
                      <p:nvPr/>
                    </p:nvSpPr>
                    <p:spPr>
                      <a:xfrm>
                        <a:off x="576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066" name="Rectangle 374"/>
                      <p:cNvSpPr/>
                      <p:nvPr/>
                    </p:nvSpPr>
                    <p:spPr>
                      <a:xfrm>
                        <a:off x="576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067" name="Rectangle 375"/>
                      <p:cNvSpPr/>
                      <p:nvPr/>
                    </p:nvSpPr>
                    <p:spPr>
                      <a:xfrm>
                        <a:off x="384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068" name="Rectangle 376"/>
                      <p:cNvSpPr/>
                      <p:nvPr/>
                    </p:nvSpPr>
                    <p:spPr>
                      <a:xfrm>
                        <a:off x="192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069" name="Rectangle 377"/>
                      <p:cNvSpPr/>
                      <p:nvPr/>
                    </p:nvSpPr>
                    <p:spPr>
                      <a:xfrm>
                        <a:off x="0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</p:grpSp>
              <p:grpSp>
                <p:nvGrpSpPr>
                  <p:cNvPr id="15041" name="Group 378"/>
                  <p:cNvGrpSpPr/>
                  <p:nvPr/>
                </p:nvGrpSpPr>
                <p:grpSpPr>
                  <a:xfrm>
                    <a:off x="768" y="0"/>
                    <a:ext cx="768" cy="768"/>
                    <a:chOff x="0" y="0"/>
                    <a:chExt cx="768" cy="768"/>
                  </a:xfrm>
                </p:grpSpPr>
                <p:grpSp>
                  <p:nvGrpSpPr>
                    <p:cNvPr id="15042" name="Group 379"/>
                    <p:cNvGrpSpPr/>
                    <p:nvPr/>
                  </p:nvGrpSpPr>
                  <p:grpSpPr>
                    <a:xfrm>
                      <a:off x="0" y="0"/>
                      <a:ext cx="768" cy="384"/>
                      <a:chOff x="0" y="0"/>
                      <a:chExt cx="768" cy="384"/>
                    </a:xfrm>
                  </p:grpSpPr>
                  <p:sp>
                    <p:nvSpPr>
                      <p:cNvPr id="15052" name="Rectangle 380"/>
                      <p:cNvSpPr/>
                      <p:nvPr/>
                    </p:nvSpPr>
                    <p:spPr>
                      <a:xfrm>
                        <a:off x="0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053" name="Rectangle 381"/>
                      <p:cNvSpPr/>
                      <p:nvPr/>
                    </p:nvSpPr>
                    <p:spPr>
                      <a:xfrm>
                        <a:off x="192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054" name="Rectangle 382"/>
                      <p:cNvSpPr/>
                      <p:nvPr/>
                    </p:nvSpPr>
                    <p:spPr>
                      <a:xfrm>
                        <a:off x="384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055" name="Rectangle 383"/>
                      <p:cNvSpPr/>
                      <p:nvPr/>
                    </p:nvSpPr>
                    <p:spPr>
                      <a:xfrm>
                        <a:off x="576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056" name="Rectangle 384"/>
                      <p:cNvSpPr/>
                      <p:nvPr/>
                    </p:nvSpPr>
                    <p:spPr>
                      <a:xfrm>
                        <a:off x="576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057" name="Rectangle 385"/>
                      <p:cNvSpPr/>
                      <p:nvPr/>
                    </p:nvSpPr>
                    <p:spPr>
                      <a:xfrm>
                        <a:off x="384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058" name="Rectangle 386"/>
                      <p:cNvSpPr/>
                      <p:nvPr/>
                    </p:nvSpPr>
                    <p:spPr>
                      <a:xfrm>
                        <a:off x="192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059" name="Rectangle 387"/>
                      <p:cNvSpPr/>
                      <p:nvPr/>
                    </p:nvSpPr>
                    <p:spPr>
                      <a:xfrm>
                        <a:off x="0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15043" name="Group 388"/>
                    <p:cNvGrpSpPr/>
                    <p:nvPr/>
                  </p:nvGrpSpPr>
                  <p:grpSpPr>
                    <a:xfrm>
                      <a:off x="0" y="384"/>
                      <a:ext cx="768" cy="384"/>
                      <a:chOff x="0" y="0"/>
                      <a:chExt cx="768" cy="384"/>
                    </a:xfrm>
                  </p:grpSpPr>
                  <p:sp>
                    <p:nvSpPr>
                      <p:cNvPr id="15044" name="Rectangle 389"/>
                      <p:cNvSpPr/>
                      <p:nvPr/>
                    </p:nvSpPr>
                    <p:spPr>
                      <a:xfrm>
                        <a:off x="0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045" name="Rectangle 390"/>
                      <p:cNvSpPr/>
                      <p:nvPr/>
                    </p:nvSpPr>
                    <p:spPr>
                      <a:xfrm>
                        <a:off x="192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046" name="Rectangle 391"/>
                      <p:cNvSpPr/>
                      <p:nvPr/>
                    </p:nvSpPr>
                    <p:spPr>
                      <a:xfrm>
                        <a:off x="384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047" name="Rectangle 392"/>
                      <p:cNvSpPr/>
                      <p:nvPr/>
                    </p:nvSpPr>
                    <p:spPr>
                      <a:xfrm>
                        <a:off x="576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048" name="Rectangle 393"/>
                      <p:cNvSpPr/>
                      <p:nvPr/>
                    </p:nvSpPr>
                    <p:spPr>
                      <a:xfrm>
                        <a:off x="576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049" name="Rectangle 394"/>
                      <p:cNvSpPr/>
                      <p:nvPr/>
                    </p:nvSpPr>
                    <p:spPr>
                      <a:xfrm>
                        <a:off x="384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050" name="Rectangle 395"/>
                      <p:cNvSpPr/>
                      <p:nvPr/>
                    </p:nvSpPr>
                    <p:spPr>
                      <a:xfrm>
                        <a:off x="192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051" name="Rectangle 396"/>
                      <p:cNvSpPr/>
                      <p:nvPr/>
                    </p:nvSpPr>
                    <p:spPr>
                      <a:xfrm>
                        <a:off x="0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15001" name="Group 397"/>
                <p:cNvGrpSpPr/>
                <p:nvPr/>
              </p:nvGrpSpPr>
              <p:grpSpPr>
                <a:xfrm>
                  <a:off x="1536" y="0"/>
                  <a:ext cx="1536" cy="768"/>
                  <a:chOff x="0" y="0"/>
                  <a:chExt cx="1536" cy="768"/>
                </a:xfrm>
              </p:grpSpPr>
              <p:grpSp>
                <p:nvGrpSpPr>
                  <p:cNvPr id="15002" name="Group 398"/>
                  <p:cNvGrpSpPr/>
                  <p:nvPr/>
                </p:nvGrpSpPr>
                <p:grpSpPr>
                  <a:xfrm>
                    <a:off x="0" y="0"/>
                    <a:ext cx="768" cy="768"/>
                    <a:chOff x="0" y="0"/>
                    <a:chExt cx="768" cy="768"/>
                  </a:xfrm>
                </p:grpSpPr>
                <p:grpSp>
                  <p:nvGrpSpPr>
                    <p:cNvPr id="15022" name="Group 399"/>
                    <p:cNvGrpSpPr/>
                    <p:nvPr/>
                  </p:nvGrpSpPr>
                  <p:grpSpPr>
                    <a:xfrm>
                      <a:off x="0" y="0"/>
                      <a:ext cx="768" cy="384"/>
                      <a:chOff x="0" y="0"/>
                      <a:chExt cx="768" cy="384"/>
                    </a:xfrm>
                  </p:grpSpPr>
                  <p:sp>
                    <p:nvSpPr>
                      <p:cNvPr id="15032" name="Rectangle 400"/>
                      <p:cNvSpPr/>
                      <p:nvPr/>
                    </p:nvSpPr>
                    <p:spPr>
                      <a:xfrm>
                        <a:off x="0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033" name="Rectangle 401"/>
                      <p:cNvSpPr/>
                      <p:nvPr/>
                    </p:nvSpPr>
                    <p:spPr>
                      <a:xfrm>
                        <a:off x="192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034" name="Rectangle 402"/>
                      <p:cNvSpPr/>
                      <p:nvPr/>
                    </p:nvSpPr>
                    <p:spPr>
                      <a:xfrm>
                        <a:off x="384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035" name="Rectangle 403"/>
                      <p:cNvSpPr/>
                      <p:nvPr/>
                    </p:nvSpPr>
                    <p:spPr>
                      <a:xfrm>
                        <a:off x="576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036" name="Rectangle 404"/>
                      <p:cNvSpPr/>
                      <p:nvPr/>
                    </p:nvSpPr>
                    <p:spPr>
                      <a:xfrm>
                        <a:off x="576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037" name="Rectangle 405"/>
                      <p:cNvSpPr/>
                      <p:nvPr/>
                    </p:nvSpPr>
                    <p:spPr>
                      <a:xfrm>
                        <a:off x="384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038" name="Rectangle 406"/>
                      <p:cNvSpPr/>
                      <p:nvPr/>
                    </p:nvSpPr>
                    <p:spPr>
                      <a:xfrm>
                        <a:off x="192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039" name="Rectangle 407"/>
                      <p:cNvSpPr/>
                      <p:nvPr/>
                    </p:nvSpPr>
                    <p:spPr>
                      <a:xfrm>
                        <a:off x="0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15023" name="Group 408"/>
                    <p:cNvGrpSpPr/>
                    <p:nvPr/>
                  </p:nvGrpSpPr>
                  <p:grpSpPr>
                    <a:xfrm>
                      <a:off x="0" y="384"/>
                      <a:ext cx="768" cy="384"/>
                      <a:chOff x="0" y="0"/>
                      <a:chExt cx="768" cy="384"/>
                    </a:xfrm>
                  </p:grpSpPr>
                  <p:sp>
                    <p:nvSpPr>
                      <p:cNvPr id="15024" name="Rectangle 409"/>
                      <p:cNvSpPr/>
                      <p:nvPr/>
                    </p:nvSpPr>
                    <p:spPr>
                      <a:xfrm>
                        <a:off x="0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025" name="Rectangle 410"/>
                      <p:cNvSpPr/>
                      <p:nvPr/>
                    </p:nvSpPr>
                    <p:spPr>
                      <a:xfrm>
                        <a:off x="192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026" name="Rectangle 411"/>
                      <p:cNvSpPr/>
                      <p:nvPr/>
                    </p:nvSpPr>
                    <p:spPr>
                      <a:xfrm>
                        <a:off x="384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027" name="Rectangle 412"/>
                      <p:cNvSpPr/>
                      <p:nvPr/>
                    </p:nvSpPr>
                    <p:spPr>
                      <a:xfrm>
                        <a:off x="576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028" name="Rectangle 413"/>
                      <p:cNvSpPr/>
                      <p:nvPr/>
                    </p:nvSpPr>
                    <p:spPr>
                      <a:xfrm>
                        <a:off x="576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029" name="Rectangle 414"/>
                      <p:cNvSpPr/>
                      <p:nvPr/>
                    </p:nvSpPr>
                    <p:spPr>
                      <a:xfrm>
                        <a:off x="384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030" name="Rectangle 415"/>
                      <p:cNvSpPr/>
                      <p:nvPr/>
                    </p:nvSpPr>
                    <p:spPr>
                      <a:xfrm>
                        <a:off x="192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031" name="Rectangle 416"/>
                      <p:cNvSpPr/>
                      <p:nvPr/>
                    </p:nvSpPr>
                    <p:spPr>
                      <a:xfrm>
                        <a:off x="0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</p:grpSp>
              <p:grpSp>
                <p:nvGrpSpPr>
                  <p:cNvPr id="15003" name="Group 417"/>
                  <p:cNvGrpSpPr/>
                  <p:nvPr/>
                </p:nvGrpSpPr>
                <p:grpSpPr>
                  <a:xfrm>
                    <a:off x="768" y="0"/>
                    <a:ext cx="768" cy="768"/>
                    <a:chOff x="0" y="0"/>
                    <a:chExt cx="768" cy="768"/>
                  </a:xfrm>
                </p:grpSpPr>
                <p:grpSp>
                  <p:nvGrpSpPr>
                    <p:cNvPr id="15004" name="Group 418"/>
                    <p:cNvGrpSpPr/>
                    <p:nvPr/>
                  </p:nvGrpSpPr>
                  <p:grpSpPr>
                    <a:xfrm>
                      <a:off x="0" y="0"/>
                      <a:ext cx="768" cy="384"/>
                      <a:chOff x="0" y="0"/>
                      <a:chExt cx="768" cy="384"/>
                    </a:xfrm>
                  </p:grpSpPr>
                  <p:sp>
                    <p:nvSpPr>
                      <p:cNvPr id="15014" name="Rectangle 419"/>
                      <p:cNvSpPr/>
                      <p:nvPr/>
                    </p:nvSpPr>
                    <p:spPr>
                      <a:xfrm>
                        <a:off x="0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015" name="Rectangle 420"/>
                      <p:cNvSpPr/>
                      <p:nvPr/>
                    </p:nvSpPr>
                    <p:spPr>
                      <a:xfrm>
                        <a:off x="192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016" name="Rectangle 421"/>
                      <p:cNvSpPr/>
                      <p:nvPr/>
                    </p:nvSpPr>
                    <p:spPr>
                      <a:xfrm>
                        <a:off x="384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017" name="Rectangle 422"/>
                      <p:cNvSpPr/>
                      <p:nvPr/>
                    </p:nvSpPr>
                    <p:spPr>
                      <a:xfrm>
                        <a:off x="576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018" name="Rectangle 423"/>
                      <p:cNvSpPr/>
                      <p:nvPr/>
                    </p:nvSpPr>
                    <p:spPr>
                      <a:xfrm>
                        <a:off x="576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019" name="Rectangle 424"/>
                      <p:cNvSpPr/>
                      <p:nvPr/>
                    </p:nvSpPr>
                    <p:spPr>
                      <a:xfrm>
                        <a:off x="384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020" name="Rectangle 425"/>
                      <p:cNvSpPr/>
                      <p:nvPr/>
                    </p:nvSpPr>
                    <p:spPr>
                      <a:xfrm>
                        <a:off x="192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021" name="Rectangle 426"/>
                      <p:cNvSpPr/>
                      <p:nvPr/>
                    </p:nvSpPr>
                    <p:spPr>
                      <a:xfrm>
                        <a:off x="0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15005" name="Group 427"/>
                    <p:cNvGrpSpPr/>
                    <p:nvPr/>
                  </p:nvGrpSpPr>
                  <p:grpSpPr>
                    <a:xfrm>
                      <a:off x="0" y="384"/>
                      <a:ext cx="768" cy="384"/>
                      <a:chOff x="0" y="0"/>
                      <a:chExt cx="768" cy="384"/>
                    </a:xfrm>
                  </p:grpSpPr>
                  <p:sp>
                    <p:nvSpPr>
                      <p:cNvPr id="15006" name="Rectangle 428"/>
                      <p:cNvSpPr/>
                      <p:nvPr/>
                    </p:nvSpPr>
                    <p:spPr>
                      <a:xfrm>
                        <a:off x="0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007" name="Rectangle 429"/>
                      <p:cNvSpPr/>
                      <p:nvPr/>
                    </p:nvSpPr>
                    <p:spPr>
                      <a:xfrm>
                        <a:off x="192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008" name="Rectangle 430"/>
                      <p:cNvSpPr/>
                      <p:nvPr/>
                    </p:nvSpPr>
                    <p:spPr>
                      <a:xfrm>
                        <a:off x="384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009" name="Rectangle 431"/>
                      <p:cNvSpPr/>
                      <p:nvPr/>
                    </p:nvSpPr>
                    <p:spPr>
                      <a:xfrm>
                        <a:off x="576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010" name="Rectangle 432"/>
                      <p:cNvSpPr/>
                      <p:nvPr/>
                    </p:nvSpPr>
                    <p:spPr>
                      <a:xfrm>
                        <a:off x="576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011" name="Rectangle 433"/>
                      <p:cNvSpPr/>
                      <p:nvPr/>
                    </p:nvSpPr>
                    <p:spPr>
                      <a:xfrm>
                        <a:off x="384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012" name="Rectangle 434"/>
                      <p:cNvSpPr/>
                      <p:nvPr/>
                    </p:nvSpPr>
                    <p:spPr>
                      <a:xfrm>
                        <a:off x="192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5013" name="Rectangle 435"/>
                      <p:cNvSpPr/>
                      <p:nvPr/>
                    </p:nvSpPr>
                    <p:spPr>
                      <a:xfrm>
                        <a:off x="0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</p:grpSp>
            </p:grpSp>
          </p:grpSp>
          <p:grpSp>
            <p:nvGrpSpPr>
              <p:cNvPr id="14725" name="Group 436"/>
              <p:cNvGrpSpPr/>
              <p:nvPr/>
            </p:nvGrpSpPr>
            <p:grpSpPr>
              <a:xfrm>
                <a:off x="1656" y="1216"/>
                <a:ext cx="828" cy="414"/>
                <a:chOff x="0" y="0"/>
                <a:chExt cx="1536" cy="768"/>
              </a:xfrm>
            </p:grpSpPr>
            <p:grpSp>
              <p:nvGrpSpPr>
                <p:cNvPr id="14962" name="Group 437"/>
                <p:cNvGrpSpPr/>
                <p:nvPr/>
              </p:nvGrpSpPr>
              <p:grpSpPr>
                <a:xfrm>
                  <a:off x="0" y="0"/>
                  <a:ext cx="768" cy="768"/>
                  <a:chOff x="0" y="0"/>
                  <a:chExt cx="768" cy="768"/>
                </a:xfrm>
              </p:grpSpPr>
              <p:grpSp>
                <p:nvGrpSpPr>
                  <p:cNvPr id="14982" name="Group 438"/>
                  <p:cNvGrpSpPr/>
                  <p:nvPr/>
                </p:nvGrpSpPr>
                <p:grpSpPr>
                  <a:xfrm>
                    <a:off x="0" y="0"/>
                    <a:ext cx="768" cy="384"/>
                    <a:chOff x="0" y="0"/>
                    <a:chExt cx="768" cy="384"/>
                  </a:xfrm>
                </p:grpSpPr>
                <p:sp>
                  <p:nvSpPr>
                    <p:cNvPr id="14992" name="Rectangle 439"/>
                    <p:cNvSpPr/>
                    <p:nvPr/>
                  </p:nvSpPr>
                  <p:spPr>
                    <a:xfrm>
                      <a:off x="0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993" name="Rectangle 440"/>
                    <p:cNvSpPr/>
                    <p:nvPr/>
                  </p:nvSpPr>
                  <p:spPr>
                    <a:xfrm>
                      <a:off x="192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994" name="Rectangle 441"/>
                    <p:cNvSpPr/>
                    <p:nvPr/>
                  </p:nvSpPr>
                  <p:spPr>
                    <a:xfrm>
                      <a:off x="384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995" name="Rectangle 442"/>
                    <p:cNvSpPr/>
                    <p:nvPr/>
                  </p:nvSpPr>
                  <p:spPr>
                    <a:xfrm>
                      <a:off x="576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996" name="Rectangle 443"/>
                    <p:cNvSpPr/>
                    <p:nvPr/>
                  </p:nvSpPr>
                  <p:spPr>
                    <a:xfrm>
                      <a:off x="576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997" name="Rectangle 444"/>
                    <p:cNvSpPr/>
                    <p:nvPr/>
                  </p:nvSpPr>
                  <p:spPr>
                    <a:xfrm>
                      <a:off x="384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998" name="Rectangle 445"/>
                    <p:cNvSpPr/>
                    <p:nvPr/>
                  </p:nvSpPr>
                  <p:spPr>
                    <a:xfrm>
                      <a:off x="192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999" name="Rectangle 446"/>
                    <p:cNvSpPr/>
                    <p:nvPr/>
                  </p:nvSpPr>
                  <p:spPr>
                    <a:xfrm>
                      <a:off x="0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14983" name="Group 447"/>
                  <p:cNvGrpSpPr/>
                  <p:nvPr/>
                </p:nvGrpSpPr>
                <p:grpSpPr>
                  <a:xfrm>
                    <a:off x="0" y="384"/>
                    <a:ext cx="768" cy="384"/>
                    <a:chOff x="0" y="0"/>
                    <a:chExt cx="768" cy="384"/>
                  </a:xfrm>
                </p:grpSpPr>
                <p:sp>
                  <p:nvSpPr>
                    <p:cNvPr id="14984" name="Rectangle 448"/>
                    <p:cNvSpPr/>
                    <p:nvPr/>
                  </p:nvSpPr>
                  <p:spPr>
                    <a:xfrm>
                      <a:off x="0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985" name="Rectangle 449"/>
                    <p:cNvSpPr/>
                    <p:nvPr/>
                  </p:nvSpPr>
                  <p:spPr>
                    <a:xfrm>
                      <a:off x="192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986" name="Rectangle 450"/>
                    <p:cNvSpPr/>
                    <p:nvPr/>
                  </p:nvSpPr>
                  <p:spPr>
                    <a:xfrm>
                      <a:off x="384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987" name="Rectangle 451"/>
                    <p:cNvSpPr/>
                    <p:nvPr/>
                  </p:nvSpPr>
                  <p:spPr>
                    <a:xfrm>
                      <a:off x="576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988" name="Rectangle 452"/>
                    <p:cNvSpPr/>
                    <p:nvPr/>
                  </p:nvSpPr>
                  <p:spPr>
                    <a:xfrm>
                      <a:off x="576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989" name="Rectangle 453"/>
                    <p:cNvSpPr/>
                    <p:nvPr/>
                  </p:nvSpPr>
                  <p:spPr>
                    <a:xfrm>
                      <a:off x="384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990" name="Rectangle 454"/>
                    <p:cNvSpPr/>
                    <p:nvPr/>
                  </p:nvSpPr>
                  <p:spPr>
                    <a:xfrm>
                      <a:off x="192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991" name="Rectangle 455"/>
                    <p:cNvSpPr/>
                    <p:nvPr/>
                  </p:nvSpPr>
                  <p:spPr>
                    <a:xfrm>
                      <a:off x="0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</p:grpSp>
            <p:grpSp>
              <p:nvGrpSpPr>
                <p:cNvPr id="14963" name="Group 456"/>
                <p:cNvGrpSpPr/>
                <p:nvPr/>
              </p:nvGrpSpPr>
              <p:grpSpPr>
                <a:xfrm>
                  <a:off x="768" y="0"/>
                  <a:ext cx="768" cy="768"/>
                  <a:chOff x="0" y="0"/>
                  <a:chExt cx="768" cy="768"/>
                </a:xfrm>
              </p:grpSpPr>
              <p:grpSp>
                <p:nvGrpSpPr>
                  <p:cNvPr id="14964" name="Group 457"/>
                  <p:cNvGrpSpPr/>
                  <p:nvPr/>
                </p:nvGrpSpPr>
                <p:grpSpPr>
                  <a:xfrm>
                    <a:off x="0" y="0"/>
                    <a:ext cx="768" cy="384"/>
                    <a:chOff x="0" y="0"/>
                    <a:chExt cx="768" cy="384"/>
                  </a:xfrm>
                </p:grpSpPr>
                <p:sp>
                  <p:nvSpPr>
                    <p:cNvPr id="14974" name="Rectangle 458"/>
                    <p:cNvSpPr/>
                    <p:nvPr/>
                  </p:nvSpPr>
                  <p:spPr>
                    <a:xfrm>
                      <a:off x="0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975" name="Rectangle 459"/>
                    <p:cNvSpPr/>
                    <p:nvPr/>
                  </p:nvSpPr>
                  <p:spPr>
                    <a:xfrm>
                      <a:off x="192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976" name="Rectangle 460"/>
                    <p:cNvSpPr/>
                    <p:nvPr/>
                  </p:nvSpPr>
                  <p:spPr>
                    <a:xfrm>
                      <a:off x="384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977" name="Rectangle 461"/>
                    <p:cNvSpPr/>
                    <p:nvPr/>
                  </p:nvSpPr>
                  <p:spPr>
                    <a:xfrm>
                      <a:off x="576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978" name="Rectangle 462"/>
                    <p:cNvSpPr/>
                    <p:nvPr/>
                  </p:nvSpPr>
                  <p:spPr>
                    <a:xfrm>
                      <a:off x="576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979" name="Rectangle 463"/>
                    <p:cNvSpPr/>
                    <p:nvPr/>
                  </p:nvSpPr>
                  <p:spPr>
                    <a:xfrm>
                      <a:off x="384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980" name="Rectangle 464"/>
                    <p:cNvSpPr/>
                    <p:nvPr/>
                  </p:nvSpPr>
                  <p:spPr>
                    <a:xfrm>
                      <a:off x="192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981" name="Rectangle 465"/>
                    <p:cNvSpPr/>
                    <p:nvPr/>
                  </p:nvSpPr>
                  <p:spPr>
                    <a:xfrm>
                      <a:off x="0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14965" name="Group 466"/>
                  <p:cNvGrpSpPr/>
                  <p:nvPr/>
                </p:nvGrpSpPr>
                <p:grpSpPr>
                  <a:xfrm>
                    <a:off x="0" y="384"/>
                    <a:ext cx="768" cy="384"/>
                    <a:chOff x="0" y="0"/>
                    <a:chExt cx="768" cy="384"/>
                  </a:xfrm>
                </p:grpSpPr>
                <p:sp>
                  <p:nvSpPr>
                    <p:cNvPr id="14966" name="Rectangle 467"/>
                    <p:cNvSpPr/>
                    <p:nvPr/>
                  </p:nvSpPr>
                  <p:spPr>
                    <a:xfrm>
                      <a:off x="0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967" name="Rectangle 468"/>
                    <p:cNvSpPr/>
                    <p:nvPr/>
                  </p:nvSpPr>
                  <p:spPr>
                    <a:xfrm>
                      <a:off x="192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968" name="Rectangle 469"/>
                    <p:cNvSpPr/>
                    <p:nvPr/>
                  </p:nvSpPr>
                  <p:spPr>
                    <a:xfrm>
                      <a:off x="384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969" name="Rectangle 470"/>
                    <p:cNvSpPr/>
                    <p:nvPr/>
                  </p:nvSpPr>
                  <p:spPr>
                    <a:xfrm>
                      <a:off x="576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970" name="Rectangle 471"/>
                    <p:cNvSpPr/>
                    <p:nvPr/>
                  </p:nvSpPr>
                  <p:spPr>
                    <a:xfrm>
                      <a:off x="576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971" name="Rectangle 472"/>
                    <p:cNvSpPr/>
                    <p:nvPr/>
                  </p:nvSpPr>
                  <p:spPr>
                    <a:xfrm>
                      <a:off x="384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972" name="Rectangle 473"/>
                    <p:cNvSpPr/>
                    <p:nvPr/>
                  </p:nvSpPr>
                  <p:spPr>
                    <a:xfrm>
                      <a:off x="192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973" name="Rectangle 474"/>
                    <p:cNvSpPr/>
                    <p:nvPr/>
                  </p:nvSpPr>
                  <p:spPr>
                    <a:xfrm>
                      <a:off x="0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</p:grpSp>
          </p:grpSp>
          <p:grpSp>
            <p:nvGrpSpPr>
              <p:cNvPr id="14726" name="Group 475"/>
              <p:cNvGrpSpPr/>
              <p:nvPr/>
            </p:nvGrpSpPr>
            <p:grpSpPr>
              <a:xfrm>
                <a:off x="0" y="1632"/>
                <a:ext cx="1656" cy="414"/>
                <a:chOff x="0" y="0"/>
                <a:chExt cx="3072" cy="768"/>
              </a:xfrm>
            </p:grpSpPr>
            <p:grpSp>
              <p:nvGrpSpPr>
                <p:cNvPr id="14884" name="Group 476"/>
                <p:cNvGrpSpPr/>
                <p:nvPr/>
              </p:nvGrpSpPr>
              <p:grpSpPr>
                <a:xfrm>
                  <a:off x="0" y="0"/>
                  <a:ext cx="1536" cy="768"/>
                  <a:chOff x="0" y="0"/>
                  <a:chExt cx="1536" cy="768"/>
                </a:xfrm>
              </p:grpSpPr>
              <p:grpSp>
                <p:nvGrpSpPr>
                  <p:cNvPr id="14924" name="Group 477"/>
                  <p:cNvGrpSpPr/>
                  <p:nvPr/>
                </p:nvGrpSpPr>
                <p:grpSpPr>
                  <a:xfrm>
                    <a:off x="0" y="0"/>
                    <a:ext cx="768" cy="768"/>
                    <a:chOff x="0" y="0"/>
                    <a:chExt cx="768" cy="768"/>
                  </a:xfrm>
                </p:grpSpPr>
                <p:grpSp>
                  <p:nvGrpSpPr>
                    <p:cNvPr id="14944" name="Group 478"/>
                    <p:cNvGrpSpPr/>
                    <p:nvPr/>
                  </p:nvGrpSpPr>
                  <p:grpSpPr>
                    <a:xfrm>
                      <a:off x="0" y="0"/>
                      <a:ext cx="768" cy="384"/>
                      <a:chOff x="0" y="0"/>
                      <a:chExt cx="768" cy="384"/>
                    </a:xfrm>
                  </p:grpSpPr>
                  <p:sp>
                    <p:nvSpPr>
                      <p:cNvPr id="14954" name="Rectangle 479"/>
                      <p:cNvSpPr/>
                      <p:nvPr/>
                    </p:nvSpPr>
                    <p:spPr>
                      <a:xfrm>
                        <a:off x="0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955" name="Rectangle 480"/>
                      <p:cNvSpPr/>
                      <p:nvPr/>
                    </p:nvSpPr>
                    <p:spPr>
                      <a:xfrm>
                        <a:off x="192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956" name="Rectangle 481"/>
                      <p:cNvSpPr/>
                      <p:nvPr/>
                    </p:nvSpPr>
                    <p:spPr>
                      <a:xfrm>
                        <a:off x="384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957" name="Rectangle 482"/>
                      <p:cNvSpPr/>
                      <p:nvPr/>
                    </p:nvSpPr>
                    <p:spPr>
                      <a:xfrm>
                        <a:off x="576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958" name="Rectangle 483"/>
                      <p:cNvSpPr/>
                      <p:nvPr/>
                    </p:nvSpPr>
                    <p:spPr>
                      <a:xfrm>
                        <a:off x="576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959" name="Rectangle 484"/>
                      <p:cNvSpPr/>
                      <p:nvPr/>
                    </p:nvSpPr>
                    <p:spPr>
                      <a:xfrm>
                        <a:off x="384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960" name="Rectangle 485"/>
                      <p:cNvSpPr/>
                      <p:nvPr/>
                    </p:nvSpPr>
                    <p:spPr>
                      <a:xfrm>
                        <a:off x="192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961" name="Rectangle 486"/>
                      <p:cNvSpPr/>
                      <p:nvPr/>
                    </p:nvSpPr>
                    <p:spPr>
                      <a:xfrm>
                        <a:off x="0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14945" name="Group 487"/>
                    <p:cNvGrpSpPr/>
                    <p:nvPr/>
                  </p:nvGrpSpPr>
                  <p:grpSpPr>
                    <a:xfrm>
                      <a:off x="0" y="384"/>
                      <a:ext cx="768" cy="384"/>
                      <a:chOff x="0" y="0"/>
                      <a:chExt cx="768" cy="384"/>
                    </a:xfrm>
                  </p:grpSpPr>
                  <p:sp>
                    <p:nvSpPr>
                      <p:cNvPr id="14946" name="Rectangle 488"/>
                      <p:cNvSpPr/>
                      <p:nvPr/>
                    </p:nvSpPr>
                    <p:spPr>
                      <a:xfrm>
                        <a:off x="0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947" name="Rectangle 489"/>
                      <p:cNvSpPr/>
                      <p:nvPr/>
                    </p:nvSpPr>
                    <p:spPr>
                      <a:xfrm>
                        <a:off x="192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948" name="Rectangle 490"/>
                      <p:cNvSpPr/>
                      <p:nvPr/>
                    </p:nvSpPr>
                    <p:spPr>
                      <a:xfrm>
                        <a:off x="384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949" name="Rectangle 491"/>
                      <p:cNvSpPr/>
                      <p:nvPr/>
                    </p:nvSpPr>
                    <p:spPr>
                      <a:xfrm>
                        <a:off x="576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950" name="Rectangle 492"/>
                      <p:cNvSpPr/>
                      <p:nvPr/>
                    </p:nvSpPr>
                    <p:spPr>
                      <a:xfrm>
                        <a:off x="576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951" name="Rectangle 493"/>
                      <p:cNvSpPr/>
                      <p:nvPr/>
                    </p:nvSpPr>
                    <p:spPr>
                      <a:xfrm>
                        <a:off x="384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952" name="Rectangle 494"/>
                      <p:cNvSpPr/>
                      <p:nvPr/>
                    </p:nvSpPr>
                    <p:spPr>
                      <a:xfrm>
                        <a:off x="192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953" name="Rectangle 495"/>
                      <p:cNvSpPr/>
                      <p:nvPr/>
                    </p:nvSpPr>
                    <p:spPr>
                      <a:xfrm>
                        <a:off x="0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</p:grpSp>
              <p:grpSp>
                <p:nvGrpSpPr>
                  <p:cNvPr id="14925" name="Group 496"/>
                  <p:cNvGrpSpPr/>
                  <p:nvPr/>
                </p:nvGrpSpPr>
                <p:grpSpPr>
                  <a:xfrm>
                    <a:off x="768" y="0"/>
                    <a:ext cx="768" cy="768"/>
                    <a:chOff x="0" y="0"/>
                    <a:chExt cx="768" cy="768"/>
                  </a:xfrm>
                </p:grpSpPr>
                <p:grpSp>
                  <p:nvGrpSpPr>
                    <p:cNvPr id="14926" name="Group 497"/>
                    <p:cNvGrpSpPr/>
                    <p:nvPr/>
                  </p:nvGrpSpPr>
                  <p:grpSpPr>
                    <a:xfrm>
                      <a:off x="0" y="0"/>
                      <a:ext cx="768" cy="384"/>
                      <a:chOff x="0" y="0"/>
                      <a:chExt cx="768" cy="384"/>
                    </a:xfrm>
                  </p:grpSpPr>
                  <p:sp>
                    <p:nvSpPr>
                      <p:cNvPr id="14936" name="Rectangle 498"/>
                      <p:cNvSpPr/>
                      <p:nvPr/>
                    </p:nvSpPr>
                    <p:spPr>
                      <a:xfrm>
                        <a:off x="0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937" name="Rectangle 499"/>
                      <p:cNvSpPr/>
                      <p:nvPr/>
                    </p:nvSpPr>
                    <p:spPr>
                      <a:xfrm>
                        <a:off x="192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938" name="Rectangle 500"/>
                      <p:cNvSpPr/>
                      <p:nvPr/>
                    </p:nvSpPr>
                    <p:spPr>
                      <a:xfrm>
                        <a:off x="384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939" name="Rectangle 501"/>
                      <p:cNvSpPr/>
                      <p:nvPr/>
                    </p:nvSpPr>
                    <p:spPr>
                      <a:xfrm>
                        <a:off x="576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940" name="Rectangle 502"/>
                      <p:cNvSpPr/>
                      <p:nvPr/>
                    </p:nvSpPr>
                    <p:spPr>
                      <a:xfrm>
                        <a:off x="576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941" name="Rectangle 503"/>
                      <p:cNvSpPr/>
                      <p:nvPr/>
                    </p:nvSpPr>
                    <p:spPr>
                      <a:xfrm>
                        <a:off x="384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942" name="Rectangle 504"/>
                      <p:cNvSpPr/>
                      <p:nvPr/>
                    </p:nvSpPr>
                    <p:spPr>
                      <a:xfrm>
                        <a:off x="192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943" name="Rectangle 505"/>
                      <p:cNvSpPr/>
                      <p:nvPr/>
                    </p:nvSpPr>
                    <p:spPr>
                      <a:xfrm>
                        <a:off x="0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14927" name="Group 506"/>
                    <p:cNvGrpSpPr/>
                    <p:nvPr/>
                  </p:nvGrpSpPr>
                  <p:grpSpPr>
                    <a:xfrm>
                      <a:off x="0" y="384"/>
                      <a:ext cx="768" cy="384"/>
                      <a:chOff x="0" y="0"/>
                      <a:chExt cx="768" cy="384"/>
                    </a:xfrm>
                  </p:grpSpPr>
                  <p:sp>
                    <p:nvSpPr>
                      <p:cNvPr id="14928" name="Rectangle 507"/>
                      <p:cNvSpPr/>
                      <p:nvPr/>
                    </p:nvSpPr>
                    <p:spPr>
                      <a:xfrm>
                        <a:off x="0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929" name="Rectangle 508"/>
                      <p:cNvSpPr/>
                      <p:nvPr/>
                    </p:nvSpPr>
                    <p:spPr>
                      <a:xfrm>
                        <a:off x="192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930" name="Rectangle 509"/>
                      <p:cNvSpPr/>
                      <p:nvPr/>
                    </p:nvSpPr>
                    <p:spPr>
                      <a:xfrm>
                        <a:off x="384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931" name="Rectangle 510"/>
                      <p:cNvSpPr/>
                      <p:nvPr/>
                    </p:nvSpPr>
                    <p:spPr>
                      <a:xfrm>
                        <a:off x="576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932" name="Rectangle 511"/>
                      <p:cNvSpPr/>
                      <p:nvPr/>
                    </p:nvSpPr>
                    <p:spPr>
                      <a:xfrm>
                        <a:off x="576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933" name="Rectangle 512"/>
                      <p:cNvSpPr/>
                      <p:nvPr/>
                    </p:nvSpPr>
                    <p:spPr>
                      <a:xfrm>
                        <a:off x="384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934" name="Rectangle 513"/>
                      <p:cNvSpPr/>
                      <p:nvPr/>
                    </p:nvSpPr>
                    <p:spPr>
                      <a:xfrm>
                        <a:off x="192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935" name="Rectangle 514"/>
                      <p:cNvSpPr/>
                      <p:nvPr/>
                    </p:nvSpPr>
                    <p:spPr>
                      <a:xfrm>
                        <a:off x="0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14885" name="Group 515"/>
                <p:cNvGrpSpPr/>
                <p:nvPr/>
              </p:nvGrpSpPr>
              <p:grpSpPr>
                <a:xfrm>
                  <a:off x="1536" y="0"/>
                  <a:ext cx="1536" cy="768"/>
                  <a:chOff x="0" y="0"/>
                  <a:chExt cx="1536" cy="768"/>
                </a:xfrm>
              </p:grpSpPr>
              <p:grpSp>
                <p:nvGrpSpPr>
                  <p:cNvPr id="14886" name="Group 516"/>
                  <p:cNvGrpSpPr/>
                  <p:nvPr/>
                </p:nvGrpSpPr>
                <p:grpSpPr>
                  <a:xfrm>
                    <a:off x="0" y="0"/>
                    <a:ext cx="768" cy="768"/>
                    <a:chOff x="0" y="0"/>
                    <a:chExt cx="768" cy="768"/>
                  </a:xfrm>
                </p:grpSpPr>
                <p:grpSp>
                  <p:nvGrpSpPr>
                    <p:cNvPr id="14906" name="Group 517"/>
                    <p:cNvGrpSpPr/>
                    <p:nvPr/>
                  </p:nvGrpSpPr>
                  <p:grpSpPr>
                    <a:xfrm>
                      <a:off x="0" y="0"/>
                      <a:ext cx="768" cy="384"/>
                      <a:chOff x="0" y="0"/>
                      <a:chExt cx="768" cy="384"/>
                    </a:xfrm>
                  </p:grpSpPr>
                  <p:sp>
                    <p:nvSpPr>
                      <p:cNvPr id="14916" name="Rectangle 518"/>
                      <p:cNvSpPr/>
                      <p:nvPr/>
                    </p:nvSpPr>
                    <p:spPr>
                      <a:xfrm>
                        <a:off x="0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917" name="Rectangle 519"/>
                      <p:cNvSpPr/>
                      <p:nvPr/>
                    </p:nvSpPr>
                    <p:spPr>
                      <a:xfrm>
                        <a:off x="192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918" name="Rectangle 520"/>
                      <p:cNvSpPr/>
                      <p:nvPr/>
                    </p:nvSpPr>
                    <p:spPr>
                      <a:xfrm>
                        <a:off x="384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919" name="Rectangle 521"/>
                      <p:cNvSpPr/>
                      <p:nvPr/>
                    </p:nvSpPr>
                    <p:spPr>
                      <a:xfrm>
                        <a:off x="576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920" name="Rectangle 522"/>
                      <p:cNvSpPr/>
                      <p:nvPr/>
                    </p:nvSpPr>
                    <p:spPr>
                      <a:xfrm>
                        <a:off x="576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921" name="Rectangle 523"/>
                      <p:cNvSpPr/>
                      <p:nvPr/>
                    </p:nvSpPr>
                    <p:spPr>
                      <a:xfrm>
                        <a:off x="384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922" name="Rectangle 524"/>
                      <p:cNvSpPr/>
                      <p:nvPr/>
                    </p:nvSpPr>
                    <p:spPr>
                      <a:xfrm>
                        <a:off x="192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923" name="Rectangle 525"/>
                      <p:cNvSpPr/>
                      <p:nvPr/>
                    </p:nvSpPr>
                    <p:spPr>
                      <a:xfrm>
                        <a:off x="0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14907" name="Group 526"/>
                    <p:cNvGrpSpPr/>
                    <p:nvPr/>
                  </p:nvGrpSpPr>
                  <p:grpSpPr>
                    <a:xfrm>
                      <a:off x="0" y="384"/>
                      <a:ext cx="768" cy="384"/>
                      <a:chOff x="0" y="0"/>
                      <a:chExt cx="768" cy="384"/>
                    </a:xfrm>
                  </p:grpSpPr>
                  <p:sp>
                    <p:nvSpPr>
                      <p:cNvPr id="14908" name="Rectangle 527"/>
                      <p:cNvSpPr/>
                      <p:nvPr/>
                    </p:nvSpPr>
                    <p:spPr>
                      <a:xfrm>
                        <a:off x="0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909" name="Rectangle 528"/>
                      <p:cNvSpPr/>
                      <p:nvPr/>
                    </p:nvSpPr>
                    <p:spPr>
                      <a:xfrm>
                        <a:off x="192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910" name="Rectangle 529"/>
                      <p:cNvSpPr/>
                      <p:nvPr/>
                    </p:nvSpPr>
                    <p:spPr>
                      <a:xfrm>
                        <a:off x="384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911" name="Rectangle 530"/>
                      <p:cNvSpPr/>
                      <p:nvPr/>
                    </p:nvSpPr>
                    <p:spPr>
                      <a:xfrm>
                        <a:off x="576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912" name="Rectangle 531"/>
                      <p:cNvSpPr/>
                      <p:nvPr/>
                    </p:nvSpPr>
                    <p:spPr>
                      <a:xfrm>
                        <a:off x="576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913" name="Rectangle 532"/>
                      <p:cNvSpPr/>
                      <p:nvPr/>
                    </p:nvSpPr>
                    <p:spPr>
                      <a:xfrm>
                        <a:off x="384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914" name="Rectangle 533"/>
                      <p:cNvSpPr/>
                      <p:nvPr/>
                    </p:nvSpPr>
                    <p:spPr>
                      <a:xfrm>
                        <a:off x="192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915" name="Rectangle 534"/>
                      <p:cNvSpPr/>
                      <p:nvPr/>
                    </p:nvSpPr>
                    <p:spPr>
                      <a:xfrm>
                        <a:off x="0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</p:grpSp>
              <p:grpSp>
                <p:nvGrpSpPr>
                  <p:cNvPr id="14887" name="Group 535"/>
                  <p:cNvGrpSpPr/>
                  <p:nvPr/>
                </p:nvGrpSpPr>
                <p:grpSpPr>
                  <a:xfrm>
                    <a:off x="768" y="0"/>
                    <a:ext cx="768" cy="768"/>
                    <a:chOff x="0" y="0"/>
                    <a:chExt cx="768" cy="768"/>
                  </a:xfrm>
                </p:grpSpPr>
                <p:grpSp>
                  <p:nvGrpSpPr>
                    <p:cNvPr id="14888" name="Group 536"/>
                    <p:cNvGrpSpPr/>
                    <p:nvPr/>
                  </p:nvGrpSpPr>
                  <p:grpSpPr>
                    <a:xfrm>
                      <a:off x="0" y="0"/>
                      <a:ext cx="768" cy="384"/>
                      <a:chOff x="0" y="0"/>
                      <a:chExt cx="768" cy="384"/>
                    </a:xfrm>
                  </p:grpSpPr>
                  <p:sp>
                    <p:nvSpPr>
                      <p:cNvPr id="14898" name="Rectangle 537"/>
                      <p:cNvSpPr/>
                      <p:nvPr/>
                    </p:nvSpPr>
                    <p:spPr>
                      <a:xfrm>
                        <a:off x="0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899" name="Rectangle 538"/>
                      <p:cNvSpPr/>
                      <p:nvPr/>
                    </p:nvSpPr>
                    <p:spPr>
                      <a:xfrm>
                        <a:off x="192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900" name="Rectangle 539"/>
                      <p:cNvSpPr/>
                      <p:nvPr/>
                    </p:nvSpPr>
                    <p:spPr>
                      <a:xfrm>
                        <a:off x="384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901" name="Rectangle 540"/>
                      <p:cNvSpPr/>
                      <p:nvPr/>
                    </p:nvSpPr>
                    <p:spPr>
                      <a:xfrm>
                        <a:off x="576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902" name="Rectangle 541"/>
                      <p:cNvSpPr/>
                      <p:nvPr/>
                    </p:nvSpPr>
                    <p:spPr>
                      <a:xfrm>
                        <a:off x="576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903" name="Rectangle 542"/>
                      <p:cNvSpPr/>
                      <p:nvPr/>
                    </p:nvSpPr>
                    <p:spPr>
                      <a:xfrm>
                        <a:off x="384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904" name="Rectangle 543"/>
                      <p:cNvSpPr/>
                      <p:nvPr/>
                    </p:nvSpPr>
                    <p:spPr>
                      <a:xfrm>
                        <a:off x="192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905" name="Rectangle 544"/>
                      <p:cNvSpPr/>
                      <p:nvPr/>
                    </p:nvSpPr>
                    <p:spPr>
                      <a:xfrm>
                        <a:off x="0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14889" name="Group 545"/>
                    <p:cNvGrpSpPr/>
                    <p:nvPr/>
                  </p:nvGrpSpPr>
                  <p:grpSpPr>
                    <a:xfrm>
                      <a:off x="0" y="384"/>
                      <a:ext cx="768" cy="384"/>
                      <a:chOff x="0" y="0"/>
                      <a:chExt cx="768" cy="384"/>
                    </a:xfrm>
                  </p:grpSpPr>
                  <p:sp>
                    <p:nvSpPr>
                      <p:cNvPr id="14890" name="Rectangle 546"/>
                      <p:cNvSpPr/>
                      <p:nvPr/>
                    </p:nvSpPr>
                    <p:spPr>
                      <a:xfrm>
                        <a:off x="0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891" name="Rectangle 547"/>
                      <p:cNvSpPr/>
                      <p:nvPr/>
                    </p:nvSpPr>
                    <p:spPr>
                      <a:xfrm>
                        <a:off x="192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892" name="Rectangle 548"/>
                      <p:cNvSpPr/>
                      <p:nvPr/>
                    </p:nvSpPr>
                    <p:spPr>
                      <a:xfrm>
                        <a:off x="384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893" name="Rectangle 549"/>
                      <p:cNvSpPr/>
                      <p:nvPr/>
                    </p:nvSpPr>
                    <p:spPr>
                      <a:xfrm>
                        <a:off x="576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894" name="Rectangle 550"/>
                      <p:cNvSpPr/>
                      <p:nvPr/>
                    </p:nvSpPr>
                    <p:spPr>
                      <a:xfrm>
                        <a:off x="576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895" name="Rectangle 551"/>
                      <p:cNvSpPr/>
                      <p:nvPr/>
                    </p:nvSpPr>
                    <p:spPr>
                      <a:xfrm>
                        <a:off x="384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896" name="Rectangle 552"/>
                      <p:cNvSpPr/>
                      <p:nvPr/>
                    </p:nvSpPr>
                    <p:spPr>
                      <a:xfrm>
                        <a:off x="192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897" name="Rectangle 553"/>
                      <p:cNvSpPr/>
                      <p:nvPr/>
                    </p:nvSpPr>
                    <p:spPr>
                      <a:xfrm>
                        <a:off x="0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</p:grpSp>
            </p:grpSp>
          </p:grpSp>
          <p:grpSp>
            <p:nvGrpSpPr>
              <p:cNvPr id="14727" name="Group 554"/>
              <p:cNvGrpSpPr/>
              <p:nvPr/>
            </p:nvGrpSpPr>
            <p:grpSpPr>
              <a:xfrm>
                <a:off x="1656" y="1632"/>
                <a:ext cx="828" cy="414"/>
                <a:chOff x="0" y="0"/>
                <a:chExt cx="1536" cy="768"/>
              </a:xfrm>
            </p:grpSpPr>
            <p:grpSp>
              <p:nvGrpSpPr>
                <p:cNvPr id="14846" name="Group 555"/>
                <p:cNvGrpSpPr/>
                <p:nvPr/>
              </p:nvGrpSpPr>
              <p:grpSpPr>
                <a:xfrm>
                  <a:off x="0" y="0"/>
                  <a:ext cx="768" cy="768"/>
                  <a:chOff x="0" y="0"/>
                  <a:chExt cx="768" cy="768"/>
                </a:xfrm>
              </p:grpSpPr>
              <p:grpSp>
                <p:nvGrpSpPr>
                  <p:cNvPr id="14866" name="Group 556"/>
                  <p:cNvGrpSpPr/>
                  <p:nvPr/>
                </p:nvGrpSpPr>
                <p:grpSpPr>
                  <a:xfrm>
                    <a:off x="0" y="0"/>
                    <a:ext cx="768" cy="384"/>
                    <a:chOff x="0" y="0"/>
                    <a:chExt cx="768" cy="384"/>
                  </a:xfrm>
                </p:grpSpPr>
                <p:sp>
                  <p:nvSpPr>
                    <p:cNvPr id="14876" name="Rectangle 557"/>
                    <p:cNvSpPr/>
                    <p:nvPr/>
                  </p:nvSpPr>
                  <p:spPr>
                    <a:xfrm>
                      <a:off x="0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877" name="Rectangle 558"/>
                    <p:cNvSpPr/>
                    <p:nvPr/>
                  </p:nvSpPr>
                  <p:spPr>
                    <a:xfrm>
                      <a:off x="192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878" name="Rectangle 559"/>
                    <p:cNvSpPr/>
                    <p:nvPr/>
                  </p:nvSpPr>
                  <p:spPr>
                    <a:xfrm>
                      <a:off x="384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879" name="Rectangle 560"/>
                    <p:cNvSpPr/>
                    <p:nvPr/>
                  </p:nvSpPr>
                  <p:spPr>
                    <a:xfrm>
                      <a:off x="576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880" name="Rectangle 561"/>
                    <p:cNvSpPr/>
                    <p:nvPr/>
                  </p:nvSpPr>
                  <p:spPr>
                    <a:xfrm>
                      <a:off x="576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881" name="Rectangle 562"/>
                    <p:cNvSpPr/>
                    <p:nvPr/>
                  </p:nvSpPr>
                  <p:spPr>
                    <a:xfrm>
                      <a:off x="384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882" name="Rectangle 563"/>
                    <p:cNvSpPr/>
                    <p:nvPr/>
                  </p:nvSpPr>
                  <p:spPr>
                    <a:xfrm>
                      <a:off x="192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883" name="Rectangle 564"/>
                    <p:cNvSpPr/>
                    <p:nvPr/>
                  </p:nvSpPr>
                  <p:spPr>
                    <a:xfrm>
                      <a:off x="0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14867" name="Group 565"/>
                  <p:cNvGrpSpPr/>
                  <p:nvPr/>
                </p:nvGrpSpPr>
                <p:grpSpPr>
                  <a:xfrm>
                    <a:off x="0" y="384"/>
                    <a:ext cx="768" cy="384"/>
                    <a:chOff x="0" y="0"/>
                    <a:chExt cx="768" cy="384"/>
                  </a:xfrm>
                </p:grpSpPr>
                <p:sp>
                  <p:nvSpPr>
                    <p:cNvPr id="14868" name="Rectangle 566"/>
                    <p:cNvSpPr/>
                    <p:nvPr/>
                  </p:nvSpPr>
                  <p:spPr>
                    <a:xfrm>
                      <a:off x="0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869" name="Rectangle 567"/>
                    <p:cNvSpPr/>
                    <p:nvPr/>
                  </p:nvSpPr>
                  <p:spPr>
                    <a:xfrm>
                      <a:off x="192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870" name="Rectangle 568"/>
                    <p:cNvSpPr/>
                    <p:nvPr/>
                  </p:nvSpPr>
                  <p:spPr>
                    <a:xfrm>
                      <a:off x="384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871" name="Rectangle 569"/>
                    <p:cNvSpPr/>
                    <p:nvPr/>
                  </p:nvSpPr>
                  <p:spPr>
                    <a:xfrm>
                      <a:off x="576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872" name="Rectangle 570"/>
                    <p:cNvSpPr/>
                    <p:nvPr/>
                  </p:nvSpPr>
                  <p:spPr>
                    <a:xfrm>
                      <a:off x="576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873" name="Rectangle 571"/>
                    <p:cNvSpPr/>
                    <p:nvPr/>
                  </p:nvSpPr>
                  <p:spPr>
                    <a:xfrm>
                      <a:off x="384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874" name="Rectangle 572"/>
                    <p:cNvSpPr/>
                    <p:nvPr/>
                  </p:nvSpPr>
                  <p:spPr>
                    <a:xfrm>
                      <a:off x="192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875" name="Rectangle 573"/>
                    <p:cNvSpPr/>
                    <p:nvPr/>
                  </p:nvSpPr>
                  <p:spPr>
                    <a:xfrm>
                      <a:off x="0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</p:grpSp>
            <p:grpSp>
              <p:nvGrpSpPr>
                <p:cNvPr id="14847" name="Group 574"/>
                <p:cNvGrpSpPr/>
                <p:nvPr/>
              </p:nvGrpSpPr>
              <p:grpSpPr>
                <a:xfrm>
                  <a:off x="768" y="0"/>
                  <a:ext cx="768" cy="768"/>
                  <a:chOff x="0" y="0"/>
                  <a:chExt cx="768" cy="768"/>
                </a:xfrm>
              </p:grpSpPr>
              <p:grpSp>
                <p:nvGrpSpPr>
                  <p:cNvPr id="14848" name="Group 575"/>
                  <p:cNvGrpSpPr/>
                  <p:nvPr/>
                </p:nvGrpSpPr>
                <p:grpSpPr>
                  <a:xfrm>
                    <a:off x="0" y="0"/>
                    <a:ext cx="768" cy="384"/>
                    <a:chOff x="0" y="0"/>
                    <a:chExt cx="768" cy="384"/>
                  </a:xfrm>
                </p:grpSpPr>
                <p:sp>
                  <p:nvSpPr>
                    <p:cNvPr id="14858" name="Rectangle 576"/>
                    <p:cNvSpPr/>
                    <p:nvPr/>
                  </p:nvSpPr>
                  <p:spPr>
                    <a:xfrm>
                      <a:off x="0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859" name="Rectangle 577"/>
                    <p:cNvSpPr/>
                    <p:nvPr/>
                  </p:nvSpPr>
                  <p:spPr>
                    <a:xfrm>
                      <a:off x="192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860" name="Rectangle 578"/>
                    <p:cNvSpPr/>
                    <p:nvPr/>
                  </p:nvSpPr>
                  <p:spPr>
                    <a:xfrm>
                      <a:off x="384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861" name="Rectangle 579"/>
                    <p:cNvSpPr/>
                    <p:nvPr/>
                  </p:nvSpPr>
                  <p:spPr>
                    <a:xfrm>
                      <a:off x="576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862" name="Rectangle 580"/>
                    <p:cNvSpPr/>
                    <p:nvPr/>
                  </p:nvSpPr>
                  <p:spPr>
                    <a:xfrm>
                      <a:off x="576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863" name="Rectangle 581"/>
                    <p:cNvSpPr/>
                    <p:nvPr/>
                  </p:nvSpPr>
                  <p:spPr>
                    <a:xfrm>
                      <a:off x="384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864" name="Rectangle 582"/>
                    <p:cNvSpPr/>
                    <p:nvPr/>
                  </p:nvSpPr>
                  <p:spPr>
                    <a:xfrm>
                      <a:off x="192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865" name="Rectangle 583"/>
                    <p:cNvSpPr/>
                    <p:nvPr/>
                  </p:nvSpPr>
                  <p:spPr>
                    <a:xfrm>
                      <a:off x="0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14849" name="Group 584"/>
                  <p:cNvGrpSpPr/>
                  <p:nvPr/>
                </p:nvGrpSpPr>
                <p:grpSpPr>
                  <a:xfrm>
                    <a:off x="0" y="384"/>
                    <a:ext cx="768" cy="384"/>
                    <a:chOff x="0" y="0"/>
                    <a:chExt cx="768" cy="384"/>
                  </a:xfrm>
                </p:grpSpPr>
                <p:sp>
                  <p:nvSpPr>
                    <p:cNvPr id="14850" name="Rectangle 585"/>
                    <p:cNvSpPr/>
                    <p:nvPr/>
                  </p:nvSpPr>
                  <p:spPr>
                    <a:xfrm>
                      <a:off x="0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851" name="Rectangle 586"/>
                    <p:cNvSpPr/>
                    <p:nvPr/>
                  </p:nvSpPr>
                  <p:spPr>
                    <a:xfrm>
                      <a:off x="192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852" name="Rectangle 587"/>
                    <p:cNvSpPr/>
                    <p:nvPr/>
                  </p:nvSpPr>
                  <p:spPr>
                    <a:xfrm>
                      <a:off x="384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853" name="Rectangle 588"/>
                    <p:cNvSpPr/>
                    <p:nvPr/>
                  </p:nvSpPr>
                  <p:spPr>
                    <a:xfrm>
                      <a:off x="576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854" name="Rectangle 589"/>
                    <p:cNvSpPr/>
                    <p:nvPr/>
                  </p:nvSpPr>
                  <p:spPr>
                    <a:xfrm>
                      <a:off x="576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855" name="Rectangle 590"/>
                    <p:cNvSpPr/>
                    <p:nvPr/>
                  </p:nvSpPr>
                  <p:spPr>
                    <a:xfrm>
                      <a:off x="384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856" name="Rectangle 591"/>
                    <p:cNvSpPr/>
                    <p:nvPr/>
                  </p:nvSpPr>
                  <p:spPr>
                    <a:xfrm>
                      <a:off x="192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857" name="Rectangle 592"/>
                    <p:cNvSpPr/>
                    <p:nvPr/>
                  </p:nvSpPr>
                  <p:spPr>
                    <a:xfrm>
                      <a:off x="0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</p:grpSp>
          </p:grpSp>
          <p:grpSp>
            <p:nvGrpSpPr>
              <p:cNvPr id="14728" name="Group 593"/>
              <p:cNvGrpSpPr/>
              <p:nvPr/>
            </p:nvGrpSpPr>
            <p:grpSpPr>
              <a:xfrm>
                <a:off x="0" y="2037"/>
                <a:ext cx="1656" cy="414"/>
                <a:chOff x="0" y="0"/>
                <a:chExt cx="3072" cy="768"/>
              </a:xfrm>
            </p:grpSpPr>
            <p:grpSp>
              <p:nvGrpSpPr>
                <p:cNvPr id="14768" name="Group 594"/>
                <p:cNvGrpSpPr/>
                <p:nvPr/>
              </p:nvGrpSpPr>
              <p:grpSpPr>
                <a:xfrm>
                  <a:off x="0" y="0"/>
                  <a:ext cx="1536" cy="768"/>
                  <a:chOff x="0" y="0"/>
                  <a:chExt cx="1536" cy="768"/>
                </a:xfrm>
              </p:grpSpPr>
              <p:grpSp>
                <p:nvGrpSpPr>
                  <p:cNvPr id="14808" name="Group 595"/>
                  <p:cNvGrpSpPr/>
                  <p:nvPr/>
                </p:nvGrpSpPr>
                <p:grpSpPr>
                  <a:xfrm>
                    <a:off x="0" y="0"/>
                    <a:ext cx="768" cy="768"/>
                    <a:chOff x="0" y="0"/>
                    <a:chExt cx="768" cy="768"/>
                  </a:xfrm>
                </p:grpSpPr>
                <p:grpSp>
                  <p:nvGrpSpPr>
                    <p:cNvPr id="14828" name="Group 596"/>
                    <p:cNvGrpSpPr/>
                    <p:nvPr/>
                  </p:nvGrpSpPr>
                  <p:grpSpPr>
                    <a:xfrm>
                      <a:off x="0" y="0"/>
                      <a:ext cx="768" cy="384"/>
                      <a:chOff x="0" y="0"/>
                      <a:chExt cx="768" cy="384"/>
                    </a:xfrm>
                  </p:grpSpPr>
                  <p:sp>
                    <p:nvSpPr>
                      <p:cNvPr id="14838" name="Rectangle 597"/>
                      <p:cNvSpPr/>
                      <p:nvPr/>
                    </p:nvSpPr>
                    <p:spPr>
                      <a:xfrm>
                        <a:off x="0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839" name="Rectangle 598"/>
                      <p:cNvSpPr/>
                      <p:nvPr/>
                    </p:nvSpPr>
                    <p:spPr>
                      <a:xfrm>
                        <a:off x="192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840" name="Rectangle 599"/>
                      <p:cNvSpPr/>
                      <p:nvPr/>
                    </p:nvSpPr>
                    <p:spPr>
                      <a:xfrm>
                        <a:off x="384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841" name="Rectangle 600"/>
                      <p:cNvSpPr/>
                      <p:nvPr/>
                    </p:nvSpPr>
                    <p:spPr>
                      <a:xfrm>
                        <a:off x="576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842" name="Rectangle 601"/>
                      <p:cNvSpPr/>
                      <p:nvPr/>
                    </p:nvSpPr>
                    <p:spPr>
                      <a:xfrm>
                        <a:off x="576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843" name="Rectangle 602"/>
                      <p:cNvSpPr/>
                      <p:nvPr/>
                    </p:nvSpPr>
                    <p:spPr>
                      <a:xfrm>
                        <a:off x="384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844" name="Rectangle 603"/>
                      <p:cNvSpPr/>
                      <p:nvPr/>
                    </p:nvSpPr>
                    <p:spPr>
                      <a:xfrm>
                        <a:off x="192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845" name="Rectangle 604"/>
                      <p:cNvSpPr/>
                      <p:nvPr/>
                    </p:nvSpPr>
                    <p:spPr>
                      <a:xfrm>
                        <a:off x="0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14829" name="Group 605"/>
                    <p:cNvGrpSpPr/>
                    <p:nvPr/>
                  </p:nvGrpSpPr>
                  <p:grpSpPr>
                    <a:xfrm>
                      <a:off x="0" y="384"/>
                      <a:ext cx="768" cy="384"/>
                      <a:chOff x="0" y="0"/>
                      <a:chExt cx="768" cy="384"/>
                    </a:xfrm>
                  </p:grpSpPr>
                  <p:sp>
                    <p:nvSpPr>
                      <p:cNvPr id="14830" name="Rectangle 606"/>
                      <p:cNvSpPr/>
                      <p:nvPr/>
                    </p:nvSpPr>
                    <p:spPr>
                      <a:xfrm>
                        <a:off x="0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831" name="Rectangle 607"/>
                      <p:cNvSpPr/>
                      <p:nvPr/>
                    </p:nvSpPr>
                    <p:spPr>
                      <a:xfrm>
                        <a:off x="192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832" name="Rectangle 608"/>
                      <p:cNvSpPr/>
                      <p:nvPr/>
                    </p:nvSpPr>
                    <p:spPr>
                      <a:xfrm>
                        <a:off x="384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833" name="Rectangle 609"/>
                      <p:cNvSpPr/>
                      <p:nvPr/>
                    </p:nvSpPr>
                    <p:spPr>
                      <a:xfrm>
                        <a:off x="576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834" name="Rectangle 610"/>
                      <p:cNvSpPr/>
                      <p:nvPr/>
                    </p:nvSpPr>
                    <p:spPr>
                      <a:xfrm>
                        <a:off x="576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835" name="Rectangle 611"/>
                      <p:cNvSpPr/>
                      <p:nvPr/>
                    </p:nvSpPr>
                    <p:spPr>
                      <a:xfrm>
                        <a:off x="384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836" name="Rectangle 612"/>
                      <p:cNvSpPr/>
                      <p:nvPr/>
                    </p:nvSpPr>
                    <p:spPr>
                      <a:xfrm>
                        <a:off x="192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837" name="Rectangle 613"/>
                      <p:cNvSpPr/>
                      <p:nvPr/>
                    </p:nvSpPr>
                    <p:spPr>
                      <a:xfrm>
                        <a:off x="0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</p:grpSp>
              <p:grpSp>
                <p:nvGrpSpPr>
                  <p:cNvPr id="14809" name="Group 614"/>
                  <p:cNvGrpSpPr/>
                  <p:nvPr/>
                </p:nvGrpSpPr>
                <p:grpSpPr>
                  <a:xfrm>
                    <a:off x="768" y="0"/>
                    <a:ext cx="768" cy="768"/>
                    <a:chOff x="0" y="0"/>
                    <a:chExt cx="768" cy="768"/>
                  </a:xfrm>
                </p:grpSpPr>
                <p:grpSp>
                  <p:nvGrpSpPr>
                    <p:cNvPr id="14810" name="Group 615"/>
                    <p:cNvGrpSpPr/>
                    <p:nvPr/>
                  </p:nvGrpSpPr>
                  <p:grpSpPr>
                    <a:xfrm>
                      <a:off x="0" y="0"/>
                      <a:ext cx="768" cy="384"/>
                      <a:chOff x="0" y="0"/>
                      <a:chExt cx="768" cy="384"/>
                    </a:xfrm>
                  </p:grpSpPr>
                  <p:sp>
                    <p:nvSpPr>
                      <p:cNvPr id="14820" name="Rectangle 616"/>
                      <p:cNvSpPr/>
                      <p:nvPr/>
                    </p:nvSpPr>
                    <p:spPr>
                      <a:xfrm>
                        <a:off x="0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821" name="Rectangle 617"/>
                      <p:cNvSpPr/>
                      <p:nvPr/>
                    </p:nvSpPr>
                    <p:spPr>
                      <a:xfrm>
                        <a:off x="192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822" name="Rectangle 618"/>
                      <p:cNvSpPr/>
                      <p:nvPr/>
                    </p:nvSpPr>
                    <p:spPr>
                      <a:xfrm>
                        <a:off x="384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823" name="Rectangle 619"/>
                      <p:cNvSpPr/>
                      <p:nvPr/>
                    </p:nvSpPr>
                    <p:spPr>
                      <a:xfrm>
                        <a:off x="576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824" name="Rectangle 620"/>
                      <p:cNvSpPr/>
                      <p:nvPr/>
                    </p:nvSpPr>
                    <p:spPr>
                      <a:xfrm>
                        <a:off x="576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825" name="Rectangle 621"/>
                      <p:cNvSpPr/>
                      <p:nvPr/>
                    </p:nvSpPr>
                    <p:spPr>
                      <a:xfrm>
                        <a:off x="384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826" name="Rectangle 622"/>
                      <p:cNvSpPr/>
                      <p:nvPr/>
                    </p:nvSpPr>
                    <p:spPr>
                      <a:xfrm>
                        <a:off x="192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827" name="Rectangle 623"/>
                      <p:cNvSpPr/>
                      <p:nvPr/>
                    </p:nvSpPr>
                    <p:spPr>
                      <a:xfrm>
                        <a:off x="0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14811" name="Group 624"/>
                    <p:cNvGrpSpPr/>
                    <p:nvPr/>
                  </p:nvGrpSpPr>
                  <p:grpSpPr>
                    <a:xfrm>
                      <a:off x="0" y="384"/>
                      <a:ext cx="768" cy="384"/>
                      <a:chOff x="0" y="0"/>
                      <a:chExt cx="768" cy="384"/>
                    </a:xfrm>
                  </p:grpSpPr>
                  <p:sp>
                    <p:nvSpPr>
                      <p:cNvPr id="14812" name="Rectangle 625"/>
                      <p:cNvSpPr/>
                      <p:nvPr/>
                    </p:nvSpPr>
                    <p:spPr>
                      <a:xfrm>
                        <a:off x="0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813" name="Rectangle 626"/>
                      <p:cNvSpPr/>
                      <p:nvPr/>
                    </p:nvSpPr>
                    <p:spPr>
                      <a:xfrm>
                        <a:off x="192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814" name="Rectangle 627"/>
                      <p:cNvSpPr/>
                      <p:nvPr/>
                    </p:nvSpPr>
                    <p:spPr>
                      <a:xfrm>
                        <a:off x="384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815" name="Rectangle 628"/>
                      <p:cNvSpPr/>
                      <p:nvPr/>
                    </p:nvSpPr>
                    <p:spPr>
                      <a:xfrm>
                        <a:off x="576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816" name="Rectangle 629"/>
                      <p:cNvSpPr/>
                      <p:nvPr/>
                    </p:nvSpPr>
                    <p:spPr>
                      <a:xfrm>
                        <a:off x="576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817" name="Rectangle 630"/>
                      <p:cNvSpPr/>
                      <p:nvPr/>
                    </p:nvSpPr>
                    <p:spPr>
                      <a:xfrm>
                        <a:off x="384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818" name="Rectangle 631"/>
                      <p:cNvSpPr/>
                      <p:nvPr/>
                    </p:nvSpPr>
                    <p:spPr>
                      <a:xfrm>
                        <a:off x="192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819" name="Rectangle 632"/>
                      <p:cNvSpPr/>
                      <p:nvPr/>
                    </p:nvSpPr>
                    <p:spPr>
                      <a:xfrm>
                        <a:off x="0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14769" name="Group 633"/>
                <p:cNvGrpSpPr/>
                <p:nvPr/>
              </p:nvGrpSpPr>
              <p:grpSpPr>
                <a:xfrm>
                  <a:off x="1536" y="0"/>
                  <a:ext cx="1536" cy="768"/>
                  <a:chOff x="0" y="0"/>
                  <a:chExt cx="1536" cy="768"/>
                </a:xfrm>
              </p:grpSpPr>
              <p:grpSp>
                <p:nvGrpSpPr>
                  <p:cNvPr id="14770" name="Group 634"/>
                  <p:cNvGrpSpPr/>
                  <p:nvPr/>
                </p:nvGrpSpPr>
                <p:grpSpPr>
                  <a:xfrm>
                    <a:off x="0" y="0"/>
                    <a:ext cx="768" cy="768"/>
                    <a:chOff x="0" y="0"/>
                    <a:chExt cx="768" cy="768"/>
                  </a:xfrm>
                </p:grpSpPr>
                <p:grpSp>
                  <p:nvGrpSpPr>
                    <p:cNvPr id="14790" name="Group 635"/>
                    <p:cNvGrpSpPr/>
                    <p:nvPr/>
                  </p:nvGrpSpPr>
                  <p:grpSpPr>
                    <a:xfrm>
                      <a:off x="0" y="0"/>
                      <a:ext cx="768" cy="384"/>
                      <a:chOff x="0" y="0"/>
                      <a:chExt cx="768" cy="384"/>
                    </a:xfrm>
                  </p:grpSpPr>
                  <p:sp>
                    <p:nvSpPr>
                      <p:cNvPr id="14800" name="Rectangle 636"/>
                      <p:cNvSpPr/>
                      <p:nvPr/>
                    </p:nvSpPr>
                    <p:spPr>
                      <a:xfrm>
                        <a:off x="0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801" name="Rectangle 637"/>
                      <p:cNvSpPr/>
                      <p:nvPr/>
                    </p:nvSpPr>
                    <p:spPr>
                      <a:xfrm>
                        <a:off x="192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802" name="Rectangle 638"/>
                      <p:cNvSpPr/>
                      <p:nvPr/>
                    </p:nvSpPr>
                    <p:spPr>
                      <a:xfrm>
                        <a:off x="384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803" name="Rectangle 639"/>
                      <p:cNvSpPr/>
                      <p:nvPr/>
                    </p:nvSpPr>
                    <p:spPr>
                      <a:xfrm>
                        <a:off x="576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804" name="Rectangle 640"/>
                      <p:cNvSpPr/>
                      <p:nvPr/>
                    </p:nvSpPr>
                    <p:spPr>
                      <a:xfrm>
                        <a:off x="576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805" name="Rectangle 641"/>
                      <p:cNvSpPr/>
                      <p:nvPr/>
                    </p:nvSpPr>
                    <p:spPr>
                      <a:xfrm>
                        <a:off x="384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806" name="Rectangle 642"/>
                      <p:cNvSpPr/>
                      <p:nvPr/>
                    </p:nvSpPr>
                    <p:spPr>
                      <a:xfrm>
                        <a:off x="192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807" name="Rectangle 643"/>
                      <p:cNvSpPr/>
                      <p:nvPr/>
                    </p:nvSpPr>
                    <p:spPr>
                      <a:xfrm>
                        <a:off x="0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14791" name="Group 644"/>
                    <p:cNvGrpSpPr/>
                    <p:nvPr/>
                  </p:nvGrpSpPr>
                  <p:grpSpPr>
                    <a:xfrm>
                      <a:off x="0" y="384"/>
                      <a:ext cx="768" cy="384"/>
                      <a:chOff x="0" y="0"/>
                      <a:chExt cx="768" cy="384"/>
                    </a:xfrm>
                  </p:grpSpPr>
                  <p:sp>
                    <p:nvSpPr>
                      <p:cNvPr id="14792" name="Rectangle 645"/>
                      <p:cNvSpPr/>
                      <p:nvPr/>
                    </p:nvSpPr>
                    <p:spPr>
                      <a:xfrm>
                        <a:off x="0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793" name="Rectangle 646"/>
                      <p:cNvSpPr/>
                      <p:nvPr/>
                    </p:nvSpPr>
                    <p:spPr>
                      <a:xfrm>
                        <a:off x="192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794" name="Rectangle 647"/>
                      <p:cNvSpPr/>
                      <p:nvPr/>
                    </p:nvSpPr>
                    <p:spPr>
                      <a:xfrm>
                        <a:off x="384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795" name="Rectangle 648"/>
                      <p:cNvSpPr/>
                      <p:nvPr/>
                    </p:nvSpPr>
                    <p:spPr>
                      <a:xfrm>
                        <a:off x="576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796" name="Rectangle 649"/>
                      <p:cNvSpPr/>
                      <p:nvPr/>
                    </p:nvSpPr>
                    <p:spPr>
                      <a:xfrm>
                        <a:off x="576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797" name="Rectangle 650"/>
                      <p:cNvSpPr/>
                      <p:nvPr/>
                    </p:nvSpPr>
                    <p:spPr>
                      <a:xfrm>
                        <a:off x="384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798" name="Rectangle 651"/>
                      <p:cNvSpPr/>
                      <p:nvPr/>
                    </p:nvSpPr>
                    <p:spPr>
                      <a:xfrm>
                        <a:off x="192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799" name="Rectangle 652"/>
                      <p:cNvSpPr/>
                      <p:nvPr/>
                    </p:nvSpPr>
                    <p:spPr>
                      <a:xfrm>
                        <a:off x="0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</p:grpSp>
              <p:grpSp>
                <p:nvGrpSpPr>
                  <p:cNvPr id="14771" name="Group 653"/>
                  <p:cNvGrpSpPr/>
                  <p:nvPr/>
                </p:nvGrpSpPr>
                <p:grpSpPr>
                  <a:xfrm>
                    <a:off x="768" y="0"/>
                    <a:ext cx="768" cy="768"/>
                    <a:chOff x="0" y="0"/>
                    <a:chExt cx="768" cy="768"/>
                  </a:xfrm>
                </p:grpSpPr>
                <p:grpSp>
                  <p:nvGrpSpPr>
                    <p:cNvPr id="14772" name="Group 654"/>
                    <p:cNvGrpSpPr/>
                    <p:nvPr/>
                  </p:nvGrpSpPr>
                  <p:grpSpPr>
                    <a:xfrm>
                      <a:off x="0" y="0"/>
                      <a:ext cx="768" cy="384"/>
                      <a:chOff x="0" y="0"/>
                      <a:chExt cx="768" cy="384"/>
                    </a:xfrm>
                  </p:grpSpPr>
                  <p:sp>
                    <p:nvSpPr>
                      <p:cNvPr id="14782" name="Rectangle 655"/>
                      <p:cNvSpPr/>
                      <p:nvPr/>
                    </p:nvSpPr>
                    <p:spPr>
                      <a:xfrm>
                        <a:off x="0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783" name="Rectangle 656"/>
                      <p:cNvSpPr/>
                      <p:nvPr/>
                    </p:nvSpPr>
                    <p:spPr>
                      <a:xfrm>
                        <a:off x="192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784" name="Rectangle 657"/>
                      <p:cNvSpPr/>
                      <p:nvPr/>
                    </p:nvSpPr>
                    <p:spPr>
                      <a:xfrm>
                        <a:off x="384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785" name="Rectangle 658"/>
                      <p:cNvSpPr/>
                      <p:nvPr/>
                    </p:nvSpPr>
                    <p:spPr>
                      <a:xfrm>
                        <a:off x="576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786" name="Rectangle 659"/>
                      <p:cNvSpPr/>
                      <p:nvPr/>
                    </p:nvSpPr>
                    <p:spPr>
                      <a:xfrm>
                        <a:off x="576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787" name="Rectangle 660"/>
                      <p:cNvSpPr/>
                      <p:nvPr/>
                    </p:nvSpPr>
                    <p:spPr>
                      <a:xfrm>
                        <a:off x="384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788" name="Rectangle 661"/>
                      <p:cNvSpPr/>
                      <p:nvPr/>
                    </p:nvSpPr>
                    <p:spPr>
                      <a:xfrm>
                        <a:off x="192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789" name="Rectangle 662"/>
                      <p:cNvSpPr/>
                      <p:nvPr/>
                    </p:nvSpPr>
                    <p:spPr>
                      <a:xfrm>
                        <a:off x="0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14773" name="Group 663"/>
                    <p:cNvGrpSpPr/>
                    <p:nvPr/>
                  </p:nvGrpSpPr>
                  <p:grpSpPr>
                    <a:xfrm>
                      <a:off x="0" y="384"/>
                      <a:ext cx="768" cy="384"/>
                      <a:chOff x="0" y="0"/>
                      <a:chExt cx="768" cy="384"/>
                    </a:xfrm>
                  </p:grpSpPr>
                  <p:sp>
                    <p:nvSpPr>
                      <p:cNvPr id="14774" name="Rectangle 664"/>
                      <p:cNvSpPr/>
                      <p:nvPr/>
                    </p:nvSpPr>
                    <p:spPr>
                      <a:xfrm>
                        <a:off x="0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775" name="Rectangle 665"/>
                      <p:cNvSpPr/>
                      <p:nvPr/>
                    </p:nvSpPr>
                    <p:spPr>
                      <a:xfrm>
                        <a:off x="192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776" name="Rectangle 666"/>
                      <p:cNvSpPr/>
                      <p:nvPr/>
                    </p:nvSpPr>
                    <p:spPr>
                      <a:xfrm>
                        <a:off x="384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777" name="Rectangle 667"/>
                      <p:cNvSpPr/>
                      <p:nvPr/>
                    </p:nvSpPr>
                    <p:spPr>
                      <a:xfrm>
                        <a:off x="576" y="0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778" name="Rectangle 668"/>
                      <p:cNvSpPr/>
                      <p:nvPr/>
                    </p:nvSpPr>
                    <p:spPr>
                      <a:xfrm>
                        <a:off x="576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779" name="Rectangle 669"/>
                      <p:cNvSpPr/>
                      <p:nvPr/>
                    </p:nvSpPr>
                    <p:spPr>
                      <a:xfrm>
                        <a:off x="384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780" name="Rectangle 670"/>
                      <p:cNvSpPr/>
                      <p:nvPr/>
                    </p:nvSpPr>
                    <p:spPr>
                      <a:xfrm>
                        <a:off x="192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781" name="Rectangle 671"/>
                      <p:cNvSpPr/>
                      <p:nvPr/>
                    </p:nvSpPr>
                    <p:spPr>
                      <a:xfrm>
                        <a:off x="0" y="192"/>
                        <a:ext cx="192" cy="19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19050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</p:grpSp>
            </p:grpSp>
          </p:grpSp>
          <p:grpSp>
            <p:nvGrpSpPr>
              <p:cNvPr id="14729" name="Group 672"/>
              <p:cNvGrpSpPr/>
              <p:nvPr/>
            </p:nvGrpSpPr>
            <p:grpSpPr>
              <a:xfrm>
                <a:off x="1656" y="2037"/>
                <a:ext cx="828" cy="414"/>
                <a:chOff x="0" y="0"/>
                <a:chExt cx="1536" cy="768"/>
              </a:xfrm>
            </p:grpSpPr>
            <p:grpSp>
              <p:nvGrpSpPr>
                <p:cNvPr id="14730" name="Group 673"/>
                <p:cNvGrpSpPr/>
                <p:nvPr/>
              </p:nvGrpSpPr>
              <p:grpSpPr>
                <a:xfrm>
                  <a:off x="0" y="0"/>
                  <a:ext cx="768" cy="768"/>
                  <a:chOff x="0" y="0"/>
                  <a:chExt cx="768" cy="768"/>
                </a:xfrm>
              </p:grpSpPr>
              <p:grpSp>
                <p:nvGrpSpPr>
                  <p:cNvPr id="14750" name="Group 674"/>
                  <p:cNvGrpSpPr/>
                  <p:nvPr/>
                </p:nvGrpSpPr>
                <p:grpSpPr>
                  <a:xfrm>
                    <a:off x="0" y="0"/>
                    <a:ext cx="768" cy="384"/>
                    <a:chOff x="0" y="0"/>
                    <a:chExt cx="768" cy="384"/>
                  </a:xfrm>
                </p:grpSpPr>
                <p:sp>
                  <p:nvSpPr>
                    <p:cNvPr id="14760" name="Rectangle 675"/>
                    <p:cNvSpPr/>
                    <p:nvPr/>
                  </p:nvSpPr>
                  <p:spPr>
                    <a:xfrm>
                      <a:off x="0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761" name="Rectangle 676"/>
                    <p:cNvSpPr/>
                    <p:nvPr/>
                  </p:nvSpPr>
                  <p:spPr>
                    <a:xfrm>
                      <a:off x="192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762" name="Rectangle 677"/>
                    <p:cNvSpPr/>
                    <p:nvPr/>
                  </p:nvSpPr>
                  <p:spPr>
                    <a:xfrm>
                      <a:off x="384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763" name="Rectangle 678"/>
                    <p:cNvSpPr/>
                    <p:nvPr/>
                  </p:nvSpPr>
                  <p:spPr>
                    <a:xfrm>
                      <a:off x="576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764" name="Rectangle 679"/>
                    <p:cNvSpPr/>
                    <p:nvPr/>
                  </p:nvSpPr>
                  <p:spPr>
                    <a:xfrm>
                      <a:off x="576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765" name="Rectangle 680"/>
                    <p:cNvSpPr/>
                    <p:nvPr/>
                  </p:nvSpPr>
                  <p:spPr>
                    <a:xfrm>
                      <a:off x="384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766" name="Rectangle 681"/>
                    <p:cNvSpPr/>
                    <p:nvPr/>
                  </p:nvSpPr>
                  <p:spPr>
                    <a:xfrm>
                      <a:off x="192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767" name="Rectangle 682"/>
                    <p:cNvSpPr/>
                    <p:nvPr/>
                  </p:nvSpPr>
                  <p:spPr>
                    <a:xfrm>
                      <a:off x="0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14751" name="Group 683"/>
                  <p:cNvGrpSpPr/>
                  <p:nvPr/>
                </p:nvGrpSpPr>
                <p:grpSpPr>
                  <a:xfrm>
                    <a:off x="0" y="384"/>
                    <a:ext cx="768" cy="384"/>
                    <a:chOff x="0" y="0"/>
                    <a:chExt cx="768" cy="384"/>
                  </a:xfrm>
                </p:grpSpPr>
                <p:sp>
                  <p:nvSpPr>
                    <p:cNvPr id="14752" name="Rectangle 684"/>
                    <p:cNvSpPr/>
                    <p:nvPr/>
                  </p:nvSpPr>
                  <p:spPr>
                    <a:xfrm>
                      <a:off x="0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753" name="Rectangle 685"/>
                    <p:cNvSpPr/>
                    <p:nvPr/>
                  </p:nvSpPr>
                  <p:spPr>
                    <a:xfrm>
                      <a:off x="192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754" name="Rectangle 686"/>
                    <p:cNvSpPr/>
                    <p:nvPr/>
                  </p:nvSpPr>
                  <p:spPr>
                    <a:xfrm>
                      <a:off x="384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755" name="Rectangle 687"/>
                    <p:cNvSpPr/>
                    <p:nvPr/>
                  </p:nvSpPr>
                  <p:spPr>
                    <a:xfrm>
                      <a:off x="576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756" name="Rectangle 688"/>
                    <p:cNvSpPr/>
                    <p:nvPr/>
                  </p:nvSpPr>
                  <p:spPr>
                    <a:xfrm>
                      <a:off x="576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757" name="Rectangle 689"/>
                    <p:cNvSpPr/>
                    <p:nvPr/>
                  </p:nvSpPr>
                  <p:spPr>
                    <a:xfrm>
                      <a:off x="384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758" name="Rectangle 690"/>
                    <p:cNvSpPr/>
                    <p:nvPr/>
                  </p:nvSpPr>
                  <p:spPr>
                    <a:xfrm>
                      <a:off x="192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759" name="Rectangle 691"/>
                    <p:cNvSpPr/>
                    <p:nvPr/>
                  </p:nvSpPr>
                  <p:spPr>
                    <a:xfrm>
                      <a:off x="0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</p:grpSp>
            <p:grpSp>
              <p:nvGrpSpPr>
                <p:cNvPr id="14731" name="Group 692"/>
                <p:cNvGrpSpPr/>
                <p:nvPr/>
              </p:nvGrpSpPr>
              <p:grpSpPr>
                <a:xfrm>
                  <a:off x="768" y="0"/>
                  <a:ext cx="768" cy="768"/>
                  <a:chOff x="0" y="0"/>
                  <a:chExt cx="768" cy="768"/>
                </a:xfrm>
              </p:grpSpPr>
              <p:grpSp>
                <p:nvGrpSpPr>
                  <p:cNvPr id="14732" name="Group 693"/>
                  <p:cNvGrpSpPr/>
                  <p:nvPr/>
                </p:nvGrpSpPr>
                <p:grpSpPr>
                  <a:xfrm>
                    <a:off x="0" y="0"/>
                    <a:ext cx="768" cy="384"/>
                    <a:chOff x="0" y="0"/>
                    <a:chExt cx="768" cy="384"/>
                  </a:xfrm>
                </p:grpSpPr>
                <p:sp>
                  <p:nvSpPr>
                    <p:cNvPr id="14742" name="Rectangle 694"/>
                    <p:cNvSpPr/>
                    <p:nvPr/>
                  </p:nvSpPr>
                  <p:spPr>
                    <a:xfrm>
                      <a:off x="0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743" name="Rectangle 695"/>
                    <p:cNvSpPr/>
                    <p:nvPr/>
                  </p:nvSpPr>
                  <p:spPr>
                    <a:xfrm>
                      <a:off x="192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744" name="Rectangle 696"/>
                    <p:cNvSpPr/>
                    <p:nvPr/>
                  </p:nvSpPr>
                  <p:spPr>
                    <a:xfrm>
                      <a:off x="384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745" name="Rectangle 697"/>
                    <p:cNvSpPr/>
                    <p:nvPr/>
                  </p:nvSpPr>
                  <p:spPr>
                    <a:xfrm>
                      <a:off x="576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746" name="Rectangle 698"/>
                    <p:cNvSpPr/>
                    <p:nvPr/>
                  </p:nvSpPr>
                  <p:spPr>
                    <a:xfrm>
                      <a:off x="576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747" name="Rectangle 699"/>
                    <p:cNvSpPr/>
                    <p:nvPr/>
                  </p:nvSpPr>
                  <p:spPr>
                    <a:xfrm>
                      <a:off x="384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748" name="Rectangle 700"/>
                    <p:cNvSpPr/>
                    <p:nvPr/>
                  </p:nvSpPr>
                  <p:spPr>
                    <a:xfrm>
                      <a:off x="192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749" name="Rectangle 701"/>
                    <p:cNvSpPr/>
                    <p:nvPr/>
                  </p:nvSpPr>
                  <p:spPr>
                    <a:xfrm>
                      <a:off x="0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14733" name="Group 702"/>
                  <p:cNvGrpSpPr/>
                  <p:nvPr/>
                </p:nvGrpSpPr>
                <p:grpSpPr>
                  <a:xfrm>
                    <a:off x="0" y="384"/>
                    <a:ext cx="768" cy="384"/>
                    <a:chOff x="0" y="0"/>
                    <a:chExt cx="768" cy="384"/>
                  </a:xfrm>
                </p:grpSpPr>
                <p:sp>
                  <p:nvSpPr>
                    <p:cNvPr id="14734" name="Rectangle 703"/>
                    <p:cNvSpPr/>
                    <p:nvPr/>
                  </p:nvSpPr>
                  <p:spPr>
                    <a:xfrm>
                      <a:off x="0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735" name="Rectangle 704"/>
                    <p:cNvSpPr/>
                    <p:nvPr/>
                  </p:nvSpPr>
                  <p:spPr>
                    <a:xfrm>
                      <a:off x="192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736" name="Rectangle 705"/>
                    <p:cNvSpPr/>
                    <p:nvPr/>
                  </p:nvSpPr>
                  <p:spPr>
                    <a:xfrm>
                      <a:off x="384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737" name="Rectangle 706"/>
                    <p:cNvSpPr/>
                    <p:nvPr/>
                  </p:nvSpPr>
                  <p:spPr>
                    <a:xfrm>
                      <a:off x="576" y="0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738" name="Rectangle 707"/>
                    <p:cNvSpPr/>
                    <p:nvPr/>
                  </p:nvSpPr>
                  <p:spPr>
                    <a:xfrm>
                      <a:off x="576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739" name="Rectangle 708"/>
                    <p:cNvSpPr/>
                    <p:nvPr/>
                  </p:nvSpPr>
                  <p:spPr>
                    <a:xfrm>
                      <a:off x="384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740" name="Rectangle 709"/>
                    <p:cNvSpPr/>
                    <p:nvPr/>
                  </p:nvSpPr>
                  <p:spPr>
                    <a:xfrm>
                      <a:off x="192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741" name="Rectangle 710"/>
                    <p:cNvSpPr/>
                    <p:nvPr/>
                  </p:nvSpPr>
                  <p:spPr>
                    <a:xfrm>
                      <a:off x="0" y="192"/>
                      <a:ext cx="192" cy="192"/>
                    </a:xfrm>
                    <a:prstGeom prst="rect">
                      <a:avLst/>
                    </a:prstGeom>
                    <a:solidFill>
                      <a:srgbClr val="FFFF66"/>
                    </a:solidFill>
                    <a:ln w="1905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</p:grpSp>
          </p:grpSp>
        </p:grpSp>
        <p:grpSp>
          <p:nvGrpSpPr>
            <p:cNvPr id="14360" name="Group 712"/>
            <p:cNvGrpSpPr/>
            <p:nvPr/>
          </p:nvGrpSpPr>
          <p:grpSpPr>
            <a:xfrm>
              <a:off x="840351" y="2015734"/>
              <a:ext cx="3962400" cy="3657600"/>
              <a:chOff x="0" y="0"/>
              <a:chExt cx="2496" cy="2304"/>
            </a:xfrm>
          </p:grpSpPr>
          <p:grpSp>
            <p:nvGrpSpPr>
              <p:cNvPr id="14361" name="Group 713"/>
              <p:cNvGrpSpPr/>
              <p:nvPr/>
            </p:nvGrpSpPr>
            <p:grpSpPr>
              <a:xfrm>
                <a:off x="96" y="0"/>
                <a:ext cx="96" cy="768"/>
                <a:chOff x="0" y="0"/>
                <a:chExt cx="96" cy="768"/>
              </a:xfrm>
            </p:grpSpPr>
            <p:grpSp>
              <p:nvGrpSpPr>
                <p:cNvPr id="14707" name="Group 714"/>
                <p:cNvGrpSpPr/>
                <p:nvPr/>
              </p:nvGrpSpPr>
              <p:grpSpPr>
                <a:xfrm>
                  <a:off x="0" y="0"/>
                  <a:ext cx="96" cy="288"/>
                  <a:chOff x="0" y="0"/>
                  <a:chExt cx="96" cy="288"/>
                </a:xfrm>
              </p:grpSpPr>
              <p:sp>
                <p:nvSpPr>
                  <p:cNvPr id="14715" name="Oval 715"/>
                  <p:cNvSpPr/>
                  <p:nvPr/>
                </p:nvSpPr>
                <p:spPr>
                  <a:xfrm>
                    <a:off x="0" y="0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4716" name="Oval 716"/>
                  <p:cNvSpPr/>
                  <p:nvPr/>
                </p:nvSpPr>
                <p:spPr>
                  <a:xfrm>
                    <a:off x="0" y="96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4717" name="Oval 717"/>
                  <p:cNvSpPr/>
                  <p:nvPr/>
                </p:nvSpPr>
                <p:spPr>
                  <a:xfrm>
                    <a:off x="0" y="192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4708" name="Group 718"/>
                <p:cNvGrpSpPr/>
                <p:nvPr/>
              </p:nvGrpSpPr>
              <p:grpSpPr>
                <a:xfrm>
                  <a:off x="0" y="288"/>
                  <a:ext cx="96" cy="288"/>
                  <a:chOff x="0" y="0"/>
                  <a:chExt cx="96" cy="288"/>
                </a:xfrm>
              </p:grpSpPr>
              <p:sp>
                <p:nvSpPr>
                  <p:cNvPr id="14712" name="Oval 719"/>
                  <p:cNvSpPr/>
                  <p:nvPr/>
                </p:nvSpPr>
                <p:spPr>
                  <a:xfrm>
                    <a:off x="0" y="0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4713" name="Oval 720"/>
                  <p:cNvSpPr/>
                  <p:nvPr/>
                </p:nvSpPr>
                <p:spPr>
                  <a:xfrm>
                    <a:off x="0" y="96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4714" name="Oval 721"/>
                  <p:cNvSpPr/>
                  <p:nvPr/>
                </p:nvSpPr>
                <p:spPr>
                  <a:xfrm>
                    <a:off x="0" y="192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4709" name="Group 722"/>
                <p:cNvGrpSpPr/>
                <p:nvPr/>
              </p:nvGrpSpPr>
              <p:grpSpPr>
                <a:xfrm>
                  <a:off x="0" y="576"/>
                  <a:ext cx="96" cy="192"/>
                  <a:chOff x="0" y="0"/>
                  <a:chExt cx="96" cy="192"/>
                </a:xfrm>
              </p:grpSpPr>
              <p:sp>
                <p:nvSpPr>
                  <p:cNvPr id="14710" name="Oval 723"/>
                  <p:cNvSpPr/>
                  <p:nvPr/>
                </p:nvSpPr>
                <p:spPr>
                  <a:xfrm>
                    <a:off x="0" y="0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4711" name="Oval 724"/>
                  <p:cNvSpPr/>
                  <p:nvPr/>
                </p:nvSpPr>
                <p:spPr>
                  <a:xfrm>
                    <a:off x="0" y="96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4362" name="Group 725"/>
              <p:cNvGrpSpPr/>
              <p:nvPr/>
            </p:nvGrpSpPr>
            <p:grpSpPr>
              <a:xfrm>
                <a:off x="192" y="96"/>
                <a:ext cx="96" cy="672"/>
                <a:chOff x="0" y="0"/>
                <a:chExt cx="96" cy="672"/>
              </a:xfrm>
            </p:grpSpPr>
            <p:grpSp>
              <p:nvGrpSpPr>
                <p:cNvPr id="14697" name="Group 726"/>
                <p:cNvGrpSpPr/>
                <p:nvPr/>
              </p:nvGrpSpPr>
              <p:grpSpPr>
                <a:xfrm>
                  <a:off x="0" y="0"/>
                  <a:ext cx="96" cy="384"/>
                  <a:chOff x="0" y="0"/>
                  <a:chExt cx="96" cy="384"/>
                </a:xfrm>
              </p:grpSpPr>
              <p:sp>
                <p:nvSpPr>
                  <p:cNvPr id="14702" name="Oval 727"/>
                  <p:cNvSpPr/>
                  <p:nvPr/>
                </p:nvSpPr>
                <p:spPr>
                  <a:xfrm>
                    <a:off x="0" y="0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  <p:grpSp>
                <p:nvGrpSpPr>
                  <p:cNvPr id="14703" name="Group 728"/>
                  <p:cNvGrpSpPr/>
                  <p:nvPr/>
                </p:nvGrpSpPr>
                <p:grpSpPr>
                  <a:xfrm>
                    <a:off x="0" y="96"/>
                    <a:ext cx="96" cy="288"/>
                    <a:chOff x="0" y="0"/>
                    <a:chExt cx="96" cy="288"/>
                  </a:xfrm>
                </p:grpSpPr>
                <p:sp>
                  <p:nvSpPr>
                    <p:cNvPr id="14704" name="Oval 729"/>
                    <p:cNvSpPr/>
                    <p:nvPr/>
                  </p:nvSpPr>
                  <p:spPr>
                    <a:xfrm>
                      <a:off x="0" y="0"/>
                      <a:ext cx="96" cy="96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705" name="Oval 730"/>
                    <p:cNvSpPr/>
                    <p:nvPr/>
                  </p:nvSpPr>
                  <p:spPr>
                    <a:xfrm>
                      <a:off x="0" y="96"/>
                      <a:ext cx="96" cy="96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706" name="Oval 731"/>
                    <p:cNvSpPr/>
                    <p:nvPr/>
                  </p:nvSpPr>
                  <p:spPr>
                    <a:xfrm>
                      <a:off x="0" y="192"/>
                      <a:ext cx="96" cy="96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</p:grpSp>
            <p:grpSp>
              <p:nvGrpSpPr>
                <p:cNvPr id="14698" name="Group 732"/>
                <p:cNvGrpSpPr/>
                <p:nvPr/>
              </p:nvGrpSpPr>
              <p:grpSpPr>
                <a:xfrm>
                  <a:off x="0" y="384"/>
                  <a:ext cx="96" cy="288"/>
                  <a:chOff x="0" y="0"/>
                  <a:chExt cx="96" cy="288"/>
                </a:xfrm>
              </p:grpSpPr>
              <p:sp>
                <p:nvSpPr>
                  <p:cNvPr id="14699" name="Oval 733"/>
                  <p:cNvSpPr/>
                  <p:nvPr/>
                </p:nvSpPr>
                <p:spPr>
                  <a:xfrm>
                    <a:off x="0" y="0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4700" name="Oval 734"/>
                  <p:cNvSpPr/>
                  <p:nvPr/>
                </p:nvSpPr>
                <p:spPr>
                  <a:xfrm>
                    <a:off x="0" y="96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4701" name="Oval 735"/>
                  <p:cNvSpPr/>
                  <p:nvPr/>
                </p:nvSpPr>
                <p:spPr>
                  <a:xfrm>
                    <a:off x="0" y="192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4363" name="Group 736"/>
              <p:cNvGrpSpPr/>
              <p:nvPr/>
            </p:nvGrpSpPr>
            <p:grpSpPr>
              <a:xfrm>
                <a:off x="576" y="96"/>
                <a:ext cx="96" cy="672"/>
                <a:chOff x="0" y="0"/>
                <a:chExt cx="96" cy="672"/>
              </a:xfrm>
            </p:grpSpPr>
            <p:grpSp>
              <p:nvGrpSpPr>
                <p:cNvPr id="14687" name="Group 737"/>
                <p:cNvGrpSpPr/>
                <p:nvPr/>
              </p:nvGrpSpPr>
              <p:grpSpPr>
                <a:xfrm>
                  <a:off x="0" y="0"/>
                  <a:ext cx="96" cy="384"/>
                  <a:chOff x="0" y="0"/>
                  <a:chExt cx="96" cy="384"/>
                </a:xfrm>
              </p:grpSpPr>
              <p:sp>
                <p:nvSpPr>
                  <p:cNvPr id="14692" name="Oval 738"/>
                  <p:cNvSpPr/>
                  <p:nvPr/>
                </p:nvSpPr>
                <p:spPr>
                  <a:xfrm>
                    <a:off x="0" y="0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  <p:grpSp>
                <p:nvGrpSpPr>
                  <p:cNvPr id="14693" name="Group 739"/>
                  <p:cNvGrpSpPr/>
                  <p:nvPr/>
                </p:nvGrpSpPr>
                <p:grpSpPr>
                  <a:xfrm>
                    <a:off x="0" y="96"/>
                    <a:ext cx="96" cy="288"/>
                    <a:chOff x="0" y="0"/>
                    <a:chExt cx="96" cy="288"/>
                  </a:xfrm>
                </p:grpSpPr>
                <p:sp>
                  <p:nvSpPr>
                    <p:cNvPr id="14694" name="Oval 740"/>
                    <p:cNvSpPr/>
                    <p:nvPr/>
                  </p:nvSpPr>
                  <p:spPr>
                    <a:xfrm>
                      <a:off x="0" y="0"/>
                      <a:ext cx="96" cy="96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695" name="Oval 741"/>
                    <p:cNvSpPr/>
                    <p:nvPr/>
                  </p:nvSpPr>
                  <p:spPr>
                    <a:xfrm>
                      <a:off x="0" y="96"/>
                      <a:ext cx="96" cy="96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696" name="Oval 742"/>
                    <p:cNvSpPr/>
                    <p:nvPr/>
                  </p:nvSpPr>
                  <p:spPr>
                    <a:xfrm>
                      <a:off x="0" y="192"/>
                      <a:ext cx="96" cy="96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</p:grpSp>
            <p:grpSp>
              <p:nvGrpSpPr>
                <p:cNvPr id="14688" name="Group 743"/>
                <p:cNvGrpSpPr/>
                <p:nvPr/>
              </p:nvGrpSpPr>
              <p:grpSpPr>
                <a:xfrm>
                  <a:off x="0" y="384"/>
                  <a:ext cx="96" cy="288"/>
                  <a:chOff x="0" y="0"/>
                  <a:chExt cx="96" cy="288"/>
                </a:xfrm>
              </p:grpSpPr>
              <p:sp>
                <p:nvSpPr>
                  <p:cNvPr id="14689" name="Oval 744"/>
                  <p:cNvSpPr/>
                  <p:nvPr/>
                </p:nvSpPr>
                <p:spPr>
                  <a:xfrm>
                    <a:off x="0" y="0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4690" name="Oval 745"/>
                  <p:cNvSpPr/>
                  <p:nvPr/>
                </p:nvSpPr>
                <p:spPr>
                  <a:xfrm>
                    <a:off x="0" y="96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4691" name="Oval 746"/>
                  <p:cNvSpPr/>
                  <p:nvPr/>
                </p:nvSpPr>
                <p:spPr>
                  <a:xfrm>
                    <a:off x="0" y="192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4364" name="Group 747"/>
              <p:cNvGrpSpPr/>
              <p:nvPr/>
            </p:nvGrpSpPr>
            <p:grpSpPr>
              <a:xfrm>
                <a:off x="288" y="96"/>
                <a:ext cx="288" cy="96"/>
                <a:chOff x="0" y="0"/>
                <a:chExt cx="288" cy="96"/>
              </a:xfrm>
            </p:grpSpPr>
            <p:sp>
              <p:nvSpPr>
                <p:cNvPr id="14684" name="Oval 748"/>
                <p:cNvSpPr/>
                <p:nvPr/>
              </p:nvSpPr>
              <p:spPr>
                <a:xfrm>
                  <a:off x="96" y="0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rgbClr val="666699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685" name="Oval 749"/>
                <p:cNvSpPr/>
                <p:nvPr/>
              </p:nvSpPr>
              <p:spPr>
                <a:xfrm>
                  <a:off x="0" y="0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rgbClr val="666699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686" name="Oval 750"/>
                <p:cNvSpPr/>
                <p:nvPr/>
              </p:nvSpPr>
              <p:spPr>
                <a:xfrm>
                  <a:off x="192" y="0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rgbClr val="666699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4365" name="Group 751"/>
              <p:cNvGrpSpPr/>
              <p:nvPr/>
            </p:nvGrpSpPr>
            <p:grpSpPr>
              <a:xfrm>
                <a:off x="288" y="672"/>
                <a:ext cx="288" cy="96"/>
                <a:chOff x="0" y="0"/>
                <a:chExt cx="288" cy="96"/>
              </a:xfrm>
            </p:grpSpPr>
            <p:sp>
              <p:nvSpPr>
                <p:cNvPr id="14681" name="Oval 752"/>
                <p:cNvSpPr/>
                <p:nvPr/>
              </p:nvSpPr>
              <p:spPr>
                <a:xfrm>
                  <a:off x="96" y="0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rgbClr val="666699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682" name="Oval 753"/>
                <p:cNvSpPr/>
                <p:nvPr/>
              </p:nvSpPr>
              <p:spPr>
                <a:xfrm>
                  <a:off x="0" y="0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rgbClr val="666699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683" name="Oval 754"/>
                <p:cNvSpPr/>
                <p:nvPr/>
              </p:nvSpPr>
              <p:spPr>
                <a:xfrm>
                  <a:off x="192" y="0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rgbClr val="666699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4366" name="Group 755"/>
              <p:cNvGrpSpPr/>
              <p:nvPr/>
            </p:nvGrpSpPr>
            <p:grpSpPr>
              <a:xfrm>
                <a:off x="672" y="0"/>
                <a:ext cx="96" cy="768"/>
                <a:chOff x="0" y="0"/>
                <a:chExt cx="96" cy="768"/>
              </a:xfrm>
            </p:grpSpPr>
            <p:grpSp>
              <p:nvGrpSpPr>
                <p:cNvPr id="14670" name="Group 756"/>
                <p:cNvGrpSpPr/>
                <p:nvPr/>
              </p:nvGrpSpPr>
              <p:grpSpPr>
                <a:xfrm>
                  <a:off x="0" y="0"/>
                  <a:ext cx="96" cy="288"/>
                  <a:chOff x="0" y="0"/>
                  <a:chExt cx="96" cy="288"/>
                </a:xfrm>
              </p:grpSpPr>
              <p:sp>
                <p:nvSpPr>
                  <p:cNvPr id="14678" name="Oval 757"/>
                  <p:cNvSpPr/>
                  <p:nvPr/>
                </p:nvSpPr>
                <p:spPr>
                  <a:xfrm>
                    <a:off x="0" y="0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4679" name="Oval 758"/>
                  <p:cNvSpPr/>
                  <p:nvPr/>
                </p:nvSpPr>
                <p:spPr>
                  <a:xfrm>
                    <a:off x="0" y="96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4680" name="Oval 759"/>
                  <p:cNvSpPr/>
                  <p:nvPr/>
                </p:nvSpPr>
                <p:spPr>
                  <a:xfrm>
                    <a:off x="0" y="192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4671" name="Group 760"/>
                <p:cNvGrpSpPr/>
                <p:nvPr/>
              </p:nvGrpSpPr>
              <p:grpSpPr>
                <a:xfrm>
                  <a:off x="0" y="288"/>
                  <a:ext cx="96" cy="288"/>
                  <a:chOff x="0" y="0"/>
                  <a:chExt cx="96" cy="288"/>
                </a:xfrm>
              </p:grpSpPr>
              <p:sp>
                <p:nvSpPr>
                  <p:cNvPr id="14675" name="Oval 761"/>
                  <p:cNvSpPr/>
                  <p:nvPr/>
                </p:nvSpPr>
                <p:spPr>
                  <a:xfrm>
                    <a:off x="0" y="0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4676" name="Oval 762"/>
                  <p:cNvSpPr/>
                  <p:nvPr/>
                </p:nvSpPr>
                <p:spPr>
                  <a:xfrm>
                    <a:off x="0" y="96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4677" name="Oval 763"/>
                  <p:cNvSpPr/>
                  <p:nvPr/>
                </p:nvSpPr>
                <p:spPr>
                  <a:xfrm>
                    <a:off x="0" y="192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4672" name="Group 764"/>
                <p:cNvGrpSpPr/>
                <p:nvPr/>
              </p:nvGrpSpPr>
              <p:grpSpPr>
                <a:xfrm>
                  <a:off x="0" y="576"/>
                  <a:ext cx="96" cy="192"/>
                  <a:chOff x="0" y="0"/>
                  <a:chExt cx="96" cy="192"/>
                </a:xfrm>
              </p:grpSpPr>
              <p:sp>
                <p:nvSpPr>
                  <p:cNvPr id="14673" name="Oval 765"/>
                  <p:cNvSpPr/>
                  <p:nvPr/>
                </p:nvSpPr>
                <p:spPr>
                  <a:xfrm>
                    <a:off x="0" y="0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4674" name="Oval 766"/>
                  <p:cNvSpPr/>
                  <p:nvPr/>
                </p:nvSpPr>
                <p:spPr>
                  <a:xfrm>
                    <a:off x="0" y="96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4367" name="Group 767"/>
              <p:cNvGrpSpPr/>
              <p:nvPr/>
            </p:nvGrpSpPr>
            <p:grpSpPr>
              <a:xfrm rot="5400000">
                <a:off x="48" y="1968"/>
                <a:ext cx="192" cy="288"/>
                <a:chOff x="0" y="0"/>
                <a:chExt cx="192" cy="288"/>
              </a:xfrm>
            </p:grpSpPr>
            <p:sp>
              <p:nvSpPr>
                <p:cNvPr id="14664" name="Oval 768"/>
                <p:cNvSpPr/>
                <p:nvPr/>
              </p:nvSpPr>
              <p:spPr>
                <a:xfrm>
                  <a:off x="0" y="0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rgbClr val="666699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665" name="Oval 769"/>
                <p:cNvSpPr/>
                <p:nvPr/>
              </p:nvSpPr>
              <p:spPr>
                <a:xfrm>
                  <a:off x="0" y="96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rgbClr val="666699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666" name="Oval 770"/>
                <p:cNvSpPr/>
                <p:nvPr/>
              </p:nvSpPr>
              <p:spPr>
                <a:xfrm>
                  <a:off x="0" y="192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rgbClr val="666699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667" name="Oval 771"/>
                <p:cNvSpPr/>
                <p:nvPr/>
              </p:nvSpPr>
              <p:spPr>
                <a:xfrm>
                  <a:off x="96" y="0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rgbClr val="666699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668" name="Oval 772"/>
                <p:cNvSpPr/>
                <p:nvPr/>
              </p:nvSpPr>
              <p:spPr>
                <a:xfrm>
                  <a:off x="96" y="96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rgbClr val="666699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669" name="Oval 773"/>
                <p:cNvSpPr/>
                <p:nvPr/>
              </p:nvSpPr>
              <p:spPr>
                <a:xfrm>
                  <a:off x="96" y="192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rgbClr val="666699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4368" name="Group 774"/>
              <p:cNvGrpSpPr/>
              <p:nvPr/>
            </p:nvGrpSpPr>
            <p:grpSpPr>
              <a:xfrm>
                <a:off x="288" y="2016"/>
                <a:ext cx="192" cy="96"/>
                <a:chOff x="0" y="0"/>
                <a:chExt cx="192" cy="96"/>
              </a:xfrm>
            </p:grpSpPr>
            <p:sp>
              <p:nvSpPr>
                <p:cNvPr id="14662" name="Oval 775"/>
                <p:cNvSpPr/>
                <p:nvPr/>
              </p:nvSpPr>
              <p:spPr>
                <a:xfrm>
                  <a:off x="0" y="0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rgbClr val="666699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663" name="Oval 776"/>
                <p:cNvSpPr/>
                <p:nvPr/>
              </p:nvSpPr>
              <p:spPr>
                <a:xfrm>
                  <a:off x="96" y="0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rgbClr val="666699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14369" name="Oval 777"/>
              <p:cNvSpPr/>
              <p:nvPr/>
            </p:nvSpPr>
            <p:spPr>
              <a:xfrm rot="5400000">
                <a:off x="480" y="2016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rgbClr val="666699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rgbClr val="666699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rgbClr val="666699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rgbClr val="666699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666699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4370" name="Group 778"/>
              <p:cNvGrpSpPr/>
              <p:nvPr/>
            </p:nvGrpSpPr>
            <p:grpSpPr>
              <a:xfrm rot="5400000">
                <a:off x="-148" y="1673"/>
                <a:ext cx="575" cy="99"/>
                <a:chOff x="0" y="0"/>
                <a:chExt cx="575" cy="99"/>
              </a:xfrm>
            </p:grpSpPr>
            <p:grpSp>
              <p:nvGrpSpPr>
                <p:cNvPr id="14654" name="Group 779"/>
                <p:cNvGrpSpPr/>
                <p:nvPr/>
              </p:nvGrpSpPr>
              <p:grpSpPr>
                <a:xfrm>
                  <a:off x="287" y="0"/>
                  <a:ext cx="288" cy="97"/>
                  <a:chOff x="0" y="0"/>
                  <a:chExt cx="288" cy="97"/>
                </a:xfrm>
              </p:grpSpPr>
              <p:sp>
                <p:nvSpPr>
                  <p:cNvPr id="14659" name="Oval 780"/>
                  <p:cNvSpPr/>
                  <p:nvPr/>
                </p:nvSpPr>
                <p:spPr>
                  <a:xfrm rot="5400000">
                    <a:off x="192" y="1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4660" name="Oval 781"/>
                  <p:cNvSpPr/>
                  <p:nvPr/>
                </p:nvSpPr>
                <p:spPr>
                  <a:xfrm rot="5400000">
                    <a:off x="95" y="0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4661" name="Oval 782"/>
                  <p:cNvSpPr/>
                  <p:nvPr/>
                </p:nvSpPr>
                <p:spPr>
                  <a:xfrm rot="5400000">
                    <a:off x="0" y="1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4655" name="Group 783"/>
                <p:cNvGrpSpPr/>
                <p:nvPr/>
              </p:nvGrpSpPr>
              <p:grpSpPr>
                <a:xfrm>
                  <a:off x="0" y="2"/>
                  <a:ext cx="288" cy="97"/>
                  <a:chOff x="0" y="0"/>
                  <a:chExt cx="288" cy="97"/>
                </a:xfrm>
              </p:grpSpPr>
              <p:sp>
                <p:nvSpPr>
                  <p:cNvPr id="14656" name="Oval 784"/>
                  <p:cNvSpPr/>
                  <p:nvPr/>
                </p:nvSpPr>
                <p:spPr>
                  <a:xfrm rot="5400000">
                    <a:off x="192" y="1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4657" name="Oval 785"/>
                  <p:cNvSpPr/>
                  <p:nvPr/>
                </p:nvSpPr>
                <p:spPr>
                  <a:xfrm rot="5400000">
                    <a:off x="95" y="0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4658" name="Oval 786"/>
                  <p:cNvSpPr/>
                  <p:nvPr/>
                </p:nvSpPr>
                <p:spPr>
                  <a:xfrm rot="5400000">
                    <a:off x="0" y="1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4371" name="Group 787"/>
              <p:cNvGrpSpPr/>
              <p:nvPr/>
            </p:nvGrpSpPr>
            <p:grpSpPr>
              <a:xfrm rot="5400000">
                <a:off x="0" y="1241"/>
                <a:ext cx="288" cy="97"/>
                <a:chOff x="0" y="0"/>
                <a:chExt cx="288" cy="97"/>
              </a:xfrm>
            </p:grpSpPr>
            <p:sp>
              <p:nvSpPr>
                <p:cNvPr id="14651" name="Oval 788"/>
                <p:cNvSpPr/>
                <p:nvPr/>
              </p:nvSpPr>
              <p:spPr>
                <a:xfrm rot="5400000">
                  <a:off x="192" y="1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rgbClr val="666699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652" name="Oval 789"/>
                <p:cNvSpPr/>
                <p:nvPr/>
              </p:nvSpPr>
              <p:spPr>
                <a:xfrm rot="5400000">
                  <a:off x="95" y="0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rgbClr val="666699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653" name="Oval 790"/>
                <p:cNvSpPr/>
                <p:nvPr/>
              </p:nvSpPr>
              <p:spPr>
                <a:xfrm rot="5400000">
                  <a:off x="0" y="1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rgbClr val="666699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4372" name="Group 791"/>
              <p:cNvGrpSpPr/>
              <p:nvPr/>
            </p:nvGrpSpPr>
            <p:grpSpPr>
              <a:xfrm>
                <a:off x="288" y="768"/>
                <a:ext cx="480" cy="1248"/>
                <a:chOff x="0" y="0"/>
                <a:chExt cx="480" cy="1248"/>
              </a:xfrm>
            </p:grpSpPr>
            <p:grpSp>
              <p:nvGrpSpPr>
                <p:cNvPr id="14606" name="Group 792"/>
                <p:cNvGrpSpPr/>
                <p:nvPr/>
              </p:nvGrpSpPr>
              <p:grpSpPr>
                <a:xfrm rot="5400000">
                  <a:off x="144" y="1008"/>
                  <a:ext cx="96" cy="384"/>
                  <a:chOff x="0" y="0"/>
                  <a:chExt cx="96" cy="384"/>
                </a:xfrm>
              </p:grpSpPr>
              <p:sp>
                <p:nvSpPr>
                  <p:cNvPr id="14646" name="Oval 793"/>
                  <p:cNvSpPr/>
                  <p:nvPr/>
                </p:nvSpPr>
                <p:spPr>
                  <a:xfrm>
                    <a:off x="0" y="0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  <p:grpSp>
                <p:nvGrpSpPr>
                  <p:cNvPr id="14647" name="Group 794"/>
                  <p:cNvGrpSpPr/>
                  <p:nvPr/>
                </p:nvGrpSpPr>
                <p:grpSpPr>
                  <a:xfrm>
                    <a:off x="0" y="96"/>
                    <a:ext cx="96" cy="288"/>
                    <a:chOff x="0" y="0"/>
                    <a:chExt cx="96" cy="288"/>
                  </a:xfrm>
                </p:grpSpPr>
                <p:sp>
                  <p:nvSpPr>
                    <p:cNvPr id="14648" name="Oval 795"/>
                    <p:cNvSpPr/>
                    <p:nvPr/>
                  </p:nvSpPr>
                  <p:spPr>
                    <a:xfrm>
                      <a:off x="0" y="0"/>
                      <a:ext cx="96" cy="96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649" name="Oval 796"/>
                    <p:cNvSpPr/>
                    <p:nvPr/>
                  </p:nvSpPr>
                  <p:spPr>
                    <a:xfrm>
                      <a:off x="0" y="96"/>
                      <a:ext cx="96" cy="96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650" name="Oval 797"/>
                    <p:cNvSpPr/>
                    <p:nvPr/>
                  </p:nvSpPr>
                  <p:spPr>
                    <a:xfrm>
                      <a:off x="0" y="192"/>
                      <a:ext cx="96" cy="96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</p:grpSp>
            <p:grpSp>
              <p:nvGrpSpPr>
                <p:cNvPr id="14607" name="Group 798"/>
                <p:cNvGrpSpPr/>
                <p:nvPr/>
              </p:nvGrpSpPr>
              <p:grpSpPr>
                <a:xfrm>
                  <a:off x="0" y="0"/>
                  <a:ext cx="192" cy="768"/>
                  <a:chOff x="0" y="0"/>
                  <a:chExt cx="192" cy="768"/>
                </a:xfrm>
              </p:grpSpPr>
              <p:grpSp>
                <p:nvGrpSpPr>
                  <p:cNvPr id="14622" name="Group 799"/>
                  <p:cNvGrpSpPr/>
                  <p:nvPr/>
                </p:nvGrpSpPr>
                <p:grpSpPr>
                  <a:xfrm>
                    <a:off x="0" y="0"/>
                    <a:ext cx="96" cy="768"/>
                    <a:chOff x="0" y="0"/>
                    <a:chExt cx="96" cy="768"/>
                  </a:xfrm>
                </p:grpSpPr>
                <p:grpSp>
                  <p:nvGrpSpPr>
                    <p:cNvPr id="14635" name="Group 800"/>
                    <p:cNvGrpSpPr/>
                    <p:nvPr/>
                  </p:nvGrpSpPr>
                  <p:grpSpPr>
                    <a:xfrm>
                      <a:off x="0" y="0"/>
                      <a:ext cx="96" cy="288"/>
                      <a:chOff x="0" y="0"/>
                      <a:chExt cx="96" cy="288"/>
                    </a:xfrm>
                  </p:grpSpPr>
                  <p:sp>
                    <p:nvSpPr>
                      <p:cNvPr id="14643" name="Oval 801"/>
                      <p:cNvSpPr/>
                      <p:nvPr/>
                    </p:nvSpPr>
                    <p:spPr>
                      <a:xfrm>
                        <a:off x="0" y="0"/>
                        <a:ext cx="96" cy="96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 w="9525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644" name="Oval 802"/>
                      <p:cNvSpPr/>
                      <p:nvPr/>
                    </p:nvSpPr>
                    <p:spPr>
                      <a:xfrm>
                        <a:off x="0" y="96"/>
                        <a:ext cx="96" cy="96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 w="9525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645" name="Oval 803"/>
                      <p:cNvSpPr/>
                      <p:nvPr/>
                    </p:nvSpPr>
                    <p:spPr>
                      <a:xfrm>
                        <a:off x="0" y="192"/>
                        <a:ext cx="96" cy="96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 w="9525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14636" name="Group 804"/>
                    <p:cNvGrpSpPr/>
                    <p:nvPr/>
                  </p:nvGrpSpPr>
                  <p:grpSpPr>
                    <a:xfrm>
                      <a:off x="0" y="288"/>
                      <a:ext cx="96" cy="288"/>
                      <a:chOff x="0" y="0"/>
                      <a:chExt cx="96" cy="288"/>
                    </a:xfrm>
                  </p:grpSpPr>
                  <p:sp>
                    <p:nvSpPr>
                      <p:cNvPr id="14640" name="Oval 805"/>
                      <p:cNvSpPr/>
                      <p:nvPr/>
                    </p:nvSpPr>
                    <p:spPr>
                      <a:xfrm>
                        <a:off x="0" y="0"/>
                        <a:ext cx="96" cy="96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 w="9525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641" name="Oval 806"/>
                      <p:cNvSpPr/>
                      <p:nvPr/>
                    </p:nvSpPr>
                    <p:spPr>
                      <a:xfrm>
                        <a:off x="0" y="96"/>
                        <a:ext cx="96" cy="96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 w="9525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642" name="Oval 807"/>
                      <p:cNvSpPr/>
                      <p:nvPr/>
                    </p:nvSpPr>
                    <p:spPr>
                      <a:xfrm>
                        <a:off x="0" y="192"/>
                        <a:ext cx="96" cy="96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 w="9525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14637" name="Group 808"/>
                    <p:cNvGrpSpPr/>
                    <p:nvPr/>
                  </p:nvGrpSpPr>
                  <p:grpSpPr>
                    <a:xfrm>
                      <a:off x="0" y="576"/>
                      <a:ext cx="96" cy="192"/>
                      <a:chOff x="0" y="0"/>
                      <a:chExt cx="96" cy="192"/>
                    </a:xfrm>
                  </p:grpSpPr>
                  <p:sp>
                    <p:nvSpPr>
                      <p:cNvPr id="14638" name="Oval 809"/>
                      <p:cNvSpPr/>
                      <p:nvPr/>
                    </p:nvSpPr>
                    <p:spPr>
                      <a:xfrm>
                        <a:off x="0" y="0"/>
                        <a:ext cx="96" cy="96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 w="9525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639" name="Oval 810"/>
                      <p:cNvSpPr/>
                      <p:nvPr/>
                    </p:nvSpPr>
                    <p:spPr>
                      <a:xfrm>
                        <a:off x="0" y="96"/>
                        <a:ext cx="96" cy="96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 w="9525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</p:grpSp>
              <p:grpSp>
                <p:nvGrpSpPr>
                  <p:cNvPr id="14623" name="Group 811"/>
                  <p:cNvGrpSpPr/>
                  <p:nvPr/>
                </p:nvGrpSpPr>
                <p:grpSpPr>
                  <a:xfrm>
                    <a:off x="96" y="0"/>
                    <a:ext cx="96" cy="768"/>
                    <a:chOff x="0" y="0"/>
                    <a:chExt cx="96" cy="768"/>
                  </a:xfrm>
                </p:grpSpPr>
                <p:grpSp>
                  <p:nvGrpSpPr>
                    <p:cNvPr id="14624" name="Group 812"/>
                    <p:cNvGrpSpPr/>
                    <p:nvPr/>
                  </p:nvGrpSpPr>
                  <p:grpSpPr>
                    <a:xfrm>
                      <a:off x="0" y="0"/>
                      <a:ext cx="96" cy="288"/>
                      <a:chOff x="0" y="0"/>
                      <a:chExt cx="96" cy="288"/>
                    </a:xfrm>
                  </p:grpSpPr>
                  <p:sp>
                    <p:nvSpPr>
                      <p:cNvPr id="14632" name="Oval 813"/>
                      <p:cNvSpPr/>
                      <p:nvPr/>
                    </p:nvSpPr>
                    <p:spPr>
                      <a:xfrm>
                        <a:off x="0" y="0"/>
                        <a:ext cx="96" cy="96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 w="9525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633" name="Oval 814"/>
                      <p:cNvSpPr/>
                      <p:nvPr/>
                    </p:nvSpPr>
                    <p:spPr>
                      <a:xfrm>
                        <a:off x="0" y="96"/>
                        <a:ext cx="96" cy="96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 w="9525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634" name="Oval 815"/>
                      <p:cNvSpPr/>
                      <p:nvPr/>
                    </p:nvSpPr>
                    <p:spPr>
                      <a:xfrm>
                        <a:off x="0" y="192"/>
                        <a:ext cx="96" cy="96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 w="9525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14625" name="Group 816"/>
                    <p:cNvGrpSpPr/>
                    <p:nvPr/>
                  </p:nvGrpSpPr>
                  <p:grpSpPr>
                    <a:xfrm>
                      <a:off x="0" y="288"/>
                      <a:ext cx="96" cy="288"/>
                      <a:chOff x="0" y="0"/>
                      <a:chExt cx="96" cy="288"/>
                    </a:xfrm>
                  </p:grpSpPr>
                  <p:sp>
                    <p:nvSpPr>
                      <p:cNvPr id="14629" name="Oval 817"/>
                      <p:cNvSpPr/>
                      <p:nvPr/>
                    </p:nvSpPr>
                    <p:spPr>
                      <a:xfrm>
                        <a:off x="0" y="0"/>
                        <a:ext cx="96" cy="96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 w="9525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630" name="Oval 818"/>
                      <p:cNvSpPr/>
                      <p:nvPr/>
                    </p:nvSpPr>
                    <p:spPr>
                      <a:xfrm>
                        <a:off x="0" y="96"/>
                        <a:ext cx="96" cy="96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 w="9525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631" name="Oval 819"/>
                      <p:cNvSpPr/>
                      <p:nvPr/>
                    </p:nvSpPr>
                    <p:spPr>
                      <a:xfrm>
                        <a:off x="0" y="192"/>
                        <a:ext cx="96" cy="96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 w="9525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14626" name="Group 820"/>
                    <p:cNvGrpSpPr/>
                    <p:nvPr/>
                  </p:nvGrpSpPr>
                  <p:grpSpPr>
                    <a:xfrm>
                      <a:off x="0" y="576"/>
                      <a:ext cx="96" cy="192"/>
                      <a:chOff x="0" y="0"/>
                      <a:chExt cx="96" cy="192"/>
                    </a:xfrm>
                  </p:grpSpPr>
                  <p:sp>
                    <p:nvSpPr>
                      <p:cNvPr id="14627" name="Oval 821"/>
                      <p:cNvSpPr/>
                      <p:nvPr/>
                    </p:nvSpPr>
                    <p:spPr>
                      <a:xfrm>
                        <a:off x="0" y="0"/>
                        <a:ext cx="96" cy="96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 w="9525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4628" name="Oval 822"/>
                      <p:cNvSpPr/>
                      <p:nvPr/>
                    </p:nvSpPr>
                    <p:spPr>
                      <a:xfrm>
                        <a:off x="0" y="96"/>
                        <a:ext cx="96" cy="96"/>
                      </a:xfrm>
                      <a:prstGeom prst="ellipse">
                        <a:avLst/>
                      </a:prstGeom>
                      <a:solidFill>
                        <a:schemeClr val="tx1"/>
                      </a:solidFill>
                      <a:ln w="9525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>
                        <a:lvl1pPr marL="342900" indent="-3429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32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742950" indent="-28575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8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2pPr>
                        <a:lvl3pPr marL="11430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•"/>
                          <a:defRPr sz="24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3pPr>
                        <a:lvl4pPr marL="16002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–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4pPr>
                        <a:lvl5pPr marL="2057400" indent="-228600" algn="l" rtl="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har char="»"/>
                          <a:defRPr sz="2000">
                            <a:solidFill>
                              <a:srgbClr val="666699"/>
                            </a:solidFill>
                            <a:latin typeface="+mn-lt"/>
                            <a:ea typeface="+mn-ea"/>
                          </a:defRPr>
                        </a:lvl5pPr>
                      </a:lstStyle>
                      <a:p>
                        <a:pPr marL="0" lvl="0" indent="0" eaLnBrk="1" hangingPunct="1">
                          <a:spcBef>
                            <a:spcPct val="0"/>
                          </a:spcBef>
                          <a:buNone/>
                        </a:pPr>
                        <a:endParaRPr lang="zh-CN" altLang="en-US" sz="24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14608" name="Group 823"/>
                <p:cNvGrpSpPr/>
                <p:nvPr/>
              </p:nvGrpSpPr>
              <p:grpSpPr>
                <a:xfrm>
                  <a:off x="0" y="768"/>
                  <a:ext cx="192" cy="384"/>
                  <a:chOff x="0" y="0"/>
                  <a:chExt cx="192" cy="384"/>
                </a:xfrm>
              </p:grpSpPr>
              <p:sp>
                <p:nvSpPr>
                  <p:cNvPr id="14614" name="Oval 824"/>
                  <p:cNvSpPr/>
                  <p:nvPr/>
                </p:nvSpPr>
                <p:spPr>
                  <a:xfrm>
                    <a:off x="0" y="0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4615" name="Oval 825"/>
                  <p:cNvSpPr/>
                  <p:nvPr/>
                </p:nvSpPr>
                <p:spPr>
                  <a:xfrm>
                    <a:off x="0" y="96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4616" name="Oval 826"/>
                  <p:cNvSpPr/>
                  <p:nvPr/>
                </p:nvSpPr>
                <p:spPr>
                  <a:xfrm>
                    <a:off x="0" y="192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4617" name="Oval 827"/>
                  <p:cNvSpPr/>
                  <p:nvPr/>
                </p:nvSpPr>
                <p:spPr>
                  <a:xfrm>
                    <a:off x="0" y="288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4618" name="Oval 828"/>
                  <p:cNvSpPr/>
                  <p:nvPr/>
                </p:nvSpPr>
                <p:spPr>
                  <a:xfrm>
                    <a:off x="96" y="0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4619" name="Oval 829"/>
                  <p:cNvSpPr/>
                  <p:nvPr/>
                </p:nvSpPr>
                <p:spPr>
                  <a:xfrm>
                    <a:off x="96" y="96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4620" name="Oval 830"/>
                  <p:cNvSpPr/>
                  <p:nvPr/>
                </p:nvSpPr>
                <p:spPr>
                  <a:xfrm>
                    <a:off x="96" y="192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4621" name="Oval 831"/>
                  <p:cNvSpPr/>
                  <p:nvPr/>
                </p:nvSpPr>
                <p:spPr>
                  <a:xfrm>
                    <a:off x="96" y="288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4609" name="Group 832"/>
                <p:cNvGrpSpPr/>
                <p:nvPr/>
              </p:nvGrpSpPr>
              <p:grpSpPr>
                <a:xfrm rot="10800000">
                  <a:off x="192" y="576"/>
                  <a:ext cx="288" cy="97"/>
                  <a:chOff x="0" y="0"/>
                  <a:chExt cx="288" cy="97"/>
                </a:xfrm>
              </p:grpSpPr>
              <p:sp>
                <p:nvSpPr>
                  <p:cNvPr id="14611" name="Oval 833"/>
                  <p:cNvSpPr/>
                  <p:nvPr/>
                </p:nvSpPr>
                <p:spPr>
                  <a:xfrm rot="5400000">
                    <a:off x="192" y="1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4612" name="Oval 834"/>
                  <p:cNvSpPr/>
                  <p:nvPr/>
                </p:nvSpPr>
                <p:spPr>
                  <a:xfrm rot="5400000">
                    <a:off x="95" y="0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4613" name="Oval 835"/>
                  <p:cNvSpPr/>
                  <p:nvPr/>
                </p:nvSpPr>
                <p:spPr>
                  <a:xfrm rot="5400000">
                    <a:off x="0" y="1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14610" name="Oval 836"/>
                <p:cNvSpPr/>
                <p:nvPr/>
              </p:nvSpPr>
              <p:spPr>
                <a:xfrm rot="-5400000">
                  <a:off x="288" y="480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rgbClr val="666699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4373" name="Group 837"/>
              <p:cNvGrpSpPr/>
              <p:nvPr/>
            </p:nvGrpSpPr>
            <p:grpSpPr>
              <a:xfrm>
                <a:off x="1056" y="0"/>
                <a:ext cx="289" cy="97"/>
                <a:chOff x="0" y="0"/>
                <a:chExt cx="289" cy="97"/>
              </a:xfrm>
            </p:grpSpPr>
            <p:sp>
              <p:nvSpPr>
                <p:cNvPr id="14603" name="Oval 838"/>
                <p:cNvSpPr/>
                <p:nvPr/>
              </p:nvSpPr>
              <p:spPr>
                <a:xfrm rot="-5400000">
                  <a:off x="0" y="0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rgbClr val="666699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604" name="Oval 839"/>
                <p:cNvSpPr/>
                <p:nvPr/>
              </p:nvSpPr>
              <p:spPr>
                <a:xfrm rot="-5400000">
                  <a:off x="97" y="1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rgbClr val="666699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605" name="Oval 840"/>
                <p:cNvSpPr/>
                <p:nvPr/>
              </p:nvSpPr>
              <p:spPr>
                <a:xfrm rot="-5400000">
                  <a:off x="193" y="0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rgbClr val="666699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14374" name="Oval 841"/>
              <p:cNvSpPr/>
              <p:nvPr/>
            </p:nvSpPr>
            <p:spPr>
              <a:xfrm rot="-5400000">
                <a:off x="672" y="91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rgbClr val="666699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rgbClr val="666699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rgbClr val="666699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rgbClr val="666699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666699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4375" name="Group 842"/>
              <p:cNvGrpSpPr/>
              <p:nvPr/>
            </p:nvGrpSpPr>
            <p:grpSpPr>
              <a:xfrm>
                <a:off x="1056" y="96"/>
                <a:ext cx="194" cy="288"/>
                <a:chOff x="0" y="0"/>
                <a:chExt cx="194" cy="288"/>
              </a:xfrm>
            </p:grpSpPr>
            <p:sp>
              <p:nvSpPr>
                <p:cNvPr id="14597" name="Oval 843"/>
                <p:cNvSpPr/>
                <p:nvPr/>
              </p:nvSpPr>
              <p:spPr>
                <a:xfrm rot="-5400000">
                  <a:off x="1" y="0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rgbClr val="666699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598" name="Oval 844"/>
                <p:cNvSpPr/>
                <p:nvPr/>
              </p:nvSpPr>
              <p:spPr>
                <a:xfrm rot="-5400000">
                  <a:off x="98" y="1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rgbClr val="666699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599" name="Oval 845"/>
                <p:cNvSpPr/>
                <p:nvPr/>
              </p:nvSpPr>
              <p:spPr>
                <a:xfrm rot="-5400000">
                  <a:off x="0" y="96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rgbClr val="666699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600" name="Oval 846"/>
                <p:cNvSpPr/>
                <p:nvPr/>
              </p:nvSpPr>
              <p:spPr>
                <a:xfrm rot="-5400000">
                  <a:off x="97" y="97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rgbClr val="666699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601" name="Oval 847"/>
                <p:cNvSpPr/>
                <p:nvPr/>
              </p:nvSpPr>
              <p:spPr>
                <a:xfrm rot="-5400000">
                  <a:off x="1" y="191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rgbClr val="666699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602" name="Oval 848"/>
                <p:cNvSpPr/>
                <p:nvPr/>
              </p:nvSpPr>
              <p:spPr>
                <a:xfrm rot="-5400000">
                  <a:off x="98" y="192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rgbClr val="666699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4376" name="Group 849"/>
              <p:cNvGrpSpPr/>
              <p:nvPr/>
            </p:nvGrpSpPr>
            <p:grpSpPr>
              <a:xfrm>
                <a:off x="960" y="384"/>
                <a:ext cx="193" cy="97"/>
                <a:chOff x="0" y="0"/>
                <a:chExt cx="193" cy="97"/>
              </a:xfrm>
            </p:grpSpPr>
            <p:sp>
              <p:nvSpPr>
                <p:cNvPr id="14595" name="Oval 850"/>
                <p:cNvSpPr/>
                <p:nvPr/>
              </p:nvSpPr>
              <p:spPr>
                <a:xfrm rot="-5400000">
                  <a:off x="0" y="0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rgbClr val="666699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596" name="Oval 851"/>
                <p:cNvSpPr/>
                <p:nvPr/>
              </p:nvSpPr>
              <p:spPr>
                <a:xfrm rot="-5400000">
                  <a:off x="97" y="1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rgbClr val="666699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4377" name="Group 852"/>
              <p:cNvGrpSpPr/>
              <p:nvPr/>
            </p:nvGrpSpPr>
            <p:grpSpPr>
              <a:xfrm>
                <a:off x="960" y="480"/>
                <a:ext cx="193" cy="97"/>
                <a:chOff x="0" y="0"/>
                <a:chExt cx="193" cy="97"/>
              </a:xfrm>
            </p:grpSpPr>
            <p:sp>
              <p:nvSpPr>
                <p:cNvPr id="14593" name="Oval 853"/>
                <p:cNvSpPr/>
                <p:nvPr/>
              </p:nvSpPr>
              <p:spPr>
                <a:xfrm rot="-5400000">
                  <a:off x="0" y="0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rgbClr val="666699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594" name="Oval 854"/>
                <p:cNvSpPr/>
                <p:nvPr/>
              </p:nvSpPr>
              <p:spPr>
                <a:xfrm rot="-5400000">
                  <a:off x="97" y="1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rgbClr val="666699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4378" name="Group 855"/>
              <p:cNvGrpSpPr/>
              <p:nvPr/>
            </p:nvGrpSpPr>
            <p:grpSpPr>
              <a:xfrm>
                <a:off x="864" y="576"/>
                <a:ext cx="193" cy="97"/>
                <a:chOff x="0" y="0"/>
                <a:chExt cx="193" cy="97"/>
              </a:xfrm>
            </p:grpSpPr>
            <p:sp>
              <p:nvSpPr>
                <p:cNvPr id="14591" name="Oval 856"/>
                <p:cNvSpPr/>
                <p:nvPr/>
              </p:nvSpPr>
              <p:spPr>
                <a:xfrm rot="-5400000">
                  <a:off x="0" y="0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rgbClr val="666699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592" name="Oval 857"/>
                <p:cNvSpPr/>
                <p:nvPr/>
              </p:nvSpPr>
              <p:spPr>
                <a:xfrm rot="-5400000">
                  <a:off x="97" y="1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rgbClr val="666699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4379" name="Group 858"/>
              <p:cNvGrpSpPr/>
              <p:nvPr/>
            </p:nvGrpSpPr>
            <p:grpSpPr>
              <a:xfrm>
                <a:off x="864" y="672"/>
                <a:ext cx="193" cy="97"/>
                <a:chOff x="0" y="0"/>
                <a:chExt cx="193" cy="97"/>
              </a:xfrm>
            </p:grpSpPr>
            <p:sp>
              <p:nvSpPr>
                <p:cNvPr id="14589" name="Oval 859"/>
                <p:cNvSpPr/>
                <p:nvPr/>
              </p:nvSpPr>
              <p:spPr>
                <a:xfrm rot="-5400000">
                  <a:off x="0" y="0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rgbClr val="666699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590" name="Oval 860"/>
                <p:cNvSpPr/>
                <p:nvPr/>
              </p:nvSpPr>
              <p:spPr>
                <a:xfrm rot="-5400000">
                  <a:off x="97" y="1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rgbClr val="666699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4380" name="Group 861"/>
              <p:cNvGrpSpPr/>
              <p:nvPr/>
            </p:nvGrpSpPr>
            <p:grpSpPr>
              <a:xfrm>
                <a:off x="767" y="768"/>
                <a:ext cx="193" cy="97"/>
                <a:chOff x="0" y="0"/>
                <a:chExt cx="193" cy="97"/>
              </a:xfrm>
            </p:grpSpPr>
            <p:sp>
              <p:nvSpPr>
                <p:cNvPr id="14587" name="Oval 862"/>
                <p:cNvSpPr/>
                <p:nvPr/>
              </p:nvSpPr>
              <p:spPr>
                <a:xfrm rot="-5400000">
                  <a:off x="0" y="0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rgbClr val="666699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588" name="Oval 863"/>
                <p:cNvSpPr/>
                <p:nvPr/>
              </p:nvSpPr>
              <p:spPr>
                <a:xfrm rot="-5400000">
                  <a:off x="97" y="1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rgbClr val="666699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14381" name="Oval 864"/>
              <p:cNvSpPr/>
              <p:nvPr/>
            </p:nvSpPr>
            <p:spPr>
              <a:xfrm rot="-5400000">
                <a:off x="768" y="864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rgbClr val="666699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rgbClr val="666699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rgbClr val="666699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rgbClr val="666699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666699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382" name="Oval 865"/>
              <p:cNvSpPr/>
              <p:nvPr/>
            </p:nvSpPr>
            <p:spPr>
              <a:xfrm rot="-5400000">
                <a:off x="2112" y="28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rgbClr val="666699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rgbClr val="666699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rgbClr val="666699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rgbClr val="666699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666699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4383" name="Group 866"/>
              <p:cNvGrpSpPr/>
              <p:nvPr/>
            </p:nvGrpSpPr>
            <p:grpSpPr>
              <a:xfrm>
                <a:off x="1248" y="288"/>
                <a:ext cx="288" cy="96"/>
                <a:chOff x="0" y="0"/>
                <a:chExt cx="288" cy="96"/>
              </a:xfrm>
            </p:grpSpPr>
            <p:sp>
              <p:nvSpPr>
                <p:cNvPr id="14584" name="Oval 867"/>
                <p:cNvSpPr/>
                <p:nvPr/>
              </p:nvSpPr>
              <p:spPr>
                <a:xfrm>
                  <a:off x="96" y="0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rgbClr val="666699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585" name="Oval 868"/>
                <p:cNvSpPr/>
                <p:nvPr/>
              </p:nvSpPr>
              <p:spPr>
                <a:xfrm>
                  <a:off x="0" y="0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rgbClr val="666699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586" name="Oval 869"/>
                <p:cNvSpPr/>
                <p:nvPr/>
              </p:nvSpPr>
              <p:spPr>
                <a:xfrm>
                  <a:off x="192" y="0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rgbClr val="666699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4384" name="Group 870"/>
              <p:cNvGrpSpPr/>
              <p:nvPr/>
            </p:nvGrpSpPr>
            <p:grpSpPr>
              <a:xfrm>
                <a:off x="1536" y="288"/>
                <a:ext cx="288" cy="96"/>
                <a:chOff x="0" y="0"/>
                <a:chExt cx="288" cy="96"/>
              </a:xfrm>
            </p:grpSpPr>
            <p:sp>
              <p:nvSpPr>
                <p:cNvPr id="14581" name="Oval 871"/>
                <p:cNvSpPr/>
                <p:nvPr/>
              </p:nvSpPr>
              <p:spPr>
                <a:xfrm>
                  <a:off x="96" y="0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rgbClr val="666699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582" name="Oval 872"/>
                <p:cNvSpPr/>
                <p:nvPr/>
              </p:nvSpPr>
              <p:spPr>
                <a:xfrm>
                  <a:off x="0" y="0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rgbClr val="666699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583" name="Oval 873"/>
                <p:cNvSpPr/>
                <p:nvPr/>
              </p:nvSpPr>
              <p:spPr>
                <a:xfrm>
                  <a:off x="192" y="0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rgbClr val="666699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4385" name="Group 874"/>
              <p:cNvGrpSpPr/>
              <p:nvPr/>
            </p:nvGrpSpPr>
            <p:grpSpPr>
              <a:xfrm>
                <a:off x="1824" y="288"/>
                <a:ext cx="288" cy="96"/>
                <a:chOff x="0" y="0"/>
                <a:chExt cx="288" cy="96"/>
              </a:xfrm>
            </p:grpSpPr>
            <p:sp>
              <p:nvSpPr>
                <p:cNvPr id="14578" name="Oval 875"/>
                <p:cNvSpPr/>
                <p:nvPr/>
              </p:nvSpPr>
              <p:spPr>
                <a:xfrm>
                  <a:off x="96" y="0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rgbClr val="666699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579" name="Oval 876"/>
                <p:cNvSpPr/>
                <p:nvPr/>
              </p:nvSpPr>
              <p:spPr>
                <a:xfrm>
                  <a:off x="0" y="0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rgbClr val="666699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580" name="Oval 877"/>
                <p:cNvSpPr/>
                <p:nvPr/>
              </p:nvSpPr>
              <p:spPr>
                <a:xfrm>
                  <a:off x="192" y="0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rgbClr val="666699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4386" name="Group 878"/>
              <p:cNvGrpSpPr/>
              <p:nvPr/>
            </p:nvGrpSpPr>
            <p:grpSpPr>
              <a:xfrm>
                <a:off x="2016" y="384"/>
                <a:ext cx="192" cy="768"/>
                <a:chOff x="0" y="0"/>
                <a:chExt cx="192" cy="768"/>
              </a:xfrm>
            </p:grpSpPr>
            <p:grpSp>
              <p:nvGrpSpPr>
                <p:cNvPr id="14554" name="Group 879"/>
                <p:cNvGrpSpPr/>
                <p:nvPr/>
              </p:nvGrpSpPr>
              <p:grpSpPr>
                <a:xfrm>
                  <a:off x="0" y="0"/>
                  <a:ext cx="96" cy="768"/>
                  <a:chOff x="0" y="0"/>
                  <a:chExt cx="96" cy="768"/>
                </a:xfrm>
              </p:grpSpPr>
              <p:grpSp>
                <p:nvGrpSpPr>
                  <p:cNvPr id="14567" name="Group 880"/>
                  <p:cNvGrpSpPr/>
                  <p:nvPr/>
                </p:nvGrpSpPr>
                <p:grpSpPr>
                  <a:xfrm>
                    <a:off x="0" y="0"/>
                    <a:ext cx="96" cy="288"/>
                    <a:chOff x="0" y="0"/>
                    <a:chExt cx="96" cy="288"/>
                  </a:xfrm>
                </p:grpSpPr>
                <p:sp>
                  <p:nvSpPr>
                    <p:cNvPr id="14575" name="Oval 881"/>
                    <p:cNvSpPr/>
                    <p:nvPr/>
                  </p:nvSpPr>
                  <p:spPr>
                    <a:xfrm>
                      <a:off x="0" y="0"/>
                      <a:ext cx="96" cy="96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576" name="Oval 882"/>
                    <p:cNvSpPr/>
                    <p:nvPr/>
                  </p:nvSpPr>
                  <p:spPr>
                    <a:xfrm>
                      <a:off x="0" y="96"/>
                      <a:ext cx="96" cy="96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577" name="Oval 883"/>
                    <p:cNvSpPr/>
                    <p:nvPr/>
                  </p:nvSpPr>
                  <p:spPr>
                    <a:xfrm>
                      <a:off x="0" y="192"/>
                      <a:ext cx="96" cy="96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14568" name="Group 884"/>
                  <p:cNvGrpSpPr/>
                  <p:nvPr/>
                </p:nvGrpSpPr>
                <p:grpSpPr>
                  <a:xfrm>
                    <a:off x="0" y="288"/>
                    <a:ext cx="96" cy="288"/>
                    <a:chOff x="0" y="0"/>
                    <a:chExt cx="96" cy="288"/>
                  </a:xfrm>
                </p:grpSpPr>
                <p:sp>
                  <p:nvSpPr>
                    <p:cNvPr id="14572" name="Oval 885"/>
                    <p:cNvSpPr/>
                    <p:nvPr/>
                  </p:nvSpPr>
                  <p:spPr>
                    <a:xfrm>
                      <a:off x="0" y="0"/>
                      <a:ext cx="96" cy="96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573" name="Oval 886"/>
                    <p:cNvSpPr/>
                    <p:nvPr/>
                  </p:nvSpPr>
                  <p:spPr>
                    <a:xfrm>
                      <a:off x="0" y="96"/>
                      <a:ext cx="96" cy="96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574" name="Oval 887"/>
                    <p:cNvSpPr/>
                    <p:nvPr/>
                  </p:nvSpPr>
                  <p:spPr>
                    <a:xfrm>
                      <a:off x="0" y="192"/>
                      <a:ext cx="96" cy="96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14569" name="Group 888"/>
                  <p:cNvGrpSpPr/>
                  <p:nvPr/>
                </p:nvGrpSpPr>
                <p:grpSpPr>
                  <a:xfrm>
                    <a:off x="0" y="576"/>
                    <a:ext cx="96" cy="192"/>
                    <a:chOff x="0" y="0"/>
                    <a:chExt cx="96" cy="192"/>
                  </a:xfrm>
                </p:grpSpPr>
                <p:sp>
                  <p:nvSpPr>
                    <p:cNvPr id="14570" name="Oval 889"/>
                    <p:cNvSpPr/>
                    <p:nvPr/>
                  </p:nvSpPr>
                  <p:spPr>
                    <a:xfrm>
                      <a:off x="0" y="0"/>
                      <a:ext cx="96" cy="96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571" name="Oval 890"/>
                    <p:cNvSpPr/>
                    <p:nvPr/>
                  </p:nvSpPr>
                  <p:spPr>
                    <a:xfrm>
                      <a:off x="0" y="96"/>
                      <a:ext cx="96" cy="96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</p:grpSp>
            <p:grpSp>
              <p:nvGrpSpPr>
                <p:cNvPr id="14555" name="Group 891"/>
                <p:cNvGrpSpPr/>
                <p:nvPr/>
              </p:nvGrpSpPr>
              <p:grpSpPr>
                <a:xfrm>
                  <a:off x="96" y="0"/>
                  <a:ext cx="96" cy="768"/>
                  <a:chOff x="0" y="0"/>
                  <a:chExt cx="96" cy="768"/>
                </a:xfrm>
              </p:grpSpPr>
              <p:grpSp>
                <p:nvGrpSpPr>
                  <p:cNvPr id="14556" name="Group 892"/>
                  <p:cNvGrpSpPr/>
                  <p:nvPr/>
                </p:nvGrpSpPr>
                <p:grpSpPr>
                  <a:xfrm>
                    <a:off x="0" y="0"/>
                    <a:ext cx="96" cy="288"/>
                    <a:chOff x="0" y="0"/>
                    <a:chExt cx="96" cy="288"/>
                  </a:xfrm>
                </p:grpSpPr>
                <p:sp>
                  <p:nvSpPr>
                    <p:cNvPr id="14564" name="Oval 893"/>
                    <p:cNvSpPr/>
                    <p:nvPr/>
                  </p:nvSpPr>
                  <p:spPr>
                    <a:xfrm>
                      <a:off x="0" y="0"/>
                      <a:ext cx="96" cy="96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565" name="Oval 894"/>
                    <p:cNvSpPr/>
                    <p:nvPr/>
                  </p:nvSpPr>
                  <p:spPr>
                    <a:xfrm>
                      <a:off x="0" y="96"/>
                      <a:ext cx="96" cy="96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566" name="Oval 895"/>
                    <p:cNvSpPr/>
                    <p:nvPr/>
                  </p:nvSpPr>
                  <p:spPr>
                    <a:xfrm>
                      <a:off x="0" y="192"/>
                      <a:ext cx="96" cy="96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14557" name="Group 896"/>
                  <p:cNvGrpSpPr/>
                  <p:nvPr/>
                </p:nvGrpSpPr>
                <p:grpSpPr>
                  <a:xfrm>
                    <a:off x="0" y="288"/>
                    <a:ext cx="96" cy="288"/>
                    <a:chOff x="0" y="0"/>
                    <a:chExt cx="96" cy="288"/>
                  </a:xfrm>
                </p:grpSpPr>
                <p:sp>
                  <p:nvSpPr>
                    <p:cNvPr id="14561" name="Oval 897"/>
                    <p:cNvSpPr/>
                    <p:nvPr/>
                  </p:nvSpPr>
                  <p:spPr>
                    <a:xfrm>
                      <a:off x="0" y="0"/>
                      <a:ext cx="96" cy="96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562" name="Oval 898"/>
                    <p:cNvSpPr/>
                    <p:nvPr/>
                  </p:nvSpPr>
                  <p:spPr>
                    <a:xfrm>
                      <a:off x="0" y="96"/>
                      <a:ext cx="96" cy="96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563" name="Oval 899"/>
                    <p:cNvSpPr/>
                    <p:nvPr/>
                  </p:nvSpPr>
                  <p:spPr>
                    <a:xfrm>
                      <a:off x="0" y="192"/>
                      <a:ext cx="96" cy="96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14558" name="Group 900"/>
                  <p:cNvGrpSpPr/>
                  <p:nvPr/>
                </p:nvGrpSpPr>
                <p:grpSpPr>
                  <a:xfrm>
                    <a:off x="0" y="576"/>
                    <a:ext cx="96" cy="192"/>
                    <a:chOff x="0" y="0"/>
                    <a:chExt cx="96" cy="192"/>
                  </a:xfrm>
                </p:grpSpPr>
                <p:sp>
                  <p:nvSpPr>
                    <p:cNvPr id="14559" name="Oval 901"/>
                    <p:cNvSpPr/>
                    <p:nvPr/>
                  </p:nvSpPr>
                  <p:spPr>
                    <a:xfrm>
                      <a:off x="0" y="0"/>
                      <a:ext cx="96" cy="96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560" name="Oval 902"/>
                    <p:cNvSpPr/>
                    <p:nvPr/>
                  </p:nvSpPr>
                  <p:spPr>
                    <a:xfrm>
                      <a:off x="0" y="96"/>
                      <a:ext cx="96" cy="96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</p:grpSp>
          </p:grpSp>
          <p:grpSp>
            <p:nvGrpSpPr>
              <p:cNvPr id="14387" name="Group 903"/>
              <p:cNvGrpSpPr/>
              <p:nvPr/>
            </p:nvGrpSpPr>
            <p:grpSpPr>
              <a:xfrm>
                <a:off x="864" y="864"/>
                <a:ext cx="192" cy="576"/>
                <a:chOff x="0" y="0"/>
                <a:chExt cx="192" cy="576"/>
              </a:xfrm>
            </p:grpSpPr>
            <p:grpSp>
              <p:nvGrpSpPr>
                <p:cNvPr id="14538" name="Group 904"/>
                <p:cNvGrpSpPr/>
                <p:nvPr/>
              </p:nvGrpSpPr>
              <p:grpSpPr>
                <a:xfrm>
                  <a:off x="0" y="0"/>
                  <a:ext cx="96" cy="288"/>
                  <a:chOff x="0" y="0"/>
                  <a:chExt cx="96" cy="288"/>
                </a:xfrm>
              </p:grpSpPr>
              <p:sp>
                <p:nvSpPr>
                  <p:cNvPr id="14551" name="Oval 905"/>
                  <p:cNvSpPr/>
                  <p:nvPr/>
                </p:nvSpPr>
                <p:spPr>
                  <a:xfrm>
                    <a:off x="0" y="0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4552" name="Oval 906"/>
                  <p:cNvSpPr/>
                  <p:nvPr/>
                </p:nvSpPr>
                <p:spPr>
                  <a:xfrm>
                    <a:off x="0" y="96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4553" name="Oval 907"/>
                  <p:cNvSpPr/>
                  <p:nvPr/>
                </p:nvSpPr>
                <p:spPr>
                  <a:xfrm>
                    <a:off x="0" y="192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4539" name="Group 908"/>
                <p:cNvGrpSpPr/>
                <p:nvPr/>
              </p:nvGrpSpPr>
              <p:grpSpPr>
                <a:xfrm>
                  <a:off x="0" y="288"/>
                  <a:ext cx="96" cy="288"/>
                  <a:chOff x="0" y="0"/>
                  <a:chExt cx="96" cy="288"/>
                </a:xfrm>
              </p:grpSpPr>
              <p:sp>
                <p:nvSpPr>
                  <p:cNvPr id="14548" name="Oval 909"/>
                  <p:cNvSpPr/>
                  <p:nvPr/>
                </p:nvSpPr>
                <p:spPr>
                  <a:xfrm>
                    <a:off x="0" y="0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4549" name="Oval 910"/>
                  <p:cNvSpPr/>
                  <p:nvPr/>
                </p:nvSpPr>
                <p:spPr>
                  <a:xfrm>
                    <a:off x="0" y="96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4550" name="Oval 911"/>
                  <p:cNvSpPr/>
                  <p:nvPr/>
                </p:nvSpPr>
                <p:spPr>
                  <a:xfrm>
                    <a:off x="0" y="192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4540" name="Group 912"/>
                <p:cNvGrpSpPr/>
                <p:nvPr/>
              </p:nvGrpSpPr>
              <p:grpSpPr>
                <a:xfrm>
                  <a:off x="96" y="0"/>
                  <a:ext cx="96" cy="288"/>
                  <a:chOff x="0" y="0"/>
                  <a:chExt cx="96" cy="288"/>
                </a:xfrm>
              </p:grpSpPr>
              <p:sp>
                <p:nvSpPr>
                  <p:cNvPr id="14545" name="Oval 913"/>
                  <p:cNvSpPr/>
                  <p:nvPr/>
                </p:nvSpPr>
                <p:spPr>
                  <a:xfrm>
                    <a:off x="0" y="0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4546" name="Oval 914"/>
                  <p:cNvSpPr/>
                  <p:nvPr/>
                </p:nvSpPr>
                <p:spPr>
                  <a:xfrm>
                    <a:off x="0" y="96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4547" name="Oval 915"/>
                  <p:cNvSpPr/>
                  <p:nvPr/>
                </p:nvSpPr>
                <p:spPr>
                  <a:xfrm>
                    <a:off x="0" y="192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4541" name="Group 916"/>
                <p:cNvGrpSpPr/>
                <p:nvPr/>
              </p:nvGrpSpPr>
              <p:grpSpPr>
                <a:xfrm>
                  <a:off x="96" y="288"/>
                  <a:ext cx="96" cy="288"/>
                  <a:chOff x="0" y="0"/>
                  <a:chExt cx="96" cy="288"/>
                </a:xfrm>
              </p:grpSpPr>
              <p:sp>
                <p:nvSpPr>
                  <p:cNvPr id="14542" name="Oval 917"/>
                  <p:cNvSpPr/>
                  <p:nvPr/>
                </p:nvSpPr>
                <p:spPr>
                  <a:xfrm>
                    <a:off x="0" y="0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4543" name="Oval 918"/>
                  <p:cNvSpPr/>
                  <p:nvPr/>
                </p:nvSpPr>
                <p:spPr>
                  <a:xfrm>
                    <a:off x="0" y="96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4544" name="Oval 919"/>
                  <p:cNvSpPr/>
                  <p:nvPr/>
                </p:nvSpPr>
                <p:spPr>
                  <a:xfrm>
                    <a:off x="0" y="192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4388" name="Group 920"/>
              <p:cNvGrpSpPr/>
              <p:nvPr/>
            </p:nvGrpSpPr>
            <p:grpSpPr>
              <a:xfrm>
                <a:off x="864" y="1632"/>
                <a:ext cx="192" cy="192"/>
                <a:chOff x="0" y="0"/>
                <a:chExt cx="192" cy="192"/>
              </a:xfrm>
            </p:grpSpPr>
            <p:grpSp>
              <p:nvGrpSpPr>
                <p:cNvPr id="14532" name="Group 921"/>
                <p:cNvGrpSpPr/>
                <p:nvPr/>
              </p:nvGrpSpPr>
              <p:grpSpPr>
                <a:xfrm>
                  <a:off x="0" y="0"/>
                  <a:ext cx="96" cy="192"/>
                  <a:chOff x="0" y="0"/>
                  <a:chExt cx="96" cy="192"/>
                </a:xfrm>
              </p:grpSpPr>
              <p:sp>
                <p:nvSpPr>
                  <p:cNvPr id="14536" name="Oval 922"/>
                  <p:cNvSpPr/>
                  <p:nvPr/>
                </p:nvSpPr>
                <p:spPr>
                  <a:xfrm>
                    <a:off x="0" y="0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4537" name="Oval 923"/>
                  <p:cNvSpPr/>
                  <p:nvPr/>
                </p:nvSpPr>
                <p:spPr>
                  <a:xfrm>
                    <a:off x="0" y="96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4533" name="Group 924"/>
                <p:cNvGrpSpPr/>
                <p:nvPr/>
              </p:nvGrpSpPr>
              <p:grpSpPr>
                <a:xfrm>
                  <a:off x="96" y="0"/>
                  <a:ext cx="96" cy="192"/>
                  <a:chOff x="0" y="0"/>
                  <a:chExt cx="96" cy="192"/>
                </a:xfrm>
              </p:grpSpPr>
              <p:sp>
                <p:nvSpPr>
                  <p:cNvPr id="14534" name="Oval 925"/>
                  <p:cNvSpPr/>
                  <p:nvPr/>
                </p:nvSpPr>
                <p:spPr>
                  <a:xfrm>
                    <a:off x="0" y="0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4535" name="Oval 926"/>
                  <p:cNvSpPr/>
                  <p:nvPr/>
                </p:nvSpPr>
                <p:spPr>
                  <a:xfrm>
                    <a:off x="0" y="96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14389" name="Oval 927"/>
              <p:cNvSpPr/>
              <p:nvPr/>
            </p:nvSpPr>
            <p:spPr>
              <a:xfrm rot="-5400000">
                <a:off x="2208" y="28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rgbClr val="666699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rgbClr val="666699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rgbClr val="666699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rgbClr val="666699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666699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390" name="Oval 928"/>
              <p:cNvSpPr/>
              <p:nvPr/>
            </p:nvSpPr>
            <p:spPr>
              <a:xfrm rot="-5400000">
                <a:off x="2208" y="384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rgbClr val="666699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rgbClr val="666699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rgbClr val="666699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rgbClr val="666699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666699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391" name="Oval 929"/>
              <p:cNvSpPr/>
              <p:nvPr/>
            </p:nvSpPr>
            <p:spPr>
              <a:xfrm rot="-5400000">
                <a:off x="2112" y="19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rgbClr val="666699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rgbClr val="666699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rgbClr val="666699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rgbClr val="666699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666699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4392" name="Group 930"/>
              <p:cNvGrpSpPr/>
              <p:nvPr/>
            </p:nvGrpSpPr>
            <p:grpSpPr>
              <a:xfrm>
                <a:off x="864" y="1440"/>
                <a:ext cx="192" cy="192"/>
                <a:chOff x="0" y="0"/>
                <a:chExt cx="192" cy="192"/>
              </a:xfrm>
            </p:grpSpPr>
            <p:grpSp>
              <p:nvGrpSpPr>
                <p:cNvPr id="14526" name="Group 931"/>
                <p:cNvGrpSpPr/>
                <p:nvPr/>
              </p:nvGrpSpPr>
              <p:grpSpPr>
                <a:xfrm>
                  <a:off x="0" y="0"/>
                  <a:ext cx="96" cy="192"/>
                  <a:chOff x="0" y="0"/>
                  <a:chExt cx="96" cy="192"/>
                </a:xfrm>
              </p:grpSpPr>
              <p:sp>
                <p:nvSpPr>
                  <p:cNvPr id="14530" name="Oval 932"/>
                  <p:cNvSpPr/>
                  <p:nvPr/>
                </p:nvSpPr>
                <p:spPr>
                  <a:xfrm>
                    <a:off x="0" y="0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4531" name="Oval 933"/>
                  <p:cNvSpPr/>
                  <p:nvPr/>
                </p:nvSpPr>
                <p:spPr>
                  <a:xfrm>
                    <a:off x="0" y="96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4527" name="Group 934"/>
                <p:cNvGrpSpPr/>
                <p:nvPr/>
              </p:nvGrpSpPr>
              <p:grpSpPr>
                <a:xfrm>
                  <a:off x="96" y="0"/>
                  <a:ext cx="96" cy="192"/>
                  <a:chOff x="0" y="0"/>
                  <a:chExt cx="96" cy="192"/>
                </a:xfrm>
              </p:grpSpPr>
              <p:sp>
                <p:nvSpPr>
                  <p:cNvPr id="14528" name="Oval 935"/>
                  <p:cNvSpPr/>
                  <p:nvPr/>
                </p:nvSpPr>
                <p:spPr>
                  <a:xfrm>
                    <a:off x="0" y="0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4529" name="Oval 936"/>
                  <p:cNvSpPr/>
                  <p:nvPr/>
                </p:nvSpPr>
                <p:spPr>
                  <a:xfrm>
                    <a:off x="0" y="96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4393" name="Group 937"/>
              <p:cNvGrpSpPr/>
              <p:nvPr/>
            </p:nvGrpSpPr>
            <p:grpSpPr>
              <a:xfrm>
                <a:off x="864" y="1824"/>
                <a:ext cx="192" cy="192"/>
                <a:chOff x="0" y="0"/>
                <a:chExt cx="192" cy="192"/>
              </a:xfrm>
            </p:grpSpPr>
            <p:grpSp>
              <p:nvGrpSpPr>
                <p:cNvPr id="14520" name="Group 938"/>
                <p:cNvGrpSpPr/>
                <p:nvPr/>
              </p:nvGrpSpPr>
              <p:grpSpPr>
                <a:xfrm>
                  <a:off x="0" y="0"/>
                  <a:ext cx="96" cy="192"/>
                  <a:chOff x="0" y="0"/>
                  <a:chExt cx="96" cy="192"/>
                </a:xfrm>
              </p:grpSpPr>
              <p:sp>
                <p:nvSpPr>
                  <p:cNvPr id="14524" name="Oval 939"/>
                  <p:cNvSpPr/>
                  <p:nvPr/>
                </p:nvSpPr>
                <p:spPr>
                  <a:xfrm>
                    <a:off x="0" y="0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4525" name="Oval 940"/>
                  <p:cNvSpPr/>
                  <p:nvPr/>
                </p:nvSpPr>
                <p:spPr>
                  <a:xfrm>
                    <a:off x="0" y="96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4521" name="Group 941"/>
                <p:cNvGrpSpPr/>
                <p:nvPr/>
              </p:nvGrpSpPr>
              <p:grpSpPr>
                <a:xfrm>
                  <a:off x="96" y="0"/>
                  <a:ext cx="96" cy="192"/>
                  <a:chOff x="0" y="0"/>
                  <a:chExt cx="96" cy="192"/>
                </a:xfrm>
              </p:grpSpPr>
              <p:sp>
                <p:nvSpPr>
                  <p:cNvPr id="14522" name="Oval 942"/>
                  <p:cNvSpPr/>
                  <p:nvPr/>
                </p:nvSpPr>
                <p:spPr>
                  <a:xfrm>
                    <a:off x="0" y="0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4523" name="Oval 943"/>
                  <p:cNvSpPr/>
                  <p:nvPr/>
                </p:nvSpPr>
                <p:spPr>
                  <a:xfrm>
                    <a:off x="0" y="96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4394" name="Group 944"/>
              <p:cNvGrpSpPr/>
              <p:nvPr/>
            </p:nvGrpSpPr>
            <p:grpSpPr>
              <a:xfrm>
                <a:off x="864" y="2016"/>
                <a:ext cx="192" cy="192"/>
                <a:chOff x="0" y="0"/>
                <a:chExt cx="192" cy="192"/>
              </a:xfrm>
            </p:grpSpPr>
            <p:grpSp>
              <p:nvGrpSpPr>
                <p:cNvPr id="14514" name="Group 945"/>
                <p:cNvGrpSpPr/>
                <p:nvPr/>
              </p:nvGrpSpPr>
              <p:grpSpPr>
                <a:xfrm>
                  <a:off x="0" y="0"/>
                  <a:ext cx="96" cy="192"/>
                  <a:chOff x="0" y="0"/>
                  <a:chExt cx="96" cy="192"/>
                </a:xfrm>
              </p:grpSpPr>
              <p:sp>
                <p:nvSpPr>
                  <p:cNvPr id="14518" name="Oval 946"/>
                  <p:cNvSpPr/>
                  <p:nvPr/>
                </p:nvSpPr>
                <p:spPr>
                  <a:xfrm>
                    <a:off x="0" y="0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4519" name="Oval 947"/>
                  <p:cNvSpPr/>
                  <p:nvPr/>
                </p:nvSpPr>
                <p:spPr>
                  <a:xfrm>
                    <a:off x="0" y="96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4515" name="Group 948"/>
                <p:cNvGrpSpPr/>
                <p:nvPr/>
              </p:nvGrpSpPr>
              <p:grpSpPr>
                <a:xfrm>
                  <a:off x="96" y="0"/>
                  <a:ext cx="96" cy="192"/>
                  <a:chOff x="0" y="0"/>
                  <a:chExt cx="96" cy="192"/>
                </a:xfrm>
              </p:grpSpPr>
              <p:sp>
                <p:nvSpPr>
                  <p:cNvPr id="14516" name="Oval 949"/>
                  <p:cNvSpPr/>
                  <p:nvPr/>
                </p:nvSpPr>
                <p:spPr>
                  <a:xfrm>
                    <a:off x="0" y="0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4517" name="Oval 950"/>
                  <p:cNvSpPr/>
                  <p:nvPr/>
                </p:nvSpPr>
                <p:spPr>
                  <a:xfrm>
                    <a:off x="0" y="96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4395" name="Group 951"/>
              <p:cNvGrpSpPr/>
              <p:nvPr/>
            </p:nvGrpSpPr>
            <p:grpSpPr>
              <a:xfrm>
                <a:off x="1056" y="2112"/>
                <a:ext cx="192" cy="192"/>
                <a:chOff x="0" y="0"/>
                <a:chExt cx="192" cy="192"/>
              </a:xfrm>
            </p:grpSpPr>
            <p:grpSp>
              <p:nvGrpSpPr>
                <p:cNvPr id="14508" name="Group 952"/>
                <p:cNvGrpSpPr/>
                <p:nvPr/>
              </p:nvGrpSpPr>
              <p:grpSpPr>
                <a:xfrm>
                  <a:off x="0" y="0"/>
                  <a:ext cx="96" cy="192"/>
                  <a:chOff x="0" y="0"/>
                  <a:chExt cx="96" cy="192"/>
                </a:xfrm>
              </p:grpSpPr>
              <p:sp>
                <p:nvSpPr>
                  <p:cNvPr id="14512" name="Oval 953"/>
                  <p:cNvSpPr/>
                  <p:nvPr/>
                </p:nvSpPr>
                <p:spPr>
                  <a:xfrm>
                    <a:off x="0" y="0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4513" name="Oval 954"/>
                  <p:cNvSpPr/>
                  <p:nvPr/>
                </p:nvSpPr>
                <p:spPr>
                  <a:xfrm>
                    <a:off x="0" y="96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4509" name="Group 955"/>
                <p:cNvGrpSpPr/>
                <p:nvPr/>
              </p:nvGrpSpPr>
              <p:grpSpPr>
                <a:xfrm>
                  <a:off x="96" y="0"/>
                  <a:ext cx="96" cy="192"/>
                  <a:chOff x="0" y="0"/>
                  <a:chExt cx="96" cy="192"/>
                </a:xfrm>
              </p:grpSpPr>
              <p:sp>
                <p:nvSpPr>
                  <p:cNvPr id="14510" name="Oval 956"/>
                  <p:cNvSpPr/>
                  <p:nvPr/>
                </p:nvSpPr>
                <p:spPr>
                  <a:xfrm>
                    <a:off x="0" y="0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4511" name="Oval 957"/>
                  <p:cNvSpPr/>
                  <p:nvPr/>
                </p:nvSpPr>
                <p:spPr>
                  <a:xfrm>
                    <a:off x="0" y="96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4396" name="Group 958"/>
              <p:cNvGrpSpPr/>
              <p:nvPr/>
            </p:nvGrpSpPr>
            <p:grpSpPr>
              <a:xfrm>
                <a:off x="1248" y="2112"/>
                <a:ext cx="192" cy="192"/>
                <a:chOff x="0" y="0"/>
                <a:chExt cx="192" cy="192"/>
              </a:xfrm>
            </p:grpSpPr>
            <p:grpSp>
              <p:nvGrpSpPr>
                <p:cNvPr id="14502" name="Group 959"/>
                <p:cNvGrpSpPr/>
                <p:nvPr/>
              </p:nvGrpSpPr>
              <p:grpSpPr>
                <a:xfrm>
                  <a:off x="0" y="0"/>
                  <a:ext cx="96" cy="192"/>
                  <a:chOff x="0" y="0"/>
                  <a:chExt cx="96" cy="192"/>
                </a:xfrm>
              </p:grpSpPr>
              <p:sp>
                <p:nvSpPr>
                  <p:cNvPr id="14506" name="Oval 960"/>
                  <p:cNvSpPr/>
                  <p:nvPr/>
                </p:nvSpPr>
                <p:spPr>
                  <a:xfrm>
                    <a:off x="0" y="0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4507" name="Oval 961"/>
                  <p:cNvSpPr/>
                  <p:nvPr/>
                </p:nvSpPr>
                <p:spPr>
                  <a:xfrm>
                    <a:off x="0" y="96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4503" name="Group 962"/>
                <p:cNvGrpSpPr/>
                <p:nvPr/>
              </p:nvGrpSpPr>
              <p:grpSpPr>
                <a:xfrm>
                  <a:off x="96" y="0"/>
                  <a:ext cx="96" cy="192"/>
                  <a:chOff x="0" y="0"/>
                  <a:chExt cx="96" cy="192"/>
                </a:xfrm>
              </p:grpSpPr>
              <p:sp>
                <p:nvSpPr>
                  <p:cNvPr id="14504" name="Oval 963"/>
                  <p:cNvSpPr/>
                  <p:nvPr/>
                </p:nvSpPr>
                <p:spPr>
                  <a:xfrm>
                    <a:off x="0" y="0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4505" name="Oval 964"/>
                  <p:cNvSpPr/>
                  <p:nvPr/>
                </p:nvSpPr>
                <p:spPr>
                  <a:xfrm>
                    <a:off x="0" y="96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4397" name="Group 965"/>
              <p:cNvGrpSpPr/>
              <p:nvPr/>
            </p:nvGrpSpPr>
            <p:grpSpPr>
              <a:xfrm>
                <a:off x="1440" y="2112"/>
                <a:ext cx="384" cy="192"/>
                <a:chOff x="0" y="0"/>
                <a:chExt cx="384" cy="192"/>
              </a:xfrm>
            </p:grpSpPr>
            <p:grpSp>
              <p:nvGrpSpPr>
                <p:cNvPr id="14488" name="Group 966"/>
                <p:cNvGrpSpPr/>
                <p:nvPr/>
              </p:nvGrpSpPr>
              <p:grpSpPr>
                <a:xfrm>
                  <a:off x="0" y="0"/>
                  <a:ext cx="192" cy="192"/>
                  <a:chOff x="0" y="0"/>
                  <a:chExt cx="192" cy="192"/>
                </a:xfrm>
              </p:grpSpPr>
              <p:grpSp>
                <p:nvGrpSpPr>
                  <p:cNvPr id="14496" name="Group 967"/>
                  <p:cNvGrpSpPr/>
                  <p:nvPr/>
                </p:nvGrpSpPr>
                <p:grpSpPr>
                  <a:xfrm>
                    <a:off x="0" y="0"/>
                    <a:ext cx="96" cy="192"/>
                    <a:chOff x="0" y="0"/>
                    <a:chExt cx="96" cy="192"/>
                  </a:xfrm>
                </p:grpSpPr>
                <p:sp>
                  <p:nvSpPr>
                    <p:cNvPr id="14500" name="Oval 968"/>
                    <p:cNvSpPr/>
                    <p:nvPr/>
                  </p:nvSpPr>
                  <p:spPr>
                    <a:xfrm>
                      <a:off x="0" y="0"/>
                      <a:ext cx="96" cy="96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501" name="Oval 969"/>
                    <p:cNvSpPr/>
                    <p:nvPr/>
                  </p:nvSpPr>
                  <p:spPr>
                    <a:xfrm>
                      <a:off x="0" y="96"/>
                      <a:ext cx="96" cy="96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14497" name="Group 970"/>
                  <p:cNvGrpSpPr/>
                  <p:nvPr/>
                </p:nvGrpSpPr>
                <p:grpSpPr>
                  <a:xfrm>
                    <a:off x="96" y="0"/>
                    <a:ext cx="96" cy="192"/>
                    <a:chOff x="0" y="0"/>
                    <a:chExt cx="96" cy="192"/>
                  </a:xfrm>
                </p:grpSpPr>
                <p:sp>
                  <p:nvSpPr>
                    <p:cNvPr id="14498" name="Oval 971"/>
                    <p:cNvSpPr/>
                    <p:nvPr/>
                  </p:nvSpPr>
                  <p:spPr>
                    <a:xfrm>
                      <a:off x="0" y="0"/>
                      <a:ext cx="96" cy="96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499" name="Oval 972"/>
                    <p:cNvSpPr/>
                    <p:nvPr/>
                  </p:nvSpPr>
                  <p:spPr>
                    <a:xfrm>
                      <a:off x="0" y="96"/>
                      <a:ext cx="96" cy="96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</p:grpSp>
            <p:grpSp>
              <p:nvGrpSpPr>
                <p:cNvPr id="14489" name="Group 973"/>
                <p:cNvGrpSpPr/>
                <p:nvPr/>
              </p:nvGrpSpPr>
              <p:grpSpPr>
                <a:xfrm>
                  <a:off x="192" y="0"/>
                  <a:ext cx="192" cy="192"/>
                  <a:chOff x="0" y="0"/>
                  <a:chExt cx="192" cy="192"/>
                </a:xfrm>
              </p:grpSpPr>
              <p:grpSp>
                <p:nvGrpSpPr>
                  <p:cNvPr id="14490" name="Group 974"/>
                  <p:cNvGrpSpPr/>
                  <p:nvPr/>
                </p:nvGrpSpPr>
                <p:grpSpPr>
                  <a:xfrm>
                    <a:off x="0" y="0"/>
                    <a:ext cx="96" cy="192"/>
                    <a:chOff x="0" y="0"/>
                    <a:chExt cx="96" cy="192"/>
                  </a:xfrm>
                </p:grpSpPr>
                <p:sp>
                  <p:nvSpPr>
                    <p:cNvPr id="14494" name="Oval 975"/>
                    <p:cNvSpPr/>
                    <p:nvPr/>
                  </p:nvSpPr>
                  <p:spPr>
                    <a:xfrm>
                      <a:off x="0" y="0"/>
                      <a:ext cx="96" cy="96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495" name="Oval 976"/>
                    <p:cNvSpPr/>
                    <p:nvPr/>
                  </p:nvSpPr>
                  <p:spPr>
                    <a:xfrm>
                      <a:off x="0" y="96"/>
                      <a:ext cx="96" cy="96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14491" name="Group 977"/>
                  <p:cNvGrpSpPr/>
                  <p:nvPr/>
                </p:nvGrpSpPr>
                <p:grpSpPr>
                  <a:xfrm>
                    <a:off x="96" y="0"/>
                    <a:ext cx="96" cy="192"/>
                    <a:chOff x="0" y="0"/>
                    <a:chExt cx="96" cy="192"/>
                  </a:xfrm>
                </p:grpSpPr>
                <p:sp>
                  <p:nvSpPr>
                    <p:cNvPr id="14492" name="Oval 978"/>
                    <p:cNvSpPr/>
                    <p:nvPr/>
                  </p:nvSpPr>
                  <p:spPr>
                    <a:xfrm>
                      <a:off x="0" y="0"/>
                      <a:ext cx="96" cy="96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493" name="Oval 979"/>
                    <p:cNvSpPr/>
                    <p:nvPr/>
                  </p:nvSpPr>
                  <p:spPr>
                    <a:xfrm>
                      <a:off x="0" y="96"/>
                      <a:ext cx="96" cy="96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</p:grpSp>
          </p:grpSp>
          <p:sp>
            <p:nvSpPr>
              <p:cNvPr id="14398" name="Oval 980"/>
              <p:cNvSpPr/>
              <p:nvPr/>
            </p:nvSpPr>
            <p:spPr>
              <a:xfrm>
                <a:off x="1632" y="76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rgbClr val="666699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rgbClr val="666699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rgbClr val="666699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rgbClr val="666699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666699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399" name="Oval 981"/>
              <p:cNvSpPr/>
              <p:nvPr/>
            </p:nvSpPr>
            <p:spPr>
              <a:xfrm>
                <a:off x="960" y="220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rgbClr val="666699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rgbClr val="666699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rgbClr val="666699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rgbClr val="666699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666699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400" name="Oval 982"/>
              <p:cNvSpPr/>
              <p:nvPr/>
            </p:nvSpPr>
            <p:spPr>
              <a:xfrm>
                <a:off x="1440" y="864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rgbClr val="666699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rgbClr val="666699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rgbClr val="666699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rgbClr val="666699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666699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4401" name="Group 983"/>
              <p:cNvGrpSpPr/>
              <p:nvPr/>
            </p:nvGrpSpPr>
            <p:grpSpPr>
              <a:xfrm>
                <a:off x="1056" y="864"/>
                <a:ext cx="384" cy="96"/>
                <a:chOff x="0" y="0"/>
                <a:chExt cx="384" cy="96"/>
              </a:xfrm>
            </p:grpSpPr>
            <p:sp>
              <p:nvSpPr>
                <p:cNvPr id="14484" name="Oval 984"/>
                <p:cNvSpPr/>
                <p:nvPr/>
              </p:nvSpPr>
              <p:spPr>
                <a:xfrm>
                  <a:off x="0" y="0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rgbClr val="666699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485" name="Oval 985"/>
                <p:cNvSpPr/>
                <p:nvPr/>
              </p:nvSpPr>
              <p:spPr>
                <a:xfrm>
                  <a:off x="96" y="0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rgbClr val="666699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486" name="Oval 986"/>
                <p:cNvSpPr/>
                <p:nvPr/>
              </p:nvSpPr>
              <p:spPr>
                <a:xfrm>
                  <a:off x="192" y="0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rgbClr val="666699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487" name="Oval 987"/>
                <p:cNvSpPr/>
                <p:nvPr/>
              </p:nvSpPr>
              <p:spPr>
                <a:xfrm>
                  <a:off x="288" y="0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rgbClr val="666699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14402" name="Oval 988"/>
              <p:cNvSpPr/>
              <p:nvPr/>
            </p:nvSpPr>
            <p:spPr>
              <a:xfrm>
                <a:off x="1056" y="1344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rgbClr val="666699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rgbClr val="666699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rgbClr val="666699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rgbClr val="666699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666699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4403" name="Group 989"/>
              <p:cNvGrpSpPr/>
              <p:nvPr/>
            </p:nvGrpSpPr>
            <p:grpSpPr>
              <a:xfrm rot="-5400000">
                <a:off x="1440" y="960"/>
                <a:ext cx="384" cy="192"/>
                <a:chOff x="0" y="0"/>
                <a:chExt cx="384" cy="192"/>
              </a:xfrm>
            </p:grpSpPr>
            <p:grpSp>
              <p:nvGrpSpPr>
                <p:cNvPr id="14470" name="Group 990"/>
                <p:cNvGrpSpPr/>
                <p:nvPr/>
              </p:nvGrpSpPr>
              <p:grpSpPr>
                <a:xfrm rot="10800000">
                  <a:off x="0" y="0"/>
                  <a:ext cx="192" cy="192"/>
                  <a:chOff x="0" y="0"/>
                  <a:chExt cx="192" cy="192"/>
                </a:xfrm>
              </p:grpSpPr>
              <p:grpSp>
                <p:nvGrpSpPr>
                  <p:cNvPr id="14478" name="Group 991"/>
                  <p:cNvGrpSpPr/>
                  <p:nvPr/>
                </p:nvGrpSpPr>
                <p:grpSpPr>
                  <a:xfrm>
                    <a:off x="0" y="0"/>
                    <a:ext cx="96" cy="192"/>
                    <a:chOff x="0" y="0"/>
                    <a:chExt cx="96" cy="192"/>
                  </a:xfrm>
                </p:grpSpPr>
                <p:sp>
                  <p:nvSpPr>
                    <p:cNvPr id="14482" name="Oval 992"/>
                    <p:cNvSpPr/>
                    <p:nvPr/>
                  </p:nvSpPr>
                  <p:spPr>
                    <a:xfrm>
                      <a:off x="0" y="0"/>
                      <a:ext cx="96" cy="96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483" name="Oval 993"/>
                    <p:cNvSpPr/>
                    <p:nvPr/>
                  </p:nvSpPr>
                  <p:spPr>
                    <a:xfrm>
                      <a:off x="0" y="96"/>
                      <a:ext cx="96" cy="96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14479" name="Group 994"/>
                  <p:cNvGrpSpPr/>
                  <p:nvPr/>
                </p:nvGrpSpPr>
                <p:grpSpPr>
                  <a:xfrm>
                    <a:off x="96" y="0"/>
                    <a:ext cx="96" cy="192"/>
                    <a:chOff x="0" y="0"/>
                    <a:chExt cx="96" cy="192"/>
                  </a:xfrm>
                </p:grpSpPr>
                <p:sp>
                  <p:nvSpPr>
                    <p:cNvPr id="14480" name="Oval 995"/>
                    <p:cNvSpPr/>
                    <p:nvPr/>
                  </p:nvSpPr>
                  <p:spPr>
                    <a:xfrm>
                      <a:off x="0" y="0"/>
                      <a:ext cx="96" cy="96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481" name="Oval 996"/>
                    <p:cNvSpPr/>
                    <p:nvPr/>
                  </p:nvSpPr>
                  <p:spPr>
                    <a:xfrm>
                      <a:off x="0" y="96"/>
                      <a:ext cx="96" cy="96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</p:grpSp>
            <p:grpSp>
              <p:nvGrpSpPr>
                <p:cNvPr id="14471" name="Group 997"/>
                <p:cNvGrpSpPr/>
                <p:nvPr/>
              </p:nvGrpSpPr>
              <p:grpSpPr>
                <a:xfrm rot="10800000">
                  <a:off x="192" y="0"/>
                  <a:ext cx="192" cy="192"/>
                  <a:chOff x="0" y="0"/>
                  <a:chExt cx="192" cy="192"/>
                </a:xfrm>
              </p:grpSpPr>
              <p:grpSp>
                <p:nvGrpSpPr>
                  <p:cNvPr id="14472" name="Group 998"/>
                  <p:cNvGrpSpPr/>
                  <p:nvPr/>
                </p:nvGrpSpPr>
                <p:grpSpPr>
                  <a:xfrm>
                    <a:off x="0" y="0"/>
                    <a:ext cx="96" cy="192"/>
                    <a:chOff x="0" y="0"/>
                    <a:chExt cx="96" cy="192"/>
                  </a:xfrm>
                </p:grpSpPr>
                <p:sp>
                  <p:nvSpPr>
                    <p:cNvPr id="14476" name="Oval 999"/>
                    <p:cNvSpPr/>
                    <p:nvPr/>
                  </p:nvSpPr>
                  <p:spPr>
                    <a:xfrm>
                      <a:off x="0" y="0"/>
                      <a:ext cx="96" cy="96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477" name="Oval 1000"/>
                    <p:cNvSpPr/>
                    <p:nvPr/>
                  </p:nvSpPr>
                  <p:spPr>
                    <a:xfrm>
                      <a:off x="0" y="96"/>
                      <a:ext cx="96" cy="96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14473" name="Group 1001"/>
                  <p:cNvGrpSpPr/>
                  <p:nvPr/>
                </p:nvGrpSpPr>
                <p:grpSpPr>
                  <a:xfrm>
                    <a:off x="96" y="0"/>
                    <a:ext cx="96" cy="192"/>
                    <a:chOff x="0" y="0"/>
                    <a:chExt cx="96" cy="192"/>
                  </a:xfrm>
                </p:grpSpPr>
                <p:sp>
                  <p:nvSpPr>
                    <p:cNvPr id="14474" name="Oval 1002"/>
                    <p:cNvSpPr/>
                    <p:nvPr/>
                  </p:nvSpPr>
                  <p:spPr>
                    <a:xfrm>
                      <a:off x="0" y="0"/>
                      <a:ext cx="96" cy="96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4475" name="Oval 1003"/>
                    <p:cNvSpPr/>
                    <p:nvPr/>
                  </p:nvSpPr>
                  <p:spPr>
                    <a:xfrm>
                      <a:off x="0" y="96"/>
                      <a:ext cx="96" cy="96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>
                      <a:lvl1pPr marL="34290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3200">
                          <a:solidFill>
                            <a:srgbClr val="666699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8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2pPr>
                      <a:lvl3pPr marL="11430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4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3pPr>
                      <a:lvl4pPr marL="16002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–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4pPr>
                      <a:lvl5pPr marL="2057400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sz="2000">
                          <a:solidFill>
                            <a:srgbClr val="666699"/>
                          </a:solidFill>
                          <a:latin typeface="+mn-lt"/>
                          <a:ea typeface="+mn-ea"/>
                        </a:defRPr>
                      </a:lvl5pPr>
                    </a:lstStyle>
                    <a:p>
                      <a:pPr marL="0" lvl="0" indent="0" eaLnBrk="1" hangingPunct="1">
                        <a:spcBef>
                          <a:spcPct val="0"/>
                        </a:spcBef>
                        <a:buNone/>
                      </a:pP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</p:grpSp>
          </p:grpSp>
          <p:grpSp>
            <p:nvGrpSpPr>
              <p:cNvPr id="14404" name="Group 1004"/>
              <p:cNvGrpSpPr/>
              <p:nvPr/>
            </p:nvGrpSpPr>
            <p:grpSpPr>
              <a:xfrm>
                <a:off x="1536" y="1248"/>
                <a:ext cx="192" cy="192"/>
                <a:chOff x="0" y="0"/>
                <a:chExt cx="192" cy="192"/>
              </a:xfrm>
            </p:grpSpPr>
            <p:grpSp>
              <p:nvGrpSpPr>
                <p:cNvPr id="14464" name="Group 1005"/>
                <p:cNvGrpSpPr/>
                <p:nvPr/>
              </p:nvGrpSpPr>
              <p:grpSpPr>
                <a:xfrm>
                  <a:off x="0" y="0"/>
                  <a:ext cx="96" cy="192"/>
                  <a:chOff x="0" y="0"/>
                  <a:chExt cx="96" cy="192"/>
                </a:xfrm>
              </p:grpSpPr>
              <p:sp>
                <p:nvSpPr>
                  <p:cNvPr id="14468" name="Oval 1006"/>
                  <p:cNvSpPr/>
                  <p:nvPr/>
                </p:nvSpPr>
                <p:spPr>
                  <a:xfrm>
                    <a:off x="0" y="0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4469" name="Oval 1007"/>
                  <p:cNvSpPr/>
                  <p:nvPr/>
                </p:nvSpPr>
                <p:spPr>
                  <a:xfrm>
                    <a:off x="0" y="96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4465" name="Group 1008"/>
                <p:cNvGrpSpPr/>
                <p:nvPr/>
              </p:nvGrpSpPr>
              <p:grpSpPr>
                <a:xfrm>
                  <a:off x="96" y="0"/>
                  <a:ext cx="96" cy="192"/>
                  <a:chOff x="0" y="0"/>
                  <a:chExt cx="96" cy="192"/>
                </a:xfrm>
              </p:grpSpPr>
              <p:sp>
                <p:nvSpPr>
                  <p:cNvPr id="14466" name="Oval 1009"/>
                  <p:cNvSpPr/>
                  <p:nvPr/>
                </p:nvSpPr>
                <p:spPr>
                  <a:xfrm>
                    <a:off x="0" y="0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4467" name="Oval 1010"/>
                  <p:cNvSpPr/>
                  <p:nvPr/>
                </p:nvSpPr>
                <p:spPr>
                  <a:xfrm>
                    <a:off x="0" y="96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4405" name="Group 1011"/>
              <p:cNvGrpSpPr/>
              <p:nvPr/>
            </p:nvGrpSpPr>
            <p:grpSpPr>
              <a:xfrm>
                <a:off x="1152" y="1344"/>
                <a:ext cx="384" cy="96"/>
                <a:chOff x="0" y="0"/>
                <a:chExt cx="384" cy="96"/>
              </a:xfrm>
            </p:grpSpPr>
            <p:grpSp>
              <p:nvGrpSpPr>
                <p:cNvPr id="14458" name="Group 1012"/>
                <p:cNvGrpSpPr/>
                <p:nvPr/>
              </p:nvGrpSpPr>
              <p:grpSpPr>
                <a:xfrm rot="5400000">
                  <a:off x="240" y="-48"/>
                  <a:ext cx="96" cy="192"/>
                  <a:chOff x="0" y="0"/>
                  <a:chExt cx="96" cy="192"/>
                </a:xfrm>
              </p:grpSpPr>
              <p:sp>
                <p:nvSpPr>
                  <p:cNvPr id="14462" name="Oval 1013"/>
                  <p:cNvSpPr/>
                  <p:nvPr/>
                </p:nvSpPr>
                <p:spPr>
                  <a:xfrm>
                    <a:off x="0" y="0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4463" name="Oval 1014"/>
                  <p:cNvSpPr/>
                  <p:nvPr/>
                </p:nvSpPr>
                <p:spPr>
                  <a:xfrm>
                    <a:off x="0" y="96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4459" name="Group 1015"/>
                <p:cNvGrpSpPr/>
                <p:nvPr/>
              </p:nvGrpSpPr>
              <p:grpSpPr>
                <a:xfrm rot="5400000">
                  <a:off x="48" y="-48"/>
                  <a:ext cx="96" cy="192"/>
                  <a:chOff x="0" y="0"/>
                  <a:chExt cx="96" cy="192"/>
                </a:xfrm>
              </p:grpSpPr>
              <p:sp>
                <p:nvSpPr>
                  <p:cNvPr id="14460" name="Oval 1016"/>
                  <p:cNvSpPr/>
                  <p:nvPr/>
                </p:nvSpPr>
                <p:spPr>
                  <a:xfrm>
                    <a:off x="0" y="0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4461" name="Oval 1017"/>
                  <p:cNvSpPr/>
                  <p:nvPr/>
                </p:nvSpPr>
                <p:spPr>
                  <a:xfrm>
                    <a:off x="0" y="96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4406" name="Group 1018"/>
              <p:cNvGrpSpPr/>
              <p:nvPr/>
            </p:nvGrpSpPr>
            <p:grpSpPr>
              <a:xfrm>
                <a:off x="2016" y="1152"/>
                <a:ext cx="192" cy="192"/>
                <a:chOff x="0" y="0"/>
                <a:chExt cx="192" cy="192"/>
              </a:xfrm>
            </p:grpSpPr>
            <p:grpSp>
              <p:nvGrpSpPr>
                <p:cNvPr id="14452" name="Group 1019"/>
                <p:cNvGrpSpPr/>
                <p:nvPr/>
              </p:nvGrpSpPr>
              <p:grpSpPr>
                <a:xfrm>
                  <a:off x="0" y="0"/>
                  <a:ext cx="96" cy="192"/>
                  <a:chOff x="0" y="0"/>
                  <a:chExt cx="96" cy="192"/>
                </a:xfrm>
              </p:grpSpPr>
              <p:sp>
                <p:nvSpPr>
                  <p:cNvPr id="14456" name="Oval 1020"/>
                  <p:cNvSpPr/>
                  <p:nvPr/>
                </p:nvSpPr>
                <p:spPr>
                  <a:xfrm>
                    <a:off x="0" y="0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4457" name="Oval 1021"/>
                  <p:cNvSpPr/>
                  <p:nvPr/>
                </p:nvSpPr>
                <p:spPr>
                  <a:xfrm>
                    <a:off x="0" y="96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4453" name="Group 1022"/>
                <p:cNvGrpSpPr/>
                <p:nvPr/>
              </p:nvGrpSpPr>
              <p:grpSpPr>
                <a:xfrm>
                  <a:off x="96" y="0"/>
                  <a:ext cx="96" cy="192"/>
                  <a:chOff x="0" y="0"/>
                  <a:chExt cx="96" cy="192"/>
                </a:xfrm>
              </p:grpSpPr>
              <p:sp>
                <p:nvSpPr>
                  <p:cNvPr id="14454" name="Oval 1023"/>
                  <p:cNvSpPr/>
                  <p:nvPr/>
                </p:nvSpPr>
                <p:spPr>
                  <a:xfrm>
                    <a:off x="0" y="0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4455" name="Oval 1024"/>
                  <p:cNvSpPr/>
                  <p:nvPr/>
                </p:nvSpPr>
                <p:spPr>
                  <a:xfrm>
                    <a:off x="0" y="96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4407" name="Group 1025"/>
              <p:cNvGrpSpPr/>
              <p:nvPr/>
            </p:nvGrpSpPr>
            <p:grpSpPr>
              <a:xfrm>
                <a:off x="2016" y="1344"/>
                <a:ext cx="192" cy="192"/>
                <a:chOff x="0" y="0"/>
                <a:chExt cx="192" cy="192"/>
              </a:xfrm>
            </p:grpSpPr>
            <p:grpSp>
              <p:nvGrpSpPr>
                <p:cNvPr id="14446" name="Group 1026"/>
                <p:cNvGrpSpPr/>
                <p:nvPr/>
              </p:nvGrpSpPr>
              <p:grpSpPr>
                <a:xfrm>
                  <a:off x="0" y="0"/>
                  <a:ext cx="96" cy="192"/>
                  <a:chOff x="0" y="0"/>
                  <a:chExt cx="96" cy="192"/>
                </a:xfrm>
              </p:grpSpPr>
              <p:sp>
                <p:nvSpPr>
                  <p:cNvPr id="14450" name="Oval 1027"/>
                  <p:cNvSpPr/>
                  <p:nvPr/>
                </p:nvSpPr>
                <p:spPr>
                  <a:xfrm>
                    <a:off x="0" y="0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4451" name="Oval 1028"/>
                  <p:cNvSpPr/>
                  <p:nvPr/>
                </p:nvSpPr>
                <p:spPr>
                  <a:xfrm>
                    <a:off x="0" y="96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4447" name="Group 1029"/>
                <p:cNvGrpSpPr/>
                <p:nvPr/>
              </p:nvGrpSpPr>
              <p:grpSpPr>
                <a:xfrm>
                  <a:off x="96" y="0"/>
                  <a:ext cx="96" cy="192"/>
                  <a:chOff x="0" y="0"/>
                  <a:chExt cx="96" cy="192"/>
                </a:xfrm>
              </p:grpSpPr>
              <p:sp>
                <p:nvSpPr>
                  <p:cNvPr id="14448" name="Oval 1030"/>
                  <p:cNvSpPr/>
                  <p:nvPr/>
                </p:nvSpPr>
                <p:spPr>
                  <a:xfrm>
                    <a:off x="0" y="0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4449" name="Oval 1031"/>
                  <p:cNvSpPr/>
                  <p:nvPr/>
                </p:nvSpPr>
                <p:spPr>
                  <a:xfrm>
                    <a:off x="0" y="96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4408" name="Group 1032"/>
              <p:cNvGrpSpPr/>
              <p:nvPr/>
            </p:nvGrpSpPr>
            <p:grpSpPr>
              <a:xfrm>
                <a:off x="1632" y="1536"/>
                <a:ext cx="384" cy="192"/>
                <a:chOff x="0" y="0"/>
                <a:chExt cx="384" cy="192"/>
              </a:xfrm>
            </p:grpSpPr>
            <p:grpSp>
              <p:nvGrpSpPr>
                <p:cNvPr id="14437" name="Group 1033"/>
                <p:cNvGrpSpPr/>
                <p:nvPr/>
              </p:nvGrpSpPr>
              <p:grpSpPr>
                <a:xfrm>
                  <a:off x="192" y="0"/>
                  <a:ext cx="96" cy="192"/>
                  <a:chOff x="0" y="0"/>
                  <a:chExt cx="96" cy="192"/>
                </a:xfrm>
              </p:grpSpPr>
              <p:sp>
                <p:nvSpPr>
                  <p:cNvPr id="14444" name="Oval 1034"/>
                  <p:cNvSpPr/>
                  <p:nvPr/>
                </p:nvSpPr>
                <p:spPr>
                  <a:xfrm>
                    <a:off x="0" y="0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4445" name="Oval 1035"/>
                  <p:cNvSpPr/>
                  <p:nvPr/>
                </p:nvSpPr>
                <p:spPr>
                  <a:xfrm>
                    <a:off x="0" y="96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4438" name="Group 1036"/>
                <p:cNvGrpSpPr/>
                <p:nvPr/>
              </p:nvGrpSpPr>
              <p:grpSpPr>
                <a:xfrm>
                  <a:off x="288" y="0"/>
                  <a:ext cx="96" cy="192"/>
                  <a:chOff x="0" y="0"/>
                  <a:chExt cx="96" cy="192"/>
                </a:xfrm>
              </p:grpSpPr>
              <p:sp>
                <p:nvSpPr>
                  <p:cNvPr id="14442" name="Oval 1037"/>
                  <p:cNvSpPr/>
                  <p:nvPr/>
                </p:nvSpPr>
                <p:spPr>
                  <a:xfrm>
                    <a:off x="0" y="0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4443" name="Oval 1038"/>
                  <p:cNvSpPr/>
                  <p:nvPr/>
                </p:nvSpPr>
                <p:spPr>
                  <a:xfrm>
                    <a:off x="0" y="96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4439" name="Group 1039"/>
                <p:cNvGrpSpPr/>
                <p:nvPr/>
              </p:nvGrpSpPr>
              <p:grpSpPr>
                <a:xfrm rot="5400000">
                  <a:off x="48" y="-48"/>
                  <a:ext cx="96" cy="192"/>
                  <a:chOff x="0" y="0"/>
                  <a:chExt cx="96" cy="192"/>
                </a:xfrm>
              </p:grpSpPr>
              <p:sp>
                <p:nvSpPr>
                  <p:cNvPr id="14440" name="Oval 1040"/>
                  <p:cNvSpPr/>
                  <p:nvPr/>
                </p:nvSpPr>
                <p:spPr>
                  <a:xfrm>
                    <a:off x="0" y="0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4441" name="Oval 1041"/>
                  <p:cNvSpPr/>
                  <p:nvPr/>
                </p:nvSpPr>
                <p:spPr>
                  <a:xfrm>
                    <a:off x="0" y="96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4409" name="Group 1042"/>
              <p:cNvGrpSpPr/>
              <p:nvPr/>
            </p:nvGrpSpPr>
            <p:grpSpPr>
              <a:xfrm rot="5400000">
                <a:off x="2064" y="1488"/>
                <a:ext cx="96" cy="192"/>
                <a:chOff x="0" y="0"/>
                <a:chExt cx="96" cy="192"/>
              </a:xfrm>
            </p:grpSpPr>
            <p:sp>
              <p:nvSpPr>
                <p:cNvPr id="14435" name="Oval 1043"/>
                <p:cNvSpPr/>
                <p:nvPr/>
              </p:nvSpPr>
              <p:spPr>
                <a:xfrm>
                  <a:off x="0" y="0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rgbClr val="666699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436" name="Oval 1044"/>
                <p:cNvSpPr/>
                <p:nvPr/>
              </p:nvSpPr>
              <p:spPr>
                <a:xfrm>
                  <a:off x="0" y="96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rgbClr val="666699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4410" name="Group 1045"/>
              <p:cNvGrpSpPr/>
              <p:nvPr/>
            </p:nvGrpSpPr>
            <p:grpSpPr>
              <a:xfrm>
                <a:off x="1824" y="2112"/>
                <a:ext cx="96" cy="192"/>
                <a:chOff x="0" y="0"/>
                <a:chExt cx="96" cy="192"/>
              </a:xfrm>
            </p:grpSpPr>
            <p:sp>
              <p:nvSpPr>
                <p:cNvPr id="14433" name="Oval 1046"/>
                <p:cNvSpPr/>
                <p:nvPr/>
              </p:nvSpPr>
              <p:spPr>
                <a:xfrm>
                  <a:off x="0" y="0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rgbClr val="666699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434" name="Oval 1047"/>
                <p:cNvSpPr/>
                <p:nvPr/>
              </p:nvSpPr>
              <p:spPr>
                <a:xfrm>
                  <a:off x="0" y="96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rgbClr val="666699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4411" name="Group 1048"/>
              <p:cNvGrpSpPr/>
              <p:nvPr/>
            </p:nvGrpSpPr>
            <p:grpSpPr>
              <a:xfrm>
                <a:off x="1920" y="2112"/>
                <a:ext cx="96" cy="192"/>
                <a:chOff x="0" y="0"/>
                <a:chExt cx="96" cy="192"/>
              </a:xfrm>
            </p:grpSpPr>
            <p:sp>
              <p:nvSpPr>
                <p:cNvPr id="14431" name="Oval 1049"/>
                <p:cNvSpPr/>
                <p:nvPr/>
              </p:nvSpPr>
              <p:spPr>
                <a:xfrm>
                  <a:off x="0" y="0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rgbClr val="666699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432" name="Oval 1050"/>
                <p:cNvSpPr/>
                <p:nvPr/>
              </p:nvSpPr>
              <p:spPr>
                <a:xfrm>
                  <a:off x="0" y="96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rgbClr val="666699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4412" name="Group 1051"/>
              <p:cNvGrpSpPr/>
              <p:nvPr/>
            </p:nvGrpSpPr>
            <p:grpSpPr>
              <a:xfrm>
                <a:off x="2016" y="2112"/>
                <a:ext cx="96" cy="192"/>
                <a:chOff x="0" y="0"/>
                <a:chExt cx="96" cy="192"/>
              </a:xfrm>
            </p:grpSpPr>
            <p:sp>
              <p:nvSpPr>
                <p:cNvPr id="14429" name="Oval 1052"/>
                <p:cNvSpPr/>
                <p:nvPr/>
              </p:nvSpPr>
              <p:spPr>
                <a:xfrm>
                  <a:off x="0" y="0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rgbClr val="666699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430" name="Oval 1053"/>
                <p:cNvSpPr/>
                <p:nvPr/>
              </p:nvSpPr>
              <p:spPr>
                <a:xfrm>
                  <a:off x="0" y="96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rgbClr val="666699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4413" name="Group 1054"/>
              <p:cNvGrpSpPr/>
              <p:nvPr/>
            </p:nvGrpSpPr>
            <p:grpSpPr>
              <a:xfrm>
                <a:off x="2112" y="2112"/>
                <a:ext cx="96" cy="192"/>
                <a:chOff x="0" y="0"/>
                <a:chExt cx="96" cy="192"/>
              </a:xfrm>
            </p:grpSpPr>
            <p:sp>
              <p:nvSpPr>
                <p:cNvPr id="14427" name="Oval 1055"/>
                <p:cNvSpPr/>
                <p:nvPr/>
              </p:nvSpPr>
              <p:spPr>
                <a:xfrm>
                  <a:off x="0" y="0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rgbClr val="666699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428" name="Oval 1056"/>
                <p:cNvSpPr/>
                <p:nvPr/>
              </p:nvSpPr>
              <p:spPr>
                <a:xfrm>
                  <a:off x="0" y="96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rgbClr val="666699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4414" name="Group 1057"/>
              <p:cNvGrpSpPr/>
              <p:nvPr/>
            </p:nvGrpSpPr>
            <p:grpSpPr>
              <a:xfrm>
                <a:off x="2304" y="1824"/>
                <a:ext cx="192" cy="480"/>
                <a:chOff x="0" y="0"/>
                <a:chExt cx="192" cy="480"/>
              </a:xfrm>
            </p:grpSpPr>
            <p:grpSp>
              <p:nvGrpSpPr>
                <p:cNvPr id="14417" name="Group 1058"/>
                <p:cNvGrpSpPr/>
                <p:nvPr/>
              </p:nvGrpSpPr>
              <p:grpSpPr>
                <a:xfrm>
                  <a:off x="96" y="192"/>
                  <a:ext cx="96" cy="192"/>
                  <a:chOff x="0" y="0"/>
                  <a:chExt cx="96" cy="192"/>
                </a:xfrm>
              </p:grpSpPr>
              <p:sp>
                <p:nvSpPr>
                  <p:cNvPr id="14425" name="Oval 1059"/>
                  <p:cNvSpPr/>
                  <p:nvPr/>
                </p:nvSpPr>
                <p:spPr>
                  <a:xfrm>
                    <a:off x="0" y="0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4426" name="Oval 1060"/>
                  <p:cNvSpPr/>
                  <p:nvPr/>
                </p:nvSpPr>
                <p:spPr>
                  <a:xfrm>
                    <a:off x="0" y="96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4418" name="Group 1061"/>
                <p:cNvGrpSpPr/>
                <p:nvPr/>
              </p:nvGrpSpPr>
              <p:grpSpPr>
                <a:xfrm>
                  <a:off x="0" y="288"/>
                  <a:ext cx="96" cy="192"/>
                  <a:chOff x="0" y="0"/>
                  <a:chExt cx="96" cy="192"/>
                </a:xfrm>
              </p:grpSpPr>
              <p:sp>
                <p:nvSpPr>
                  <p:cNvPr id="14423" name="Oval 1062"/>
                  <p:cNvSpPr/>
                  <p:nvPr/>
                </p:nvSpPr>
                <p:spPr>
                  <a:xfrm>
                    <a:off x="0" y="0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4424" name="Oval 1063"/>
                  <p:cNvSpPr/>
                  <p:nvPr/>
                </p:nvSpPr>
                <p:spPr>
                  <a:xfrm>
                    <a:off x="0" y="96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4419" name="Group 1064"/>
                <p:cNvGrpSpPr/>
                <p:nvPr/>
              </p:nvGrpSpPr>
              <p:grpSpPr>
                <a:xfrm>
                  <a:off x="0" y="96"/>
                  <a:ext cx="96" cy="192"/>
                  <a:chOff x="0" y="0"/>
                  <a:chExt cx="96" cy="192"/>
                </a:xfrm>
              </p:grpSpPr>
              <p:sp>
                <p:nvSpPr>
                  <p:cNvPr id="14421" name="Oval 1065"/>
                  <p:cNvSpPr/>
                  <p:nvPr/>
                </p:nvSpPr>
                <p:spPr>
                  <a:xfrm>
                    <a:off x="0" y="0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4422" name="Oval 1066"/>
                  <p:cNvSpPr/>
                  <p:nvPr/>
                </p:nvSpPr>
                <p:spPr>
                  <a:xfrm>
                    <a:off x="0" y="96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>
                    <a:lvl1pPr marL="342900" indent="-3429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3200">
                        <a:solidFill>
                          <a:srgbClr val="666699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742950" indent="-28575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8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2pPr>
                    <a:lvl3pPr marL="11430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•"/>
                      <a:defRPr sz="24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3pPr>
                    <a:lvl4pPr marL="16002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–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4pPr>
                    <a:lvl5pPr marL="2057400" indent="-228600" algn="l" rtl="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rgbClr val="666699"/>
                        </a:solidFill>
                        <a:latin typeface="+mn-lt"/>
                        <a:ea typeface="+mn-ea"/>
                      </a:defRPr>
                    </a:lvl5pPr>
                  </a:lstStyle>
                  <a:p>
                    <a:pPr marL="0" lvl="0" indent="0" eaLnBrk="1" hangingPunct="1">
                      <a:spcBef>
                        <a:spcPct val="0"/>
                      </a:spcBef>
                      <a:buNone/>
                    </a:pPr>
                    <a:endParaRPr lang="zh-CN" alt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14420" name="Oval 1067"/>
                <p:cNvSpPr/>
                <p:nvPr/>
              </p:nvSpPr>
              <p:spPr>
                <a:xfrm>
                  <a:off x="0" y="0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3200">
                      <a:solidFill>
                        <a:srgbClr val="666699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742950" indent="-28575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8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4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rgbClr val="666699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eaLnBrk="1" hangingPunct="1">
                    <a:spcBef>
                      <a:spcPct val="0"/>
                    </a:spcBef>
                    <a:buNone/>
                  </a:pPr>
                  <a:endParaRPr lang="zh-CN" altLang="en-US" sz="24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14415" name="Oval 1068"/>
              <p:cNvSpPr/>
              <p:nvPr/>
            </p:nvSpPr>
            <p:spPr>
              <a:xfrm>
                <a:off x="2208" y="211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rgbClr val="666699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rgbClr val="666699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rgbClr val="666699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rgbClr val="666699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666699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416" name="Oval 1069"/>
              <p:cNvSpPr/>
              <p:nvPr/>
            </p:nvSpPr>
            <p:spPr>
              <a:xfrm>
                <a:off x="2208" y="220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rgbClr val="666699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rgbClr val="666699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rgbClr val="666699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rgbClr val="666699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666699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0"/>
                  </a:spcBef>
                  <a:buNone/>
                </a:pPr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" name="Group 1070"/>
          <p:cNvGrpSpPr/>
          <p:nvPr/>
        </p:nvGrpSpPr>
        <p:grpSpPr>
          <a:xfrm>
            <a:off x="5257800" y="3124200"/>
            <a:ext cx="3200400" cy="2397125"/>
            <a:chOff x="0" y="0"/>
            <a:chExt cx="2208" cy="1654"/>
          </a:xfrm>
        </p:grpSpPr>
        <p:sp>
          <p:nvSpPr>
            <p:cNvPr id="14341" name="Rectangle 1071"/>
            <p:cNvSpPr/>
            <p:nvPr/>
          </p:nvSpPr>
          <p:spPr>
            <a:xfrm>
              <a:off x="0" y="1344"/>
              <a:ext cx="930" cy="310"/>
            </a:xfrm>
            <a:prstGeom prst="rect">
              <a:avLst/>
            </a:prstGeom>
            <a:solidFill>
              <a:srgbClr val="FF7C80"/>
            </a:solidFill>
            <a:ln w="9525" cap="flat" cmpd="sng">
              <a:prstDash val="solid"/>
              <a:miter/>
              <a:headEnd type="none" w="med" len="med"/>
              <a:tailEnd type="none" w="med" len="med"/>
            </a:ln>
            <a:scene3d>
              <a:camera prst="legacyObliqueTopRight">
                <a:rot lat="0" lon="0" rev="0"/>
              </a:camera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7C80"/>
              </a:extrusionClr>
            </a:sp3d>
          </p:spPr>
          <p:txBody>
            <a:bodyPr wrap="none" anchor="ctr" anchorCtr="0">
              <a:flatTx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rgbClr val="6666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rgbClr val="666699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rgbClr val="666699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1400" b="1" dirty="0">
                  <a:solidFill>
                    <a:srgbClr val="FFFFCC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精密型</a:t>
              </a:r>
              <a:endParaRPr lang="zh-CN" altLang="en-US" sz="1400" b="1" dirty="0">
                <a:solidFill>
                  <a:srgbClr val="FFFFCC"/>
                </a:solidFill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14342" name="Rectangle 1072"/>
            <p:cNvSpPr/>
            <p:nvPr/>
          </p:nvSpPr>
          <p:spPr>
            <a:xfrm>
              <a:off x="930" y="1344"/>
              <a:ext cx="465" cy="310"/>
            </a:xfrm>
            <a:prstGeom prst="rect">
              <a:avLst/>
            </a:prstGeom>
            <a:solidFill>
              <a:srgbClr val="FF7C80"/>
            </a:solidFill>
            <a:ln w="9525" cap="flat" cmpd="sng">
              <a:prstDash val="solid"/>
              <a:miter/>
              <a:headEnd type="none" w="med" len="med"/>
              <a:tailEnd type="none" w="med" len="med"/>
            </a:ln>
            <a:scene3d>
              <a:camera prst="legacyObliqueTopRight">
                <a:rot lat="0" lon="0" rev="0"/>
              </a:camera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7C80"/>
              </a:extrusionClr>
            </a:sp3d>
          </p:spPr>
          <p:txBody>
            <a:bodyPr wrap="none" anchor="ctr" anchorCtr="0">
              <a:flatTx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rgbClr val="6666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rgbClr val="666699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rgbClr val="666699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zh-CN" sz="1400" b="1" dirty="0">
                  <a:solidFill>
                    <a:srgbClr val="FFFFCC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48</a:t>
              </a:r>
              <a:r>
                <a:rPr lang="zh-CN" altLang="zh-CN" sz="1400" b="1" dirty="0">
                  <a:solidFill>
                    <a:srgbClr val="FFFFCC"/>
                  </a:solidFill>
                  <a:latin typeface="幼圆" panose="02010509060101010101" pitchFamily="49" charset="-122"/>
                  <a:ea typeface="幼圆" panose="02010509060101010101" pitchFamily="49" charset="-122"/>
                  <a:sym typeface="Symbol" panose="05050102010706020507" pitchFamily="18" charset="2"/>
                </a:rPr>
                <a:t>48</a:t>
              </a:r>
              <a:endParaRPr lang="zh-CN" altLang="zh-CN" sz="1400" b="1" dirty="0">
                <a:solidFill>
                  <a:srgbClr val="FFFFCC"/>
                </a:solidFill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14343" name="Rectangle 1073"/>
            <p:cNvSpPr/>
            <p:nvPr/>
          </p:nvSpPr>
          <p:spPr>
            <a:xfrm>
              <a:off x="1395" y="1344"/>
              <a:ext cx="813" cy="310"/>
            </a:xfrm>
            <a:prstGeom prst="rect">
              <a:avLst/>
            </a:prstGeom>
            <a:solidFill>
              <a:srgbClr val="FF7C80"/>
            </a:solidFill>
            <a:ln w="9525" cap="flat" cmpd="sng">
              <a:prstDash val="solid"/>
              <a:miter/>
              <a:headEnd type="none" w="med" len="med"/>
              <a:tailEnd type="none" w="med" len="med"/>
            </a:ln>
            <a:scene3d>
              <a:camera prst="legacyObliqueTopRight">
                <a:rot lat="0" lon="0" rev="0"/>
              </a:camera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7C80"/>
              </a:extrusionClr>
            </a:sp3d>
          </p:spPr>
          <p:txBody>
            <a:bodyPr wrap="none" anchor="ctr" anchorCtr="0">
              <a:flatTx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rgbClr val="6666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rgbClr val="666699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rgbClr val="666699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400" b="1" dirty="0">
                <a:solidFill>
                  <a:srgbClr val="FFFFCC"/>
                </a:solidFill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14344" name="Text Box 1074"/>
            <p:cNvSpPr txBox="1"/>
            <p:nvPr/>
          </p:nvSpPr>
          <p:spPr>
            <a:xfrm>
              <a:off x="1632" y="1429"/>
              <a:ext cx="314" cy="21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rgbClr val="6666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rgbClr val="666699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rgbClr val="666699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zh-CN" sz="1400" b="1" dirty="0">
                  <a:solidFill>
                    <a:srgbClr val="FFFFCC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288</a:t>
              </a:r>
              <a:endParaRPr lang="zh-CN" altLang="zh-CN" sz="1400" b="1" dirty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14345" name="Rectangle 1075"/>
            <p:cNvSpPr/>
            <p:nvPr/>
          </p:nvSpPr>
          <p:spPr>
            <a:xfrm>
              <a:off x="0" y="1012"/>
              <a:ext cx="930" cy="310"/>
            </a:xfrm>
            <a:prstGeom prst="rect">
              <a:avLst/>
            </a:prstGeom>
            <a:solidFill>
              <a:srgbClr val="FF7C80"/>
            </a:solidFill>
            <a:ln w="9525" cap="flat" cmpd="sng">
              <a:prstDash val="solid"/>
              <a:miter/>
              <a:headEnd type="none" w="med" len="med"/>
              <a:tailEnd type="none" w="med" len="med"/>
            </a:ln>
            <a:scene3d>
              <a:camera prst="legacyObliqueTopRight">
                <a:rot lat="0" lon="0" rev="0"/>
              </a:camera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7C80"/>
              </a:extrusionClr>
            </a:sp3d>
          </p:spPr>
          <p:txBody>
            <a:bodyPr wrap="none" anchor="ctr" anchorCtr="0">
              <a:flatTx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rgbClr val="6666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rgbClr val="666699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rgbClr val="666699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1400" b="1" dirty="0">
                  <a:solidFill>
                    <a:srgbClr val="FFFFCC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提高型</a:t>
              </a:r>
              <a:endParaRPr lang="zh-CN" altLang="en-US" sz="1400" b="1" dirty="0">
                <a:solidFill>
                  <a:srgbClr val="FFFFCC"/>
                </a:solidFill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14346" name="Rectangle 1076"/>
            <p:cNvSpPr/>
            <p:nvPr/>
          </p:nvSpPr>
          <p:spPr>
            <a:xfrm>
              <a:off x="930" y="1012"/>
              <a:ext cx="465" cy="310"/>
            </a:xfrm>
            <a:prstGeom prst="rect">
              <a:avLst/>
            </a:prstGeom>
            <a:solidFill>
              <a:srgbClr val="FF7C80"/>
            </a:solidFill>
            <a:ln w="9525" cap="flat" cmpd="sng">
              <a:prstDash val="solid"/>
              <a:miter/>
              <a:headEnd type="none" w="med" len="med"/>
              <a:tailEnd type="none" w="med" len="med"/>
            </a:ln>
            <a:scene3d>
              <a:camera prst="legacyObliqueTopRight">
                <a:rot lat="0" lon="0" rev="0"/>
              </a:camera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7C80"/>
              </a:extrusionClr>
            </a:sp3d>
          </p:spPr>
          <p:txBody>
            <a:bodyPr wrap="none" anchor="ctr" anchorCtr="0">
              <a:flatTx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rgbClr val="6666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rgbClr val="666699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rgbClr val="666699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zh-CN" sz="1400" b="1" dirty="0">
                  <a:solidFill>
                    <a:srgbClr val="FFFFCC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32</a:t>
              </a:r>
              <a:r>
                <a:rPr lang="zh-CN" altLang="zh-CN" sz="1400" b="1" dirty="0">
                  <a:solidFill>
                    <a:srgbClr val="FFFFCC"/>
                  </a:solidFill>
                  <a:latin typeface="幼圆" panose="02010509060101010101" pitchFamily="49" charset="-122"/>
                  <a:ea typeface="幼圆" panose="02010509060101010101" pitchFamily="49" charset="-122"/>
                  <a:sym typeface="Symbol" panose="05050102010706020507" pitchFamily="18" charset="2"/>
                </a:rPr>
                <a:t>32</a:t>
              </a:r>
              <a:endParaRPr lang="zh-CN" altLang="zh-CN" sz="1400" b="1" dirty="0">
                <a:solidFill>
                  <a:srgbClr val="FFFFCC"/>
                </a:solidFill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14347" name="Rectangle 1077"/>
            <p:cNvSpPr/>
            <p:nvPr/>
          </p:nvSpPr>
          <p:spPr>
            <a:xfrm>
              <a:off x="1395" y="1012"/>
              <a:ext cx="813" cy="310"/>
            </a:xfrm>
            <a:prstGeom prst="rect">
              <a:avLst/>
            </a:prstGeom>
            <a:solidFill>
              <a:srgbClr val="FF7C80"/>
            </a:solidFill>
            <a:ln w="9525" cap="flat" cmpd="sng">
              <a:prstDash val="solid"/>
              <a:miter/>
              <a:headEnd type="none" w="med" len="med"/>
              <a:tailEnd type="none" w="med" len="med"/>
            </a:ln>
            <a:scene3d>
              <a:camera prst="legacyObliqueTopRight">
                <a:rot lat="0" lon="0" rev="0"/>
              </a:camera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7C80"/>
              </a:extrusionClr>
            </a:sp3d>
          </p:spPr>
          <p:txBody>
            <a:bodyPr wrap="none" anchor="ctr" anchorCtr="0">
              <a:flatTx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rgbClr val="6666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rgbClr val="666699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rgbClr val="666699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400" b="1" dirty="0">
                <a:solidFill>
                  <a:srgbClr val="FFFFCC"/>
                </a:solidFill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14348" name="Text Box 1078"/>
            <p:cNvSpPr txBox="1"/>
            <p:nvPr/>
          </p:nvSpPr>
          <p:spPr>
            <a:xfrm>
              <a:off x="1632" y="1053"/>
              <a:ext cx="314" cy="2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rgbClr val="6666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rgbClr val="666699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rgbClr val="666699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zh-CN" sz="1400" b="1" dirty="0">
                  <a:solidFill>
                    <a:srgbClr val="FFFFCC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128</a:t>
              </a:r>
              <a:endParaRPr lang="zh-CN" altLang="zh-CN" sz="1400" b="1" dirty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14349" name="Rectangle 1079"/>
            <p:cNvSpPr/>
            <p:nvPr/>
          </p:nvSpPr>
          <p:spPr>
            <a:xfrm>
              <a:off x="0" y="672"/>
              <a:ext cx="930" cy="309"/>
            </a:xfrm>
            <a:prstGeom prst="rect">
              <a:avLst/>
            </a:prstGeom>
            <a:solidFill>
              <a:srgbClr val="FF7C80"/>
            </a:solidFill>
            <a:ln w="9525" cap="flat" cmpd="sng">
              <a:prstDash val="solid"/>
              <a:miter/>
              <a:headEnd type="none" w="med" len="med"/>
              <a:tailEnd type="none" w="med" len="med"/>
            </a:ln>
            <a:scene3d>
              <a:camera prst="legacyObliqueTopRight">
                <a:rot lat="0" lon="0" rev="0"/>
              </a:camera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7C80"/>
              </a:extrusionClr>
            </a:sp3d>
          </p:spPr>
          <p:txBody>
            <a:bodyPr wrap="none" anchor="ctr" anchorCtr="0">
              <a:flatTx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rgbClr val="6666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rgbClr val="666699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rgbClr val="666699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1400" b="1" dirty="0">
                  <a:solidFill>
                    <a:srgbClr val="FFFFCC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普及型</a:t>
              </a:r>
              <a:endParaRPr lang="zh-CN" altLang="en-US" sz="1400" b="1" dirty="0">
                <a:solidFill>
                  <a:srgbClr val="FFFFCC"/>
                </a:solidFill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14350" name="Rectangle 1080"/>
            <p:cNvSpPr/>
            <p:nvPr/>
          </p:nvSpPr>
          <p:spPr>
            <a:xfrm>
              <a:off x="930" y="672"/>
              <a:ext cx="465" cy="309"/>
            </a:xfrm>
            <a:prstGeom prst="rect">
              <a:avLst/>
            </a:prstGeom>
            <a:solidFill>
              <a:srgbClr val="FF7C80"/>
            </a:solidFill>
            <a:ln w="9525" cap="flat" cmpd="sng">
              <a:prstDash val="solid"/>
              <a:miter/>
              <a:headEnd type="none" w="med" len="med"/>
              <a:tailEnd type="none" w="med" len="med"/>
            </a:ln>
            <a:scene3d>
              <a:camera prst="legacyObliqueTopRight">
                <a:rot lat="0" lon="0" rev="0"/>
              </a:camera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7C80"/>
              </a:extrusionClr>
            </a:sp3d>
          </p:spPr>
          <p:txBody>
            <a:bodyPr wrap="none" anchor="ctr" anchorCtr="0">
              <a:flatTx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rgbClr val="6666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rgbClr val="666699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rgbClr val="666699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zh-CN" sz="1400" b="1" dirty="0">
                  <a:solidFill>
                    <a:srgbClr val="FFFFCC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24</a:t>
              </a:r>
              <a:r>
                <a:rPr lang="zh-CN" altLang="zh-CN" sz="1400" b="1" dirty="0">
                  <a:solidFill>
                    <a:srgbClr val="FFFFCC"/>
                  </a:solidFill>
                  <a:latin typeface="幼圆" panose="02010509060101010101" pitchFamily="49" charset="-122"/>
                  <a:ea typeface="幼圆" panose="02010509060101010101" pitchFamily="49" charset="-122"/>
                  <a:sym typeface="Symbol" panose="05050102010706020507" pitchFamily="18" charset="2"/>
                </a:rPr>
                <a:t>24</a:t>
              </a:r>
              <a:endParaRPr lang="zh-CN" altLang="zh-CN" sz="1400" b="1" dirty="0">
                <a:solidFill>
                  <a:srgbClr val="FFFFCC"/>
                </a:solidFill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14351" name="Rectangle 1081"/>
            <p:cNvSpPr/>
            <p:nvPr/>
          </p:nvSpPr>
          <p:spPr>
            <a:xfrm>
              <a:off x="1395" y="672"/>
              <a:ext cx="813" cy="309"/>
            </a:xfrm>
            <a:prstGeom prst="rect">
              <a:avLst/>
            </a:prstGeom>
            <a:solidFill>
              <a:srgbClr val="FF7C80"/>
            </a:solidFill>
            <a:ln w="9525" cap="flat" cmpd="sng">
              <a:prstDash val="solid"/>
              <a:miter/>
              <a:headEnd type="none" w="med" len="med"/>
              <a:tailEnd type="none" w="med" len="med"/>
            </a:ln>
            <a:scene3d>
              <a:camera prst="legacyObliqueTopRight">
                <a:rot lat="0" lon="0" rev="0"/>
              </a:camera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7C80"/>
              </a:extrusionClr>
            </a:sp3d>
          </p:spPr>
          <p:txBody>
            <a:bodyPr wrap="none" anchor="ctr" anchorCtr="0">
              <a:flatTx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rgbClr val="6666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rgbClr val="666699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rgbClr val="666699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endParaRPr lang="zh-CN" altLang="zh-CN" sz="1400" b="1" dirty="0">
                <a:solidFill>
                  <a:srgbClr val="FFFFCC"/>
                </a:solidFill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14352" name="Text Box 1082"/>
            <p:cNvSpPr txBox="1"/>
            <p:nvPr/>
          </p:nvSpPr>
          <p:spPr>
            <a:xfrm>
              <a:off x="1680" y="734"/>
              <a:ext cx="252" cy="21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rgbClr val="6666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rgbClr val="666699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rgbClr val="666699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zh-CN" sz="1400" b="1" dirty="0">
                  <a:solidFill>
                    <a:srgbClr val="FFFFCC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72</a:t>
              </a:r>
              <a:endParaRPr lang="zh-CN" altLang="zh-CN" sz="1400" b="1" dirty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14353" name="Rectangle 1083"/>
            <p:cNvSpPr/>
            <p:nvPr/>
          </p:nvSpPr>
          <p:spPr>
            <a:xfrm>
              <a:off x="0" y="336"/>
              <a:ext cx="930" cy="310"/>
            </a:xfrm>
            <a:prstGeom prst="rect">
              <a:avLst/>
            </a:prstGeom>
            <a:solidFill>
              <a:srgbClr val="FF7C80"/>
            </a:solidFill>
            <a:ln w="9525" cap="flat" cmpd="sng">
              <a:prstDash val="solid"/>
              <a:miter/>
              <a:headEnd type="none" w="med" len="med"/>
              <a:tailEnd type="none" w="med" len="med"/>
            </a:ln>
            <a:scene3d>
              <a:camera prst="legacyObliqueTopRight">
                <a:rot lat="0" lon="0" rev="0"/>
              </a:camera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7C80"/>
              </a:extrusionClr>
            </a:sp3d>
          </p:spPr>
          <p:txBody>
            <a:bodyPr wrap="none" anchor="ctr" anchorCtr="0">
              <a:flatTx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rgbClr val="6666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rgbClr val="666699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rgbClr val="666699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1400" b="1" dirty="0">
                  <a:solidFill>
                    <a:srgbClr val="FFFFCC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简易型</a:t>
              </a:r>
              <a:endParaRPr lang="zh-CN" altLang="en-US" sz="1400" b="1" dirty="0">
                <a:solidFill>
                  <a:srgbClr val="FFFFCC"/>
                </a:solidFill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14354" name="Rectangle 1084"/>
            <p:cNvSpPr/>
            <p:nvPr/>
          </p:nvSpPr>
          <p:spPr>
            <a:xfrm>
              <a:off x="930" y="336"/>
              <a:ext cx="465" cy="310"/>
            </a:xfrm>
            <a:prstGeom prst="rect">
              <a:avLst/>
            </a:prstGeom>
            <a:solidFill>
              <a:srgbClr val="FF7C80"/>
            </a:solidFill>
            <a:ln w="9525" cap="flat" cmpd="sng">
              <a:prstDash val="solid"/>
              <a:miter/>
              <a:headEnd type="none" w="med" len="med"/>
              <a:tailEnd type="none" w="med" len="med"/>
            </a:ln>
            <a:scene3d>
              <a:camera prst="legacyObliqueTopRight">
                <a:rot lat="0" lon="0" rev="0"/>
              </a:camera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7C80"/>
              </a:extrusionClr>
            </a:sp3d>
          </p:spPr>
          <p:txBody>
            <a:bodyPr wrap="none" anchor="ctr" anchorCtr="0">
              <a:flatTx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rgbClr val="6666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rgbClr val="666699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rgbClr val="666699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zh-CN" sz="1400" b="1" dirty="0">
                  <a:solidFill>
                    <a:srgbClr val="FFFFCC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16</a:t>
              </a:r>
              <a:r>
                <a:rPr lang="zh-CN" altLang="zh-CN" sz="1400" b="1" dirty="0">
                  <a:solidFill>
                    <a:srgbClr val="FFFFCC"/>
                  </a:solidFill>
                  <a:latin typeface="幼圆" panose="02010509060101010101" pitchFamily="49" charset="-122"/>
                  <a:ea typeface="幼圆" panose="02010509060101010101" pitchFamily="49" charset="-122"/>
                  <a:sym typeface="Symbol" panose="05050102010706020507" pitchFamily="18" charset="2"/>
                </a:rPr>
                <a:t></a:t>
              </a:r>
              <a:r>
                <a:rPr lang="zh-CN" altLang="zh-CN" sz="1400" b="1" dirty="0">
                  <a:solidFill>
                    <a:srgbClr val="FFFFCC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16</a:t>
              </a:r>
              <a:endParaRPr lang="zh-CN" altLang="zh-CN" sz="1400" b="1" dirty="0">
                <a:solidFill>
                  <a:srgbClr val="FFFFCC"/>
                </a:solidFill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14355" name="Rectangle 1085"/>
            <p:cNvSpPr/>
            <p:nvPr/>
          </p:nvSpPr>
          <p:spPr>
            <a:xfrm>
              <a:off x="1395" y="336"/>
              <a:ext cx="813" cy="310"/>
            </a:xfrm>
            <a:prstGeom prst="rect">
              <a:avLst/>
            </a:prstGeom>
            <a:solidFill>
              <a:srgbClr val="FF7C80"/>
            </a:solidFill>
            <a:ln w="9525" cap="flat" cmpd="sng">
              <a:prstDash val="solid"/>
              <a:miter/>
              <a:headEnd type="none" w="med" len="med"/>
              <a:tailEnd type="none" w="med" len="med"/>
            </a:ln>
            <a:scene3d>
              <a:camera prst="legacyObliqueTopRight">
                <a:rot lat="0" lon="0" rev="0"/>
              </a:camera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7C80"/>
              </a:extrusionClr>
            </a:sp3d>
          </p:spPr>
          <p:txBody>
            <a:bodyPr wrap="none" anchor="ctr" anchorCtr="0">
              <a:flatTx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rgbClr val="6666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rgbClr val="666699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rgbClr val="666699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zh-CN" sz="1400" b="1" dirty="0">
                  <a:solidFill>
                    <a:srgbClr val="FFFFCC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32</a:t>
              </a:r>
              <a:endParaRPr lang="zh-CN" altLang="zh-CN" sz="1400" b="1" dirty="0">
                <a:solidFill>
                  <a:srgbClr val="FFFFCC"/>
                </a:solidFill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14356" name="Rectangle 1086"/>
            <p:cNvSpPr/>
            <p:nvPr/>
          </p:nvSpPr>
          <p:spPr>
            <a:xfrm>
              <a:off x="0" y="0"/>
              <a:ext cx="930" cy="310"/>
            </a:xfrm>
            <a:prstGeom prst="rect">
              <a:avLst/>
            </a:prstGeom>
            <a:solidFill>
              <a:srgbClr val="FF7C80"/>
            </a:solidFill>
            <a:ln w="9525" cap="flat" cmpd="sng">
              <a:prstDash val="solid"/>
              <a:miter/>
              <a:headEnd type="none" w="med" len="med"/>
              <a:tailEnd type="none" w="med" len="med"/>
            </a:ln>
            <a:scene3d>
              <a:camera prst="legacyObliqueTopRight">
                <a:rot lat="0" lon="0" rev="0"/>
              </a:camera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7C80"/>
              </a:extrusionClr>
            </a:sp3d>
          </p:spPr>
          <p:txBody>
            <a:bodyPr wrap="none" anchor="ctr" anchorCtr="0">
              <a:flatTx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rgbClr val="6666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rgbClr val="666699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rgbClr val="666699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1400" b="1" dirty="0">
                  <a:solidFill>
                    <a:srgbClr val="FFFFCC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汉字点阵类型</a:t>
              </a:r>
              <a:endParaRPr lang="zh-CN" altLang="en-US" sz="1400" b="1" dirty="0">
                <a:solidFill>
                  <a:srgbClr val="FFFFCC"/>
                </a:solidFill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14357" name="Rectangle 1087"/>
            <p:cNvSpPr/>
            <p:nvPr/>
          </p:nvSpPr>
          <p:spPr>
            <a:xfrm>
              <a:off x="930" y="0"/>
              <a:ext cx="465" cy="310"/>
            </a:xfrm>
            <a:prstGeom prst="rect">
              <a:avLst/>
            </a:prstGeom>
            <a:solidFill>
              <a:srgbClr val="FF7C80"/>
            </a:solidFill>
            <a:ln w="9525" cap="flat" cmpd="sng">
              <a:prstDash val="solid"/>
              <a:miter/>
              <a:headEnd type="none" w="med" len="med"/>
              <a:tailEnd type="none" w="med" len="med"/>
            </a:ln>
            <a:scene3d>
              <a:camera prst="legacyObliqueTopRight">
                <a:rot lat="0" lon="0" rev="0"/>
              </a:camera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7C80"/>
              </a:extrusionClr>
            </a:sp3d>
          </p:spPr>
          <p:txBody>
            <a:bodyPr wrap="none" anchor="ctr" anchorCtr="0">
              <a:flatTx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rgbClr val="6666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rgbClr val="666699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rgbClr val="666699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1400" b="1" dirty="0">
                  <a:solidFill>
                    <a:srgbClr val="FFFFCC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点阵</a:t>
              </a:r>
              <a:endParaRPr lang="zh-CN" altLang="en-US" sz="1400" b="1" dirty="0">
                <a:solidFill>
                  <a:srgbClr val="FFFFCC"/>
                </a:solidFill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14358" name="Rectangle 1088"/>
            <p:cNvSpPr/>
            <p:nvPr/>
          </p:nvSpPr>
          <p:spPr>
            <a:xfrm>
              <a:off x="1395" y="0"/>
              <a:ext cx="813" cy="310"/>
            </a:xfrm>
            <a:prstGeom prst="rect">
              <a:avLst/>
            </a:prstGeom>
            <a:solidFill>
              <a:srgbClr val="FF7C80"/>
            </a:solidFill>
            <a:ln w="9525" cap="flat" cmpd="sng">
              <a:prstDash val="solid"/>
              <a:miter/>
              <a:headEnd type="none" w="med" len="med"/>
              <a:tailEnd type="none" w="med" len="med"/>
            </a:ln>
            <a:scene3d>
              <a:camera prst="legacyObliqueTopRight">
                <a:rot lat="0" lon="0" rev="0"/>
              </a:camera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7C80"/>
              </a:extrusionClr>
            </a:sp3d>
          </p:spPr>
          <p:txBody>
            <a:bodyPr wrap="none" anchor="ctr" anchorCtr="0">
              <a:flatTx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rgbClr val="6666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rgbClr val="666699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rgbClr val="666699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None/>
              </a:pPr>
              <a:r>
                <a:rPr lang="zh-CN" altLang="en-US" sz="1400" b="1" dirty="0">
                  <a:solidFill>
                    <a:srgbClr val="FFFFCC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占用字节数</a:t>
              </a:r>
              <a:endParaRPr lang="zh-CN" altLang="en-US" sz="1400" b="1" dirty="0">
                <a:solidFill>
                  <a:srgbClr val="FFFFCC"/>
                </a:solidFill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</p:grpSp>
    </p:spTree>
  </p:cSld>
  <p:clrMapOvr>
    <a:masterClrMapping/>
  </p:clrMapOvr>
  <p:transition spd="med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Rectangle 2"/>
          <p:cNvSpPr>
            <a:spLocks noGrp="1"/>
          </p:cNvSpPr>
          <p:nvPr>
            <p:ph type="title"/>
          </p:nvPr>
        </p:nvSpPr>
        <p:spPr>
          <a:xfrm>
            <a:off x="107950" y="981075"/>
            <a:ext cx="8785225" cy="6858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200" dirty="0"/>
              <a:t>2.1.2 数值型数据的完整表示要解决三个问题：</a:t>
            </a:r>
            <a:endParaRPr lang="zh-CN" altLang="en-US" sz="3200" dirty="0"/>
          </a:p>
        </p:txBody>
      </p:sp>
      <p:sp>
        <p:nvSpPr>
          <p:cNvPr id="16387" name="Rectangle 3"/>
          <p:cNvSpPr>
            <a:spLocks noGrp="1"/>
          </p:cNvSpPr>
          <p:nvPr>
            <p:ph idx="1"/>
          </p:nvPr>
        </p:nvSpPr>
        <p:spPr>
          <a:xfrm>
            <a:off x="611188" y="2133600"/>
            <a:ext cx="7772400" cy="2671763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b="1" dirty="0">
                <a:solidFill>
                  <a:srgbClr val="0000FF"/>
                </a:solidFill>
              </a:rPr>
              <a:t>采用什么进位计数制？</a:t>
            </a:r>
            <a:endParaRPr lang="zh-CN" altLang="en-US" b="1" dirty="0">
              <a:solidFill>
                <a:srgbClr val="0000FF"/>
              </a:solidFill>
            </a:endParaRPr>
          </a:p>
          <a:p>
            <a:pPr eaLnBrk="1" hangingPunct="1"/>
            <a:r>
              <a:rPr lang="zh-CN" altLang="en-US" b="1" dirty="0">
                <a:solidFill>
                  <a:srgbClr val="0000FF"/>
                </a:solidFill>
              </a:rPr>
              <a:t>怎么处置小数点位置？</a:t>
            </a:r>
            <a:endParaRPr lang="zh-CN" altLang="en-US" b="1" dirty="0">
              <a:solidFill>
                <a:srgbClr val="0000FF"/>
              </a:solidFill>
            </a:endParaRPr>
          </a:p>
          <a:p>
            <a:pPr eaLnBrk="1" hangingPunct="1"/>
            <a:r>
              <a:rPr lang="zh-CN" altLang="en-US" b="1" dirty="0">
                <a:solidFill>
                  <a:srgbClr val="0000FF"/>
                </a:solidFill>
              </a:rPr>
              <a:t>如何使符号数字化？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Rectangle 2"/>
          <p:cNvSpPr>
            <a:spLocks noGrp="1"/>
          </p:cNvSpPr>
          <p:nvPr>
            <p:ph type="title"/>
          </p:nvPr>
        </p:nvSpPr>
        <p:spPr>
          <a:xfrm>
            <a:off x="179388" y="1052513"/>
            <a:ext cx="7620000" cy="685800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dirty="0"/>
              <a:t>一、进位计数制</a:t>
            </a:r>
            <a:endParaRPr lang="zh-CN" altLang="en-US" dirty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981200"/>
            <a:ext cx="8135938" cy="4114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基本概念：权、基数、数码。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计算机常用进位计数制：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1、二进制（B）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2、八进制（Q）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3、十进制（D）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4、十六进制（H）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2"/>
          <p:cNvSpPr>
            <a:spLocks noGrp="1"/>
          </p:cNvSpPr>
          <p:nvPr>
            <p:ph type="title"/>
          </p:nvPr>
        </p:nvSpPr>
        <p:spPr>
          <a:xfrm>
            <a:off x="179388" y="1052513"/>
            <a:ext cx="7620000" cy="685800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dirty="0"/>
              <a:t>二、常用进制数的相互转化运算方法：</a:t>
            </a:r>
            <a:endParaRPr lang="zh-CN" altLang="en-US" dirty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1846263"/>
            <a:ext cx="8062913" cy="46085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 panose="020B0604020202020204" pitchFamily="34" charset="0"/>
              </a:rPr>
              <a:t>1.二、八、十六进制数转化为十进制数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 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方法：按“权”展开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8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8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rgbClr val="8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 panose="020B0604020202020204" pitchFamily="34" charset="0"/>
              </a:rPr>
              <a:t>2.十进制数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 panose="020B0604020202020204" pitchFamily="34" charset="0"/>
              </a:rPr>
              <a:t>转化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 panose="020B0604020202020204" pitchFamily="34" charset="0"/>
              </a:rPr>
              <a:t>为二、八、十六进制数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  <a:sym typeface="Arial" panose="020B0604020202020204" pitchFamily="34" charset="0"/>
              </a:rPr>
              <a:t> 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  <a:sym typeface="Arial" panose="020B0604020202020204" pitchFamily="34" charset="0"/>
              </a:rPr>
              <a:t>方法：整数部分用除法，除以对应的基数，除到零为止，自下而上取余数；小数部分用乘法，乘以对应的基数，自上而下取进位。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8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  <a:sym typeface="Arial" panose="020B0604020202020204" pitchFamily="34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rgbClr val="8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endParaRPr lang="zh-CN" altLang="zh-CN" dirty="0"/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 panose="020B0604020202020204" pitchFamily="34" charset="0"/>
              </a:rPr>
              <a:t>3.二进制数与八进制数的相互转化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  <a:sym typeface="Arial" panose="020B0604020202020204" pitchFamily="34" charset="0"/>
              </a:rPr>
              <a:t>  方法：以小数点为界，三对一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8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  <a:sym typeface="Arial" panose="020B0604020202020204" pitchFamily="34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 panose="020B0604020202020204" pitchFamily="34" charset="0"/>
              </a:rPr>
              <a:t>4.二进制数与十六进制数的相互转化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  <a:sym typeface="Arial" panose="020B0604020202020204" pitchFamily="34" charset="0"/>
              </a:rPr>
              <a:t>  方法：以小数点为界，四对一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8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  <a:sym typeface="Arial" panose="020B0604020202020204" pitchFamily="34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 panose="020B0604020202020204" pitchFamily="34" charset="0"/>
              </a:rPr>
              <a:t>5.八进制数与十六进制数的相互转化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  <a:sym typeface="Arial" panose="020B0604020202020204" pitchFamily="34" charset="0"/>
              </a:rPr>
              <a:t>  方法：先转换为二进制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8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dirty="0"/>
              <a:t>例题：</a:t>
            </a:r>
            <a:endParaRPr lang="zh-CN" altLang="en-US" dirty="0"/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(1101.01)</a:t>
            </a:r>
            <a:r>
              <a:rPr kumimoji="0" lang="zh-CN" altLang="en-US" sz="3200" b="1" i="0" u="none" strike="noStrike" kern="0" cap="none" spc="0" normalizeH="0" baseline="-2500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=(          )</a:t>
            </a:r>
            <a:r>
              <a:rPr kumimoji="0" lang="zh-CN" altLang="en-US" sz="3200" b="1" i="0" u="none" strike="noStrike" kern="0" cap="none" spc="0" normalizeH="0" baseline="-2500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 panose="020B0604020202020204" pitchFamily="34" charset="0"/>
              </a:rPr>
              <a:t>10</a:t>
            </a:r>
            <a:endParaRPr kumimoji="0" lang="zh-CN" altLang="en-US" sz="3200" b="1" i="0" u="none" strike="noStrike" kern="0" cap="none" spc="0" normalizeH="0" baseline="-25000" noProof="0">
              <a:ln>
                <a:noFill/>
              </a:ln>
              <a:solidFill>
                <a:srgbClr val="666699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(73.4)</a:t>
            </a:r>
            <a:r>
              <a:rPr kumimoji="0" lang="zh-CN" altLang="en-US" sz="3200" b="1" i="0" u="none" strike="noStrike" kern="0" cap="none" spc="0" normalizeH="0" baseline="-2500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 panose="020B0604020202020204" pitchFamily="34" charset="0"/>
              </a:rPr>
              <a:t>8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=(         )</a:t>
            </a:r>
            <a:r>
              <a:rPr kumimoji="0" lang="zh-CN" altLang="en-US" sz="3200" b="1" i="0" u="none" strike="noStrike" kern="0" cap="none" spc="0" normalizeH="0" baseline="-2500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 panose="020B0604020202020204" pitchFamily="34" charset="0"/>
              </a:rPr>
              <a:t>10</a:t>
            </a:r>
            <a:endParaRPr kumimoji="0" lang="zh-CN" altLang="en-US" sz="3200" b="1" i="0" u="none" strike="noStrike" kern="0" cap="none" spc="0" normalizeH="0" baseline="-25000" noProof="0">
              <a:ln>
                <a:noFill/>
              </a:ln>
              <a:solidFill>
                <a:srgbClr val="666699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(1AD)</a:t>
            </a:r>
            <a:r>
              <a:rPr kumimoji="0" lang="zh-CN" altLang="en-US" sz="3200" b="1" i="0" u="none" strike="noStrike" kern="0" cap="none" spc="0" normalizeH="0" baseline="-2500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 panose="020B0604020202020204" pitchFamily="34" charset="0"/>
              </a:rPr>
              <a:t>16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=(        )</a:t>
            </a:r>
            <a:r>
              <a:rPr kumimoji="0" lang="zh-CN" altLang="en-US" sz="3200" b="1" i="0" u="none" strike="noStrike" kern="0" cap="none" spc="0" normalizeH="0" baseline="-2500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 panose="020B0604020202020204" pitchFamily="34" charset="0"/>
              </a:rPr>
              <a:t>10</a:t>
            </a:r>
            <a:endParaRPr kumimoji="0" lang="zh-CN" altLang="en-US" sz="3200" b="1" i="0" u="none" strike="noStrike" kern="0" cap="none" spc="0" normalizeH="0" baseline="-25000" noProof="0">
              <a:ln>
                <a:noFill/>
              </a:ln>
              <a:solidFill>
                <a:srgbClr val="666699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(29.75)</a:t>
            </a:r>
            <a:r>
              <a:rPr kumimoji="0" lang="zh-CN" altLang="en-US" sz="3200" b="1" i="0" u="none" strike="noStrike" kern="0" cap="none" spc="0" normalizeH="0" baseline="-2500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 panose="020B0604020202020204" pitchFamily="34" charset="0"/>
              </a:rPr>
              <a:t>10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=(             )</a:t>
            </a:r>
            <a:r>
              <a:rPr kumimoji="0" lang="zh-CN" altLang="en-US" sz="3200" b="1" i="0" u="none" strike="noStrike" kern="0" cap="none" spc="0" normalizeH="0" baseline="-2500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 panose="020B0604020202020204" pitchFamily="34" charset="0"/>
              </a:rPr>
              <a:t>2</a:t>
            </a:r>
            <a:endParaRPr kumimoji="0" lang="zh-CN" altLang="en-US" sz="3200" b="1" i="0" u="none" strike="noStrike" kern="0" cap="none" spc="0" normalizeH="0" baseline="-25000" noProof="0">
              <a:ln>
                <a:noFill/>
              </a:ln>
              <a:solidFill>
                <a:srgbClr val="666699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(87.5)</a:t>
            </a:r>
            <a:r>
              <a:rPr kumimoji="0" lang="zh-CN" altLang="en-US" sz="3200" b="1" i="0" u="none" strike="noStrike" kern="0" cap="none" spc="0" normalizeH="0" baseline="-2500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 panose="020B0604020202020204" pitchFamily="34" charset="0"/>
              </a:rPr>
              <a:t>10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=(             )</a:t>
            </a:r>
            <a:r>
              <a:rPr kumimoji="0" lang="zh-CN" altLang="en-US" sz="3200" b="1" i="0" u="none" strike="noStrike" kern="0" cap="none" spc="0" normalizeH="0" baseline="-2500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 panose="020B0604020202020204" pitchFamily="34" charset="0"/>
              </a:rPr>
              <a:t>8</a:t>
            </a:r>
            <a:endParaRPr kumimoji="0" lang="zh-CN" altLang="en-US" sz="3200" b="1" i="0" u="none" strike="noStrike" kern="0" cap="none" spc="0" normalizeH="0" baseline="-25000" noProof="0">
              <a:ln>
                <a:noFill/>
              </a:ln>
              <a:solidFill>
                <a:srgbClr val="666699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(110101011.11101)</a:t>
            </a:r>
            <a:r>
              <a:rPr kumimoji="0" lang="zh-CN" altLang="en-US" sz="3200" b="1" i="0" u="none" strike="noStrike" kern="0" cap="none" spc="0" normalizeH="0" baseline="-2500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 panose="020B0604020202020204" pitchFamily="34" charset="0"/>
              </a:rPr>
              <a:t>2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=(          )</a:t>
            </a:r>
            <a:r>
              <a:rPr kumimoji="0" lang="zh-CN" altLang="en-US" sz="3200" b="1" i="0" u="none" strike="noStrike" kern="0" cap="none" spc="0" normalizeH="0" baseline="-2500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 panose="020B0604020202020204" pitchFamily="34" charset="0"/>
              </a:rPr>
              <a:t>8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=(         )</a:t>
            </a:r>
            <a:r>
              <a:rPr kumimoji="0" lang="zh-CN" altLang="en-US" sz="3200" b="1" i="0" u="none" strike="noStrike" kern="0" cap="none" spc="0" normalizeH="0" baseline="-2500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 panose="020B0604020202020204" pitchFamily="34" charset="0"/>
              </a:rPr>
              <a:t>16</a:t>
            </a:r>
            <a:endParaRPr kumimoji="0" lang="zh-CN" altLang="en-US" sz="3200" b="1" i="0" u="none" strike="noStrike" kern="0" cap="none" spc="0" normalizeH="0" baseline="-25000" noProof="0">
              <a:ln>
                <a:noFill/>
              </a:ln>
              <a:solidFill>
                <a:srgbClr val="666699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(65.32)</a:t>
            </a:r>
            <a:r>
              <a:rPr kumimoji="0" lang="zh-CN" altLang="en-US" sz="3200" b="1" i="0" u="none" strike="noStrike" kern="0" cap="none" spc="0" normalizeH="0" baseline="-2500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 panose="020B0604020202020204" pitchFamily="34" charset="0"/>
              </a:rPr>
              <a:t>8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=(         )</a:t>
            </a:r>
            <a:r>
              <a:rPr kumimoji="0" lang="zh-CN" altLang="en-US" sz="3200" b="1" i="0" u="none" strike="noStrike" kern="0" cap="none" spc="0" normalizeH="0" baseline="-2500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Arial" panose="020B0604020202020204" pitchFamily="34" charset="0"/>
              </a:rPr>
              <a:t>16</a:t>
            </a:r>
            <a:endParaRPr kumimoji="0" lang="zh-CN" altLang="en-US" sz="3200" b="1" i="0" u="none" strike="noStrike" kern="0" cap="none" spc="0" normalizeH="0" baseline="-25000" noProof="0">
              <a:ln>
                <a:noFill/>
              </a:ln>
              <a:solidFill>
                <a:srgbClr val="666699"/>
              </a:solidFill>
              <a:effectLst/>
              <a:uLnTx/>
              <a:uFillTx/>
              <a:latin typeface="+mn-lt"/>
              <a:ea typeface="+mn-ea"/>
              <a:cs typeface="+mn-cs"/>
              <a:sym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66669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rgbClr val="66669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rgbClr val="66669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Rectangle 2"/>
          <p:cNvSpPr>
            <a:spLocks noGrp="1"/>
          </p:cNvSpPr>
          <p:nvPr>
            <p:ph type="title"/>
          </p:nvPr>
        </p:nvSpPr>
        <p:spPr>
          <a:xfrm>
            <a:off x="107950" y="261938"/>
            <a:ext cx="8856663" cy="685800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3200" dirty="0"/>
              <a:t>三、二—十进制（BCD码，</a:t>
            </a:r>
            <a:r>
              <a:rPr lang="zh-CN" altLang="en-US" sz="2800" dirty="0"/>
              <a:t>binary coded decimal）</a:t>
            </a:r>
            <a:endParaRPr lang="zh-CN" altLang="en-US" sz="2800" dirty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180975" y="1339850"/>
            <a:ext cx="8712200" cy="51165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1" i="1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定义：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用4位二进制数表示1位十进制数。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8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Arial" panose="020B0604020202020204" pitchFamily="34" charset="0"/>
              </a:rPr>
              <a:t>目前,大多数通用性较强的计算机都能直接处理十进制形式表示的数据。常用BCD码作为二—十转换的中间过渡，当BCD码送入计算机中，再通过标准子程序将其转换成纯二进制数。形式是二进制，本质是十进制。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  <a:sym typeface="Arial" panose="020B0604020202020204" pitchFamily="34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Arial" panose="020B0604020202020204" pitchFamily="34" charset="0"/>
              </a:rPr>
              <a:t>十进制数串在计算机内主要有两种表示形式： 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  <a:sym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Arial" panose="020B0604020202020204" pitchFamily="34" charset="0"/>
              </a:rPr>
              <a:t>1.字符串形式（非压缩BCD码）：一个字节存放一个十进制数位。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  <a:sym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  <a:sym typeface="Arial" panose="020B0604020202020204" pitchFamily="34" charset="0"/>
              </a:rPr>
              <a:t>2.压缩的十进制数串形式（压缩BCD码）：一个字节存放二个十进制数位。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宋体" panose="02010600030101010101" pitchFamily="2" charset="-122"/>
              <a:ea typeface="+mn-ea"/>
              <a:cs typeface="+mn-cs"/>
              <a:sym typeface="Arial" panose="020B0604020202020204" pitchFamily="34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9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9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900" b="0" i="0" u="none" strike="noStrike" kern="0" cap="none" spc="0" normalizeH="0" baseline="0" noProof="0">
              <a:ln>
                <a:noFill/>
              </a:ln>
              <a:solidFill>
                <a:srgbClr val="66669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Rectangle 2"/>
          <p:cNvSpPr>
            <a:spLocks noGrp="1"/>
          </p:cNvSpPr>
          <p:nvPr>
            <p:ph idx="1"/>
          </p:nvPr>
        </p:nvSpPr>
        <p:spPr>
          <a:xfrm>
            <a:off x="685800" y="1981200"/>
            <a:ext cx="8062913" cy="4114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endParaRPr lang="zh-CN" altLang="zh-CN" b="1" dirty="0"/>
          </a:p>
          <a:p>
            <a:pPr eaLnBrk="1" hangingPunct="1">
              <a:lnSpc>
                <a:spcPct val="110000"/>
              </a:lnSpc>
            </a:pPr>
            <a:r>
              <a:rPr lang="zh-CN" altLang="en-US" b="1" dirty="0"/>
              <a:t>由于</a:t>
            </a:r>
            <a:r>
              <a:rPr lang="zh-CN" altLang="zh-CN" sz="2400" b="1" dirty="0">
                <a:solidFill>
                  <a:srgbClr val="800000"/>
                </a:solidFill>
                <a:latin typeface="Tahoma" panose="020B0604030504040204" pitchFamily="34" charset="0"/>
                <a:ea typeface="华文行楷" panose="02010800040101010101" pitchFamily="2" charset="-122"/>
              </a:rPr>
              <a:t>2</a:t>
            </a:r>
            <a:r>
              <a:rPr lang="zh-CN" altLang="zh-CN" sz="2400" b="1" baseline="30000" dirty="0">
                <a:solidFill>
                  <a:srgbClr val="800000"/>
                </a:solidFill>
                <a:latin typeface="Tahoma" panose="020B0604030504040204" pitchFamily="34" charset="0"/>
                <a:ea typeface="华文行楷" panose="02010800040101010101" pitchFamily="2" charset="-122"/>
              </a:rPr>
              <a:t>3</a:t>
            </a:r>
            <a:r>
              <a:rPr lang="zh-CN" altLang="zh-CN" b="1" dirty="0"/>
              <a:t>=8</a:t>
            </a:r>
            <a:r>
              <a:rPr lang="zh-CN" altLang="en-US" b="1" dirty="0"/>
              <a:t>，</a:t>
            </a:r>
            <a:r>
              <a:rPr lang="zh-CN" altLang="zh-CN" sz="2400" b="1" dirty="0">
                <a:solidFill>
                  <a:srgbClr val="800000"/>
                </a:solidFill>
                <a:latin typeface="Tahoma" panose="020B0604030504040204" pitchFamily="34" charset="0"/>
                <a:ea typeface="华文行楷" panose="02010800040101010101" pitchFamily="2" charset="-122"/>
              </a:rPr>
              <a:t>2</a:t>
            </a:r>
            <a:r>
              <a:rPr lang="zh-CN" altLang="zh-CN" sz="2400" b="1" baseline="30000" dirty="0">
                <a:solidFill>
                  <a:srgbClr val="800000"/>
                </a:solidFill>
                <a:latin typeface="Tahoma" panose="020B0604030504040204" pitchFamily="34" charset="0"/>
                <a:ea typeface="华文行楷" panose="02010800040101010101" pitchFamily="2" charset="-122"/>
              </a:rPr>
              <a:t>4</a:t>
            </a:r>
            <a:r>
              <a:rPr lang="zh-CN" altLang="zh-CN" b="1" dirty="0"/>
              <a:t>=16</a:t>
            </a:r>
            <a:r>
              <a:rPr lang="zh-CN" altLang="en-US" b="1" dirty="0"/>
              <a:t>，而十进制由</a:t>
            </a:r>
            <a:r>
              <a:rPr lang="zh-CN" altLang="zh-CN" b="1" dirty="0"/>
              <a:t>10</a:t>
            </a:r>
            <a:r>
              <a:rPr lang="zh-CN" altLang="en-US" b="1" dirty="0"/>
              <a:t>种状态，当用二进制表示时，应该用</a:t>
            </a:r>
            <a:r>
              <a:rPr lang="zh-CN" altLang="zh-CN" b="1" dirty="0"/>
              <a:t>4</a:t>
            </a:r>
            <a:r>
              <a:rPr lang="zh-CN" altLang="en-US" b="1" dirty="0"/>
              <a:t>位。</a:t>
            </a:r>
            <a:endParaRPr lang="zh-CN" altLang="en-US" b="1" dirty="0"/>
          </a:p>
          <a:p>
            <a:pPr eaLnBrk="1" hangingPunct="1">
              <a:lnSpc>
                <a:spcPct val="110000"/>
              </a:lnSpc>
            </a:pPr>
            <a:r>
              <a:rPr lang="zh-CN" altLang="en-US" b="1" dirty="0"/>
              <a:t>从每个二进制位是否有确定的位权区分，可把二</a:t>
            </a:r>
            <a:r>
              <a:rPr lang="zh-CN" altLang="zh-CN" b="1" dirty="0"/>
              <a:t>—</a:t>
            </a:r>
            <a:r>
              <a:rPr lang="zh-CN" altLang="en-US" b="1" dirty="0"/>
              <a:t>十进制编码分为有权码和无权码两种。</a:t>
            </a:r>
            <a:endParaRPr lang="zh-CN" altLang="en-US" b="1" dirty="0"/>
          </a:p>
        </p:txBody>
      </p:sp>
      <p:sp>
        <p:nvSpPr>
          <p:cNvPr id="22531" name="Text Box 3"/>
          <p:cNvSpPr txBox="1"/>
          <p:nvPr/>
        </p:nvSpPr>
        <p:spPr>
          <a:xfrm>
            <a:off x="395288" y="1270000"/>
            <a:ext cx="8266112" cy="9445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800000"/>
                </a:solidFill>
                <a:latin typeface="Tahoma" panose="020B0604030504040204" pitchFamily="34" charset="0"/>
                <a:ea typeface="华文行楷" panose="02010800040101010101" pitchFamily="2" charset="-122"/>
              </a:rPr>
              <a:t>思考： </a:t>
            </a:r>
            <a:r>
              <a:rPr lang="zh-CN" altLang="zh-CN" sz="2800" b="1" dirty="0">
                <a:solidFill>
                  <a:srgbClr val="800000"/>
                </a:solidFill>
                <a:latin typeface="Tahoma" panose="020B0604030504040204" pitchFamily="34" charset="0"/>
                <a:ea typeface="华文行楷" panose="02010800040101010101" pitchFamily="2" charset="-122"/>
              </a:rPr>
              <a:t>0</a:t>
            </a:r>
            <a:r>
              <a:rPr lang="zh-CN" altLang="en-US" sz="2800" b="1" dirty="0">
                <a:solidFill>
                  <a:srgbClr val="800000"/>
                </a:solidFill>
                <a:latin typeface="Tahoma" panose="020B0604030504040204" pitchFamily="34" charset="0"/>
                <a:ea typeface="华文行楷" panose="02010800040101010101" pitchFamily="2" charset="-122"/>
              </a:rPr>
              <a:t>、</a:t>
            </a:r>
            <a:r>
              <a:rPr lang="zh-CN" altLang="zh-CN" sz="2800" b="1" dirty="0">
                <a:solidFill>
                  <a:srgbClr val="800000"/>
                </a:solidFill>
                <a:latin typeface="Tahoma" panose="020B0604030504040204" pitchFamily="34" charset="0"/>
                <a:ea typeface="华文行楷" panose="02010800040101010101" pitchFamily="2" charset="-122"/>
              </a:rPr>
              <a:t>1</a:t>
            </a:r>
            <a:r>
              <a:rPr lang="zh-CN" altLang="en-US" sz="2800" b="1" dirty="0">
                <a:solidFill>
                  <a:srgbClr val="800000"/>
                </a:solidFill>
                <a:latin typeface="Tahoma" panose="020B0604030504040204" pitchFamily="34" charset="0"/>
                <a:ea typeface="华文行楷" panose="02010800040101010101" pitchFamily="2" charset="-122"/>
              </a:rPr>
              <a:t>、</a:t>
            </a:r>
            <a:r>
              <a:rPr lang="zh-CN" altLang="zh-CN" sz="2800" b="1" dirty="0">
                <a:solidFill>
                  <a:srgbClr val="800000"/>
                </a:solidFill>
                <a:latin typeface="Tahoma" panose="020B0604030504040204" pitchFamily="34" charset="0"/>
                <a:ea typeface="华文行楷" panose="02010800040101010101" pitchFamily="2" charset="-122"/>
              </a:rPr>
              <a:t>2</a:t>
            </a:r>
            <a:r>
              <a:rPr lang="zh-CN" altLang="zh-CN" sz="2800" b="1" dirty="0">
                <a:solidFill>
                  <a:srgbClr val="800000"/>
                </a:solidFill>
              </a:rPr>
              <a:t>…</a:t>
            </a:r>
            <a:r>
              <a:rPr lang="zh-CN" altLang="zh-CN" sz="2800" b="1" dirty="0">
                <a:solidFill>
                  <a:srgbClr val="800000"/>
                </a:solidFill>
                <a:latin typeface="Tahoma" panose="020B0604030504040204" pitchFamily="34" charset="0"/>
                <a:ea typeface="华文行楷" panose="02010800040101010101" pitchFamily="2" charset="-122"/>
              </a:rPr>
              <a:t> 9</a:t>
            </a:r>
            <a:r>
              <a:rPr lang="zh-CN" altLang="en-US" sz="2800" b="1" dirty="0">
                <a:solidFill>
                  <a:srgbClr val="800000"/>
                </a:solidFill>
                <a:latin typeface="Tahoma" panose="020B0604030504040204" pitchFamily="34" charset="0"/>
                <a:ea typeface="华文行楷" panose="02010800040101010101" pitchFamily="2" charset="-122"/>
              </a:rPr>
              <a:t>（共</a:t>
            </a:r>
            <a:r>
              <a:rPr lang="zh-CN" altLang="zh-CN" sz="2800" b="1" dirty="0">
                <a:solidFill>
                  <a:srgbClr val="800000"/>
                </a:solidFill>
                <a:latin typeface="Tahoma" panose="020B0604030504040204" pitchFamily="34" charset="0"/>
                <a:ea typeface="华文行楷" panose="02010800040101010101" pitchFamily="2" charset="-122"/>
              </a:rPr>
              <a:t>10</a:t>
            </a:r>
            <a:r>
              <a:rPr lang="zh-CN" altLang="en-US" sz="2800" b="1" dirty="0">
                <a:solidFill>
                  <a:srgbClr val="800000"/>
                </a:solidFill>
                <a:latin typeface="Tahoma" panose="020B0604030504040204" pitchFamily="34" charset="0"/>
                <a:ea typeface="华文行楷" panose="02010800040101010101" pitchFamily="2" charset="-122"/>
              </a:rPr>
              <a:t>个状态），需几个二进制位？</a:t>
            </a:r>
            <a:endParaRPr lang="zh-CN" altLang="en-US" sz="2800" b="1" dirty="0">
              <a:solidFill>
                <a:srgbClr val="800000"/>
              </a:solidFill>
              <a:latin typeface="Tahoma" panose="020B0604030504040204" pitchFamily="34" charset="0"/>
              <a:ea typeface="华文行楷" panose="02010800040101010101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981200"/>
            <a:ext cx="6046788" cy="4114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常用BCD码的分类：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1.有权码：</a:t>
            </a:r>
            <a:r>
              <a:rPr kumimoji="0" lang="zh-CN" altLang="en-US" sz="2800" b="1" i="0" u="sng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8421码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、2421码、5211码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2.无权码：余3码、格雷码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3555" name="Rectangle 3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endParaRPr lang="zh-CN" altLang="zh-CN" dirty="0"/>
          </a:p>
        </p:txBody>
      </p:sp>
      <p:graphicFrame>
        <p:nvGraphicFramePr>
          <p:cNvPr id="23556" name="Group 4"/>
          <p:cNvGraphicFramePr>
            <a:graphicFrameLocks noGrp="1"/>
          </p:cNvGraphicFramePr>
          <p:nvPr>
            <p:ph sz="half" idx="4294967295"/>
          </p:nvPr>
        </p:nvGraphicFramePr>
        <p:xfrm>
          <a:off x="3636963" y="4438650"/>
          <a:ext cx="3814763" cy="1514475"/>
        </p:xfrm>
        <a:graphic>
          <a:graphicData uri="http://schemas.openxmlformats.org/drawingml/2006/table">
            <a:tbl>
              <a:tblPr/>
              <a:tblGrid>
                <a:gridCol w="954087"/>
                <a:gridCol w="954088"/>
                <a:gridCol w="952500"/>
                <a:gridCol w="954087"/>
              </a:tblGrid>
              <a:tr h="755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6666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8</a:t>
                      </a: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6666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170" marR="90170" marT="46990" marB="469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6666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4</a:t>
                      </a: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6666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170" marR="90170" marT="46990" marB="469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6666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2</a:t>
                      </a: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6666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170" marR="90170" marT="46990" marB="469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6666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rgbClr val="6666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170" marR="90170" marT="46990" marB="469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58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6666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2</a:t>
                      </a:r>
                      <a:r>
                        <a:rPr kumimoji="0" lang="zh-CN" altLang="zh-CN" sz="2800" b="0" i="0" u="none" strike="noStrike" cap="none" normalizeH="0" baseline="30000">
                          <a:ln>
                            <a:noFill/>
                          </a:ln>
                          <a:solidFill>
                            <a:srgbClr val="6666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zh-CN" altLang="zh-CN" sz="2800" b="0" i="0" u="none" strike="noStrike" cap="none" normalizeH="0" baseline="30000">
                        <a:ln>
                          <a:noFill/>
                        </a:ln>
                        <a:solidFill>
                          <a:srgbClr val="6666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170" marR="90170" marT="46990" marB="469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6666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2</a:t>
                      </a:r>
                      <a:r>
                        <a:rPr kumimoji="0" lang="zh-CN" altLang="zh-CN" sz="2800" b="0" i="0" u="none" strike="noStrike" cap="none" normalizeH="0" baseline="30000">
                          <a:ln>
                            <a:noFill/>
                          </a:ln>
                          <a:solidFill>
                            <a:srgbClr val="6666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zh-CN" altLang="zh-CN" sz="2800" b="0" i="0" u="none" strike="noStrike" cap="none" normalizeH="0" baseline="30000">
                        <a:ln>
                          <a:noFill/>
                        </a:ln>
                        <a:solidFill>
                          <a:srgbClr val="6666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170" marR="90170" marT="46990" marB="469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6666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2</a:t>
                      </a:r>
                      <a:r>
                        <a:rPr kumimoji="0" lang="zh-CN" altLang="zh-CN" sz="2800" b="0" i="0" u="none" strike="noStrike" cap="none" normalizeH="0" baseline="30000">
                          <a:ln>
                            <a:noFill/>
                          </a:ln>
                          <a:solidFill>
                            <a:srgbClr val="6666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zh-CN" altLang="zh-CN" sz="2800" b="0" i="0" u="none" strike="noStrike" cap="none" normalizeH="0" baseline="30000">
                        <a:ln>
                          <a:noFill/>
                        </a:ln>
                        <a:solidFill>
                          <a:srgbClr val="6666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170" marR="90170" marT="46990" marB="469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6666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2</a:t>
                      </a:r>
                      <a:r>
                        <a:rPr kumimoji="0" lang="zh-CN" altLang="zh-CN" sz="2800" b="0" i="0" u="none" strike="noStrike" cap="none" normalizeH="0" baseline="30000">
                          <a:ln>
                            <a:noFill/>
                          </a:ln>
                          <a:solidFill>
                            <a:srgbClr val="6666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zh-CN" altLang="zh-CN" sz="2800" b="0" i="0" u="none" strike="noStrike" cap="none" normalizeH="0" baseline="30000">
                        <a:ln>
                          <a:noFill/>
                        </a:ln>
                        <a:solidFill>
                          <a:srgbClr val="6666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170" marR="90170" marT="46990" marB="469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3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endParaRPr lang="zh-CN" altLang="zh-CN" dirty="0"/>
          </a:p>
        </p:txBody>
      </p:sp>
      <p:graphicFrame>
        <p:nvGraphicFramePr>
          <p:cNvPr id="24579" name="Group 3"/>
          <p:cNvGraphicFramePr>
            <a:graphicFrameLocks noGrp="1"/>
          </p:cNvGraphicFramePr>
          <p:nvPr>
            <p:ph type="tbl" idx="4294967295"/>
          </p:nvPr>
        </p:nvGraphicFramePr>
        <p:xfrm>
          <a:off x="396875" y="768350"/>
          <a:ext cx="8208963" cy="5541963"/>
        </p:xfrm>
        <a:graphic>
          <a:graphicData uri="http://schemas.openxmlformats.org/drawingml/2006/table">
            <a:tbl>
              <a:tblPr/>
              <a:tblGrid>
                <a:gridCol w="1366838"/>
                <a:gridCol w="1368425"/>
                <a:gridCol w="1366837"/>
                <a:gridCol w="1368425"/>
                <a:gridCol w="1366838"/>
                <a:gridCol w="1371600"/>
              </a:tblGrid>
              <a:tr h="503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十进制数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8421码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2421码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5211码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余3码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格雷码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0000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0000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0000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0011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0000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503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0001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0001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0001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0100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0001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0010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0010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0011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0101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0011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503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0011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0011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0101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0110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0010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503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0100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0100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0111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0111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0110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0101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1011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1000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1000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1110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501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0110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1100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1010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1001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1010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7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0111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1101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1100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1010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1000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503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8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1000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1110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1110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1011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1100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9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1001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1111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1111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1100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0100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Text Box 2"/>
          <p:cNvSpPr txBox="1"/>
          <p:nvPr/>
        </p:nvSpPr>
        <p:spPr>
          <a:xfrm>
            <a:off x="1143000" y="1143000"/>
            <a:ext cx="5715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例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1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：求（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47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）</a:t>
            </a:r>
            <a:r>
              <a:rPr lang="zh-CN" altLang="zh-CN" sz="2400" b="1" baseline="-25000" dirty="0">
                <a:solidFill>
                  <a:schemeClr val="tx1"/>
                </a:solidFill>
                <a:latin typeface="Tahoma" panose="020B0604030504040204" pitchFamily="34" charset="0"/>
              </a:rPr>
              <a:t>10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+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（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32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）</a:t>
            </a:r>
            <a:r>
              <a:rPr lang="zh-CN" altLang="zh-CN" sz="2400" b="1" baseline="-25000" dirty="0">
                <a:solidFill>
                  <a:schemeClr val="tx1"/>
                </a:solidFill>
                <a:latin typeface="Tahoma" panose="020B0604030504040204" pitchFamily="34" charset="0"/>
              </a:rPr>
              <a:t>10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=</a:t>
            </a:r>
            <a:endParaRPr lang="zh-CN" altLang="zh-CN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25603" name="Text Box 3"/>
          <p:cNvSpPr txBox="1"/>
          <p:nvPr/>
        </p:nvSpPr>
        <p:spPr>
          <a:xfrm>
            <a:off x="1219200" y="1828800"/>
            <a:ext cx="104933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dirty="0">
                <a:solidFill>
                  <a:schemeClr val="tx1"/>
                </a:solidFill>
                <a:latin typeface="Tahoma" panose="020B0604030504040204" pitchFamily="34" charset="0"/>
              </a:rPr>
              <a:t>解：</a:t>
            </a:r>
            <a:endParaRPr lang="zh-CN" altLang="en-US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25604" name="Rectangle 4"/>
          <p:cNvSpPr/>
          <p:nvPr/>
        </p:nvSpPr>
        <p:spPr>
          <a:xfrm>
            <a:off x="1828800" y="2209800"/>
            <a:ext cx="1430338" cy="5175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（47）</a:t>
            </a:r>
            <a:r>
              <a:rPr lang="zh-CN" altLang="en-US" sz="2400" b="1" baseline="-25000" dirty="0">
                <a:solidFill>
                  <a:schemeClr val="tx1"/>
                </a:solidFill>
                <a:latin typeface="Tahoma" panose="020B0604030504040204" pitchFamily="34" charset="0"/>
              </a:rPr>
              <a:t>10</a:t>
            </a:r>
            <a:endParaRPr lang="zh-CN" altLang="en-US" sz="2400" b="1" baseline="-250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25605" name="Text Box 5"/>
          <p:cNvSpPr txBox="1"/>
          <p:nvPr/>
        </p:nvSpPr>
        <p:spPr>
          <a:xfrm>
            <a:off x="3429000" y="2286000"/>
            <a:ext cx="304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=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25606" name="Text Box 6"/>
          <p:cNvSpPr txBox="1"/>
          <p:nvPr/>
        </p:nvSpPr>
        <p:spPr>
          <a:xfrm>
            <a:off x="1600200" y="2819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+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25607" name="Rectangle 7"/>
          <p:cNvSpPr/>
          <p:nvPr/>
        </p:nvSpPr>
        <p:spPr>
          <a:xfrm>
            <a:off x="1828800" y="2819400"/>
            <a:ext cx="1430338" cy="5175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（32）</a:t>
            </a:r>
            <a:r>
              <a:rPr lang="zh-CN" altLang="en-US" sz="2400" b="1" baseline="-25000" dirty="0">
                <a:solidFill>
                  <a:schemeClr val="tx1"/>
                </a:solidFill>
                <a:latin typeface="Tahoma" panose="020B0604030504040204" pitchFamily="34" charset="0"/>
              </a:rPr>
              <a:t>10</a:t>
            </a:r>
            <a:endParaRPr lang="zh-CN" altLang="en-US" sz="2400" b="1" baseline="-250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25608" name="Text Box 8"/>
          <p:cNvSpPr txBox="1"/>
          <p:nvPr/>
        </p:nvSpPr>
        <p:spPr>
          <a:xfrm>
            <a:off x="3429000" y="2895600"/>
            <a:ext cx="609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=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25609" name="Line 9"/>
          <p:cNvSpPr/>
          <p:nvPr/>
        </p:nvSpPr>
        <p:spPr>
          <a:xfrm>
            <a:off x="1524000" y="3352800"/>
            <a:ext cx="5353050" cy="476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5610" name="Text Box 10"/>
          <p:cNvSpPr txBox="1"/>
          <p:nvPr/>
        </p:nvSpPr>
        <p:spPr>
          <a:xfrm>
            <a:off x="1880235" y="3429000"/>
            <a:ext cx="206121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（79）</a:t>
            </a:r>
            <a:r>
              <a:rPr lang="en-US" altLang="zh-CN" sz="2400" b="1" baseline="-25000" dirty="0">
                <a:solidFill>
                  <a:schemeClr val="tx1"/>
                </a:solidFill>
                <a:latin typeface="Tahoma" panose="020B0604030504040204" pitchFamily="34" charset="0"/>
              </a:rPr>
              <a:t>10    </a:t>
            </a:r>
            <a:r>
              <a:rPr lang="en-US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 </a:t>
            </a:r>
            <a:r>
              <a:rPr lang="en-US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=</a:t>
            </a:r>
            <a:endParaRPr lang="en-US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25611" name="Text Box 11"/>
          <p:cNvSpPr txBox="1"/>
          <p:nvPr/>
        </p:nvSpPr>
        <p:spPr>
          <a:xfrm>
            <a:off x="5257800" y="1143000"/>
            <a:ext cx="1600200" cy="5175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（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79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）</a:t>
            </a:r>
            <a:r>
              <a:rPr lang="zh-CN" altLang="zh-CN" sz="2400" b="1" baseline="-25000" dirty="0">
                <a:solidFill>
                  <a:schemeClr val="tx1"/>
                </a:solidFill>
                <a:latin typeface="Tahoma" panose="020B0604030504040204" pitchFamily="34" charset="0"/>
              </a:rPr>
              <a:t>10</a:t>
            </a:r>
            <a:endParaRPr lang="zh-CN" altLang="zh-CN" sz="2400" b="1" baseline="-250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24588" name="Text Box 12"/>
          <p:cNvSpPr txBox="1"/>
          <p:nvPr/>
        </p:nvSpPr>
        <p:spPr>
          <a:xfrm>
            <a:off x="3779838" y="2205038"/>
            <a:ext cx="3168650" cy="17256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tx1"/>
                </a:solidFill>
              </a:rPr>
              <a:t>（0100 0111）</a:t>
            </a:r>
            <a:r>
              <a:rPr lang="zh-CN" altLang="en-US" sz="2400" b="1" baseline="-25000" dirty="0">
                <a:solidFill>
                  <a:schemeClr val="tx1"/>
                </a:solidFill>
              </a:rPr>
              <a:t>BCD</a:t>
            </a:r>
            <a:endParaRPr lang="zh-CN" altLang="en-US" sz="2400" b="1" baseline="-25000" dirty="0">
              <a:solidFill>
                <a:schemeClr val="tx1"/>
              </a:solidFill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b="1" baseline="-25000" dirty="0">
              <a:solidFill>
                <a:schemeClr val="tx1"/>
              </a:solidFill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tx1"/>
                </a:solidFill>
              </a:rPr>
              <a:t>（00110010）</a:t>
            </a:r>
            <a:r>
              <a:rPr lang="zh-CN" altLang="en-US" sz="2400" b="1" baseline="-25000" dirty="0">
                <a:solidFill>
                  <a:schemeClr val="tx1"/>
                </a:solidFill>
              </a:rPr>
              <a:t>BCD</a:t>
            </a:r>
            <a:endParaRPr lang="zh-CN" altLang="en-US" sz="2400" b="1" baseline="-25000" dirty="0">
              <a:solidFill>
                <a:schemeClr val="tx1"/>
              </a:solidFill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b="1" baseline="-25000" dirty="0">
              <a:solidFill>
                <a:schemeClr val="tx1"/>
              </a:solidFill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tx1"/>
                </a:solidFill>
              </a:rPr>
              <a:t>（01111001）</a:t>
            </a:r>
            <a:r>
              <a:rPr lang="zh-CN" altLang="en-US" sz="2400" b="1" baseline="-25000" dirty="0">
                <a:solidFill>
                  <a:schemeClr val="tx1"/>
                </a:solidFill>
              </a:rPr>
              <a:t>BCD</a:t>
            </a:r>
            <a:endParaRPr lang="zh-CN" altLang="en-US" sz="2400" b="1" baseline="-25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6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6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56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56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56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56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56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56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56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56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>
                                            <p:txEl>
                                              <p:charRg st="16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56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56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56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56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56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56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>
                                            <p:txEl>
                                              <p:charRg st="31" end="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2" grpId="0"/>
      <p:bldP spid="25603" grpId="0"/>
      <p:bldP spid="25604" grpId="0"/>
      <p:bldP spid="25605" grpId="0"/>
      <p:bldP spid="25605" grpId="1"/>
      <p:bldP spid="25606" grpId="0"/>
      <p:bldP spid="25607" grpId="0"/>
      <p:bldP spid="25608" grpId="0"/>
      <p:bldP spid="25608" grpId="1"/>
      <p:bldP spid="25610" grpId="0"/>
      <p:bldP spid="2561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Text Box 2"/>
          <p:cNvSpPr txBox="1"/>
          <p:nvPr/>
        </p:nvSpPr>
        <p:spPr>
          <a:xfrm>
            <a:off x="1371600" y="1219200"/>
            <a:ext cx="5715000" cy="5175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例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2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：求（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5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）</a:t>
            </a:r>
            <a:r>
              <a:rPr lang="zh-CN" altLang="zh-CN" sz="2400" b="1" baseline="-25000" dirty="0">
                <a:solidFill>
                  <a:schemeClr val="tx1"/>
                </a:solidFill>
                <a:latin typeface="Tahoma" panose="020B0604030504040204" pitchFamily="34" charset="0"/>
              </a:rPr>
              <a:t>10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+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（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8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）</a:t>
            </a:r>
            <a:r>
              <a:rPr lang="zh-CN" altLang="zh-CN" sz="2400" b="1" baseline="-25000" dirty="0">
                <a:solidFill>
                  <a:schemeClr val="tx1"/>
                </a:solidFill>
                <a:latin typeface="Tahoma" panose="020B0604030504040204" pitchFamily="34" charset="0"/>
              </a:rPr>
              <a:t>10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=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  <a:sym typeface="Arial" panose="020B0604020202020204" pitchFamily="34" charset="0"/>
              </a:rPr>
              <a:t>（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  <a:sym typeface="Arial" panose="020B0604020202020204" pitchFamily="34" charset="0"/>
              </a:rPr>
              <a:t>13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  <a:sym typeface="Arial" panose="020B0604020202020204" pitchFamily="34" charset="0"/>
              </a:rPr>
              <a:t>）</a:t>
            </a:r>
            <a:r>
              <a:rPr lang="zh-CN" altLang="zh-CN" sz="2400" b="1" baseline="-25000" dirty="0">
                <a:solidFill>
                  <a:schemeClr val="tx1"/>
                </a:solidFill>
                <a:latin typeface="Tahoma" panose="020B0604030504040204" pitchFamily="34" charset="0"/>
                <a:sym typeface="Arial" panose="020B0604020202020204" pitchFamily="34" charset="0"/>
              </a:rPr>
              <a:t>10</a:t>
            </a:r>
            <a:endParaRPr lang="zh-CN" altLang="zh-CN" sz="2400" b="1" baseline="-25000" dirty="0">
              <a:solidFill>
                <a:schemeClr val="tx1"/>
              </a:solidFill>
              <a:latin typeface="Tahoma" panose="020B0604030504040204" pitchFamily="34" charset="0"/>
              <a:sym typeface="Arial" panose="020B0604020202020204" pitchFamily="34" charset="0"/>
            </a:endParaRPr>
          </a:p>
        </p:txBody>
      </p:sp>
      <p:sp>
        <p:nvSpPr>
          <p:cNvPr id="26627" name="Text Box 3"/>
          <p:cNvSpPr txBox="1"/>
          <p:nvPr/>
        </p:nvSpPr>
        <p:spPr>
          <a:xfrm>
            <a:off x="1447800" y="1905000"/>
            <a:ext cx="96361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dirty="0">
                <a:solidFill>
                  <a:schemeClr val="tx1"/>
                </a:solidFill>
                <a:latin typeface="Tahoma" panose="020B0604030504040204" pitchFamily="34" charset="0"/>
              </a:rPr>
              <a:t>解：</a:t>
            </a:r>
            <a:endParaRPr lang="zh-CN" altLang="en-US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26628" name="Rectangle 4"/>
          <p:cNvSpPr/>
          <p:nvPr/>
        </p:nvSpPr>
        <p:spPr>
          <a:xfrm>
            <a:off x="2133600" y="1905000"/>
            <a:ext cx="1236663" cy="5175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（5）</a:t>
            </a:r>
            <a:r>
              <a:rPr lang="zh-CN" altLang="en-US" sz="2400" b="1" baseline="-25000" dirty="0">
                <a:solidFill>
                  <a:schemeClr val="tx1"/>
                </a:solidFill>
                <a:latin typeface="Tahoma" panose="020B0604030504040204" pitchFamily="34" charset="0"/>
              </a:rPr>
              <a:t>10</a:t>
            </a:r>
            <a:endParaRPr lang="zh-CN" altLang="en-US" sz="2400" b="1" baseline="-250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26629" name="Text Box 5"/>
          <p:cNvSpPr txBox="1"/>
          <p:nvPr/>
        </p:nvSpPr>
        <p:spPr>
          <a:xfrm>
            <a:off x="3733800" y="1981200"/>
            <a:ext cx="304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=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26630" name="Text Box 6"/>
          <p:cNvSpPr txBox="1"/>
          <p:nvPr/>
        </p:nvSpPr>
        <p:spPr>
          <a:xfrm>
            <a:off x="4267200" y="1981200"/>
            <a:ext cx="1143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0101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26631" name="Text Box 7"/>
          <p:cNvSpPr txBox="1"/>
          <p:nvPr/>
        </p:nvSpPr>
        <p:spPr>
          <a:xfrm>
            <a:off x="1828800" y="2514600"/>
            <a:ext cx="381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+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26632" name="Text Box 8"/>
          <p:cNvSpPr txBox="1"/>
          <p:nvPr/>
        </p:nvSpPr>
        <p:spPr>
          <a:xfrm>
            <a:off x="3733800" y="2590800"/>
            <a:ext cx="609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=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26633" name="Text Box 9"/>
          <p:cNvSpPr txBox="1"/>
          <p:nvPr/>
        </p:nvSpPr>
        <p:spPr>
          <a:xfrm>
            <a:off x="4267200" y="2590800"/>
            <a:ext cx="914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1000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26634" name="Text Box 10"/>
          <p:cNvSpPr txBox="1"/>
          <p:nvPr/>
        </p:nvSpPr>
        <p:spPr>
          <a:xfrm>
            <a:off x="4267200" y="3124200"/>
            <a:ext cx="990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1101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26635" name="Rectangle 11"/>
          <p:cNvSpPr/>
          <p:nvPr/>
        </p:nvSpPr>
        <p:spPr>
          <a:xfrm>
            <a:off x="2133600" y="2514600"/>
            <a:ext cx="1236663" cy="5175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（8）</a:t>
            </a:r>
            <a:r>
              <a:rPr lang="zh-CN" altLang="en-US" sz="2400" b="1" baseline="-25000" dirty="0">
                <a:solidFill>
                  <a:schemeClr val="tx1"/>
                </a:solidFill>
                <a:latin typeface="Tahoma" panose="020B0604030504040204" pitchFamily="34" charset="0"/>
              </a:rPr>
              <a:t>10</a:t>
            </a:r>
            <a:endParaRPr lang="zh-CN" altLang="en-US" sz="2400" b="1" baseline="-250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26636" name="Line 12"/>
          <p:cNvSpPr/>
          <p:nvPr/>
        </p:nvSpPr>
        <p:spPr>
          <a:xfrm>
            <a:off x="1752600" y="3048000"/>
            <a:ext cx="3505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637" name="Rectangle 13"/>
          <p:cNvSpPr/>
          <p:nvPr/>
        </p:nvSpPr>
        <p:spPr>
          <a:xfrm>
            <a:off x="5638800" y="2667000"/>
            <a:ext cx="3276600" cy="53340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26638" name="Line 14"/>
          <p:cNvSpPr/>
          <p:nvPr/>
        </p:nvSpPr>
        <p:spPr>
          <a:xfrm>
            <a:off x="6858000" y="2667000"/>
            <a:ext cx="0" cy="53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639" name="Line 15"/>
          <p:cNvSpPr/>
          <p:nvPr/>
        </p:nvSpPr>
        <p:spPr>
          <a:xfrm>
            <a:off x="7620000" y="2667000"/>
            <a:ext cx="0" cy="53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640" name="Text Box 16"/>
          <p:cNvSpPr txBox="1"/>
          <p:nvPr/>
        </p:nvSpPr>
        <p:spPr>
          <a:xfrm>
            <a:off x="5562600" y="2209800"/>
            <a:ext cx="304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0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26641" name="Text Box 17"/>
          <p:cNvSpPr txBox="1"/>
          <p:nvPr/>
        </p:nvSpPr>
        <p:spPr>
          <a:xfrm>
            <a:off x="6553200" y="2209800"/>
            <a:ext cx="304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9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26642" name="Text Box 18"/>
          <p:cNvSpPr txBox="1"/>
          <p:nvPr/>
        </p:nvSpPr>
        <p:spPr>
          <a:xfrm>
            <a:off x="6858000" y="2209800"/>
            <a:ext cx="381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A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26643" name="Text Box 19"/>
          <p:cNvSpPr txBox="1"/>
          <p:nvPr/>
        </p:nvSpPr>
        <p:spPr>
          <a:xfrm>
            <a:off x="7315200" y="2209800"/>
            <a:ext cx="381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F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26644" name="Text Box 20"/>
          <p:cNvSpPr txBox="1"/>
          <p:nvPr/>
        </p:nvSpPr>
        <p:spPr>
          <a:xfrm>
            <a:off x="7848600" y="2209800"/>
            <a:ext cx="838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0~9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26645" name="Text Box 21"/>
          <p:cNvSpPr txBox="1"/>
          <p:nvPr/>
        </p:nvSpPr>
        <p:spPr>
          <a:xfrm>
            <a:off x="7086600" y="3505200"/>
            <a:ext cx="533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6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26646" name="Line 22"/>
          <p:cNvSpPr/>
          <p:nvPr/>
        </p:nvSpPr>
        <p:spPr>
          <a:xfrm flipV="1">
            <a:off x="7239000" y="3200400"/>
            <a:ext cx="0" cy="38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6647" name="Text Box 23"/>
          <p:cNvSpPr txBox="1"/>
          <p:nvPr/>
        </p:nvSpPr>
        <p:spPr>
          <a:xfrm>
            <a:off x="3733800" y="35052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+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26648" name="Text Box 24"/>
          <p:cNvSpPr txBox="1"/>
          <p:nvPr/>
        </p:nvSpPr>
        <p:spPr>
          <a:xfrm>
            <a:off x="4419600" y="3505200"/>
            <a:ext cx="1143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110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26649" name="Line 25"/>
          <p:cNvSpPr/>
          <p:nvPr/>
        </p:nvSpPr>
        <p:spPr>
          <a:xfrm>
            <a:off x="3733800" y="3886200"/>
            <a:ext cx="1371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650" name="Text Box 26"/>
          <p:cNvSpPr txBox="1"/>
          <p:nvPr/>
        </p:nvSpPr>
        <p:spPr>
          <a:xfrm>
            <a:off x="4800600" y="3962400"/>
            <a:ext cx="304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1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26651" name="Text Box 27"/>
          <p:cNvSpPr txBox="1"/>
          <p:nvPr/>
        </p:nvSpPr>
        <p:spPr>
          <a:xfrm>
            <a:off x="4572000" y="3962400"/>
            <a:ext cx="304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1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26652" name="Text Box 28"/>
          <p:cNvSpPr txBox="1"/>
          <p:nvPr/>
        </p:nvSpPr>
        <p:spPr>
          <a:xfrm>
            <a:off x="4419600" y="39624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0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26653" name="Text Box 29"/>
          <p:cNvSpPr txBox="1"/>
          <p:nvPr/>
        </p:nvSpPr>
        <p:spPr>
          <a:xfrm>
            <a:off x="4191000" y="3962400"/>
            <a:ext cx="381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0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26654" name="Text Box 30"/>
          <p:cNvSpPr txBox="1"/>
          <p:nvPr/>
        </p:nvSpPr>
        <p:spPr>
          <a:xfrm>
            <a:off x="3886200" y="3962400"/>
            <a:ext cx="381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1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26655" name="Text Box 31"/>
          <p:cNvSpPr txBox="1"/>
          <p:nvPr/>
        </p:nvSpPr>
        <p:spPr>
          <a:xfrm>
            <a:off x="3733800" y="3962400"/>
            <a:ext cx="381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0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26656" name="Text Box 32"/>
          <p:cNvSpPr txBox="1"/>
          <p:nvPr/>
        </p:nvSpPr>
        <p:spPr>
          <a:xfrm>
            <a:off x="3505200" y="3962400"/>
            <a:ext cx="381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0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26657" name="Text Box 33"/>
          <p:cNvSpPr txBox="1"/>
          <p:nvPr/>
        </p:nvSpPr>
        <p:spPr>
          <a:xfrm>
            <a:off x="3276600" y="3962400"/>
            <a:ext cx="381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0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26658" name="AutoShape 34"/>
          <p:cNvSpPr/>
          <p:nvPr/>
        </p:nvSpPr>
        <p:spPr>
          <a:xfrm>
            <a:off x="1044575" y="4511675"/>
            <a:ext cx="5905500" cy="2043113"/>
          </a:xfrm>
          <a:prstGeom prst="star24">
            <a:avLst>
              <a:gd name="adj" fmla="val 375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dirty="0">
                <a:solidFill>
                  <a:schemeClr val="tx1"/>
                </a:solidFill>
                <a:latin typeface="Tahoma" panose="020B0604030504040204" pitchFamily="34" charset="0"/>
              </a:rPr>
              <a:t>当和大于</a:t>
            </a: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9</a:t>
            </a:r>
            <a:r>
              <a:rPr lang="zh-CN" altLang="en-US" sz="2400" dirty="0">
                <a:solidFill>
                  <a:schemeClr val="tx1"/>
                </a:solidFill>
                <a:latin typeface="Tahoma" panose="020B0604030504040204" pitchFamily="34" charset="0"/>
              </a:rPr>
              <a:t>时，需加</a:t>
            </a: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6</a:t>
            </a:r>
            <a:r>
              <a:rPr lang="zh-CN" altLang="en-US" sz="2400" dirty="0">
                <a:solidFill>
                  <a:schemeClr val="tx1"/>
                </a:solidFill>
                <a:latin typeface="Tahoma" panose="020B0604030504040204" pitchFamily="34" charset="0"/>
              </a:rPr>
              <a:t>修正</a:t>
            </a:r>
            <a:endParaRPr lang="zh-CN" altLang="en-US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6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6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66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66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66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66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66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66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66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66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66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66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66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66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66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66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66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66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66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66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66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66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3" dur="500"/>
                                        <p:tgtEl>
                                          <p:spTgt spid="26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6" dur="500"/>
                                        <p:tgtEl>
                                          <p:spTgt spid="26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1" dur="500"/>
                                        <p:tgtEl>
                                          <p:spTgt spid="26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6" dur="500"/>
                                        <p:tgtEl>
                                          <p:spTgt spid="26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1" dur="500"/>
                                        <p:tgtEl>
                                          <p:spTgt spid="26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6" dur="500"/>
                                        <p:tgtEl>
                                          <p:spTgt spid="26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1" dur="500"/>
                                        <p:tgtEl>
                                          <p:spTgt spid="26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6" dur="500"/>
                                        <p:tgtEl>
                                          <p:spTgt spid="26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1" dur="500"/>
                                        <p:tgtEl>
                                          <p:spTgt spid="26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6" dur="500"/>
                                        <p:tgtEl>
                                          <p:spTgt spid="26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1" dur="500"/>
                                        <p:tgtEl>
                                          <p:spTgt spid="26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6" dur="500"/>
                                        <p:tgtEl>
                                          <p:spTgt spid="26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1" dur="500"/>
                                        <p:tgtEl>
                                          <p:spTgt spid="26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6" dur="500"/>
                                        <p:tgtEl>
                                          <p:spTgt spid="26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1" dur="500"/>
                                        <p:tgtEl>
                                          <p:spTgt spid="26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6" dur="500"/>
                                        <p:tgtEl>
                                          <p:spTgt spid="26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1" dur="500"/>
                                        <p:tgtEl>
                                          <p:spTgt spid="26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6" dur="500"/>
                                        <p:tgtEl>
                                          <p:spTgt spid="26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1" dur="500"/>
                                        <p:tgtEl>
                                          <p:spTgt spid="26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6" dur="500"/>
                                        <p:tgtEl>
                                          <p:spTgt spid="26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6" grpId="0"/>
      <p:bldP spid="26627" grpId="0"/>
      <p:bldP spid="26628" grpId="0"/>
      <p:bldP spid="26629" grpId="0"/>
      <p:bldP spid="26630" grpId="0"/>
      <p:bldP spid="26631" grpId="0"/>
      <p:bldP spid="26632" grpId="0"/>
      <p:bldP spid="26633" grpId="0"/>
      <p:bldP spid="26634" grpId="0"/>
      <p:bldP spid="26635" grpId="0"/>
      <p:bldP spid="26637" grpId="0" animBg="1"/>
      <p:bldP spid="26640" grpId="0"/>
      <p:bldP spid="26641" grpId="0"/>
      <p:bldP spid="26642" grpId="0"/>
      <p:bldP spid="26643" grpId="0"/>
      <p:bldP spid="26644" grpId="0"/>
      <p:bldP spid="26645" grpId="0"/>
      <p:bldP spid="26647" grpId="0"/>
      <p:bldP spid="26648" grpId="0"/>
      <p:bldP spid="26650" grpId="0"/>
      <p:bldP spid="26651" grpId="0"/>
      <p:bldP spid="26652" grpId="0"/>
      <p:bldP spid="26653" grpId="0"/>
      <p:bldP spid="26654" grpId="0"/>
      <p:bldP spid="26655" grpId="0"/>
      <p:bldP spid="26656" grpId="0"/>
      <p:bldP spid="26657" grpId="0"/>
      <p:bldP spid="26658" grpId="0" bldLvl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Rectangle 2"/>
          <p:cNvSpPr>
            <a:spLocks noGrp="1"/>
          </p:cNvSpPr>
          <p:nvPr>
            <p:ph type="title"/>
          </p:nvPr>
        </p:nvSpPr>
        <p:spPr>
          <a:xfrm>
            <a:off x="252413" y="1052513"/>
            <a:ext cx="7620000" cy="685800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dirty="0"/>
              <a:t>四、校验码</a:t>
            </a:r>
            <a:endParaRPr lang="zh-CN" altLang="en-US" dirty="0"/>
          </a:p>
        </p:txBody>
      </p:sp>
      <p:sp>
        <p:nvSpPr>
          <p:cNvPr id="27651" name="Rectangle 3"/>
          <p:cNvSpPr>
            <a:spLocks noGrp="1"/>
          </p:cNvSpPr>
          <p:nvPr>
            <p:ph idx="1"/>
          </p:nvPr>
        </p:nvSpPr>
        <p:spPr>
          <a:xfrm>
            <a:off x="323850" y="1981200"/>
            <a:ext cx="8353425" cy="4114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10000"/>
              </a:lnSpc>
              <a:buClr>
                <a:schemeClr val="tx1"/>
              </a:buClr>
              <a:buNone/>
            </a:pPr>
            <a:r>
              <a:rPr lang="zh-CN" altLang="zh-CN" sz="2800" b="1" dirty="0"/>
              <a:t>          </a:t>
            </a:r>
            <a:r>
              <a:rPr lang="zh-CN" altLang="en-US" sz="2800" b="1" dirty="0"/>
              <a:t>为了提高计算机的</a:t>
            </a:r>
            <a:r>
              <a:rPr lang="zh-CN" altLang="en-US" sz="2800" b="1" dirty="0">
                <a:solidFill>
                  <a:srgbClr val="FF0000"/>
                </a:solidFill>
              </a:rPr>
              <a:t>可靠性</a:t>
            </a:r>
            <a:r>
              <a:rPr lang="zh-CN" altLang="en-US" sz="2800" b="1" dirty="0"/>
              <a:t>，除了采取选用更高可靠性的器件，更好的生产工艺等措施之外，还可以从数据编码上想一些办法，即采用一点冗余的线路，在原有数据位之外再</a:t>
            </a:r>
            <a:r>
              <a:rPr lang="zh-CN" altLang="en-US" sz="2800" b="1" dirty="0">
                <a:solidFill>
                  <a:srgbClr val="3333FF"/>
                </a:solidFill>
              </a:rPr>
              <a:t>增加一到几位校验位</a:t>
            </a:r>
            <a:r>
              <a:rPr lang="zh-CN" altLang="en-US" sz="2800" b="1" dirty="0"/>
              <a:t>，</a:t>
            </a:r>
            <a:r>
              <a:rPr lang="zh-CN" altLang="en-US" sz="2800" b="1" dirty="0">
                <a:solidFill>
                  <a:srgbClr val="3333FF"/>
                </a:solidFill>
              </a:rPr>
              <a:t>使新得到的码字带上某种特性</a:t>
            </a:r>
            <a:r>
              <a:rPr lang="zh-CN" altLang="en-US" sz="2800" b="1" dirty="0"/>
              <a:t>，之后则通过</a:t>
            </a:r>
            <a:r>
              <a:rPr lang="zh-CN" altLang="en-US" sz="2800" b="1" dirty="0">
                <a:solidFill>
                  <a:srgbClr val="FF0000"/>
                </a:solidFill>
              </a:rPr>
              <a:t>检查该码字是否仍保持有这一特性</a:t>
            </a:r>
            <a:r>
              <a:rPr lang="zh-CN" altLang="en-US" sz="2800" b="1" dirty="0"/>
              <a:t>，来</a:t>
            </a:r>
            <a:r>
              <a:rPr lang="zh-CN" altLang="en-US" sz="2800" b="1" dirty="0">
                <a:solidFill>
                  <a:srgbClr val="FF0000"/>
                </a:solidFill>
              </a:rPr>
              <a:t>发现</a:t>
            </a:r>
            <a:r>
              <a:rPr lang="zh-CN" altLang="en-US" sz="2800" b="1" dirty="0"/>
              <a:t>是否出现了</a:t>
            </a:r>
            <a:r>
              <a:rPr lang="zh-CN" altLang="en-US" sz="2800" b="1" dirty="0">
                <a:solidFill>
                  <a:srgbClr val="FF0000"/>
                </a:solidFill>
              </a:rPr>
              <a:t>错误</a:t>
            </a:r>
            <a:r>
              <a:rPr lang="zh-CN" altLang="en-US" sz="2800" b="1" dirty="0"/>
              <a:t>，</a:t>
            </a:r>
            <a:r>
              <a:rPr lang="zh-CN" altLang="en-US" sz="2800" b="1" dirty="0">
                <a:solidFill>
                  <a:srgbClr val="FF0000"/>
                </a:solidFill>
              </a:rPr>
              <a:t>甚至</a:t>
            </a:r>
            <a:r>
              <a:rPr lang="zh-CN" altLang="en-US" sz="2800" b="1" dirty="0"/>
              <a:t>于定位错误后，</a:t>
            </a:r>
            <a:r>
              <a:rPr lang="zh-CN" altLang="en-US" sz="2800" b="1" dirty="0">
                <a:solidFill>
                  <a:srgbClr val="FF0000"/>
                </a:solidFill>
              </a:rPr>
              <a:t>自动改正</a:t>
            </a:r>
            <a:r>
              <a:rPr lang="zh-CN" altLang="en-US" sz="2800" b="1" dirty="0"/>
              <a:t>这一错误，这就是我们这里说的</a:t>
            </a:r>
            <a:r>
              <a:rPr lang="zh-CN" altLang="en-US" sz="2800" b="1" dirty="0">
                <a:solidFill>
                  <a:srgbClr val="FF0000"/>
                </a:solidFill>
              </a:rPr>
              <a:t>检错纠错编码技术</a:t>
            </a:r>
            <a:r>
              <a:rPr lang="zh-CN" altLang="en-US" sz="2800" b="1" dirty="0"/>
              <a:t>。</a:t>
            </a:r>
            <a:endParaRPr lang="zh-CN" altLang="en-US" sz="2800" b="1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Rectangle 2"/>
          <p:cNvSpPr>
            <a:spLocks noGrp="1"/>
          </p:cNvSpPr>
          <p:nvPr>
            <p:ph type="title"/>
          </p:nvPr>
        </p:nvSpPr>
        <p:spPr>
          <a:xfrm>
            <a:off x="252413" y="1052513"/>
            <a:ext cx="7620000" cy="685800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dirty="0"/>
              <a:t>校验码基本原理：</a:t>
            </a:r>
            <a:endParaRPr lang="zh-CN" altLang="en-US" dirty="0"/>
          </a:p>
        </p:txBody>
      </p:sp>
      <p:sp>
        <p:nvSpPr>
          <p:cNvPr id="28675" name="Oval 3"/>
          <p:cNvSpPr/>
          <p:nvPr/>
        </p:nvSpPr>
        <p:spPr>
          <a:xfrm>
            <a:off x="3832225" y="2735263"/>
            <a:ext cx="1143000" cy="2159000"/>
          </a:xfrm>
          <a:prstGeom prst="ellipse">
            <a:avLst/>
          </a:prstGeom>
          <a:noFill/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28676" name="AutoShape 4"/>
          <p:cNvSpPr/>
          <p:nvPr/>
        </p:nvSpPr>
        <p:spPr>
          <a:xfrm>
            <a:off x="5076825" y="3573463"/>
            <a:ext cx="1295400" cy="293687"/>
          </a:xfrm>
          <a:prstGeom prst="rightArrow">
            <a:avLst>
              <a:gd name="adj1" fmla="val 50000"/>
              <a:gd name="adj2" fmla="val 110229"/>
            </a:avLst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solidFill>
                <a:schemeClr val="tx1"/>
              </a:solidFill>
            </a:endParaRPr>
          </a:p>
        </p:txBody>
      </p:sp>
      <p:grpSp>
        <p:nvGrpSpPr>
          <p:cNvPr id="28677" name="Group 5"/>
          <p:cNvGrpSpPr/>
          <p:nvPr/>
        </p:nvGrpSpPr>
        <p:grpSpPr>
          <a:xfrm>
            <a:off x="755650" y="2060575"/>
            <a:ext cx="7632700" cy="3065463"/>
            <a:chOff x="0" y="0"/>
            <a:chExt cx="12021" cy="4826"/>
          </a:xfrm>
        </p:grpSpPr>
        <p:sp>
          <p:nvSpPr>
            <p:cNvPr id="28678" name="Text Box 6"/>
            <p:cNvSpPr txBox="1"/>
            <p:nvPr/>
          </p:nvSpPr>
          <p:spPr>
            <a:xfrm>
              <a:off x="114" y="2155"/>
              <a:ext cx="2553" cy="9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rgbClr val="6666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rgbClr val="666699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rgbClr val="666699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zh-CN" altLang="en-US" b="1" dirty="0">
                  <a:solidFill>
                    <a:srgbClr val="990033"/>
                  </a:solidFill>
                </a:rPr>
                <a:t>编码</a:t>
              </a:r>
              <a:endParaRPr lang="zh-CN" altLang="en-US" b="1" dirty="0">
                <a:solidFill>
                  <a:srgbClr val="990033"/>
                </a:solidFill>
              </a:endParaRPr>
            </a:p>
          </p:txBody>
        </p:sp>
        <p:sp>
          <p:nvSpPr>
            <p:cNvPr id="28679" name="Text Box 7"/>
            <p:cNvSpPr txBox="1"/>
            <p:nvPr/>
          </p:nvSpPr>
          <p:spPr>
            <a:xfrm>
              <a:off x="8845" y="2041"/>
              <a:ext cx="2793" cy="9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rgbClr val="6666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rgbClr val="666699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rgbClr val="666699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zh-CN" altLang="en-US" b="1" dirty="0">
                  <a:solidFill>
                    <a:srgbClr val="990033"/>
                  </a:solidFill>
                </a:rPr>
                <a:t>译码</a:t>
              </a:r>
              <a:endParaRPr lang="zh-CN" altLang="en-US" b="1" dirty="0">
                <a:solidFill>
                  <a:srgbClr val="990033"/>
                </a:solidFill>
              </a:endParaRPr>
            </a:p>
          </p:txBody>
        </p:sp>
        <p:sp>
          <p:nvSpPr>
            <p:cNvPr id="28680" name="Text Box 8"/>
            <p:cNvSpPr txBox="1"/>
            <p:nvPr/>
          </p:nvSpPr>
          <p:spPr>
            <a:xfrm>
              <a:off x="5228" y="1525"/>
              <a:ext cx="1058" cy="2319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rgbClr val="6666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rgbClr val="666699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rgbClr val="666699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zh-CN" altLang="en-US" b="1" dirty="0">
                  <a:solidFill>
                    <a:srgbClr val="990033"/>
                  </a:solidFill>
                </a:rPr>
                <a:t>传送</a:t>
              </a:r>
              <a:endParaRPr lang="zh-CN" altLang="en-US" b="1" dirty="0">
                <a:solidFill>
                  <a:srgbClr val="990033"/>
                </a:solidFill>
              </a:endParaRPr>
            </a:p>
          </p:txBody>
        </p:sp>
        <p:sp>
          <p:nvSpPr>
            <p:cNvPr id="28681" name="AutoShape 9"/>
            <p:cNvSpPr/>
            <p:nvPr/>
          </p:nvSpPr>
          <p:spPr>
            <a:xfrm>
              <a:off x="2608" y="2381"/>
              <a:ext cx="1897" cy="464"/>
            </a:xfrm>
            <a:prstGeom prst="rightArrow">
              <a:avLst>
                <a:gd name="adj1" fmla="val 50000"/>
                <a:gd name="adj2" fmla="val 102171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rgbClr val="6666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rgbClr val="666699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rgbClr val="666699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28682" name="Text Box 10"/>
            <p:cNvSpPr txBox="1"/>
            <p:nvPr/>
          </p:nvSpPr>
          <p:spPr>
            <a:xfrm>
              <a:off x="0" y="0"/>
              <a:ext cx="3240" cy="117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rgbClr val="6666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rgbClr val="666699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rgbClr val="666699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zh-CN" altLang="en-US" b="1" dirty="0">
                  <a:solidFill>
                    <a:srgbClr val="990033"/>
                  </a:solidFill>
                </a:rPr>
                <a:t>原始数据</a:t>
              </a:r>
              <a:endParaRPr lang="zh-CN" altLang="en-US" b="1" dirty="0">
                <a:solidFill>
                  <a:srgbClr val="990033"/>
                </a:solidFill>
              </a:endParaRPr>
            </a:p>
          </p:txBody>
        </p:sp>
        <p:sp>
          <p:nvSpPr>
            <p:cNvPr id="28683" name="Text Box 11"/>
            <p:cNvSpPr txBox="1"/>
            <p:nvPr/>
          </p:nvSpPr>
          <p:spPr>
            <a:xfrm>
              <a:off x="4423" y="0"/>
              <a:ext cx="2880" cy="117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rgbClr val="6666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rgbClr val="666699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rgbClr val="666699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zh-CN" altLang="en-US" b="1" dirty="0">
                  <a:solidFill>
                    <a:srgbClr val="990033"/>
                  </a:solidFill>
                </a:rPr>
                <a:t>码    字</a:t>
              </a:r>
              <a:endParaRPr lang="zh-CN" altLang="en-US" b="1" dirty="0">
                <a:solidFill>
                  <a:srgbClr val="990033"/>
                </a:solidFill>
              </a:endParaRPr>
            </a:p>
          </p:txBody>
        </p:sp>
        <p:sp>
          <p:nvSpPr>
            <p:cNvPr id="28684" name="Text Box 12"/>
            <p:cNvSpPr txBox="1"/>
            <p:nvPr/>
          </p:nvSpPr>
          <p:spPr>
            <a:xfrm>
              <a:off x="8619" y="113"/>
              <a:ext cx="3000" cy="117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rgbClr val="6666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rgbClr val="666699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rgbClr val="666699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zh-CN" altLang="en-US" b="1" dirty="0">
                  <a:solidFill>
                    <a:srgbClr val="990033"/>
                  </a:solidFill>
                </a:rPr>
                <a:t>结果数据</a:t>
              </a:r>
              <a:endParaRPr lang="zh-CN" altLang="en-US" b="1" dirty="0">
                <a:solidFill>
                  <a:srgbClr val="990033"/>
                </a:solidFill>
              </a:endParaRPr>
            </a:p>
          </p:txBody>
        </p:sp>
        <p:sp>
          <p:nvSpPr>
            <p:cNvPr id="28685" name="Text Box 13"/>
            <p:cNvSpPr txBox="1"/>
            <p:nvPr/>
          </p:nvSpPr>
          <p:spPr>
            <a:xfrm>
              <a:off x="115" y="3516"/>
              <a:ext cx="3969" cy="1310"/>
            </a:xfrm>
            <a:prstGeom prst="rect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rgbClr val="6666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rgbClr val="666699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rgbClr val="666699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zh-CN" altLang="en-US" sz="2400" b="1" dirty="0">
                  <a:solidFill>
                    <a:srgbClr val="3333FF"/>
                  </a:solidFill>
                </a:rPr>
                <a:t>形成校验位的值，加进特征</a:t>
              </a:r>
              <a:endParaRPr lang="zh-CN" altLang="en-US" sz="2400" b="1" dirty="0">
                <a:solidFill>
                  <a:srgbClr val="3333FF"/>
                </a:solidFill>
              </a:endParaRPr>
            </a:p>
          </p:txBody>
        </p:sp>
        <p:sp>
          <p:nvSpPr>
            <p:cNvPr id="28686" name="Text Box 14"/>
            <p:cNvSpPr txBox="1"/>
            <p:nvPr/>
          </p:nvSpPr>
          <p:spPr>
            <a:xfrm>
              <a:off x="8165" y="3175"/>
              <a:ext cx="3856" cy="1310"/>
            </a:xfrm>
            <a:prstGeom prst="rect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rgbClr val="6666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rgbClr val="666699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rgbClr val="666699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None/>
              </a:pPr>
              <a:r>
                <a:rPr lang="zh-CN" altLang="en-US" sz="2400" b="1" dirty="0">
                  <a:solidFill>
                    <a:srgbClr val="3333FF"/>
                  </a:solidFill>
                </a:rPr>
                <a:t>检查接送的码字，发现  </a:t>
              </a:r>
              <a:r>
                <a:rPr lang="zh-CN" altLang="zh-CN" sz="2400" b="1" dirty="0">
                  <a:solidFill>
                    <a:srgbClr val="3333FF"/>
                  </a:solidFill>
                </a:rPr>
                <a:t>/  </a:t>
              </a:r>
              <a:r>
                <a:rPr lang="zh-CN" altLang="en-US" sz="2400" b="1" dirty="0">
                  <a:solidFill>
                    <a:srgbClr val="3333FF"/>
                  </a:solidFill>
                </a:rPr>
                <a:t>改正错误</a:t>
              </a:r>
              <a:endParaRPr lang="zh-CN" altLang="en-US" sz="2400" b="1" dirty="0">
                <a:solidFill>
                  <a:srgbClr val="3333FF"/>
                </a:solidFill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Rectangle 2"/>
          <p:cNvSpPr>
            <a:spLocks noGrp="1"/>
          </p:cNvSpPr>
          <p:nvPr>
            <p:ph type="title"/>
          </p:nvPr>
        </p:nvSpPr>
        <p:spPr>
          <a:xfrm>
            <a:off x="252413" y="1052513"/>
            <a:ext cx="7620000" cy="685800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dirty="0"/>
              <a:t>校验码的分类：</a:t>
            </a:r>
            <a:endParaRPr lang="zh-CN" altLang="en-US" dirty="0"/>
          </a:p>
        </p:txBody>
      </p:sp>
      <p:sp>
        <p:nvSpPr>
          <p:cNvPr id="29699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marL="0" indent="0" eaLnBrk="1" hangingPunct="1">
              <a:buNone/>
            </a:pPr>
            <a:endParaRPr lang="zh-CN" altLang="en-US" b="1" dirty="0"/>
          </a:p>
        </p:txBody>
      </p:sp>
      <p:grpSp>
        <p:nvGrpSpPr>
          <p:cNvPr id="29700" name="Group 4"/>
          <p:cNvGrpSpPr/>
          <p:nvPr/>
        </p:nvGrpSpPr>
        <p:grpSpPr>
          <a:xfrm>
            <a:off x="1476375" y="2252663"/>
            <a:ext cx="6191250" cy="2198687"/>
            <a:chOff x="0" y="0"/>
            <a:chExt cx="9752" cy="3463"/>
          </a:xfrm>
        </p:grpSpPr>
        <p:sp>
          <p:nvSpPr>
            <p:cNvPr id="29701" name="AutoShape 5"/>
            <p:cNvSpPr/>
            <p:nvPr/>
          </p:nvSpPr>
          <p:spPr>
            <a:xfrm flipH="1">
              <a:off x="0" y="1402"/>
              <a:ext cx="568" cy="1813"/>
            </a:xfrm>
            <a:prstGeom prst="rightBrace">
              <a:avLst>
                <a:gd name="adj1" fmla="val 26569"/>
                <a:gd name="adj2" fmla="val 50000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rgbClr val="6666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rgbClr val="666699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rgbClr val="666699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29702" name="Text Box 6"/>
            <p:cNvSpPr txBox="1"/>
            <p:nvPr/>
          </p:nvSpPr>
          <p:spPr>
            <a:xfrm>
              <a:off x="909" y="1060"/>
              <a:ext cx="5783" cy="81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rgbClr val="6666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rgbClr val="666699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rgbClr val="666699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800" b="1" dirty="0">
                  <a:solidFill>
                    <a:srgbClr val="0000FF"/>
                  </a:solidFill>
                </a:rPr>
                <a:t>检错码：</a:t>
              </a:r>
              <a:r>
                <a:rPr lang="zh-CN" altLang="en-US" sz="2800" b="1" dirty="0">
                  <a:solidFill>
                    <a:srgbClr val="FF0000"/>
                  </a:solidFill>
                </a:rPr>
                <a:t>奇偶校验码</a:t>
              </a:r>
              <a:endParaRPr lang="zh-CN" altLang="en-US" sz="2800" b="1" dirty="0">
                <a:solidFill>
                  <a:srgbClr val="FF0000"/>
                </a:solidFill>
              </a:endParaRPr>
            </a:p>
          </p:txBody>
        </p:sp>
        <p:sp>
          <p:nvSpPr>
            <p:cNvPr id="29703" name="Text Box 7"/>
            <p:cNvSpPr txBox="1"/>
            <p:nvPr/>
          </p:nvSpPr>
          <p:spPr>
            <a:xfrm>
              <a:off x="908" y="2647"/>
              <a:ext cx="4498" cy="81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rgbClr val="6666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rgbClr val="666699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rgbClr val="666699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800" b="1" dirty="0">
                  <a:solidFill>
                    <a:srgbClr val="0000FF"/>
                  </a:solidFill>
                </a:rPr>
                <a:t>纠错码：海明码</a:t>
              </a:r>
              <a:endParaRPr lang="zh-CN" altLang="en-US" sz="2800" b="1" dirty="0">
                <a:solidFill>
                  <a:srgbClr val="0000FF"/>
                </a:solidFill>
              </a:endParaRPr>
            </a:p>
          </p:txBody>
        </p:sp>
        <p:sp>
          <p:nvSpPr>
            <p:cNvPr id="29704" name="AutoShape 8"/>
            <p:cNvSpPr/>
            <p:nvPr/>
          </p:nvSpPr>
          <p:spPr>
            <a:xfrm flipH="1">
              <a:off x="6351" y="267"/>
              <a:ext cx="680" cy="2381"/>
            </a:xfrm>
            <a:prstGeom prst="rightBrace">
              <a:avLst>
                <a:gd name="adj1" fmla="val 29146"/>
                <a:gd name="adj2" fmla="val 50000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rgbClr val="6666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rgbClr val="666699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rgbClr val="666699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29705" name="Text Box 9"/>
            <p:cNvSpPr txBox="1"/>
            <p:nvPr/>
          </p:nvSpPr>
          <p:spPr>
            <a:xfrm>
              <a:off x="7204" y="0"/>
              <a:ext cx="2549" cy="81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rgbClr val="6666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rgbClr val="666699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rgbClr val="666699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800" b="1" dirty="0">
                  <a:solidFill>
                    <a:srgbClr val="0000FF"/>
                  </a:solidFill>
                </a:rPr>
                <a:t>奇校验</a:t>
              </a:r>
              <a:endParaRPr lang="zh-CN" altLang="en-US" sz="2800" b="1" dirty="0">
                <a:solidFill>
                  <a:srgbClr val="0000FF"/>
                </a:solidFill>
              </a:endParaRPr>
            </a:p>
          </p:txBody>
        </p:sp>
        <p:sp>
          <p:nvSpPr>
            <p:cNvPr id="29706" name="Text Box 10"/>
            <p:cNvSpPr txBox="1"/>
            <p:nvPr/>
          </p:nvSpPr>
          <p:spPr>
            <a:xfrm>
              <a:off x="7249" y="2034"/>
              <a:ext cx="2391" cy="81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rgbClr val="6666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rgbClr val="666699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rgbClr val="666699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800" b="1" dirty="0">
                  <a:solidFill>
                    <a:srgbClr val="0000FF"/>
                  </a:solidFill>
                </a:rPr>
                <a:t>偶校验</a:t>
              </a:r>
              <a:endParaRPr lang="zh-CN" altLang="en-US" sz="2800" b="1" dirty="0">
                <a:solidFill>
                  <a:srgbClr val="0000FF"/>
                </a:solidFill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Rectangle 2"/>
          <p:cNvSpPr/>
          <p:nvPr/>
        </p:nvSpPr>
        <p:spPr>
          <a:xfrm>
            <a:off x="6019800" y="5105400"/>
            <a:ext cx="1524000" cy="4572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30723" name="Rectangle 3"/>
          <p:cNvSpPr/>
          <p:nvPr/>
        </p:nvSpPr>
        <p:spPr>
          <a:xfrm>
            <a:off x="6019800" y="4114800"/>
            <a:ext cx="1524000" cy="4572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30724" name="Rectangle 4"/>
          <p:cNvSpPr/>
          <p:nvPr/>
        </p:nvSpPr>
        <p:spPr>
          <a:xfrm>
            <a:off x="4267200" y="5105400"/>
            <a:ext cx="1524000" cy="4572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30725" name="Rectangle 5"/>
          <p:cNvSpPr/>
          <p:nvPr/>
        </p:nvSpPr>
        <p:spPr>
          <a:xfrm>
            <a:off x="4267200" y="4114800"/>
            <a:ext cx="1524000" cy="4572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30726" name="Rectangle 6"/>
          <p:cNvSpPr/>
          <p:nvPr/>
        </p:nvSpPr>
        <p:spPr>
          <a:xfrm>
            <a:off x="2286000" y="5105400"/>
            <a:ext cx="1752600" cy="4572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30727" name="Rectangle 7"/>
          <p:cNvSpPr/>
          <p:nvPr/>
        </p:nvSpPr>
        <p:spPr>
          <a:xfrm>
            <a:off x="2286000" y="4114800"/>
            <a:ext cx="1752600" cy="4572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30728" name="Rectangle 8"/>
          <p:cNvSpPr>
            <a:spLocks noGrp="1"/>
          </p:cNvSpPr>
          <p:nvPr>
            <p:ph type="title"/>
          </p:nvPr>
        </p:nvSpPr>
        <p:spPr>
          <a:xfrm>
            <a:off x="323850" y="1125538"/>
            <a:ext cx="3810000" cy="623887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2800" dirty="0"/>
              <a:t>1、奇偶校验码</a:t>
            </a:r>
            <a:endParaRPr lang="zh-CN" altLang="en-US" sz="2800" dirty="0"/>
          </a:p>
        </p:txBody>
      </p:sp>
      <p:sp>
        <p:nvSpPr>
          <p:cNvPr id="30729" name="Rectangle 9"/>
          <p:cNvSpPr>
            <a:spLocks noGrp="1"/>
          </p:cNvSpPr>
          <p:nvPr>
            <p:ph idx="1"/>
          </p:nvPr>
        </p:nvSpPr>
        <p:spPr>
          <a:xfrm>
            <a:off x="533400" y="1828800"/>
            <a:ext cx="7772400" cy="2362200"/>
          </a:xfrm>
          <a:ln w="19050" cap="rnd">
            <a:solidFill>
              <a:srgbClr val="FFFFFF">
                <a:alpha val="100000"/>
              </a:srgbClr>
            </a:solidFill>
            <a:prstDash val="sysDot"/>
            <a:miter lim="800000"/>
          </a:ln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zh-CN" altLang="en-US" sz="2800" b="1" dirty="0"/>
              <a:t>奇偶校验码：用于并行码</a:t>
            </a:r>
            <a:r>
              <a:rPr lang="zh-CN" altLang="en-US" sz="2800" b="1" dirty="0">
                <a:solidFill>
                  <a:srgbClr val="FF0000"/>
                </a:solidFill>
              </a:rPr>
              <a:t>检错</a:t>
            </a:r>
            <a:endParaRPr lang="zh-CN" altLang="en-US" sz="2800" b="1" dirty="0"/>
          </a:p>
          <a:p>
            <a:pPr lvl="1" eaLnBrk="1" hangingPunct="1">
              <a:lnSpc>
                <a:spcPct val="90000"/>
              </a:lnSpc>
              <a:buNone/>
            </a:pPr>
            <a:r>
              <a:rPr lang="zh-CN" altLang="en-US" b="1" dirty="0"/>
              <a:t>原理：在 </a:t>
            </a:r>
            <a:r>
              <a:rPr lang="zh-CN" altLang="zh-CN" b="1" dirty="0"/>
              <a:t>k </a:t>
            </a:r>
            <a:r>
              <a:rPr lang="zh-CN" altLang="en-US" b="1" dirty="0"/>
              <a:t>位数据码之外增加 </a:t>
            </a:r>
            <a:r>
              <a:rPr lang="zh-CN" altLang="zh-CN" b="1" dirty="0"/>
              <a:t>1 </a:t>
            </a:r>
            <a:r>
              <a:rPr lang="zh-CN" altLang="en-US" b="1" dirty="0"/>
              <a:t>位校验位，</a:t>
            </a:r>
            <a:endParaRPr lang="zh-CN" altLang="en-US" dirty="0"/>
          </a:p>
          <a:p>
            <a:pPr lvl="1" eaLnBrk="1" hangingPunct="1">
              <a:lnSpc>
                <a:spcPct val="90000"/>
              </a:lnSpc>
              <a:buNone/>
            </a:pPr>
            <a:r>
              <a:rPr lang="zh-CN" altLang="en-US" b="1" dirty="0"/>
              <a:t>使 </a:t>
            </a:r>
            <a:r>
              <a:rPr lang="zh-CN" altLang="zh-CN" b="1" dirty="0"/>
              <a:t>K+1 </a:t>
            </a:r>
            <a:r>
              <a:rPr lang="zh-CN" altLang="en-US" b="1" dirty="0"/>
              <a:t>位码字中取值为 </a:t>
            </a:r>
            <a:r>
              <a:rPr lang="zh-CN" altLang="zh-CN" b="1" dirty="0"/>
              <a:t>1 </a:t>
            </a:r>
            <a:r>
              <a:rPr lang="zh-CN" altLang="en-US" b="1" dirty="0"/>
              <a:t>的位数</a:t>
            </a:r>
            <a:r>
              <a:rPr lang="zh-CN" altLang="en-US" b="1" dirty="0">
                <a:solidFill>
                  <a:srgbClr val="FF0000"/>
                </a:solidFill>
              </a:rPr>
              <a:t>总保持</a:t>
            </a:r>
            <a:r>
              <a:rPr lang="zh-CN" altLang="en-US" b="1" dirty="0"/>
              <a:t>为 </a:t>
            </a:r>
            <a:r>
              <a:rPr lang="zh-CN" altLang="en-US" b="1" dirty="0">
                <a:solidFill>
                  <a:srgbClr val="3333FF"/>
                </a:solidFill>
              </a:rPr>
              <a:t>偶数</a:t>
            </a:r>
            <a:r>
              <a:rPr lang="zh-CN" altLang="en-US" b="1" dirty="0"/>
              <a:t>（</a:t>
            </a:r>
            <a:r>
              <a:rPr lang="zh-CN" altLang="en-US" b="1" dirty="0">
                <a:solidFill>
                  <a:srgbClr val="3333FF"/>
                </a:solidFill>
              </a:rPr>
              <a:t>偶校验</a:t>
            </a:r>
            <a:r>
              <a:rPr lang="zh-CN" altLang="en-US" b="1" dirty="0"/>
              <a:t>）或 </a:t>
            </a:r>
            <a:r>
              <a:rPr lang="zh-CN" altLang="en-US" b="1" dirty="0">
                <a:solidFill>
                  <a:srgbClr val="A50021"/>
                </a:solidFill>
              </a:rPr>
              <a:t>奇数</a:t>
            </a:r>
            <a:r>
              <a:rPr lang="zh-CN" altLang="en-US" b="1" dirty="0"/>
              <a:t>（</a:t>
            </a:r>
            <a:r>
              <a:rPr lang="zh-CN" altLang="en-US" b="1" dirty="0">
                <a:solidFill>
                  <a:srgbClr val="A50021"/>
                </a:solidFill>
              </a:rPr>
              <a:t>奇校验</a:t>
            </a:r>
            <a:r>
              <a:rPr lang="zh-CN" altLang="en-US" b="1" dirty="0"/>
              <a:t>）。</a:t>
            </a:r>
            <a:endParaRPr lang="zh-CN" altLang="en-US" b="1" dirty="0"/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800" b="1" dirty="0"/>
              <a:t>例如：</a:t>
            </a:r>
            <a:r>
              <a:rPr lang="zh-CN" altLang="en-US" sz="2400" b="1" dirty="0"/>
              <a:t>                 </a:t>
            </a:r>
            <a:endParaRPr lang="zh-CN" altLang="en-US" dirty="0"/>
          </a:p>
        </p:txBody>
      </p:sp>
      <p:sp>
        <p:nvSpPr>
          <p:cNvPr id="30730" name="Text Box 10"/>
          <p:cNvSpPr txBox="1"/>
          <p:nvPr/>
        </p:nvSpPr>
        <p:spPr>
          <a:xfrm>
            <a:off x="4495800" y="3657600"/>
            <a:ext cx="11080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3333FF"/>
                </a:solidFill>
              </a:rPr>
              <a:t>偶校验</a:t>
            </a:r>
            <a:endParaRPr lang="zh-CN" altLang="en-US" sz="1800" b="1" dirty="0">
              <a:solidFill>
                <a:schemeClr val="tx1"/>
              </a:solidFill>
            </a:endParaRPr>
          </a:p>
        </p:txBody>
      </p:sp>
      <p:sp>
        <p:nvSpPr>
          <p:cNvPr id="30731" name="Text Box 11"/>
          <p:cNvSpPr txBox="1"/>
          <p:nvPr/>
        </p:nvSpPr>
        <p:spPr>
          <a:xfrm>
            <a:off x="6324600" y="3657600"/>
            <a:ext cx="11080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FF0000"/>
                </a:solidFill>
              </a:rPr>
              <a:t>奇校验</a:t>
            </a:r>
            <a:endParaRPr lang="zh-CN" altLang="en-US" sz="1800" b="1" dirty="0">
              <a:solidFill>
                <a:schemeClr val="tx1"/>
              </a:solidFill>
            </a:endParaRPr>
          </a:p>
        </p:txBody>
      </p:sp>
      <p:sp>
        <p:nvSpPr>
          <p:cNvPr id="30732" name="Text Box 12"/>
          <p:cNvSpPr txBox="1"/>
          <p:nvPr/>
        </p:nvSpPr>
        <p:spPr>
          <a:xfrm>
            <a:off x="457200" y="4572000"/>
            <a:ext cx="1260475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校验位</a:t>
            </a:r>
            <a:endParaRPr lang="zh-CN" altLang="en-US" sz="1800" b="1" dirty="0">
              <a:solidFill>
                <a:schemeClr val="tx1"/>
              </a:solidFill>
            </a:endParaRPr>
          </a:p>
        </p:txBody>
      </p:sp>
      <p:sp>
        <p:nvSpPr>
          <p:cNvPr id="30733" name="Line 13"/>
          <p:cNvSpPr/>
          <p:nvPr/>
        </p:nvSpPr>
        <p:spPr>
          <a:xfrm>
            <a:off x="1752600" y="4648200"/>
            <a:ext cx="3886200" cy="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34" name="Line 14"/>
          <p:cNvSpPr/>
          <p:nvPr/>
        </p:nvSpPr>
        <p:spPr>
          <a:xfrm flipV="1">
            <a:off x="5638800" y="4267200"/>
            <a:ext cx="457200" cy="38100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0735" name="Line 15"/>
          <p:cNvSpPr/>
          <p:nvPr/>
        </p:nvSpPr>
        <p:spPr>
          <a:xfrm>
            <a:off x="5867400" y="4953000"/>
            <a:ext cx="381000" cy="22860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0736" name="Line 16"/>
          <p:cNvSpPr/>
          <p:nvPr/>
        </p:nvSpPr>
        <p:spPr>
          <a:xfrm flipV="1">
            <a:off x="3962400" y="4267200"/>
            <a:ext cx="381000" cy="38100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0737" name="Line 17"/>
          <p:cNvSpPr/>
          <p:nvPr/>
        </p:nvSpPr>
        <p:spPr>
          <a:xfrm>
            <a:off x="4038600" y="4953000"/>
            <a:ext cx="228600" cy="22860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0738" name="Line 18"/>
          <p:cNvSpPr/>
          <p:nvPr/>
        </p:nvSpPr>
        <p:spPr>
          <a:xfrm>
            <a:off x="1752600" y="4953000"/>
            <a:ext cx="4191000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39" name="Line 19"/>
          <p:cNvSpPr/>
          <p:nvPr/>
        </p:nvSpPr>
        <p:spPr>
          <a:xfrm>
            <a:off x="1752600" y="4800600"/>
            <a:ext cx="6096000" cy="0"/>
          </a:xfrm>
          <a:prstGeom prst="line">
            <a:avLst/>
          </a:prstGeom>
          <a:ln w="28575" cap="flat" cmpd="sng">
            <a:solidFill>
              <a:srgbClr val="3333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40" name="Text Box 20"/>
          <p:cNvSpPr txBox="1"/>
          <p:nvPr/>
        </p:nvSpPr>
        <p:spPr>
          <a:xfrm>
            <a:off x="4495800" y="4114800"/>
            <a:ext cx="1295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0 0 0 1</a:t>
            </a:r>
            <a:endParaRPr lang="zh-CN" altLang="zh-CN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30741" name="Text Box 21"/>
          <p:cNvSpPr txBox="1"/>
          <p:nvPr/>
        </p:nvSpPr>
        <p:spPr>
          <a:xfrm>
            <a:off x="6400800" y="4114800"/>
            <a:ext cx="1524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0 0 0 1</a:t>
            </a:r>
            <a:endParaRPr lang="zh-CN" altLang="zh-CN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30742" name="Text Box 22"/>
          <p:cNvSpPr txBox="1"/>
          <p:nvPr/>
        </p:nvSpPr>
        <p:spPr>
          <a:xfrm>
            <a:off x="4572000" y="5105400"/>
            <a:ext cx="1295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0 1 0 1</a:t>
            </a:r>
            <a:endParaRPr lang="zh-CN" altLang="zh-CN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30743" name="Text Box 23"/>
          <p:cNvSpPr txBox="1"/>
          <p:nvPr/>
        </p:nvSpPr>
        <p:spPr>
          <a:xfrm>
            <a:off x="6324600" y="5105400"/>
            <a:ext cx="1295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0 1 0 1</a:t>
            </a:r>
            <a:endParaRPr lang="zh-CN" altLang="zh-CN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30744" name="Text Box 24"/>
          <p:cNvSpPr txBox="1"/>
          <p:nvPr/>
        </p:nvSpPr>
        <p:spPr>
          <a:xfrm>
            <a:off x="2286000" y="5105400"/>
            <a:ext cx="1828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0 1 0 1</a:t>
            </a:r>
            <a:endParaRPr lang="zh-CN" altLang="zh-CN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30745" name="Text Box 25"/>
          <p:cNvSpPr txBox="1"/>
          <p:nvPr/>
        </p:nvSpPr>
        <p:spPr>
          <a:xfrm>
            <a:off x="2362200" y="4114800"/>
            <a:ext cx="1676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0 0 0 1</a:t>
            </a:r>
            <a:endParaRPr lang="zh-CN" altLang="zh-CN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30746" name="Text Box 26"/>
          <p:cNvSpPr txBox="1"/>
          <p:nvPr/>
        </p:nvSpPr>
        <p:spPr>
          <a:xfrm>
            <a:off x="4267200" y="4114800"/>
            <a:ext cx="381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b="1" dirty="0">
                <a:solidFill>
                  <a:srgbClr val="FF0000"/>
                </a:solidFill>
                <a:latin typeface="Tahoma" panose="020B0604030504040204" pitchFamily="34" charset="0"/>
              </a:rPr>
              <a:t>1</a:t>
            </a:r>
            <a:endParaRPr lang="zh-CN" altLang="zh-CN" sz="2400" b="1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30747" name="Text Box 27"/>
          <p:cNvSpPr txBox="1"/>
          <p:nvPr/>
        </p:nvSpPr>
        <p:spPr>
          <a:xfrm>
            <a:off x="6096000" y="4114800"/>
            <a:ext cx="381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b="1" dirty="0">
                <a:solidFill>
                  <a:srgbClr val="FF0000"/>
                </a:solidFill>
                <a:latin typeface="Tahoma" panose="020B0604030504040204" pitchFamily="34" charset="0"/>
              </a:rPr>
              <a:t>0</a:t>
            </a:r>
            <a:endParaRPr lang="zh-CN" altLang="zh-CN" sz="2400" b="1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30748" name="Text Box 28"/>
          <p:cNvSpPr txBox="1"/>
          <p:nvPr/>
        </p:nvSpPr>
        <p:spPr>
          <a:xfrm>
            <a:off x="4267200" y="5105400"/>
            <a:ext cx="381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b="1" dirty="0">
                <a:solidFill>
                  <a:srgbClr val="FF0000"/>
                </a:solidFill>
                <a:latin typeface="Tahoma" panose="020B0604030504040204" pitchFamily="34" charset="0"/>
              </a:rPr>
              <a:t>0</a:t>
            </a:r>
            <a:endParaRPr lang="zh-CN" altLang="zh-CN" sz="2400" b="1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30749" name="Text Box 29"/>
          <p:cNvSpPr txBox="1"/>
          <p:nvPr/>
        </p:nvSpPr>
        <p:spPr>
          <a:xfrm>
            <a:off x="6019800" y="5105400"/>
            <a:ext cx="381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b="1" dirty="0">
                <a:solidFill>
                  <a:srgbClr val="FF0000"/>
                </a:solidFill>
                <a:latin typeface="Tahoma" panose="020B0604030504040204" pitchFamily="34" charset="0"/>
              </a:rPr>
              <a:t>1</a:t>
            </a:r>
            <a:endParaRPr lang="zh-CN" altLang="zh-CN" sz="2400" b="1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30750" name="Rectangle 30"/>
          <p:cNvSpPr/>
          <p:nvPr/>
        </p:nvSpPr>
        <p:spPr>
          <a:xfrm>
            <a:off x="2209800" y="5715000"/>
            <a:ext cx="5670550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 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原有数字位           </a:t>
            </a:r>
            <a:r>
              <a:rPr lang="zh-CN" altLang="en-US" sz="2400" dirty="0">
                <a:solidFill>
                  <a:schemeClr val="tx1"/>
                </a:solidFill>
                <a:latin typeface="Tahoma" panose="020B0604030504040204" pitchFamily="34" charset="0"/>
              </a:rPr>
              <a:t> 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两个新的码字</a:t>
            </a:r>
            <a:r>
              <a:rPr lang="zh-CN" altLang="en-US" dirty="0">
                <a:solidFill>
                  <a:schemeClr val="tx1"/>
                </a:solidFill>
                <a:latin typeface="Tahoma" panose="020B0604030504040204" pitchFamily="34" charset="0"/>
              </a:rPr>
              <a:t> 	</a:t>
            </a:r>
            <a:endParaRPr lang="zh-CN" altLang="en-US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9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729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9">
                                            <p:txEl>
                                              <p:charRg st="14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0729">
                                            <p:txEl>
                                              <p:charRg st="14" end="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9">
                                            <p:txEl>
                                              <p:charRg st="38" end="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0729">
                                            <p:txEl>
                                              <p:charRg st="38" end="8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9">
                                            <p:txEl>
                                              <p:charRg st="80" end="10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0729">
                                            <p:txEl>
                                              <p:charRg st="80" end="10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30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30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7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07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8" dur="500"/>
                                        <p:tgtEl>
                                          <p:spTgt spid="30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3" dur="500"/>
                                        <p:tgtEl>
                                          <p:spTgt spid="30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30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3" dur="500"/>
                                        <p:tgtEl>
                                          <p:spTgt spid="30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30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3" dur="500"/>
                                        <p:tgtEl>
                                          <p:spTgt spid="30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30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3" dur="500"/>
                                        <p:tgtEl>
                                          <p:spTgt spid="30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30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9" grpId="0" advAuto="1000" build="p"/>
      <p:bldP spid="30730" grpId="0"/>
      <p:bldP spid="30731" grpId="0"/>
      <p:bldP spid="30732" grpId="0"/>
      <p:bldP spid="30740" grpId="0"/>
      <p:bldP spid="30741" grpId="0"/>
      <p:bldP spid="30742" grpId="0"/>
      <p:bldP spid="30743" grpId="0"/>
      <p:bldP spid="30746" grpId="0"/>
      <p:bldP spid="30747" grpId="0"/>
      <p:bldP spid="30748" grpId="0"/>
      <p:bldP spid="30749" grpId="0"/>
      <p:bldP spid="3075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Rectangle 2"/>
          <p:cNvSpPr/>
          <p:nvPr/>
        </p:nvSpPr>
        <p:spPr>
          <a:xfrm>
            <a:off x="1219200" y="1066800"/>
            <a:ext cx="2895600" cy="609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zh-CN" sz="2400" dirty="0">
              <a:solidFill>
                <a:srgbClr val="A50021"/>
              </a:solidFill>
            </a:endParaRPr>
          </a:p>
        </p:txBody>
      </p:sp>
      <p:sp>
        <p:nvSpPr>
          <p:cNvPr id="31747" name="Line 3"/>
          <p:cNvSpPr/>
          <p:nvPr/>
        </p:nvSpPr>
        <p:spPr>
          <a:xfrm>
            <a:off x="3581400" y="1066800"/>
            <a:ext cx="0" cy="609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748" name="Text Box 4"/>
          <p:cNvSpPr txBox="1"/>
          <p:nvPr/>
        </p:nvSpPr>
        <p:spPr>
          <a:xfrm>
            <a:off x="1981200" y="1981200"/>
            <a:ext cx="1066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字</a:t>
            </a:r>
            <a:endParaRPr lang="zh-CN" altLang="en-US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31749" name="Text Box 5"/>
          <p:cNvSpPr txBox="1"/>
          <p:nvPr/>
        </p:nvSpPr>
        <p:spPr>
          <a:xfrm>
            <a:off x="3352800" y="1981200"/>
            <a:ext cx="1371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校验位</a:t>
            </a:r>
            <a:endParaRPr lang="zh-CN" altLang="en-US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31750" name="Line 6"/>
          <p:cNvSpPr/>
          <p:nvPr/>
        </p:nvSpPr>
        <p:spPr>
          <a:xfrm flipV="1">
            <a:off x="3886200" y="1676400"/>
            <a:ext cx="0" cy="38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1751" name="Line 7"/>
          <p:cNvSpPr/>
          <p:nvPr/>
        </p:nvSpPr>
        <p:spPr>
          <a:xfrm flipV="1">
            <a:off x="2438400" y="1676400"/>
            <a:ext cx="0" cy="38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1752" name="Freeform 8"/>
          <p:cNvSpPr/>
          <p:nvPr/>
        </p:nvSpPr>
        <p:spPr>
          <a:xfrm>
            <a:off x="1219200" y="685800"/>
            <a:ext cx="2895600" cy="381000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2147483646" y="0"/>
              </a:cxn>
              <a:cxn ang="0">
                <a:pos x="2147483646" y="2147483646"/>
              </a:cxn>
            </a:cxnLst>
            <a:pathLst>
              <a:path w="1824" h="240">
                <a:moveTo>
                  <a:pt x="0" y="240"/>
                </a:moveTo>
                <a:cubicBezTo>
                  <a:pt x="328" y="120"/>
                  <a:pt x="656" y="0"/>
                  <a:pt x="960" y="0"/>
                </a:cubicBezTo>
                <a:cubicBezTo>
                  <a:pt x="1264" y="0"/>
                  <a:pt x="1680" y="200"/>
                  <a:pt x="1824" y="240"/>
                </a:cubicBezTo>
              </a:path>
            </a:pathLst>
          </a:custGeom>
          <a:noFill/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1753" name="Text Box 9"/>
          <p:cNvSpPr txBox="1"/>
          <p:nvPr/>
        </p:nvSpPr>
        <p:spPr>
          <a:xfrm>
            <a:off x="1752600" y="228600"/>
            <a:ext cx="2057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校验码</a:t>
            </a:r>
            <a:endParaRPr lang="zh-CN" altLang="en-US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31754" name="Text Box 10"/>
          <p:cNvSpPr txBox="1"/>
          <p:nvPr/>
        </p:nvSpPr>
        <p:spPr>
          <a:xfrm>
            <a:off x="152400" y="2667000"/>
            <a:ext cx="2743200" cy="15525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例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1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：     数据</a:t>
            </a:r>
            <a:endParaRPr lang="zh-CN" altLang="en-US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        0010  0001</a:t>
            </a:r>
            <a:endParaRPr lang="zh-CN" altLang="zh-CN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        0111  0101</a:t>
            </a:r>
            <a:endParaRPr lang="zh-CN" altLang="zh-CN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31755" name="Text Box 11"/>
          <p:cNvSpPr txBox="1"/>
          <p:nvPr/>
        </p:nvSpPr>
        <p:spPr>
          <a:xfrm>
            <a:off x="3733800" y="2667000"/>
            <a:ext cx="1524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奇校验码</a:t>
            </a:r>
            <a:endParaRPr lang="zh-CN" altLang="en-US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31756" name="Text Box 12"/>
          <p:cNvSpPr txBox="1"/>
          <p:nvPr/>
        </p:nvSpPr>
        <p:spPr>
          <a:xfrm>
            <a:off x="3276600" y="3276600"/>
            <a:ext cx="2057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0010  0001</a:t>
            </a:r>
            <a:endParaRPr lang="zh-CN" altLang="zh-CN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31757" name="Text Box 13"/>
          <p:cNvSpPr txBox="1"/>
          <p:nvPr/>
        </p:nvSpPr>
        <p:spPr>
          <a:xfrm>
            <a:off x="5105400" y="3276600"/>
            <a:ext cx="609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b="1" dirty="0">
                <a:solidFill>
                  <a:srgbClr val="FF0000"/>
                </a:solidFill>
                <a:latin typeface="Tahoma" panose="020B0604030504040204" pitchFamily="34" charset="0"/>
              </a:rPr>
              <a:t>1</a:t>
            </a:r>
            <a:endParaRPr lang="zh-CN" altLang="zh-CN" sz="2400" b="1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31758" name="Text Box 14"/>
          <p:cNvSpPr txBox="1"/>
          <p:nvPr/>
        </p:nvSpPr>
        <p:spPr>
          <a:xfrm>
            <a:off x="6553200" y="2667000"/>
            <a:ext cx="1600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偶校验码</a:t>
            </a:r>
            <a:endParaRPr lang="zh-CN" altLang="en-US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31759" name="Text Box 15"/>
          <p:cNvSpPr txBox="1"/>
          <p:nvPr/>
        </p:nvSpPr>
        <p:spPr>
          <a:xfrm>
            <a:off x="6172200" y="3276600"/>
            <a:ext cx="2057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0010  0001</a:t>
            </a:r>
            <a:endParaRPr lang="zh-CN" altLang="zh-CN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31760" name="Text Box 16"/>
          <p:cNvSpPr txBox="1"/>
          <p:nvPr/>
        </p:nvSpPr>
        <p:spPr>
          <a:xfrm>
            <a:off x="8001000" y="3276600"/>
            <a:ext cx="609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b="1" dirty="0">
                <a:solidFill>
                  <a:srgbClr val="FF0000"/>
                </a:solidFill>
                <a:latin typeface="Tahoma" panose="020B0604030504040204" pitchFamily="34" charset="0"/>
              </a:rPr>
              <a:t>0</a:t>
            </a:r>
            <a:endParaRPr lang="zh-CN" altLang="zh-CN" sz="2400" b="1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31761" name="Text Box 17"/>
          <p:cNvSpPr txBox="1"/>
          <p:nvPr/>
        </p:nvSpPr>
        <p:spPr>
          <a:xfrm>
            <a:off x="3276600" y="3810000"/>
            <a:ext cx="2057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0111  0101</a:t>
            </a:r>
            <a:endParaRPr lang="zh-CN" altLang="zh-CN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31762" name="Text Box 18"/>
          <p:cNvSpPr txBox="1"/>
          <p:nvPr/>
        </p:nvSpPr>
        <p:spPr>
          <a:xfrm>
            <a:off x="5105400" y="3810000"/>
            <a:ext cx="609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b="1" dirty="0">
                <a:solidFill>
                  <a:srgbClr val="FF0000"/>
                </a:solidFill>
                <a:latin typeface="Tahoma" panose="020B0604030504040204" pitchFamily="34" charset="0"/>
              </a:rPr>
              <a:t>0</a:t>
            </a:r>
            <a:endParaRPr lang="zh-CN" altLang="zh-CN" sz="2400" b="1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31763" name="Text Box 19"/>
          <p:cNvSpPr txBox="1"/>
          <p:nvPr/>
        </p:nvSpPr>
        <p:spPr>
          <a:xfrm>
            <a:off x="6172200" y="3810000"/>
            <a:ext cx="2057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0111  0101</a:t>
            </a:r>
            <a:endParaRPr lang="zh-CN" altLang="zh-CN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31764" name="Text Box 20"/>
          <p:cNvSpPr txBox="1"/>
          <p:nvPr/>
        </p:nvSpPr>
        <p:spPr>
          <a:xfrm>
            <a:off x="8001000" y="3810000"/>
            <a:ext cx="609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b="1" dirty="0">
                <a:solidFill>
                  <a:srgbClr val="FF0000"/>
                </a:solidFill>
                <a:latin typeface="Tahoma" panose="020B0604030504040204" pitchFamily="34" charset="0"/>
              </a:rPr>
              <a:t>1</a:t>
            </a:r>
            <a:endParaRPr lang="zh-CN" altLang="zh-CN" sz="2400" b="1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31765" name="Text Box 21"/>
          <p:cNvSpPr txBox="1"/>
          <p:nvPr/>
        </p:nvSpPr>
        <p:spPr>
          <a:xfrm>
            <a:off x="228600" y="4343400"/>
            <a:ext cx="4114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例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2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：数据  ：   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0111  0101</a:t>
            </a:r>
            <a:endParaRPr lang="zh-CN" altLang="zh-CN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31766" name="Text Box 22"/>
          <p:cNvSpPr txBox="1"/>
          <p:nvPr/>
        </p:nvSpPr>
        <p:spPr>
          <a:xfrm>
            <a:off x="5486400" y="4800600"/>
            <a:ext cx="1524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奇校验码   </a:t>
            </a:r>
            <a:endParaRPr lang="zh-CN" altLang="en-US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31767" name="Text Box 23"/>
          <p:cNvSpPr txBox="1"/>
          <p:nvPr/>
        </p:nvSpPr>
        <p:spPr>
          <a:xfrm>
            <a:off x="5105400" y="4343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0111  0101</a:t>
            </a:r>
            <a:endParaRPr lang="zh-CN" altLang="zh-CN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31768" name="Text Box 24"/>
          <p:cNvSpPr txBox="1"/>
          <p:nvPr/>
        </p:nvSpPr>
        <p:spPr>
          <a:xfrm>
            <a:off x="6934200" y="4343400"/>
            <a:ext cx="533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b="1" dirty="0">
                <a:solidFill>
                  <a:srgbClr val="FF0000"/>
                </a:solidFill>
                <a:latin typeface="Tahoma" panose="020B0604030504040204" pitchFamily="34" charset="0"/>
              </a:rPr>
              <a:t>1</a:t>
            </a:r>
            <a:endParaRPr lang="zh-CN" altLang="zh-CN" sz="2400" b="1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31769" name="Text Box 25"/>
          <p:cNvSpPr txBox="1"/>
          <p:nvPr/>
        </p:nvSpPr>
        <p:spPr>
          <a:xfrm>
            <a:off x="2286000" y="4724400"/>
            <a:ext cx="1676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发送端</a:t>
            </a:r>
            <a:endParaRPr lang="zh-CN" altLang="en-US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31770" name="AutoShape 26"/>
          <p:cNvSpPr/>
          <p:nvPr/>
        </p:nvSpPr>
        <p:spPr>
          <a:xfrm>
            <a:off x="4267200" y="4495800"/>
            <a:ext cx="838200" cy="228600"/>
          </a:xfrm>
          <a:prstGeom prst="rightArrow">
            <a:avLst>
              <a:gd name="adj1" fmla="val 50000"/>
              <a:gd name="adj2" fmla="val 91632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31771" name="Text Box 27"/>
          <p:cNvSpPr txBox="1"/>
          <p:nvPr/>
        </p:nvSpPr>
        <p:spPr>
          <a:xfrm>
            <a:off x="3886200" y="4800600"/>
            <a:ext cx="17653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（门电路）</a:t>
            </a:r>
            <a:endParaRPr lang="zh-CN" altLang="en-US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31772" name="AutoShape 28"/>
          <p:cNvSpPr/>
          <p:nvPr/>
        </p:nvSpPr>
        <p:spPr>
          <a:xfrm>
            <a:off x="6172200" y="5181600"/>
            <a:ext cx="228600" cy="533400"/>
          </a:xfrm>
          <a:prstGeom prst="downArrow">
            <a:avLst>
              <a:gd name="adj1" fmla="val 50000"/>
              <a:gd name="adj2" fmla="val 58311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31773" name="Text Box 29"/>
          <p:cNvSpPr txBox="1"/>
          <p:nvPr/>
        </p:nvSpPr>
        <p:spPr>
          <a:xfrm>
            <a:off x="5029200" y="57150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0110  0101</a:t>
            </a:r>
            <a:endParaRPr lang="zh-CN" altLang="zh-CN" sz="2400" b="1" dirty="0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31774" name="Rectangle 30"/>
          <p:cNvSpPr/>
          <p:nvPr/>
        </p:nvSpPr>
        <p:spPr>
          <a:xfrm>
            <a:off x="6880225" y="5661025"/>
            <a:ext cx="3778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zh-CN" sz="2400" b="1" dirty="0">
                <a:solidFill>
                  <a:srgbClr val="FF0000"/>
                </a:solidFill>
                <a:latin typeface="Tahoma" panose="020B0604030504040204" pitchFamily="34" charset="0"/>
              </a:rPr>
              <a:t>0</a:t>
            </a:r>
            <a:endParaRPr lang="zh-CN" altLang="zh-CN" sz="2400" b="1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31775" name="Text Box 31"/>
          <p:cNvSpPr txBox="1"/>
          <p:nvPr/>
        </p:nvSpPr>
        <p:spPr>
          <a:xfrm>
            <a:off x="5334000" y="6096000"/>
            <a:ext cx="2209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接收端</a:t>
            </a:r>
            <a:endParaRPr lang="zh-CN" altLang="en-US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31776" name="Line 32"/>
          <p:cNvSpPr/>
          <p:nvPr/>
        </p:nvSpPr>
        <p:spPr>
          <a:xfrm>
            <a:off x="7010400" y="4800600"/>
            <a:ext cx="228600" cy="0"/>
          </a:xfrm>
          <a:prstGeom prst="line">
            <a:avLst/>
          </a:prstGeom>
          <a:ln w="635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777" name="Line 33"/>
          <p:cNvSpPr/>
          <p:nvPr/>
        </p:nvSpPr>
        <p:spPr>
          <a:xfrm>
            <a:off x="6934200" y="6096000"/>
            <a:ext cx="228600" cy="0"/>
          </a:xfrm>
          <a:prstGeom prst="line">
            <a:avLst/>
          </a:prstGeom>
          <a:ln w="635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1778" name="Freeform 34"/>
          <p:cNvSpPr/>
          <p:nvPr/>
        </p:nvSpPr>
        <p:spPr>
          <a:xfrm>
            <a:off x="7162800" y="4572000"/>
            <a:ext cx="685800" cy="1447800"/>
          </a:xfrm>
          <a:custGeom>
            <a:avLst/>
            <a:gdLst/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</a:cxnLst>
            <a:pathLst>
              <a:path w="632" h="1008">
                <a:moveTo>
                  <a:pt x="48" y="0"/>
                </a:moveTo>
                <a:cubicBezTo>
                  <a:pt x="340" y="204"/>
                  <a:pt x="632" y="408"/>
                  <a:pt x="624" y="576"/>
                </a:cubicBezTo>
                <a:cubicBezTo>
                  <a:pt x="616" y="744"/>
                  <a:pt x="308" y="876"/>
                  <a:pt x="0" y="1008"/>
                </a:cubicBezTo>
              </a:path>
            </a:pathLst>
          </a:custGeom>
          <a:noFill/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1779" name="Text Box 35"/>
          <p:cNvSpPr txBox="1"/>
          <p:nvPr/>
        </p:nvSpPr>
        <p:spPr>
          <a:xfrm>
            <a:off x="7924800" y="5105400"/>
            <a:ext cx="990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出错</a:t>
            </a:r>
            <a:endParaRPr lang="zh-CN" altLang="en-US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7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7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17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17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17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17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17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17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17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17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17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17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17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17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17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17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31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31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5" dur="500"/>
                                        <p:tgtEl>
                                          <p:spTgt spid="31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0" dur="500"/>
                                        <p:tgtEl>
                                          <p:spTgt spid="31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31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0" dur="500"/>
                                        <p:tgtEl>
                                          <p:spTgt spid="31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5" dur="500"/>
                                        <p:tgtEl>
                                          <p:spTgt spid="31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0" dur="500"/>
                                        <p:tgtEl>
                                          <p:spTgt spid="31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5" dur="500"/>
                                        <p:tgtEl>
                                          <p:spTgt spid="31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0" dur="500"/>
                                        <p:tgtEl>
                                          <p:spTgt spid="31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5" dur="500"/>
                                        <p:tgtEl>
                                          <p:spTgt spid="31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317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317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6" dur="500"/>
                                        <p:tgtEl>
                                          <p:spTgt spid="31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1" dur="500"/>
                                        <p:tgtEl>
                                          <p:spTgt spid="31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317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317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317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317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4" dur="500"/>
                                        <p:tgtEl>
                                          <p:spTgt spid="31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9" dur="500"/>
                                        <p:tgtEl>
                                          <p:spTgt spid="31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44" dur="500"/>
                                        <p:tgtEl>
                                          <p:spTgt spid="31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317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317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317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317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7" dur="500"/>
                                        <p:tgtEl>
                                          <p:spTgt spid="31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2" dur="500"/>
                                        <p:tgtEl>
                                          <p:spTgt spid="31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7" dur="500"/>
                                        <p:tgtEl>
                                          <p:spTgt spid="31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317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317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317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317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4" dur="500" fill="hold"/>
                                        <p:tgtEl>
                                          <p:spTgt spid="317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500" fill="hold"/>
                                        <p:tgtEl>
                                          <p:spTgt spid="317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0" dur="500"/>
                                        <p:tgtEl>
                                          <p:spTgt spid="31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6" grpId="0" animBg="1"/>
      <p:bldP spid="31748" grpId="0"/>
      <p:bldP spid="31749" grpId="0"/>
      <p:bldP spid="31753" grpId="0"/>
      <p:bldP spid="31754" grpId="0"/>
      <p:bldP spid="31755" grpId="0"/>
      <p:bldP spid="31756" grpId="0"/>
      <p:bldP spid="31757" grpId="0"/>
      <p:bldP spid="31758" grpId="0"/>
      <p:bldP spid="31759" grpId="0"/>
      <p:bldP spid="31760" grpId="0"/>
      <p:bldP spid="31761" grpId="0"/>
      <p:bldP spid="31762" grpId="0"/>
      <p:bldP spid="31763" grpId="0"/>
      <p:bldP spid="31764" grpId="0"/>
      <p:bldP spid="31765" grpId="0"/>
      <p:bldP spid="31766" grpId="0"/>
      <p:bldP spid="31767" grpId="0"/>
      <p:bldP spid="31768" grpId="0"/>
      <p:bldP spid="31769" grpId="0"/>
      <p:bldP spid="31770" grpId="0" animBg="1"/>
      <p:bldP spid="31771" grpId="0"/>
      <p:bldP spid="31772" grpId="0" animBg="1"/>
      <p:bldP spid="31773" grpId="0"/>
      <p:bldP spid="31774" grpId="0"/>
      <p:bldP spid="31775" grpId="0"/>
      <p:bldP spid="3177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Text Box 2"/>
          <p:cNvSpPr txBox="1"/>
          <p:nvPr/>
        </p:nvSpPr>
        <p:spPr>
          <a:xfrm>
            <a:off x="304800" y="1981200"/>
            <a:ext cx="4114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例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3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：数据  ： 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0111  0101</a:t>
            </a:r>
            <a:endParaRPr lang="zh-CN" altLang="zh-CN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32771" name="Text Box 3"/>
          <p:cNvSpPr txBox="1"/>
          <p:nvPr/>
        </p:nvSpPr>
        <p:spPr>
          <a:xfrm>
            <a:off x="5562600" y="2438400"/>
            <a:ext cx="1524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奇校验码   </a:t>
            </a:r>
            <a:endParaRPr lang="zh-CN" altLang="en-US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32772" name="Text Box 4"/>
          <p:cNvSpPr txBox="1"/>
          <p:nvPr/>
        </p:nvSpPr>
        <p:spPr>
          <a:xfrm>
            <a:off x="5181600" y="19812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0111  0101</a:t>
            </a:r>
            <a:endParaRPr lang="zh-CN" altLang="zh-CN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32773" name="Text Box 5"/>
          <p:cNvSpPr txBox="1"/>
          <p:nvPr/>
        </p:nvSpPr>
        <p:spPr>
          <a:xfrm>
            <a:off x="7010400" y="1981200"/>
            <a:ext cx="533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b="1" dirty="0">
                <a:solidFill>
                  <a:srgbClr val="FF0000"/>
                </a:solidFill>
                <a:latin typeface="Tahoma" panose="020B0604030504040204" pitchFamily="34" charset="0"/>
              </a:rPr>
              <a:t>0</a:t>
            </a:r>
            <a:endParaRPr lang="zh-CN" altLang="zh-CN" sz="2400" b="1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32774" name="Text Box 6"/>
          <p:cNvSpPr txBox="1"/>
          <p:nvPr/>
        </p:nvSpPr>
        <p:spPr>
          <a:xfrm>
            <a:off x="2286000" y="2514600"/>
            <a:ext cx="2209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发送端</a:t>
            </a:r>
            <a:endParaRPr lang="zh-CN" altLang="en-US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32775" name="AutoShape 7"/>
          <p:cNvSpPr/>
          <p:nvPr/>
        </p:nvSpPr>
        <p:spPr>
          <a:xfrm>
            <a:off x="4343400" y="2133600"/>
            <a:ext cx="838200" cy="228600"/>
          </a:xfrm>
          <a:prstGeom prst="rightArrow">
            <a:avLst>
              <a:gd name="adj1" fmla="val 50000"/>
              <a:gd name="adj2" fmla="val 91632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32776" name="Text Box 8"/>
          <p:cNvSpPr txBox="1"/>
          <p:nvPr/>
        </p:nvSpPr>
        <p:spPr>
          <a:xfrm>
            <a:off x="3962400" y="2438400"/>
            <a:ext cx="1524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（门电路）</a:t>
            </a:r>
            <a:endParaRPr lang="zh-CN" altLang="en-US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32777" name="AutoShape 9"/>
          <p:cNvSpPr/>
          <p:nvPr/>
        </p:nvSpPr>
        <p:spPr>
          <a:xfrm>
            <a:off x="6248400" y="2819400"/>
            <a:ext cx="228600" cy="533400"/>
          </a:xfrm>
          <a:prstGeom prst="downArrow">
            <a:avLst>
              <a:gd name="adj1" fmla="val 50000"/>
              <a:gd name="adj2" fmla="val 58311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32778" name="Text Box 10"/>
          <p:cNvSpPr txBox="1"/>
          <p:nvPr/>
        </p:nvSpPr>
        <p:spPr>
          <a:xfrm>
            <a:off x="5105400" y="3352800"/>
            <a:ext cx="1981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0110  0111</a:t>
            </a:r>
            <a:endParaRPr lang="zh-CN" altLang="zh-CN" sz="2400" b="1" dirty="0">
              <a:solidFill>
                <a:schemeClr val="hlink"/>
              </a:solidFill>
              <a:latin typeface="Tahoma" panose="020B0604030504040204" pitchFamily="34" charset="0"/>
            </a:endParaRPr>
          </a:p>
        </p:txBody>
      </p:sp>
      <p:sp>
        <p:nvSpPr>
          <p:cNvPr id="32779" name="Rectangle 11"/>
          <p:cNvSpPr/>
          <p:nvPr/>
        </p:nvSpPr>
        <p:spPr>
          <a:xfrm>
            <a:off x="6934200" y="3352800"/>
            <a:ext cx="3778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zh-CN" sz="2400" b="1" dirty="0">
                <a:solidFill>
                  <a:srgbClr val="FF0000"/>
                </a:solidFill>
                <a:latin typeface="Tahoma" panose="020B0604030504040204" pitchFamily="34" charset="0"/>
              </a:rPr>
              <a:t>0</a:t>
            </a:r>
            <a:endParaRPr lang="zh-CN" altLang="zh-CN" sz="2400" b="1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32780" name="Text Box 12"/>
          <p:cNvSpPr txBox="1"/>
          <p:nvPr/>
        </p:nvSpPr>
        <p:spPr>
          <a:xfrm>
            <a:off x="5257800" y="3886200"/>
            <a:ext cx="2209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接收端</a:t>
            </a:r>
            <a:endParaRPr lang="zh-CN" altLang="en-US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32781" name="Line 13"/>
          <p:cNvSpPr/>
          <p:nvPr/>
        </p:nvSpPr>
        <p:spPr>
          <a:xfrm>
            <a:off x="7086600" y="2438400"/>
            <a:ext cx="228600" cy="0"/>
          </a:xfrm>
          <a:prstGeom prst="line">
            <a:avLst/>
          </a:prstGeom>
          <a:ln w="635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2782" name="Line 14"/>
          <p:cNvSpPr/>
          <p:nvPr/>
        </p:nvSpPr>
        <p:spPr>
          <a:xfrm>
            <a:off x="7010400" y="3733800"/>
            <a:ext cx="228600" cy="0"/>
          </a:xfrm>
          <a:prstGeom prst="line">
            <a:avLst/>
          </a:prstGeom>
          <a:ln w="635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2783" name="Freeform 15"/>
          <p:cNvSpPr/>
          <p:nvPr/>
        </p:nvSpPr>
        <p:spPr>
          <a:xfrm>
            <a:off x="7239000" y="2209800"/>
            <a:ext cx="685800" cy="1447800"/>
          </a:xfrm>
          <a:custGeom>
            <a:avLst/>
            <a:gdLst/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</a:cxnLst>
            <a:pathLst>
              <a:path w="632" h="1008">
                <a:moveTo>
                  <a:pt x="48" y="0"/>
                </a:moveTo>
                <a:cubicBezTo>
                  <a:pt x="340" y="204"/>
                  <a:pt x="632" y="408"/>
                  <a:pt x="624" y="576"/>
                </a:cubicBezTo>
                <a:cubicBezTo>
                  <a:pt x="616" y="744"/>
                  <a:pt x="308" y="876"/>
                  <a:pt x="0" y="1008"/>
                </a:cubicBezTo>
              </a:path>
            </a:pathLst>
          </a:custGeom>
          <a:noFill/>
          <a:ln w="952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2784" name="Text Box 16"/>
          <p:cNvSpPr txBox="1"/>
          <p:nvPr/>
        </p:nvSpPr>
        <p:spPr>
          <a:xfrm>
            <a:off x="8001000" y="2743200"/>
            <a:ext cx="990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正确</a:t>
            </a:r>
            <a:endParaRPr lang="zh-CN" altLang="en-US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32785" name="AutoShape 17"/>
          <p:cNvSpPr/>
          <p:nvPr/>
        </p:nvSpPr>
        <p:spPr>
          <a:xfrm>
            <a:off x="457200" y="3733800"/>
            <a:ext cx="4764088" cy="2209800"/>
          </a:xfrm>
          <a:prstGeom prst="star24">
            <a:avLst>
              <a:gd name="adj" fmla="val 37500"/>
            </a:avLst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奇偶校验只能发现</a:t>
            </a:r>
            <a:endParaRPr lang="zh-CN" altLang="en-US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奇数个错误，且不能</a:t>
            </a:r>
            <a:endParaRPr lang="zh-CN" altLang="en-US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纠正错误！</a:t>
            </a:r>
            <a:endParaRPr lang="zh-CN" altLang="en-US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7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7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32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32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27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27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27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27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500"/>
                                        <p:tgtEl>
                                          <p:spTgt spid="32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2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1" dur="500"/>
                                        <p:tgtEl>
                                          <p:spTgt spid="32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27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27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27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27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32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9" dur="500"/>
                                        <p:tgtEl>
                                          <p:spTgt spid="32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4" dur="500"/>
                                        <p:tgtEl>
                                          <p:spTgt spid="32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27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27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27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27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327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27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7" dur="500"/>
                                        <p:tgtEl>
                                          <p:spTgt spid="32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27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27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327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327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0" grpId="0"/>
      <p:bldP spid="32771" grpId="0"/>
      <p:bldP spid="32772" grpId="0"/>
      <p:bldP spid="32773" grpId="0"/>
      <p:bldP spid="32774" grpId="0"/>
      <p:bldP spid="32775" grpId="0" animBg="1"/>
      <p:bldP spid="32776" grpId="0"/>
      <p:bldP spid="32777" grpId="0" animBg="1"/>
      <p:bldP spid="32778" grpId="0"/>
      <p:bldP spid="32779" grpId="0"/>
      <p:bldP spid="32780" grpId="0"/>
      <p:bldP spid="32784" grpId="0"/>
      <p:bldP spid="32785" grpId="0" bldLvl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Rectangle 2"/>
          <p:cNvSpPr>
            <a:spLocks noGrp="1"/>
          </p:cNvSpPr>
          <p:nvPr>
            <p:ph type="title"/>
          </p:nvPr>
        </p:nvSpPr>
        <p:spPr>
          <a:xfrm>
            <a:off x="252413" y="1052513"/>
            <a:ext cx="7620000" cy="685800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zh-CN" sz="3200" dirty="0"/>
              <a:t>2</a:t>
            </a:r>
            <a:r>
              <a:rPr lang="zh-CN" altLang="en-US" sz="3200" dirty="0"/>
              <a:t>、海明校验码</a:t>
            </a:r>
            <a:endParaRPr lang="zh-CN" altLang="en-US" sz="3200" dirty="0"/>
          </a:p>
        </p:txBody>
      </p:sp>
      <p:sp>
        <p:nvSpPr>
          <p:cNvPr id="33795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zh-CN" altLang="en-US" sz="2800" b="1" dirty="0"/>
              <a:t>海明校验码：</a:t>
            </a:r>
            <a:r>
              <a:rPr lang="zh-CN" altLang="en-US" sz="2800" b="1" dirty="0">
                <a:ea typeface="楷体_GB2312" pitchFamily="1" charset="-122"/>
              </a:rPr>
              <a:t>是由</a:t>
            </a:r>
            <a:r>
              <a:rPr lang="zh-CN" altLang="zh-CN" sz="2800" b="1" dirty="0">
                <a:ea typeface="楷体_GB2312" pitchFamily="1" charset="-122"/>
              </a:rPr>
              <a:t>Richard Hamming</a:t>
            </a:r>
            <a:r>
              <a:rPr lang="zh-CN" altLang="en-US" sz="2800" b="1" dirty="0">
                <a:ea typeface="楷体_GB2312" pitchFamily="1" charset="-122"/>
              </a:rPr>
              <a:t>于</a:t>
            </a:r>
            <a:r>
              <a:rPr lang="zh-CN" altLang="zh-CN" sz="2800" b="1" dirty="0">
                <a:ea typeface="楷体_GB2312" pitchFamily="1" charset="-122"/>
              </a:rPr>
              <a:t>1950</a:t>
            </a:r>
            <a:r>
              <a:rPr lang="zh-CN" altLang="en-US" sz="2800" b="1" dirty="0">
                <a:ea typeface="楷体_GB2312" pitchFamily="1" charset="-122"/>
              </a:rPr>
              <a:t>年提出的。这种编码能纠正一位出错，并能自动恢复出错位的校验码。</a:t>
            </a:r>
            <a:endParaRPr lang="zh-CN" altLang="en-US" sz="2800" b="1" dirty="0"/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zh-CN" sz="2800" b="1" dirty="0">
                <a:ea typeface="楷体_GB2312" pitchFamily="1" charset="-122"/>
              </a:rPr>
              <a:t>1</a:t>
            </a:r>
            <a:r>
              <a:rPr lang="zh-CN" altLang="en-US" sz="2800" b="1" dirty="0">
                <a:ea typeface="楷体_GB2312" pitchFamily="1" charset="-122"/>
              </a:rPr>
              <a:t>）校验原理：以奇偶校验为基础，在数据中掺杂一组校验位，并规定每个校验位的校验范围。</a:t>
            </a:r>
            <a:endParaRPr lang="zh-CN" altLang="en-US" sz="2800" b="1" dirty="0">
              <a:ea typeface="楷体_GB2312" pitchFamily="1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zh-CN" sz="2800" b="1" dirty="0">
                <a:ea typeface="楷体_GB2312" pitchFamily="1" charset="-122"/>
              </a:rPr>
              <a:t>2</a:t>
            </a:r>
            <a:r>
              <a:rPr lang="zh-CN" altLang="en-US" sz="2800" b="1" dirty="0">
                <a:ea typeface="楷体_GB2312" pitchFamily="1" charset="-122"/>
              </a:rPr>
              <a:t>）校验位的位数确定：</a:t>
            </a:r>
            <a:endParaRPr lang="zh-CN" altLang="en-US" sz="2800" b="1" dirty="0">
              <a:ea typeface="楷体_GB2312" pitchFamily="1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zh-CN" sz="2800" b="1" dirty="0">
                <a:ea typeface="楷体_GB2312" pitchFamily="1" charset="-122"/>
              </a:rPr>
              <a:t>   </a:t>
            </a:r>
            <a:r>
              <a:rPr lang="zh-CN" altLang="en-US" sz="2800" b="1" dirty="0">
                <a:ea typeface="楷体_GB2312" pitchFamily="1" charset="-122"/>
              </a:rPr>
              <a:t>设校验位的位数</a:t>
            </a:r>
            <a:r>
              <a:rPr lang="zh-CN" altLang="zh-CN" sz="2800" b="1" dirty="0">
                <a:ea typeface="楷体_GB2312" pitchFamily="1" charset="-122"/>
              </a:rPr>
              <a:t>k</a:t>
            </a:r>
            <a:r>
              <a:rPr lang="zh-CN" altLang="en-US" sz="2800" b="1" dirty="0">
                <a:ea typeface="楷体_GB2312" pitchFamily="1" charset="-122"/>
              </a:rPr>
              <a:t>，数据位的位数</a:t>
            </a:r>
            <a:r>
              <a:rPr lang="zh-CN" altLang="zh-CN" sz="2800" b="1" dirty="0">
                <a:ea typeface="楷体_GB2312" pitchFamily="1" charset="-122"/>
              </a:rPr>
              <a:t>n</a:t>
            </a:r>
            <a:endParaRPr lang="zh-CN" altLang="zh-CN" sz="2800" b="1" dirty="0">
              <a:ea typeface="楷体_GB2312" pitchFamily="1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zh-CN" sz="2800" b="1" dirty="0">
                <a:ea typeface="楷体_GB2312" pitchFamily="1" charset="-122"/>
              </a:rPr>
              <a:t>   </a:t>
            </a:r>
            <a:r>
              <a:rPr lang="zh-CN" altLang="en-US" sz="2800" b="1" dirty="0">
                <a:ea typeface="楷体_GB2312" pitchFamily="1" charset="-122"/>
              </a:rPr>
              <a:t>应满足下述关系</a:t>
            </a:r>
            <a:r>
              <a:rPr lang="zh-CN" altLang="zh-CN" sz="2800" b="1" dirty="0">
                <a:ea typeface="楷体_GB2312" pitchFamily="1" charset="-122"/>
              </a:rPr>
              <a:t>:</a:t>
            </a:r>
            <a:endParaRPr lang="zh-CN" altLang="zh-CN" sz="2800" b="1" dirty="0"/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zh-CN" sz="2800" b="1" dirty="0">
                <a:ea typeface="楷体_GB2312" pitchFamily="1" charset="-122"/>
              </a:rPr>
              <a:t>                  </a:t>
            </a:r>
            <a:r>
              <a:rPr lang="zh-CN" altLang="zh-CN" sz="2800" b="1" dirty="0">
                <a:solidFill>
                  <a:srgbClr val="FF0000"/>
                </a:solidFill>
                <a:ea typeface="楷体_GB2312" pitchFamily="1" charset="-122"/>
              </a:rPr>
              <a:t>2</a:t>
            </a:r>
            <a:r>
              <a:rPr lang="zh-CN" altLang="zh-CN" sz="2800" b="1" baseline="30000" dirty="0">
                <a:solidFill>
                  <a:srgbClr val="FF0000"/>
                </a:solidFill>
                <a:ea typeface="楷体_GB2312" pitchFamily="1" charset="-122"/>
              </a:rPr>
              <a:t>k</a:t>
            </a:r>
            <a:r>
              <a:rPr lang="zh-CN" altLang="zh-CN" sz="2800" b="1" dirty="0">
                <a:solidFill>
                  <a:srgbClr val="FF0000"/>
                </a:solidFill>
                <a:latin typeface="楷体_GB2312" pitchFamily="1" charset="-122"/>
                <a:ea typeface="楷体_GB2312" pitchFamily="1" charset="-122"/>
              </a:rPr>
              <a:t>≥</a:t>
            </a:r>
            <a:r>
              <a:rPr lang="zh-CN" altLang="zh-CN" sz="2800" b="1" dirty="0">
                <a:solidFill>
                  <a:srgbClr val="FF0000"/>
                </a:solidFill>
                <a:ea typeface="楷体_GB2312" pitchFamily="1" charset="-122"/>
              </a:rPr>
              <a:t>n+k+1</a:t>
            </a:r>
            <a:endParaRPr lang="zh-CN" altLang="zh-CN" sz="2800" b="1" dirty="0">
              <a:solidFill>
                <a:srgbClr val="FF0000"/>
              </a:solidFill>
              <a:ea typeface="楷体_GB2312" pitchFamily="1" charset="-122"/>
            </a:endParaRPr>
          </a:p>
        </p:txBody>
      </p:sp>
      <p:sp>
        <p:nvSpPr>
          <p:cNvPr id="33796" name="AutoShape 4"/>
          <p:cNvSpPr/>
          <p:nvPr/>
        </p:nvSpPr>
        <p:spPr>
          <a:xfrm>
            <a:off x="5105400" y="5105400"/>
            <a:ext cx="304800" cy="1371600"/>
          </a:xfrm>
          <a:prstGeom prst="leftBrace">
            <a:avLst>
              <a:gd name="adj1" fmla="val 37500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33797" name="Text Box 5"/>
          <p:cNvSpPr txBox="1"/>
          <p:nvPr/>
        </p:nvSpPr>
        <p:spPr>
          <a:xfrm>
            <a:off x="5410200" y="4953000"/>
            <a:ext cx="2590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①</a:t>
            </a: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 n</a:t>
            </a:r>
            <a:r>
              <a:rPr lang="zh-CN" altLang="en-US" sz="2400" dirty="0">
                <a:solidFill>
                  <a:schemeClr val="tx1"/>
                </a:solidFill>
                <a:latin typeface="Tahoma" panose="020B0604030504040204" pitchFamily="34" charset="0"/>
              </a:rPr>
              <a:t>个数据位</a:t>
            </a:r>
            <a:endParaRPr lang="zh-CN" altLang="en-US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33798" name="Rectangle 6"/>
          <p:cNvSpPr/>
          <p:nvPr/>
        </p:nvSpPr>
        <p:spPr>
          <a:xfrm>
            <a:off x="5410200" y="54864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② k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个校验位</a:t>
            </a:r>
            <a:endParaRPr lang="zh-CN" altLang="en-US" sz="2400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33799" name="Rectangle 7"/>
          <p:cNvSpPr/>
          <p:nvPr/>
        </p:nvSpPr>
        <p:spPr>
          <a:xfrm>
            <a:off x="5410200" y="60198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③ 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无错</a:t>
            </a:r>
            <a:endParaRPr lang="zh-CN" altLang="en-US" sz="2400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37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37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33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33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500"/>
                                        <p:tgtEl>
                                          <p:spTgt spid="33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6" grpId="0" animBg="1"/>
      <p:bldP spid="33797" grpId="0"/>
      <p:bldP spid="33798" grpId="0"/>
      <p:bldP spid="3379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Text Box 2"/>
          <p:cNvSpPr txBox="1"/>
          <p:nvPr/>
        </p:nvSpPr>
        <p:spPr>
          <a:xfrm>
            <a:off x="1371600" y="1066800"/>
            <a:ext cx="5410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例：数据位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n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与所需校验位数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k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的关系：</a:t>
            </a:r>
            <a:endParaRPr lang="zh-CN" altLang="en-US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34819" name="Text Box 3"/>
          <p:cNvSpPr txBox="1"/>
          <p:nvPr/>
        </p:nvSpPr>
        <p:spPr>
          <a:xfrm>
            <a:off x="1295400" y="1752600"/>
            <a:ext cx="838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K=2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34820" name="AutoShape 4"/>
          <p:cNvSpPr/>
          <p:nvPr/>
        </p:nvSpPr>
        <p:spPr>
          <a:xfrm>
            <a:off x="2057400" y="1905000"/>
            <a:ext cx="762000" cy="228600"/>
          </a:xfrm>
          <a:prstGeom prst="rightArrow">
            <a:avLst>
              <a:gd name="adj1" fmla="val 50000"/>
              <a:gd name="adj2" fmla="val 83302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34821" name="Text Box 5"/>
          <p:cNvSpPr txBox="1"/>
          <p:nvPr/>
        </p:nvSpPr>
        <p:spPr>
          <a:xfrm>
            <a:off x="2819400" y="1752600"/>
            <a:ext cx="1676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4</a:t>
            </a:r>
            <a:r>
              <a:rPr lang="zh-CN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≥</a:t>
            </a: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 n+3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34822" name="AutoShape 6"/>
          <p:cNvSpPr/>
          <p:nvPr/>
        </p:nvSpPr>
        <p:spPr>
          <a:xfrm>
            <a:off x="4114800" y="1905000"/>
            <a:ext cx="762000" cy="228600"/>
          </a:xfrm>
          <a:prstGeom prst="rightArrow">
            <a:avLst>
              <a:gd name="adj1" fmla="val 50000"/>
              <a:gd name="adj2" fmla="val 83302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34823" name="Text Box 7"/>
          <p:cNvSpPr txBox="1"/>
          <p:nvPr/>
        </p:nvSpPr>
        <p:spPr>
          <a:xfrm>
            <a:off x="4876800" y="1752600"/>
            <a:ext cx="1676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n=1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34824" name="Text Box 8"/>
          <p:cNvSpPr txBox="1"/>
          <p:nvPr/>
        </p:nvSpPr>
        <p:spPr>
          <a:xfrm>
            <a:off x="1295400" y="2590800"/>
            <a:ext cx="838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K=3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34825" name="AutoShape 9"/>
          <p:cNvSpPr/>
          <p:nvPr/>
        </p:nvSpPr>
        <p:spPr>
          <a:xfrm>
            <a:off x="2057400" y="2743200"/>
            <a:ext cx="762000" cy="228600"/>
          </a:xfrm>
          <a:prstGeom prst="rightArrow">
            <a:avLst>
              <a:gd name="adj1" fmla="val 50000"/>
              <a:gd name="adj2" fmla="val 83302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34826" name="Text Box 10"/>
          <p:cNvSpPr txBox="1"/>
          <p:nvPr/>
        </p:nvSpPr>
        <p:spPr>
          <a:xfrm>
            <a:off x="2819400" y="2590800"/>
            <a:ext cx="1676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8</a:t>
            </a:r>
            <a:r>
              <a:rPr lang="zh-CN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≥</a:t>
            </a: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 n+4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34827" name="AutoShape 11"/>
          <p:cNvSpPr/>
          <p:nvPr/>
        </p:nvSpPr>
        <p:spPr>
          <a:xfrm>
            <a:off x="4114800" y="2743200"/>
            <a:ext cx="762000" cy="228600"/>
          </a:xfrm>
          <a:prstGeom prst="rightArrow">
            <a:avLst>
              <a:gd name="adj1" fmla="val 50000"/>
              <a:gd name="adj2" fmla="val 83302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34828" name="Text Box 12"/>
          <p:cNvSpPr txBox="1"/>
          <p:nvPr/>
        </p:nvSpPr>
        <p:spPr>
          <a:xfrm>
            <a:off x="4876800" y="2590800"/>
            <a:ext cx="1676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n</a:t>
            </a:r>
            <a:r>
              <a:rPr lang="zh-CN" altLang="en-US" sz="2400" dirty="0">
                <a:solidFill>
                  <a:schemeClr val="tx1"/>
                </a:solidFill>
                <a:latin typeface="Tahoma" panose="020B0604030504040204" pitchFamily="34" charset="0"/>
              </a:rPr>
              <a:t>：</a:t>
            </a: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2~4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34829" name="Text Box 13"/>
          <p:cNvSpPr txBox="1"/>
          <p:nvPr/>
        </p:nvSpPr>
        <p:spPr>
          <a:xfrm>
            <a:off x="1295400" y="3429000"/>
            <a:ext cx="838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K=4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34830" name="AutoShape 14"/>
          <p:cNvSpPr/>
          <p:nvPr/>
        </p:nvSpPr>
        <p:spPr>
          <a:xfrm>
            <a:off x="2057400" y="3581400"/>
            <a:ext cx="762000" cy="228600"/>
          </a:xfrm>
          <a:prstGeom prst="rightArrow">
            <a:avLst>
              <a:gd name="adj1" fmla="val 50000"/>
              <a:gd name="adj2" fmla="val 83302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34831" name="Text Box 15"/>
          <p:cNvSpPr txBox="1"/>
          <p:nvPr/>
        </p:nvSpPr>
        <p:spPr>
          <a:xfrm>
            <a:off x="2819400" y="3429000"/>
            <a:ext cx="1676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16</a:t>
            </a:r>
            <a:r>
              <a:rPr lang="zh-CN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≥</a:t>
            </a: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 n+5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34832" name="AutoShape 16"/>
          <p:cNvSpPr/>
          <p:nvPr/>
        </p:nvSpPr>
        <p:spPr>
          <a:xfrm>
            <a:off x="4267200" y="3581400"/>
            <a:ext cx="762000" cy="228600"/>
          </a:xfrm>
          <a:prstGeom prst="rightArrow">
            <a:avLst>
              <a:gd name="adj1" fmla="val 50000"/>
              <a:gd name="adj2" fmla="val 83302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34833" name="Text Box 17"/>
          <p:cNvSpPr txBox="1"/>
          <p:nvPr/>
        </p:nvSpPr>
        <p:spPr>
          <a:xfrm>
            <a:off x="5029200" y="3429000"/>
            <a:ext cx="1676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n</a:t>
            </a:r>
            <a:r>
              <a:rPr lang="zh-CN" altLang="en-US" sz="2400" dirty="0">
                <a:solidFill>
                  <a:schemeClr val="tx1"/>
                </a:solidFill>
                <a:latin typeface="Tahoma" panose="020B0604030504040204" pitchFamily="34" charset="0"/>
              </a:rPr>
              <a:t>：</a:t>
            </a: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5~11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34834" name="Text Box 18"/>
          <p:cNvSpPr txBox="1"/>
          <p:nvPr/>
        </p:nvSpPr>
        <p:spPr>
          <a:xfrm>
            <a:off x="1066800" y="4038600"/>
            <a:ext cx="8077200" cy="1004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3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）校验位在海明码中的分布：</a:t>
            </a:r>
            <a:endParaRPr lang="zh-CN" altLang="en-US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 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规则：把位号数是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2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的权值的那些位，分配做奇偶校验位。</a:t>
            </a:r>
            <a:endParaRPr lang="zh-CN" altLang="en-US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34835" name="Text Box 19"/>
          <p:cNvSpPr txBox="1"/>
          <p:nvPr/>
        </p:nvSpPr>
        <p:spPr>
          <a:xfrm>
            <a:off x="1219200" y="5029200"/>
            <a:ext cx="6019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dirty="0">
                <a:solidFill>
                  <a:schemeClr val="tx1"/>
                </a:solidFill>
                <a:latin typeface="Tahoma" panose="020B0604030504040204" pitchFamily="34" charset="0"/>
              </a:rPr>
              <a:t>例：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位置号</a:t>
            </a:r>
            <a:r>
              <a:rPr lang="zh-CN" altLang="en-US" sz="2400" dirty="0">
                <a:solidFill>
                  <a:schemeClr val="tx1"/>
                </a:solidFill>
                <a:latin typeface="Tahoma" panose="020B0604030504040204" pitchFamily="34" charset="0"/>
              </a:rPr>
              <a:t>：  </a:t>
            </a:r>
            <a:r>
              <a:rPr lang="zh-CN" altLang="zh-CN" sz="2400" b="1" dirty="0">
                <a:solidFill>
                  <a:schemeClr val="tx1"/>
                </a:solidFill>
              </a:rPr>
              <a:t>……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  2</a:t>
            </a:r>
            <a:r>
              <a:rPr lang="zh-CN" altLang="zh-CN" sz="2400" b="1" baseline="30000" dirty="0">
                <a:solidFill>
                  <a:schemeClr val="tx1"/>
                </a:solidFill>
                <a:latin typeface="Tahoma" panose="020B0604030504040204" pitchFamily="34" charset="0"/>
              </a:rPr>
              <a:t>4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   2</a:t>
            </a:r>
            <a:r>
              <a:rPr lang="zh-CN" altLang="zh-CN" sz="2400" b="1" baseline="30000" dirty="0">
                <a:solidFill>
                  <a:schemeClr val="tx1"/>
                </a:solidFill>
                <a:latin typeface="Tahoma" panose="020B0604030504040204" pitchFamily="34" charset="0"/>
              </a:rPr>
              <a:t>3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   2</a:t>
            </a:r>
            <a:r>
              <a:rPr lang="zh-CN" altLang="zh-CN" sz="2400" b="1" baseline="30000" dirty="0">
                <a:solidFill>
                  <a:schemeClr val="tx1"/>
                </a:solidFill>
                <a:latin typeface="Tahoma" panose="020B0604030504040204" pitchFamily="34" charset="0"/>
              </a:rPr>
              <a:t>2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   2</a:t>
            </a:r>
            <a:r>
              <a:rPr lang="zh-CN" altLang="zh-CN" sz="2400" b="1" baseline="30000" dirty="0">
                <a:solidFill>
                  <a:schemeClr val="tx1"/>
                </a:solidFill>
                <a:latin typeface="Tahoma" panose="020B0604030504040204" pitchFamily="34" charset="0"/>
              </a:rPr>
              <a:t>1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   2</a:t>
            </a:r>
            <a:r>
              <a:rPr lang="zh-CN" altLang="zh-CN" sz="2400" b="1" baseline="30000" dirty="0">
                <a:solidFill>
                  <a:schemeClr val="tx1"/>
                </a:solidFill>
                <a:latin typeface="Tahoma" panose="020B0604030504040204" pitchFamily="34" charset="0"/>
              </a:rPr>
              <a:t>0</a:t>
            </a:r>
            <a:endParaRPr lang="zh-CN" altLang="zh-CN" sz="2400" b="1" baseline="300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34836" name="Text Box 20"/>
          <p:cNvSpPr txBox="1"/>
          <p:nvPr/>
        </p:nvSpPr>
        <p:spPr>
          <a:xfrm>
            <a:off x="6324600" y="5334000"/>
            <a:ext cx="685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1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34837" name="Text Box 21"/>
          <p:cNvSpPr txBox="1"/>
          <p:nvPr/>
        </p:nvSpPr>
        <p:spPr>
          <a:xfrm>
            <a:off x="5638800" y="5334000"/>
            <a:ext cx="685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2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34838" name="Text Box 22"/>
          <p:cNvSpPr txBox="1"/>
          <p:nvPr/>
        </p:nvSpPr>
        <p:spPr>
          <a:xfrm>
            <a:off x="5029200" y="5334000"/>
            <a:ext cx="685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4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34839" name="Text Box 23"/>
          <p:cNvSpPr txBox="1"/>
          <p:nvPr/>
        </p:nvSpPr>
        <p:spPr>
          <a:xfrm>
            <a:off x="4495800" y="5334000"/>
            <a:ext cx="685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8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34840" name="Text Box 24"/>
          <p:cNvSpPr txBox="1"/>
          <p:nvPr/>
        </p:nvSpPr>
        <p:spPr>
          <a:xfrm>
            <a:off x="3886200" y="5334000"/>
            <a:ext cx="685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16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34841" name="Text Box 25"/>
          <p:cNvSpPr txBox="1"/>
          <p:nvPr/>
        </p:nvSpPr>
        <p:spPr>
          <a:xfrm>
            <a:off x="3276600" y="5257800"/>
            <a:ext cx="762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zh-CN" sz="2400" b="1" dirty="0">
                <a:solidFill>
                  <a:schemeClr val="tx1"/>
                </a:solidFill>
              </a:rPr>
              <a:t>……</a:t>
            </a:r>
            <a:endParaRPr lang="zh-CN" altLang="zh-CN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grpSp>
        <p:nvGrpSpPr>
          <p:cNvPr id="34842" name="Group 26"/>
          <p:cNvGrpSpPr/>
          <p:nvPr/>
        </p:nvGrpSpPr>
        <p:grpSpPr>
          <a:xfrm>
            <a:off x="1143000" y="5791200"/>
            <a:ext cx="6934200" cy="457200"/>
            <a:chOff x="0" y="0"/>
            <a:chExt cx="4368" cy="288"/>
          </a:xfrm>
        </p:grpSpPr>
        <p:sp>
          <p:nvSpPr>
            <p:cNvPr id="34843" name="Text Box 27"/>
            <p:cNvSpPr txBox="1"/>
            <p:nvPr/>
          </p:nvSpPr>
          <p:spPr>
            <a:xfrm>
              <a:off x="0" y="0"/>
              <a:ext cx="76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rgbClr val="6666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rgbClr val="666699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rgbClr val="666699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2400" b="1" dirty="0">
                  <a:solidFill>
                    <a:schemeClr val="tx1"/>
                  </a:solidFill>
                  <a:latin typeface="Tahoma" panose="020B0604030504040204" pitchFamily="34" charset="0"/>
                </a:rPr>
                <a:t>海明码</a:t>
              </a:r>
              <a:r>
                <a:rPr lang="zh-CN" altLang="en-US" sz="2400" dirty="0">
                  <a:solidFill>
                    <a:schemeClr val="tx1"/>
                  </a:solidFill>
                  <a:latin typeface="Tahoma" panose="020B0604030504040204" pitchFamily="34" charset="0"/>
                </a:rPr>
                <a:t>：</a:t>
              </a:r>
              <a:endParaRPr lang="zh-CN" altLang="en-US" sz="2400" dirty="0">
                <a:solidFill>
                  <a:schemeClr val="tx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4844" name="AutoShape 28"/>
            <p:cNvSpPr/>
            <p:nvPr/>
          </p:nvSpPr>
          <p:spPr>
            <a:xfrm>
              <a:off x="4176" y="48"/>
              <a:ext cx="192" cy="192"/>
            </a:xfrm>
            <a:prstGeom prst="flowChartProcess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rgbClr val="6666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rgbClr val="666699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rgbClr val="666699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34845" name="AutoShape 29"/>
            <p:cNvSpPr/>
            <p:nvPr/>
          </p:nvSpPr>
          <p:spPr>
            <a:xfrm>
              <a:off x="3936" y="48"/>
              <a:ext cx="192" cy="192"/>
            </a:xfrm>
            <a:prstGeom prst="flowChartProcess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rgbClr val="6666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rgbClr val="666699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rgbClr val="666699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34846" name="Text Box 30"/>
            <p:cNvSpPr txBox="1"/>
            <p:nvPr/>
          </p:nvSpPr>
          <p:spPr>
            <a:xfrm>
              <a:off x="3648" y="0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rgbClr val="6666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rgbClr val="666699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rgbClr val="666699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zh-CN" sz="24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×</a:t>
              </a:r>
              <a:r>
                <a:rPr lang="zh-CN" altLang="zh-CN" sz="2400" b="1" dirty="0">
                  <a:solidFill>
                    <a:schemeClr val="tx1"/>
                  </a:solidFill>
                  <a:latin typeface="Tahoma" panose="020B0604030504040204" pitchFamily="34" charset="0"/>
                </a:rPr>
                <a:t> </a:t>
              </a:r>
              <a:endPara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4847" name="AutoShape 31"/>
            <p:cNvSpPr/>
            <p:nvPr/>
          </p:nvSpPr>
          <p:spPr>
            <a:xfrm>
              <a:off x="3504" y="48"/>
              <a:ext cx="192" cy="192"/>
            </a:xfrm>
            <a:prstGeom prst="flowChartProcess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rgbClr val="6666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rgbClr val="666699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rgbClr val="666699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34848" name="Text Box 32"/>
            <p:cNvSpPr txBox="1"/>
            <p:nvPr/>
          </p:nvSpPr>
          <p:spPr>
            <a:xfrm>
              <a:off x="3216" y="0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rgbClr val="6666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rgbClr val="666699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rgbClr val="666699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zh-CN" sz="24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×</a:t>
              </a:r>
              <a:r>
                <a:rPr lang="zh-CN" altLang="zh-CN" sz="2400" b="1" dirty="0">
                  <a:solidFill>
                    <a:schemeClr val="tx1"/>
                  </a:solidFill>
                  <a:latin typeface="Tahoma" panose="020B0604030504040204" pitchFamily="34" charset="0"/>
                </a:rPr>
                <a:t> </a:t>
              </a:r>
              <a:endPara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4849" name="Text Box 33"/>
            <p:cNvSpPr txBox="1"/>
            <p:nvPr/>
          </p:nvSpPr>
          <p:spPr>
            <a:xfrm>
              <a:off x="3024" y="0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rgbClr val="6666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rgbClr val="666699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rgbClr val="666699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zh-CN" sz="24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×</a:t>
              </a:r>
              <a:r>
                <a:rPr lang="zh-CN" altLang="zh-CN" sz="2400" b="1" dirty="0">
                  <a:solidFill>
                    <a:schemeClr val="tx1"/>
                  </a:solidFill>
                  <a:latin typeface="Tahoma" panose="020B0604030504040204" pitchFamily="34" charset="0"/>
                </a:rPr>
                <a:t> </a:t>
              </a:r>
              <a:endPara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4850" name="Text Box 34"/>
            <p:cNvSpPr txBox="1"/>
            <p:nvPr/>
          </p:nvSpPr>
          <p:spPr>
            <a:xfrm>
              <a:off x="2832" y="0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rgbClr val="6666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rgbClr val="666699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rgbClr val="666699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zh-CN" sz="24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×</a:t>
              </a:r>
              <a:r>
                <a:rPr lang="zh-CN" altLang="zh-CN" sz="2400" b="1" dirty="0">
                  <a:solidFill>
                    <a:schemeClr val="tx1"/>
                  </a:solidFill>
                  <a:latin typeface="Tahoma" panose="020B0604030504040204" pitchFamily="34" charset="0"/>
                </a:rPr>
                <a:t> </a:t>
              </a:r>
              <a:endPara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4851" name="AutoShape 35"/>
            <p:cNvSpPr/>
            <p:nvPr/>
          </p:nvSpPr>
          <p:spPr>
            <a:xfrm>
              <a:off x="2688" y="48"/>
              <a:ext cx="192" cy="192"/>
            </a:xfrm>
            <a:prstGeom prst="flowChartProcess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rgbClr val="6666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rgbClr val="666699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rgbClr val="666699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34852" name="Text Box 36"/>
            <p:cNvSpPr txBox="1"/>
            <p:nvPr/>
          </p:nvSpPr>
          <p:spPr>
            <a:xfrm>
              <a:off x="2400" y="0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rgbClr val="6666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rgbClr val="666699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rgbClr val="666699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zh-CN" sz="24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×</a:t>
              </a:r>
              <a:r>
                <a:rPr lang="zh-CN" altLang="zh-CN" sz="2400" b="1" dirty="0">
                  <a:solidFill>
                    <a:schemeClr val="tx1"/>
                  </a:solidFill>
                  <a:latin typeface="Tahoma" panose="020B0604030504040204" pitchFamily="34" charset="0"/>
                </a:rPr>
                <a:t> </a:t>
              </a:r>
              <a:endPara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4853" name="Text Box 37"/>
            <p:cNvSpPr txBox="1"/>
            <p:nvPr/>
          </p:nvSpPr>
          <p:spPr>
            <a:xfrm>
              <a:off x="2208" y="0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rgbClr val="6666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rgbClr val="666699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rgbClr val="666699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zh-CN" sz="24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×</a:t>
              </a:r>
              <a:r>
                <a:rPr lang="zh-CN" altLang="zh-CN" sz="2400" b="1" dirty="0">
                  <a:solidFill>
                    <a:schemeClr val="tx1"/>
                  </a:solidFill>
                  <a:latin typeface="Tahoma" panose="020B0604030504040204" pitchFamily="34" charset="0"/>
                </a:rPr>
                <a:t> </a:t>
              </a:r>
              <a:endPara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4854" name="Text Box 38"/>
            <p:cNvSpPr txBox="1"/>
            <p:nvPr/>
          </p:nvSpPr>
          <p:spPr>
            <a:xfrm>
              <a:off x="2016" y="0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rgbClr val="6666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rgbClr val="666699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rgbClr val="666699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zh-CN" sz="24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×</a:t>
              </a:r>
              <a:r>
                <a:rPr lang="zh-CN" altLang="zh-CN" sz="2400" b="1" dirty="0">
                  <a:solidFill>
                    <a:schemeClr val="tx1"/>
                  </a:solidFill>
                  <a:latin typeface="Tahoma" panose="020B0604030504040204" pitchFamily="34" charset="0"/>
                </a:rPr>
                <a:t> </a:t>
              </a:r>
              <a:endPara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4855" name="Text Box 39"/>
            <p:cNvSpPr txBox="1"/>
            <p:nvPr/>
          </p:nvSpPr>
          <p:spPr>
            <a:xfrm>
              <a:off x="1872" y="0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rgbClr val="6666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rgbClr val="666699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rgbClr val="666699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zh-CN" sz="24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×</a:t>
              </a:r>
              <a:r>
                <a:rPr lang="zh-CN" altLang="zh-CN" sz="2400" b="1" dirty="0">
                  <a:solidFill>
                    <a:schemeClr val="tx1"/>
                  </a:solidFill>
                  <a:latin typeface="Tahoma" panose="020B0604030504040204" pitchFamily="34" charset="0"/>
                </a:rPr>
                <a:t> </a:t>
              </a:r>
              <a:endPara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4856" name="Text Box 40"/>
            <p:cNvSpPr txBox="1"/>
            <p:nvPr/>
          </p:nvSpPr>
          <p:spPr>
            <a:xfrm>
              <a:off x="1680" y="0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rgbClr val="6666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rgbClr val="666699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rgbClr val="666699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zh-CN" sz="24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×</a:t>
              </a:r>
              <a:r>
                <a:rPr lang="zh-CN" altLang="zh-CN" sz="2400" b="1" dirty="0">
                  <a:solidFill>
                    <a:schemeClr val="tx1"/>
                  </a:solidFill>
                  <a:latin typeface="Tahoma" panose="020B0604030504040204" pitchFamily="34" charset="0"/>
                </a:rPr>
                <a:t> </a:t>
              </a:r>
              <a:endPara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4857" name="Text Box 41"/>
            <p:cNvSpPr txBox="1"/>
            <p:nvPr/>
          </p:nvSpPr>
          <p:spPr>
            <a:xfrm>
              <a:off x="1488" y="0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rgbClr val="6666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rgbClr val="666699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rgbClr val="666699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zh-CN" sz="24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×</a:t>
              </a:r>
              <a:r>
                <a:rPr lang="zh-CN" altLang="zh-CN" sz="2400" b="1" dirty="0">
                  <a:solidFill>
                    <a:schemeClr val="tx1"/>
                  </a:solidFill>
                  <a:latin typeface="Tahoma" panose="020B0604030504040204" pitchFamily="34" charset="0"/>
                </a:rPr>
                <a:t> </a:t>
              </a:r>
              <a:endPara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4858" name="Text Box 42"/>
            <p:cNvSpPr txBox="1"/>
            <p:nvPr/>
          </p:nvSpPr>
          <p:spPr>
            <a:xfrm>
              <a:off x="1344" y="0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rgbClr val="6666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rgbClr val="666699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rgbClr val="666699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zh-CN" sz="24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×</a:t>
              </a:r>
              <a:r>
                <a:rPr lang="zh-CN" altLang="zh-CN" sz="2400" b="1" dirty="0">
                  <a:solidFill>
                    <a:schemeClr val="tx1"/>
                  </a:solidFill>
                  <a:latin typeface="Tahoma" panose="020B0604030504040204" pitchFamily="34" charset="0"/>
                </a:rPr>
                <a:t> </a:t>
              </a:r>
              <a:endPara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4859" name="Text Box 43"/>
            <p:cNvSpPr txBox="1"/>
            <p:nvPr/>
          </p:nvSpPr>
          <p:spPr>
            <a:xfrm>
              <a:off x="912" y="0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rgbClr val="6666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rgbClr val="666699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rgbClr val="666699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zh-CN" sz="24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×</a:t>
              </a:r>
              <a:r>
                <a:rPr lang="zh-CN" altLang="zh-CN" sz="2400" b="1" dirty="0">
                  <a:solidFill>
                    <a:schemeClr val="tx1"/>
                  </a:solidFill>
                  <a:latin typeface="Tahoma" panose="020B0604030504040204" pitchFamily="34" charset="0"/>
                </a:rPr>
                <a:t> </a:t>
              </a:r>
              <a:endPara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4860" name="AutoShape 44"/>
            <p:cNvSpPr/>
            <p:nvPr/>
          </p:nvSpPr>
          <p:spPr>
            <a:xfrm>
              <a:off x="1200" y="48"/>
              <a:ext cx="192" cy="192"/>
            </a:xfrm>
            <a:prstGeom prst="flowChartProcess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rgbClr val="6666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rgbClr val="666699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rgbClr val="666699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34861" name="Text Box 45"/>
            <p:cNvSpPr txBox="1"/>
            <p:nvPr/>
          </p:nvSpPr>
          <p:spPr>
            <a:xfrm>
              <a:off x="720" y="0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rgbClr val="6666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rgbClr val="666699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rgbClr val="666699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zh-CN" sz="24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×</a:t>
              </a:r>
              <a:r>
                <a:rPr lang="zh-CN" altLang="zh-CN" sz="2400" b="1" dirty="0">
                  <a:solidFill>
                    <a:schemeClr val="tx1"/>
                  </a:solidFill>
                  <a:latin typeface="Tahoma" panose="020B0604030504040204" pitchFamily="34" charset="0"/>
                </a:rPr>
                <a:t> </a:t>
              </a:r>
              <a:endPara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4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48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48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48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48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48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48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48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48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48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48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48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48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48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48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48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48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48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48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48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48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48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48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48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48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48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48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348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348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348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348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34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34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34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34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2" dur="500"/>
                                        <p:tgtEl>
                                          <p:spTgt spid="34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500"/>
                                        <p:tgtEl>
                                          <p:spTgt spid="34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2" dur="500"/>
                                        <p:tgtEl>
                                          <p:spTgt spid="34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7" dur="500"/>
                                        <p:tgtEl>
                                          <p:spTgt spid="34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8" grpId="0"/>
      <p:bldP spid="34819" grpId="0"/>
      <p:bldP spid="34820" grpId="0" animBg="1"/>
      <p:bldP spid="34821" grpId="0"/>
      <p:bldP spid="34822" grpId="0" animBg="1"/>
      <p:bldP spid="34823" grpId="0"/>
      <p:bldP spid="34824" grpId="0"/>
      <p:bldP spid="34825" grpId="0" animBg="1"/>
      <p:bldP spid="34826" grpId="0"/>
      <p:bldP spid="34827" grpId="0" animBg="1"/>
      <p:bldP spid="34828" grpId="0"/>
      <p:bldP spid="34829" grpId="0"/>
      <p:bldP spid="34830" grpId="0" animBg="1"/>
      <p:bldP spid="34831" grpId="0"/>
      <p:bldP spid="34832" grpId="0" animBg="1"/>
      <p:bldP spid="34833" grpId="0"/>
      <p:bldP spid="34834" grpId="0"/>
      <p:bldP spid="34835" grpId="0"/>
      <p:bldP spid="34836" grpId="0"/>
      <p:bldP spid="34837" grpId="0"/>
      <p:bldP spid="34838" grpId="0"/>
      <p:bldP spid="34839" grpId="0"/>
      <p:bldP spid="34840" grpId="0"/>
      <p:bldP spid="3484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Rectangle 2"/>
          <p:cNvSpPr>
            <a:spLocks noGrp="1"/>
          </p:cNvSpPr>
          <p:nvPr>
            <p:ph type="title"/>
          </p:nvPr>
        </p:nvSpPr>
        <p:spPr>
          <a:xfrm>
            <a:off x="395288" y="1052513"/>
            <a:ext cx="7620000" cy="6858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2.1.3  如何处理小数点位置</a:t>
            </a:r>
            <a:endParaRPr lang="zh-CN" altLang="en-US" dirty="0"/>
          </a:p>
        </p:txBody>
      </p:sp>
      <p:sp>
        <p:nvSpPr>
          <p:cNvPr id="35843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b="1" dirty="0">
                <a:solidFill>
                  <a:srgbClr val="0000FF"/>
                </a:solidFill>
              </a:rPr>
              <a:t>定点数</a:t>
            </a:r>
            <a:endParaRPr lang="zh-CN" altLang="en-US" b="1" dirty="0">
              <a:solidFill>
                <a:srgbClr val="0000FF"/>
              </a:solidFill>
            </a:endParaRPr>
          </a:p>
          <a:p>
            <a:pPr eaLnBrk="1" hangingPunct="1"/>
            <a:r>
              <a:rPr lang="zh-CN" altLang="en-US" b="1" dirty="0">
                <a:solidFill>
                  <a:srgbClr val="0000FF"/>
                </a:solidFill>
              </a:rPr>
              <a:t>浮点数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Text Box 2"/>
          <p:cNvSpPr txBox="1"/>
          <p:nvPr/>
        </p:nvSpPr>
        <p:spPr>
          <a:xfrm>
            <a:off x="396875" y="1125538"/>
            <a:ext cx="320040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b="1" dirty="0">
                <a:solidFill>
                  <a:schemeClr val="tx1"/>
                </a:solidFill>
                <a:latin typeface="Tahoma" panose="020B0604030504040204" pitchFamily="34" charset="0"/>
                <a:ea typeface="隶书" panose="02010509060101010101" pitchFamily="49" charset="-122"/>
              </a:rPr>
              <a:t>1</a:t>
            </a:r>
            <a:r>
              <a:rPr lang="zh-CN" altLang="en-US" b="1" dirty="0">
                <a:solidFill>
                  <a:schemeClr val="tx1"/>
                </a:solidFill>
                <a:latin typeface="Tahoma" panose="020B0604030504040204" pitchFamily="34" charset="0"/>
                <a:ea typeface="隶书" panose="02010509060101010101" pitchFamily="49" charset="-122"/>
              </a:rPr>
              <a:t>）定点表示法</a:t>
            </a:r>
            <a:endParaRPr lang="zh-CN" altLang="en-US" b="1" dirty="0">
              <a:solidFill>
                <a:schemeClr val="tx1"/>
              </a:solidFill>
              <a:latin typeface="Tahoma" panose="020B0604030504040204" pitchFamily="34" charset="0"/>
              <a:ea typeface="隶书" panose="02010509060101010101" pitchFamily="49" charset="-122"/>
            </a:endParaRPr>
          </a:p>
        </p:txBody>
      </p:sp>
      <p:sp>
        <p:nvSpPr>
          <p:cNvPr id="36867" name="Rectangle 3"/>
          <p:cNvSpPr/>
          <p:nvPr/>
        </p:nvSpPr>
        <p:spPr>
          <a:xfrm>
            <a:off x="1116013" y="1981200"/>
            <a:ext cx="2770187" cy="4572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36868" name="Line 4"/>
          <p:cNvSpPr/>
          <p:nvPr/>
        </p:nvSpPr>
        <p:spPr>
          <a:xfrm>
            <a:off x="1981200" y="1981200"/>
            <a:ext cx="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6869" name="Line 5"/>
          <p:cNvSpPr/>
          <p:nvPr/>
        </p:nvSpPr>
        <p:spPr>
          <a:xfrm flipV="1">
            <a:off x="1752600" y="2438400"/>
            <a:ext cx="0" cy="38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6870" name="Text Box 6"/>
          <p:cNvSpPr txBox="1"/>
          <p:nvPr/>
        </p:nvSpPr>
        <p:spPr>
          <a:xfrm>
            <a:off x="684213" y="2819400"/>
            <a:ext cx="1601787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  符号位</a:t>
            </a:r>
            <a:endParaRPr lang="zh-CN" altLang="en-US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36871" name="AutoShape 7"/>
          <p:cNvSpPr/>
          <p:nvPr/>
        </p:nvSpPr>
        <p:spPr>
          <a:xfrm>
            <a:off x="1981200" y="2438400"/>
            <a:ext cx="2362200" cy="533400"/>
          </a:xfrm>
          <a:prstGeom prst="curvedUpArrow">
            <a:avLst>
              <a:gd name="adj1" fmla="val 88571"/>
              <a:gd name="adj2" fmla="val 177142"/>
              <a:gd name="adj3" fmla="val 33324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36872" name="Text Box 8"/>
          <p:cNvSpPr txBox="1"/>
          <p:nvPr/>
        </p:nvSpPr>
        <p:spPr>
          <a:xfrm>
            <a:off x="2514600" y="2971800"/>
            <a:ext cx="16986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  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数值</a:t>
            </a:r>
            <a:endParaRPr lang="zh-CN" altLang="en-US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36873" name="AutoShape 9"/>
          <p:cNvSpPr/>
          <p:nvPr/>
        </p:nvSpPr>
        <p:spPr>
          <a:xfrm>
            <a:off x="2057400" y="2286000"/>
            <a:ext cx="76200" cy="76200"/>
          </a:xfrm>
          <a:prstGeom prst="flowChartConnector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36874" name="AutoShape 10"/>
          <p:cNvSpPr/>
          <p:nvPr/>
        </p:nvSpPr>
        <p:spPr>
          <a:xfrm>
            <a:off x="3733800" y="2286000"/>
            <a:ext cx="76200" cy="76200"/>
          </a:xfrm>
          <a:prstGeom prst="flowChartConnector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36875" name="Text Box 11"/>
          <p:cNvSpPr txBox="1"/>
          <p:nvPr/>
        </p:nvSpPr>
        <p:spPr>
          <a:xfrm>
            <a:off x="990600" y="3581400"/>
            <a:ext cx="7772400" cy="1835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800" b="1" dirty="0">
                <a:solidFill>
                  <a:schemeClr val="tx1"/>
                </a:solidFill>
                <a:latin typeface="宋体" panose="02010600030101010101" pitchFamily="2" charset="-122"/>
              </a:rPr>
              <a:t>①</a:t>
            </a:r>
            <a:r>
              <a:rPr lang="zh-CN" altLang="zh-CN" sz="2800" b="1" dirty="0">
                <a:solidFill>
                  <a:schemeClr val="tx1"/>
                </a:solidFill>
                <a:latin typeface="Tahoma" panose="020B0604030504040204" pitchFamily="34" charset="0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latin typeface="Tahoma" panose="020B0604030504040204" pitchFamily="34" charset="0"/>
              </a:rPr>
              <a:t>纯小数：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       </a:t>
            </a:r>
            <a:endParaRPr lang="zh-CN" altLang="en-US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marL="0" lvl="0" indent="0" eaLnBrk="1" hangingPunct="1">
              <a:buClr>
                <a:schemeClr val="tx1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a</a:t>
            </a: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、定点小数表示</a:t>
            </a:r>
            <a:r>
              <a:rPr lang="zh-CN" altLang="zh-CN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: 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  <a:sym typeface="Arial" panose="020B0604020202020204" pitchFamily="34" charset="0"/>
              </a:rPr>
              <a:t> Ns. N1 N2 </a:t>
            </a:r>
            <a:r>
              <a:rPr lang="zh-CN" altLang="zh-CN" sz="2400" b="1" dirty="0">
                <a:solidFill>
                  <a:schemeClr val="tx1"/>
                </a:solidFill>
                <a:sym typeface="Arial" panose="020B0604020202020204" pitchFamily="34" charset="0"/>
              </a:rPr>
              <a:t>…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  <a:sym typeface="Arial" panose="020B0604020202020204" pitchFamily="34" charset="0"/>
              </a:rPr>
              <a:t> Nn</a:t>
            </a:r>
            <a:endParaRPr lang="zh-CN" altLang="zh-CN" sz="2400" b="1" dirty="0">
              <a:solidFill>
                <a:schemeClr val="tx1"/>
              </a:solidFill>
              <a:latin typeface="Tahoma" panose="020B0604030504040204" pitchFamily="34" charset="0"/>
              <a:sym typeface="Arial" panose="020B0604020202020204" pitchFamily="34" charset="0"/>
            </a:endParaRPr>
          </a:p>
          <a:p>
            <a:pPr marL="0" lvl="0" indent="0" eaLnBrk="1" hangingPunct="1">
              <a:buClr>
                <a:schemeClr val="tx1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b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、范围：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0.000</a:t>
            </a:r>
            <a:r>
              <a:rPr lang="zh-CN" altLang="zh-CN" sz="2400" b="1" dirty="0">
                <a:solidFill>
                  <a:schemeClr val="tx1"/>
                </a:solidFill>
              </a:rPr>
              <a:t>…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1</a:t>
            </a:r>
            <a:r>
              <a:rPr lang="zh-CN" altLang="zh-CN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≤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  | X | </a:t>
            </a:r>
            <a:r>
              <a:rPr lang="zh-CN" altLang="zh-CN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≤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  <a:sym typeface="Arial" panose="020B0604020202020204" pitchFamily="34" charset="0"/>
              </a:rPr>
              <a:t>0.111</a:t>
            </a:r>
            <a:r>
              <a:rPr lang="zh-CN" altLang="zh-CN" sz="2400" b="1" dirty="0">
                <a:solidFill>
                  <a:schemeClr val="tx1"/>
                </a:solidFill>
                <a:sym typeface="Arial" panose="020B0604020202020204" pitchFamily="34" charset="0"/>
              </a:rPr>
              <a:t>…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  <a:sym typeface="Arial" panose="020B0604020202020204" pitchFamily="34" charset="0"/>
              </a:rPr>
              <a:t>11</a:t>
            </a:r>
            <a:endParaRPr lang="zh-CN" altLang="zh-CN" sz="2400" b="1" dirty="0">
              <a:solidFill>
                <a:schemeClr val="tx1"/>
              </a:solidFill>
              <a:latin typeface="Tahoma" panose="020B0604030504040204" pitchFamily="34" charset="0"/>
              <a:sym typeface="Arial" panose="020B0604020202020204" pitchFamily="34" charset="0"/>
            </a:endParaRPr>
          </a:p>
          <a:p>
            <a:pPr marL="0" lvl="0" indent="0" eaLnBrk="1" hangingPunct="1">
              <a:buClr>
                <a:schemeClr val="tx1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zh-CN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即：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  <a:sym typeface="Arial" panose="020B0604020202020204" pitchFamily="34" charset="0"/>
              </a:rPr>
              <a:t>2</a:t>
            </a:r>
            <a:r>
              <a:rPr lang="zh-CN" altLang="zh-CN" sz="2400" b="1" baseline="30000" dirty="0">
                <a:solidFill>
                  <a:schemeClr val="tx1"/>
                </a:solidFill>
                <a:latin typeface="Tahoma" panose="020B0604030504040204" pitchFamily="34" charset="0"/>
                <a:sym typeface="Arial" panose="020B0604020202020204" pitchFamily="34" charset="0"/>
              </a:rPr>
              <a:t>-n</a:t>
            </a:r>
            <a:r>
              <a:rPr lang="zh-CN" altLang="zh-CN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≤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  | X |</a:t>
            </a:r>
            <a:r>
              <a:rPr lang="zh-CN" altLang="zh-CN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≤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  <a:sym typeface="Arial" panose="020B0604020202020204" pitchFamily="34" charset="0"/>
              </a:rPr>
              <a:t>1-2</a:t>
            </a:r>
            <a:r>
              <a:rPr lang="zh-CN" altLang="zh-CN" sz="2400" b="1" baseline="30000" dirty="0">
                <a:solidFill>
                  <a:schemeClr val="tx1"/>
                </a:solidFill>
                <a:latin typeface="Tahoma" panose="020B0604030504040204" pitchFamily="34" charset="0"/>
                <a:sym typeface="Arial" panose="020B0604020202020204" pitchFamily="34" charset="0"/>
              </a:rPr>
              <a:t>-n</a:t>
            </a:r>
            <a:endParaRPr lang="zh-CN" altLang="zh-CN" sz="2400" b="1" baseline="30000" dirty="0">
              <a:solidFill>
                <a:schemeClr val="tx1"/>
              </a:solidFill>
              <a:latin typeface="Tahoma" panose="020B0604030504040204" pitchFamily="34" charset="0"/>
              <a:sym typeface="Arial" panose="020B0604020202020204" pitchFamily="34" charset="0"/>
            </a:endParaRPr>
          </a:p>
        </p:txBody>
      </p:sp>
      <p:sp>
        <p:nvSpPr>
          <p:cNvPr id="36876" name="Text Box 12"/>
          <p:cNvSpPr txBox="1"/>
          <p:nvPr/>
        </p:nvSpPr>
        <p:spPr>
          <a:xfrm>
            <a:off x="2268538" y="1989138"/>
            <a:ext cx="1219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n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位</a:t>
            </a:r>
            <a:endParaRPr lang="zh-CN" altLang="en-US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36877" name="Text Box 13"/>
          <p:cNvSpPr txBox="1"/>
          <p:nvPr/>
        </p:nvSpPr>
        <p:spPr>
          <a:xfrm>
            <a:off x="1044575" y="1989138"/>
            <a:ext cx="101758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1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位</a:t>
            </a:r>
            <a:endParaRPr lang="zh-CN" altLang="en-US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36878" name="AutoShape 14"/>
          <p:cNvSpPr/>
          <p:nvPr/>
        </p:nvSpPr>
        <p:spPr>
          <a:xfrm>
            <a:off x="4343400" y="762000"/>
            <a:ext cx="4419600" cy="1676400"/>
          </a:xfrm>
          <a:prstGeom prst="cloudCallout">
            <a:avLst>
              <a:gd name="adj1" fmla="val -55065"/>
              <a:gd name="adj2" fmla="val 37310"/>
            </a:avLst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800000"/>
                </a:solidFill>
                <a:latin typeface="Tahoma" panose="020B0604030504040204" pitchFamily="34" charset="0"/>
                <a:ea typeface="华文行楷" panose="02010800040101010101" pitchFamily="2" charset="-122"/>
              </a:rPr>
              <a:t>由于约定在固定的位置，小数点就不再使用记号“</a:t>
            </a:r>
            <a:r>
              <a:rPr lang="zh-CN" altLang="zh-CN" sz="2400" b="1" dirty="0">
                <a:solidFill>
                  <a:srgbClr val="800000"/>
                </a:solidFill>
                <a:latin typeface="Tahoma" panose="020B0604030504040204" pitchFamily="34" charset="0"/>
                <a:ea typeface="华文行楷" panose="02010800040101010101" pitchFamily="2" charset="-122"/>
              </a:rPr>
              <a:t>.”</a:t>
            </a:r>
            <a:r>
              <a:rPr lang="zh-CN" altLang="en-US" sz="2400" b="1" dirty="0">
                <a:solidFill>
                  <a:srgbClr val="800000"/>
                </a:solidFill>
                <a:latin typeface="Tahoma" panose="020B0604030504040204" pitchFamily="34" charset="0"/>
                <a:ea typeface="华文行楷" panose="02010800040101010101" pitchFamily="2" charset="-122"/>
              </a:rPr>
              <a:t>来表示。</a:t>
            </a:r>
            <a:endParaRPr lang="zh-CN" altLang="en-US" sz="2400" b="1" dirty="0">
              <a:solidFill>
                <a:srgbClr val="800000"/>
              </a:solidFill>
              <a:latin typeface="Tahoma" panose="020B0604030504040204" pitchFamily="34" charset="0"/>
              <a:ea typeface="华文行楷" panose="02010800040101010101" pitchFamily="2" charset="-122"/>
            </a:endParaRPr>
          </a:p>
          <a:p>
            <a:pPr marL="0" lvl="0" indent="0" algn="ctr" eaLnBrk="1" hangingPunct="1">
              <a:spcBef>
                <a:spcPct val="0"/>
              </a:spcBef>
              <a:buNone/>
            </a:pPr>
            <a:endParaRPr lang="zh-CN" altLang="zh-CN" sz="2400" dirty="0">
              <a:solidFill>
                <a:srgbClr val="FF66FF"/>
              </a:solidFill>
              <a:latin typeface="Tahoma" panose="020B0604030504040204" pitchFamily="34" charset="0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6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36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36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36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36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36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68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68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68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68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36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70" grpId="0"/>
      <p:bldP spid="36871" grpId="0" animBg="1"/>
      <p:bldP spid="36872" grpId="0"/>
      <p:bldP spid="36873" grpId="0" animBg="1"/>
      <p:bldP spid="36874" grpId="0" animBg="1"/>
      <p:bldP spid="36875" grpId="0"/>
      <p:bldP spid="3687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Text Box 2"/>
          <p:cNvSpPr txBox="1"/>
          <p:nvPr/>
        </p:nvSpPr>
        <p:spPr>
          <a:xfrm>
            <a:off x="914400" y="1143000"/>
            <a:ext cx="5029200" cy="5175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</a:rPr>
              <a:t>②</a:t>
            </a:r>
            <a:r>
              <a:rPr lang="zh-CN" altLang="en-US" sz="2800" b="1" dirty="0">
                <a:solidFill>
                  <a:schemeClr val="tx1"/>
                </a:solidFill>
                <a:latin typeface="Tahoma" panose="020B0604030504040204" pitchFamily="34" charset="0"/>
              </a:rPr>
              <a:t> 定点整数（纯整数）</a:t>
            </a:r>
            <a:endParaRPr lang="zh-CN" altLang="en-US" sz="28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37891" name="Text Box 3"/>
          <p:cNvSpPr txBox="1"/>
          <p:nvPr/>
        </p:nvSpPr>
        <p:spPr>
          <a:xfrm>
            <a:off x="755650" y="1917700"/>
            <a:ext cx="7848600" cy="13335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a</a:t>
            </a: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、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定点整数表示：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  <a:ea typeface="楷体_GB2312" pitchFamily="1" charset="-122"/>
              </a:rPr>
              <a:t>Ns N1 N2 </a:t>
            </a:r>
            <a:r>
              <a:rPr lang="zh-CN" altLang="zh-CN" sz="2400" b="1" dirty="0">
                <a:solidFill>
                  <a:schemeClr val="tx1"/>
                </a:solidFill>
                <a:ea typeface="楷体_GB2312" pitchFamily="1" charset="-122"/>
              </a:rPr>
              <a:t>…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  <a:ea typeface="楷体_GB2312" pitchFamily="1" charset="-122"/>
              </a:rPr>
              <a:t> Nn</a:t>
            </a:r>
            <a:r>
              <a:rPr lang="zh-CN" altLang="zh-CN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  <a:endParaRPr lang="zh-CN" altLang="zh-CN" sz="24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marL="0" lvl="0" indent="0" eaLnBrk="1" hangingPunct="1">
              <a:buClr>
                <a:schemeClr val="tx1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b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、范围</a:t>
            </a:r>
            <a:r>
              <a:rPr lang="zh-CN" altLang="en-US" sz="2400" dirty="0">
                <a:solidFill>
                  <a:schemeClr val="tx1"/>
                </a:solidFill>
                <a:latin typeface="Tahoma" panose="020B0604030504040204" pitchFamily="34" charset="0"/>
              </a:rPr>
              <a:t>：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  <a:sym typeface="Arial" panose="020B0604020202020204" pitchFamily="34" charset="0"/>
              </a:rPr>
              <a:t>1</a:t>
            </a:r>
            <a:r>
              <a:rPr lang="zh-CN" altLang="zh-CN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≤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  <a:sym typeface="Arial" panose="020B0604020202020204" pitchFamily="34" charset="0"/>
              </a:rPr>
              <a:t>| X | </a:t>
            </a:r>
            <a:r>
              <a:rPr lang="zh-CN" altLang="zh-CN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≤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  <a:sym typeface="Arial" panose="020B0604020202020204" pitchFamily="34" charset="0"/>
              </a:rPr>
              <a:t>111</a:t>
            </a:r>
            <a:r>
              <a:rPr lang="zh-CN" altLang="zh-CN" sz="2400" b="1" dirty="0">
                <a:solidFill>
                  <a:schemeClr val="tx1"/>
                </a:solidFill>
                <a:sym typeface="Arial" panose="020B0604020202020204" pitchFamily="34" charset="0"/>
              </a:rPr>
              <a:t>…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  <a:sym typeface="Arial" panose="020B0604020202020204" pitchFamily="34" charset="0"/>
              </a:rPr>
              <a:t>11</a:t>
            </a:r>
            <a:endParaRPr lang="zh-CN" altLang="zh-CN" sz="2400" b="1" dirty="0">
              <a:solidFill>
                <a:schemeClr val="tx1"/>
              </a:solidFill>
              <a:latin typeface="Tahoma" panose="020B0604030504040204" pitchFamily="34" charset="0"/>
              <a:sym typeface="Arial" panose="020B0604020202020204" pitchFamily="34" charset="0"/>
            </a:endParaRPr>
          </a:p>
          <a:p>
            <a:pPr marL="0" lvl="0" indent="0" eaLnBrk="1" hangingPunct="1">
              <a:buClr>
                <a:schemeClr val="tx1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    </a:t>
            </a:r>
            <a:r>
              <a:rPr lang="zh-CN" altLang="zh-CN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即：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  <a:sym typeface="Arial" panose="020B0604020202020204" pitchFamily="34" charset="0"/>
              </a:rPr>
              <a:t>1</a:t>
            </a:r>
            <a:r>
              <a:rPr lang="zh-CN" altLang="zh-CN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≤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  <a:sym typeface="Arial" panose="020B0604020202020204" pitchFamily="34" charset="0"/>
              </a:rPr>
              <a:t>| X | </a:t>
            </a:r>
            <a:r>
              <a:rPr lang="zh-CN" altLang="zh-CN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≤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  <a:sym typeface="Arial" panose="020B0604020202020204" pitchFamily="34" charset="0"/>
              </a:rPr>
              <a:t>2</a:t>
            </a:r>
            <a:r>
              <a:rPr lang="zh-CN" altLang="zh-CN" sz="2400" b="1" baseline="30000" dirty="0">
                <a:solidFill>
                  <a:schemeClr val="tx1"/>
                </a:solidFill>
                <a:latin typeface="Tahoma" panose="020B0604030504040204" pitchFamily="34" charset="0"/>
                <a:sym typeface="Arial" panose="020B0604020202020204" pitchFamily="34" charset="0"/>
              </a:rPr>
              <a:t>n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  <a:sym typeface="Arial" panose="020B0604020202020204" pitchFamily="34" charset="0"/>
              </a:rPr>
              <a:t>-1</a:t>
            </a:r>
            <a:endParaRPr lang="zh-CN" altLang="zh-CN" sz="2400" b="1" dirty="0">
              <a:solidFill>
                <a:schemeClr val="tx1"/>
              </a:solidFill>
              <a:latin typeface="Tahoma" panose="020B0604030504040204" pitchFamily="34" charset="0"/>
              <a:sym typeface="Arial" panose="020B0604020202020204" pitchFamily="34" charset="0"/>
            </a:endParaRPr>
          </a:p>
        </p:txBody>
      </p:sp>
      <p:sp>
        <p:nvSpPr>
          <p:cNvPr id="37892" name="Text Box 4"/>
          <p:cNvSpPr txBox="1"/>
          <p:nvPr/>
        </p:nvSpPr>
        <p:spPr>
          <a:xfrm>
            <a:off x="533400" y="3657600"/>
            <a:ext cx="7673975" cy="1004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endParaRPr lang="zh-CN" altLang="zh-CN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  </a:t>
            </a:r>
            <a:endParaRPr lang="zh-CN" altLang="zh-CN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37893" name="Text Box 5"/>
          <p:cNvSpPr txBox="1"/>
          <p:nvPr/>
        </p:nvSpPr>
        <p:spPr>
          <a:xfrm>
            <a:off x="468313" y="3789363"/>
            <a:ext cx="8153400" cy="8239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     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由于有些数据用定点数不易表示，所以采用了浮点表示法。      </a:t>
            </a:r>
            <a:endParaRPr lang="zh-CN" altLang="en-US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7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Rectangle 2"/>
          <p:cNvSpPr>
            <a:spLocks noGrp="1"/>
          </p:cNvSpPr>
          <p:nvPr>
            <p:ph type="title"/>
          </p:nvPr>
        </p:nvSpPr>
        <p:spPr>
          <a:xfrm>
            <a:off x="323850" y="909638"/>
            <a:ext cx="7620000" cy="685800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zh-CN" sz="32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32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）浮点表示法</a:t>
            </a:r>
            <a:endParaRPr lang="zh-CN" altLang="en-US" sz="32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8915" name="Rectangle 3"/>
          <p:cNvSpPr>
            <a:spLocks noGrp="1"/>
          </p:cNvSpPr>
          <p:nvPr>
            <p:ph idx="1"/>
          </p:nvPr>
        </p:nvSpPr>
        <p:spPr>
          <a:xfrm>
            <a:off x="468313" y="1752600"/>
            <a:ext cx="8281987" cy="46482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90000"/>
              </a:lnSpc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隶书" panose="02010509060101010101" pitchFamily="49" charset="-122"/>
              </a:rPr>
              <a:t>①</a:t>
            </a:r>
            <a:r>
              <a:rPr lang="zh-CN" altLang="en-US" sz="2800" b="1" dirty="0">
                <a:solidFill>
                  <a:schemeClr val="tx1"/>
                </a:solidFill>
                <a:ea typeface="隶书" panose="02010509060101010101" pitchFamily="49" charset="-122"/>
              </a:rPr>
              <a:t>定义：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任意一个R进制都可以通过移动小数点的位置写成</a:t>
            </a:r>
            <a:endParaRPr lang="zh-CN" altLang="en-US" sz="2800" b="1" dirty="0">
              <a:solidFill>
                <a:schemeClr val="tx1"/>
              </a:solidFill>
              <a:latin typeface="楷体_GB2312" pitchFamily="1" charset="-122"/>
              <a:ea typeface="楷体_GB2312" pitchFamily="1" charset="-122"/>
            </a:endParaRPr>
          </a:p>
          <a:p>
            <a:pPr algn="just" eaLnBrk="1" hangingPunct="1">
              <a:lnSpc>
                <a:spcPct val="90000"/>
              </a:lnSpc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　　　　 X=R</a:t>
            </a:r>
            <a:r>
              <a:rPr lang="zh-CN" altLang="en-US" sz="2800" b="1" baseline="30000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E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× M       式中：</a:t>
            </a:r>
            <a:endParaRPr lang="zh-CN" altLang="en-US" sz="2800" b="1" dirty="0">
              <a:solidFill>
                <a:schemeClr val="tx1"/>
              </a:solidFill>
              <a:latin typeface="楷体_GB2312" pitchFamily="1" charset="-122"/>
              <a:ea typeface="楷体_GB2312" pitchFamily="1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楷体_GB2312" pitchFamily="1" charset="-122"/>
                <a:ea typeface="楷体_GB2312" pitchFamily="1" charset="-122"/>
              </a:rPr>
              <a:t>R是基数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，可以取2、8、10、16，一旦定义则不能改变，是隐含的。</a:t>
            </a:r>
            <a:r>
              <a:rPr lang="zh-CN" altLang="en-US" sz="2800" b="1" dirty="0">
                <a:solidFill>
                  <a:srgbClr val="0000FF"/>
                </a:solidFill>
                <a:latin typeface="楷体_GB2312" pitchFamily="1" charset="-122"/>
                <a:ea typeface="楷体_GB2312" pitchFamily="1" charset="-122"/>
              </a:rPr>
              <a:t>M称为尾数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，是纯小数（含数的符号），表示数N的全部有效数字。</a:t>
            </a:r>
            <a:endParaRPr lang="zh-CN" altLang="en-US" sz="2800" b="1" dirty="0">
              <a:solidFill>
                <a:schemeClr val="tx1"/>
              </a:solidFill>
              <a:latin typeface="楷体_GB2312" pitchFamily="1" charset="-122"/>
              <a:ea typeface="楷体_GB2312" pitchFamily="1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楷体_GB2312" pitchFamily="1" charset="-122"/>
                <a:ea typeface="楷体_GB2312" pitchFamily="1" charset="-122"/>
              </a:rPr>
              <a:t>E是阶码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，纯整数，指出小数点在该数中的位置。</a:t>
            </a:r>
            <a:endParaRPr lang="zh-CN" altLang="en-US" sz="2800" b="1" dirty="0">
              <a:solidFill>
                <a:schemeClr val="tx1"/>
              </a:solidFill>
              <a:latin typeface="楷体_GB2312" pitchFamily="1" charset="-122"/>
              <a:ea typeface="楷体_GB2312" pitchFamily="1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由于阶码可以取不同的数值，所以，小数点的位置是不确定的，这种数被称为浮点数</a:t>
            </a:r>
            <a:r>
              <a:rPr lang="zh-CN" altLang="en-US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。</a:t>
            </a:r>
            <a:endParaRPr lang="zh-CN" altLang="en-US" b="1" dirty="0">
              <a:solidFill>
                <a:schemeClr val="tx1"/>
              </a:solidFill>
              <a:latin typeface="楷体_GB2312" pitchFamily="1" charset="-122"/>
              <a:ea typeface="楷体_GB2312" pitchFamily="1" charset="-122"/>
            </a:endParaRPr>
          </a:p>
          <a:p>
            <a:pPr algn="just" eaLnBrk="1" hangingPunct="1">
              <a:lnSpc>
                <a:spcPct val="90000"/>
              </a:lnSpc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二进制浮点数的表示格式： X=2</a:t>
            </a:r>
            <a:r>
              <a:rPr lang="zh-CN" altLang="en-US" sz="2800" b="1" baseline="30000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E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1" charset="-122"/>
                <a:ea typeface="楷体_GB2312" pitchFamily="1" charset="-122"/>
              </a:rPr>
              <a:t>× M</a:t>
            </a:r>
            <a:endParaRPr lang="zh-CN" altLang="en-US" sz="2800" b="1" dirty="0">
              <a:solidFill>
                <a:schemeClr val="tx1"/>
              </a:solidFill>
              <a:latin typeface="楷体_GB2312" pitchFamily="1" charset="-122"/>
              <a:ea typeface="楷体_GB2312" pitchFamily="1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Rectangle 2"/>
          <p:cNvSpPr>
            <a:spLocks noGrp="1"/>
          </p:cNvSpPr>
          <p:nvPr>
            <p:ph type="title" idx="4294967295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zh-CN" sz="3200" dirty="0">
                <a:latin typeface="隶书" panose="02010509060101010101" pitchFamily="49" charset="-122"/>
              </a:rPr>
              <a:t>② </a:t>
            </a:r>
            <a:r>
              <a:rPr lang="zh-CN" altLang="en-US" sz="3200" dirty="0">
                <a:latin typeface="隶书" panose="02010509060101010101" pitchFamily="49" charset="-122"/>
              </a:rPr>
              <a:t>浮点数的表示方案：</a:t>
            </a:r>
            <a:endParaRPr lang="zh-CN" altLang="en-US" sz="3200" dirty="0">
              <a:latin typeface="隶书" panose="02010509060101010101" pitchFamily="49" charset="-122"/>
            </a:endParaRPr>
          </a:p>
        </p:txBody>
      </p:sp>
      <p:graphicFrame>
        <p:nvGraphicFramePr>
          <p:cNvPr id="39939" name="Group 3"/>
          <p:cNvGraphicFramePr>
            <a:graphicFrameLocks noGrp="1"/>
          </p:cNvGraphicFramePr>
          <p:nvPr/>
        </p:nvGraphicFramePr>
        <p:xfrm>
          <a:off x="1600200" y="2133600"/>
          <a:ext cx="5715000" cy="533400"/>
        </p:xfrm>
        <a:graphic>
          <a:graphicData uri="http://schemas.openxmlformats.org/drawingml/2006/table">
            <a:tbl>
              <a:tblPr/>
              <a:tblGrid>
                <a:gridCol w="685800"/>
                <a:gridCol w="2286000"/>
                <a:gridCol w="762000"/>
                <a:gridCol w="1981200"/>
              </a:tblGrid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阶符</a:t>
                      </a:r>
                      <a:endParaRPr kumimoji="0" 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170" marR="90170" marT="46990" marB="469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阶码</a:t>
                      </a:r>
                      <a:endParaRPr kumimoji="0" 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170" marR="90170" marT="46990" marB="469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数符</a:t>
                      </a:r>
                      <a:endParaRPr kumimoji="0" 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170" marR="90170" marT="46990" marB="469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数码</a:t>
                      </a:r>
                      <a:endParaRPr kumimoji="0" 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170" marR="90170" marT="46990" marB="469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sp>
        <p:nvSpPr>
          <p:cNvPr id="39951" name="Text Box 15"/>
          <p:cNvSpPr txBox="1"/>
          <p:nvPr/>
        </p:nvSpPr>
        <p:spPr>
          <a:xfrm>
            <a:off x="762000" y="2133600"/>
            <a:ext cx="838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Ⅰ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：</a:t>
            </a:r>
            <a:endParaRPr lang="zh-CN" altLang="en-US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39952" name="Text Box 16"/>
          <p:cNvSpPr txBox="1"/>
          <p:nvPr/>
        </p:nvSpPr>
        <p:spPr>
          <a:xfrm>
            <a:off x="762000" y="3048000"/>
            <a:ext cx="838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</a:rPr>
              <a:t>Ⅱ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：</a:t>
            </a:r>
            <a:endParaRPr lang="zh-CN" altLang="en-US" sz="2400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39953" name="Group 17"/>
          <p:cNvGraphicFramePr>
            <a:graphicFrameLocks noGrp="1"/>
          </p:cNvGraphicFramePr>
          <p:nvPr/>
        </p:nvGraphicFramePr>
        <p:xfrm>
          <a:off x="1600200" y="2971800"/>
          <a:ext cx="5715000" cy="698500"/>
        </p:xfrm>
        <a:graphic>
          <a:graphicData uri="http://schemas.openxmlformats.org/drawingml/2006/table">
            <a:tbl>
              <a:tblPr/>
              <a:tblGrid>
                <a:gridCol w="685800"/>
                <a:gridCol w="685800"/>
                <a:gridCol w="2057400"/>
                <a:gridCol w="2286000"/>
              </a:tblGrid>
              <a:tr h="698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数符</a:t>
                      </a:r>
                      <a:endParaRPr kumimoji="0" 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170" marR="90170" marT="46990" marB="469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阶符</a:t>
                      </a:r>
                      <a:endParaRPr kumimoji="0" 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170" marR="90170" marT="46990" marB="469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阶码</a:t>
                      </a:r>
                      <a:endParaRPr kumimoji="0" 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170" marR="90170" marT="46990" marB="469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数码</a:t>
                      </a:r>
                      <a:endParaRPr kumimoji="0" 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0170" marR="90170" marT="46990" marB="469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sp>
        <p:nvSpPr>
          <p:cNvPr id="39965" name="Rectangle 29"/>
          <p:cNvSpPr/>
          <p:nvPr/>
        </p:nvSpPr>
        <p:spPr>
          <a:xfrm>
            <a:off x="685800" y="3733800"/>
            <a:ext cx="25876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dirty="0">
                <a:solidFill>
                  <a:schemeClr val="tx1"/>
                </a:solidFill>
              </a:rPr>
              <a:t>Ⅲ：</a:t>
            </a:r>
            <a:r>
              <a:rPr lang="zh-CN" altLang="en-US" sz="2400" b="1" dirty="0">
                <a:solidFill>
                  <a:schemeClr val="tx1"/>
                </a:solidFill>
              </a:rPr>
              <a:t>IEEE754标准</a:t>
            </a:r>
            <a:endParaRPr lang="zh-CN" altLang="en-US" sz="2400" b="1" dirty="0">
              <a:solidFill>
                <a:schemeClr val="tx1"/>
              </a:solidFill>
            </a:endParaRPr>
          </a:p>
        </p:txBody>
      </p:sp>
      <p:sp>
        <p:nvSpPr>
          <p:cNvPr id="39966" name="Text Box 30"/>
          <p:cNvSpPr txBox="1"/>
          <p:nvPr/>
        </p:nvSpPr>
        <p:spPr>
          <a:xfrm>
            <a:off x="1524000" y="4191000"/>
            <a:ext cx="4191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b="1" dirty="0">
                <a:solidFill>
                  <a:schemeClr val="tx1"/>
                </a:solidFill>
                <a:sym typeface="Arial" panose="020B0604020202020204" pitchFamily="34" charset="0"/>
              </a:rPr>
              <a:t>32</a:t>
            </a:r>
            <a:r>
              <a:rPr lang="zh-CN" altLang="en-US" sz="2400" b="1" dirty="0">
                <a:solidFill>
                  <a:schemeClr val="tx1"/>
                </a:solidFill>
                <a:sym typeface="Arial" panose="020B0604020202020204" pitchFamily="34" charset="0"/>
              </a:rPr>
              <a:t>位浮点数则</a:t>
            </a:r>
            <a:r>
              <a:rPr lang="zh-CN" altLang="en-US" sz="2400" dirty="0">
                <a:solidFill>
                  <a:schemeClr val="tx1"/>
                </a:solidFill>
                <a:latin typeface="Tahoma" panose="020B0604030504040204" pitchFamily="34" charset="0"/>
              </a:rPr>
              <a:t>：</a:t>
            </a:r>
            <a:endParaRPr lang="zh-CN" altLang="en-US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grpSp>
        <p:nvGrpSpPr>
          <p:cNvPr id="39967" name="Group 31"/>
          <p:cNvGrpSpPr/>
          <p:nvPr/>
        </p:nvGrpSpPr>
        <p:grpSpPr>
          <a:xfrm>
            <a:off x="1331913" y="4652963"/>
            <a:ext cx="5800725" cy="1539875"/>
            <a:chOff x="0" y="0"/>
            <a:chExt cx="3654" cy="970"/>
          </a:xfrm>
        </p:grpSpPr>
        <p:grpSp>
          <p:nvGrpSpPr>
            <p:cNvPr id="39968" name="Group 32"/>
            <p:cNvGrpSpPr/>
            <p:nvPr/>
          </p:nvGrpSpPr>
          <p:grpSpPr>
            <a:xfrm>
              <a:off x="0" y="0"/>
              <a:ext cx="3654" cy="432"/>
              <a:chOff x="0" y="0"/>
              <a:chExt cx="3654" cy="432"/>
            </a:xfrm>
          </p:grpSpPr>
          <p:sp>
            <p:nvSpPr>
              <p:cNvPr id="39975" name="Text Box 33"/>
              <p:cNvSpPr txBox="1"/>
              <p:nvPr/>
            </p:nvSpPr>
            <p:spPr>
              <a:xfrm>
                <a:off x="0" y="0"/>
                <a:ext cx="3654" cy="432"/>
              </a:xfrm>
              <a:prstGeom prst="rect">
                <a:avLst/>
              </a:prstGeom>
              <a:solidFill>
                <a:srgbClr val="FFFFCC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rgbClr val="666699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rgbClr val="666699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rgbClr val="666699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rgbClr val="666699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666699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just">
                  <a:spcBef>
                    <a:spcPct val="0"/>
                  </a:spcBef>
                  <a:buNone/>
                </a:pPr>
                <a:r>
                  <a:rPr lang="zh-CN" altLang="en-US" sz="2000" b="1" dirty="0">
                    <a:solidFill>
                      <a:schemeClr val="tx1"/>
                    </a:solidFill>
                  </a:rPr>
                  <a:t>数符</a:t>
                </a:r>
                <a:r>
                  <a:rPr lang="zh-CN" altLang="en-US" sz="1800" b="1" dirty="0">
                    <a:solidFill>
                      <a:schemeClr val="tx1"/>
                    </a:solidFill>
                  </a:rPr>
                  <a:t>　　</a:t>
                </a:r>
                <a:r>
                  <a:rPr lang="zh-CN" altLang="en-US" sz="2000" b="1" dirty="0">
                    <a:solidFill>
                      <a:schemeClr val="tx1"/>
                    </a:solidFill>
                  </a:rPr>
                  <a:t>　    阶码　　　　　　　　　　尾数   </a:t>
                </a:r>
                <a:endParaRPr lang="zh-CN" altLang="en-US" sz="2000" b="1" dirty="0">
                  <a:solidFill>
                    <a:schemeClr val="tx1"/>
                  </a:solidFill>
                </a:endParaRPr>
              </a:p>
              <a:p>
                <a:pPr marL="0" lvl="0" indent="0" algn="just">
                  <a:spcBef>
                    <a:spcPct val="0"/>
                  </a:spcBef>
                  <a:buNone/>
                </a:pPr>
                <a:r>
                  <a:rPr lang="zh-CN" altLang="en-US" sz="2000" b="1" dirty="0">
                    <a:solidFill>
                      <a:schemeClr val="tx1"/>
                    </a:solidFill>
                  </a:rPr>
                  <a:t>   </a:t>
                </a:r>
                <a:r>
                  <a:rPr lang="zh-CN" altLang="zh-CN" sz="2000" b="1" dirty="0">
                    <a:solidFill>
                      <a:schemeClr val="tx1"/>
                    </a:solidFill>
                  </a:rPr>
                  <a:t>S                    E                                             M         </a:t>
                </a:r>
                <a:r>
                  <a:rPr lang="zh-CN" altLang="zh-CN" sz="1800" dirty="0">
                    <a:solidFill>
                      <a:schemeClr val="tx1"/>
                    </a:solidFill>
                  </a:rPr>
                  <a:t>  </a:t>
                </a:r>
                <a:endParaRPr lang="zh-CN" altLang="zh-CN" sz="1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9976" name="Line 34"/>
              <p:cNvSpPr/>
              <p:nvPr/>
            </p:nvSpPr>
            <p:spPr>
              <a:xfrm>
                <a:off x="384" y="0"/>
                <a:ext cx="0" cy="43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9977" name="Line 35"/>
              <p:cNvSpPr/>
              <p:nvPr/>
            </p:nvSpPr>
            <p:spPr>
              <a:xfrm>
                <a:off x="1920" y="0"/>
                <a:ext cx="0" cy="43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39969" name="Text Box 36"/>
            <p:cNvSpPr txBox="1"/>
            <p:nvPr/>
          </p:nvSpPr>
          <p:spPr>
            <a:xfrm>
              <a:off x="48" y="720"/>
              <a:ext cx="38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rgbClr val="6666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rgbClr val="666699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rgbClr val="666699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zh-CN" sz="2000" dirty="0">
                  <a:solidFill>
                    <a:schemeClr val="tx1"/>
                  </a:solidFill>
                  <a:latin typeface="Tahoma" panose="020B0604030504040204" pitchFamily="34" charset="0"/>
                </a:rPr>
                <a:t>1</a:t>
              </a:r>
              <a:r>
                <a:rPr lang="zh-CN" altLang="en-US" sz="2000" dirty="0">
                  <a:solidFill>
                    <a:schemeClr val="tx1"/>
                  </a:solidFill>
                  <a:latin typeface="Tahoma" panose="020B0604030504040204" pitchFamily="34" charset="0"/>
                </a:rPr>
                <a:t>位</a:t>
              </a:r>
              <a:endParaRPr lang="zh-CN" altLang="en-US" sz="2000" dirty="0">
                <a:solidFill>
                  <a:schemeClr val="tx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9970" name="Text Box 37"/>
            <p:cNvSpPr txBox="1"/>
            <p:nvPr/>
          </p:nvSpPr>
          <p:spPr>
            <a:xfrm>
              <a:off x="2592" y="720"/>
              <a:ext cx="52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rgbClr val="6666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rgbClr val="666699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rgbClr val="666699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zh-CN" sz="2000" dirty="0">
                  <a:solidFill>
                    <a:schemeClr val="tx1"/>
                  </a:solidFill>
                  <a:latin typeface="Tahoma" panose="020B0604030504040204" pitchFamily="34" charset="0"/>
                </a:rPr>
                <a:t>23</a:t>
              </a:r>
              <a:r>
                <a:rPr lang="zh-CN" altLang="en-US" sz="2000" dirty="0">
                  <a:solidFill>
                    <a:schemeClr val="tx1"/>
                  </a:solidFill>
                  <a:latin typeface="Tahoma" panose="020B0604030504040204" pitchFamily="34" charset="0"/>
                </a:rPr>
                <a:t>位</a:t>
              </a:r>
              <a:endParaRPr lang="zh-CN" altLang="en-US" sz="2000" dirty="0">
                <a:solidFill>
                  <a:schemeClr val="tx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9971" name="Text Box 38"/>
            <p:cNvSpPr txBox="1"/>
            <p:nvPr/>
          </p:nvSpPr>
          <p:spPr>
            <a:xfrm>
              <a:off x="960" y="720"/>
              <a:ext cx="38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rgbClr val="6666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rgbClr val="666699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rgbClr val="666699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zh-CN" sz="2000" dirty="0">
                  <a:solidFill>
                    <a:schemeClr val="tx1"/>
                  </a:solidFill>
                  <a:latin typeface="Tahoma" panose="020B0604030504040204" pitchFamily="34" charset="0"/>
                </a:rPr>
                <a:t>8</a:t>
              </a:r>
              <a:r>
                <a:rPr lang="zh-CN" altLang="en-US" sz="2000" dirty="0">
                  <a:solidFill>
                    <a:schemeClr val="tx1"/>
                  </a:solidFill>
                  <a:latin typeface="Tahoma" panose="020B0604030504040204" pitchFamily="34" charset="0"/>
                </a:rPr>
                <a:t>位</a:t>
              </a:r>
              <a:endParaRPr lang="zh-CN" altLang="en-US" sz="2000" dirty="0">
                <a:solidFill>
                  <a:schemeClr val="tx1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9972" name="Line 39"/>
            <p:cNvSpPr/>
            <p:nvPr/>
          </p:nvSpPr>
          <p:spPr>
            <a:xfrm flipV="1">
              <a:off x="192" y="432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9973" name="Line 40"/>
            <p:cNvSpPr/>
            <p:nvPr/>
          </p:nvSpPr>
          <p:spPr>
            <a:xfrm flipV="1">
              <a:off x="1104" y="432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9974" name="Line 41"/>
            <p:cNvSpPr/>
            <p:nvPr/>
          </p:nvSpPr>
          <p:spPr>
            <a:xfrm flipV="1">
              <a:off x="2832" y="432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9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6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Text Box 2"/>
          <p:cNvSpPr txBox="1"/>
          <p:nvPr/>
        </p:nvSpPr>
        <p:spPr>
          <a:xfrm>
            <a:off x="684213" y="1270000"/>
            <a:ext cx="7772400" cy="16144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Tahoma" panose="020B0604030504040204" pitchFamily="34" charset="0"/>
              </a:rPr>
              <a:t>IEEE754所要求的尾数规格化的形式：</a:t>
            </a:r>
            <a:r>
              <a:rPr lang="zh-CN" altLang="en-US" sz="2800" dirty="0">
                <a:solidFill>
                  <a:schemeClr val="tx1"/>
                </a:solidFill>
                <a:latin typeface="Tahoma" panose="020B0604030504040204" pitchFamily="34" charset="0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latin typeface="Tahoma" panose="020B0604030504040204" pitchFamily="34" charset="0"/>
              </a:rPr>
              <a:t>1.M</a:t>
            </a:r>
            <a:endParaRPr lang="zh-CN" altLang="en-US" sz="2800" b="1" dirty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例：A=2</a:t>
            </a:r>
            <a:r>
              <a:rPr lang="zh-CN" altLang="en-US" sz="2400" b="1" baseline="30000" dirty="0">
                <a:solidFill>
                  <a:schemeClr val="tx1"/>
                </a:solidFill>
                <a:latin typeface="Tahoma" panose="020B0604030504040204" pitchFamily="34" charset="0"/>
              </a:rPr>
              <a:t>4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 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  <a:sym typeface="Arial" panose="020B0604020202020204" pitchFamily="34" charset="0"/>
              </a:rPr>
              <a:t>×0.0000000010101=2</a:t>
            </a:r>
            <a:r>
              <a:rPr lang="zh-CN" altLang="en-US" sz="2400" b="1" baseline="30000" dirty="0">
                <a:solidFill>
                  <a:schemeClr val="tx1"/>
                </a:solidFill>
                <a:latin typeface="Tahoma" panose="020B0604030504040204" pitchFamily="34" charset="0"/>
                <a:sym typeface="Arial" panose="020B0604020202020204" pitchFamily="34" charset="0"/>
              </a:rPr>
              <a:t>-5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  <a:sym typeface="Arial" panose="020B0604020202020204" pitchFamily="34" charset="0"/>
              </a:rPr>
              <a:t> ×1.0101</a:t>
            </a:r>
            <a:endParaRPr lang="zh-CN" altLang="en-US" sz="2400" b="1" dirty="0">
              <a:solidFill>
                <a:schemeClr val="tx1"/>
              </a:solidFill>
              <a:latin typeface="Tahoma" panose="020B0604030504040204" pitchFamily="34" charset="0"/>
              <a:sym typeface="Arial" panose="020B0604020202020204" pitchFamily="34" charset="0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    </a:t>
            </a:r>
            <a:endParaRPr lang="zh-CN" altLang="en-US" sz="2400" b="1" baseline="30000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41987" name="Text Box 3"/>
          <p:cNvSpPr txBox="1"/>
          <p:nvPr/>
        </p:nvSpPr>
        <p:spPr>
          <a:xfrm>
            <a:off x="684213" y="2852738"/>
            <a:ext cx="73914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阶码：用移码表示，对于两个指数大小的比较和对阶操作都比较方便。</a:t>
            </a:r>
            <a:endParaRPr lang="zh-CN" altLang="en-US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41988" name="Rectangle 4"/>
          <p:cNvSpPr/>
          <p:nvPr/>
        </p:nvSpPr>
        <p:spPr>
          <a:xfrm>
            <a:off x="838200" y="3810000"/>
            <a:ext cx="55626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b="1" dirty="0">
                <a:solidFill>
                  <a:srgbClr val="8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阶码与尾数的位数关系</a:t>
            </a:r>
            <a:endParaRPr lang="zh-CN" altLang="en-US" b="1" dirty="0">
              <a:solidFill>
                <a:srgbClr val="80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1989" name="AutoShape 5"/>
          <p:cNvSpPr/>
          <p:nvPr/>
        </p:nvSpPr>
        <p:spPr>
          <a:xfrm>
            <a:off x="1752600" y="4724400"/>
            <a:ext cx="304800" cy="1066800"/>
          </a:xfrm>
          <a:prstGeom prst="leftBrace">
            <a:avLst>
              <a:gd name="adj1" fmla="val 29134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41990" name="Text Box 6"/>
          <p:cNvSpPr txBox="1"/>
          <p:nvPr/>
        </p:nvSpPr>
        <p:spPr>
          <a:xfrm>
            <a:off x="2209800" y="4572000"/>
            <a:ext cx="14255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精度：</a:t>
            </a:r>
            <a:endParaRPr lang="zh-CN" altLang="en-US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41991" name="Text Box 7"/>
          <p:cNvSpPr txBox="1"/>
          <p:nvPr/>
        </p:nvSpPr>
        <p:spPr>
          <a:xfrm>
            <a:off x="2209800" y="5486400"/>
            <a:ext cx="135413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范围：</a:t>
            </a:r>
            <a:endParaRPr lang="zh-CN" altLang="en-US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41992" name="Text Box 8"/>
          <p:cNvSpPr txBox="1"/>
          <p:nvPr/>
        </p:nvSpPr>
        <p:spPr>
          <a:xfrm>
            <a:off x="3124200" y="4572000"/>
            <a:ext cx="1066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尾数</a:t>
            </a:r>
            <a:endParaRPr lang="zh-CN" altLang="en-US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41993" name="Text Box 9"/>
          <p:cNvSpPr txBox="1"/>
          <p:nvPr/>
        </p:nvSpPr>
        <p:spPr>
          <a:xfrm>
            <a:off x="3124200" y="5486400"/>
            <a:ext cx="99060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阶码</a:t>
            </a:r>
            <a:endParaRPr lang="en-US" altLang="zh-CN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1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1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1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500"/>
                                        <p:tgtEl>
                                          <p:spTgt spid="41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41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41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1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1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6" grpId="0"/>
      <p:bldP spid="41987" grpId="0"/>
      <p:bldP spid="41988" grpId="0"/>
      <p:bldP spid="41989" grpId="0" animBg="1"/>
      <p:bldP spid="41990" grpId="0"/>
      <p:bldP spid="41991" grpId="0"/>
      <p:bldP spid="41992" grpId="0"/>
      <p:bldP spid="4199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Text Box 2"/>
          <p:cNvSpPr txBox="1"/>
          <p:nvPr/>
        </p:nvSpPr>
        <p:spPr>
          <a:xfrm>
            <a:off x="762000" y="1143000"/>
            <a:ext cx="76200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b="1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3</a:t>
            </a:r>
            <a:r>
              <a:rPr lang="zh-CN" altLang="en-US" b="1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）定点数表示法与浮点数表示法的比较</a:t>
            </a:r>
            <a:endParaRPr lang="zh-CN" altLang="en-US" b="1" dirty="0">
              <a:solidFill>
                <a:schemeClr val="tx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43011" name="Text Box 3"/>
          <p:cNvSpPr txBox="1"/>
          <p:nvPr/>
        </p:nvSpPr>
        <p:spPr>
          <a:xfrm>
            <a:off x="1600200" y="1905000"/>
            <a:ext cx="1600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①</a:t>
            </a: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范围：</a:t>
            </a:r>
            <a:endParaRPr lang="zh-CN" altLang="en-US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43012" name="Text Box 4"/>
          <p:cNvSpPr txBox="1"/>
          <p:nvPr/>
        </p:nvSpPr>
        <p:spPr>
          <a:xfrm>
            <a:off x="4038600" y="1905000"/>
            <a:ext cx="3429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dirty="0">
                <a:solidFill>
                  <a:schemeClr val="tx1"/>
                </a:solidFill>
                <a:latin typeface="Tahoma" panose="020B0604030504040204" pitchFamily="34" charset="0"/>
              </a:rPr>
              <a:t>浮点数      定点数</a:t>
            </a:r>
            <a:endParaRPr lang="zh-CN" altLang="en-US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43013" name="Text Box 5"/>
          <p:cNvSpPr txBox="1"/>
          <p:nvPr/>
        </p:nvSpPr>
        <p:spPr>
          <a:xfrm>
            <a:off x="5105400" y="1905000"/>
            <a:ext cx="609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&gt;</a:t>
            </a:r>
            <a:endParaRPr lang="zh-CN" altLang="zh-CN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43014" name="Rectangle 6"/>
          <p:cNvSpPr/>
          <p:nvPr/>
        </p:nvSpPr>
        <p:spPr>
          <a:xfrm>
            <a:off x="1600200" y="2514600"/>
            <a:ext cx="2209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② 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设备复杂度</a:t>
            </a:r>
            <a:r>
              <a:rPr lang="zh-CN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:</a:t>
            </a:r>
            <a:endParaRPr lang="zh-CN" altLang="zh-CN" sz="2400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43015" name="Text Box 7"/>
          <p:cNvSpPr txBox="1"/>
          <p:nvPr/>
        </p:nvSpPr>
        <p:spPr>
          <a:xfrm>
            <a:off x="4038600" y="2590800"/>
            <a:ext cx="3429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dirty="0">
                <a:solidFill>
                  <a:schemeClr val="tx1"/>
                </a:solidFill>
                <a:latin typeface="Tahoma" panose="020B0604030504040204" pitchFamily="34" charset="0"/>
              </a:rPr>
              <a:t>浮点数      定点数</a:t>
            </a:r>
            <a:endParaRPr lang="zh-CN" altLang="en-US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43016" name="Text Box 8"/>
          <p:cNvSpPr txBox="1"/>
          <p:nvPr/>
        </p:nvSpPr>
        <p:spPr>
          <a:xfrm>
            <a:off x="5105400" y="2590800"/>
            <a:ext cx="609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&gt;</a:t>
            </a:r>
            <a:endParaRPr lang="zh-CN" altLang="zh-CN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43017" name="Text Box 9"/>
          <p:cNvSpPr txBox="1"/>
          <p:nvPr/>
        </p:nvSpPr>
        <p:spPr>
          <a:xfrm>
            <a:off x="762000" y="3048000"/>
            <a:ext cx="21336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b="1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</a:t>
            </a:r>
            <a:r>
              <a:rPr lang="zh-CN" altLang="en-US" b="1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）举例</a:t>
            </a:r>
            <a:endParaRPr lang="zh-CN" altLang="en-US" b="1" dirty="0">
              <a:solidFill>
                <a:schemeClr val="tx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43018" name="Text Box 10"/>
          <p:cNvSpPr txBox="1"/>
          <p:nvPr/>
        </p:nvSpPr>
        <p:spPr>
          <a:xfrm>
            <a:off x="755650" y="3662363"/>
            <a:ext cx="72739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rgbClr val="FF00FF"/>
                </a:solidFill>
              </a:rPr>
              <a:t>字长8位，采用二进制，阶码3位，数符尾数5位</a:t>
            </a:r>
            <a:endParaRPr lang="zh-CN" altLang="en-US" sz="2400" b="1" dirty="0">
              <a:solidFill>
                <a:srgbClr val="FF00FF"/>
              </a:solidFill>
            </a:endParaRPr>
          </a:p>
        </p:txBody>
      </p:sp>
      <p:sp>
        <p:nvSpPr>
          <p:cNvPr id="2" name="Text Box 11"/>
          <p:cNvSpPr txBox="1"/>
          <p:nvPr/>
        </p:nvSpPr>
        <p:spPr>
          <a:xfrm>
            <a:off x="304800" y="4191000"/>
            <a:ext cx="4038600" cy="15541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rgbClr val="FF00FF"/>
                </a:solidFill>
              </a:rPr>
              <a:t>定点数</a:t>
            </a:r>
            <a:endParaRPr lang="zh-CN" altLang="en-US" sz="2400" b="1" dirty="0">
              <a:solidFill>
                <a:srgbClr val="FF00FF"/>
              </a:solidFill>
            </a:endParaRPr>
          </a:p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0.0000000</a:t>
            </a:r>
            <a:r>
              <a:rPr lang="zh-CN" altLang="en-US" sz="2400" b="1" dirty="0">
                <a:solidFill>
                  <a:schemeClr val="tx1"/>
                </a:solidFill>
              </a:rPr>
              <a:t>——</a:t>
            </a: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0.1111111</a:t>
            </a:r>
            <a:endParaRPr lang="zh-CN" altLang="en-US" sz="2400" b="1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即0</a:t>
            </a:r>
            <a:r>
              <a:rPr lang="zh-CN" altLang="en-US" sz="2400" b="1" dirty="0">
                <a:solidFill>
                  <a:schemeClr val="tx1"/>
                </a:solidFill>
              </a:rPr>
              <a:t>——</a:t>
            </a: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127/128</a:t>
            </a:r>
            <a:endParaRPr lang="zh-CN" altLang="en-US" sz="2400" b="1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43019" name="Text Box 12"/>
          <p:cNvSpPr txBox="1"/>
          <p:nvPr/>
        </p:nvSpPr>
        <p:spPr>
          <a:xfrm>
            <a:off x="4211638" y="4221163"/>
            <a:ext cx="4648200" cy="15541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rgbClr val="FF00FF"/>
                </a:solidFill>
              </a:rPr>
              <a:t>浮点数</a:t>
            </a:r>
            <a:endParaRPr lang="zh-CN" altLang="en-US" sz="2400" b="1" dirty="0">
              <a:solidFill>
                <a:srgbClr val="FF00FF"/>
              </a:solidFill>
            </a:endParaRPr>
          </a:p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2</a:t>
            </a:r>
            <a:r>
              <a:rPr lang="zh-CN" altLang="en-US" sz="2400" baseline="30000" dirty="0">
                <a:solidFill>
                  <a:schemeClr val="tx1"/>
                </a:solidFill>
                <a:latin typeface="Arial" panose="020B0604020202020204" pitchFamily="34" charset="0"/>
              </a:rPr>
              <a:t>-11 </a:t>
            </a: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×0.0001</a:t>
            </a:r>
            <a:r>
              <a:rPr lang="zh-CN" altLang="en-US" sz="2400" b="1" dirty="0">
                <a:solidFill>
                  <a:schemeClr val="tx1"/>
                </a:solidFill>
              </a:rPr>
              <a:t>——</a:t>
            </a:r>
            <a:r>
              <a:rPr lang="zh-CN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2</a:t>
            </a:r>
            <a:r>
              <a:rPr lang="zh-CN" altLang="en-US" sz="2400" baseline="30000" dirty="0">
                <a:solidFill>
                  <a:schemeClr val="tx1"/>
                </a:solidFill>
                <a:latin typeface="Arial" panose="020B0604020202020204" pitchFamily="34" charset="0"/>
              </a:rPr>
              <a:t>11 </a:t>
            </a: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×0.1111</a:t>
            </a:r>
            <a:endParaRPr lang="zh-CN" altLang="en-US" sz="2400" b="1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 即1/128</a:t>
            </a:r>
            <a:r>
              <a:rPr lang="zh-CN" altLang="en-US" sz="2400" b="1" dirty="0">
                <a:solidFill>
                  <a:schemeClr val="tx1"/>
                </a:solidFill>
              </a:rPr>
              <a:t>——</a:t>
            </a: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7.5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3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43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3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43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43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3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43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43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500"/>
                                        <p:tgtEl>
                                          <p:spTgt spid="43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0" grpId="0"/>
      <p:bldP spid="43011" grpId="0"/>
      <p:bldP spid="43012" grpId="0"/>
      <p:bldP spid="43013" grpId="0"/>
      <p:bldP spid="43014" grpId="0"/>
      <p:bldP spid="43015" grpId="0"/>
      <p:bldP spid="43016" grpId="0"/>
      <p:bldP spid="43017" grpId="0"/>
      <p:bldP spid="43018" grpId="0"/>
      <p:bldP spid="2" grpId="0"/>
      <p:bldP spid="4301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3" name="Rectangle 2"/>
          <p:cNvSpPr/>
          <p:nvPr/>
        </p:nvSpPr>
        <p:spPr>
          <a:xfrm>
            <a:off x="304800" y="990600"/>
            <a:ext cx="86106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tx1"/>
                </a:solidFill>
              </a:rPr>
              <a:t>例1： 若浮点数</a:t>
            </a:r>
            <a:r>
              <a:rPr lang="zh-CN" altLang="en-US" sz="2400" b="1" i="1" dirty="0">
                <a:solidFill>
                  <a:schemeClr val="tx1"/>
                </a:solidFill>
              </a:rPr>
              <a:t>ｘ</a:t>
            </a:r>
            <a:r>
              <a:rPr lang="zh-CN" altLang="en-US" sz="2400" b="1" dirty="0">
                <a:solidFill>
                  <a:schemeClr val="tx1"/>
                </a:solidFill>
              </a:rPr>
              <a:t>的二进制存储格式为(41360000)</a:t>
            </a:r>
            <a:r>
              <a:rPr lang="zh-CN" altLang="en-US" sz="2400" b="1" baseline="-30000" dirty="0">
                <a:solidFill>
                  <a:schemeClr val="tx1"/>
                </a:solidFill>
              </a:rPr>
              <a:t>16</a:t>
            </a:r>
            <a:r>
              <a:rPr lang="zh-CN" altLang="en-US" sz="2400" b="1" dirty="0">
                <a:solidFill>
                  <a:schemeClr val="tx1"/>
                </a:solidFill>
              </a:rPr>
              <a:t>，求其32位浮点数的十进制值。</a:t>
            </a:r>
            <a:endParaRPr lang="zh-CN" altLang="en-US" sz="2400" b="1" dirty="0">
              <a:solidFill>
                <a:schemeClr val="tx1"/>
              </a:solidFill>
            </a:endParaRPr>
          </a:p>
        </p:txBody>
      </p:sp>
      <p:sp>
        <p:nvSpPr>
          <p:cNvPr id="44035" name="Rectangle 3"/>
          <p:cNvSpPr/>
          <p:nvPr/>
        </p:nvSpPr>
        <p:spPr>
          <a:xfrm>
            <a:off x="755650" y="5013325"/>
            <a:ext cx="6661150" cy="1130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zh-CN" sz="2000" b="1" dirty="0">
                <a:solidFill>
                  <a:srgbClr val="333399"/>
                </a:solidFill>
                <a:latin typeface="宋体" panose="02010600030101010101" pitchFamily="2" charset="-122"/>
              </a:rPr>
              <a:t>④</a:t>
            </a:r>
            <a:r>
              <a:rPr lang="zh-CN" altLang="zh-CN" sz="2000" b="1" dirty="0">
                <a:solidFill>
                  <a:srgbClr val="333399"/>
                </a:solidFill>
                <a:latin typeface="Tahoma" panose="020B0604030504040204" pitchFamily="34" charset="0"/>
              </a:rPr>
              <a:t> </a:t>
            </a:r>
            <a:r>
              <a:rPr lang="zh-CN" altLang="en-US" sz="2000" b="1" dirty="0">
                <a:solidFill>
                  <a:srgbClr val="333399"/>
                </a:solidFill>
                <a:latin typeface="Tahoma" panose="020B0604030504040204" pitchFamily="34" charset="0"/>
              </a:rPr>
              <a:t>于是有</a:t>
            </a:r>
            <a:br>
              <a:rPr lang="zh-CN" altLang="en-US" sz="2000" b="1" dirty="0">
                <a:solidFill>
                  <a:schemeClr val="tx1"/>
                </a:solidFill>
                <a:latin typeface="Tahoma" panose="020B0604030504040204" pitchFamily="34" charset="0"/>
              </a:rPr>
            </a:br>
            <a:r>
              <a:rPr lang="en-US" altLang="zh-CN" sz="2400" b="1" dirty="0">
                <a:solidFill>
                  <a:srgbClr val="333399"/>
                </a:solidFill>
              </a:rPr>
              <a:t>      </a:t>
            </a:r>
            <a:r>
              <a:rPr lang="zh-CN" altLang="en-US" sz="2400" b="1" i="1" dirty="0">
                <a:solidFill>
                  <a:srgbClr val="333399"/>
                </a:solidFill>
                <a:latin typeface="Tahoma" panose="020B0604030504040204" pitchFamily="34" charset="0"/>
              </a:rPr>
              <a:t>ｘ</a:t>
            </a:r>
            <a:r>
              <a:rPr lang="zh-CN" altLang="en-US" sz="2400" b="1" dirty="0">
                <a:solidFill>
                  <a:srgbClr val="333399"/>
                </a:solidFill>
                <a:latin typeface="Tahoma" panose="020B0604030504040204" pitchFamily="34" charset="0"/>
              </a:rPr>
              <a:t>＝</a:t>
            </a:r>
            <a:r>
              <a:rPr lang="zh-CN" altLang="zh-CN" sz="2400" b="1" dirty="0">
                <a:solidFill>
                  <a:srgbClr val="333399"/>
                </a:solidFill>
                <a:latin typeface="Tahoma" panose="020B0604030504040204" pitchFamily="34" charset="0"/>
              </a:rPr>
              <a:t>(</a:t>
            </a:r>
            <a:r>
              <a:rPr lang="zh-CN" altLang="en-US" sz="2400" b="1" dirty="0">
                <a:solidFill>
                  <a:srgbClr val="333399"/>
                </a:solidFill>
                <a:latin typeface="Tahoma" panose="020B0604030504040204" pitchFamily="34" charset="0"/>
              </a:rPr>
              <a:t>－</a:t>
            </a:r>
            <a:r>
              <a:rPr lang="zh-CN" altLang="zh-CN" sz="2400" b="1" dirty="0">
                <a:solidFill>
                  <a:srgbClr val="333399"/>
                </a:solidFill>
                <a:latin typeface="Tahoma" panose="020B0604030504040204" pitchFamily="34" charset="0"/>
              </a:rPr>
              <a:t>1)</a:t>
            </a:r>
            <a:r>
              <a:rPr lang="zh-CN" altLang="zh-CN" sz="2400" b="1" baseline="30000" dirty="0">
                <a:solidFill>
                  <a:srgbClr val="333399"/>
                </a:solidFill>
                <a:latin typeface="Tahoma" panose="020B0604030504040204" pitchFamily="34" charset="0"/>
              </a:rPr>
              <a:t>s</a:t>
            </a:r>
            <a:r>
              <a:rPr lang="zh-CN" altLang="zh-CN" sz="2400" b="1" dirty="0">
                <a:solidFill>
                  <a:srgbClr val="333399"/>
                </a:solidFill>
                <a:latin typeface="Tahoma" panose="020B0604030504040204" pitchFamily="34" charset="0"/>
              </a:rPr>
              <a:t>×1.</a:t>
            </a:r>
            <a:r>
              <a:rPr lang="zh-CN" altLang="zh-CN" sz="2400" b="1" i="1" dirty="0">
                <a:solidFill>
                  <a:srgbClr val="333399"/>
                </a:solidFill>
                <a:latin typeface="Tahoma" panose="020B0604030504040204" pitchFamily="34" charset="0"/>
              </a:rPr>
              <a:t>M</a:t>
            </a:r>
            <a:r>
              <a:rPr lang="zh-CN" altLang="zh-CN" sz="2400" b="1" dirty="0">
                <a:solidFill>
                  <a:srgbClr val="333399"/>
                </a:solidFill>
                <a:latin typeface="Tahoma" panose="020B0604030504040204" pitchFamily="34" charset="0"/>
              </a:rPr>
              <a:t>×2</a:t>
            </a:r>
            <a:r>
              <a:rPr lang="zh-CN" altLang="zh-CN" sz="2400" b="1" baseline="30000" dirty="0">
                <a:solidFill>
                  <a:srgbClr val="333399"/>
                </a:solidFill>
                <a:latin typeface="Tahoma" panose="020B0604030504040204" pitchFamily="34" charset="0"/>
              </a:rPr>
              <a:t>e</a:t>
            </a:r>
            <a:r>
              <a:rPr lang="zh-CN" altLang="en-US" sz="2000" b="1" dirty="0">
                <a:solidFill>
                  <a:srgbClr val="333399"/>
                </a:solidFill>
                <a:latin typeface="Tahoma" panose="020B0604030504040204" pitchFamily="34" charset="0"/>
              </a:rPr>
              <a:t>＝＋</a:t>
            </a:r>
            <a:r>
              <a:rPr lang="zh-CN" altLang="zh-CN" sz="2000" b="1" dirty="0">
                <a:solidFill>
                  <a:srgbClr val="333399"/>
                </a:solidFill>
                <a:latin typeface="Tahoma" panose="020B0604030504040204" pitchFamily="34" charset="0"/>
              </a:rPr>
              <a:t>(1.011011)×2</a:t>
            </a:r>
            <a:r>
              <a:rPr lang="zh-CN" altLang="zh-CN" sz="2000" b="1" baseline="30000" dirty="0">
                <a:solidFill>
                  <a:srgbClr val="333399"/>
                </a:solidFill>
                <a:latin typeface="Tahoma" panose="020B0604030504040204" pitchFamily="34" charset="0"/>
              </a:rPr>
              <a:t>3</a:t>
            </a:r>
            <a:endParaRPr lang="zh-CN" altLang="zh-CN" sz="2000" b="1" baseline="30000" dirty="0">
              <a:solidFill>
                <a:srgbClr val="333399"/>
              </a:solidFill>
              <a:latin typeface="Tahoma" panose="020B0604030504040204" pitchFamily="34" charset="0"/>
            </a:endParaRPr>
          </a:p>
          <a:p>
            <a:pPr marL="0" lvl="0" indent="0">
              <a:spcBef>
                <a:spcPct val="0"/>
              </a:spcBef>
              <a:buNone/>
            </a:pPr>
            <a:r>
              <a:rPr lang="zh-CN" altLang="en-US" sz="2000" b="1" dirty="0">
                <a:solidFill>
                  <a:srgbClr val="333399"/>
                </a:solidFill>
                <a:latin typeface="Tahoma" panose="020B0604030504040204" pitchFamily="34" charset="0"/>
              </a:rPr>
              <a:t>＝＋</a:t>
            </a:r>
            <a:r>
              <a:rPr lang="zh-CN" altLang="zh-CN" sz="2000" b="1" dirty="0">
                <a:solidFill>
                  <a:srgbClr val="333399"/>
                </a:solidFill>
                <a:latin typeface="Tahoma" panose="020B0604030504040204" pitchFamily="34" charset="0"/>
              </a:rPr>
              <a:t>1011.011</a:t>
            </a:r>
            <a:r>
              <a:rPr lang="zh-CN" altLang="en-US" sz="2000" b="1" dirty="0">
                <a:solidFill>
                  <a:srgbClr val="333399"/>
                </a:solidFill>
                <a:latin typeface="Tahoma" panose="020B0604030504040204" pitchFamily="34" charset="0"/>
              </a:rPr>
              <a:t>＝</a:t>
            </a:r>
            <a:r>
              <a:rPr lang="zh-CN" altLang="zh-CN" sz="2000" b="1" dirty="0">
                <a:solidFill>
                  <a:srgbClr val="333399"/>
                </a:solidFill>
                <a:latin typeface="Tahoma" panose="020B0604030504040204" pitchFamily="34" charset="0"/>
              </a:rPr>
              <a:t>(11.375)</a:t>
            </a:r>
            <a:r>
              <a:rPr lang="zh-CN" altLang="zh-CN" sz="2000" b="1" baseline="-30000" dirty="0">
                <a:solidFill>
                  <a:srgbClr val="333399"/>
                </a:solidFill>
                <a:latin typeface="Tahoma" panose="020B0604030504040204" pitchFamily="34" charset="0"/>
              </a:rPr>
              <a:t>10</a:t>
            </a:r>
            <a:endParaRPr lang="zh-CN" altLang="zh-CN" sz="2000" b="1" baseline="-30000" dirty="0">
              <a:solidFill>
                <a:srgbClr val="333399"/>
              </a:solidFill>
              <a:latin typeface="Tahoma" panose="020B0604030504040204" pitchFamily="34" charset="0"/>
            </a:endParaRPr>
          </a:p>
        </p:txBody>
      </p:sp>
      <p:sp>
        <p:nvSpPr>
          <p:cNvPr id="44036" name="Text Box 4"/>
          <p:cNvSpPr txBox="1"/>
          <p:nvPr/>
        </p:nvSpPr>
        <p:spPr>
          <a:xfrm>
            <a:off x="685800" y="1828800"/>
            <a:ext cx="7315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44037" name="Rectangle 5"/>
          <p:cNvSpPr/>
          <p:nvPr/>
        </p:nvSpPr>
        <p:spPr>
          <a:xfrm>
            <a:off x="323850" y="1844675"/>
            <a:ext cx="842963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zh-CN" sz="2000" b="1" dirty="0">
                <a:solidFill>
                  <a:srgbClr val="FF9966"/>
                </a:solidFill>
                <a:latin typeface="Tahoma" panose="020B0604030504040204" pitchFamily="34" charset="0"/>
              </a:rPr>
              <a:t>[</a:t>
            </a:r>
            <a:r>
              <a:rPr lang="zh-CN" altLang="en-US" sz="2000" b="1" dirty="0">
                <a:solidFill>
                  <a:srgbClr val="FF9966"/>
                </a:solidFill>
                <a:latin typeface="Tahoma" panose="020B0604030504040204" pitchFamily="34" charset="0"/>
              </a:rPr>
              <a:t>解</a:t>
            </a:r>
            <a:r>
              <a:rPr lang="zh-CN" altLang="zh-CN" sz="2000" b="1" dirty="0">
                <a:solidFill>
                  <a:srgbClr val="FF9966"/>
                </a:solidFill>
                <a:latin typeface="Tahoma" panose="020B0604030504040204" pitchFamily="34" charset="0"/>
              </a:rPr>
              <a:t>:]</a:t>
            </a:r>
            <a:r>
              <a:rPr lang="zh-CN" altLang="zh-CN" sz="2000" dirty="0">
                <a:solidFill>
                  <a:schemeClr val="tx1"/>
                </a:solidFill>
                <a:latin typeface="Tahoma" panose="020B0604030504040204" pitchFamily="34" charset="0"/>
              </a:rPr>
              <a:t> </a:t>
            </a:r>
            <a:endParaRPr lang="zh-CN" altLang="zh-CN" sz="20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44038" name="Rectangle 6"/>
          <p:cNvSpPr/>
          <p:nvPr/>
        </p:nvSpPr>
        <p:spPr>
          <a:xfrm>
            <a:off x="1187450" y="1989138"/>
            <a:ext cx="8305800" cy="1128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zh-CN" sz="2000" b="1" dirty="0">
                <a:solidFill>
                  <a:srgbClr val="333399"/>
                </a:solidFill>
                <a:latin typeface="Tahoma" panose="020B0604030504040204" pitchFamily="34" charset="0"/>
                <a:sym typeface="Arial" panose="020B0604020202020204" pitchFamily="34" charset="0"/>
              </a:rPr>
              <a:t>①</a:t>
            </a:r>
            <a:r>
              <a:rPr lang="zh-CN" altLang="en-US" sz="2000" b="1" dirty="0">
                <a:solidFill>
                  <a:srgbClr val="333399"/>
                </a:solidFill>
                <a:latin typeface="Tahoma" panose="020B0604030504040204" pitchFamily="34" charset="0"/>
              </a:rPr>
              <a:t>将十六进制数展开后，可得二进制数格式为</a:t>
            </a:r>
            <a:endParaRPr lang="zh-CN" altLang="en-US" sz="2000" b="1" dirty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dirty="0">
                <a:solidFill>
                  <a:srgbClr val="4060A0"/>
                </a:solidFill>
              </a:rPr>
              <a:t> 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endParaRPr lang="zh-CN" altLang="zh-CN" sz="2400" dirty="0">
              <a:solidFill>
                <a:schemeClr val="tx1"/>
              </a:solidFill>
            </a:endParaRPr>
          </a:p>
        </p:txBody>
      </p:sp>
      <p:sp>
        <p:nvSpPr>
          <p:cNvPr id="44039" name="Text Box 7"/>
          <p:cNvSpPr txBox="1"/>
          <p:nvPr/>
        </p:nvSpPr>
        <p:spPr>
          <a:xfrm>
            <a:off x="468313" y="3357563"/>
            <a:ext cx="8197850" cy="11572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000" b="1" dirty="0">
                <a:solidFill>
                  <a:srgbClr val="333399"/>
                </a:solidFill>
                <a:latin typeface="Tahoma" panose="020B0604030504040204" pitchFamily="34" charset="0"/>
                <a:sym typeface="Arial" panose="020B0604020202020204" pitchFamily="34" charset="0"/>
              </a:rPr>
              <a:t>②</a:t>
            </a:r>
            <a:r>
              <a:rPr lang="zh-CN" altLang="en-US" sz="2000" b="1" dirty="0">
                <a:solidFill>
                  <a:srgbClr val="333399"/>
                </a:solidFill>
                <a:latin typeface="Tahoma" panose="020B0604030504040204" pitchFamily="34" charset="0"/>
              </a:rPr>
              <a:t>指数</a:t>
            </a:r>
            <a:r>
              <a:rPr lang="zh-CN" altLang="zh-CN" sz="2000" b="1" dirty="0">
                <a:solidFill>
                  <a:srgbClr val="333399"/>
                </a:solidFill>
                <a:latin typeface="Tahoma" panose="020B0604030504040204" pitchFamily="34" charset="0"/>
              </a:rPr>
              <a:t>e</a:t>
            </a:r>
            <a:r>
              <a:rPr lang="zh-CN" altLang="en-US" sz="2000" b="1" dirty="0">
                <a:solidFill>
                  <a:srgbClr val="333399"/>
                </a:solidFill>
                <a:latin typeface="Tahoma" panose="020B0604030504040204" pitchFamily="34" charset="0"/>
              </a:rPr>
              <a:t>＝阶码－</a:t>
            </a:r>
            <a:r>
              <a:rPr lang="zh-CN" altLang="zh-CN" sz="2000" b="1" dirty="0">
                <a:solidFill>
                  <a:srgbClr val="333399"/>
                </a:solidFill>
                <a:latin typeface="Tahoma" panose="020B0604030504040204" pitchFamily="34" charset="0"/>
              </a:rPr>
              <a:t>127</a:t>
            </a:r>
            <a:r>
              <a:rPr lang="zh-CN" altLang="en-US" sz="2000" b="1" dirty="0">
                <a:solidFill>
                  <a:srgbClr val="333399"/>
                </a:solidFill>
                <a:latin typeface="Tahoma" panose="020B0604030504040204" pitchFamily="34" charset="0"/>
              </a:rPr>
              <a:t>＝</a:t>
            </a:r>
            <a:r>
              <a:rPr lang="zh-CN" altLang="zh-CN" sz="2000" b="1" dirty="0">
                <a:solidFill>
                  <a:srgbClr val="333399"/>
                </a:solidFill>
                <a:latin typeface="Tahoma" panose="020B0604030504040204" pitchFamily="34" charset="0"/>
              </a:rPr>
              <a:t>10000010</a:t>
            </a:r>
            <a:r>
              <a:rPr lang="zh-CN" altLang="en-US" sz="2000" b="1" dirty="0">
                <a:solidFill>
                  <a:srgbClr val="333399"/>
                </a:solidFill>
                <a:latin typeface="Tahoma" panose="020B0604030504040204" pitchFamily="34" charset="0"/>
              </a:rPr>
              <a:t>－</a:t>
            </a:r>
            <a:r>
              <a:rPr lang="zh-CN" altLang="zh-CN" sz="2000" b="1" dirty="0">
                <a:solidFill>
                  <a:srgbClr val="333399"/>
                </a:solidFill>
                <a:latin typeface="Tahoma" panose="020B0604030504040204" pitchFamily="34" charset="0"/>
              </a:rPr>
              <a:t>01111111</a:t>
            </a:r>
            <a:r>
              <a:rPr lang="zh-CN" altLang="en-US" sz="2000" b="1" dirty="0">
                <a:solidFill>
                  <a:srgbClr val="333399"/>
                </a:solidFill>
                <a:latin typeface="Tahoma" panose="020B0604030504040204" pitchFamily="34" charset="0"/>
              </a:rPr>
              <a:t>＝</a:t>
            </a:r>
            <a:r>
              <a:rPr lang="zh-CN" altLang="zh-CN" sz="2000" b="1" dirty="0">
                <a:solidFill>
                  <a:srgbClr val="333399"/>
                </a:solidFill>
                <a:latin typeface="Tahoma" panose="020B0604030504040204" pitchFamily="34" charset="0"/>
              </a:rPr>
              <a:t>00000011=(3)</a:t>
            </a:r>
            <a:r>
              <a:rPr lang="zh-CN" altLang="zh-CN" sz="2000" b="1" baseline="-30000" dirty="0">
                <a:solidFill>
                  <a:srgbClr val="333399"/>
                </a:solidFill>
                <a:latin typeface="Tahoma" panose="020B0604030504040204" pitchFamily="34" charset="0"/>
              </a:rPr>
              <a:t>10</a:t>
            </a:r>
            <a:br>
              <a:rPr lang="zh-CN" altLang="zh-CN" sz="2000" b="1" dirty="0">
                <a:solidFill>
                  <a:schemeClr val="tx1"/>
                </a:solidFill>
                <a:latin typeface="Tahoma" panose="020B0604030504040204" pitchFamily="34" charset="0"/>
              </a:rPr>
            </a:br>
            <a:endParaRPr lang="zh-CN" altLang="zh-CN" sz="2000" b="1" dirty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endParaRPr lang="zh-CN" altLang="zh-CN" sz="20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44040" name="Rectangle 8"/>
          <p:cNvSpPr/>
          <p:nvPr/>
        </p:nvSpPr>
        <p:spPr>
          <a:xfrm>
            <a:off x="3495675" y="3352800"/>
            <a:ext cx="564832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zh-CN" sz="20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44041" name="Rectangle 9"/>
          <p:cNvSpPr/>
          <p:nvPr/>
        </p:nvSpPr>
        <p:spPr>
          <a:xfrm>
            <a:off x="468313" y="4005263"/>
            <a:ext cx="7742237" cy="1066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zh-CN" altLang="en-US" sz="2000" b="1" dirty="0">
                <a:solidFill>
                  <a:srgbClr val="333399"/>
                </a:solidFill>
                <a:latin typeface="Tahoma" panose="020B0604030504040204" pitchFamily="34" charset="0"/>
                <a:sym typeface="Arial" panose="020B0604020202020204" pitchFamily="34" charset="0"/>
              </a:rPr>
              <a:t>③</a:t>
            </a:r>
            <a:r>
              <a:rPr lang="zh-CN" altLang="en-US" sz="2000" b="1" dirty="0">
                <a:solidFill>
                  <a:srgbClr val="333399"/>
                </a:solidFill>
                <a:latin typeface="Tahoma" panose="020B0604030504040204" pitchFamily="34" charset="0"/>
              </a:rPr>
              <a:t>包括隐藏位1的尾数1.</a:t>
            </a:r>
            <a:r>
              <a:rPr lang="zh-CN" altLang="en-US" sz="2000" b="1" i="1" dirty="0">
                <a:solidFill>
                  <a:srgbClr val="333399"/>
                </a:solidFill>
                <a:latin typeface="Tahoma" panose="020B0604030504040204" pitchFamily="34" charset="0"/>
              </a:rPr>
              <a:t>M</a:t>
            </a:r>
            <a:r>
              <a:rPr lang="zh-CN" altLang="en-US" sz="2000" b="1" dirty="0">
                <a:solidFill>
                  <a:srgbClr val="333399"/>
                </a:solidFill>
                <a:latin typeface="Tahoma" panose="020B0604030504040204" pitchFamily="34" charset="0"/>
              </a:rPr>
              <a:t>＝1.011 0110 0000 0000 0000 0000</a:t>
            </a:r>
            <a:endParaRPr lang="zh-CN" altLang="en-US" sz="2000" b="1" dirty="0">
              <a:solidFill>
                <a:srgbClr val="333399"/>
              </a:solidFill>
              <a:latin typeface="Tahoma" panose="020B0604030504040204" pitchFamily="34" charset="0"/>
            </a:endParaRPr>
          </a:p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None/>
            </a:pPr>
            <a:r>
              <a:rPr lang="zh-CN" altLang="en-US" sz="2000" b="1" dirty="0">
                <a:solidFill>
                  <a:srgbClr val="333399"/>
                </a:solidFill>
                <a:latin typeface="Tahoma" panose="020B0604030504040204" pitchFamily="34" charset="0"/>
              </a:rPr>
              <a:t>         ＝1.011011</a:t>
            </a:r>
            <a:endParaRPr lang="zh-CN" altLang="en-US" sz="2000" b="1" dirty="0">
              <a:solidFill>
                <a:srgbClr val="333399"/>
              </a:solidFill>
              <a:latin typeface="Tahoma" panose="020B060403050404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000" b="1" dirty="0">
              <a:solidFill>
                <a:srgbClr val="333399"/>
              </a:solidFill>
              <a:latin typeface="Tahoma" panose="020B0604030504040204" pitchFamily="34" charset="0"/>
            </a:endParaRPr>
          </a:p>
        </p:txBody>
      </p:sp>
      <p:sp>
        <p:nvSpPr>
          <p:cNvPr id="44042" name="Rectangle 10"/>
          <p:cNvSpPr/>
          <p:nvPr/>
        </p:nvSpPr>
        <p:spPr>
          <a:xfrm>
            <a:off x="4267200" y="3886200"/>
            <a:ext cx="4572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zh-CN" sz="2000" b="1" dirty="0">
              <a:solidFill>
                <a:srgbClr val="333399"/>
              </a:solidFill>
              <a:latin typeface="Tahoma" panose="020B0604030504040204" pitchFamily="34" charset="0"/>
            </a:endParaRPr>
          </a:p>
        </p:txBody>
      </p:sp>
      <p:sp>
        <p:nvSpPr>
          <p:cNvPr id="44043" name="Rectangle 11"/>
          <p:cNvSpPr/>
          <p:nvPr/>
        </p:nvSpPr>
        <p:spPr>
          <a:xfrm>
            <a:off x="3886200" y="4267200"/>
            <a:ext cx="309563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zh-CN" sz="2000" b="1" dirty="0">
              <a:solidFill>
                <a:srgbClr val="333399"/>
              </a:solidFill>
              <a:latin typeface="Tahoma" panose="020B0604030504040204" pitchFamily="34" charset="0"/>
            </a:endParaRPr>
          </a:p>
        </p:txBody>
      </p:sp>
      <p:sp>
        <p:nvSpPr>
          <p:cNvPr id="44044" name="Rectangle 12"/>
          <p:cNvSpPr/>
          <p:nvPr/>
        </p:nvSpPr>
        <p:spPr>
          <a:xfrm>
            <a:off x="1371600" y="5562600"/>
            <a:ext cx="309563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zh-CN" sz="2000" b="1" dirty="0">
                <a:solidFill>
                  <a:srgbClr val="333399"/>
                </a:solidFill>
              </a:rPr>
              <a:t>  </a:t>
            </a:r>
            <a:endParaRPr lang="zh-CN" altLang="zh-CN" sz="20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44045" name="Rectangle 13"/>
          <p:cNvSpPr/>
          <p:nvPr/>
        </p:nvSpPr>
        <p:spPr>
          <a:xfrm>
            <a:off x="4191000" y="5562600"/>
            <a:ext cx="309563" cy="3524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zh-CN" sz="2000" b="1" baseline="-30000" dirty="0">
              <a:solidFill>
                <a:srgbClr val="333399"/>
              </a:solidFill>
              <a:latin typeface="Tahoma" panose="020B0604030504040204" pitchFamily="34" charset="0"/>
            </a:endParaRPr>
          </a:p>
        </p:txBody>
      </p:sp>
      <p:sp>
        <p:nvSpPr>
          <p:cNvPr id="44046" name="Rectangle 14"/>
          <p:cNvSpPr/>
          <p:nvPr/>
        </p:nvSpPr>
        <p:spPr>
          <a:xfrm>
            <a:off x="6019800" y="5562600"/>
            <a:ext cx="309563" cy="3524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zh-CN" sz="2000" b="1" baseline="-30000" dirty="0">
              <a:solidFill>
                <a:srgbClr val="333399"/>
              </a:solidFill>
              <a:latin typeface="Tahoma" panose="020B0604030504040204" pitchFamily="34" charset="0"/>
            </a:endParaRPr>
          </a:p>
        </p:txBody>
      </p:sp>
      <p:grpSp>
        <p:nvGrpSpPr>
          <p:cNvPr id="3" name="Group 15"/>
          <p:cNvGrpSpPr/>
          <p:nvPr/>
        </p:nvGrpSpPr>
        <p:grpSpPr>
          <a:xfrm>
            <a:off x="1692275" y="2590800"/>
            <a:ext cx="5616575" cy="730250"/>
            <a:chOff x="0" y="0"/>
            <a:chExt cx="2736" cy="460"/>
          </a:xfrm>
        </p:grpSpPr>
        <p:pic>
          <p:nvPicPr>
            <p:cNvPr id="44048" name="Picture 16" descr="question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2736" cy="46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4049" name="Rectangle 17"/>
            <p:cNvSpPr/>
            <p:nvPr/>
          </p:nvSpPr>
          <p:spPr>
            <a:xfrm>
              <a:off x="133" y="165"/>
              <a:ext cx="1043" cy="91"/>
            </a:xfrm>
            <a:prstGeom prst="rect">
              <a:avLst/>
            </a:prstGeom>
            <a:solidFill>
              <a:srgbClr val="00FF00"/>
            </a:solidFill>
            <a:ln w="9525" cap="flat" cmpd="sng">
              <a:solidFill>
                <a:srgbClr val="00FF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rgbClr val="6666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rgbClr val="666699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rgbClr val="666699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44050" name="Rectangle 18"/>
            <p:cNvSpPr/>
            <p:nvPr/>
          </p:nvSpPr>
          <p:spPr>
            <a:xfrm>
              <a:off x="1175" y="165"/>
              <a:ext cx="1543" cy="91"/>
            </a:xfrm>
            <a:prstGeom prst="rect">
              <a:avLst/>
            </a:prstGeom>
            <a:solidFill>
              <a:srgbClr val="00FF00"/>
            </a:solidFill>
            <a:ln w="9525" cap="flat" cmpd="sng">
              <a:solidFill>
                <a:srgbClr val="00FF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rgbClr val="6666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rgbClr val="666699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rgbClr val="666699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44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40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40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40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40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40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40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40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40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40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40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44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40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40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40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40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40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40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40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440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3" grpId="0"/>
      <p:bldP spid="44035" grpId="0"/>
      <p:bldP spid="44037" grpId="0"/>
      <p:bldP spid="44038" grpId="0"/>
      <p:bldP spid="44039" grpId="0"/>
      <p:bldP spid="44040" grpId="0"/>
      <p:bldP spid="44041" grpId="0"/>
      <p:bldP spid="44042" grpId="0"/>
      <p:bldP spid="44043" grpId="0"/>
      <p:bldP spid="44044" grpId="0"/>
      <p:bldP spid="44045" grpId="0"/>
      <p:bldP spid="4404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8" name="Rectangle 2"/>
          <p:cNvSpPr/>
          <p:nvPr/>
        </p:nvSpPr>
        <p:spPr>
          <a:xfrm>
            <a:off x="0" y="1295400"/>
            <a:ext cx="9144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tx1"/>
                </a:solidFill>
              </a:rPr>
              <a:t>例2：将十进制数数20.59375转换成位浮点数的二进制格式来存储。</a:t>
            </a:r>
            <a:endParaRPr lang="zh-CN" altLang="en-US" sz="2400" b="1" dirty="0">
              <a:solidFill>
                <a:schemeClr val="tx1"/>
              </a:solidFill>
            </a:endParaRPr>
          </a:p>
        </p:txBody>
      </p:sp>
      <p:sp>
        <p:nvSpPr>
          <p:cNvPr id="45059" name="Rectangle 3"/>
          <p:cNvSpPr/>
          <p:nvPr/>
        </p:nvSpPr>
        <p:spPr>
          <a:xfrm>
            <a:off x="304800" y="1981200"/>
            <a:ext cx="7772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zh-CN" sz="2400" b="1" dirty="0">
                <a:solidFill>
                  <a:srgbClr val="FF9966"/>
                </a:solidFill>
                <a:latin typeface="Tahoma" panose="020B0604030504040204" pitchFamily="34" charset="0"/>
              </a:rPr>
              <a:t>[</a:t>
            </a:r>
            <a:r>
              <a:rPr lang="zh-CN" altLang="en-US" sz="2400" b="1" dirty="0">
                <a:solidFill>
                  <a:srgbClr val="FF9966"/>
                </a:solidFill>
                <a:latin typeface="Tahoma" panose="020B0604030504040204" pitchFamily="34" charset="0"/>
              </a:rPr>
              <a:t>解</a:t>
            </a:r>
            <a:r>
              <a:rPr lang="zh-CN" altLang="zh-CN" sz="2400" b="1" dirty="0">
                <a:solidFill>
                  <a:srgbClr val="FF9966"/>
                </a:solidFill>
                <a:latin typeface="Tahoma" panose="020B0604030504040204" pitchFamily="34" charset="0"/>
              </a:rPr>
              <a:t>:]</a:t>
            </a: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 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45060" name="Rectangle 4"/>
          <p:cNvSpPr/>
          <p:nvPr/>
        </p:nvSpPr>
        <p:spPr>
          <a:xfrm>
            <a:off x="1260475" y="2133600"/>
            <a:ext cx="70866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zh-CN" sz="2400" dirty="0">
                <a:solidFill>
                  <a:srgbClr val="333399"/>
                </a:solidFill>
                <a:latin typeface="宋体" panose="02010600030101010101" pitchFamily="2" charset="-122"/>
              </a:rPr>
              <a:t>①</a:t>
            </a:r>
            <a:r>
              <a:rPr lang="zh-CN" altLang="en-US" sz="2400" dirty="0">
                <a:solidFill>
                  <a:srgbClr val="333399"/>
                </a:solidFill>
              </a:rPr>
              <a:t>首先分别将整数和分数部分转换成二进制数：</a:t>
            </a:r>
            <a:endParaRPr lang="zh-CN" altLang="en-US" sz="2400" dirty="0">
              <a:solidFill>
                <a:srgbClr val="333399"/>
              </a:solidFill>
            </a:endParaRP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zh-CN" sz="2400" dirty="0">
                <a:solidFill>
                  <a:srgbClr val="333399"/>
                </a:solidFill>
              </a:rPr>
              <a:t>20.59375</a:t>
            </a:r>
            <a:r>
              <a:rPr lang="zh-CN" altLang="en-US" sz="2400" dirty="0">
                <a:solidFill>
                  <a:srgbClr val="333399"/>
                </a:solidFill>
              </a:rPr>
              <a:t>＝</a:t>
            </a:r>
            <a:r>
              <a:rPr lang="zh-CN" altLang="zh-CN" sz="2400" dirty="0">
                <a:solidFill>
                  <a:srgbClr val="333399"/>
                </a:solidFill>
              </a:rPr>
              <a:t>10100.10011</a:t>
            </a:r>
            <a:endParaRPr lang="zh-CN" altLang="zh-CN" sz="2400" dirty="0">
              <a:solidFill>
                <a:srgbClr val="333399"/>
              </a:solidFill>
            </a:endParaRPr>
          </a:p>
        </p:txBody>
      </p:sp>
      <p:sp>
        <p:nvSpPr>
          <p:cNvPr id="45061" name="Rectangle 5"/>
          <p:cNvSpPr/>
          <p:nvPr/>
        </p:nvSpPr>
        <p:spPr>
          <a:xfrm>
            <a:off x="828675" y="3141663"/>
            <a:ext cx="79248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zh-CN" sz="2400" dirty="0">
                <a:solidFill>
                  <a:srgbClr val="333399"/>
                </a:solidFill>
                <a:latin typeface="宋体" panose="02010600030101010101" pitchFamily="2" charset="-122"/>
              </a:rPr>
              <a:t>②</a:t>
            </a:r>
            <a:r>
              <a:rPr lang="zh-CN" altLang="en-US" sz="2400" dirty="0">
                <a:solidFill>
                  <a:srgbClr val="333399"/>
                </a:solidFill>
              </a:rPr>
              <a:t>然后移动小数点，使其在第</a:t>
            </a:r>
            <a:r>
              <a:rPr lang="zh-CN" altLang="zh-CN" sz="2400" dirty="0">
                <a:solidFill>
                  <a:srgbClr val="333399"/>
                </a:solidFill>
              </a:rPr>
              <a:t>1</a:t>
            </a:r>
            <a:r>
              <a:rPr lang="zh-CN" altLang="en-US" sz="2400" dirty="0">
                <a:solidFill>
                  <a:srgbClr val="333399"/>
                </a:solidFill>
              </a:rPr>
              <a:t>，</a:t>
            </a:r>
            <a:r>
              <a:rPr lang="zh-CN" altLang="zh-CN" sz="2400" dirty="0">
                <a:solidFill>
                  <a:srgbClr val="333399"/>
                </a:solidFill>
              </a:rPr>
              <a:t>2</a:t>
            </a:r>
            <a:r>
              <a:rPr lang="zh-CN" altLang="en-US" sz="2400" dirty="0">
                <a:solidFill>
                  <a:srgbClr val="333399"/>
                </a:solidFill>
              </a:rPr>
              <a:t>位之间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marL="0" lvl="0" indent="0">
              <a:spcBef>
                <a:spcPct val="0"/>
              </a:spcBef>
              <a:buNone/>
            </a:pPr>
            <a:endParaRPr lang="zh-CN" altLang="zh-CN" sz="2400" dirty="0">
              <a:solidFill>
                <a:schemeClr val="tx1"/>
              </a:solidFill>
            </a:endParaRPr>
          </a:p>
        </p:txBody>
      </p:sp>
      <p:sp>
        <p:nvSpPr>
          <p:cNvPr id="45062" name="Rectangle 6"/>
          <p:cNvSpPr/>
          <p:nvPr/>
        </p:nvSpPr>
        <p:spPr>
          <a:xfrm>
            <a:off x="1066800" y="3886200"/>
            <a:ext cx="22098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zh-CN" sz="2400" dirty="0">
                <a:solidFill>
                  <a:srgbClr val="333399"/>
                </a:solidFill>
              </a:rPr>
              <a:t>10100.10011</a:t>
            </a:r>
            <a:r>
              <a:rPr lang="zh-CN" altLang="en-US" sz="2400" dirty="0">
                <a:solidFill>
                  <a:srgbClr val="333399"/>
                </a:solidFill>
              </a:rPr>
              <a:t>＝</a:t>
            </a:r>
            <a:r>
              <a:rPr lang="zh-CN" altLang="en-US" sz="2400" dirty="0">
                <a:solidFill>
                  <a:schemeClr val="tx1"/>
                </a:solidFill>
              </a:rPr>
              <a:t> 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marL="0" lvl="0" indent="0">
              <a:spcBef>
                <a:spcPct val="0"/>
              </a:spcBef>
              <a:buNone/>
            </a:pPr>
            <a:endParaRPr lang="zh-CN" altLang="zh-CN" sz="2400" dirty="0">
              <a:solidFill>
                <a:schemeClr val="tx1"/>
              </a:solidFill>
            </a:endParaRPr>
          </a:p>
        </p:txBody>
      </p:sp>
      <p:sp>
        <p:nvSpPr>
          <p:cNvPr id="45063" name="Rectangle 7"/>
          <p:cNvSpPr/>
          <p:nvPr/>
        </p:nvSpPr>
        <p:spPr>
          <a:xfrm>
            <a:off x="2971800" y="3886200"/>
            <a:ext cx="19812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zh-CN" sz="2400" dirty="0">
                <a:solidFill>
                  <a:srgbClr val="333399"/>
                </a:solidFill>
              </a:rPr>
              <a:t>1.010010011</a:t>
            </a:r>
            <a:r>
              <a:rPr lang="zh-CN" altLang="zh-CN" sz="2400" dirty="0">
                <a:solidFill>
                  <a:schemeClr val="tx1"/>
                </a:solidFill>
              </a:rPr>
              <a:t> </a:t>
            </a:r>
            <a:endParaRPr lang="zh-CN" altLang="zh-CN" sz="2400" dirty="0">
              <a:solidFill>
                <a:schemeClr val="tx1"/>
              </a:solidFill>
            </a:endParaRPr>
          </a:p>
          <a:p>
            <a:pPr marL="0" lvl="0" indent="0">
              <a:spcBef>
                <a:spcPct val="0"/>
              </a:spcBef>
              <a:buNone/>
            </a:pPr>
            <a:endParaRPr lang="zh-CN" altLang="zh-CN" sz="2400" dirty="0">
              <a:solidFill>
                <a:schemeClr val="tx1"/>
              </a:solidFill>
            </a:endParaRPr>
          </a:p>
        </p:txBody>
      </p:sp>
      <p:sp>
        <p:nvSpPr>
          <p:cNvPr id="45064" name="Rectangle 8"/>
          <p:cNvSpPr/>
          <p:nvPr/>
        </p:nvSpPr>
        <p:spPr>
          <a:xfrm>
            <a:off x="4572000" y="3886200"/>
            <a:ext cx="6096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zh-CN" sz="2400" dirty="0">
                <a:solidFill>
                  <a:srgbClr val="333399"/>
                </a:solidFill>
              </a:rPr>
              <a:t>×</a:t>
            </a:r>
            <a:r>
              <a:rPr lang="zh-CN" altLang="zh-CN" sz="2400" dirty="0">
                <a:solidFill>
                  <a:schemeClr val="tx1"/>
                </a:solidFill>
              </a:rPr>
              <a:t> </a:t>
            </a:r>
            <a:endParaRPr lang="zh-CN" altLang="zh-CN" sz="2400" dirty="0">
              <a:solidFill>
                <a:schemeClr val="tx1"/>
              </a:solidFill>
            </a:endParaRPr>
          </a:p>
          <a:p>
            <a:pPr marL="0" lvl="0" indent="0">
              <a:spcBef>
                <a:spcPct val="0"/>
              </a:spcBef>
              <a:buNone/>
            </a:pPr>
            <a:endParaRPr lang="zh-CN" altLang="zh-CN" sz="2400" dirty="0">
              <a:solidFill>
                <a:schemeClr val="tx1"/>
              </a:solidFill>
            </a:endParaRPr>
          </a:p>
        </p:txBody>
      </p:sp>
      <p:sp>
        <p:nvSpPr>
          <p:cNvPr id="45065" name="Rectangle 9"/>
          <p:cNvSpPr/>
          <p:nvPr/>
        </p:nvSpPr>
        <p:spPr>
          <a:xfrm>
            <a:off x="4876800" y="3886200"/>
            <a:ext cx="4572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zh-CN" sz="2400" dirty="0">
                <a:solidFill>
                  <a:srgbClr val="333399"/>
                </a:solidFill>
              </a:rPr>
              <a:t>2</a:t>
            </a:r>
            <a:r>
              <a:rPr lang="zh-CN" altLang="zh-CN" sz="2400" dirty="0">
                <a:solidFill>
                  <a:schemeClr val="tx1"/>
                </a:solidFill>
              </a:rPr>
              <a:t> </a:t>
            </a:r>
            <a:endParaRPr lang="zh-CN" altLang="zh-CN" sz="2400" dirty="0">
              <a:solidFill>
                <a:schemeClr val="tx1"/>
              </a:solidFill>
            </a:endParaRPr>
          </a:p>
          <a:p>
            <a:pPr marL="0" lvl="0" indent="0">
              <a:spcBef>
                <a:spcPct val="0"/>
              </a:spcBef>
              <a:buNone/>
            </a:pPr>
            <a:endParaRPr lang="zh-CN" altLang="zh-CN" sz="2400" dirty="0">
              <a:solidFill>
                <a:schemeClr val="tx1"/>
              </a:solidFill>
            </a:endParaRPr>
          </a:p>
        </p:txBody>
      </p:sp>
      <p:sp>
        <p:nvSpPr>
          <p:cNvPr id="45066" name="Rectangle 10"/>
          <p:cNvSpPr/>
          <p:nvPr/>
        </p:nvSpPr>
        <p:spPr>
          <a:xfrm>
            <a:off x="5105400" y="3886200"/>
            <a:ext cx="3810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zh-CN" sz="2400" baseline="30000" dirty="0">
                <a:solidFill>
                  <a:srgbClr val="333399"/>
                </a:solidFill>
              </a:rPr>
              <a:t>4</a:t>
            </a:r>
            <a:r>
              <a:rPr lang="zh-CN" altLang="zh-CN" sz="2400" dirty="0">
                <a:solidFill>
                  <a:schemeClr val="tx1"/>
                </a:solidFill>
              </a:rPr>
              <a:t> </a:t>
            </a:r>
            <a:endParaRPr lang="zh-CN" altLang="zh-CN" sz="2400" dirty="0">
              <a:solidFill>
                <a:schemeClr val="tx1"/>
              </a:solidFill>
            </a:endParaRPr>
          </a:p>
          <a:p>
            <a:pPr marL="0" lvl="0" indent="0">
              <a:spcBef>
                <a:spcPct val="0"/>
              </a:spcBef>
              <a:buNone/>
            </a:pPr>
            <a:endParaRPr lang="zh-CN" altLang="zh-CN" sz="2400" dirty="0">
              <a:solidFill>
                <a:schemeClr val="tx1"/>
              </a:solidFill>
            </a:endParaRPr>
          </a:p>
        </p:txBody>
      </p:sp>
      <p:sp>
        <p:nvSpPr>
          <p:cNvPr id="45067" name="Rectangle 11"/>
          <p:cNvSpPr/>
          <p:nvPr/>
        </p:nvSpPr>
        <p:spPr>
          <a:xfrm>
            <a:off x="6172200" y="3810000"/>
            <a:ext cx="12954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zh-CN" sz="2400" i="1" dirty="0">
                <a:solidFill>
                  <a:srgbClr val="333399"/>
                </a:solidFill>
              </a:rPr>
              <a:t>e</a:t>
            </a:r>
            <a:r>
              <a:rPr lang="zh-CN" altLang="en-US" sz="2400" dirty="0">
                <a:solidFill>
                  <a:srgbClr val="333399"/>
                </a:solidFill>
              </a:rPr>
              <a:t>＝</a:t>
            </a:r>
            <a:r>
              <a:rPr lang="zh-CN" altLang="zh-CN" sz="2400" dirty="0">
                <a:solidFill>
                  <a:srgbClr val="333399"/>
                </a:solidFill>
              </a:rPr>
              <a:t>4</a:t>
            </a:r>
            <a:endParaRPr lang="zh-CN" altLang="zh-CN" sz="2400" dirty="0">
              <a:solidFill>
                <a:schemeClr val="tx1"/>
              </a:solidFill>
            </a:endParaRPr>
          </a:p>
          <a:p>
            <a:pPr marL="0" lvl="0" indent="0">
              <a:spcBef>
                <a:spcPct val="0"/>
              </a:spcBef>
              <a:buNone/>
            </a:pPr>
            <a:endParaRPr lang="zh-CN" altLang="zh-CN" sz="2400" dirty="0">
              <a:solidFill>
                <a:schemeClr val="tx1"/>
              </a:solidFill>
            </a:endParaRPr>
          </a:p>
        </p:txBody>
      </p:sp>
      <p:sp>
        <p:nvSpPr>
          <p:cNvPr id="45068" name="Rectangle 12"/>
          <p:cNvSpPr/>
          <p:nvPr/>
        </p:nvSpPr>
        <p:spPr>
          <a:xfrm>
            <a:off x="685800" y="4343400"/>
            <a:ext cx="13716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zh-CN" sz="2400" i="1" dirty="0">
                <a:solidFill>
                  <a:srgbClr val="333399"/>
                </a:solidFill>
              </a:rPr>
              <a:t>S</a:t>
            </a:r>
            <a:r>
              <a:rPr lang="zh-CN" altLang="en-US" sz="2400" dirty="0">
                <a:solidFill>
                  <a:srgbClr val="333399"/>
                </a:solidFill>
              </a:rPr>
              <a:t>＝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marL="0" lvl="0" indent="0">
              <a:spcBef>
                <a:spcPct val="0"/>
              </a:spcBef>
              <a:buNone/>
            </a:pPr>
            <a:endParaRPr lang="zh-CN" altLang="zh-CN" sz="2400" dirty="0">
              <a:solidFill>
                <a:schemeClr val="tx1"/>
              </a:solidFill>
            </a:endParaRPr>
          </a:p>
        </p:txBody>
      </p:sp>
      <p:sp>
        <p:nvSpPr>
          <p:cNvPr id="45069" name="Rectangle 13"/>
          <p:cNvSpPr/>
          <p:nvPr/>
        </p:nvSpPr>
        <p:spPr>
          <a:xfrm>
            <a:off x="1447800" y="4343400"/>
            <a:ext cx="4572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zh-CN" sz="2400" dirty="0">
                <a:solidFill>
                  <a:srgbClr val="333399"/>
                </a:solidFill>
              </a:rPr>
              <a:t>0</a:t>
            </a:r>
            <a:r>
              <a:rPr lang="zh-CN" altLang="zh-CN" sz="2400" dirty="0">
                <a:solidFill>
                  <a:schemeClr val="tx1"/>
                </a:solidFill>
              </a:rPr>
              <a:t> </a:t>
            </a:r>
            <a:endParaRPr lang="zh-CN" altLang="zh-CN" sz="2400" dirty="0">
              <a:solidFill>
                <a:schemeClr val="tx1"/>
              </a:solidFill>
            </a:endParaRPr>
          </a:p>
          <a:p>
            <a:pPr marL="0" lvl="0" indent="0">
              <a:spcBef>
                <a:spcPct val="0"/>
              </a:spcBef>
              <a:buNone/>
            </a:pPr>
            <a:endParaRPr lang="zh-CN" altLang="zh-CN" sz="2400" dirty="0">
              <a:solidFill>
                <a:schemeClr val="tx1"/>
              </a:solidFill>
            </a:endParaRPr>
          </a:p>
        </p:txBody>
      </p:sp>
      <p:sp>
        <p:nvSpPr>
          <p:cNvPr id="45070" name="Rectangle 14"/>
          <p:cNvSpPr/>
          <p:nvPr/>
        </p:nvSpPr>
        <p:spPr>
          <a:xfrm>
            <a:off x="2209800" y="4343400"/>
            <a:ext cx="6858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zh-CN" sz="2400" i="1" dirty="0">
                <a:solidFill>
                  <a:srgbClr val="333399"/>
                </a:solidFill>
              </a:rPr>
              <a:t>E</a:t>
            </a:r>
            <a:r>
              <a:rPr lang="zh-CN" altLang="en-US" sz="2400" dirty="0">
                <a:solidFill>
                  <a:srgbClr val="333399"/>
                </a:solidFill>
              </a:rPr>
              <a:t>＝</a:t>
            </a:r>
            <a:r>
              <a:rPr lang="zh-CN" altLang="en-US" sz="2400" dirty="0">
                <a:solidFill>
                  <a:schemeClr val="tx1"/>
                </a:solidFill>
              </a:rPr>
              <a:t> 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marL="0" lvl="0" indent="0">
              <a:spcBef>
                <a:spcPct val="0"/>
              </a:spcBef>
              <a:buNone/>
            </a:pPr>
            <a:endParaRPr lang="zh-CN" altLang="zh-CN" sz="2400" dirty="0">
              <a:solidFill>
                <a:schemeClr val="tx1"/>
              </a:solidFill>
            </a:endParaRPr>
          </a:p>
        </p:txBody>
      </p:sp>
      <p:sp>
        <p:nvSpPr>
          <p:cNvPr id="45071" name="Text Box 15"/>
          <p:cNvSpPr txBox="1"/>
          <p:nvPr/>
        </p:nvSpPr>
        <p:spPr>
          <a:xfrm>
            <a:off x="2743200" y="43434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4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45072" name="Text Box 16"/>
          <p:cNvSpPr txBox="1"/>
          <p:nvPr/>
        </p:nvSpPr>
        <p:spPr>
          <a:xfrm>
            <a:off x="3048000" y="43434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+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45073" name="Text Box 17"/>
          <p:cNvSpPr txBox="1"/>
          <p:nvPr/>
        </p:nvSpPr>
        <p:spPr>
          <a:xfrm>
            <a:off x="3352800" y="4343400"/>
            <a:ext cx="914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127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45074" name="Text Box 18"/>
          <p:cNvSpPr txBox="1"/>
          <p:nvPr/>
        </p:nvSpPr>
        <p:spPr>
          <a:xfrm>
            <a:off x="3962400" y="43434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=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45075" name="Text Box 19"/>
          <p:cNvSpPr txBox="1"/>
          <p:nvPr/>
        </p:nvSpPr>
        <p:spPr>
          <a:xfrm>
            <a:off x="4343400" y="4343400"/>
            <a:ext cx="990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131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45076" name="Text Box 20"/>
          <p:cNvSpPr txBox="1"/>
          <p:nvPr/>
        </p:nvSpPr>
        <p:spPr>
          <a:xfrm>
            <a:off x="5334000" y="4343400"/>
            <a:ext cx="685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M=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45077" name="Text Box 21"/>
          <p:cNvSpPr txBox="1"/>
          <p:nvPr/>
        </p:nvSpPr>
        <p:spPr>
          <a:xfrm>
            <a:off x="5943600" y="4343400"/>
            <a:ext cx="2590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010010011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45078" name="Rectangle 22"/>
          <p:cNvSpPr/>
          <p:nvPr/>
        </p:nvSpPr>
        <p:spPr>
          <a:xfrm>
            <a:off x="457200" y="4724400"/>
            <a:ext cx="8229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zh-CN" sz="2400" dirty="0">
                <a:solidFill>
                  <a:srgbClr val="333399"/>
                </a:solidFill>
                <a:latin typeface="宋体" panose="02010600030101010101" pitchFamily="2" charset="-122"/>
              </a:rPr>
              <a:t>③</a:t>
            </a:r>
            <a:r>
              <a:rPr lang="zh-CN" altLang="en-US" sz="2400" dirty="0">
                <a:solidFill>
                  <a:srgbClr val="333399"/>
                </a:solidFill>
              </a:rPr>
              <a:t>最后得到</a:t>
            </a:r>
            <a:r>
              <a:rPr lang="zh-CN" altLang="zh-CN" sz="2400" dirty="0">
                <a:solidFill>
                  <a:srgbClr val="333399"/>
                </a:solidFill>
              </a:rPr>
              <a:t>32</a:t>
            </a:r>
            <a:r>
              <a:rPr lang="zh-CN" altLang="en-US" sz="2400" dirty="0">
                <a:solidFill>
                  <a:srgbClr val="333399"/>
                </a:solidFill>
              </a:rPr>
              <a:t>位浮点数的二进制存储格式为：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45079" name="Rectangle 23"/>
          <p:cNvSpPr/>
          <p:nvPr/>
        </p:nvSpPr>
        <p:spPr>
          <a:xfrm>
            <a:off x="685800" y="5257800"/>
            <a:ext cx="64770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zh-CN" sz="2400" dirty="0">
                <a:solidFill>
                  <a:srgbClr val="333399"/>
                </a:solidFill>
              </a:rPr>
              <a:t>0100 0001 1010 0100 1100 0000 0000 0000</a:t>
            </a:r>
            <a:endParaRPr lang="zh-CN" altLang="zh-CN" sz="2400" dirty="0">
              <a:solidFill>
                <a:schemeClr val="tx1"/>
              </a:solidFill>
            </a:endParaRPr>
          </a:p>
          <a:p>
            <a:pPr marL="0" lvl="0" indent="0">
              <a:spcBef>
                <a:spcPct val="0"/>
              </a:spcBef>
              <a:buNone/>
            </a:pPr>
            <a:endParaRPr lang="zh-CN" altLang="zh-CN" sz="2400" dirty="0">
              <a:solidFill>
                <a:schemeClr val="tx1"/>
              </a:solidFill>
            </a:endParaRPr>
          </a:p>
        </p:txBody>
      </p:sp>
      <p:sp>
        <p:nvSpPr>
          <p:cNvPr id="45080" name="Rectangle 24"/>
          <p:cNvSpPr/>
          <p:nvPr/>
        </p:nvSpPr>
        <p:spPr>
          <a:xfrm>
            <a:off x="990600" y="5715000"/>
            <a:ext cx="22860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dirty="0">
                <a:solidFill>
                  <a:srgbClr val="333399"/>
                </a:solidFill>
              </a:rPr>
              <a:t>＝</a:t>
            </a:r>
            <a:r>
              <a:rPr lang="zh-CN" altLang="zh-CN" sz="2400" dirty="0">
                <a:solidFill>
                  <a:srgbClr val="333399"/>
                </a:solidFill>
              </a:rPr>
              <a:t>(41A4C000)</a:t>
            </a:r>
            <a:r>
              <a:rPr lang="zh-CN" altLang="zh-CN" sz="2400" baseline="-30000" dirty="0">
                <a:solidFill>
                  <a:srgbClr val="333399"/>
                </a:solidFill>
              </a:rPr>
              <a:t>16</a:t>
            </a:r>
            <a:r>
              <a:rPr lang="zh-CN" altLang="zh-CN" sz="2400" dirty="0">
                <a:solidFill>
                  <a:schemeClr val="tx1"/>
                </a:solidFill>
              </a:rPr>
              <a:t> </a:t>
            </a:r>
            <a:endParaRPr lang="zh-CN" altLang="zh-CN" sz="2400" dirty="0">
              <a:solidFill>
                <a:schemeClr val="tx1"/>
              </a:solidFill>
            </a:endParaRPr>
          </a:p>
          <a:p>
            <a:pPr marL="0" lvl="0" indent="0">
              <a:spcBef>
                <a:spcPct val="0"/>
              </a:spcBef>
              <a:buNone/>
            </a:pPr>
            <a:endParaRPr lang="zh-CN" altLang="zh-CN" sz="2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5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5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5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5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5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5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5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45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45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45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45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45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45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45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45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45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45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45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45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45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45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0" grpId="0"/>
      <p:bldP spid="45061" grpId="0"/>
      <p:bldP spid="45062" grpId="0"/>
      <p:bldP spid="45063" grpId="0"/>
      <p:bldP spid="45064" grpId="0"/>
      <p:bldP spid="45065" grpId="0"/>
      <p:bldP spid="45066" grpId="0"/>
      <p:bldP spid="45067" grpId="0"/>
      <p:bldP spid="45068" grpId="0"/>
      <p:bldP spid="45069" grpId="0"/>
      <p:bldP spid="45070" grpId="0"/>
      <p:bldP spid="45071" grpId="0"/>
      <p:bldP spid="45072" grpId="0"/>
      <p:bldP spid="45073" grpId="0"/>
      <p:bldP spid="45074" grpId="0"/>
      <p:bldP spid="45075" grpId="0"/>
      <p:bldP spid="45076" grpId="0"/>
      <p:bldP spid="45077" grpId="0"/>
      <p:bldP spid="45078" grpId="0"/>
      <p:bldP spid="45079" grpId="0"/>
      <p:bldP spid="45080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Rectangle 2"/>
          <p:cNvSpPr>
            <a:spLocks noGrp="1"/>
          </p:cNvSpPr>
          <p:nvPr>
            <p:ph idx="1"/>
          </p:nvPr>
        </p:nvSpPr>
        <p:spPr>
          <a:xfrm>
            <a:off x="469900" y="1125538"/>
            <a:ext cx="8350250" cy="49530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zh-CN" altLang="en-US" sz="3600" dirty="0">
                <a:solidFill>
                  <a:schemeClr val="tx1"/>
                </a:solidFill>
                <a:ea typeface="华文新魏" panose="02010800040101010101" pitchFamily="2" charset="-122"/>
              </a:rPr>
              <a:t>练习：</a:t>
            </a:r>
            <a:endParaRPr lang="zh-CN" altLang="en-US" sz="3600" dirty="0">
              <a:solidFill>
                <a:schemeClr val="tx1"/>
              </a:solidFill>
              <a:ea typeface="华文新魏" panose="02010800040101010101" pitchFamily="2" charset="-122"/>
            </a:endParaRPr>
          </a:p>
          <a:p>
            <a:pPr eaLnBrk="1" hangingPunct="1"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   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   1、将20.1875转换成，32位浮点数存储？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   2、若浮点数的二进制存储格式为（41A18000）</a:t>
            </a:r>
            <a:r>
              <a:rPr lang="zh-CN" altLang="en-US" sz="2000" b="1" baseline="-30000" dirty="0">
                <a:solidFill>
                  <a:schemeClr val="tx1"/>
                </a:solidFill>
              </a:rPr>
              <a:t>16</a:t>
            </a:r>
            <a:r>
              <a:rPr lang="zh-CN" altLang="en-US" sz="2800" dirty="0">
                <a:solidFill>
                  <a:schemeClr val="tx1"/>
                </a:solidFill>
              </a:rPr>
              <a:t>，求其十进制值？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   3、将十进制数数17.296875转换成位浮点数的二进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制格式来存储？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Rectangle 2"/>
          <p:cNvSpPr>
            <a:spLocks noGrp="1"/>
          </p:cNvSpPr>
          <p:nvPr>
            <p:ph type="title"/>
          </p:nvPr>
        </p:nvSpPr>
        <p:spPr>
          <a:xfrm>
            <a:off x="395288" y="909638"/>
            <a:ext cx="7620000" cy="6858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2.1.4  数的机器码表示</a:t>
            </a:r>
            <a:endParaRPr lang="zh-CN" altLang="en-US" dirty="0"/>
          </a:p>
        </p:txBody>
      </p:sp>
      <p:sp>
        <p:nvSpPr>
          <p:cNvPr id="47107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b="1" dirty="0">
                <a:solidFill>
                  <a:srgbClr val="0000FF"/>
                </a:solidFill>
              </a:rPr>
              <a:t>真值：正负号加绝对值表示的数值（即带符号的数）。</a:t>
            </a:r>
            <a:endParaRPr lang="zh-CN" altLang="en-US" b="1" dirty="0">
              <a:solidFill>
                <a:srgbClr val="0000FF"/>
              </a:solidFill>
            </a:endParaRPr>
          </a:p>
          <a:p>
            <a:pPr eaLnBrk="1" hangingPunct="1"/>
            <a:r>
              <a:rPr lang="zh-CN" altLang="en-US" b="1" dirty="0">
                <a:solidFill>
                  <a:srgbClr val="0000FF"/>
                </a:solidFill>
              </a:rPr>
              <a:t>机器码：将真值的符号数字化得到代码（即用数字表示符号）。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Text Box 2"/>
          <p:cNvSpPr txBox="1"/>
          <p:nvPr/>
        </p:nvSpPr>
        <p:spPr>
          <a:xfrm>
            <a:off x="179388" y="1125538"/>
            <a:ext cx="701040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机器码的表示方法</a:t>
            </a:r>
            <a:endParaRPr lang="zh-CN" altLang="en-US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8131" name="Rectangle 3"/>
          <p:cNvSpPr/>
          <p:nvPr/>
        </p:nvSpPr>
        <p:spPr>
          <a:xfrm>
            <a:off x="468313" y="2133600"/>
            <a:ext cx="7772400" cy="28956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</a:pPr>
            <a:r>
              <a:rPr lang="zh-CN" altLang="en-US" sz="2800" b="1" dirty="0">
                <a:solidFill>
                  <a:srgbClr val="800000"/>
                </a:solidFill>
                <a:ea typeface="华文行楷" panose="02010800040101010101" pitchFamily="2" charset="-122"/>
              </a:rPr>
              <a:t>原码表示法</a:t>
            </a:r>
            <a:endParaRPr lang="zh-CN" altLang="en-US" sz="2800" b="1" dirty="0">
              <a:solidFill>
                <a:srgbClr val="800000"/>
              </a:solidFill>
              <a:ea typeface="华文行楷" panose="02010800040101010101" pitchFamily="2" charset="-122"/>
            </a:endParaRPr>
          </a:p>
          <a:p>
            <a:pPr marL="342900" lvl="0" indent="-342900" eaLnBrk="1" hangingPunct="1"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</a:pPr>
            <a:r>
              <a:rPr lang="zh-CN" altLang="en-US" sz="2800" b="1" dirty="0">
                <a:solidFill>
                  <a:srgbClr val="800000"/>
                </a:solidFill>
                <a:ea typeface="华文行楷" panose="02010800040101010101" pitchFamily="2" charset="-122"/>
              </a:rPr>
              <a:t>反码表示法</a:t>
            </a:r>
            <a:endParaRPr lang="zh-CN" altLang="en-US" sz="2800" b="1" dirty="0">
              <a:solidFill>
                <a:srgbClr val="800000"/>
              </a:solidFill>
              <a:ea typeface="华文行楷" panose="02010800040101010101" pitchFamily="2" charset="-122"/>
            </a:endParaRPr>
          </a:p>
          <a:p>
            <a:pPr marL="342900" lvl="0" indent="-342900" eaLnBrk="1" hangingPunct="1"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</a:pPr>
            <a:r>
              <a:rPr lang="zh-CN" altLang="en-US" sz="2800" b="1" dirty="0">
                <a:solidFill>
                  <a:srgbClr val="800000"/>
                </a:solidFill>
                <a:ea typeface="华文行楷" panose="02010800040101010101" pitchFamily="2" charset="-122"/>
              </a:rPr>
              <a:t>补码表示法</a:t>
            </a:r>
            <a:endParaRPr lang="zh-CN" altLang="en-US" sz="2800" b="1" dirty="0">
              <a:solidFill>
                <a:srgbClr val="800000"/>
              </a:solidFill>
              <a:ea typeface="华文行楷" panose="02010800040101010101" pitchFamily="2" charset="-122"/>
            </a:endParaRPr>
          </a:p>
          <a:p>
            <a:pPr marL="342900" lvl="0" indent="-342900" eaLnBrk="1" hangingPunct="1">
              <a:buClr>
                <a:schemeClr val="tx1"/>
              </a:buClr>
              <a:buSzPct val="60000"/>
              <a:buFont typeface="Wingdings" panose="05000000000000000000" pitchFamily="2" charset="2"/>
              <a:buChar char="q"/>
            </a:pPr>
            <a:r>
              <a:rPr lang="zh-CN" altLang="en-US" sz="2800" b="1" dirty="0">
                <a:solidFill>
                  <a:srgbClr val="800000"/>
                </a:solidFill>
                <a:ea typeface="华文行楷" panose="02010800040101010101" pitchFamily="2" charset="-122"/>
              </a:rPr>
              <a:t>移码表示法</a:t>
            </a:r>
            <a:endParaRPr lang="zh-CN" altLang="en-US" sz="2800" b="1" dirty="0">
              <a:solidFill>
                <a:srgbClr val="800000"/>
              </a:solidFill>
              <a:ea typeface="华文行楷" panose="02010800040101010101" pitchFamily="2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dirty="0"/>
              <a:t>1</a:t>
            </a:r>
            <a:r>
              <a:rPr lang="zh-CN" altLang="en-US" sz="3200" dirty="0">
                <a:latin typeface="宋体" panose="02010600030101010101" pitchFamily="2" charset="-122"/>
              </a:rPr>
              <a:t>.</a:t>
            </a:r>
            <a:r>
              <a:rPr lang="zh-CN" altLang="en-US" dirty="0">
                <a:latin typeface="宋体" panose="02010600030101010101" pitchFamily="2" charset="-122"/>
              </a:rPr>
              <a:t>原码表示法</a:t>
            </a:r>
            <a:endParaRPr lang="zh-CN" altLang="en-US" dirty="0">
              <a:latin typeface="宋体" panose="02010600030101010101" pitchFamily="2" charset="-122"/>
            </a:endParaRPr>
          </a:p>
        </p:txBody>
      </p:sp>
      <p:sp>
        <p:nvSpPr>
          <p:cNvPr id="49155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zh-CN" altLang="en-US" b="1" dirty="0">
                <a:latin typeface="宋体" panose="02010600030101010101" pitchFamily="2" charset="-122"/>
              </a:rPr>
              <a:t>定点小数表示:  Ns. N</a:t>
            </a:r>
            <a:r>
              <a:rPr lang="zh-CN" altLang="en-US" sz="1600" b="1" dirty="0">
                <a:latin typeface="宋体" panose="02010600030101010101" pitchFamily="2" charset="-122"/>
              </a:rPr>
              <a:t>1</a:t>
            </a:r>
            <a:r>
              <a:rPr lang="zh-CN" altLang="en-US" b="1" dirty="0">
                <a:latin typeface="宋体" panose="02010600030101010101" pitchFamily="2" charset="-122"/>
              </a:rPr>
              <a:t> N</a:t>
            </a:r>
            <a:r>
              <a:rPr lang="zh-CN" altLang="en-US" sz="1600" b="1" dirty="0">
                <a:latin typeface="宋体" panose="02010600030101010101" pitchFamily="2" charset="-122"/>
              </a:rPr>
              <a:t>2</a:t>
            </a:r>
            <a:r>
              <a:rPr lang="zh-CN" altLang="en-US" b="1" dirty="0">
                <a:latin typeface="宋体" panose="02010600030101010101" pitchFamily="2" charset="-122"/>
              </a:rPr>
              <a:t> </a:t>
            </a:r>
            <a:r>
              <a:rPr lang="zh-CN" altLang="en-US" b="1" dirty="0"/>
              <a:t>…</a:t>
            </a:r>
            <a:r>
              <a:rPr lang="zh-CN" altLang="en-US" b="1" dirty="0">
                <a:latin typeface="宋体" panose="02010600030101010101" pitchFamily="2" charset="-122"/>
              </a:rPr>
              <a:t> Nn</a:t>
            </a:r>
            <a:endParaRPr lang="zh-CN" altLang="en-US" dirty="0">
              <a:latin typeface="宋体" panose="02010600030101010101" pitchFamily="2" charset="-122"/>
            </a:endParaRPr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zh-CN" altLang="en-US" b="1" dirty="0"/>
              <a:t> 定义: [ X ]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zh-CN" altLang="en-US" b="1" baseline="-25000" dirty="0">
                <a:solidFill>
                  <a:srgbClr val="FF0000"/>
                </a:solidFill>
              </a:rPr>
              <a:t>原</a:t>
            </a:r>
            <a:r>
              <a:rPr lang="zh-CN" altLang="en-US" b="1" dirty="0"/>
              <a:t> =</a:t>
            </a:r>
            <a:endParaRPr lang="zh-CN" altLang="en-US" b="1" dirty="0"/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zh-CN" altLang="en-US" b="1" dirty="0"/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zh-CN" altLang="en-US" b="1" dirty="0"/>
              <a:t>定点整数表示：</a:t>
            </a:r>
            <a:r>
              <a:rPr lang="zh-CN" altLang="en-US" b="1" dirty="0">
                <a:ea typeface="楷体_GB2312" pitchFamily="1" charset="-122"/>
              </a:rPr>
              <a:t>Ns N</a:t>
            </a:r>
            <a:r>
              <a:rPr lang="zh-CN" altLang="en-US" sz="1600" b="1" dirty="0">
                <a:ea typeface="楷体_GB2312" pitchFamily="1" charset="-122"/>
              </a:rPr>
              <a:t>1</a:t>
            </a:r>
            <a:r>
              <a:rPr lang="zh-CN" altLang="en-US" b="1" dirty="0">
                <a:ea typeface="楷体_GB2312" pitchFamily="1" charset="-122"/>
              </a:rPr>
              <a:t> N</a:t>
            </a:r>
            <a:r>
              <a:rPr lang="zh-CN" altLang="en-US" sz="1600" b="1" dirty="0">
                <a:ea typeface="楷体_GB2312" pitchFamily="1" charset="-122"/>
              </a:rPr>
              <a:t>2</a:t>
            </a:r>
            <a:r>
              <a:rPr lang="zh-CN" altLang="en-US" b="1" dirty="0">
                <a:ea typeface="楷体_GB2312" pitchFamily="1" charset="-122"/>
              </a:rPr>
              <a:t> … Nn</a:t>
            </a:r>
            <a:endParaRPr lang="zh-CN" altLang="en-US" b="1" dirty="0">
              <a:ea typeface="楷体_GB2312" pitchFamily="1" charset="-122"/>
            </a:endParaRPr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zh-CN" altLang="en-US" b="1" dirty="0">
                <a:ea typeface="楷体_GB2312" pitchFamily="1" charset="-122"/>
              </a:rPr>
              <a:t>定义:  </a:t>
            </a:r>
            <a:r>
              <a:rPr lang="zh-CN" altLang="en-US" b="1" dirty="0"/>
              <a:t>[ X ]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zh-CN" altLang="en-US" b="1" baseline="-25000" dirty="0">
                <a:solidFill>
                  <a:srgbClr val="FF0000"/>
                </a:solidFill>
              </a:rPr>
              <a:t>原</a:t>
            </a:r>
            <a:r>
              <a:rPr lang="zh-CN" altLang="en-US" b="1" dirty="0"/>
              <a:t> =</a:t>
            </a:r>
            <a:endParaRPr lang="zh-CN" altLang="en-US" dirty="0"/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zh-CN" altLang="en-US" b="1" dirty="0"/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zh-CN" altLang="en-US" dirty="0"/>
          </a:p>
        </p:txBody>
      </p:sp>
      <p:sp>
        <p:nvSpPr>
          <p:cNvPr id="49156" name="AutoShape 4"/>
          <p:cNvSpPr/>
          <p:nvPr/>
        </p:nvSpPr>
        <p:spPr>
          <a:xfrm>
            <a:off x="4572000" y="2590800"/>
            <a:ext cx="152400" cy="685800"/>
          </a:xfrm>
          <a:prstGeom prst="leftBrace">
            <a:avLst>
              <a:gd name="adj1" fmla="val 37500"/>
              <a:gd name="adj2" fmla="val 50000"/>
            </a:avLst>
          </a:prstGeom>
          <a:noFill/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49157" name="Text Box 5"/>
          <p:cNvSpPr txBox="1"/>
          <p:nvPr/>
        </p:nvSpPr>
        <p:spPr>
          <a:xfrm>
            <a:off x="4724400" y="2420938"/>
            <a:ext cx="53022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zh-CN" sz="2800" b="1" dirty="0">
                <a:solidFill>
                  <a:schemeClr val="tx1"/>
                </a:solidFill>
              </a:rPr>
              <a:t> X</a:t>
            </a:r>
            <a:endParaRPr lang="zh-CN" altLang="zh-CN" sz="2800" b="1" dirty="0">
              <a:solidFill>
                <a:schemeClr val="tx1"/>
              </a:solidFill>
            </a:endParaRPr>
          </a:p>
        </p:txBody>
      </p:sp>
      <p:sp>
        <p:nvSpPr>
          <p:cNvPr id="49158" name="Text Box 6"/>
          <p:cNvSpPr txBox="1"/>
          <p:nvPr/>
        </p:nvSpPr>
        <p:spPr>
          <a:xfrm>
            <a:off x="4572000" y="2971800"/>
            <a:ext cx="1004888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zh-CN" sz="2800" b="1" dirty="0">
                <a:solidFill>
                  <a:schemeClr val="tx1"/>
                </a:solidFill>
              </a:rPr>
              <a:t> 1 - X</a:t>
            </a:r>
            <a:endParaRPr lang="zh-CN" altLang="zh-CN" sz="2800" b="1" dirty="0">
              <a:solidFill>
                <a:schemeClr val="tx1"/>
              </a:solidFill>
            </a:endParaRPr>
          </a:p>
        </p:txBody>
      </p:sp>
      <p:sp>
        <p:nvSpPr>
          <p:cNvPr id="49159" name="Text Box 7"/>
          <p:cNvSpPr txBox="1"/>
          <p:nvPr/>
        </p:nvSpPr>
        <p:spPr>
          <a:xfrm>
            <a:off x="5911850" y="2405063"/>
            <a:ext cx="1624013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zh-CN" sz="2800" b="1" dirty="0">
                <a:solidFill>
                  <a:schemeClr val="tx1"/>
                </a:solidFill>
                <a:ea typeface="楷体_GB2312" pitchFamily="1" charset="-122"/>
              </a:rPr>
              <a:t>0 ≤X &lt; 1</a:t>
            </a:r>
            <a:endParaRPr lang="zh-CN" altLang="zh-CN" sz="2800" b="1" dirty="0">
              <a:solidFill>
                <a:schemeClr val="tx1"/>
              </a:solidFill>
              <a:ea typeface="楷体_GB2312" pitchFamily="1" charset="-122"/>
            </a:endParaRPr>
          </a:p>
        </p:txBody>
      </p:sp>
      <p:sp>
        <p:nvSpPr>
          <p:cNvPr id="49160" name="Text Box 8"/>
          <p:cNvSpPr txBox="1"/>
          <p:nvPr/>
        </p:nvSpPr>
        <p:spPr>
          <a:xfrm>
            <a:off x="5715000" y="2971800"/>
            <a:ext cx="22860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zh-CN" sz="2800" b="1" dirty="0">
                <a:solidFill>
                  <a:schemeClr val="tx1"/>
                </a:solidFill>
              </a:rPr>
              <a:t>  -1 &lt; X ≤ 0</a:t>
            </a:r>
            <a:endParaRPr lang="zh-CN" altLang="zh-CN" sz="2800" b="1" dirty="0">
              <a:solidFill>
                <a:schemeClr val="tx1"/>
              </a:solidFill>
            </a:endParaRPr>
          </a:p>
        </p:txBody>
      </p:sp>
      <p:sp>
        <p:nvSpPr>
          <p:cNvPr id="49161" name="AutoShape 9"/>
          <p:cNvSpPr/>
          <p:nvPr/>
        </p:nvSpPr>
        <p:spPr>
          <a:xfrm>
            <a:off x="4572000" y="4343400"/>
            <a:ext cx="152400" cy="685800"/>
          </a:xfrm>
          <a:prstGeom prst="leftBrace">
            <a:avLst>
              <a:gd name="adj1" fmla="val 37500"/>
              <a:gd name="adj2" fmla="val 50000"/>
            </a:avLst>
          </a:prstGeom>
          <a:noFill/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49162" name="Text Box 10"/>
          <p:cNvSpPr txBox="1"/>
          <p:nvPr/>
        </p:nvSpPr>
        <p:spPr>
          <a:xfrm>
            <a:off x="4800600" y="4114800"/>
            <a:ext cx="53022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zh-CN" sz="2800" b="1" dirty="0">
                <a:solidFill>
                  <a:schemeClr val="tx1"/>
                </a:solidFill>
              </a:rPr>
              <a:t> X</a:t>
            </a:r>
            <a:endParaRPr lang="zh-CN" altLang="zh-CN" sz="2800" b="1" dirty="0">
              <a:solidFill>
                <a:schemeClr val="tx1"/>
              </a:solidFill>
            </a:endParaRPr>
          </a:p>
        </p:txBody>
      </p:sp>
      <p:sp>
        <p:nvSpPr>
          <p:cNvPr id="49163" name="Text Box 11"/>
          <p:cNvSpPr txBox="1"/>
          <p:nvPr/>
        </p:nvSpPr>
        <p:spPr>
          <a:xfrm>
            <a:off x="4648200" y="4724400"/>
            <a:ext cx="1371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zh-CN" sz="2800" b="1" dirty="0">
                <a:solidFill>
                  <a:schemeClr val="tx1"/>
                </a:solidFill>
              </a:rPr>
              <a:t> 2</a:t>
            </a:r>
            <a:r>
              <a:rPr lang="zh-CN" altLang="zh-CN" sz="2800" b="1" baseline="30000" dirty="0">
                <a:solidFill>
                  <a:schemeClr val="tx1"/>
                </a:solidFill>
              </a:rPr>
              <a:t>n</a:t>
            </a:r>
            <a:r>
              <a:rPr lang="zh-CN" altLang="zh-CN" sz="2800" b="1" dirty="0">
                <a:solidFill>
                  <a:schemeClr val="tx1"/>
                </a:solidFill>
              </a:rPr>
              <a:t> - X</a:t>
            </a:r>
            <a:endParaRPr lang="zh-CN" altLang="zh-CN" sz="2800" b="1" dirty="0">
              <a:solidFill>
                <a:schemeClr val="tx1"/>
              </a:solidFill>
            </a:endParaRPr>
          </a:p>
        </p:txBody>
      </p:sp>
      <p:sp>
        <p:nvSpPr>
          <p:cNvPr id="49164" name="Text Box 12"/>
          <p:cNvSpPr txBox="1"/>
          <p:nvPr/>
        </p:nvSpPr>
        <p:spPr>
          <a:xfrm>
            <a:off x="6162675" y="4191000"/>
            <a:ext cx="1938338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zh-CN" sz="2800" b="1" dirty="0">
                <a:solidFill>
                  <a:schemeClr val="tx1"/>
                </a:solidFill>
                <a:ea typeface="楷体_GB2312" pitchFamily="1" charset="-122"/>
              </a:rPr>
              <a:t>0 </a:t>
            </a:r>
            <a:r>
              <a:rPr lang="zh-CN" altLang="zh-CN" sz="2800" b="1" dirty="0">
                <a:solidFill>
                  <a:schemeClr val="tx1"/>
                </a:solidFill>
              </a:rPr>
              <a:t> ≤</a:t>
            </a:r>
            <a:r>
              <a:rPr lang="zh-CN" altLang="zh-CN" sz="2800" b="1" dirty="0">
                <a:solidFill>
                  <a:schemeClr val="tx1"/>
                </a:solidFill>
                <a:ea typeface="楷体_GB2312" pitchFamily="1" charset="-122"/>
              </a:rPr>
              <a:t> X &lt; </a:t>
            </a:r>
            <a:r>
              <a:rPr lang="zh-CN" altLang="zh-CN" sz="2800" b="1" dirty="0">
                <a:solidFill>
                  <a:schemeClr val="tx1"/>
                </a:solidFill>
              </a:rPr>
              <a:t>2</a:t>
            </a:r>
            <a:r>
              <a:rPr lang="zh-CN" altLang="zh-CN" sz="2800" b="1" baseline="30000" dirty="0">
                <a:solidFill>
                  <a:schemeClr val="tx1"/>
                </a:solidFill>
              </a:rPr>
              <a:t>n</a:t>
            </a:r>
            <a:endParaRPr lang="zh-CN" altLang="zh-CN" sz="2800" b="1" baseline="30000" dirty="0">
              <a:solidFill>
                <a:schemeClr val="tx1"/>
              </a:solidFill>
            </a:endParaRPr>
          </a:p>
        </p:txBody>
      </p:sp>
      <p:sp>
        <p:nvSpPr>
          <p:cNvPr id="49165" name="Text Box 13"/>
          <p:cNvSpPr txBox="1"/>
          <p:nvPr/>
        </p:nvSpPr>
        <p:spPr>
          <a:xfrm>
            <a:off x="5791200" y="4724400"/>
            <a:ext cx="2514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zh-CN" sz="2800" b="1" dirty="0">
                <a:solidFill>
                  <a:schemeClr val="tx1"/>
                </a:solidFill>
              </a:rPr>
              <a:t>  - 2</a:t>
            </a:r>
            <a:r>
              <a:rPr lang="zh-CN" altLang="zh-CN" sz="2800" b="1" baseline="30000" dirty="0">
                <a:solidFill>
                  <a:schemeClr val="tx1"/>
                </a:solidFill>
              </a:rPr>
              <a:t>n</a:t>
            </a:r>
            <a:r>
              <a:rPr lang="zh-CN" altLang="zh-CN" sz="2800" b="1" dirty="0">
                <a:solidFill>
                  <a:schemeClr val="tx1"/>
                </a:solidFill>
              </a:rPr>
              <a:t>  &lt; X  ≤ 0</a:t>
            </a:r>
            <a:endParaRPr lang="zh-CN" altLang="zh-CN" sz="28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Rectangle 2"/>
          <p:cNvSpPr>
            <a:spLocks noGrp="1"/>
          </p:cNvSpPr>
          <p:nvPr>
            <p:ph type="title"/>
          </p:nvPr>
        </p:nvSpPr>
        <p:spPr>
          <a:xfrm>
            <a:off x="252413" y="981075"/>
            <a:ext cx="7620000" cy="685800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3200" dirty="0"/>
              <a:t>定点数原码的表示法</a:t>
            </a:r>
            <a:endParaRPr lang="zh-CN" altLang="en-US" sz="3200" dirty="0"/>
          </a:p>
        </p:txBody>
      </p:sp>
      <p:sp>
        <p:nvSpPr>
          <p:cNvPr id="50179" name="Rectangle 3"/>
          <p:cNvSpPr>
            <a:spLocks noGrp="1"/>
          </p:cNvSpPr>
          <p:nvPr>
            <p:ph idx="1"/>
          </p:nvPr>
        </p:nvSpPr>
        <p:spPr>
          <a:xfrm>
            <a:off x="304800" y="1981200"/>
            <a:ext cx="8610600" cy="4114800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b="1" dirty="0">
                <a:solidFill>
                  <a:schemeClr val="tx2"/>
                </a:solidFill>
                <a:ea typeface="隶书" panose="02010509060101010101" pitchFamily="49" charset="-122"/>
              </a:rPr>
              <a:t>实例：</a:t>
            </a:r>
            <a:r>
              <a:rPr lang="zh-CN" altLang="zh-CN" b="1" dirty="0">
                <a:solidFill>
                  <a:schemeClr val="tx2"/>
                </a:solidFill>
                <a:ea typeface="隶书" panose="02010509060101010101" pitchFamily="49" charset="-122"/>
              </a:rPr>
              <a:t>X1 = 0.10110    -0.10110      0.0000</a:t>
            </a:r>
            <a:endParaRPr lang="zh-CN" altLang="zh-CN" b="1" dirty="0">
              <a:solidFill>
                <a:schemeClr val="tx2"/>
              </a:solidFill>
              <a:ea typeface="隶书" panose="02010509060101010101" pitchFamily="49" charset="-122"/>
            </a:endParaRPr>
          </a:p>
          <a:p>
            <a:pPr eaLnBrk="1" hangingPunct="1">
              <a:buNone/>
            </a:pPr>
            <a:r>
              <a:rPr lang="zh-CN" altLang="zh-CN" b="1" dirty="0"/>
              <a:t>        [ X ] </a:t>
            </a:r>
            <a:r>
              <a:rPr lang="zh-CN" altLang="en-US" b="1" baseline="-25000" dirty="0">
                <a:solidFill>
                  <a:srgbClr val="FF0000"/>
                </a:solidFill>
              </a:rPr>
              <a:t>原</a:t>
            </a:r>
            <a:r>
              <a:rPr lang="zh-CN" altLang="zh-CN" b="1" dirty="0"/>
              <a:t>= </a:t>
            </a:r>
            <a:r>
              <a:rPr lang="zh-CN" altLang="zh-CN" b="1" dirty="0">
                <a:solidFill>
                  <a:srgbClr val="FF0000"/>
                </a:solidFill>
              </a:rPr>
              <a:t>0.10110       1.10110      0.0000</a:t>
            </a:r>
            <a:endParaRPr lang="zh-CN" altLang="zh-CN" b="1" dirty="0">
              <a:solidFill>
                <a:srgbClr val="FF0000"/>
              </a:solidFill>
            </a:endParaRPr>
          </a:p>
          <a:p>
            <a:pPr eaLnBrk="1" hangingPunct="1">
              <a:buNone/>
            </a:pPr>
            <a:r>
              <a:rPr lang="zh-CN" altLang="zh-CN" b="1" dirty="0">
                <a:solidFill>
                  <a:srgbClr val="FF0000"/>
                </a:solidFill>
              </a:rPr>
              <a:t>                                                             1.0000</a:t>
            </a:r>
            <a:r>
              <a:rPr lang="zh-CN" altLang="zh-CN" b="1" dirty="0"/>
              <a:t>   </a:t>
            </a:r>
            <a:endParaRPr lang="zh-CN" altLang="zh-CN" b="1" dirty="0"/>
          </a:p>
          <a:p>
            <a:pPr eaLnBrk="1" hangingPunct="1"/>
            <a:r>
              <a:rPr lang="zh-CN" altLang="en-US" b="1" dirty="0">
                <a:solidFill>
                  <a:schemeClr val="tx2"/>
                </a:solidFill>
                <a:ea typeface="隶书" panose="02010509060101010101" pitchFamily="49" charset="-122"/>
              </a:rPr>
              <a:t>实例：</a:t>
            </a:r>
            <a:r>
              <a:rPr lang="zh-CN" altLang="zh-CN" b="1" dirty="0">
                <a:solidFill>
                  <a:schemeClr val="tx2"/>
                </a:solidFill>
                <a:ea typeface="隶书" panose="02010509060101010101" pitchFamily="49" charset="-122"/>
              </a:rPr>
              <a:t>X1 = 10110      -10110          0000</a:t>
            </a:r>
            <a:endParaRPr lang="zh-CN" altLang="zh-CN" b="1" dirty="0">
              <a:solidFill>
                <a:schemeClr val="tx2"/>
              </a:solidFill>
              <a:ea typeface="隶书" panose="02010509060101010101" pitchFamily="49" charset="-122"/>
            </a:endParaRPr>
          </a:p>
          <a:p>
            <a:pPr eaLnBrk="1" hangingPunct="1">
              <a:buNone/>
            </a:pPr>
            <a:r>
              <a:rPr lang="zh-CN" altLang="zh-CN" b="1" dirty="0"/>
              <a:t>        [ X ] </a:t>
            </a:r>
            <a:r>
              <a:rPr lang="zh-CN" altLang="en-US" b="1" baseline="-25000" dirty="0">
                <a:solidFill>
                  <a:srgbClr val="FF0000"/>
                </a:solidFill>
              </a:rPr>
              <a:t>原</a:t>
            </a:r>
            <a:r>
              <a:rPr lang="zh-CN" altLang="zh-CN" b="1" dirty="0"/>
              <a:t>=  </a:t>
            </a:r>
            <a:r>
              <a:rPr lang="zh-CN" altLang="zh-CN" b="1" dirty="0">
                <a:solidFill>
                  <a:srgbClr val="FF0000"/>
                </a:solidFill>
              </a:rPr>
              <a:t>010110     110110        00000</a:t>
            </a:r>
            <a:endParaRPr lang="zh-CN" altLang="zh-CN" b="1" dirty="0">
              <a:solidFill>
                <a:srgbClr val="FF0000"/>
              </a:solidFill>
            </a:endParaRPr>
          </a:p>
          <a:p>
            <a:pPr eaLnBrk="1" hangingPunct="1">
              <a:buNone/>
            </a:pPr>
            <a:r>
              <a:rPr lang="zh-CN" altLang="zh-CN" b="1" dirty="0">
                <a:solidFill>
                  <a:srgbClr val="FF0000"/>
                </a:solidFill>
              </a:rPr>
              <a:t>                                                            10000</a:t>
            </a:r>
            <a:r>
              <a:rPr lang="zh-CN" altLang="zh-CN" b="1" dirty="0"/>
              <a:t>   </a:t>
            </a:r>
            <a:endParaRPr lang="zh-CN" altLang="zh-CN" b="1" dirty="0"/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zh-CN" altLang="zh-CN" dirty="0"/>
          </a:p>
        </p:txBody>
      </p:sp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Rectangle 2"/>
          <p:cNvSpPr>
            <a:spLocks noGrp="1"/>
          </p:cNvSpPr>
          <p:nvPr>
            <p:ph type="title"/>
          </p:nvPr>
        </p:nvSpPr>
        <p:spPr>
          <a:xfrm>
            <a:off x="323850" y="1052513"/>
            <a:ext cx="7620000" cy="685800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3200" dirty="0"/>
              <a:t>定点数原码的表示法</a:t>
            </a:r>
            <a:endParaRPr lang="zh-CN" altLang="en-US" sz="3200" dirty="0"/>
          </a:p>
        </p:txBody>
      </p:sp>
      <p:sp>
        <p:nvSpPr>
          <p:cNvPr id="51203" name="Rectangle 3"/>
          <p:cNvSpPr>
            <a:spLocks noGrp="1"/>
          </p:cNvSpPr>
          <p:nvPr>
            <p:ph idx="1"/>
          </p:nvPr>
        </p:nvSpPr>
        <p:spPr>
          <a:xfrm>
            <a:off x="685800" y="1981200"/>
            <a:ext cx="7772400" cy="3103563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zh-CN" altLang="en-US" b="1" dirty="0"/>
              <a:t>性质</a:t>
            </a:r>
            <a:r>
              <a:rPr lang="zh-CN" altLang="zh-CN" b="1" dirty="0"/>
              <a:t>:</a:t>
            </a:r>
            <a:endParaRPr lang="zh-CN" altLang="zh-CN" b="1" dirty="0"/>
          </a:p>
          <a:p>
            <a:pPr eaLnBrk="1" hangingPunct="1"/>
            <a:r>
              <a:rPr lang="zh-CN" altLang="en-US" b="1" dirty="0">
                <a:solidFill>
                  <a:srgbClr val="FF0000"/>
                </a:solidFill>
              </a:rPr>
              <a:t>原码</a:t>
            </a:r>
            <a:r>
              <a:rPr lang="zh-CN" altLang="en-US" b="1" dirty="0"/>
              <a:t>为符号位加数的绝对值，</a:t>
            </a:r>
            <a:r>
              <a:rPr lang="zh-CN" altLang="zh-CN" b="1" dirty="0"/>
              <a:t>0</a:t>
            </a:r>
            <a:r>
              <a:rPr lang="zh-CN" altLang="en-US" b="1" dirty="0"/>
              <a:t>正</a:t>
            </a:r>
            <a:r>
              <a:rPr lang="zh-CN" altLang="zh-CN" b="1" dirty="0"/>
              <a:t>1</a:t>
            </a:r>
            <a:r>
              <a:rPr lang="zh-CN" altLang="en-US" b="1" dirty="0"/>
              <a:t>负</a:t>
            </a:r>
            <a:endParaRPr lang="zh-CN" altLang="en-US" b="1" dirty="0"/>
          </a:p>
          <a:p>
            <a:pPr eaLnBrk="1" hangingPunct="1"/>
            <a:r>
              <a:rPr lang="zh-CN" altLang="en-US" b="1" dirty="0">
                <a:solidFill>
                  <a:srgbClr val="FF0000"/>
                </a:solidFill>
              </a:rPr>
              <a:t>原码</a:t>
            </a:r>
            <a:r>
              <a:rPr lang="zh-CN" altLang="en-US" b="1" dirty="0"/>
              <a:t>零有两个编码，</a:t>
            </a:r>
            <a:r>
              <a:rPr lang="zh-CN" altLang="zh-CN" b="1" dirty="0"/>
              <a:t>+0</a:t>
            </a:r>
            <a:r>
              <a:rPr lang="zh-CN" altLang="en-US" b="1" dirty="0"/>
              <a:t>和 </a:t>
            </a:r>
            <a:r>
              <a:rPr lang="zh-CN" altLang="zh-CN" b="1" dirty="0"/>
              <a:t>-0</a:t>
            </a:r>
            <a:r>
              <a:rPr lang="zh-CN" altLang="en-US" b="1" dirty="0"/>
              <a:t>编码不同</a:t>
            </a:r>
            <a:endParaRPr lang="zh-CN" altLang="en-US" b="1" dirty="0"/>
          </a:p>
          <a:p>
            <a:pPr eaLnBrk="1" hangingPunct="1"/>
            <a:r>
              <a:rPr lang="zh-CN" altLang="en-US" b="1" dirty="0">
                <a:solidFill>
                  <a:srgbClr val="FF0000"/>
                </a:solidFill>
              </a:rPr>
              <a:t>原码</a:t>
            </a:r>
            <a:r>
              <a:rPr lang="zh-CN" altLang="en-US" b="1" dirty="0"/>
              <a:t>难以用于加减运算</a:t>
            </a:r>
            <a:endParaRPr lang="zh-CN" altLang="en-US" b="1" dirty="0"/>
          </a:p>
          <a:p>
            <a:pPr eaLnBrk="1" hangingPunct="1"/>
            <a:r>
              <a:rPr lang="zh-CN" altLang="zh-CN" b="1" dirty="0"/>
              <a:t>N+1</a:t>
            </a:r>
            <a:r>
              <a:rPr lang="zh-CN" altLang="en-US" b="1" dirty="0"/>
              <a:t>位二进制原码所表示的范围：</a:t>
            </a:r>
            <a:endParaRPr lang="zh-CN" altLang="en-US" b="1" dirty="0"/>
          </a:p>
        </p:txBody>
      </p:sp>
      <p:sp>
        <p:nvSpPr>
          <p:cNvPr id="51204" name="Rectangle 4"/>
          <p:cNvSpPr/>
          <p:nvPr/>
        </p:nvSpPr>
        <p:spPr>
          <a:xfrm>
            <a:off x="1187450" y="4930775"/>
            <a:ext cx="6481763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小数：</a:t>
            </a:r>
            <a:r>
              <a:rPr lang="zh-CN" altLang="zh-CN" sz="2800" b="1" dirty="0"/>
              <a:t>MAX=1-2</a:t>
            </a:r>
            <a:r>
              <a:rPr lang="zh-CN" altLang="zh-CN" sz="2800" b="1" baseline="30000" dirty="0"/>
              <a:t>-n</a:t>
            </a:r>
            <a:r>
              <a:rPr lang="zh-CN" altLang="zh-CN" sz="2800" b="1" dirty="0"/>
              <a:t> </a:t>
            </a:r>
            <a:r>
              <a:rPr lang="zh-CN" altLang="en-US" sz="2800" b="1" dirty="0"/>
              <a:t>，</a:t>
            </a:r>
            <a:r>
              <a:rPr lang="zh-CN" altLang="zh-CN" sz="2800" b="1" dirty="0"/>
              <a:t>MIN=﹣(1-2</a:t>
            </a:r>
            <a:r>
              <a:rPr lang="zh-CN" altLang="zh-CN" sz="2800" b="1" baseline="30000" dirty="0"/>
              <a:t>-n</a:t>
            </a:r>
            <a:r>
              <a:rPr lang="zh-CN" altLang="zh-CN" sz="2800" b="1" dirty="0"/>
              <a:t> )</a:t>
            </a:r>
            <a:endParaRPr lang="zh-CN" altLang="zh-CN" sz="28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整数：</a:t>
            </a:r>
            <a:r>
              <a:rPr lang="zh-CN" altLang="zh-CN" sz="2800" b="1" dirty="0"/>
              <a:t>MAX=2</a:t>
            </a:r>
            <a:r>
              <a:rPr lang="zh-CN" altLang="zh-CN" sz="2800" b="1" baseline="30000" dirty="0"/>
              <a:t>n</a:t>
            </a:r>
            <a:r>
              <a:rPr lang="zh-CN" altLang="zh-CN" sz="2800" b="1" dirty="0"/>
              <a:t>-1  </a:t>
            </a:r>
            <a:r>
              <a:rPr lang="zh-CN" altLang="en-US" sz="2800" b="1" dirty="0"/>
              <a:t>，</a:t>
            </a:r>
            <a:r>
              <a:rPr lang="zh-CN" altLang="zh-CN" sz="2800" b="1" dirty="0"/>
              <a:t>MIN=﹣(2</a:t>
            </a:r>
            <a:r>
              <a:rPr lang="zh-CN" altLang="zh-CN" sz="2800" b="1" baseline="30000" dirty="0"/>
              <a:t>n</a:t>
            </a:r>
            <a:r>
              <a:rPr lang="zh-CN" altLang="zh-CN" sz="2800" b="1" dirty="0"/>
              <a:t>-1 )</a:t>
            </a:r>
            <a:endParaRPr lang="zh-CN" altLang="zh-CN" sz="2800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dirty="0"/>
              <a:t>2.反码表示法</a:t>
            </a:r>
            <a:endParaRPr lang="zh-CN" altLang="en-US" sz="2400" dirty="0"/>
          </a:p>
        </p:txBody>
      </p:sp>
      <p:sp>
        <p:nvSpPr>
          <p:cNvPr id="52227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zh-CN" altLang="en-US" b="1" dirty="0">
                <a:latin typeface="宋体" panose="02010600030101010101" pitchFamily="2" charset="-122"/>
              </a:rPr>
              <a:t>定点小数表示:  Ns. N</a:t>
            </a:r>
            <a:r>
              <a:rPr lang="zh-CN" altLang="en-US" sz="1600" b="1" dirty="0">
                <a:latin typeface="宋体" panose="02010600030101010101" pitchFamily="2" charset="-122"/>
              </a:rPr>
              <a:t>1</a:t>
            </a:r>
            <a:r>
              <a:rPr lang="zh-CN" altLang="en-US" b="1" dirty="0">
                <a:latin typeface="宋体" panose="02010600030101010101" pitchFamily="2" charset="-122"/>
              </a:rPr>
              <a:t> N</a:t>
            </a:r>
            <a:r>
              <a:rPr lang="zh-CN" altLang="en-US" sz="1600" b="1" dirty="0">
                <a:latin typeface="宋体" panose="02010600030101010101" pitchFamily="2" charset="-122"/>
              </a:rPr>
              <a:t>2</a:t>
            </a:r>
            <a:r>
              <a:rPr lang="zh-CN" altLang="en-US" b="1" dirty="0">
                <a:latin typeface="宋体" panose="02010600030101010101" pitchFamily="2" charset="-122"/>
              </a:rPr>
              <a:t> </a:t>
            </a:r>
            <a:r>
              <a:rPr lang="zh-CN" altLang="en-US" b="1" dirty="0"/>
              <a:t>…</a:t>
            </a:r>
            <a:r>
              <a:rPr lang="zh-CN" altLang="en-US" b="1" dirty="0">
                <a:latin typeface="宋体" panose="02010600030101010101" pitchFamily="2" charset="-122"/>
              </a:rPr>
              <a:t> Nn</a:t>
            </a:r>
            <a:endParaRPr lang="zh-CN" altLang="en-US" dirty="0">
              <a:latin typeface="宋体" panose="02010600030101010101" pitchFamily="2" charset="-122"/>
            </a:endParaRPr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zh-CN" altLang="en-US" b="1" dirty="0"/>
              <a:t> 定义: [ X ]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zh-CN" altLang="en-US" b="1" baseline="-25000" dirty="0">
                <a:solidFill>
                  <a:srgbClr val="FF0000"/>
                </a:solidFill>
              </a:rPr>
              <a:t>反</a:t>
            </a:r>
            <a:r>
              <a:rPr lang="zh-CN" altLang="en-US" b="1" dirty="0"/>
              <a:t> =</a:t>
            </a:r>
            <a:endParaRPr lang="zh-CN" altLang="en-US" b="1" dirty="0"/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zh-CN" altLang="en-US" b="1" dirty="0"/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zh-CN" altLang="en-US" b="1" dirty="0"/>
              <a:t>定点整数表示：</a:t>
            </a:r>
            <a:r>
              <a:rPr lang="zh-CN" altLang="en-US" b="1" dirty="0">
                <a:ea typeface="楷体_GB2312" pitchFamily="1" charset="-122"/>
              </a:rPr>
              <a:t>Ns N</a:t>
            </a:r>
            <a:r>
              <a:rPr lang="zh-CN" altLang="en-US" sz="1600" b="1" dirty="0">
                <a:ea typeface="楷体_GB2312" pitchFamily="1" charset="-122"/>
              </a:rPr>
              <a:t>1</a:t>
            </a:r>
            <a:r>
              <a:rPr lang="zh-CN" altLang="en-US" b="1" dirty="0">
                <a:ea typeface="楷体_GB2312" pitchFamily="1" charset="-122"/>
              </a:rPr>
              <a:t> N</a:t>
            </a:r>
            <a:r>
              <a:rPr lang="zh-CN" altLang="en-US" sz="1600" b="1" dirty="0">
                <a:ea typeface="楷体_GB2312" pitchFamily="1" charset="-122"/>
              </a:rPr>
              <a:t>2</a:t>
            </a:r>
            <a:r>
              <a:rPr lang="zh-CN" altLang="en-US" b="1" dirty="0">
                <a:ea typeface="楷体_GB2312" pitchFamily="1" charset="-122"/>
              </a:rPr>
              <a:t> … Nn</a:t>
            </a:r>
            <a:endParaRPr lang="zh-CN" altLang="en-US" b="1" dirty="0">
              <a:ea typeface="楷体_GB2312" pitchFamily="1" charset="-122"/>
            </a:endParaRPr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zh-CN" altLang="en-US" b="1" dirty="0">
                <a:ea typeface="楷体_GB2312" pitchFamily="1" charset="-122"/>
              </a:rPr>
              <a:t>定义:  </a:t>
            </a:r>
            <a:r>
              <a:rPr lang="zh-CN" altLang="en-US" b="1" dirty="0"/>
              <a:t>[ X ]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zh-CN" altLang="en-US" b="1" baseline="-25000" dirty="0">
                <a:solidFill>
                  <a:srgbClr val="FF0000"/>
                </a:solidFill>
              </a:rPr>
              <a:t>反</a:t>
            </a:r>
            <a:r>
              <a:rPr lang="zh-CN" altLang="en-US" b="1" dirty="0"/>
              <a:t> =</a:t>
            </a:r>
            <a:endParaRPr lang="zh-CN" altLang="en-US" dirty="0"/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zh-CN" altLang="en-US" b="1" dirty="0"/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zh-CN" altLang="en-US" dirty="0"/>
          </a:p>
        </p:txBody>
      </p:sp>
      <p:sp>
        <p:nvSpPr>
          <p:cNvPr id="52228" name="AutoShape 4"/>
          <p:cNvSpPr/>
          <p:nvPr/>
        </p:nvSpPr>
        <p:spPr>
          <a:xfrm>
            <a:off x="4114800" y="2590800"/>
            <a:ext cx="152400" cy="685800"/>
          </a:xfrm>
          <a:prstGeom prst="leftBrace">
            <a:avLst>
              <a:gd name="adj1" fmla="val 37500"/>
              <a:gd name="adj2" fmla="val 50000"/>
            </a:avLst>
          </a:prstGeom>
          <a:noFill/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52229" name="Text Box 5"/>
          <p:cNvSpPr txBox="1"/>
          <p:nvPr/>
        </p:nvSpPr>
        <p:spPr>
          <a:xfrm>
            <a:off x="4495800" y="2438400"/>
            <a:ext cx="53022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zh-CN" sz="2800" b="1" dirty="0">
                <a:solidFill>
                  <a:schemeClr val="tx1"/>
                </a:solidFill>
              </a:rPr>
              <a:t> X</a:t>
            </a:r>
            <a:endParaRPr lang="zh-CN" altLang="zh-CN" sz="2800" b="1" dirty="0">
              <a:solidFill>
                <a:schemeClr val="tx1"/>
              </a:solidFill>
            </a:endParaRPr>
          </a:p>
        </p:txBody>
      </p:sp>
      <p:sp>
        <p:nvSpPr>
          <p:cNvPr id="52230" name="Text Box 6"/>
          <p:cNvSpPr txBox="1"/>
          <p:nvPr/>
        </p:nvSpPr>
        <p:spPr>
          <a:xfrm>
            <a:off x="4114800" y="3048000"/>
            <a:ext cx="2624138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zh-CN" sz="2800" b="1" dirty="0">
                <a:solidFill>
                  <a:schemeClr val="tx1"/>
                </a:solidFill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</a:rPr>
              <a:t>（</a:t>
            </a:r>
            <a:r>
              <a:rPr lang="zh-CN" altLang="zh-CN" sz="2800" b="1" dirty="0">
                <a:solidFill>
                  <a:schemeClr val="tx1"/>
                </a:solidFill>
              </a:rPr>
              <a:t>2-2</a:t>
            </a:r>
            <a:r>
              <a:rPr lang="zh-CN" altLang="zh-CN" sz="2800" b="1" baseline="40000" dirty="0">
                <a:solidFill>
                  <a:schemeClr val="tx1"/>
                </a:solidFill>
              </a:rPr>
              <a:t>-n</a:t>
            </a:r>
            <a:r>
              <a:rPr lang="zh-CN" altLang="zh-CN" sz="2800" b="1" dirty="0">
                <a:solidFill>
                  <a:schemeClr val="tx1"/>
                </a:solidFill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</a:rPr>
              <a:t>）</a:t>
            </a:r>
            <a:r>
              <a:rPr lang="zh-CN" altLang="zh-CN" sz="2800" b="1" dirty="0">
                <a:solidFill>
                  <a:schemeClr val="tx1"/>
                </a:solidFill>
              </a:rPr>
              <a:t>+ X</a:t>
            </a:r>
            <a:endParaRPr lang="zh-CN" altLang="zh-CN" sz="2800" b="1" dirty="0">
              <a:solidFill>
                <a:schemeClr val="tx1"/>
              </a:solidFill>
            </a:endParaRPr>
          </a:p>
        </p:txBody>
      </p:sp>
      <p:sp>
        <p:nvSpPr>
          <p:cNvPr id="52231" name="Text Box 7"/>
          <p:cNvSpPr txBox="1"/>
          <p:nvPr/>
        </p:nvSpPr>
        <p:spPr>
          <a:xfrm>
            <a:off x="6705600" y="2438400"/>
            <a:ext cx="171450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zh-CN" sz="2800" b="1" dirty="0">
                <a:solidFill>
                  <a:schemeClr val="tx1"/>
                </a:solidFill>
                <a:ea typeface="楷体_GB2312" pitchFamily="1" charset="-122"/>
              </a:rPr>
              <a:t>0 ≤ X &lt; 1</a:t>
            </a:r>
            <a:endParaRPr lang="zh-CN" altLang="zh-CN" sz="2800" b="1" dirty="0">
              <a:solidFill>
                <a:schemeClr val="tx1"/>
              </a:solidFill>
              <a:ea typeface="楷体_GB2312" pitchFamily="1" charset="-122"/>
            </a:endParaRPr>
          </a:p>
        </p:txBody>
      </p:sp>
      <p:sp>
        <p:nvSpPr>
          <p:cNvPr id="52232" name="Text Box 8"/>
          <p:cNvSpPr txBox="1"/>
          <p:nvPr/>
        </p:nvSpPr>
        <p:spPr>
          <a:xfrm>
            <a:off x="6553200" y="2971800"/>
            <a:ext cx="2057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zh-CN" sz="2800" b="1" dirty="0">
                <a:solidFill>
                  <a:schemeClr val="tx1"/>
                </a:solidFill>
              </a:rPr>
              <a:t>  -1 &lt; X ≤ 0</a:t>
            </a:r>
            <a:endParaRPr lang="zh-CN" altLang="zh-CN" sz="2800" b="1" dirty="0">
              <a:solidFill>
                <a:schemeClr val="tx1"/>
              </a:solidFill>
            </a:endParaRPr>
          </a:p>
        </p:txBody>
      </p:sp>
      <p:sp>
        <p:nvSpPr>
          <p:cNvPr id="52233" name="AutoShape 9"/>
          <p:cNvSpPr/>
          <p:nvPr/>
        </p:nvSpPr>
        <p:spPr>
          <a:xfrm>
            <a:off x="4114800" y="4343400"/>
            <a:ext cx="152400" cy="685800"/>
          </a:xfrm>
          <a:prstGeom prst="leftBrace">
            <a:avLst>
              <a:gd name="adj1" fmla="val 37500"/>
              <a:gd name="adj2" fmla="val 50000"/>
            </a:avLst>
          </a:prstGeom>
          <a:noFill/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52234" name="Text Box 10"/>
          <p:cNvSpPr txBox="1"/>
          <p:nvPr/>
        </p:nvSpPr>
        <p:spPr>
          <a:xfrm>
            <a:off x="4343400" y="4114800"/>
            <a:ext cx="53022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zh-CN" sz="2800" b="1" dirty="0">
                <a:solidFill>
                  <a:schemeClr val="tx1"/>
                </a:solidFill>
              </a:rPr>
              <a:t> X</a:t>
            </a:r>
            <a:endParaRPr lang="zh-CN" altLang="zh-CN" sz="2800" b="1" dirty="0">
              <a:solidFill>
                <a:schemeClr val="tx1"/>
              </a:solidFill>
            </a:endParaRPr>
          </a:p>
        </p:txBody>
      </p:sp>
      <p:sp>
        <p:nvSpPr>
          <p:cNvPr id="52235" name="Text Box 11"/>
          <p:cNvSpPr txBox="1"/>
          <p:nvPr/>
        </p:nvSpPr>
        <p:spPr>
          <a:xfrm>
            <a:off x="4038600" y="4724400"/>
            <a:ext cx="25908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tx1"/>
                </a:solidFill>
              </a:rPr>
              <a:t>（ </a:t>
            </a:r>
            <a:r>
              <a:rPr lang="zh-CN" altLang="zh-CN" sz="2800" b="1" dirty="0">
                <a:solidFill>
                  <a:schemeClr val="tx1"/>
                </a:solidFill>
              </a:rPr>
              <a:t>2</a:t>
            </a:r>
            <a:r>
              <a:rPr lang="zh-CN" altLang="zh-CN" sz="2800" b="1" baseline="30000" dirty="0">
                <a:solidFill>
                  <a:schemeClr val="tx1"/>
                </a:solidFill>
              </a:rPr>
              <a:t>n+1</a:t>
            </a:r>
            <a:r>
              <a:rPr lang="zh-CN" altLang="zh-CN" sz="2800" b="1" dirty="0">
                <a:solidFill>
                  <a:schemeClr val="tx1"/>
                </a:solidFill>
              </a:rPr>
              <a:t> –1</a:t>
            </a:r>
            <a:r>
              <a:rPr lang="zh-CN" altLang="en-US" sz="2800" b="1" dirty="0">
                <a:solidFill>
                  <a:schemeClr val="tx1"/>
                </a:solidFill>
              </a:rPr>
              <a:t>）</a:t>
            </a:r>
            <a:r>
              <a:rPr lang="zh-CN" altLang="zh-CN" sz="2800" b="1" dirty="0">
                <a:solidFill>
                  <a:schemeClr val="tx1"/>
                </a:solidFill>
              </a:rPr>
              <a:t>+ X</a:t>
            </a:r>
            <a:endParaRPr lang="zh-CN" altLang="zh-CN" sz="2800" b="1" dirty="0">
              <a:solidFill>
                <a:schemeClr val="tx1"/>
              </a:solidFill>
            </a:endParaRPr>
          </a:p>
        </p:txBody>
      </p:sp>
      <p:sp>
        <p:nvSpPr>
          <p:cNvPr id="52236" name="Text Box 12"/>
          <p:cNvSpPr txBox="1"/>
          <p:nvPr/>
        </p:nvSpPr>
        <p:spPr>
          <a:xfrm>
            <a:off x="6900863" y="4191000"/>
            <a:ext cx="1938337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zh-CN" sz="2800" b="1" dirty="0">
                <a:solidFill>
                  <a:schemeClr val="tx1"/>
                </a:solidFill>
                <a:ea typeface="楷体_GB2312" pitchFamily="1" charset="-122"/>
              </a:rPr>
              <a:t>0 </a:t>
            </a:r>
            <a:r>
              <a:rPr lang="zh-CN" altLang="zh-CN" sz="2800" b="1" dirty="0">
                <a:solidFill>
                  <a:schemeClr val="tx1"/>
                </a:solidFill>
              </a:rPr>
              <a:t> ≤</a:t>
            </a:r>
            <a:r>
              <a:rPr lang="zh-CN" altLang="zh-CN" sz="2800" b="1" dirty="0">
                <a:solidFill>
                  <a:schemeClr val="tx1"/>
                </a:solidFill>
                <a:ea typeface="楷体_GB2312" pitchFamily="1" charset="-122"/>
              </a:rPr>
              <a:t> X &lt; </a:t>
            </a:r>
            <a:r>
              <a:rPr lang="zh-CN" altLang="zh-CN" sz="2800" b="1" dirty="0">
                <a:solidFill>
                  <a:schemeClr val="tx1"/>
                </a:solidFill>
              </a:rPr>
              <a:t>2</a:t>
            </a:r>
            <a:r>
              <a:rPr lang="zh-CN" altLang="zh-CN" sz="2800" b="1" baseline="30000" dirty="0">
                <a:solidFill>
                  <a:schemeClr val="tx1"/>
                </a:solidFill>
              </a:rPr>
              <a:t>n</a:t>
            </a:r>
            <a:endParaRPr lang="zh-CN" altLang="zh-CN" sz="2800" b="1" baseline="30000" dirty="0">
              <a:solidFill>
                <a:schemeClr val="tx1"/>
              </a:solidFill>
            </a:endParaRPr>
          </a:p>
        </p:txBody>
      </p:sp>
      <p:sp>
        <p:nvSpPr>
          <p:cNvPr id="52237" name="Text Box 13"/>
          <p:cNvSpPr txBox="1"/>
          <p:nvPr/>
        </p:nvSpPr>
        <p:spPr>
          <a:xfrm>
            <a:off x="6553200" y="4724400"/>
            <a:ext cx="2438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zh-CN" sz="2800" b="1" dirty="0">
                <a:solidFill>
                  <a:schemeClr val="tx1"/>
                </a:solidFill>
              </a:rPr>
              <a:t>  - 2</a:t>
            </a:r>
            <a:r>
              <a:rPr lang="zh-CN" altLang="zh-CN" sz="2800" b="1" baseline="30000" dirty="0">
                <a:solidFill>
                  <a:schemeClr val="tx1"/>
                </a:solidFill>
              </a:rPr>
              <a:t>n</a:t>
            </a:r>
            <a:r>
              <a:rPr lang="zh-CN" altLang="zh-CN" sz="2800" b="1" dirty="0">
                <a:solidFill>
                  <a:schemeClr val="tx1"/>
                </a:solidFill>
              </a:rPr>
              <a:t>  &lt; X  ≤ 0</a:t>
            </a:r>
            <a:endParaRPr lang="zh-CN" altLang="zh-CN" sz="28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0" name="Rectangle 2"/>
          <p:cNvSpPr>
            <a:spLocks noGrp="1"/>
          </p:cNvSpPr>
          <p:nvPr>
            <p:ph type="title"/>
          </p:nvPr>
        </p:nvSpPr>
        <p:spPr>
          <a:xfrm>
            <a:off x="323850" y="1052513"/>
            <a:ext cx="7620000" cy="685800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3200" dirty="0"/>
              <a:t>定点数反码的表示法</a:t>
            </a:r>
            <a:endParaRPr lang="zh-CN" altLang="en-US" sz="3200" dirty="0"/>
          </a:p>
        </p:txBody>
      </p:sp>
      <p:sp>
        <p:nvSpPr>
          <p:cNvPr id="53251" name="Rectangle 3"/>
          <p:cNvSpPr>
            <a:spLocks noGrp="1"/>
          </p:cNvSpPr>
          <p:nvPr>
            <p:ph idx="1"/>
          </p:nvPr>
        </p:nvSpPr>
        <p:spPr>
          <a:xfrm>
            <a:off x="381000" y="1981200"/>
            <a:ext cx="8305800" cy="4114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zh-CN" altLang="en-US" sz="2800" b="1" dirty="0"/>
              <a:t>由原码求反码，如果</a:t>
            </a:r>
            <a:r>
              <a:rPr lang="zh-CN" altLang="zh-CN" sz="2800" b="1" dirty="0"/>
              <a:t>X</a:t>
            </a:r>
            <a:r>
              <a:rPr lang="zh-CN" altLang="en-US" sz="2800" b="1" dirty="0"/>
              <a:t>为正数，则</a:t>
            </a:r>
            <a:r>
              <a:rPr lang="zh-CN" altLang="zh-CN" sz="2800" b="1" dirty="0"/>
              <a:t>[X]</a:t>
            </a:r>
            <a:r>
              <a:rPr lang="zh-CN" altLang="en-US" sz="2800" b="1" baseline="-25000" dirty="0"/>
              <a:t>反</a:t>
            </a:r>
            <a:r>
              <a:rPr lang="zh-CN" altLang="zh-CN" sz="2800" b="1" dirty="0"/>
              <a:t>=[X]</a:t>
            </a:r>
            <a:r>
              <a:rPr lang="zh-CN" altLang="en-US" sz="2800" b="1" baseline="-25000" dirty="0"/>
              <a:t>原</a:t>
            </a:r>
            <a:r>
              <a:rPr lang="zh-CN" altLang="en-US" sz="2800" b="1" dirty="0"/>
              <a:t>；如果</a:t>
            </a:r>
            <a:r>
              <a:rPr lang="zh-CN" altLang="zh-CN" sz="2800" b="1" dirty="0"/>
              <a:t>X</a:t>
            </a:r>
            <a:r>
              <a:rPr lang="zh-CN" altLang="en-US" sz="2800" b="1" dirty="0"/>
              <a:t>为负数，则将</a:t>
            </a:r>
            <a:r>
              <a:rPr lang="zh-CN" altLang="zh-CN" sz="2800" b="1" dirty="0"/>
              <a:t>[X]</a:t>
            </a:r>
            <a:r>
              <a:rPr lang="zh-CN" altLang="en-US" sz="2800" b="1" baseline="-25000" dirty="0"/>
              <a:t>原</a:t>
            </a:r>
            <a:r>
              <a:rPr lang="zh-CN" altLang="en-US" sz="2800" b="1" dirty="0"/>
              <a:t>除符号位以外，每位都变反，可得到</a:t>
            </a:r>
            <a:r>
              <a:rPr lang="zh-CN" altLang="zh-CN" sz="2800" b="1" dirty="0"/>
              <a:t>[X]</a:t>
            </a:r>
            <a:r>
              <a:rPr lang="zh-CN" altLang="en-US" sz="2800" b="1" baseline="-25000" dirty="0"/>
              <a:t>反</a:t>
            </a:r>
            <a:r>
              <a:rPr lang="zh-CN" altLang="en-US" sz="2800" b="1" dirty="0"/>
              <a:t>。</a:t>
            </a:r>
            <a:endParaRPr lang="zh-CN" altLang="en-US" sz="2800" b="1" dirty="0"/>
          </a:p>
          <a:p>
            <a:pPr eaLnBrk="1" hangingPunct="1">
              <a:lnSpc>
                <a:spcPct val="90000"/>
              </a:lnSpc>
            </a:pPr>
            <a:r>
              <a:rPr lang="zh-CN" altLang="en-US" sz="2800" b="1" dirty="0"/>
              <a:t>实例：</a:t>
            </a:r>
            <a:r>
              <a:rPr lang="zh-CN" altLang="zh-CN" sz="2800" b="1" dirty="0"/>
              <a:t>X1 = 0.10110    -0.10110    0.0000</a:t>
            </a:r>
            <a:endParaRPr lang="zh-CN" altLang="zh-CN" sz="2800" b="1" dirty="0"/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zh-CN" sz="2800" b="1" dirty="0"/>
              <a:t>        [ X ] </a:t>
            </a:r>
            <a:r>
              <a:rPr lang="zh-CN" altLang="en-US" sz="2800" b="1" baseline="-25000" dirty="0">
                <a:solidFill>
                  <a:srgbClr val="FF0000"/>
                </a:solidFill>
              </a:rPr>
              <a:t>反</a:t>
            </a:r>
            <a:r>
              <a:rPr lang="zh-CN" altLang="en-US" sz="2800" b="1" dirty="0"/>
              <a:t> </a:t>
            </a:r>
            <a:r>
              <a:rPr lang="zh-CN" altLang="zh-CN" sz="2800" b="1" dirty="0"/>
              <a:t>=   </a:t>
            </a:r>
            <a:r>
              <a:rPr lang="zh-CN" altLang="zh-CN" sz="2800" b="1" dirty="0">
                <a:solidFill>
                  <a:srgbClr val="FF0000"/>
                </a:solidFill>
              </a:rPr>
              <a:t>0.</a:t>
            </a:r>
            <a:r>
              <a:rPr lang="en-US" altLang="zh-CN" sz="2800" b="1" dirty="0">
                <a:solidFill>
                  <a:srgbClr val="FF0000"/>
                </a:solidFill>
              </a:rPr>
              <a:t>10110</a:t>
            </a:r>
            <a:r>
              <a:rPr lang="zh-CN" altLang="zh-CN" sz="2800" b="1" dirty="0">
                <a:solidFill>
                  <a:srgbClr val="FF0000"/>
                </a:solidFill>
              </a:rPr>
              <a:t>     1.01001    0.0000</a:t>
            </a:r>
            <a:endParaRPr lang="zh-CN" altLang="zh-CN" sz="2800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zh-CN" sz="2800" b="1" dirty="0">
                <a:solidFill>
                  <a:srgbClr val="FF0000"/>
                </a:solidFill>
              </a:rPr>
              <a:t>                       [ -0.0000]</a:t>
            </a:r>
            <a:r>
              <a:rPr lang="zh-CN" altLang="en-US" sz="2800" b="1" baseline="-25000" dirty="0"/>
              <a:t>反                            </a:t>
            </a:r>
            <a:r>
              <a:rPr lang="zh-CN" altLang="zh-CN" sz="2800" b="1" dirty="0">
                <a:solidFill>
                  <a:srgbClr val="FF0000"/>
                </a:solidFill>
              </a:rPr>
              <a:t>1</a:t>
            </a:r>
            <a:r>
              <a:rPr lang="en-US" altLang="zh-CN" sz="2800" b="1" dirty="0">
                <a:solidFill>
                  <a:srgbClr val="FF0000"/>
                </a:solidFill>
              </a:rPr>
              <a:t>.</a:t>
            </a:r>
            <a:r>
              <a:rPr lang="zh-CN" altLang="zh-CN" sz="2800" b="1" dirty="0">
                <a:solidFill>
                  <a:srgbClr val="FF0000"/>
                </a:solidFill>
              </a:rPr>
              <a:t>1111</a:t>
            </a:r>
            <a:r>
              <a:rPr lang="zh-CN" altLang="zh-CN" sz="2800" b="1" dirty="0"/>
              <a:t>   </a:t>
            </a:r>
            <a:endParaRPr lang="zh-CN" altLang="zh-CN" sz="2800" b="1" dirty="0"/>
          </a:p>
          <a:p>
            <a:pPr eaLnBrk="1" hangingPunct="1">
              <a:lnSpc>
                <a:spcPct val="90000"/>
              </a:lnSpc>
            </a:pPr>
            <a:r>
              <a:rPr lang="zh-CN" altLang="en-US" sz="2800" b="1" dirty="0"/>
              <a:t>实例：</a:t>
            </a:r>
            <a:r>
              <a:rPr lang="zh-CN" altLang="zh-CN" sz="2800" b="1" dirty="0"/>
              <a:t>X1 = 10110        -10110       0000</a:t>
            </a:r>
            <a:endParaRPr lang="zh-CN" altLang="zh-CN" sz="2800" b="1" dirty="0"/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zh-CN" sz="2800" b="1" dirty="0"/>
              <a:t>        [ X ] </a:t>
            </a:r>
            <a:r>
              <a:rPr lang="zh-CN" altLang="en-US" sz="2800" b="1" baseline="-25000" dirty="0">
                <a:solidFill>
                  <a:srgbClr val="FF0000"/>
                </a:solidFill>
              </a:rPr>
              <a:t>反</a:t>
            </a:r>
            <a:r>
              <a:rPr lang="zh-CN" altLang="en-US" sz="2800" b="1" dirty="0"/>
              <a:t> </a:t>
            </a:r>
            <a:r>
              <a:rPr lang="zh-CN" altLang="zh-CN" sz="2800" b="1" dirty="0"/>
              <a:t>=   </a:t>
            </a:r>
            <a:r>
              <a:rPr lang="en-US" altLang="zh-CN" sz="2800" b="1" dirty="0">
                <a:solidFill>
                  <a:srgbClr val="FF0000"/>
                </a:solidFill>
              </a:rPr>
              <a:t>010110</a:t>
            </a:r>
            <a:r>
              <a:rPr lang="zh-CN" altLang="zh-CN" sz="2800" b="1" dirty="0">
                <a:solidFill>
                  <a:srgbClr val="FF0000"/>
                </a:solidFill>
              </a:rPr>
              <a:t>      101001     00000</a:t>
            </a:r>
            <a:endParaRPr lang="zh-CN" altLang="zh-CN" sz="2800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zh-CN" sz="2800" b="1" dirty="0">
                <a:solidFill>
                  <a:srgbClr val="FF0000"/>
                </a:solidFill>
              </a:rPr>
              <a:t>                                                             11111</a:t>
            </a:r>
            <a:endParaRPr lang="zh-CN" altLang="zh-CN" sz="2800" b="1" dirty="0">
              <a:solidFill>
                <a:srgbClr val="FF0000"/>
              </a:solidFill>
            </a:endParaRPr>
          </a:p>
        </p:txBody>
      </p:sp>
      <p:sp>
        <p:nvSpPr>
          <p:cNvPr id="53252" name="Rectangle 4"/>
          <p:cNvSpPr/>
          <p:nvPr/>
        </p:nvSpPr>
        <p:spPr>
          <a:xfrm>
            <a:off x="7010400" y="3352800"/>
            <a:ext cx="1981200" cy="1371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dirty="0">
                <a:solidFill>
                  <a:schemeClr val="tx1"/>
                </a:solidFill>
              </a:rPr>
              <a:t>对于反码有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</a:rPr>
              <a:t>[+0]</a:t>
            </a:r>
            <a:r>
              <a:rPr lang="zh-CN" altLang="en-US" sz="2400" dirty="0">
                <a:solidFill>
                  <a:schemeClr val="tx1"/>
                </a:solidFill>
              </a:rPr>
              <a:t>和</a:t>
            </a:r>
            <a:r>
              <a:rPr lang="zh-CN" altLang="zh-CN" sz="2400" dirty="0">
                <a:solidFill>
                  <a:schemeClr val="tx1"/>
                </a:solidFill>
              </a:rPr>
              <a:t>[-0]</a:t>
            </a:r>
            <a:r>
              <a:rPr lang="zh-CN" altLang="en-US" sz="2400" dirty="0">
                <a:solidFill>
                  <a:schemeClr val="tx1"/>
                </a:solidFill>
              </a:rPr>
              <a:t>之分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53253" name="Line 5"/>
          <p:cNvSpPr/>
          <p:nvPr/>
        </p:nvSpPr>
        <p:spPr>
          <a:xfrm flipV="1">
            <a:off x="4284663" y="4437063"/>
            <a:ext cx="12954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dirty="0"/>
              <a:t>3.补码表示法</a:t>
            </a:r>
            <a:endParaRPr lang="zh-CN" altLang="en-US" dirty="0"/>
          </a:p>
        </p:txBody>
      </p:sp>
      <p:sp>
        <p:nvSpPr>
          <p:cNvPr id="54275" name="Rectangle 3"/>
          <p:cNvSpPr>
            <a:spLocks noGrp="1"/>
          </p:cNvSpPr>
          <p:nvPr>
            <p:ph idx="1"/>
          </p:nvPr>
        </p:nvSpPr>
        <p:spPr>
          <a:xfrm>
            <a:off x="685800" y="1981200"/>
            <a:ext cx="7989888" cy="4114800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b="1" dirty="0"/>
              <a:t>补码是在“模”和“同余”的概念下导出的。</a:t>
            </a:r>
            <a:endParaRPr lang="zh-CN" altLang="en-US" b="1" dirty="0"/>
          </a:p>
          <a:p>
            <a:pPr eaLnBrk="1" hangingPunct="1"/>
            <a:r>
              <a:rPr lang="zh-CN" altLang="zh-CN" b="1" dirty="0"/>
              <a:t> “</a:t>
            </a:r>
            <a:r>
              <a:rPr lang="zh-CN" altLang="en-US" b="1" dirty="0"/>
              <a:t>模”是指一个计量系统的计量范围，即产生“溢出”的量。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8" name="Rectangle 2"/>
          <p:cNvSpPr>
            <a:spLocks noGrp="1"/>
          </p:cNvSpPr>
          <p:nvPr>
            <p:ph type="title" idx="4294967295"/>
          </p:nvPr>
        </p:nvSpPr>
        <p:spPr>
          <a:xfrm>
            <a:off x="533400" y="914400"/>
            <a:ext cx="6400800" cy="838200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3200" dirty="0"/>
              <a:t>定点数补码的表示法</a:t>
            </a:r>
            <a:endParaRPr lang="zh-CN" altLang="en-US" sz="3200" dirty="0"/>
          </a:p>
        </p:txBody>
      </p:sp>
      <p:grpSp>
        <p:nvGrpSpPr>
          <p:cNvPr id="55299" name="Group 3"/>
          <p:cNvGrpSpPr/>
          <p:nvPr/>
        </p:nvGrpSpPr>
        <p:grpSpPr>
          <a:xfrm>
            <a:off x="1219200" y="2971800"/>
            <a:ext cx="2209800" cy="2057400"/>
            <a:chOff x="0" y="0"/>
            <a:chExt cx="1392" cy="1296"/>
          </a:xfrm>
        </p:grpSpPr>
        <p:sp>
          <p:nvSpPr>
            <p:cNvPr id="55340" name="Oval 4"/>
            <p:cNvSpPr/>
            <p:nvPr/>
          </p:nvSpPr>
          <p:spPr>
            <a:xfrm>
              <a:off x="0" y="0"/>
              <a:ext cx="1392" cy="12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rgbClr val="6666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rgbClr val="666699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rgbClr val="666699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55341" name="Oval 5"/>
            <p:cNvSpPr/>
            <p:nvPr/>
          </p:nvSpPr>
          <p:spPr>
            <a:xfrm>
              <a:off x="672" y="624"/>
              <a:ext cx="48" cy="48"/>
            </a:xfrm>
            <a:prstGeom prst="ellipse">
              <a:avLst/>
            </a:prstGeom>
            <a:solidFill>
              <a:schemeClr val="bg2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rgbClr val="6666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rgbClr val="666699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rgbClr val="666699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55342" name="Line 6"/>
            <p:cNvSpPr/>
            <p:nvPr/>
          </p:nvSpPr>
          <p:spPr>
            <a:xfrm>
              <a:off x="672" y="0"/>
              <a:ext cx="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43" name="Line 7"/>
            <p:cNvSpPr/>
            <p:nvPr/>
          </p:nvSpPr>
          <p:spPr>
            <a:xfrm>
              <a:off x="672" y="1200"/>
              <a:ext cx="0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44" name="Line 8"/>
            <p:cNvSpPr/>
            <p:nvPr/>
          </p:nvSpPr>
          <p:spPr>
            <a:xfrm>
              <a:off x="0" y="624"/>
              <a:ext cx="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45" name="Line 9"/>
            <p:cNvSpPr/>
            <p:nvPr/>
          </p:nvSpPr>
          <p:spPr>
            <a:xfrm flipH="1">
              <a:off x="1296" y="672"/>
              <a:ext cx="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46" name="Line 10"/>
            <p:cNvSpPr/>
            <p:nvPr/>
          </p:nvSpPr>
          <p:spPr>
            <a:xfrm flipH="1">
              <a:off x="960" y="96"/>
              <a:ext cx="48" cy="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47" name="Line 11"/>
            <p:cNvSpPr/>
            <p:nvPr/>
          </p:nvSpPr>
          <p:spPr>
            <a:xfrm flipH="1">
              <a:off x="1248" y="336"/>
              <a:ext cx="48" cy="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48" name="Line 12"/>
            <p:cNvSpPr/>
            <p:nvPr/>
          </p:nvSpPr>
          <p:spPr>
            <a:xfrm>
              <a:off x="336" y="96"/>
              <a:ext cx="48" cy="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49" name="Line 13"/>
            <p:cNvSpPr/>
            <p:nvPr/>
          </p:nvSpPr>
          <p:spPr>
            <a:xfrm>
              <a:off x="96" y="336"/>
              <a:ext cx="96" cy="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50" name="Line 14"/>
            <p:cNvSpPr/>
            <p:nvPr/>
          </p:nvSpPr>
          <p:spPr>
            <a:xfrm flipV="1">
              <a:off x="96" y="912"/>
              <a:ext cx="48" cy="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51" name="Line 15"/>
            <p:cNvSpPr/>
            <p:nvPr/>
          </p:nvSpPr>
          <p:spPr>
            <a:xfrm flipV="1">
              <a:off x="336" y="1104"/>
              <a:ext cx="48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52" name="Line 16"/>
            <p:cNvSpPr/>
            <p:nvPr/>
          </p:nvSpPr>
          <p:spPr>
            <a:xfrm>
              <a:off x="1200" y="960"/>
              <a:ext cx="48" cy="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53" name="Line 17"/>
            <p:cNvSpPr/>
            <p:nvPr/>
          </p:nvSpPr>
          <p:spPr>
            <a:xfrm>
              <a:off x="960" y="1152"/>
              <a:ext cx="48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54" name="Line 18"/>
            <p:cNvSpPr/>
            <p:nvPr/>
          </p:nvSpPr>
          <p:spPr>
            <a:xfrm flipV="1">
              <a:off x="672" y="144"/>
              <a:ext cx="0" cy="48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5355" name="Line 19"/>
            <p:cNvSpPr/>
            <p:nvPr/>
          </p:nvSpPr>
          <p:spPr>
            <a:xfrm>
              <a:off x="720" y="672"/>
              <a:ext cx="192" cy="3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55316" name="Group 20"/>
          <p:cNvGrpSpPr/>
          <p:nvPr/>
        </p:nvGrpSpPr>
        <p:grpSpPr>
          <a:xfrm>
            <a:off x="5638800" y="2971800"/>
            <a:ext cx="2209800" cy="2057400"/>
            <a:chOff x="0" y="0"/>
            <a:chExt cx="1392" cy="1296"/>
          </a:xfrm>
        </p:grpSpPr>
        <p:sp>
          <p:nvSpPr>
            <p:cNvPr id="55324" name="Oval 21"/>
            <p:cNvSpPr/>
            <p:nvPr/>
          </p:nvSpPr>
          <p:spPr>
            <a:xfrm>
              <a:off x="0" y="0"/>
              <a:ext cx="1392" cy="12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rgbClr val="6666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rgbClr val="666699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rgbClr val="666699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55325" name="Oval 22"/>
            <p:cNvSpPr/>
            <p:nvPr/>
          </p:nvSpPr>
          <p:spPr>
            <a:xfrm>
              <a:off x="672" y="624"/>
              <a:ext cx="48" cy="48"/>
            </a:xfrm>
            <a:prstGeom prst="ellipse">
              <a:avLst/>
            </a:prstGeom>
            <a:solidFill>
              <a:schemeClr val="bg2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rgbClr val="6666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rgbClr val="666699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rgbClr val="666699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55326" name="Line 23"/>
            <p:cNvSpPr/>
            <p:nvPr/>
          </p:nvSpPr>
          <p:spPr>
            <a:xfrm>
              <a:off x="672" y="0"/>
              <a:ext cx="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27" name="Line 24"/>
            <p:cNvSpPr/>
            <p:nvPr/>
          </p:nvSpPr>
          <p:spPr>
            <a:xfrm>
              <a:off x="672" y="1200"/>
              <a:ext cx="0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28" name="Line 25"/>
            <p:cNvSpPr/>
            <p:nvPr/>
          </p:nvSpPr>
          <p:spPr>
            <a:xfrm>
              <a:off x="0" y="624"/>
              <a:ext cx="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29" name="Line 26"/>
            <p:cNvSpPr/>
            <p:nvPr/>
          </p:nvSpPr>
          <p:spPr>
            <a:xfrm flipH="1">
              <a:off x="1296" y="672"/>
              <a:ext cx="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30" name="Line 27"/>
            <p:cNvSpPr/>
            <p:nvPr/>
          </p:nvSpPr>
          <p:spPr>
            <a:xfrm flipH="1">
              <a:off x="960" y="96"/>
              <a:ext cx="48" cy="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31" name="Line 28"/>
            <p:cNvSpPr/>
            <p:nvPr/>
          </p:nvSpPr>
          <p:spPr>
            <a:xfrm flipH="1">
              <a:off x="1248" y="336"/>
              <a:ext cx="48" cy="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32" name="Line 29"/>
            <p:cNvSpPr/>
            <p:nvPr/>
          </p:nvSpPr>
          <p:spPr>
            <a:xfrm>
              <a:off x="336" y="96"/>
              <a:ext cx="48" cy="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33" name="Line 30"/>
            <p:cNvSpPr/>
            <p:nvPr/>
          </p:nvSpPr>
          <p:spPr>
            <a:xfrm>
              <a:off x="96" y="336"/>
              <a:ext cx="96" cy="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34" name="Line 31"/>
            <p:cNvSpPr/>
            <p:nvPr/>
          </p:nvSpPr>
          <p:spPr>
            <a:xfrm flipV="1">
              <a:off x="96" y="912"/>
              <a:ext cx="48" cy="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35" name="Line 32"/>
            <p:cNvSpPr/>
            <p:nvPr/>
          </p:nvSpPr>
          <p:spPr>
            <a:xfrm flipV="1">
              <a:off x="336" y="1104"/>
              <a:ext cx="48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36" name="Line 33"/>
            <p:cNvSpPr/>
            <p:nvPr/>
          </p:nvSpPr>
          <p:spPr>
            <a:xfrm>
              <a:off x="1200" y="960"/>
              <a:ext cx="48" cy="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37" name="Line 34"/>
            <p:cNvSpPr/>
            <p:nvPr/>
          </p:nvSpPr>
          <p:spPr>
            <a:xfrm>
              <a:off x="960" y="1152"/>
              <a:ext cx="48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38" name="Line 35"/>
            <p:cNvSpPr/>
            <p:nvPr/>
          </p:nvSpPr>
          <p:spPr>
            <a:xfrm flipV="1">
              <a:off x="672" y="144"/>
              <a:ext cx="0" cy="48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5339" name="Line 36"/>
            <p:cNvSpPr/>
            <p:nvPr/>
          </p:nvSpPr>
          <p:spPr>
            <a:xfrm>
              <a:off x="720" y="672"/>
              <a:ext cx="192" cy="3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2" name="AutoShape 37"/>
          <p:cNvSpPr/>
          <p:nvPr/>
        </p:nvSpPr>
        <p:spPr>
          <a:xfrm rot="-3210828">
            <a:off x="2614613" y="4243388"/>
            <a:ext cx="762000" cy="352425"/>
          </a:xfrm>
          <a:prstGeom prst="curvedUpArrow">
            <a:avLst>
              <a:gd name="adj1" fmla="val 43243"/>
              <a:gd name="adj2" fmla="val 86486"/>
              <a:gd name="adj3" fmla="val 33324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3" name="AutoShape 38"/>
          <p:cNvSpPr/>
          <p:nvPr/>
        </p:nvSpPr>
        <p:spPr>
          <a:xfrm rot="-10681810">
            <a:off x="6172200" y="3276600"/>
            <a:ext cx="538163" cy="1377950"/>
          </a:xfrm>
          <a:prstGeom prst="curvedLeftArrow">
            <a:avLst>
              <a:gd name="adj1" fmla="val 20115"/>
              <a:gd name="adj2" fmla="val 100129"/>
              <a:gd name="adj3" fmla="val 22851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4" name="Text Box 39"/>
          <p:cNvSpPr txBox="1"/>
          <p:nvPr/>
        </p:nvSpPr>
        <p:spPr>
          <a:xfrm>
            <a:off x="1219200" y="1981200"/>
            <a:ext cx="6629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5" name="Text Box 40"/>
          <p:cNvSpPr txBox="1"/>
          <p:nvPr/>
        </p:nvSpPr>
        <p:spPr>
          <a:xfrm>
            <a:off x="1066800" y="2209800"/>
            <a:ext cx="6858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现在是北京时间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3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点整，而时钟却指向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5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点。</a:t>
            </a:r>
            <a:endParaRPr lang="zh-CN" altLang="en-US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6" name="Text Box 41"/>
          <p:cNvSpPr txBox="1"/>
          <p:nvPr/>
        </p:nvSpPr>
        <p:spPr>
          <a:xfrm>
            <a:off x="1828800" y="5334000"/>
            <a:ext cx="1143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5-2=3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7" name="Text Box 42"/>
          <p:cNvSpPr txBox="1"/>
          <p:nvPr/>
        </p:nvSpPr>
        <p:spPr>
          <a:xfrm>
            <a:off x="5562600" y="5334000"/>
            <a:ext cx="28956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5+10=3</a:t>
            </a:r>
            <a:r>
              <a:rPr lang="zh-CN" altLang="en-US" sz="2400" dirty="0">
                <a:solidFill>
                  <a:schemeClr val="tx1"/>
                </a:solidFill>
                <a:latin typeface="Tahoma" panose="020B0604030504040204" pitchFamily="34" charset="0"/>
              </a:rPr>
              <a:t>（</a:t>
            </a: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12</a:t>
            </a:r>
            <a:r>
              <a:rPr lang="zh-CN" altLang="en-US" sz="2400" dirty="0">
                <a:solidFill>
                  <a:schemeClr val="tx1"/>
                </a:solidFill>
                <a:latin typeface="Tahoma" panose="020B0604030504040204" pitchFamily="34" charset="0"/>
              </a:rPr>
              <a:t>自动丢失。</a:t>
            </a: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12</a:t>
            </a:r>
            <a:r>
              <a:rPr lang="zh-CN" altLang="en-US" sz="2400" dirty="0">
                <a:solidFill>
                  <a:schemeClr val="tx1"/>
                </a:solidFill>
                <a:latin typeface="Tahoma" panose="020B0604030504040204" pitchFamily="34" charset="0"/>
              </a:rPr>
              <a:t>就是模）</a:t>
            </a:r>
            <a:endParaRPr lang="zh-CN" altLang="en-US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grpSp>
        <p:nvGrpSpPr>
          <p:cNvPr id="55307" name="Group 43"/>
          <p:cNvGrpSpPr/>
          <p:nvPr/>
        </p:nvGrpSpPr>
        <p:grpSpPr>
          <a:xfrm>
            <a:off x="6934200" y="152400"/>
            <a:ext cx="2057400" cy="2057400"/>
            <a:chOff x="0" y="0"/>
            <a:chExt cx="1296" cy="1296"/>
          </a:xfrm>
        </p:grpSpPr>
        <p:sp>
          <p:nvSpPr>
            <p:cNvPr id="55308" name="Oval 44"/>
            <p:cNvSpPr/>
            <p:nvPr/>
          </p:nvSpPr>
          <p:spPr>
            <a:xfrm>
              <a:off x="0" y="0"/>
              <a:ext cx="1296" cy="1296"/>
            </a:xfrm>
            <a:prstGeom prst="ellipse">
              <a:avLst/>
            </a:prstGeom>
            <a:gradFill rotWithShape="0">
              <a:gsLst>
                <a:gs pos="0">
                  <a:srgbClr val="FFFF99"/>
                </a:gs>
                <a:gs pos="100000">
                  <a:srgbClr val="767647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dbl">
              <a:solidFill>
                <a:srgbClr val="FF6699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rgbClr val="6666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rgbClr val="666699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rgbClr val="666699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55309" name="Line 45"/>
            <p:cNvSpPr/>
            <p:nvPr/>
          </p:nvSpPr>
          <p:spPr>
            <a:xfrm>
              <a:off x="672" y="48"/>
              <a:ext cx="0" cy="144"/>
            </a:xfrm>
            <a:prstGeom prst="line">
              <a:avLst/>
            </a:prstGeom>
            <a:ln w="952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10" name="Line 46"/>
            <p:cNvSpPr/>
            <p:nvPr/>
          </p:nvSpPr>
          <p:spPr>
            <a:xfrm>
              <a:off x="672" y="1056"/>
              <a:ext cx="0" cy="144"/>
            </a:xfrm>
            <a:prstGeom prst="line">
              <a:avLst/>
            </a:prstGeom>
            <a:ln w="952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11" name="Line 47"/>
            <p:cNvSpPr/>
            <p:nvPr/>
          </p:nvSpPr>
          <p:spPr>
            <a:xfrm>
              <a:off x="48" y="624"/>
              <a:ext cx="144" cy="0"/>
            </a:xfrm>
            <a:prstGeom prst="line">
              <a:avLst/>
            </a:prstGeom>
            <a:ln w="952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12" name="Line 48"/>
            <p:cNvSpPr/>
            <p:nvPr/>
          </p:nvSpPr>
          <p:spPr>
            <a:xfrm>
              <a:off x="1056" y="624"/>
              <a:ext cx="144" cy="0"/>
            </a:xfrm>
            <a:prstGeom prst="line">
              <a:avLst/>
            </a:prstGeom>
            <a:ln w="952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13" name="Line 49"/>
            <p:cNvSpPr/>
            <p:nvPr/>
          </p:nvSpPr>
          <p:spPr>
            <a:xfrm>
              <a:off x="384" y="144"/>
              <a:ext cx="96" cy="144"/>
            </a:xfrm>
            <a:prstGeom prst="line">
              <a:avLst/>
            </a:prstGeom>
            <a:ln w="952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14" name="Line 50"/>
            <p:cNvSpPr/>
            <p:nvPr/>
          </p:nvSpPr>
          <p:spPr>
            <a:xfrm>
              <a:off x="816" y="960"/>
              <a:ext cx="96" cy="144"/>
            </a:xfrm>
            <a:prstGeom prst="line">
              <a:avLst/>
            </a:prstGeom>
            <a:ln w="952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15" name="Line 51"/>
            <p:cNvSpPr/>
            <p:nvPr/>
          </p:nvSpPr>
          <p:spPr>
            <a:xfrm>
              <a:off x="144" y="384"/>
              <a:ext cx="144" cy="96"/>
            </a:xfrm>
            <a:prstGeom prst="line">
              <a:avLst/>
            </a:prstGeom>
            <a:ln w="952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" name="Line 52"/>
            <p:cNvSpPr/>
            <p:nvPr/>
          </p:nvSpPr>
          <p:spPr>
            <a:xfrm>
              <a:off x="960" y="816"/>
              <a:ext cx="144" cy="96"/>
            </a:xfrm>
            <a:prstGeom prst="line">
              <a:avLst/>
            </a:prstGeom>
            <a:ln w="952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17" name="Line 53"/>
            <p:cNvSpPr/>
            <p:nvPr/>
          </p:nvSpPr>
          <p:spPr>
            <a:xfrm flipH="1">
              <a:off x="864" y="144"/>
              <a:ext cx="96" cy="96"/>
            </a:xfrm>
            <a:prstGeom prst="line">
              <a:avLst/>
            </a:prstGeom>
            <a:ln w="952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18" name="Line 54"/>
            <p:cNvSpPr/>
            <p:nvPr/>
          </p:nvSpPr>
          <p:spPr>
            <a:xfrm flipH="1">
              <a:off x="336" y="1056"/>
              <a:ext cx="96" cy="96"/>
            </a:xfrm>
            <a:prstGeom prst="line">
              <a:avLst/>
            </a:prstGeom>
            <a:ln w="952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19" name="Line 55"/>
            <p:cNvSpPr/>
            <p:nvPr/>
          </p:nvSpPr>
          <p:spPr>
            <a:xfrm flipV="1">
              <a:off x="144" y="768"/>
              <a:ext cx="144" cy="96"/>
            </a:xfrm>
            <a:prstGeom prst="line">
              <a:avLst/>
            </a:prstGeom>
            <a:ln w="952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20" name="Line 56"/>
            <p:cNvSpPr/>
            <p:nvPr/>
          </p:nvSpPr>
          <p:spPr>
            <a:xfrm flipV="1">
              <a:off x="1008" y="336"/>
              <a:ext cx="144" cy="96"/>
            </a:xfrm>
            <a:prstGeom prst="line">
              <a:avLst/>
            </a:prstGeom>
            <a:ln w="9525" cap="flat" cmpd="sng">
              <a:solidFill>
                <a:schemeClr val="bg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5321" name="Line 57"/>
            <p:cNvSpPr/>
            <p:nvPr/>
          </p:nvSpPr>
          <p:spPr>
            <a:xfrm>
              <a:off x="672" y="624"/>
              <a:ext cx="288" cy="0"/>
            </a:xfrm>
            <a:prstGeom prst="line">
              <a:avLst/>
            </a:prstGeom>
            <a:ln w="38100" cap="flat" cmpd="sng">
              <a:solidFill>
                <a:schemeClr val="bg2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5322" name="Line 58"/>
            <p:cNvSpPr/>
            <p:nvPr/>
          </p:nvSpPr>
          <p:spPr>
            <a:xfrm flipV="1">
              <a:off x="672" y="192"/>
              <a:ext cx="0" cy="432"/>
            </a:xfrm>
            <a:prstGeom prst="line">
              <a:avLst/>
            </a:prstGeom>
            <a:ln w="38100" cap="flat" cmpd="sng">
              <a:solidFill>
                <a:schemeClr val="bg2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5323" name="AutoShape 59"/>
            <p:cNvSpPr/>
            <p:nvPr/>
          </p:nvSpPr>
          <p:spPr>
            <a:xfrm>
              <a:off x="624" y="624"/>
              <a:ext cx="48" cy="48"/>
            </a:xfrm>
            <a:prstGeom prst="flowChartConnector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rgbClr val="666699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rgbClr val="666699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rgbClr val="666699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666699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400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52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52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2"/>
                                            </p:cond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5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5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39"/>
                                            </p:cond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6" grpId="0"/>
      <p:bldP spid="7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2" name="Rectangle 2"/>
          <p:cNvSpPr/>
          <p:nvPr/>
        </p:nvSpPr>
        <p:spPr>
          <a:xfrm>
            <a:off x="457200" y="4452938"/>
            <a:ext cx="8382000" cy="1643062"/>
          </a:xfrm>
          <a:prstGeom prst="rect">
            <a:avLst/>
          </a:prstGeom>
          <a:solidFill>
            <a:srgbClr val="FFFFCC"/>
          </a:solidFill>
          <a:ln w="57150" cap="flat" cmpd="thickThin">
            <a:solidFill>
              <a:srgbClr val="FF66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56323" name="Rectangle 3"/>
          <p:cNvSpPr>
            <a:spLocks noGrp="1"/>
          </p:cNvSpPr>
          <p:nvPr>
            <p:ph type="title"/>
          </p:nvPr>
        </p:nvSpPr>
        <p:spPr>
          <a:xfrm>
            <a:off x="609600" y="838200"/>
            <a:ext cx="7772400" cy="838200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3200" dirty="0"/>
              <a:t>定点数补码的表示法</a:t>
            </a:r>
            <a:endParaRPr lang="zh-CN" altLang="en-US" sz="3200" dirty="0"/>
          </a:p>
        </p:txBody>
      </p:sp>
      <p:sp>
        <p:nvSpPr>
          <p:cNvPr id="56324" name="Rectangle 4"/>
          <p:cNvSpPr>
            <a:spLocks noGrp="1"/>
          </p:cNvSpPr>
          <p:nvPr>
            <p:ph idx="1"/>
          </p:nvPr>
        </p:nvSpPr>
        <p:spPr>
          <a:xfrm>
            <a:off x="609600" y="1828800"/>
            <a:ext cx="8001000" cy="2655888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sz="2800" b="1" dirty="0"/>
              <a:t>继续推导：</a:t>
            </a:r>
            <a:endParaRPr lang="zh-CN" altLang="en-US" sz="2800" b="1" dirty="0"/>
          </a:p>
          <a:p>
            <a:pPr eaLnBrk="1" hangingPunct="1">
              <a:buNone/>
            </a:pPr>
            <a:r>
              <a:rPr lang="zh-CN" altLang="zh-CN" sz="2800" b="1" dirty="0"/>
              <a:t>   5-2=5+10</a:t>
            </a:r>
            <a:r>
              <a:rPr lang="zh-CN" altLang="en-US" sz="2800" b="1" dirty="0"/>
              <a:t>（</a:t>
            </a:r>
            <a:r>
              <a:rPr lang="zh-CN" altLang="zh-CN" sz="2800" b="1" dirty="0"/>
              <a:t>MOD  12</a:t>
            </a:r>
            <a:r>
              <a:rPr lang="zh-CN" altLang="en-US" sz="2800" b="1" dirty="0"/>
              <a:t>）</a:t>
            </a:r>
            <a:endParaRPr lang="zh-CN" altLang="en-US" sz="2800" b="1" dirty="0"/>
          </a:p>
          <a:p>
            <a:pPr eaLnBrk="1" hangingPunct="1">
              <a:buNone/>
            </a:pPr>
            <a:r>
              <a:rPr lang="zh-CN" altLang="zh-CN" sz="2800" b="1" dirty="0"/>
              <a:t>   5+</a:t>
            </a:r>
            <a:r>
              <a:rPr lang="zh-CN" altLang="en-US" sz="2800" b="1" dirty="0"/>
              <a:t>（</a:t>
            </a:r>
            <a:r>
              <a:rPr lang="zh-CN" altLang="zh-CN" sz="2800" b="1" dirty="0"/>
              <a:t>-2</a:t>
            </a:r>
            <a:r>
              <a:rPr lang="zh-CN" altLang="en-US" sz="2800" b="1" dirty="0"/>
              <a:t>）</a:t>
            </a:r>
            <a:r>
              <a:rPr lang="zh-CN" altLang="zh-CN" sz="2800" b="1" dirty="0"/>
              <a:t>=5+10</a:t>
            </a:r>
            <a:r>
              <a:rPr lang="zh-CN" altLang="en-US" sz="2800" b="1" dirty="0"/>
              <a:t>（</a:t>
            </a:r>
            <a:r>
              <a:rPr lang="zh-CN" altLang="zh-CN" sz="2800" b="1" dirty="0"/>
              <a:t>MOD 12</a:t>
            </a:r>
            <a:r>
              <a:rPr lang="zh-CN" altLang="en-US" sz="2800" b="1" dirty="0"/>
              <a:t>）</a:t>
            </a:r>
            <a:endParaRPr lang="zh-CN" altLang="en-US" sz="2800" b="1" dirty="0"/>
          </a:p>
          <a:p>
            <a:pPr eaLnBrk="1" hangingPunct="1">
              <a:buNone/>
            </a:pPr>
            <a:r>
              <a:rPr lang="zh-CN" altLang="zh-CN" sz="2800" b="1" dirty="0"/>
              <a:t>   -2=10</a:t>
            </a:r>
            <a:r>
              <a:rPr lang="zh-CN" altLang="en-US" sz="2800" b="1" dirty="0"/>
              <a:t>（</a:t>
            </a:r>
            <a:r>
              <a:rPr lang="zh-CN" altLang="zh-CN" sz="2800" b="1" dirty="0"/>
              <a:t>MOD 12</a:t>
            </a:r>
            <a:r>
              <a:rPr lang="zh-CN" altLang="en-US" sz="2800" b="1" dirty="0"/>
              <a:t>）</a:t>
            </a:r>
            <a:endParaRPr lang="zh-CN" altLang="en-US" sz="2800" b="1" dirty="0"/>
          </a:p>
          <a:p>
            <a:pPr eaLnBrk="1" hangingPunct="1"/>
            <a:r>
              <a:rPr lang="zh-CN" altLang="en-US" sz="2800" b="1" dirty="0"/>
              <a:t>结论：</a:t>
            </a:r>
            <a:endParaRPr lang="zh-CN" altLang="en-US" sz="2800" b="1" dirty="0"/>
          </a:p>
        </p:txBody>
      </p:sp>
      <p:sp>
        <p:nvSpPr>
          <p:cNvPr id="56325" name="Text Box 5"/>
          <p:cNvSpPr txBox="1"/>
          <p:nvPr/>
        </p:nvSpPr>
        <p:spPr>
          <a:xfrm>
            <a:off x="609600" y="4560888"/>
            <a:ext cx="8139113" cy="14589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chemeClr val="tx1"/>
                </a:solidFill>
                <a:latin typeface="Tahoma" panose="020B0604030504040204" pitchFamily="34" charset="0"/>
              </a:rPr>
              <a:t>可以说：在模为</a:t>
            </a:r>
            <a:r>
              <a:rPr lang="zh-CN" altLang="zh-CN" sz="2800" dirty="0">
                <a:solidFill>
                  <a:schemeClr val="tx1"/>
                </a:solidFill>
                <a:latin typeface="Tahoma" panose="020B0604030504040204" pitchFamily="34" charset="0"/>
              </a:rPr>
              <a:t>12</a:t>
            </a:r>
            <a:r>
              <a:rPr lang="zh-CN" altLang="en-US" sz="2800" dirty="0">
                <a:solidFill>
                  <a:schemeClr val="tx1"/>
                </a:solidFill>
                <a:latin typeface="Tahoma" panose="020B0604030504040204" pitchFamily="34" charset="0"/>
              </a:rPr>
              <a:t>的情况下，</a:t>
            </a:r>
            <a:r>
              <a:rPr lang="zh-CN" altLang="zh-CN" sz="2800" dirty="0">
                <a:solidFill>
                  <a:schemeClr val="tx1"/>
                </a:solidFill>
                <a:latin typeface="Tahoma" panose="020B0604030504040204" pitchFamily="34" charset="0"/>
              </a:rPr>
              <a:t>-2</a:t>
            </a:r>
            <a:r>
              <a:rPr lang="zh-CN" altLang="en-US" sz="2800" dirty="0">
                <a:solidFill>
                  <a:schemeClr val="tx1"/>
                </a:solidFill>
                <a:latin typeface="Tahoma" panose="020B0604030504040204" pitchFamily="34" charset="0"/>
              </a:rPr>
              <a:t>的补码就是</a:t>
            </a:r>
            <a:r>
              <a:rPr lang="zh-CN" altLang="zh-CN" sz="2800" dirty="0">
                <a:solidFill>
                  <a:schemeClr val="tx1"/>
                </a:solidFill>
                <a:latin typeface="Tahoma" panose="020B0604030504040204" pitchFamily="34" charset="0"/>
              </a:rPr>
              <a:t>10</a:t>
            </a:r>
            <a:r>
              <a:rPr lang="zh-CN" altLang="en-US" sz="2800" dirty="0">
                <a:solidFill>
                  <a:schemeClr val="tx1"/>
                </a:solidFill>
                <a:latin typeface="Tahoma" panose="020B0604030504040204" pitchFamily="34" charset="0"/>
              </a:rPr>
              <a:t>。</a:t>
            </a:r>
            <a:endParaRPr lang="zh-CN" altLang="en-US" sz="2800" dirty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marL="0" lvl="0" indent="0" eaLnBrk="1" hangingPunct="1"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zh-CN" sz="2800" dirty="0">
                <a:solidFill>
                  <a:schemeClr val="tx1"/>
                </a:solidFill>
                <a:latin typeface="Tahoma" panose="020B0604030504040204" pitchFamily="34" charset="0"/>
              </a:rPr>
              <a:t>      </a:t>
            </a:r>
            <a:r>
              <a:rPr lang="zh-CN" altLang="en-US" sz="2800" dirty="0">
                <a:solidFill>
                  <a:schemeClr val="tx1"/>
                </a:solidFill>
                <a:latin typeface="Tahoma" panose="020B0604030504040204" pitchFamily="34" charset="0"/>
              </a:rPr>
              <a:t>一个负数用其补码代替，同样可以得到正确的运算结果。</a:t>
            </a:r>
            <a:endParaRPr lang="zh-CN" altLang="en-US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324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324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>
                                            <p:txEl>
                                              <p:charRg st="6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6324">
                                            <p:txEl>
                                              <p:charRg st="6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6324">
                                            <p:txEl>
                                              <p:charRg st="6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>
                                            <p:txEl>
                                              <p:charRg st="27" end="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6324">
                                            <p:txEl>
                                              <p:charRg st="27" end="5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6324">
                                            <p:txEl>
                                              <p:charRg st="27" end="5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>
                                            <p:txEl>
                                              <p:charRg st="50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6324">
                                            <p:txEl>
                                              <p:charRg st="50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6324">
                                            <p:txEl>
                                              <p:charRg st="50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>
                                            <p:txEl>
                                              <p:charRg st="67" end="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6324">
                                            <p:txEl>
                                              <p:charRg st="67" end="7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6324">
                                            <p:txEl>
                                              <p:charRg st="67" end="7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500"/>
                                        <p:tgtEl>
                                          <p:spTgt spid="56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4" grpId="0" build="p"/>
      <p:bldP spid="56325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6" name="Rectangle 2"/>
          <p:cNvSpPr>
            <a:spLocks noGrp="1"/>
          </p:cNvSpPr>
          <p:nvPr>
            <p:ph type="title"/>
          </p:nvPr>
        </p:nvSpPr>
        <p:spPr>
          <a:xfrm>
            <a:off x="396875" y="1052513"/>
            <a:ext cx="7620000" cy="685800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3200" dirty="0"/>
              <a:t>定点数补码的表示法</a:t>
            </a:r>
            <a:endParaRPr lang="zh-CN" altLang="en-US" sz="3200" dirty="0"/>
          </a:p>
        </p:txBody>
      </p:sp>
      <p:sp>
        <p:nvSpPr>
          <p:cNvPr id="57347" name="Rectangle 3"/>
          <p:cNvSpPr>
            <a:spLocks noGrp="1"/>
          </p:cNvSpPr>
          <p:nvPr>
            <p:ph idx="1"/>
          </p:nvPr>
        </p:nvSpPr>
        <p:spPr>
          <a:xfrm>
            <a:off x="685800" y="1909763"/>
            <a:ext cx="7775575" cy="4111625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</a:rPr>
              <a:t>进一步结论：</a:t>
            </a:r>
            <a:endParaRPr lang="zh-CN" altLang="en-US" sz="2800" b="1" dirty="0">
              <a:solidFill>
                <a:srgbClr val="0000FF"/>
              </a:solidFill>
            </a:endParaRPr>
          </a:p>
          <a:p>
            <a:pPr eaLnBrk="1" hangingPunct="1">
              <a:buNone/>
            </a:pPr>
            <a:r>
              <a:rPr lang="zh-CN" altLang="zh-CN" sz="2800" b="1" dirty="0">
                <a:solidFill>
                  <a:srgbClr val="0000FF"/>
                </a:solidFill>
              </a:rPr>
              <a:t>           </a:t>
            </a:r>
            <a:r>
              <a:rPr lang="zh-CN" altLang="en-US" sz="2800" b="1" dirty="0">
                <a:solidFill>
                  <a:srgbClr val="0000FF"/>
                </a:solidFill>
              </a:rPr>
              <a:t>在计算机中，机器能表示的数据位数是一定的，其运算都是有模运算。如果是</a:t>
            </a:r>
            <a:r>
              <a:rPr lang="zh-CN" altLang="zh-CN" sz="2800" b="1" dirty="0">
                <a:solidFill>
                  <a:srgbClr val="0000FF"/>
                </a:solidFill>
              </a:rPr>
              <a:t>n</a:t>
            </a:r>
            <a:r>
              <a:rPr lang="zh-CN" altLang="en-US" sz="2800" b="1" dirty="0">
                <a:solidFill>
                  <a:srgbClr val="0000FF"/>
                </a:solidFill>
              </a:rPr>
              <a:t>位整数，其模为</a:t>
            </a:r>
            <a:r>
              <a:rPr lang="zh-CN" altLang="zh-CN" sz="2800" b="1" dirty="0">
                <a:solidFill>
                  <a:srgbClr val="0000FF"/>
                </a:solidFill>
              </a:rPr>
              <a:t>2</a:t>
            </a:r>
            <a:r>
              <a:rPr lang="zh-CN" altLang="zh-CN" sz="2800" b="1" baseline="30000" dirty="0">
                <a:solidFill>
                  <a:srgbClr val="0000FF"/>
                </a:solidFill>
              </a:rPr>
              <a:t>n</a:t>
            </a:r>
            <a:r>
              <a:rPr lang="zh-CN" altLang="en-US" sz="2800" b="1" dirty="0">
                <a:solidFill>
                  <a:srgbClr val="0000FF"/>
                </a:solidFill>
              </a:rPr>
              <a:t>。如果是</a:t>
            </a:r>
            <a:r>
              <a:rPr lang="zh-CN" altLang="zh-CN" sz="2800" b="1" dirty="0">
                <a:solidFill>
                  <a:srgbClr val="0000FF"/>
                </a:solidFill>
              </a:rPr>
              <a:t>n</a:t>
            </a:r>
            <a:r>
              <a:rPr lang="zh-CN" altLang="en-US" sz="2800" b="1" dirty="0">
                <a:solidFill>
                  <a:srgbClr val="0000FF"/>
                </a:solidFill>
              </a:rPr>
              <a:t>位小数，其模为</a:t>
            </a:r>
            <a:r>
              <a:rPr lang="zh-CN" altLang="zh-CN" sz="2800" b="1" dirty="0">
                <a:solidFill>
                  <a:srgbClr val="0000FF"/>
                </a:solidFill>
              </a:rPr>
              <a:t>2</a:t>
            </a:r>
            <a:r>
              <a:rPr lang="zh-CN" altLang="en-US" sz="2800" b="1" dirty="0">
                <a:solidFill>
                  <a:srgbClr val="0000FF"/>
                </a:solidFill>
              </a:rPr>
              <a:t>。</a:t>
            </a:r>
            <a:endParaRPr lang="zh-CN" altLang="en-US" sz="2800" b="1" dirty="0">
              <a:solidFill>
                <a:srgbClr val="0000FF"/>
              </a:solidFill>
            </a:endParaRPr>
          </a:p>
          <a:p>
            <a:pPr eaLnBrk="1" hangingPunct="1">
              <a:buNone/>
            </a:pPr>
            <a:r>
              <a:rPr lang="zh-CN" altLang="zh-CN" sz="2800" b="1" dirty="0">
                <a:solidFill>
                  <a:srgbClr val="0000FF"/>
                </a:solidFill>
              </a:rPr>
              <a:t>           </a:t>
            </a:r>
            <a:r>
              <a:rPr lang="zh-CN" altLang="en-US" sz="2800" b="1" dirty="0">
                <a:solidFill>
                  <a:srgbClr val="0000FF"/>
                </a:solidFill>
              </a:rPr>
              <a:t>若运算结果超出了计算机所能表示的数值范围，则只保留它的小于模的低</a:t>
            </a:r>
            <a:r>
              <a:rPr lang="zh-CN" altLang="zh-CN" sz="2800" b="1" dirty="0">
                <a:solidFill>
                  <a:srgbClr val="0000FF"/>
                </a:solidFill>
              </a:rPr>
              <a:t>n</a:t>
            </a:r>
            <a:r>
              <a:rPr lang="zh-CN" altLang="en-US" sz="2800" b="1" dirty="0">
                <a:solidFill>
                  <a:srgbClr val="0000FF"/>
                </a:solidFill>
              </a:rPr>
              <a:t>位的数值，超过</a:t>
            </a:r>
            <a:r>
              <a:rPr lang="zh-CN" altLang="zh-CN" sz="2800" b="1" dirty="0">
                <a:solidFill>
                  <a:srgbClr val="0000FF"/>
                </a:solidFill>
              </a:rPr>
              <a:t>n</a:t>
            </a:r>
            <a:r>
              <a:rPr lang="zh-CN" altLang="en-US" sz="2800" b="1" dirty="0">
                <a:solidFill>
                  <a:srgbClr val="0000FF"/>
                </a:solidFill>
              </a:rPr>
              <a:t>位的高位部分就自动舍弃了。</a:t>
            </a:r>
            <a:endParaRPr lang="zh-CN" altLang="en-US" sz="2800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0" name="Rectangle 2"/>
          <p:cNvSpPr>
            <a:spLocks noGrp="1"/>
          </p:cNvSpPr>
          <p:nvPr>
            <p:ph type="title"/>
          </p:nvPr>
        </p:nvSpPr>
        <p:spPr>
          <a:xfrm>
            <a:off x="396875" y="1052513"/>
            <a:ext cx="7620000" cy="685800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3200" dirty="0"/>
              <a:t>定点数补码的表示法</a:t>
            </a:r>
            <a:endParaRPr lang="zh-CN" altLang="en-US" sz="3200" dirty="0"/>
          </a:p>
        </p:txBody>
      </p:sp>
      <p:sp>
        <p:nvSpPr>
          <p:cNvPr id="58371" name="Rectangle 3"/>
          <p:cNvSpPr>
            <a:spLocks noGrp="1"/>
          </p:cNvSpPr>
          <p:nvPr>
            <p:ph idx="1"/>
          </p:nvPr>
        </p:nvSpPr>
        <p:spPr>
          <a:xfrm>
            <a:off x="685800" y="1906588"/>
            <a:ext cx="7772400" cy="4114800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b="1" dirty="0"/>
              <a:t>定义：</a:t>
            </a:r>
            <a:endParaRPr lang="zh-CN" altLang="en-US" b="1" dirty="0"/>
          </a:p>
          <a:p>
            <a:pPr eaLnBrk="1" hangingPunct="1">
              <a:buNone/>
            </a:pPr>
            <a:r>
              <a:rPr lang="zh-CN" altLang="zh-CN" b="1" dirty="0"/>
              <a:t>         </a:t>
            </a:r>
            <a:r>
              <a:rPr lang="zh-CN" altLang="en-US" b="1" dirty="0"/>
              <a:t>任意一个</a:t>
            </a:r>
            <a:r>
              <a:rPr lang="zh-CN" altLang="zh-CN" b="1" dirty="0"/>
              <a:t>X</a:t>
            </a:r>
            <a:r>
              <a:rPr lang="zh-CN" altLang="en-US" b="1" dirty="0"/>
              <a:t>的补码为</a:t>
            </a:r>
            <a:r>
              <a:rPr lang="zh-CN" altLang="zh-CN" b="1" dirty="0"/>
              <a:t>[X]</a:t>
            </a:r>
            <a:r>
              <a:rPr lang="zh-CN" altLang="en-US" b="1" baseline="-25000" dirty="0"/>
              <a:t>补</a:t>
            </a:r>
            <a:r>
              <a:rPr lang="zh-CN" altLang="en-US" b="1" dirty="0"/>
              <a:t>，可以用该数加上其模</a:t>
            </a:r>
            <a:r>
              <a:rPr lang="zh-CN" altLang="zh-CN" b="1" dirty="0"/>
              <a:t>M</a:t>
            </a:r>
            <a:r>
              <a:rPr lang="zh-CN" altLang="en-US" b="1" dirty="0"/>
              <a:t>来表示。</a:t>
            </a:r>
            <a:endParaRPr lang="zh-CN" altLang="en-US" b="1" dirty="0"/>
          </a:p>
          <a:p>
            <a:pPr eaLnBrk="1" hangingPunct="1">
              <a:buNone/>
            </a:pPr>
            <a:r>
              <a:rPr lang="zh-CN" altLang="zh-CN" b="1" dirty="0"/>
              <a:t>         [X]</a:t>
            </a:r>
            <a:r>
              <a:rPr lang="zh-CN" altLang="en-US" b="1" baseline="-25000" dirty="0"/>
              <a:t>补</a:t>
            </a:r>
            <a:r>
              <a:rPr lang="zh-CN" altLang="zh-CN" b="1" dirty="0"/>
              <a:t>=X+M</a:t>
            </a:r>
            <a:endParaRPr lang="zh-CN" altLang="zh-CN" b="1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4" name="Rectangle 2"/>
          <p:cNvSpPr>
            <a:spLocks noGrp="1"/>
          </p:cNvSpPr>
          <p:nvPr>
            <p:ph type="title"/>
          </p:nvPr>
        </p:nvSpPr>
        <p:spPr>
          <a:xfrm>
            <a:off x="396875" y="1052513"/>
            <a:ext cx="7620000" cy="685800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3200" dirty="0"/>
              <a:t>定点数补码的表示法</a:t>
            </a:r>
            <a:endParaRPr lang="zh-CN" altLang="en-US" sz="3200" dirty="0"/>
          </a:p>
        </p:txBody>
      </p:sp>
      <p:sp>
        <p:nvSpPr>
          <p:cNvPr id="59395" name="Rectangle 3"/>
          <p:cNvSpPr>
            <a:spLocks noGrp="1"/>
          </p:cNvSpPr>
          <p:nvPr>
            <p:ph idx="1"/>
          </p:nvPr>
        </p:nvSpPr>
        <p:spPr>
          <a:xfrm>
            <a:off x="304800" y="1905000"/>
            <a:ext cx="8610600" cy="4114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定点小数表示:  Ns. N</a:t>
            </a:r>
            <a:r>
              <a:rPr lang="zh-CN" altLang="en-US" sz="1600" b="1" dirty="0">
                <a:latin typeface="宋体" panose="02010600030101010101" pitchFamily="2" charset="-122"/>
              </a:rPr>
              <a:t>1</a:t>
            </a:r>
            <a:r>
              <a:rPr lang="zh-CN" altLang="en-US" b="1" dirty="0">
                <a:latin typeface="宋体" panose="02010600030101010101" pitchFamily="2" charset="-122"/>
              </a:rPr>
              <a:t> N</a:t>
            </a:r>
            <a:r>
              <a:rPr lang="zh-CN" altLang="en-US" sz="1600" b="1" dirty="0">
                <a:latin typeface="宋体" panose="02010600030101010101" pitchFamily="2" charset="-122"/>
              </a:rPr>
              <a:t>2</a:t>
            </a:r>
            <a:r>
              <a:rPr lang="zh-CN" altLang="en-US" b="1" dirty="0">
                <a:latin typeface="宋体" panose="02010600030101010101" pitchFamily="2" charset="-122"/>
              </a:rPr>
              <a:t> </a:t>
            </a:r>
            <a:r>
              <a:rPr lang="zh-CN" altLang="en-US" b="1" dirty="0"/>
              <a:t>…</a:t>
            </a:r>
            <a:r>
              <a:rPr lang="zh-CN" altLang="en-US" b="1" dirty="0">
                <a:latin typeface="宋体" panose="02010600030101010101" pitchFamily="2" charset="-122"/>
              </a:rPr>
              <a:t> Nn</a:t>
            </a:r>
            <a:endParaRPr lang="zh-CN" altLang="en-US" dirty="0">
              <a:latin typeface="宋体" panose="02010600030101010101" pitchFamily="2" charset="-122"/>
            </a:endParaRPr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zh-CN" altLang="en-US" b="1" dirty="0"/>
              <a:t> 定义: [ X ]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zh-CN" altLang="en-US" b="1" baseline="-25000" dirty="0">
                <a:solidFill>
                  <a:srgbClr val="FF0000"/>
                </a:solidFill>
              </a:rPr>
              <a:t>补</a:t>
            </a:r>
            <a:r>
              <a:rPr lang="zh-CN" altLang="en-US" b="1" dirty="0"/>
              <a:t> =                                  </a:t>
            </a:r>
            <a:r>
              <a:rPr lang="zh-CN" altLang="en-US" sz="1600" b="1" dirty="0"/>
              <a:t>（MOD 2）</a:t>
            </a:r>
            <a:endParaRPr lang="zh-CN" altLang="en-US" sz="1600" b="1" dirty="0"/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zh-CN" altLang="en-US" b="1" dirty="0"/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zh-CN" altLang="en-US" b="1" dirty="0"/>
              <a:t>定点整数表示：</a:t>
            </a:r>
            <a:r>
              <a:rPr lang="zh-CN" altLang="en-US" b="1" dirty="0">
                <a:ea typeface="楷体_GB2312" pitchFamily="1" charset="-122"/>
              </a:rPr>
              <a:t>Ns N</a:t>
            </a:r>
            <a:r>
              <a:rPr lang="zh-CN" altLang="en-US" sz="1600" b="1" dirty="0">
                <a:ea typeface="楷体_GB2312" pitchFamily="1" charset="-122"/>
              </a:rPr>
              <a:t>1</a:t>
            </a:r>
            <a:r>
              <a:rPr lang="zh-CN" altLang="en-US" b="1" dirty="0">
                <a:ea typeface="楷体_GB2312" pitchFamily="1" charset="-122"/>
              </a:rPr>
              <a:t> N</a:t>
            </a:r>
            <a:r>
              <a:rPr lang="zh-CN" altLang="en-US" sz="1600" b="1" dirty="0">
                <a:ea typeface="楷体_GB2312" pitchFamily="1" charset="-122"/>
              </a:rPr>
              <a:t>2</a:t>
            </a:r>
            <a:r>
              <a:rPr lang="zh-CN" altLang="en-US" b="1" dirty="0">
                <a:ea typeface="楷体_GB2312" pitchFamily="1" charset="-122"/>
              </a:rPr>
              <a:t> … Nn</a:t>
            </a:r>
            <a:endParaRPr lang="zh-CN" altLang="en-US" b="1" dirty="0">
              <a:ea typeface="楷体_GB2312" pitchFamily="1" charset="-122"/>
            </a:endParaRPr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zh-CN" altLang="en-US" b="1" dirty="0">
                <a:ea typeface="楷体_GB2312" pitchFamily="1" charset="-122"/>
              </a:rPr>
              <a:t>定义:  </a:t>
            </a:r>
            <a:r>
              <a:rPr lang="zh-CN" altLang="en-US" b="1" dirty="0"/>
              <a:t>[ X ]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zh-CN" altLang="en-US" b="1" baseline="-25000" dirty="0">
                <a:solidFill>
                  <a:srgbClr val="FF0000"/>
                </a:solidFill>
              </a:rPr>
              <a:t>补</a:t>
            </a:r>
            <a:r>
              <a:rPr lang="zh-CN" altLang="en-US" b="1" dirty="0"/>
              <a:t> =                               </a:t>
            </a:r>
            <a:endParaRPr lang="zh-CN" altLang="en-US" b="1" dirty="0"/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zh-CN" altLang="en-US" b="1" dirty="0"/>
              <a:t>                                                               </a:t>
            </a:r>
            <a:endParaRPr lang="zh-CN" altLang="en-US" sz="1600" dirty="0"/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sp>
        <p:nvSpPr>
          <p:cNvPr id="59396" name="AutoShape 4"/>
          <p:cNvSpPr/>
          <p:nvPr/>
        </p:nvSpPr>
        <p:spPr>
          <a:xfrm>
            <a:off x="3810000" y="2514600"/>
            <a:ext cx="152400" cy="685800"/>
          </a:xfrm>
          <a:prstGeom prst="leftBrace">
            <a:avLst>
              <a:gd name="adj1" fmla="val 37500"/>
              <a:gd name="adj2" fmla="val 50000"/>
            </a:avLst>
          </a:prstGeom>
          <a:noFill/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59397" name="Text Box 5"/>
          <p:cNvSpPr txBox="1"/>
          <p:nvPr/>
        </p:nvSpPr>
        <p:spPr>
          <a:xfrm>
            <a:off x="4038600" y="2286000"/>
            <a:ext cx="53022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zh-CN" sz="2800" b="1" dirty="0">
                <a:solidFill>
                  <a:schemeClr val="tx1"/>
                </a:solidFill>
              </a:rPr>
              <a:t> X</a:t>
            </a:r>
            <a:endParaRPr lang="zh-CN" altLang="zh-CN" sz="2800" b="1" dirty="0">
              <a:solidFill>
                <a:schemeClr val="tx1"/>
              </a:solidFill>
            </a:endParaRPr>
          </a:p>
        </p:txBody>
      </p:sp>
      <p:sp>
        <p:nvSpPr>
          <p:cNvPr id="59398" name="Text Box 6"/>
          <p:cNvSpPr txBox="1"/>
          <p:nvPr/>
        </p:nvSpPr>
        <p:spPr>
          <a:xfrm>
            <a:off x="3962400" y="2971800"/>
            <a:ext cx="100012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zh-CN" sz="2800" b="1" dirty="0">
                <a:solidFill>
                  <a:schemeClr val="tx1"/>
                </a:solidFill>
              </a:rPr>
              <a:t> 2+ X</a:t>
            </a:r>
            <a:endParaRPr lang="zh-CN" altLang="zh-CN" sz="2800" b="1" dirty="0">
              <a:solidFill>
                <a:schemeClr val="tx1"/>
              </a:solidFill>
            </a:endParaRPr>
          </a:p>
        </p:txBody>
      </p:sp>
      <p:sp>
        <p:nvSpPr>
          <p:cNvPr id="59399" name="Text Box 7"/>
          <p:cNvSpPr txBox="1"/>
          <p:nvPr/>
        </p:nvSpPr>
        <p:spPr>
          <a:xfrm>
            <a:off x="5676900" y="2286000"/>
            <a:ext cx="171450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zh-CN" sz="2800" b="1" dirty="0">
                <a:solidFill>
                  <a:schemeClr val="tx1"/>
                </a:solidFill>
                <a:ea typeface="楷体_GB2312" pitchFamily="1" charset="-122"/>
              </a:rPr>
              <a:t>0 ≤ X &lt; 1</a:t>
            </a:r>
            <a:endParaRPr lang="zh-CN" altLang="zh-CN" sz="2800" b="1" dirty="0">
              <a:solidFill>
                <a:schemeClr val="tx1"/>
              </a:solidFill>
              <a:ea typeface="楷体_GB2312" pitchFamily="1" charset="-122"/>
            </a:endParaRPr>
          </a:p>
        </p:txBody>
      </p:sp>
      <p:sp>
        <p:nvSpPr>
          <p:cNvPr id="59400" name="Text Box 8"/>
          <p:cNvSpPr txBox="1"/>
          <p:nvPr/>
        </p:nvSpPr>
        <p:spPr>
          <a:xfrm>
            <a:off x="5410200" y="2971800"/>
            <a:ext cx="22860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zh-CN" sz="2800" b="1" dirty="0">
                <a:solidFill>
                  <a:schemeClr val="tx1"/>
                </a:solidFill>
              </a:rPr>
              <a:t>  -1 </a:t>
            </a:r>
            <a:r>
              <a:rPr lang="zh-CN" altLang="zh-CN" sz="2800" b="1" dirty="0">
                <a:solidFill>
                  <a:schemeClr val="tx1"/>
                </a:solidFill>
                <a:ea typeface="楷体_GB2312" pitchFamily="1" charset="-122"/>
              </a:rPr>
              <a:t>≤</a:t>
            </a:r>
            <a:r>
              <a:rPr lang="zh-CN" altLang="zh-CN" sz="2800" b="1" dirty="0">
                <a:solidFill>
                  <a:schemeClr val="tx1"/>
                </a:solidFill>
              </a:rPr>
              <a:t> X </a:t>
            </a:r>
            <a:r>
              <a:rPr lang="zh-CN" altLang="zh-CN" sz="2800" b="1" dirty="0">
                <a:solidFill>
                  <a:schemeClr val="tx1"/>
                </a:solidFill>
                <a:ea typeface="楷体_GB2312" pitchFamily="1" charset="-122"/>
              </a:rPr>
              <a:t>&lt;</a:t>
            </a:r>
            <a:r>
              <a:rPr lang="zh-CN" altLang="zh-CN" sz="2800" b="1" dirty="0">
                <a:solidFill>
                  <a:schemeClr val="tx1"/>
                </a:solidFill>
              </a:rPr>
              <a:t> 0</a:t>
            </a:r>
            <a:endParaRPr lang="zh-CN" altLang="zh-CN" sz="2800" b="1" dirty="0">
              <a:solidFill>
                <a:schemeClr val="tx1"/>
              </a:solidFill>
            </a:endParaRPr>
          </a:p>
        </p:txBody>
      </p:sp>
      <p:sp>
        <p:nvSpPr>
          <p:cNvPr id="59401" name="AutoShape 9"/>
          <p:cNvSpPr/>
          <p:nvPr/>
        </p:nvSpPr>
        <p:spPr>
          <a:xfrm>
            <a:off x="3810000" y="4572000"/>
            <a:ext cx="152400" cy="762000"/>
          </a:xfrm>
          <a:prstGeom prst="leftBrace">
            <a:avLst>
              <a:gd name="adj1" fmla="val 41620"/>
              <a:gd name="adj2" fmla="val 50000"/>
            </a:avLst>
          </a:prstGeom>
          <a:noFill/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59402" name="Text Box 10"/>
          <p:cNvSpPr txBox="1"/>
          <p:nvPr/>
        </p:nvSpPr>
        <p:spPr>
          <a:xfrm>
            <a:off x="3962400" y="4343400"/>
            <a:ext cx="53022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zh-CN" sz="2800" b="1" dirty="0">
                <a:solidFill>
                  <a:schemeClr val="tx1"/>
                </a:solidFill>
              </a:rPr>
              <a:t> X</a:t>
            </a:r>
            <a:endParaRPr lang="zh-CN" altLang="zh-CN" sz="2800" b="1" dirty="0">
              <a:solidFill>
                <a:schemeClr val="tx1"/>
              </a:solidFill>
            </a:endParaRPr>
          </a:p>
        </p:txBody>
      </p:sp>
      <p:sp>
        <p:nvSpPr>
          <p:cNvPr id="59403" name="Text Box 11"/>
          <p:cNvSpPr txBox="1"/>
          <p:nvPr/>
        </p:nvSpPr>
        <p:spPr>
          <a:xfrm>
            <a:off x="3962400" y="5105400"/>
            <a:ext cx="1600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zh-CN" sz="2800" b="1" dirty="0">
                <a:solidFill>
                  <a:schemeClr val="tx1"/>
                </a:solidFill>
              </a:rPr>
              <a:t> 2</a:t>
            </a:r>
            <a:r>
              <a:rPr lang="zh-CN" altLang="zh-CN" sz="2800" b="1" baseline="30000" dirty="0">
                <a:solidFill>
                  <a:schemeClr val="tx1"/>
                </a:solidFill>
              </a:rPr>
              <a:t>n+1</a:t>
            </a:r>
            <a:r>
              <a:rPr lang="zh-CN" altLang="zh-CN" sz="2800" b="1" dirty="0">
                <a:solidFill>
                  <a:schemeClr val="tx1"/>
                </a:solidFill>
              </a:rPr>
              <a:t> + X</a:t>
            </a:r>
            <a:endParaRPr lang="zh-CN" altLang="zh-CN" sz="2800" b="1" dirty="0">
              <a:solidFill>
                <a:schemeClr val="tx1"/>
              </a:solidFill>
            </a:endParaRPr>
          </a:p>
        </p:txBody>
      </p:sp>
      <p:sp>
        <p:nvSpPr>
          <p:cNvPr id="59404" name="Text Box 12"/>
          <p:cNvSpPr txBox="1"/>
          <p:nvPr/>
        </p:nvSpPr>
        <p:spPr>
          <a:xfrm>
            <a:off x="5694363" y="4343400"/>
            <a:ext cx="1849437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zh-CN" sz="2800" b="1" dirty="0">
                <a:solidFill>
                  <a:schemeClr val="tx1"/>
                </a:solidFill>
                <a:ea typeface="楷体_GB2312" pitchFamily="1" charset="-122"/>
              </a:rPr>
              <a:t>0 ≤ X &lt; </a:t>
            </a:r>
            <a:r>
              <a:rPr lang="zh-CN" altLang="zh-CN" sz="2800" b="1" dirty="0">
                <a:solidFill>
                  <a:schemeClr val="tx1"/>
                </a:solidFill>
              </a:rPr>
              <a:t>2</a:t>
            </a:r>
            <a:r>
              <a:rPr lang="zh-CN" altLang="zh-CN" sz="2800" b="1" baseline="30000" dirty="0">
                <a:solidFill>
                  <a:schemeClr val="tx1"/>
                </a:solidFill>
              </a:rPr>
              <a:t>n</a:t>
            </a:r>
            <a:endParaRPr lang="zh-CN" altLang="zh-CN" sz="2800" b="1" baseline="30000" dirty="0">
              <a:solidFill>
                <a:schemeClr val="tx1"/>
              </a:solidFill>
            </a:endParaRPr>
          </a:p>
        </p:txBody>
      </p:sp>
      <p:sp>
        <p:nvSpPr>
          <p:cNvPr id="59405" name="Text Box 13"/>
          <p:cNvSpPr txBox="1"/>
          <p:nvPr/>
        </p:nvSpPr>
        <p:spPr>
          <a:xfrm>
            <a:off x="5410200" y="5105400"/>
            <a:ext cx="25908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zh-CN" sz="2800" b="1" dirty="0">
                <a:solidFill>
                  <a:schemeClr val="tx1"/>
                </a:solidFill>
              </a:rPr>
              <a:t>  - 2</a:t>
            </a:r>
            <a:r>
              <a:rPr lang="zh-CN" altLang="zh-CN" sz="2800" b="1" baseline="30000" dirty="0">
                <a:solidFill>
                  <a:schemeClr val="tx1"/>
                </a:solidFill>
              </a:rPr>
              <a:t>n</a:t>
            </a:r>
            <a:r>
              <a:rPr lang="zh-CN" altLang="zh-CN" sz="2800" b="1" dirty="0">
                <a:solidFill>
                  <a:schemeClr val="tx1"/>
                </a:solidFill>
              </a:rPr>
              <a:t> </a:t>
            </a:r>
            <a:r>
              <a:rPr lang="zh-CN" altLang="zh-CN" sz="2800" b="1" dirty="0">
                <a:solidFill>
                  <a:schemeClr val="tx1"/>
                </a:solidFill>
                <a:ea typeface="楷体_GB2312" pitchFamily="1" charset="-122"/>
              </a:rPr>
              <a:t>≤</a:t>
            </a:r>
            <a:r>
              <a:rPr lang="zh-CN" altLang="zh-CN" sz="2800" b="1" dirty="0">
                <a:solidFill>
                  <a:schemeClr val="tx1"/>
                </a:solidFill>
              </a:rPr>
              <a:t> X </a:t>
            </a:r>
            <a:r>
              <a:rPr lang="zh-CN" altLang="zh-CN" sz="2800" b="1" dirty="0">
                <a:solidFill>
                  <a:schemeClr val="tx1"/>
                </a:solidFill>
                <a:ea typeface="楷体_GB2312" pitchFamily="1" charset="-122"/>
              </a:rPr>
              <a:t>&lt;</a:t>
            </a:r>
            <a:r>
              <a:rPr lang="zh-CN" altLang="zh-CN" sz="2800" b="1" dirty="0">
                <a:solidFill>
                  <a:schemeClr val="tx1"/>
                </a:solidFill>
              </a:rPr>
              <a:t> 0</a:t>
            </a:r>
            <a:endParaRPr lang="zh-CN" altLang="zh-CN" sz="2800" b="1" dirty="0">
              <a:solidFill>
                <a:schemeClr val="tx1"/>
              </a:solidFill>
            </a:endParaRPr>
          </a:p>
        </p:txBody>
      </p:sp>
      <p:sp>
        <p:nvSpPr>
          <p:cNvPr id="59406" name="Rectangle 14"/>
          <p:cNvSpPr/>
          <p:nvPr/>
        </p:nvSpPr>
        <p:spPr>
          <a:xfrm>
            <a:off x="6858000" y="4724400"/>
            <a:ext cx="16002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1600" b="1" dirty="0"/>
              <a:t>（</a:t>
            </a:r>
            <a:r>
              <a:rPr lang="zh-CN" altLang="zh-CN" sz="1600" b="1" dirty="0"/>
              <a:t>MOD 2</a:t>
            </a:r>
            <a:r>
              <a:rPr lang="zh-CN" altLang="zh-CN" sz="1600" b="1" baseline="30000" dirty="0"/>
              <a:t>n+1</a:t>
            </a:r>
            <a:r>
              <a:rPr lang="zh-CN" altLang="en-US" sz="1600" b="1" dirty="0"/>
              <a:t>）</a:t>
            </a:r>
            <a:endParaRPr lang="zh-CN" altLang="en-US" sz="1600" b="1" dirty="0"/>
          </a:p>
        </p:txBody>
      </p:sp>
    </p:spTree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8" name="Rectangle 2"/>
          <p:cNvSpPr>
            <a:spLocks noGrp="1"/>
          </p:cNvSpPr>
          <p:nvPr>
            <p:ph type="title"/>
          </p:nvPr>
        </p:nvSpPr>
        <p:spPr>
          <a:xfrm>
            <a:off x="396875" y="1052513"/>
            <a:ext cx="7620000" cy="685800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3200" dirty="0"/>
              <a:t>定点数补码的表示法</a:t>
            </a:r>
            <a:endParaRPr lang="zh-CN" altLang="en-US" sz="3200" dirty="0"/>
          </a:p>
        </p:txBody>
      </p:sp>
      <p:sp>
        <p:nvSpPr>
          <p:cNvPr id="60419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b="1" dirty="0"/>
              <a:t>实例：</a:t>
            </a:r>
            <a:r>
              <a:rPr lang="zh-CN" altLang="zh-CN" b="1" dirty="0"/>
              <a:t>X1 = 0.10110    -0.10110    0.0000</a:t>
            </a:r>
            <a:endParaRPr lang="zh-CN" altLang="zh-CN" b="1" dirty="0"/>
          </a:p>
          <a:p>
            <a:pPr eaLnBrk="1" hangingPunct="1">
              <a:buNone/>
            </a:pPr>
            <a:r>
              <a:rPr lang="zh-CN" altLang="zh-CN" b="1" dirty="0"/>
              <a:t>        [ X ] </a:t>
            </a:r>
            <a:r>
              <a:rPr lang="zh-CN" altLang="en-US" b="1" baseline="-25000" dirty="0">
                <a:solidFill>
                  <a:srgbClr val="FF0000"/>
                </a:solidFill>
              </a:rPr>
              <a:t>补</a:t>
            </a:r>
            <a:r>
              <a:rPr lang="zh-CN" altLang="en-US" b="1" dirty="0"/>
              <a:t> </a:t>
            </a:r>
            <a:r>
              <a:rPr lang="zh-CN" altLang="zh-CN" b="1" dirty="0"/>
              <a:t>= </a:t>
            </a:r>
            <a:r>
              <a:rPr lang="zh-CN" altLang="zh-CN" b="1" dirty="0">
                <a:solidFill>
                  <a:srgbClr val="FF0000"/>
                </a:solidFill>
              </a:rPr>
              <a:t>0.10110      1.01010    0.0000</a:t>
            </a:r>
            <a:endParaRPr lang="zh-CN" altLang="zh-CN" b="1" dirty="0">
              <a:solidFill>
                <a:srgbClr val="FF0000"/>
              </a:solidFill>
            </a:endParaRPr>
          </a:p>
          <a:p>
            <a:pPr eaLnBrk="1" hangingPunct="1">
              <a:buNone/>
            </a:pPr>
            <a:r>
              <a:rPr lang="zh-CN" altLang="zh-CN" b="1" dirty="0">
                <a:solidFill>
                  <a:srgbClr val="FF0000"/>
                </a:solidFill>
              </a:rPr>
              <a:t>                                                       </a:t>
            </a:r>
            <a:r>
              <a:rPr lang="zh-CN" altLang="zh-CN" b="1" dirty="0"/>
              <a:t>  </a:t>
            </a:r>
            <a:endParaRPr lang="zh-CN" altLang="zh-CN" b="1" dirty="0"/>
          </a:p>
          <a:p>
            <a:pPr eaLnBrk="1" hangingPunct="1"/>
            <a:r>
              <a:rPr lang="zh-CN" altLang="en-US" b="1" dirty="0"/>
              <a:t>实例：</a:t>
            </a:r>
            <a:r>
              <a:rPr lang="zh-CN" altLang="zh-CN" b="1" dirty="0"/>
              <a:t>X1 = 10110       -10110       0000</a:t>
            </a:r>
            <a:endParaRPr lang="zh-CN" altLang="zh-CN" b="1" dirty="0"/>
          </a:p>
          <a:p>
            <a:pPr eaLnBrk="1" hangingPunct="1">
              <a:buNone/>
            </a:pPr>
            <a:r>
              <a:rPr lang="zh-CN" altLang="zh-CN" b="1" dirty="0"/>
              <a:t>        [ X ] </a:t>
            </a:r>
            <a:r>
              <a:rPr lang="zh-CN" altLang="en-US" b="1" baseline="-25000" dirty="0">
                <a:solidFill>
                  <a:srgbClr val="FF0000"/>
                </a:solidFill>
              </a:rPr>
              <a:t>补</a:t>
            </a:r>
            <a:r>
              <a:rPr lang="zh-CN" altLang="en-US" b="1" dirty="0"/>
              <a:t> </a:t>
            </a:r>
            <a:r>
              <a:rPr lang="zh-CN" altLang="zh-CN" b="1" dirty="0"/>
              <a:t>= </a:t>
            </a:r>
            <a:r>
              <a:rPr lang="zh-CN" altLang="zh-CN" b="1" dirty="0">
                <a:solidFill>
                  <a:srgbClr val="FF0000"/>
                </a:solidFill>
              </a:rPr>
              <a:t>010110      101010     00000</a:t>
            </a:r>
            <a:endParaRPr lang="zh-CN" altLang="zh-CN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2" name="Rectangle 2"/>
          <p:cNvSpPr>
            <a:spLocks noGrp="1"/>
          </p:cNvSpPr>
          <p:nvPr>
            <p:ph type="title"/>
          </p:nvPr>
        </p:nvSpPr>
        <p:spPr>
          <a:xfrm>
            <a:off x="252413" y="1052513"/>
            <a:ext cx="7620000" cy="685800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3200" dirty="0"/>
              <a:t>定点数补码的表示法</a:t>
            </a:r>
            <a:endParaRPr lang="zh-CN" altLang="en-US" sz="3200" dirty="0"/>
          </a:p>
        </p:txBody>
      </p:sp>
      <p:sp>
        <p:nvSpPr>
          <p:cNvPr id="61443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b="1" dirty="0">
                <a:ea typeface="华文新魏" panose="02010800040101010101" pitchFamily="2" charset="-122"/>
              </a:rPr>
              <a:t>由于正数的补码就是正数本身，故着重讲解</a:t>
            </a:r>
            <a:r>
              <a:rPr lang="zh-CN" altLang="en-US" sz="4000" b="1" u="sng" dirty="0">
                <a:solidFill>
                  <a:schemeClr val="hlink"/>
                </a:solidFill>
                <a:ea typeface="华文新魏" panose="02010800040101010101" pitchFamily="2" charset="-122"/>
              </a:rPr>
              <a:t>负数求补码</a:t>
            </a:r>
            <a:r>
              <a:rPr lang="zh-CN" altLang="en-US" b="1" dirty="0">
                <a:ea typeface="华文新魏" panose="02010800040101010101" pitchFamily="2" charset="-122"/>
              </a:rPr>
              <a:t>的方法。</a:t>
            </a:r>
            <a:endParaRPr lang="zh-CN" altLang="en-US" b="1" dirty="0">
              <a:ea typeface="华文新魏" panose="02010800040101010101" pitchFamily="2" charset="-122"/>
            </a:endParaRPr>
          </a:p>
        </p:txBody>
      </p:sp>
      <p:sp>
        <p:nvSpPr>
          <p:cNvPr id="61444" name="Text Box 4"/>
          <p:cNvSpPr txBox="1">
            <a:spLocks noChangeArrowheads="1"/>
          </p:cNvSpPr>
          <p:nvPr/>
        </p:nvSpPr>
        <p:spPr bwMode="auto">
          <a:xfrm>
            <a:off x="900113" y="3933825"/>
            <a:ext cx="6985000" cy="10160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algn="ctr" defTabSz="914400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sz="6000" b="1" kern="1200" cap="none" spc="0" normalizeH="0" baseline="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ea typeface="黑体" panose="02010609060101010101" pitchFamily="49" charset="-122"/>
                <a:cs typeface="+mn-cs"/>
              </a:rPr>
              <a:t>负数求补码</a:t>
            </a:r>
            <a:endParaRPr kumimoji="0" lang="zh-CN" sz="6000" b="1" kern="1200" cap="none" spc="0" normalizeH="0" baseline="0" noProof="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anose="020B0604030504040204" pitchFamily="34" charset="0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charRg st="0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43">
                                            <p:txEl>
                                              <p:charRg st="0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43">
                                            <p:txEl>
                                              <p:charRg st="0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61444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2" grpId="0"/>
      <p:bldP spid="61443" grpId="0" build="p"/>
      <p:bldP spid="61444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6" name="Rectangle 2"/>
          <p:cNvSpPr>
            <a:spLocks noGrp="1"/>
          </p:cNvSpPr>
          <p:nvPr>
            <p:ph type="title"/>
          </p:nvPr>
        </p:nvSpPr>
        <p:spPr>
          <a:xfrm>
            <a:off x="252413" y="1052513"/>
            <a:ext cx="7620000" cy="685800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3200" dirty="0"/>
              <a:t>定点数补码的表示法</a:t>
            </a:r>
            <a:endParaRPr lang="zh-CN" altLang="en-US" sz="3200" dirty="0"/>
          </a:p>
        </p:txBody>
      </p:sp>
      <p:sp>
        <p:nvSpPr>
          <p:cNvPr id="62467" name="Rectangle 3"/>
          <p:cNvSpPr>
            <a:spLocks noGrp="1"/>
          </p:cNvSpPr>
          <p:nvPr>
            <p:ph idx="1"/>
          </p:nvPr>
        </p:nvSpPr>
        <p:spPr>
          <a:xfrm>
            <a:off x="381000" y="2057400"/>
            <a:ext cx="8153400" cy="4114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zh-CN" altLang="en-US" b="1" dirty="0"/>
              <a:t>（1）由定义求</a:t>
            </a:r>
            <a:endParaRPr lang="zh-CN" altLang="en-US" b="1" dirty="0"/>
          </a:p>
          <a:p>
            <a:pPr eaLnBrk="1" hangingPunct="1">
              <a:buNone/>
            </a:pPr>
            <a:r>
              <a:rPr lang="zh-CN" altLang="en-US" b="1" dirty="0"/>
              <a:t>例：Ｘ</a:t>
            </a:r>
            <a:r>
              <a:rPr lang="zh-CN" altLang="en-US" dirty="0"/>
              <a:t>=</a:t>
            </a:r>
            <a:r>
              <a:rPr lang="zh-CN" altLang="en-US" b="1" dirty="0"/>
              <a:t>－０．１１０１００１　</a:t>
            </a:r>
            <a:endParaRPr lang="zh-CN" altLang="en-US" b="1" dirty="0"/>
          </a:p>
        </p:txBody>
      </p:sp>
      <p:sp>
        <p:nvSpPr>
          <p:cNvPr id="62468" name="Text Box 4"/>
          <p:cNvSpPr txBox="1"/>
          <p:nvPr/>
        </p:nvSpPr>
        <p:spPr>
          <a:xfrm>
            <a:off x="1219200" y="3352800"/>
            <a:ext cx="2362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dirty="0">
                <a:solidFill>
                  <a:schemeClr val="tx1"/>
                </a:solidFill>
                <a:latin typeface="Tahoma" panose="020B0604030504040204" pitchFamily="34" charset="0"/>
              </a:rPr>
              <a:t>［</a:t>
            </a: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X]</a:t>
            </a:r>
            <a:r>
              <a:rPr lang="zh-CN" altLang="en-US" sz="2400" baseline="-25000" dirty="0">
                <a:solidFill>
                  <a:schemeClr val="tx1"/>
                </a:solidFill>
                <a:latin typeface="Tahoma" panose="020B0604030504040204" pitchFamily="34" charset="0"/>
              </a:rPr>
              <a:t>补</a:t>
            </a: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=2+X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62469" name="Text Box 5"/>
          <p:cNvSpPr txBox="1"/>
          <p:nvPr/>
        </p:nvSpPr>
        <p:spPr>
          <a:xfrm>
            <a:off x="2057400" y="3886200"/>
            <a:ext cx="3200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=10+(-0.1101001)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62470" name="Text Box 6"/>
          <p:cNvSpPr txBox="1"/>
          <p:nvPr/>
        </p:nvSpPr>
        <p:spPr>
          <a:xfrm>
            <a:off x="2057400" y="4495800"/>
            <a:ext cx="2362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=1.0010111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2467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2467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charRg st="8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2467">
                                            <p:txEl>
                                              <p:charRg st="8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2467">
                                            <p:txEl>
                                              <p:charRg st="8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62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62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62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7" grpId="0" build="p"/>
      <p:bldP spid="62468" grpId="0"/>
      <p:bldP spid="62469" grpId="0"/>
      <p:bldP spid="62470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90" name="Rectangle 2"/>
          <p:cNvSpPr/>
          <p:nvPr/>
        </p:nvSpPr>
        <p:spPr>
          <a:xfrm>
            <a:off x="914400" y="5257800"/>
            <a:ext cx="6934200" cy="533400"/>
          </a:xfrm>
          <a:prstGeom prst="rect">
            <a:avLst/>
          </a:prstGeom>
          <a:solidFill>
            <a:srgbClr val="CC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63491" name="Rectangle 3"/>
          <p:cNvSpPr>
            <a:spLocks noGrp="1"/>
          </p:cNvSpPr>
          <p:nvPr>
            <p:ph type="title"/>
          </p:nvPr>
        </p:nvSpPr>
        <p:spPr>
          <a:xfrm>
            <a:off x="252413" y="981075"/>
            <a:ext cx="7620000" cy="685800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3200" dirty="0"/>
              <a:t>定点数补码的表示法</a:t>
            </a:r>
            <a:endParaRPr lang="zh-CN" altLang="en-US" sz="3200" dirty="0"/>
          </a:p>
        </p:txBody>
      </p:sp>
      <p:sp>
        <p:nvSpPr>
          <p:cNvPr id="63492" name="Rectangle 4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b="1" dirty="0"/>
              <a:t>例: X= —1101001</a:t>
            </a:r>
            <a:endParaRPr lang="zh-CN" altLang="en-US" b="1" dirty="0"/>
          </a:p>
          <a:p>
            <a:pPr eaLnBrk="1" hangingPunct="1">
              <a:buNone/>
            </a:pPr>
            <a:r>
              <a:rPr lang="zh-CN" altLang="en-US" b="1" dirty="0"/>
              <a:t>   解: </a:t>
            </a:r>
            <a:endParaRPr lang="zh-CN" altLang="en-US" b="1" dirty="0"/>
          </a:p>
        </p:txBody>
      </p:sp>
      <p:sp>
        <p:nvSpPr>
          <p:cNvPr id="63493" name="Text Box 5"/>
          <p:cNvSpPr txBox="1"/>
          <p:nvPr/>
        </p:nvSpPr>
        <p:spPr>
          <a:xfrm>
            <a:off x="2286000" y="26670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63494" name="Text Box 6"/>
          <p:cNvSpPr txBox="1"/>
          <p:nvPr/>
        </p:nvSpPr>
        <p:spPr>
          <a:xfrm>
            <a:off x="2362200" y="3124200"/>
            <a:ext cx="2438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[X]</a:t>
            </a:r>
            <a:r>
              <a:rPr lang="zh-CN" altLang="en-US" sz="2400" baseline="-25000" dirty="0">
                <a:solidFill>
                  <a:schemeClr val="tx1"/>
                </a:solidFill>
                <a:latin typeface="Tahoma" panose="020B0604030504040204" pitchFamily="34" charset="0"/>
              </a:rPr>
              <a:t>补</a:t>
            </a: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=2</a:t>
            </a:r>
            <a:r>
              <a:rPr lang="zh-CN" altLang="zh-CN" sz="2400" baseline="30000" dirty="0">
                <a:solidFill>
                  <a:schemeClr val="tx1"/>
                </a:solidFill>
                <a:latin typeface="Tahoma" panose="020B0604030504040204" pitchFamily="34" charset="0"/>
              </a:rPr>
              <a:t>8</a:t>
            </a: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+X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63495" name="Text Box 7"/>
          <p:cNvSpPr txBox="1"/>
          <p:nvPr/>
        </p:nvSpPr>
        <p:spPr>
          <a:xfrm>
            <a:off x="2438400" y="3810000"/>
            <a:ext cx="4495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=100000000+(-1101001)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63496" name="Text Box 8"/>
          <p:cNvSpPr txBox="1"/>
          <p:nvPr/>
        </p:nvSpPr>
        <p:spPr>
          <a:xfrm>
            <a:off x="2438400" y="4648200"/>
            <a:ext cx="3352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=10010111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63497" name="Text Box 9"/>
          <p:cNvSpPr txBox="1"/>
          <p:nvPr/>
        </p:nvSpPr>
        <p:spPr>
          <a:xfrm>
            <a:off x="914400" y="5257800"/>
            <a:ext cx="7772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dirty="0">
                <a:solidFill>
                  <a:srgbClr val="CC00CC"/>
                </a:solidFill>
                <a:latin typeface="Tahoma" panose="020B0604030504040204" pitchFamily="34" charset="0"/>
              </a:rPr>
              <a:t>反过来，由补码求真值，只要将公式进行交换即可</a:t>
            </a:r>
            <a:r>
              <a:rPr lang="zh-CN" altLang="en-US" sz="2400" dirty="0">
                <a:solidFill>
                  <a:srgbClr val="FF66FF"/>
                </a:solidFill>
                <a:latin typeface="Tahoma" panose="020B0604030504040204" pitchFamily="34" charset="0"/>
              </a:rPr>
              <a:t>。</a:t>
            </a:r>
            <a:endParaRPr lang="zh-CN" altLang="en-US" sz="2400" dirty="0">
              <a:solidFill>
                <a:srgbClr val="FF66FF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3492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3492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3492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3492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charRg st="15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3492">
                                            <p:txEl>
                                              <p:charRg st="15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3492">
                                            <p:txEl>
                                              <p:charRg st="15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3492">
                                            <p:txEl>
                                              <p:charRg st="15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3492">
                                            <p:txEl>
                                              <p:charRg st="15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3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63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63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8" dur="500"/>
                                        <p:tgtEl>
                                          <p:spTgt spid="63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63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0" grpId="0" animBg="1"/>
      <p:bldP spid="63492" grpId="0" build="p"/>
      <p:bldP spid="63494" grpId="0"/>
      <p:bldP spid="63495" grpId="0"/>
      <p:bldP spid="63496" grpId="0"/>
      <p:bldP spid="63497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4" name="Rectangle 2"/>
          <p:cNvSpPr>
            <a:spLocks noGrp="1"/>
          </p:cNvSpPr>
          <p:nvPr>
            <p:ph type="title"/>
          </p:nvPr>
        </p:nvSpPr>
        <p:spPr>
          <a:xfrm>
            <a:off x="252413" y="1052513"/>
            <a:ext cx="7620000" cy="685800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3200" dirty="0"/>
              <a:t>定点数补码的表示法</a:t>
            </a:r>
            <a:endParaRPr lang="zh-CN" altLang="en-US" sz="3200" dirty="0"/>
          </a:p>
        </p:txBody>
      </p:sp>
      <p:sp>
        <p:nvSpPr>
          <p:cNvPr id="64515" name="Rectangle 3"/>
          <p:cNvSpPr>
            <a:spLocks noGrp="1"/>
          </p:cNvSpPr>
          <p:nvPr>
            <p:ph idx="1"/>
          </p:nvPr>
        </p:nvSpPr>
        <p:spPr>
          <a:xfrm>
            <a:off x="685800" y="1916113"/>
            <a:ext cx="7772400" cy="4114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zh-CN" altLang="en-US" b="1" dirty="0"/>
              <a:t>（</a:t>
            </a:r>
            <a:r>
              <a:rPr lang="zh-CN" altLang="zh-CN" b="1" dirty="0"/>
              <a:t>2</a:t>
            </a:r>
            <a:r>
              <a:rPr lang="zh-CN" altLang="en-US" b="1" dirty="0"/>
              <a:t>）由原码求补码      </a:t>
            </a:r>
            <a:endParaRPr lang="en-US" altLang="zh-CN" b="1" dirty="0"/>
          </a:p>
          <a:p>
            <a:pPr eaLnBrk="1" hangingPunct="1">
              <a:buNone/>
            </a:pPr>
            <a:r>
              <a:rPr lang="zh-CN" altLang="en-US" b="1" dirty="0"/>
              <a:t>除符号位以外，其余各位求反，末位加</a:t>
            </a:r>
            <a:r>
              <a:rPr lang="zh-CN" altLang="zh-CN" b="1" dirty="0"/>
              <a:t>1</a:t>
            </a:r>
            <a:r>
              <a:rPr lang="zh-CN" altLang="en-US" b="1" dirty="0"/>
              <a:t>。</a:t>
            </a:r>
            <a:endParaRPr lang="zh-CN" altLang="en-US" b="1" dirty="0"/>
          </a:p>
          <a:p>
            <a:pPr eaLnBrk="1" hangingPunct="1">
              <a:buNone/>
            </a:pPr>
            <a:r>
              <a:rPr lang="zh-CN" altLang="en-US" b="1" dirty="0"/>
              <a:t>例：</a:t>
            </a:r>
            <a:r>
              <a:rPr lang="zh-CN" altLang="zh-CN" b="1" dirty="0"/>
              <a:t>X= - 0.0101011</a:t>
            </a:r>
            <a:endParaRPr lang="zh-CN" altLang="zh-CN" b="1" dirty="0"/>
          </a:p>
          <a:p>
            <a:pPr eaLnBrk="1" hangingPunct="1">
              <a:buNone/>
            </a:pPr>
            <a:r>
              <a:rPr lang="zh-CN" altLang="en-US" b="1" dirty="0"/>
              <a:t>解</a:t>
            </a:r>
            <a:r>
              <a:rPr lang="zh-CN" altLang="zh-CN" b="1" dirty="0"/>
              <a:t>:</a:t>
            </a:r>
            <a:endParaRPr lang="zh-CN" altLang="zh-CN" b="1" dirty="0"/>
          </a:p>
        </p:txBody>
      </p:sp>
      <p:sp>
        <p:nvSpPr>
          <p:cNvPr id="64516" name="Text Box 4"/>
          <p:cNvSpPr txBox="1"/>
          <p:nvPr/>
        </p:nvSpPr>
        <p:spPr>
          <a:xfrm>
            <a:off x="1600200" y="3962400"/>
            <a:ext cx="3962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[X]</a:t>
            </a:r>
            <a:r>
              <a:rPr lang="zh-CN" altLang="en-US" sz="2400" baseline="-25000" dirty="0">
                <a:solidFill>
                  <a:schemeClr val="tx1"/>
                </a:solidFill>
                <a:latin typeface="Tahoma" panose="020B0604030504040204" pitchFamily="34" charset="0"/>
              </a:rPr>
              <a:t>原</a:t>
            </a: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= 1  0 1 0 1 0 1 1 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64517" name="Text Box 5"/>
          <p:cNvSpPr txBox="1"/>
          <p:nvPr/>
        </p:nvSpPr>
        <p:spPr>
          <a:xfrm>
            <a:off x="1676400" y="4572000"/>
            <a:ext cx="1143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[X]</a:t>
            </a:r>
            <a:r>
              <a:rPr lang="zh-CN" altLang="en-US" sz="2400" baseline="-25000" dirty="0">
                <a:solidFill>
                  <a:schemeClr val="tx1"/>
                </a:solidFill>
                <a:latin typeface="Tahoma" panose="020B0604030504040204" pitchFamily="34" charset="0"/>
              </a:rPr>
              <a:t>补</a:t>
            </a: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=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64518" name="Text Box 6"/>
          <p:cNvSpPr txBox="1"/>
          <p:nvPr/>
        </p:nvSpPr>
        <p:spPr>
          <a:xfrm>
            <a:off x="2590800" y="4648200"/>
            <a:ext cx="304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1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64519" name="Text Box 7"/>
          <p:cNvSpPr txBox="1"/>
          <p:nvPr/>
        </p:nvSpPr>
        <p:spPr>
          <a:xfrm>
            <a:off x="2971800" y="4648200"/>
            <a:ext cx="381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1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64520" name="Text Box 8"/>
          <p:cNvSpPr txBox="1"/>
          <p:nvPr/>
        </p:nvSpPr>
        <p:spPr>
          <a:xfrm>
            <a:off x="3505200" y="4648200"/>
            <a:ext cx="381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1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64521" name="Text Box 9"/>
          <p:cNvSpPr txBox="1"/>
          <p:nvPr/>
        </p:nvSpPr>
        <p:spPr>
          <a:xfrm>
            <a:off x="4038600" y="4648200"/>
            <a:ext cx="381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1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64522" name="Text Box 10"/>
          <p:cNvSpPr txBox="1"/>
          <p:nvPr/>
        </p:nvSpPr>
        <p:spPr>
          <a:xfrm>
            <a:off x="3276600" y="4648200"/>
            <a:ext cx="381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0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64523" name="Text Box 11"/>
          <p:cNvSpPr txBox="1"/>
          <p:nvPr/>
        </p:nvSpPr>
        <p:spPr>
          <a:xfrm>
            <a:off x="3733800" y="4648200"/>
            <a:ext cx="381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0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64524" name="Text Box 12"/>
          <p:cNvSpPr txBox="1"/>
          <p:nvPr/>
        </p:nvSpPr>
        <p:spPr>
          <a:xfrm>
            <a:off x="4267200" y="4648200"/>
            <a:ext cx="304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0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64525" name="Text Box 13"/>
          <p:cNvSpPr txBox="1"/>
          <p:nvPr/>
        </p:nvSpPr>
        <p:spPr>
          <a:xfrm>
            <a:off x="4572000" y="46482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0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64526" name="Text Box 14"/>
          <p:cNvSpPr txBox="1"/>
          <p:nvPr/>
        </p:nvSpPr>
        <p:spPr>
          <a:xfrm>
            <a:off x="1295400" y="50292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+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64527" name="Text Box 15"/>
          <p:cNvSpPr txBox="1"/>
          <p:nvPr/>
        </p:nvSpPr>
        <p:spPr>
          <a:xfrm>
            <a:off x="4572000" y="51054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1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64528" name="Line 16"/>
          <p:cNvSpPr/>
          <p:nvPr/>
        </p:nvSpPr>
        <p:spPr>
          <a:xfrm>
            <a:off x="1143000" y="5562600"/>
            <a:ext cx="4191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4529" name="Text Box 17"/>
          <p:cNvSpPr txBox="1"/>
          <p:nvPr/>
        </p:nvSpPr>
        <p:spPr>
          <a:xfrm>
            <a:off x="1676400" y="5715000"/>
            <a:ext cx="4114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         1  1 0 1 0 1 0  1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64530" name="AutoShape 18"/>
          <p:cNvSpPr/>
          <p:nvPr/>
        </p:nvSpPr>
        <p:spPr>
          <a:xfrm>
            <a:off x="6081713" y="3124200"/>
            <a:ext cx="2667000" cy="2743200"/>
          </a:xfrm>
          <a:prstGeom prst="cloudCallout">
            <a:avLst>
              <a:gd name="adj1" fmla="val -82560"/>
              <a:gd name="adj2" fmla="val -22741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hlink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由补码求原码，此规则同样适用</a:t>
            </a:r>
            <a:r>
              <a:rPr lang="zh-CN" altLang="en-US" sz="2400" dirty="0">
                <a:solidFill>
                  <a:schemeClr val="tx1"/>
                </a:solidFill>
                <a:latin typeface="Tahoma" panose="020B0604030504040204" pitchFamily="34" charset="0"/>
              </a:rPr>
              <a:t>。</a:t>
            </a:r>
            <a:endParaRPr lang="zh-CN" altLang="en-US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45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45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45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45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64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17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45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45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45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45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500"/>
                            </p:stCondLst>
                            <p:childTnLst>
                              <p:par>
                                <p:cTn id="23" presetID="17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45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45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45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45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0"/>
                            </p:stCondLst>
                            <p:childTnLst>
                              <p:par>
                                <p:cTn id="30" presetID="17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45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45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45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45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6500"/>
                            </p:stCondLst>
                            <p:childTnLst>
                              <p:par>
                                <p:cTn id="37" presetID="17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45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45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45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45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8000"/>
                            </p:stCondLst>
                            <p:childTnLst>
                              <p:par>
                                <p:cTn id="44" presetID="17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645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645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645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45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9500"/>
                            </p:stCondLst>
                            <p:childTnLst>
                              <p:par>
                                <p:cTn id="51" presetID="17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645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645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645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645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1000"/>
                            </p:stCondLst>
                            <p:childTnLst>
                              <p:par>
                                <p:cTn id="58" presetID="17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645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645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645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645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2500"/>
                            </p:stCondLst>
                            <p:childTnLst>
                              <p:par>
                                <p:cTn id="65" presetID="17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645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645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645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645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4000"/>
                            </p:stCondLst>
                            <p:childTnLst>
                              <p:par>
                                <p:cTn id="72" presetID="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645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645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5500"/>
                            </p:stCondLst>
                            <p:childTnLst>
                              <p:par>
                                <p:cTn id="77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64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7000"/>
                            </p:stCondLst>
                            <p:childTnLst>
                              <p:par>
                                <p:cTn id="81" presetID="16" presetClass="entr" presetSubtype="37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3" dur="500"/>
                                        <p:tgtEl>
                                          <p:spTgt spid="64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8500"/>
                            </p:stCondLst>
                            <p:childTnLst>
                              <p:par>
                                <p:cTn id="85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64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2" dur="500"/>
                                        <p:tgtEl>
                                          <p:spTgt spid="64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6" grpId="0"/>
      <p:bldP spid="64517" grpId="0"/>
      <p:bldP spid="64518" grpId="0"/>
      <p:bldP spid="64519" grpId="0"/>
      <p:bldP spid="64520" grpId="0"/>
      <p:bldP spid="64521" grpId="0"/>
      <p:bldP spid="64522" grpId="0"/>
      <p:bldP spid="64523" grpId="0"/>
      <p:bldP spid="64524" grpId="0"/>
      <p:bldP spid="64525" grpId="0"/>
      <p:bldP spid="64526" grpId="0"/>
      <p:bldP spid="64527" grpId="0"/>
      <p:bldP spid="64529" grpId="0"/>
      <p:bldP spid="64530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8" name="Rectangle 2"/>
          <p:cNvSpPr/>
          <p:nvPr/>
        </p:nvSpPr>
        <p:spPr>
          <a:xfrm>
            <a:off x="611188" y="1412875"/>
            <a:ext cx="8001000" cy="4267200"/>
          </a:xfrm>
          <a:prstGeom prst="rect">
            <a:avLst/>
          </a:prstGeom>
          <a:solidFill>
            <a:srgbClr val="FFFF66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65539" name="Rectangle 3"/>
          <p:cNvSpPr>
            <a:spLocks noGrp="1"/>
          </p:cNvSpPr>
          <p:nvPr>
            <p:ph idx="1"/>
          </p:nvPr>
        </p:nvSpPr>
        <p:spPr>
          <a:xfrm>
            <a:off x="609600" y="1371600"/>
            <a:ext cx="7772400" cy="4114800"/>
          </a:xfrm>
          <a:ln/>
        </p:spPr>
        <p:txBody>
          <a:bodyPr vert="horz" wrap="square" lIns="91440" tIns="45720" rIns="91440" bIns="45720" anchor="t" anchorCtr="0"/>
          <a:p>
            <a:pPr marL="0" indent="0" eaLnBrk="1" hangingPunct="1"/>
            <a:r>
              <a:rPr lang="zh-CN" altLang="en-US" sz="36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由原码求补码的简便原则</a:t>
            </a:r>
            <a:r>
              <a:rPr lang="zh-CN" altLang="zh-CN" sz="36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:</a:t>
            </a:r>
            <a:endParaRPr lang="zh-CN" altLang="zh-CN" sz="3600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 eaLnBrk="1" hangingPunct="1">
              <a:buNone/>
            </a:pPr>
            <a:r>
              <a:rPr lang="zh-CN" altLang="zh-CN" sz="36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   </a:t>
            </a:r>
            <a:r>
              <a:rPr lang="zh-CN" altLang="en-US" sz="36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除符号位以外</a:t>
            </a:r>
            <a:r>
              <a:rPr lang="zh-CN" altLang="zh-CN" sz="36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,</a:t>
            </a:r>
            <a:r>
              <a:rPr lang="zh-CN" altLang="en-US" sz="36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其余各位按位取反</a:t>
            </a:r>
            <a:r>
              <a:rPr lang="zh-CN" altLang="zh-CN" sz="36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,</a:t>
            </a:r>
            <a:r>
              <a:rPr lang="zh-CN" altLang="en-US" sz="36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从最低位开始遇到的第一个</a:t>
            </a:r>
            <a:r>
              <a:rPr lang="zh-CN" altLang="zh-CN" sz="36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 sz="36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以前的各位保持不变</a:t>
            </a:r>
            <a:r>
              <a:rPr lang="zh-CN" altLang="en-US" sz="36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。</a:t>
            </a:r>
            <a:endParaRPr lang="zh-CN" altLang="en-US" sz="3600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5540" name="Text Box 4"/>
          <p:cNvSpPr txBox="1"/>
          <p:nvPr/>
        </p:nvSpPr>
        <p:spPr>
          <a:xfrm>
            <a:off x="1295400" y="4495800"/>
            <a:ext cx="6705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dirty="0">
                <a:solidFill>
                  <a:schemeClr val="tx1"/>
                </a:solidFill>
                <a:latin typeface="Tahoma" panose="020B0604030504040204" pitchFamily="34" charset="0"/>
              </a:rPr>
              <a:t>例：</a:t>
            </a: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[X]</a:t>
            </a:r>
            <a:r>
              <a:rPr lang="zh-CN" altLang="en-US" sz="2400" baseline="-25000" dirty="0">
                <a:solidFill>
                  <a:schemeClr val="tx1"/>
                </a:solidFill>
                <a:latin typeface="Tahoma" panose="020B0604030504040204" pitchFamily="34" charset="0"/>
              </a:rPr>
              <a:t>原</a:t>
            </a: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= 1 1 0 1 1 0 1 0 0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65541" name="Text Box 5"/>
          <p:cNvSpPr txBox="1"/>
          <p:nvPr/>
        </p:nvSpPr>
        <p:spPr>
          <a:xfrm>
            <a:off x="1905000" y="5029200"/>
            <a:ext cx="1066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[X]</a:t>
            </a:r>
            <a:r>
              <a:rPr lang="zh-CN" altLang="en-US" sz="2400" baseline="-25000" dirty="0">
                <a:solidFill>
                  <a:schemeClr val="tx1"/>
                </a:solidFill>
                <a:latin typeface="Tahoma" panose="020B0604030504040204" pitchFamily="34" charset="0"/>
              </a:rPr>
              <a:t>补</a:t>
            </a: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=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65542" name="Text Box 6"/>
          <p:cNvSpPr txBox="1"/>
          <p:nvPr/>
        </p:nvSpPr>
        <p:spPr>
          <a:xfrm>
            <a:off x="2667000" y="5029200"/>
            <a:ext cx="291306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dirty="0">
                <a:solidFill>
                  <a:schemeClr val="tx1"/>
                </a:solidFill>
                <a:latin typeface="Tahoma" panose="020B0604030504040204" pitchFamily="34" charset="0"/>
              </a:rPr>
              <a:t>  1 0 1 0 0 1 1 0 0</a:t>
            </a:r>
            <a:endParaRPr lang="zh-CN" altLang="en-US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65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" dur="500"/>
                                        <p:tgtEl>
                                          <p:spTgt spid="65539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charRg st="13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5" dur="500"/>
                                        <p:tgtEl>
                                          <p:spTgt spid="65539">
                                            <p:txEl>
                                              <p:charRg st="13" end="6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55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55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55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55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55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55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7" presetClass="entr" presetSubtype="8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75" fill="hold"/>
                                        <p:tgtEl>
                                          <p:spTgt spid="655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" fill="hold"/>
                                        <p:tgtEl>
                                          <p:spTgt spid="655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" fill="hold"/>
                                        <p:tgtEl>
                                          <p:spTgt spid="655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75" fill="hold"/>
                                        <p:tgtEl>
                                          <p:spTgt spid="655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38" grpId="0" animBg="1"/>
      <p:bldP spid="65539" grpId="0" advAuto="1000" build="p"/>
      <p:bldP spid="65540" grpId="0"/>
      <p:bldP spid="65541" grpId="0"/>
      <p:bldP spid="65542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562" name="AutoShape 2" descr="新闻纸"/>
          <p:cNvSpPr/>
          <p:nvPr/>
        </p:nvSpPr>
        <p:spPr>
          <a:xfrm>
            <a:off x="5867400" y="3124200"/>
            <a:ext cx="2667000" cy="2743200"/>
          </a:xfrm>
          <a:prstGeom prst="cloudCallout">
            <a:avLst>
              <a:gd name="adj1" fmla="val -76431"/>
              <a:gd name="adj2" fmla="val -22741"/>
            </a:avLst>
          </a:prstGeom>
          <a:blipFill rotWithShape="0">
            <a:blip r:embed="rId1"/>
          </a:blip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hlink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由</a:t>
            </a:r>
            <a:r>
              <a:rPr lang="zh-CN" altLang="zh-CN" sz="2800" b="1" dirty="0">
                <a:solidFill>
                  <a:schemeClr val="hlink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[-X]</a:t>
            </a:r>
            <a:r>
              <a:rPr lang="zh-CN" altLang="en-US" sz="2800" b="1" baseline="-25000" dirty="0">
                <a:solidFill>
                  <a:schemeClr val="hlink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补</a:t>
            </a:r>
            <a:r>
              <a:rPr lang="zh-CN" altLang="en-US" sz="2800" b="1" dirty="0">
                <a:solidFill>
                  <a:schemeClr val="hlink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求</a:t>
            </a:r>
            <a:r>
              <a:rPr lang="zh-CN" altLang="zh-CN" sz="2800" b="1" dirty="0">
                <a:solidFill>
                  <a:schemeClr val="hlink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[X]</a:t>
            </a:r>
            <a:r>
              <a:rPr lang="zh-CN" altLang="en-US" sz="2800" b="1" baseline="-25000" dirty="0">
                <a:solidFill>
                  <a:schemeClr val="hlink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补</a:t>
            </a:r>
            <a:r>
              <a:rPr lang="zh-CN" altLang="en-US" sz="2800" b="1" dirty="0">
                <a:solidFill>
                  <a:schemeClr val="hlink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，此规则同样适用</a:t>
            </a:r>
            <a:r>
              <a:rPr lang="zh-CN" altLang="en-US" sz="2400" dirty="0">
                <a:solidFill>
                  <a:schemeClr val="tx1"/>
                </a:solidFill>
                <a:latin typeface="Tahoma" panose="020B0604030504040204" pitchFamily="34" charset="0"/>
              </a:rPr>
              <a:t>。</a:t>
            </a:r>
            <a:endParaRPr lang="zh-CN" altLang="en-US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66563" name="Rectangle 3"/>
          <p:cNvSpPr>
            <a:spLocks noGrp="1"/>
          </p:cNvSpPr>
          <p:nvPr>
            <p:ph type="title"/>
          </p:nvPr>
        </p:nvSpPr>
        <p:spPr>
          <a:xfrm>
            <a:off x="252413" y="1052513"/>
            <a:ext cx="7620000" cy="685800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3200" dirty="0"/>
              <a:t>定点数补码的表示法</a:t>
            </a:r>
            <a:endParaRPr lang="zh-CN" altLang="en-US" sz="3200" dirty="0"/>
          </a:p>
        </p:txBody>
      </p:sp>
      <p:sp>
        <p:nvSpPr>
          <p:cNvPr id="66564" name="Rectangle 4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zh-CN" altLang="en-US" b="1" dirty="0"/>
              <a:t>（</a:t>
            </a:r>
            <a:r>
              <a:rPr lang="zh-CN" altLang="zh-CN" b="1" dirty="0"/>
              <a:t>3</a:t>
            </a:r>
            <a:r>
              <a:rPr lang="zh-CN" altLang="en-US" b="1" dirty="0"/>
              <a:t>）由</a:t>
            </a:r>
            <a:r>
              <a:rPr lang="zh-CN" altLang="zh-CN" b="1" dirty="0"/>
              <a:t>[X]</a:t>
            </a:r>
            <a:r>
              <a:rPr lang="zh-CN" altLang="en-US" b="1" baseline="-25000" dirty="0"/>
              <a:t>补</a:t>
            </a:r>
            <a:r>
              <a:rPr lang="zh-CN" altLang="en-US" b="1" dirty="0"/>
              <a:t>求</a:t>
            </a:r>
            <a:r>
              <a:rPr lang="zh-CN" altLang="zh-CN" b="1" dirty="0"/>
              <a:t>[-X]</a:t>
            </a:r>
            <a:r>
              <a:rPr lang="zh-CN" altLang="en-US" b="1" baseline="-25000" dirty="0"/>
              <a:t>补</a:t>
            </a:r>
            <a:r>
              <a:rPr lang="zh-CN" altLang="zh-CN" b="1" dirty="0"/>
              <a:t>:</a:t>
            </a:r>
            <a:r>
              <a:rPr lang="zh-CN" altLang="en-US" b="1" dirty="0"/>
              <a:t>连符号位一起各位求反，末位加</a:t>
            </a:r>
            <a:r>
              <a:rPr lang="zh-CN" altLang="zh-CN" b="1" dirty="0"/>
              <a:t>1</a:t>
            </a:r>
            <a:r>
              <a:rPr lang="zh-CN" altLang="en-US" b="1" dirty="0"/>
              <a:t>。</a:t>
            </a:r>
            <a:endParaRPr lang="zh-CN" altLang="en-US" b="1" baseline="-25000" dirty="0"/>
          </a:p>
          <a:p>
            <a:pPr eaLnBrk="1" hangingPunct="1">
              <a:buNone/>
            </a:pPr>
            <a:r>
              <a:rPr lang="zh-CN" altLang="en-US" b="1" dirty="0"/>
              <a:t>例：</a:t>
            </a:r>
            <a:r>
              <a:rPr lang="zh-CN" altLang="zh-CN" b="1" dirty="0"/>
              <a:t>[X]</a:t>
            </a:r>
            <a:r>
              <a:rPr lang="zh-CN" altLang="en-US" b="1" baseline="-25000" dirty="0"/>
              <a:t>补</a:t>
            </a:r>
            <a:r>
              <a:rPr lang="zh-CN" altLang="zh-CN" b="1" dirty="0"/>
              <a:t>=1.1010101</a:t>
            </a:r>
            <a:endParaRPr lang="zh-CN" altLang="zh-CN" b="1" dirty="0"/>
          </a:p>
          <a:p>
            <a:pPr eaLnBrk="1" hangingPunct="1">
              <a:buNone/>
            </a:pPr>
            <a:r>
              <a:rPr lang="zh-CN" altLang="en-US" b="1" dirty="0"/>
              <a:t>解</a:t>
            </a:r>
            <a:r>
              <a:rPr lang="zh-CN" altLang="zh-CN" b="1" dirty="0"/>
              <a:t>:</a:t>
            </a:r>
            <a:endParaRPr lang="zh-CN" altLang="zh-CN" b="1" dirty="0"/>
          </a:p>
        </p:txBody>
      </p:sp>
      <p:sp>
        <p:nvSpPr>
          <p:cNvPr id="66565" name="Text Box 5"/>
          <p:cNvSpPr txBox="1"/>
          <p:nvPr/>
        </p:nvSpPr>
        <p:spPr>
          <a:xfrm>
            <a:off x="1447800" y="3962400"/>
            <a:ext cx="3962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[X]</a:t>
            </a:r>
            <a:r>
              <a:rPr lang="zh-CN" altLang="en-US" sz="2400" baseline="-25000" dirty="0">
                <a:solidFill>
                  <a:schemeClr val="tx1"/>
                </a:solidFill>
                <a:latin typeface="Tahoma" panose="020B0604030504040204" pitchFamily="34" charset="0"/>
              </a:rPr>
              <a:t>补</a:t>
            </a: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= 1  1 0 1 0 1 0 1 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66566" name="Text Box 6"/>
          <p:cNvSpPr txBox="1"/>
          <p:nvPr/>
        </p:nvSpPr>
        <p:spPr>
          <a:xfrm>
            <a:off x="1476375" y="4581525"/>
            <a:ext cx="1143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[-X]</a:t>
            </a:r>
            <a:r>
              <a:rPr lang="zh-CN" altLang="en-US" sz="2400" baseline="-25000" dirty="0">
                <a:solidFill>
                  <a:schemeClr val="tx1"/>
                </a:solidFill>
                <a:latin typeface="Tahoma" panose="020B0604030504040204" pitchFamily="34" charset="0"/>
              </a:rPr>
              <a:t>补</a:t>
            </a: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=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66567" name="Text Box 7"/>
          <p:cNvSpPr txBox="1"/>
          <p:nvPr/>
        </p:nvSpPr>
        <p:spPr>
          <a:xfrm>
            <a:off x="1143000" y="50292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+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66568" name="Text Box 8"/>
          <p:cNvSpPr txBox="1"/>
          <p:nvPr/>
        </p:nvSpPr>
        <p:spPr>
          <a:xfrm>
            <a:off x="4419600" y="51054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1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66569" name="Line 9"/>
          <p:cNvSpPr/>
          <p:nvPr/>
        </p:nvSpPr>
        <p:spPr>
          <a:xfrm>
            <a:off x="990600" y="5562600"/>
            <a:ext cx="4191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6570" name="Text Box 10"/>
          <p:cNvSpPr txBox="1"/>
          <p:nvPr/>
        </p:nvSpPr>
        <p:spPr>
          <a:xfrm>
            <a:off x="1600200" y="5562600"/>
            <a:ext cx="3505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dirty="0">
                <a:solidFill>
                  <a:schemeClr val="tx1"/>
                </a:solidFill>
                <a:latin typeface="Tahoma" panose="020B0604030504040204" pitchFamily="34" charset="0"/>
              </a:rPr>
              <a:t>          0 0 1 0 1 0 1  1</a:t>
            </a:r>
            <a:endParaRPr lang="zh-CN" altLang="en-US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3" name="Text Box 11"/>
          <p:cNvSpPr txBox="1"/>
          <p:nvPr/>
        </p:nvSpPr>
        <p:spPr>
          <a:xfrm>
            <a:off x="2620963" y="4619625"/>
            <a:ext cx="223996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dirty="0">
                <a:solidFill>
                  <a:schemeClr val="tx1"/>
                </a:solidFill>
                <a:latin typeface="Tahoma" panose="020B0604030504040204" pitchFamily="34" charset="0"/>
                <a:sym typeface="Arial" panose="020B0604020202020204" pitchFamily="34" charset="0"/>
              </a:rPr>
              <a:t>0 0 1 0 1 0 1 0</a:t>
            </a:r>
            <a:endParaRPr lang="zh-CN" altLang="en-US" sz="2400" dirty="0">
              <a:solidFill>
                <a:schemeClr val="tx1"/>
              </a:solidFill>
              <a:latin typeface="Tahoma" panose="020B060403050404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66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66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65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65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6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6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17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65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65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65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65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500"/>
                            </p:stCondLst>
                            <p:childTnLst>
                              <p:par>
                                <p:cTn id="34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66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1" dur="500"/>
                                        <p:tgtEl>
                                          <p:spTgt spid="66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2" grpId="0" animBg="1"/>
      <p:bldP spid="66565" grpId="0"/>
      <p:bldP spid="66566" grpId="0"/>
      <p:bldP spid="66567" grpId="0"/>
      <p:bldP spid="66568" grpId="0"/>
      <p:bldP spid="66570" grpId="0"/>
      <p:bldP spid="3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6" name="Rectangle 2"/>
          <p:cNvSpPr>
            <a:spLocks noGrp="1"/>
          </p:cNvSpPr>
          <p:nvPr>
            <p:ph type="title"/>
          </p:nvPr>
        </p:nvSpPr>
        <p:spPr>
          <a:xfrm>
            <a:off x="252413" y="1052513"/>
            <a:ext cx="7620000" cy="685800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3200" dirty="0"/>
              <a:t>定点数补码的表示法</a:t>
            </a:r>
            <a:endParaRPr lang="zh-CN" altLang="en-US" sz="3200" dirty="0"/>
          </a:p>
        </p:txBody>
      </p:sp>
      <p:sp>
        <p:nvSpPr>
          <p:cNvPr id="67587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marL="0" indent="0" eaLnBrk="1" hangingPunct="1">
              <a:buNone/>
            </a:pPr>
            <a:r>
              <a:rPr lang="zh-CN" altLang="zh-CN" b="1" dirty="0"/>
              <a:t>(4) 由[X]</a:t>
            </a:r>
            <a:r>
              <a:rPr lang="zh-CN" altLang="zh-CN" b="1" baseline="-25000" dirty="0"/>
              <a:t>补</a:t>
            </a:r>
            <a:r>
              <a:rPr lang="zh-CN" altLang="zh-CN" b="1" dirty="0"/>
              <a:t>求[1/2X]</a:t>
            </a:r>
            <a:r>
              <a:rPr lang="zh-CN" altLang="zh-CN" b="1" baseline="-25000" dirty="0"/>
              <a:t>补</a:t>
            </a:r>
            <a:r>
              <a:rPr lang="zh-CN" altLang="zh-CN" b="1" dirty="0"/>
              <a:t>:将[X]</a:t>
            </a:r>
            <a:r>
              <a:rPr lang="zh-CN" altLang="zh-CN" b="1" baseline="-25000" dirty="0"/>
              <a:t>补</a:t>
            </a:r>
            <a:r>
              <a:rPr lang="zh-CN" altLang="zh-CN" b="1" dirty="0"/>
              <a:t>的符号位和数值位一起向右移动一次。</a:t>
            </a:r>
            <a:r>
              <a:rPr lang="zh-CN" altLang="en-US" b="1" dirty="0"/>
              <a:t>首位补符号位。</a:t>
            </a:r>
            <a:r>
              <a:rPr lang="zh-CN" altLang="zh-CN" b="1" dirty="0"/>
              <a:t>例: </a:t>
            </a:r>
            <a:endParaRPr lang="zh-CN" altLang="zh-CN" b="1" dirty="0"/>
          </a:p>
        </p:txBody>
      </p:sp>
      <p:sp>
        <p:nvSpPr>
          <p:cNvPr id="67588" name="Text Box 4"/>
          <p:cNvSpPr txBox="1"/>
          <p:nvPr/>
        </p:nvSpPr>
        <p:spPr>
          <a:xfrm>
            <a:off x="2133600" y="3733800"/>
            <a:ext cx="1143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[X]</a:t>
            </a:r>
            <a:r>
              <a:rPr lang="zh-CN" altLang="en-US" sz="2400" dirty="0">
                <a:solidFill>
                  <a:schemeClr val="tx1"/>
                </a:solidFill>
                <a:latin typeface="Tahoma" panose="020B0604030504040204" pitchFamily="34" charset="0"/>
              </a:rPr>
              <a:t>补</a:t>
            </a: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=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67589" name="Text Box 5"/>
          <p:cNvSpPr txBox="1"/>
          <p:nvPr/>
        </p:nvSpPr>
        <p:spPr>
          <a:xfrm>
            <a:off x="3200400" y="37338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1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67590" name="Text Box 6"/>
          <p:cNvSpPr txBox="1"/>
          <p:nvPr/>
        </p:nvSpPr>
        <p:spPr>
          <a:xfrm>
            <a:off x="4648200" y="37338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0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67591" name="Text Box 7"/>
          <p:cNvSpPr txBox="1"/>
          <p:nvPr/>
        </p:nvSpPr>
        <p:spPr>
          <a:xfrm>
            <a:off x="3657600" y="37338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0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67592" name="Text Box 8"/>
          <p:cNvSpPr txBox="1"/>
          <p:nvPr/>
        </p:nvSpPr>
        <p:spPr>
          <a:xfrm>
            <a:off x="4114800" y="37338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1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67593" name="Text Box 9"/>
          <p:cNvSpPr txBox="1"/>
          <p:nvPr/>
        </p:nvSpPr>
        <p:spPr>
          <a:xfrm>
            <a:off x="5181600" y="37338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1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67594" name="Text Box 10"/>
          <p:cNvSpPr txBox="1"/>
          <p:nvPr/>
        </p:nvSpPr>
        <p:spPr>
          <a:xfrm>
            <a:off x="5715000" y="37338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0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67595" name="Text Box 11"/>
          <p:cNvSpPr txBox="1"/>
          <p:nvPr/>
        </p:nvSpPr>
        <p:spPr>
          <a:xfrm>
            <a:off x="6248400" y="37338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0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67596" name="Text Box 12"/>
          <p:cNvSpPr txBox="1"/>
          <p:nvPr/>
        </p:nvSpPr>
        <p:spPr>
          <a:xfrm>
            <a:off x="6705600" y="37338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0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67597" name="Text Box 13"/>
          <p:cNvSpPr txBox="1"/>
          <p:nvPr/>
        </p:nvSpPr>
        <p:spPr>
          <a:xfrm>
            <a:off x="1828800" y="4343400"/>
            <a:ext cx="1524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[X/2]</a:t>
            </a:r>
            <a:r>
              <a:rPr lang="zh-CN" altLang="en-US" sz="2400" dirty="0">
                <a:solidFill>
                  <a:schemeClr val="tx1"/>
                </a:solidFill>
                <a:latin typeface="Tahoma" panose="020B0604030504040204" pitchFamily="34" charset="0"/>
              </a:rPr>
              <a:t>补</a:t>
            </a: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=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67598" name="Text Box 14"/>
          <p:cNvSpPr txBox="1"/>
          <p:nvPr/>
        </p:nvSpPr>
        <p:spPr>
          <a:xfrm>
            <a:off x="3657600" y="43434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1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67599" name="Text Box 15"/>
          <p:cNvSpPr txBox="1"/>
          <p:nvPr/>
        </p:nvSpPr>
        <p:spPr>
          <a:xfrm>
            <a:off x="4114800" y="43434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0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67600" name="Text Box 16"/>
          <p:cNvSpPr txBox="1"/>
          <p:nvPr/>
        </p:nvSpPr>
        <p:spPr>
          <a:xfrm>
            <a:off x="4648200" y="43434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1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67601" name="Text Box 17"/>
          <p:cNvSpPr txBox="1"/>
          <p:nvPr/>
        </p:nvSpPr>
        <p:spPr>
          <a:xfrm>
            <a:off x="5181600" y="43434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0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67602" name="Text Box 18"/>
          <p:cNvSpPr txBox="1"/>
          <p:nvPr/>
        </p:nvSpPr>
        <p:spPr>
          <a:xfrm>
            <a:off x="5715000" y="43434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1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67603" name="Text Box 19"/>
          <p:cNvSpPr txBox="1"/>
          <p:nvPr/>
        </p:nvSpPr>
        <p:spPr>
          <a:xfrm>
            <a:off x="6248400" y="43434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0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67604" name="Text Box 20"/>
          <p:cNvSpPr txBox="1"/>
          <p:nvPr/>
        </p:nvSpPr>
        <p:spPr>
          <a:xfrm>
            <a:off x="6705600" y="43434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0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67605" name="Text Box 21"/>
          <p:cNvSpPr txBox="1"/>
          <p:nvPr/>
        </p:nvSpPr>
        <p:spPr>
          <a:xfrm>
            <a:off x="7239000" y="43434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0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67606" name="Text Box 22"/>
          <p:cNvSpPr txBox="1"/>
          <p:nvPr/>
        </p:nvSpPr>
        <p:spPr>
          <a:xfrm>
            <a:off x="3200400" y="43434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1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67607" name="AutoShape 23"/>
          <p:cNvSpPr/>
          <p:nvPr/>
        </p:nvSpPr>
        <p:spPr>
          <a:xfrm>
            <a:off x="228600" y="5334000"/>
            <a:ext cx="2667000" cy="1295400"/>
          </a:xfrm>
          <a:prstGeom prst="wedgeEllipseCallout">
            <a:avLst>
              <a:gd name="adj1" fmla="val 23630"/>
              <a:gd name="adj2" fmla="val -84190"/>
            </a:avLst>
          </a:prstGeom>
          <a:solidFill>
            <a:srgbClr val="FFFF66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这称为</a:t>
            </a:r>
            <a:r>
              <a:rPr lang="zh-CN" altLang="en-US" sz="2400" b="1" dirty="0">
                <a:solidFill>
                  <a:schemeClr val="tx1"/>
                </a:solidFill>
              </a:rPr>
              <a:t>“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算术移位</a:t>
            </a:r>
            <a:r>
              <a:rPr lang="zh-CN" altLang="en-US" sz="2400" b="1" dirty="0">
                <a:solidFill>
                  <a:schemeClr val="tx1"/>
                </a:solidFill>
              </a:rPr>
              <a:t>”</a:t>
            </a:r>
            <a:endParaRPr lang="zh-CN" altLang="en-US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67608" name="AutoShape 24"/>
          <p:cNvSpPr/>
          <p:nvPr/>
        </p:nvSpPr>
        <p:spPr>
          <a:xfrm>
            <a:off x="5638800" y="4876800"/>
            <a:ext cx="3276600" cy="1600200"/>
          </a:xfrm>
          <a:prstGeom prst="cloudCallout">
            <a:avLst>
              <a:gd name="adj1" fmla="val -72574"/>
              <a:gd name="adj2" fmla="val -44843"/>
            </a:avLst>
          </a:prstGeom>
          <a:solidFill>
            <a:srgbClr val="FFCCFF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dirty="0">
                <a:solidFill>
                  <a:schemeClr val="tx1"/>
                </a:solidFill>
                <a:latin typeface="Tahoma" panose="020B0604030504040204" pitchFamily="34" charset="0"/>
              </a:rPr>
              <a:t>你会求</a:t>
            </a: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[X/4]</a:t>
            </a:r>
            <a:r>
              <a:rPr lang="zh-CN" altLang="en-US" sz="2400" baseline="-25000" dirty="0">
                <a:solidFill>
                  <a:schemeClr val="tx1"/>
                </a:solidFill>
                <a:latin typeface="Tahoma" panose="020B0604030504040204" pitchFamily="34" charset="0"/>
              </a:rPr>
              <a:t>补</a:t>
            </a:r>
            <a:r>
              <a:rPr lang="zh-CN" altLang="en-US" sz="2400" dirty="0">
                <a:solidFill>
                  <a:schemeClr val="tx1"/>
                </a:solidFill>
                <a:latin typeface="Tahoma" panose="020B0604030504040204" pitchFamily="34" charset="0"/>
              </a:rPr>
              <a:t>和</a:t>
            </a: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[X/8]</a:t>
            </a:r>
            <a:r>
              <a:rPr lang="zh-CN" altLang="en-US" sz="2400" baseline="-25000" dirty="0">
                <a:solidFill>
                  <a:schemeClr val="tx1"/>
                </a:solidFill>
                <a:latin typeface="Tahoma" panose="020B0604030504040204" pitchFamily="34" charset="0"/>
              </a:rPr>
              <a:t>补</a:t>
            </a:r>
            <a:r>
              <a:rPr lang="zh-CN" altLang="en-US" sz="2400" dirty="0">
                <a:solidFill>
                  <a:schemeClr val="tx1"/>
                </a:solidFill>
                <a:latin typeface="Tahoma" panose="020B0604030504040204" pitchFamily="34" charset="0"/>
              </a:rPr>
              <a:t>吗</a:t>
            </a:r>
            <a:r>
              <a:rPr lang="zh-CN" altLang="zh-CN" sz="2400" dirty="0">
                <a:solidFill>
                  <a:schemeClr val="tx1"/>
                </a:solidFill>
                <a:latin typeface="Tahoma" panose="020B0604030504040204" pitchFamily="34" charset="0"/>
              </a:rPr>
              <a:t>?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7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7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75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75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75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75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17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75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75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75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75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500"/>
                            </p:stCondLst>
                            <p:childTnLst>
                              <p:par>
                                <p:cTn id="23" presetID="17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75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75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75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75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0"/>
                            </p:stCondLst>
                            <p:childTnLst>
                              <p:par>
                                <p:cTn id="30" presetID="17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75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75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75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75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6500"/>
                            </p:stCondLst>
                            <p:childTnLst>
                              <p:par>
                                <p:cTn id="37" presetID="17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75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75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75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75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8000"/>
                            </p:stCondLst>
                            <p:childTnLst>
                              <p:par>
                                <p:cTn id="44" presetID="17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675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675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675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75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9500"/>
                            </p:stCondLst>
                            <p:childTnLst>
                              <p:par>
                                <p:cTn id="51" presetID="17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675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675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675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675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1000"/>
                            </p:stCondLst>
                            <p:childTnLst>
                              <p:par>
                                <p:cTn id="58" presetID="17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675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67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675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675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2500"/>
                            </p:stCondLst>
                            <p:childTnLst>
                              <p:par>
                                <p:cTn id="65" presetID="17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67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67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675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675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4000"/>
                            </p:stCondLst>
                            <p:childTnLst>
                              <p:par>
                                <p:cTn id="72" presetID="17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676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676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676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676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7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5500"/>
                            </p:stCondLst>
                            <p:childTnLst>
                              <p:par>
                                <p:cTn id="79" presetID="17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67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67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676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676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7000"/>
                            </p:stCondLst>
                            <p:childTnLst>
                              <p:par>
                                <p:cTn id="86" presetID="17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676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676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676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676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8500"/>
                            </p:stCondLst>
                            <p:childTnLst>
                              <p:par>
                                <p:cTn id="93" presetID="17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676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676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676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676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20000"/>
                            </p:stCondLst>
                            <p:childTnLst>
                              <p:par>
                                <p:cTn id="100" presetID="17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676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676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676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676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21500"/>
                            </p:stCondLst>
                            <p:childTnLst>
                              <p:par>
                                <p:cTn id="107" presetID="17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676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676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676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676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23000"/>
                            </p:stCondLst>
                            <p:childTnLst>
                              <p:par>
                                <p:cTn id="114" presetID="17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675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675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675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675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24500"/>
                            </p:stCondLst>
                            <p:childTnLst>
                              <p:par>
                                <p:cTn id="121" presetID="17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675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675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675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675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26000"/>
                            </p:stCondLst>
                            <p:childTnLst>
                              <p:par>
                                <p:cTn id="128" presetID="7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0" fill="hold"/>
                                        <p:tgtEl>
                                          <p:spTgt spid="676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0" fill="hold"/>
                                        <p:tgtEl>
                                          <p:spTgt spid="676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6" dur="500"/>
                                        <p:tgtEl>
                                          <p:spTgt spid="67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41" dur="500"/>
                                        <p:tgtEl>
                                          <p:spTgt spid="67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8" grpId="0"/>
      <p:bldP spid="67589" grpId="0"/>
      <p:bldP spid="67590" grpId="0"/>
      <p:bldP spid="67591" grpId="0"/>
      <p:bldP spid="67592" grpId="0"/>
      <p:bldP spid="67593" grpId="0"/>
      <p:bldP spid="67594" grpId="0"/>
      <p:bldP spid="67595" grpId="0"/>
      <p:bldP spid="67596" grpId="0"/>
      <p:bldP spid="67597" grpId="0"/>
      <p:bldP spid="67598" grpId="0"/>
      <p:bldP spid="67599" grpId="0"/>
      <p:bldP spid="67600" grpId="0"/>
      <p:bldP spid="67601" grpId="0"/>
      <p:bldP spid="67602" grpId="0"/>
      <p:bldP spid="67603" grpId="0"/>
      <p:bldP spid="67604" grpId="0"/>
      <p:bldP spid="67605" grpId="0"/>
      <p:bldP spid="67606" grpId="0"/>
      <p:bldP spid="67607" grpId="0" animBg="1"/>
      <p:bldP spid="67608" grpId="0" bldLvl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10" name="Rectangle 2"/>
          <p:cNvSpPr>
            <a:spLocks noGrp="1"/>
          </p:cNvSpPr>
          <p:nvPr>
            <p:ph type="title"/>
          </p:nvPr>
        </p:nvSpPr>
        <p:spPr>
          <a:xfrm>
            <a:off x="252413" y="1052513"/>
            <a:ext cx="7620000" cy="685800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3200" dirty="0"/>
              <a:t>定点数补码的表示法</a:t>
            </a:r>
            <a:endParaRPr lang="zh-CN" altLang="en-US" sz="3200" dirty="0"/>
          </a:p>
        </p:txBody>
      </p:sp>
      <p:sp>
        <p:nvSpPr>
          <p:cNvPr id="68611" name="Rectangle 3"/>
          <p:cNvSpPr>
            <a:spLocks noGrp="1"/>
          </p:cNvSpPr>
          <p:nvPr>
            <p:ph idx="1"/>
          </p:nvPr>
        </p:nvSpPr>
        <p:spPr>
          <a:xfrm>
            <a:off x="685800" y="1828800"/>
            <a:ext cx="7772400" cy="4114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zh-CN" altLang="en-US" b="1" dirty="0"/>
              <a:t>性质</a:t>
            </a:r>
            <a:r>
              <a:rPr lang="zh-CN" altLang="zh-CN" b="1" dirty="0"/>
              <a:t>:</a:t>
            </a:r>
            <a:endParaRPr lang="zh-CN" altLang="zh-CN" b="1" dirty="0"/>
          </a:p>
          <a:p>
            <a:pPr eaLnBrk="1" hangingPunct="1"/>
            <a:r>
              <a:rPr lang="zh-CN" altLang="zh-CN" b="1" dirty="0"/>
              <a:t>0</a:t>
            </a:r>
            <a:r>
              <a:rPr lang="zh-CN" altLang="en-US" b="1" dirty="0"/>
              <a:t>的补码是唯一的</a:t>
            </a:r>
            <a:endParaRPr lang="zh-CN" altLang="en-US" b="1" dirty="0"/>
          </a:p>
          <a:p>
            <a:pPr eaLnBrk="1" hangingPunct="1"/>
            <a:r>
              <a:rPr lang="zh-CN" altLang="en-US" b="1" dirty="0"/>
              <a:t>补码便于加减运算</a:t>
            </a:r>
            <a:endParaRPr lang="zh-CN" altLang="en-US" b="1" dirty="0"/>
          </a:p>
          <a:p>
            <a:pPr eaLnBrk="1" hangingPunct="1"/>
            <a:r>
              <a:rPr lang="zh-CN" altLang="zh-CN" b="1" dirty="0"/>
              <a:t>n+1</a:t>
            </a:r>
            <a:r>
              <a:rPr lang="zh-CN" altLang="en-US" b="1" dirty="0"/>
              <a:t>位补码所能表示的范围：</a:t>
            </a:r>
            <a:endParaRPr lang="zh-CN" altLang="zh-CN" b="1" dirty="0"/>
          </a:p>
          <a:p>
            <a:pPr eaLnBrk="1" hangingPunct="1">
              <a:buNone/>
            </a:pPr>
            <a:r>
              <a:rPr lang="zh-CN" altLang="en-US" b="1" dirty="0"/>
              <a:t>小数：</a:t>
            </a:r>
            <a:r>
              <a:rPr lang="zh-CN" altLang="zh-CN" b="1" dirty="0"/>
              <a:t>MAX=1-2</a:t>
            </a:r>
            <a:r>
              <a:rPr lang="zh-CN" altLang="zh-CN" b="1" baseline="30000" dirty="0"/>
              <a:t>-n</a:t>
            </a:r>
            <a:r>
              <a:rPr lang="zh-CN" altLang="zh-CN" b="1" dirty="0"/>
              <a:t>  </a:t>
            </a:r>
            <a:r>
              <a:rPr lang="zh-CN" altLang="en-US" b="1" dirty="0"/>
              <a:t>，</a:t>
            </a:r>
            <a:r>
              <a:rPr lang="zh-CN" altLang="zh-CN" b="1" dirty="0"/>
              <a:t>MIN=﹣1</a:t>
            </a:r>
            <a:endParaRPr lang="zh-CN" altLang="zh-CN" b="1" dirty="0"/>
          </a:p>
          <a:p>
            <a:pPr eaLnBrk="1" hangingPunct="1">
              <a:buNone/>
            </a:pPr>
            <a:r>
              <a:rPr lang="zh-CN" altLang="en-US" b="1" dirty="0"/>
              <a:t>整数：</a:t>
            </a:r>
            <a:r>
              <a:rPr lang="zh-CN" altLang="zh-CN" b="1" dirty="0"/>
              <a:t>MAX= 2</a:t>
            </a:r>
            <a:r>
              <a:rPr lang="zh-CN" altLang="zh-CN" b="1" baseline="30000" dirty="0"/>
              <a:t>n</a:t>
            </a:r>
            <a:r>
              <a:rPr lang="zh-CN" altLang="zh-CN" b="1" dirty="0"/>
              <a:t>-1</a:t>
            </a:r>
            <a:r>
              <a:rPr lang="zh-CN" altLang="en-US" b="1" dirty="0"/>
              <a:t>， </a:t>
            </a:r>
            <a:r>
              <a:rPr lang="zh-CN" altLang="zh-CN" b="1" dirty="0"/>
              <a:t>MIN=﹣ 2</a:t>
            </a:r>
            <a:r>
              <a:rPr lang="zh-CN" altLang="zh-CN" b="1" baseline="30000" dirty="0"/>
              <a:t>n</a:t>
            </a:r>
            <a:r>
              <a:rPr lang="zh-CN" altLang="zh-CN" b="1" dirty="0"/>
              <a:t> </a:t>
            </a:r>
            <a:endParaRPr lang="zh-CN" altLang="zh-CN" b="1" dirty="0"/>
          </a:p>
        </p:txBody>
      </p:sp>
    </p:spTree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63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dirty="0"/>
              <a:t>4.移码表示法</a:t>
            </a:r>
            <a:endParaRPr lang="zh-CN" altLang="en-US" dirty="0"/>
          </a:p>
        </p:txBody>
      </p:sp>
      <p:sp>
        <p:nvSpPr>
          <p:cNvPr id="69635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zh-CN" altLang="en-US" b="1" dirty="0">
                <a:ea typeface="楷体_GB2312" pitchFamily="1" charset="-122"/>
              </a:rPr>
              <a:t>对于n+1位数Ns N</a:t>
            </a:r>
            <a:r>
              <a:rPr lang="zh-CN" altLang="en-US" sz="1600" b="1" dirty="0">
                <a:ea typeface="楷体_GB2312" pitchFamily="1" charset="-122"/>
              </a:rPr>
              <a:t>1</a:t>
            </a:r>
            <a:r>
              <a:rPr lang="zh-CN" altLang="en-US" b="1" dirty="0">
                <a:ea typeface="楷体_GB2312" pitchFamily="1" charset="-122"/>
              </a:rPr>
              <a:t> N</a:t>
            </a:r>
            <a:r>
              <a:rPr lang="zh-CN" altLang="en-US" sz="1600" b="1" dirty="0">
                <a:ea typeface="楷体_GB2312" pitchFamily="1" charset="-122"/>
              </a:rPr>
              <a:t>2</a:t>
            </a:r>
            <a:r>
              <a:rPr lang="zh-CN" altLang="en-US" b="1" dirty="0">
                <a:ea typeface="楷体_GB2312" pitchFamily="1" charset="-122"/>
              </a:rPr>
              <a:t> … Nn</a:t>
            </a:r>
            <a:endParaRPr lang="zh-CN" altLang="en-US" b="1" dirty="0">
              <a:ea typeface="楷体_GB2312" pitchFamily="1" charset="-122"/>
            </a:endParaRPr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zh-CN" altLang="en-US" b="1" dirty="0">
                <a:ea typeface="楷体_GB2312" pitchFamily="1" charset="-122"/>
              </a:rPr>
              <a:t>   定义:  </a:t>
            </a:r>
            <a:r>
              <a:rPr lang="zh-CN" altLang="en-US" b="1" dirty="0"/>
              <a:t>[ X ]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zh-CN" altLang="en-US" b="1" baseline="-25000" dirty="0">
                <a:solidFill>
                  <a:srgbClr val="FF0000"/>
                </a:solidFill>
              </a:rPr>
              <a:t>移</a:t>
            </a:r>
            <a:r>
              <a:rPr lang="zh-CN" altLang="en-US" b="1" dirty="0"/>
              <a:t> =2</a:t>
            </a:r>
            <a:r>
              <a:rPr lang="zh-CN" altLang="en-US" b="1" baseline="30000" dirty="0"/>
              <a:t>n</a:t>
            </a:r>
            <a:r>
              <a:rPr lang="zh-CN" altLang="en-US" b="1" dirty="0"/>
              <a:t>+X</a:t>
            </a:r>
            <a:endParaRPr lang="zh-CN" altLang="en-US" b="1" dirty="0"/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zh-CN" altLang="en-US" b="1" dirty="0"/>
              <a:t>   </a:t>
            </a:r>
            <a:r>
              <a:rPr lang="zh-CN" altLang="en-US" b="1" dirty="0">
                <a:latin typeface="楷体_GB2312" pitchFamily="1" charset="-122"/>
                <a:ea typeface="楷体_GB2312" pitchFamily="1" charset="-122"/>
              </a:rPr>
              <a:t>由于移码是在原值X上加一个2</a:t>
            </a:r>
            <a:r>
              <a:rPr lang="zh-CN" altLang="en-US" b="1" baseline="30000" dirty="0">
                <a:latin typeface="楷体_GB2312" pitchFamily="1" charset="-122"/>
                <a:ea typeface="楷体_GB2312" pitchFamily="1" charset="-122"/>
              </a:rPr>
              <a:t>n</a:t>
            </a:r>
            <a:r>
              <a:rPr lang="zh-CN" altLang="en-US" b="1" dirty="0">
                <a:latin typeface="楷体_GB2312" pitchFamily="1" charset="-122"/>
                <a:ea typeface="楷体_GB2312" pitchFamily="1" charset="-122"/>
              </a:rPr>
              <a:t>，所以也称为增码，因此，符号为1时，表示正数，符号为0时，表示负数</a:t>
            </a:r>
            <a:r>
              <a:rPr lang="zh-CN" altLang="en-US" b="1" dirty="0"/>
              <a:t>。</a:t>
            </a:r>
            <a:endParaRPr lang="zh-CN" altLang="en-US" b="1" dirty="0"/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zh-CN" altLang="en-US" b="1" dirty="0"/>
              <a:t>X=+1101010，[X]</a:t>
            </a:r>
            <a:r>
              <a:rPr lang="zh-CN" altLang="en-US" b="1" baseline="-25000" dirty="0"/>
              <a:t>移</a:t>
            </a:r>
            <a:r>
              <a:rPr lang="zh-CN" altLang="en-US" b="1" dirty="0"/>
              <a:t>=2</a:t>
            </a:r>
            <a:r>
              <a:rPr lang="zh-CN" altLang="en-US" b="1" baseline="30000" dirty="0"/>
              <a:t>7</a:t>
            </a:r>
            <a:r>
              <a:rPr lang="zh-CN" altLang="en-US" b="1" dirty="0"/>
              <a:t>+X</a:t>
            </a:r>
            <a:endParaRPr lang="zh-CN" altLang="en-US" b="1" dirty="0"/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zh-CN" altLang="en-US" b="1" dirty="0"/>
              <a:t>                               =1,1101010</a:t>
            </a:r>
            <a:endParaRPr lang="zh-CN" altLang="en-US" dirty="0"/>
          </a:p>
        </p:txBody>
      </p:sp>
      <p:sp>
        <p:nvSpPr>
          <p:cNvPr id="69636" name="Text Box 4"/>
          <p:cNvSpPr txBox="1"/>
          <p:nvPr/>
        </p:nvSpPr>
        <p:spPr>
          <a:xfrm>
            <a:off x="4876800" y="2362200"/>
            <a:ext cx="2730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zh-CN" sz="2800" b="1" dirty="0">
                <a:solidFill>
                  <a:schemeClr val="tx1"/>
                </a:solidFill>
              </a:rPr>
              <a:t> </a:t>
            </a:r>
            <a:endParaRPr lang="zh-CN" altLang="zh-CN" sz="2800" b="1" dirty="0">
              <a:solidFill>
                <a:schemeClr val="tx1"/>
              </a:solidFill>
            </a:endParaRPr>
          </a:p>
        </p:txBody>
      </p:sp>
      <p:sp>
        <p:nvSpPr>
          <p:cNvPr id="69637" name="Text Box 5"/>
          <p:cNvSpPr txBox="1"/>
          <p:nvPr/>
        </p:nvSpPr>
        <p:spPr>
          <a:xfrm>
            <a:off x="6289675" y="2667000"/>
            <a:ext cx="2163763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zh-CN" sz="2800" b="1" dirty="0">
                <a:solidFill>
                  <a:schemeClr val="tx1"/>
                </a:solidFill>
                <a:ea typeface="楷体_GB2312" pitchFamily="1" charset="-122"/>
              </a:rPr>
              <a:t>-2</a:t>
            </a:r>
            <a:r>
              <a:rPr lang="zh-CN" altLang="zh-CN" sz="2800" b="1" baseline="30000" dirty="0">
                <a:solidFill>
                  <a:schemeClr val="tx1"/>
                </a:solidFill>
                <a:ea typeface="楷体_GB2312" pitchFamily="1" charset="-122"/>
              </a:rPr>
              <a:t>n </a:t>
            </a:r>
            <a:r>
              <a:rPr lang="zh-CN" altLang="zh-CN" sz="2800" b="1" dirty="0">
                <a:solidFill>
                  <a:schemeClr val="tx1"/>
                </a:solidFill>
              </a:rPr>
              <a:t> ≤</a:t>
            </a:r>
            <a:r>
              <a:rPr lang="zh-CN" altLang="zh-CN" sz="2800" b="1" dirty="0">
                <a:solidFill>
                  <a:schemeClr val="tx1"/>
                </a:solidFill>
                <a:ea typeface="楷体_GB2312" pitchFamily="1" charset="-122"/>
              </a:rPr>
              <a:t> X &lt; </a:t>
            </a:r>
            <a:r>
              <a:rPr lang="zh-CN" altLang="zh-CN" sz="2800" b="1" dirty="0">
                <a:solidFill>
                  <a:schemeClr val="tx1"/>
                </a:solidFill>
              </a:rPr>
              <a:t>2</a:t>
            </a:r>
            <a:r>
              <a:rPr lang="zh-CN" altLang="zh-CN" sz="2800" b="1" baseline="30000" dirty="0">
                <a:solidFill>
                  <a:schemeClr val="tx1"/>
                </a:solidFill>
              </a:rPr>
              <a:t>n</a:t>
            </a:r>
            <a:endParaRPr lang="zh-CN" altLang="zh-CN" sz="2800" b="1" baseline="30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658" name="Rectangle 2"/>
          <p:cNvSpPr>
            <a:spLocks noGrp="1"/>
          </p:cNvSpPr>
          <p:nvPr>
            <p:ph type="title"/>
          </p:nvPr>
        </p:nvSpPr>
        <p:spPr>
          <a:xfrm>
            <a:off x="252413" y="1052513"/>
            <a:ext cx="7620000" cy="685800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3200" dirty="0"/>
              <a:t>定点数移码的表示法</a:t>
            </a:r>
            <a:endParaRPr lang="zh-CN" altLang="en-US" sz="3200" dirty="0"/>
          </a:p>
        </p:txBody>
      </p:sp>
      <p:sp>
        <p:nvSpPr>
          <p:cNvPr id="70659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zh-CN" altLang="en-US" b="1" dirty="0"/>
              <a:t>由</a:t>
            </a:r>
            <a:r>
              <a:rPr lang="zh-CN" altLang="zh-CN" b="1" dirty="0"/>
              <a:t>[X]</a:t>
            </a:r>
            <a:r>
              <a:rPr lang="zh-CN" altLang="en-US" b="1" baseline="-25000" dirty="0"/>
              <a:t>补</a:t>
            </a:r>
            <a:r>
              <a:rPr lang="zh-CN" altLang="en-US" b="1" dirty="0"/>
              <a:t>求</a:t>
            </a:r>
            <a:r>
              <a:rPr lang="zh-CN" altLang="zh-CN" b="1" dirty="0"/>
              <a:t>[X]</a:t>
            </a:r>
            <a:r>
              <a:rPr lang="zh-CN" altLang="en-US" b="1" baseline="-25000" dirty="0"/>
              <a:t>移</a:t>
            </a:r>
            <a:r>
              <a:rPr lang="zh-CN" altLang="en-US" b="1" dirty="0"/>
              <a:t>：只要将</a:t>
            </a:r>
            <a:r>
              <a:rPr lang="zh-CN" altLang="zh-CN" b="1" dirty="0"/>
              <a:t>[X]</a:t>
            </a:r>
            <a:r>
              <a:rPr lang="zh-CN" altLang="en-US" b="1" baseline="-25000" dirty="0"/>
              <a:t>补</a:t>
            </a:r>
            <a:r>
              <a:rPr lang="zh-CN" altLang="en-US" b="1" dirty="0"/>
              <a:t>的符号位求反，就可得到</a:t>
            </a:r>
            <a:r>
              <a:rPr lang="zh-CN" altLang="zh-CN" b="1" dirty="0"/>
              <a:t>[X]</a:t>
            </a:r>
            <a:r>
              <a:rPr lang="zh-CN" altLang="en-US" b="1" baseline="-25000" dirty="0"/>
              <a:t>移</a:t>
            </a:r>
            <a:r>
              <a:rPr lang="zh-CN" altLang="en-US" b="1" dirty="0"/>
              <a:t>。</a:t>
            </a:r>
            <a:endParaRPr lang="zh-CN" altLang="en-US" b="1" dirty="0"/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zh-CN" altLang="en-US" b="1" dirty="0"/>
              <a:t>性质：</a:t>
            </a:r>
            <a:endParaRPr lang="zh-CN" altLang="en-US" b="1" dirty="0"/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zh-CN" altLang="en-US" b="1" dirty="0"/>
              <a:t>   若</a:t>
            </a:r>
            <a:r>
              <a:rPr lang="zh-CN" altLang="zh-CN" b="1" dirty="0"/>
              <a:t>[X</a:t>
            </a:r>
            <a:r>
              <a:rPr lang="zh-CN" altLang="zh-CN" b="1" baseline="-25000" dirty="0"/>
              <a:t>1</a:t>
            </a:r>
            <a:r>
              <a:rPr lang="zh-CN" altLang="zh-CN" b="1" dirty="0"/>
              <a:t>]</a:t>
            </a:r>
            <a:r>
              <a:rPr lang="zh-CN" altLang="en-US" b="1" baseline="-25000" dirty="0"/>
              <a:t>移</a:t>
            </a:r>
            <a:r>
              <a:rPr lang="zh-CN" altLang="en-US" b="1" dirty="0"/>
              <a:t>＞</a:t>
            </a:r>
            <a:r>
              <a:rPr lang="zh-CN" altLang="zh-CN" b="1" dirty="0"/>
              <a:t>[X</a:t>
            </a:r>
            <a:r>
              <a:rPr lang="zh-CN" altLang="zh-CN" b="1" baseline="-25000" dirty="0"/>
              <a:t>2</a:t>
            </a:r>
            <a:r>
              <a:rPr lang="zh-CN" altLang="zh-CN" b="1" dirty="0"/>
              <a:t>]</a:t>
            </a:r>
            <a:r>
              <a:rPr lang="zh-CN" altLang="en-US" b="1" baseline="-25000" dirty="0"/>
              <a:t>移</a:t>
            </a:r>
            <a:r>
              <a:rPr lang="zh-CN" altLang="en-US" b="1" dirty="0"/>
              <a:t>，则有 </a:t>
            </a:r>
            <a:r>
              <a:rPr lang="zh-CN" altLang="zh-CN" b="1" dirty="0"/>
              <a:t>X</a:t>
            </a:r>
            <a:r>
              <a:rPr lang="zh-CN" altLang="zh-CN" b="1" baseline="-25000" dirty="0"/>
              <a:t>1</a:t>
            </a:r>
            <a:r>
              <a:rPr lang="zh-CN" altLang="en-US" b="1" dirty="0"/>
              <a:t>＞</a:t>
            </a:r>
            <a:r>
              <a:rPr lang="zh-CN" altLang="zh-CN" b="1" dirty="0"/>
              <a:t>X</a:t>
            </a:r>
            <a:r>
              <a:rPr lang="zh-CN" altLang="zh-CN" b="1" baseline="-25000" dirty="0"/>
              <a:t>2</a:t>
            </a:r>
            <a:r>
              <a:rPr lang="zh-CN" altLang="en-US" b="1" baseline="-25000" dirty="0"/>
              <a:t>．</a:t>
            </a:r>
            <a:endParaRPr lang="zh-CN" altLang="en-US" b="1" baseline="-25000" dirty="0"/>
          </a:p>
        </p:txBody>
      </p:sp>
      <p:sp>
        <p:nvSpPr>
          <p:cNvPr id="70660" name="Text Box 4"/>
          <p:cNvSpPr txBox="1"/>
          <p:nvPr/>
        </p:nvSpPr>
        <p:spPr>
          <a:xfrm>
            <a:off x="4876800" y="2362200"/>
            <a:ext cx="2730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zh-CN" sz="2800" b="1" dirty="0">
                <a:solidFill>
                  <a:schemeClr val="tx1"/>
                </a:solidFill>
              </a:rPr>
              <a:t> </a:t>
            </a:r>
            <a:endParaRPr lang="zh-CN" altLang="zh-CN" sz="28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71682" name="Group 2"/>
          <p:cNvGraphicFramePr>
            <a:graphicFrameLocks noGrp="1"/>
          </p:cNvGraphicFramePr>
          <p:nvPr/>
        </p:nvGraphicFramePr>
        <p:xfrm>
          <a:off x="76200" y="2209800"/>
          <a:ext cx="8991600" cy="3505200"/>
        </p:xfrm>
        <a:graphic>
          <a:graphicData uri="http://schemas.openxmlformats.org/drawingml/2006/table">
            <a:tbl>
              <a:tblPr/>
              <a:tblGrid>
                <a:gridCol w="781050"/>
                <a:gridCol w="1149350"/>
                <a:gridCol w="1125538"/>
                <a:gridCol w="1295400"/>
                <a:gridCol w="1152525"/>
                <a:gridCol w="1223962"/>
                <a:gridCol w="1125538"/>
                <a:gridCol w="1138237"/>
              </a:tblGrid>
              <a:tr h="2006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6666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6666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zh-CN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6666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 </a:t>
                      </a:r>
                      <a:r>
                        <a:rPr kumimoji="0" lang="zh-CN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6666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       </a:t>
                      </a: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6666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6666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6666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[X]</a:t>
                      </a:r>
                      <a:r>
                        <a:rPr kumimoji="0" 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6666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移</a:t>
                      </a:r>
                      <a:endParaRPr kumimoji="0" lang="zh-CN" sz="2000" b="1" i="0" u="none" strike="noStrike" cap="none" normalizeH="0" baseline="-25000">
                        <a:ln>
                          <a:noFill/>
                        </a:ln>
                        <a:solidFill>
                          <a:srgbClr val="6666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6666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6666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124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6666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6666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111</a:t>
                      </a: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6666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zh-CN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6666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100</a:t>
                      </a:r>
                      <a:endParaRPr kumimoji="0" lang="zh-CN" altLang="zh-CN" sz="1700" b="1" i="0" u="none" strike="noStrike" cap="none" normalizeH="0" baseline="0">
                        <a:ln>
                          <a:noFill/>
                        </a:ln>
                        <a:solidFill>
                          <a:srgbClr val="6666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6666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6666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6666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6666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6666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001001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6666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6666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6666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6666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6666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0000010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6666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6666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6666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6666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6666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0000000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6666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6666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6666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-2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6666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6666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-0000010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6666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6666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6666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-9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6666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6666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-0001001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6666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rgbClr val="6666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6666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-124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6666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6666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-1111100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6666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98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6666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zh-CN" altLang="zh-CN" sz="1800" b="1" i="0" u="none" strike="noStrike" cap="none" normalizeH="0" baseline="30000">
                          <a:ln>
                            <a:noFill/>
                          </a:ln>
                          <a:solidFill>
                            <a:srgbClr val="6666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</a:t>
                      </a: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6666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+X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6666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6666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128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6666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+X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6666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6666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252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6666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6666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11111100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6666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6666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137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6666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6666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10001001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6666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6666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130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6666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6666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10000010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6666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6666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128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6666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6666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10000000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6666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6666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126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6666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6666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01111110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6666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6666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119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6666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6666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01110111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6666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6666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6666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666699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00000100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666699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706" name="Rectangle 2"/>
          <p:cNvSpPr/>
          <p:nvPr/>
        </p:nvSpPr>
        <p:spPr>
          <a:xfrm>
            <a:off x="323850" y="692150"/>
            <a:ext cx="86868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zh-CN" sz="2400" b="1" dirty="0">
                <a:solidFill>
                  <a:srgbClr val="FF0000"/>
                </a:solidFill>
              </a:rPr>
              <a:t>[</a:t>
            </a:r>
            <a:r>
              <a:rPr lang="zh-CN" altLang="en-US" sz="2400" b="1" dirty="0">
                <a:solidFill>
                  <a:srgbClr val="FF0000"/>
                </a:solidFill>
              </a:rPr>
              <a:t>例</a:t>
            </a:r>
            <a:r>
              <a:rPr lang="zh-CN" altLang="zh-CN" sz="2400" b="1" dirty="0">
                <a:solidFill>
                  <a:srgbClr val="FF0000"/>
                </a:solidFill>
              </a:rPr>
              <a:t>3]</a:t>
            </a:r>
            <a:r>
              <a:rPr lang="zh-CN" altLang="en-US" sz="2400" b="1" dirty="0">
                <a:solidFill>
                  <a:srgbClr val="FF00FF"/>
                </a:solidFill>
              </a:rPr>
              <a:t>以定点整数为例，用数轴形式说明原码、反码、补码表示范围和可能的数码组合情况。</a:t>
            </a:r>
            <a:endParaRPr lang="zh-CN" altLang="en-US" sz="2400" b="1" dirty="0">
              <a:solidFill>
                <a:schemeClr val="tx1"/>
              </a:solidFill>
            </a:endParaRPr>
          </a:p>
        </p:txBody>
      </p:sp>
      <p:sp>
        <p:nvSpPr>
          <p:cNvPr id="72707" name="Rectangle 3"/>
          <p:cNvSpPr/>
          <p:nvPr/>
        </p:nvSpPr>
        <p:spPr>
          <a:xfrm>
            <a:off x="34925" y="1773238"/>
            <a:ext cx="796925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zh-CN" sz="2400" b="1" dirty="0">
                <a:solidFill>
                  <a:srgbClr val="FF9966"/>
                </a:solidFill>
                <a:latin typeface="Tahoma" panose="020B0604030504040204" pitchFamily="34" charset="0"/>
              </a:rPr>
              <a:t>[</a:t>
            </a:r>
            <a:r>
              <a:rPr lang="zh-CN" altLang="en-US" sz="2400" b="1" dirty="0">
                <a:solidFill>
                  <a:srgbClr val="FF9966"/>
                </a:solidFill>
                <a:latin typeface="Tahoma" panose="020B0604030504040204" pitchFamily="34" charset="0"/>
              </a:rPr>
              <a:t>解</a:t>
            </a:r>
            <a:r>
              <a:rPr lang="zh-CN" altLang="zh-CN" sz="2400" b="1" dirty="0">
                <a:solidFill>
                  <a:srgbClr val="FF9966"/>
                </a:solidFill>
                <a:latin typeface="Tahoma" panose="020B0604030504040204" pitchFamily="34" charset="0"/>
              </a:rPr>
              <a:t>:]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marL="0" lvl="0" indent="0">
              <a:spcBef>
                <a:spcPct val="0"/>
              </a:spcBef>
              <a:buNone/>
            </a:pP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pic>
        <p:nvPicPr>
          <p:cNvPr id="72708" name="Picture 4" descr="picture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675" y="1557338"/>
            <a:ext cx="7920038" cy="35290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2709" name="AutoShape 5"/>
          <p:cNvSpPr/>
          <p:nvPr/>
        </p:nvSpPr>
        <p:spPr>
          <a:xfrm>
            <a:off x="971550" y="5086350"/>
            <a:ext cx="7573963" cy="1543050"/>
          </a:xfrm>
          <a:prstGeom prst="cloudCallout">
            <a:avLst>
              <a:gd name="adj1" fmla="val -57528"/>
              <a:gd name="adj2" fmla="val -48903"/>
            </a:avLst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None/>
            </a:pPr>
            <a:r>
              <a:rPr lang="zh-CN" altLang="en-US" sz="2400" dirty="0">
                <a:solidFill>
                  <a:srgbClr val="0000FF"/>
                </a:solidFill>
                <a:latin typeface="Tahoma" panose="020B0604030504040204" pitchFamily="34" charset="0"/>
                <a:ea typeface="华文行楷" panose="02010800040101010101" pitchFamily="2" charset="-122"/>
              </a:rPr>
              <a:t>思考：为什么补码表示负数时</a:t>
            </a:r>
            <a:r>
              <a:rPr lang="zh-CN" altLang="zh-CN" sz="2400" dirty="0">
                <a:solidFill>
                  <a:srgbClr val="0000FF"/>
                </a:solidFill>
                <a:latin typeface="Tahoma" panose="020B0604030504040204" pitchFamily="34" charset="0"/>
                <a:ea typeface="华文行楷" panose="02010800040101010101" pitchFamily="2" charset="-122"/>
              </a:rPr>
              <a:t>,</a:t>
            </a:r>
            <a:r>
              <a:rPr lang="zh-CN" altLang="en-US" sz="2400" dirty="0">
                <a:solidFill>
                  <a:srgbClr val="0000FF"/>
                </a:solidFill>
                <a:latin typeface="Tahoma" panose="020B0604030504040204" pitchFamily="34" charset="0"/>
                <a:ea typeface="华文行楷" panose="02010800040101010101" pitchFamily="2" charset="-122"/>
              </a:rPr>
              <a:t>范围可到</a:t>
            </a:r>
            <a:r>
              <a:rPr lang="zh-CN" altLang="zh-CN" sz="2400" dirty="0">
                <a:solidFill>
                  <a:srgbClr val="0000FF"/>
                </a:solidFill>
                <a:latin typeface="Tahoma" panose="020B0604030504040204" pitchFamily="34" charset="0"/>
                <a:ea typeface="华文行楷" panose="02010800040101010101" pitchFamily="2" charset="-122"/>
              </a:rPr>
              <a:t>-2</a:t>
            </a:r>
            <a:r>
              <a:rPr lang="zh-CN" altLang="zh-CN" sz="2400" baseline="30000" dirty="0">
                <a:solidFill>
                  <a:srgbClr val="0000FF"/>
                </a:solidFill>
                <a:latin typeface="Tahoma" panose="020B0604030504040204" pitchFamily="34" charset="0"/>
                <a:ea typeface="华文行楷" panose="02010800040101010101" pitchFamily="2" charset="-122"/>
              </a:rPr>
              <a:t>n</a:t>
            </a:r>
            <a:r>
              <a:rPr lang="zh-CN" altLang="zh-CN" sz="2400" dirty="0">
                <a:solidFill>
                  <a:srgbClr val="0000FF"/>
                </a:solidFill>
                <a:latin typeface="Tahoma" panose="020B0604030504040204" pitchFamily="34" charset="0"/>
                <a:ea typeface="华文行楷" panose="02010800040101010101" pitchFamily="2" charset="-122"/>
              </a:rPr>
              <a:t>?</a:t>
            </a:r>
            <a:endParaRPr lang="zh-CN" altLang="zh-CN" sz="2400" baseline="30000" dirty="0">
              <a:solidFill>
                <a:srgbClr val="0000FF"/>
              </a:solidFill>
              <a:latin typeface="Tahoma" panose="020B0604030504040204" pitchFamily="34" charset="0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27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27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72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27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27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27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27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27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27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6" grpId="0"/>
      <p:bldP spid="72707" grpId="0"/>
      <p:bldP spid="72709" grpId="0" bldLvl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3730" name="Text Box 2"/>
          <p:cNvSpPr txBox="1"/>
          <p:nvPr/>
        </p:nvSpPr>
        <p:spPr>
          <a:xfrm>
            <a:off x="762000" y="1066800"/>
            <a:ext cx="2209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设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n=8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则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:   </a:t>
            </a:r>
            <a:endParaRPr lang="zh-CN" altLang="zh-CN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73731" name="Text Box 3"/>
          <p:cNvSpPr txBox="1"/>
          <p:nvPr/>
        </p:nvSpPr>
        <p:spPr>
          <a:xfrm>
            <a:off x="533400" y="2895600"/>
            <a:ext cx="1447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①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原码：</a:t>
            </a:r>
            <a:endParaRPr lang="zh-CN" altLang="en-US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73732" name="AutoShape 4"/>
          <p:cNvSpPr/>
          <p:nvPr/>
        </p:nvSpPr>
        <p:spPr>
          <a:xfrm>
            <a:off x="1752600" y="2133600"/>
            <a:ext cx="457200" cy="1905000"/>
          </a:xfrm>
          <a:prstGeom prst="leftBrace">
            <a:avLst>
              <a:gd name="adj1" fmla="val 34683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73733" name="Text Box 5"/>
          <p:cNvSpPr txBox="1"/>
          <p:nvPr/>
        </p:nvSpPr>
        <p:spPr>
          <a:xfrm>
            <a:off x="2209800" y="1981200"/>
            <a:ext cx="914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正数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:</a:t>
            </a:r>
            <a:endParaRPr lang="zh-CN" altLang="zh-CN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73734" name="AutoShape 6"/>
          <p:cNvSpPr/>
          <p:nvPr/>
        </p:nvSpPr>
        <p:spPr>
          <a:xfrm>
            <a:off x="3048000" y="1524000"/>
            <a:ext cx="228600" cy="13716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73735" name="Text Box 7"/>
          <p:cNvSpPr txBox="1"/>
          <p:nvPr/>
        </p:nvSpPr>
        <p:spPr>
          <a:xfrm>
            <a:off x="3429000" y="1295400"/>
            <a:ext cx="22098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0000  0000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（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+0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）</a:t>
            </a:r>
            <a:endParaRPr lang="zh-CN" altLang="en-US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73736" name="AutoShape 8"/>
          <p:cNvSpPr/>
          <p:nvPr/>
        </p:nvSpPr>
        <p:spPr>
          <a:xfrm>
            <a:off x="3886200" y="2057400"/>
            <a:ext cx="457200" cy="609600"/>
          </a:xfrm>
          <a:prstGeom prst="curvedLeftArrow">
            <a:avLst>
              <a:gd name="adj1" fmla="val 26666"/>
              <a:gd name="adj2" fmla="val 53333"/>
              <a:gd name="adj3" fmla="val 33324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73737" name="Text Box 9"/>
          <p:cNvSpPr txBox="1"/>
          <p:nvPr/>
        </p:nvSpPr>
        <p:spPr>
          <a:xfrm>
            <a:off x="3505200" y="2590800"/>
            <a:ext cx="22098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0111  1111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（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+127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）</a:t>
            </a:r>
            <a:endParaRPr lang="zh-CN" altLang="en-US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73738" name="AutoShape 10"/>
          <p:cNvSpPr/>
          <p:nvPr/>
        </p:nvSpPr>
        <p:spPr>
          <a:xfrm>
            <a:off x="5334000" y="1524000"/>
            <a:ext cx="304800" cy="1295400"/>
          </a:xfrm>
          <a:prstGeom prst="rightBrace">
            <a:avLst>
              <a:gd name="adj1" fmla="val 35377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73739" name="Text Box 11"/>
          <p:cNvSpPr txBox="1"/>
          <p:nvPr/>
        </p:nvSpPr>
        <p:spPr>
          <a:xfrm>
            <a:off x="5562600" y="1905000"/>
            <a:ext cx="1981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共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128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个</a:t>
            </a:r>
            <a:endParaRPr lang="zh-CN" altLang="en-US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73740" name="Text Box 12"/>
          <p:cNvSpPr txBox="1"/>
          <p:nvPr/>
        </p:nvSpPr>
        <p:spPr>
          <a:xfrm>
            <a:off x="2209800" y="3886200"/>
            <a:ext cx="914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负数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:</a:t>
            </a:r>
            <a:endParaRPr lang="zh-CN" altLang="zh-CN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73741" name="AutoShape 13"/>
          <p:cNvSpPr/>
          <p:nvPr/>
        </p:nvSpPr>
        <p:spPr>
          <a:xfrm>
            <a:off x="3048000" y="3505200"/>
            <a:ext cx="228600" cy="13716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73742" name="Text Box 14"/>
          <p:cNvSpPr txBox="1"/>
          <p:nvPr/>
        </p:nvSpPr>
        <p:spPr>
          <a:xfrm>
            <a:off x="3352800" y="3352800"/>
            <a:ext cx="19812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1000  0000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（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-0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）</a:t>
            </a:r>
            <a:endParaRPr lang="zh-CN" altLang="en-US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73743" name="AutoShape 15"/>
          <p:cNvSpPr/>
          <p:nvPr/>
        </p:nvSpPr>
        <p:spPr>
          <a:xfrm>
            <a:off x="3886200" y="4114800"/>
            <a:ext cx="457200" cy="609600"/>
          </a:xfrm>
          <a:prstGeom prst="curvedLeftArrow">
            <a:avLst>
              <a:gd name="adj1" fmla="val 26666"/>
              <a:gd name="adj2" fmla="val 53333"/>
              <a:gd name="adj3" fmla="val 33324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73744" name="Text Box 16"/>
          <p:cNvSpPr txBox="1"/>
          <p:nvPr/>
        </p:nvSpPr>
        <p:spPr>
          <a:xfrm>
            <a:off x="3352800" y="4648200"/>
            <a:ext cx="20574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1111  1111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（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-127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）</a:t>
            </a:r>
            <a:endParaRPr lang="zh-CN" altLang="en-US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73745" name="AutoShape 17"/>
          <p:cNvSpPr/>
          <p:nvPr/>
        </p:nvSpPr>
        <p:spPr>
          <a:xfrm>
            <a:off x="5257800" y="3581400"/>
            <a:ext cx="304800" cy="1295400"/>
          </a:xfrm>
          <a:prstGeom prst="rightBrace">
            <a:avLst>
              <a:gd name="adj1" fmla="val 35377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73746" name="Text Box 18"/>
          <p:cNvSpPr txBox="1"/>
          <p:nvPr/>
        </p:nvSpPr>
        <p:spPr>
          <a:xfrm>
            <a:off x="5486400" y="3962400"/>
            <a:ext cx="1981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共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128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个</a:t>
            </a:r>
            <a:endParaRPr lang="zh-CN" altLang="en-US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73747" name="AutoShape 19"/>
          <p:cNvSpPr/>
          <p:nvPr/>
        </p:nvSpPr>
        <p:spPr>
          <a:xfrm>
            <a:off x="6781800" y="2133600"/>
            <a:ext cx="228600" cy="2057400"/>
          </a:xfrm>
          <a:prstGeom prst="rightBrace">
            <a:avLst>
              <a:gd name="adj1" fmla="val 75000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73748" name="Text Box 20"/>
          <p:cNvSpPr txBox="1"/>
          <p:nvPr/>
        </p:nvSpPr>
        <p:spPr>
          <a:xfrm>
            <a:off x="7010400" y="2895600"/>
            <a:ext cx="1828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共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256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个</a:t>
            </a:r>
            <a:endParaRPr lang="zh-CN" altLang="en-US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73749" name="Text Box 21"/>
          <p:cNvSpPr txBox="1"/>
          <p:nvPr/>
        </p:nvSpPr>
        <p:spPr>
          <a:xfrm>
            <a:off x="762000" y="5486400"/>
            <a:ext cx="795972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∵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 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一个字节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8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位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(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即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n=8)，但</a:t>
            </a:r>
            <a:r>
              <a:rPr lang="en-US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0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有正零和负零之分</a:t>
            </a:r>
            <a:endParaRPr lang="zh-CN" altLang="zh-CN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73750" name="Text Box 22"/>
          <p:cNvSpPr txBox="1"/>
          <p:nvPr/>
        </p:nvSpPr>
        <p:spPr>
          <a:xfrm>
            <a:off x="762000" y="5959475"/>
            <a:ext cx="6865620" cy="5664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∴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 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共能表示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25</a:t>
            </a:r>
            <a:r>
              <a:rPr lang="en-US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5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个数，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  <a:sym typeface="+mn-ea"/>
              </a:rPr>
              <a:t>即：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  <a:sym typeface="+mn-ea"/>
              </a:rPr>
              <a:t>-127~127</a:t>
            </a:r>
            <a:endParaRPr lang="zh-CN" altLang="zh-CN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endParaRPr lang="zh-CN" altLang="en-US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73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3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37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37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500"/>
                                        <p:tgtEl>
                                          <p:spTgt spid="73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500"/>
                                        <p:tgtEl>
                                          <p:spTgt spid="73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37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37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73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4" dur="500"/>
                                        <p:tgtEl>
                                          <p:spTgt spid="73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73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737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737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0" dur="500"/>
                                        <p:tgtEl>
                                          <p:spTgt spid="73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737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737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73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6" dur="500"/>
                                        <p:tgtEl>
                                          <p:spTgt spid="73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73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737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737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2" dur="500"/>
                                        <p:tgtEl>
                                          <p:spTgt spid="73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737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737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3" dur="500"/>
                                        <p:tgtEl>
                                          <p:spTgt spid="73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8" dur="500"/>
                                        <p:tgtEl>
                                          <p:spTgt spid="73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3" dur="500"/>
                                        <p:tgtEl>
                                          <p:spTgt spid="73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0" grpId="0"/>
      <p:bldP spid="73731" grpId="0"/>
      <p:bldP spid="73732" grpId="0" animBg="1"/>
      <p:bldP spid="73733" grpId="0"/>
      <p:bldP spid="73734" grpId="0" animBg="1"/>
      <p:bldP spid="73735" grpId="0"/>
      <p:bldP spid="73736" grpId="0" animBg="1"/>
      <p:bldP spid="73737" grpId="0"/>
      <p:bldP spid="73738" grpId="0" animBg="1"/>
      <p:bldP spid="73739" grpId="0"/>
      <p:bldP spid="73740" grpId="0"/>
      <p:bldP spid="73741" grpId="0" animBg="1"/>
      <p:bldP spid="73742" grpId="0"/>
      <p:bldP spid="73743" grpId="0" animBg="1"/>
      <p:bldP spid="73744" grpId="0"/>
      <p:bldP spid="73745" grpId="0" animBg="1"/>
      <p:bldP spid="73746" grpId="0"/>
      <p:bldP spid="73747" grpId="0" animBg="1"/>
      <p:bldP spid="73748" grpId="0"/>
      <p:bldP spid="73749" grpId="0"/>
      <p:bldP spid="73750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4754" name="Text Box 2"/>
          <p:cNvSpPr txBox="1"/>
          <p:nvPr/>
        </p:nvSpPr>
        <p:spPr>
          <a:xfrm>
            <a:off x="533400" y="2895600"/>
            <a:ext cx="1447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②</a:t>
            </a: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反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码：</a:t>
            </a:r>
            <a:endParaRPr lang="zh-CN" altLang="en-US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74755" name="AutoShape 3"/>
          <p:cNvSpPr/>
          <p:nvPr/>
        </p:nvSpPr>
        <p:spPr>
          <a:xfrm>
            <a:off x="1752600" y="2133600"/>
            <a:ext cx="457200" cy="1905000"/>
          </a:xfrm>
          <a:prstGeom prst="leftBrace">
            <a:avLst>
              <a:gd name="adj1" fmla="val 34683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74756" name="Text Box 4"/>
          <p:cNvSpPr txBox="1"/>
          <p:nvPr/>
        </p:nvSpPr>
        <p:spPr>
          <a:xfrm>
            <a:off x="2209800" y="1981200"/>
            <a:ext cx="914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正数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:</a:t>
            </a:r>
            <a:endParaRPr lang="zh-CN" altLang="zh-CN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74757" name="AutoShape 5"/>
          <p:cNvSpPr/>
          <p:nvPr/>
        </p:nvSpPr>
        <p:spPr>
          <a:xfrm>
            <a:off x="3048000" y="1524000"/>
            <a:ext cx="228600" cy="13716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74758" name="Text Box 6"/>
          <p:cNvSpPr txBox="1"/>
          <p:nvPr/>
        </p:nvSpPr>
        <p:spPr>
          <a:xfrm>
            <a:off x="3429000" y="1295400"/>
            <a:ext cx="22098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0000  0000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（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+0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）</a:t>
            </a:r>
            <a:endParaRPr lang="zh-CN" altLang="en-US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74759" name="AutoShape 7"/>
          <p:cNvSpPr/>
          <p:nvPr/>
        </p:nvSpPr>
        <p:spPr>
          <a:xfrm>
            <a:off x="3886200" y="2057400"/>
            <a:ext cx="457200" cy="609600"/>
          </a:xfrm>
          <a:prstGeom prst="curvedLeftArrow">
            <a:avLst>
              <a:gd name="adj1" fmla="val 26666"/>
              <a:gd name="adj2" fmla="val 53333"/>
              <a:gd name="adj3" fmla="val 33324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74760" name="Text Box 8"/>
          <p:cNvSpPr txBox="1"/>
          <p:nvPr/>
        </p:nvSpPr>
        <p:spPr>
          <a:xfrm>
            <a:off x="3505200" y="2590800"/>
            <a:ext cx="22098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0111  1111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（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+127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）</a:t>
            </a:r>
            <a:endParaRPr lang="zh-CN" altLang="en-US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74761" name="AutoShape 9"/>
          <p:cNvSpPr/>
          <p:nvPr/>
        </p:nvSpPr>
        <p:spPr>
          <a:xfrm>
            <a:off x="5334000" y="1524000"/>
            <a:ext cx="304800" cy="1295400"/>
          </a:xfrm>
          <a:prstGeom prst="rightBrace">
            <a:avLst>
              <a:gd name="adj1" fmla="val 35377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74762" name="Text Box 10"/>
          <p:cNvSpPr txBox="1"/>
          <p:nvPr/>
        </p:nvSpPr>
        <p:spPr>
          <a:xfrm>
            <a:off x="5562600" y="1905000"/>
            <a:ext cx="1981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共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128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个</a:t>
            </a:r>
            <a:endParaRPr lang="zh-CN" altLang="en-US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74763" name="Text Box 11"/>
          <p:cNvSpPr txBox="1"/>
          <p:nvPr/>
        </p:nvSpPr>
        <p:spPr>
          <a:xfrm>
            <a:off x="2209800" y="3886200"/>
            <a:ext cx="914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负数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:</a:t>
            </a:r>
            <a:endParaRPr lang="zh-CN" altLang="zh-CN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74764" name="AutoShape 12"/>
          <p:cNvSpPr/>
          <p:nvPr/>
        </p:nvSpPr>
        <p:spPr>
          <a:xfrm>
            <a:off x="3048000" y="3505200"/>
            <a:ext cx="228600" cy="13716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74765" name="Text Box 13"/>
          <p:cNvSpPr txBox="1"/>
          <p:nvPr/>
        </p:nvSpPr>
        <p:spPr>
          <a:xfrm>
            <a:off x="3352800" y="3352800"/>
            <a:ext cx="20574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1111  1111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（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-0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）</a:t>
            </a:r>
            <a:endParaRPr lang="zh-CN" altLang="en-US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74766" name="AutoShape 14"/>
          <p:cNvSpPr/>
          <p:nvPr/>
        </p:nvSpPr>
        <p:spPr>
          <a:xfrm>
            <a:off x="3886200" y="4114800"/>
            <a:ext cx="457200" cy="609600"/>
          </a:xfrm>
          <a:prstGeom prst="curvedLeftArrow">
            <a:avLst>
              <a:gd name="adj1" fmla="val 26666"/>
              <a:gd name="adj2" fmla="val 53333"/>
              <a:gd name="adj3" fmla="val 33324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74767" name="Text Box 15"/>
          <p:cNvSpPr txBox="1"/>
          <p:nvPr/>
        </p:nvSpPr>
        <p:spPr>
          <a:xfrm>
            <a:off x="3352800" y="4648200"/>
            <a:ext cx="20574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1000  0000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（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-127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）</a:t>
            </a:r>
            <a:endParaRPr lang="zh-CN" altLang="en-US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74768" name="AutoShape 16"/>
          <p:cNvSpPr/>
          <p:nvPr/>
        </p:nvSpPr>
        <p:spPr>
          <a:xfrm>
            <a:off x="5257800" y="3581400"/>
            <a:ext cx="304800" cy="1295400"/>
          </a:xfrm>
          <a:prstGeom prst="rightBrace">
            <a:avLst>
              <a:gd name="adj1" fmla="val 35377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74769" name="Text Box 17"/>
          <p:cNvSpPr txBox="1"/>
          <p:nvPr/>
        </p:nvSpPr>
        <p:spPr>
          <a:xfrm>
            <a:off x="5486400" y="3962400"/>
            <a:ext cx="1981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共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128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个</a:t>
            </a:r>
            <a:endParaRPr lang="zh-CN" altLang="en-US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74770" name="AutoShape 18"/>
          <p:cNvSpPr/>
          <p:nvPr/>
        </p:nvSpPr>
        <p:spPr>
          <a:xfrm>
            <a:off x="6781800" y="2133600"/>
            <a:ext cx="228600" cy="2057400"/>
          </a:xfrm>
          <a:prstGeom prst="rightBrace">
            <a:avLst>
              <a:gd name="adj1" fmla="val 75000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74771" name="Text Box 19"/>
          <p:cNvSpPr txBox="1"/>
          <p:nvPr/>
        </p:nvSpPr>
        <p:spPr>
          <a:xfrm>
            <a:off x="7086600" y="3352800"/>
            <a:ext cx="1828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共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256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个</a:t>
            </a:r>
            <a:endParaRPr lang="zh-CN" altLang="en-US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73749" name="Text Box 21"/>
          <p:cNvSpPr txBox="1"/>
          <p:nvPr/>
        </p:nvSpPr>
        <p:spPr>
          <a:xfrm>
            <a:off x="762000" y="5486400"/>
            <a:ext cx="7959725" cy="2178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∵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 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一个字节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8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位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(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即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n=8)，但</a:t>
            </a:r>
            <a:r>
              <a:rPr lang="en-US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0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有正零和负零之分</a:t>
            </a:r>
            <a:endParaRPr lang="zh-CN" altLang="zh-CN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73750" name="Text Box 22"/>
          <p:cNvSpPr txBox="1"/>
          <p:nvPr/>
        </p:nvSpPr>
        <p:spPr>
          <a:xfrm>
            <a:off x="762000" y="5959475"/>
            <a:ext cx="6865620" cy="4794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∴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 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共能表示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25</a:t>
            </a:r>
            <a:r>
              <a:rPr lang="en-US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5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个数，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  <a:sym typeface="+mn-ea"/>
              </a:rPr>
              <a:t>即：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  <a:sym typeface="+mn-ea"/>
              </a:rPr>
              <a:t>-127~127</a:t>
            </a:r>
            <a:endParaRPr lang="zh-CN" altLang="zh-CN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endParaRPr lang="zh-CN" altLang="en-US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4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47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47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74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500"/>
                                        <p:tgtEl>
                                          <p:spTgt spid="74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47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47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74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9" dur="500"/>
                                        <p:tgtEl>
                                          <p:spTgt spid="74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74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47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47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5" dur="500"/>
                                        <p:tgtEl>
                                          <p:spTgt spid="74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747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747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74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1" dur="500"/>
                                        <p:tgtEl>
                                          <p:spTgt spid="74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74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747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747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7" dur="500"/>
                                        <p:tgtEl>
                                          <p:spTgt spid="74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747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747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8" dur="500"/>
                                        <p:tgtEl>
                                          <p:spTgt spid="74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3" dur="500"/>
                                        <p:tgtEl>
                                          <p:spTgt spid="73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8" dur="500"/>
                                        <p:tgtEl>
                                          <p:spTgt spid="73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4" grpId="0"/>
      <p:bldP spid="74755" grpId="0" animBg="1"/>
      <p:bldP spid="74756" grpId="0"/>
      <p:bldP spid="74757" grpId="0" animBg="1"/>
      <p:bldP spid="74758" grpId="0"/>
      <p:bldP spid="74759" grpId="0" animBg="1"/>
      <p:bldP spid="74760" grpId="0"/>
      <p:bldP spid="74761" grpId="0" animBg="1"/>
      <p:bldP spid="74762" grpId="0"/>
      <p:bldP spid="74763" grpId="0"/>
      <p:bldP spid="74764" grpId="0" animBg="1"/>
      <p:bldP spid="74765" grpId="0"/>
      <p:bldP spid="74766" grpId="0" animBg="1"/>
      <p:bldP spid="74767" grpId="0"/>
      <p:bldP spid="74768" grpId="0" animBg="1"/>
      <p:bldP spid="74769" grpId="0"/>
      <p:bldP spid="74770" grpId="0" animBg="1"/>
      <p:bldP spid="74771" grpId="0"/>
      <p:bldP spid="73749" grpId="0"/>
      <p:bldP spid="73750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5778" name="Text Box 2"/>
          <p:cNvSpPr txBox="1"/>
          <p:nvPr/>
        </p:nvSpPr>
        <p:spPr>
          <a:xfrm>
            <a:off x="457200" y="2209800"/>
            <a:ext cx="1447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③</a:t>
            </a: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补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码：</a:t>
            </a:r>
            <a:endParaRPr lang="zh-CN" altLang="en-US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75779" name="AutoShape 3"/>
          <p:cNvSpPr/>
          <p:nvPr/>
        </p:nvSpPr>
        <p:spPr>
          <a:xfrm>
            <a:off x="1676400" y="1447800"/>
            <a:ext cx="457200" cy="1905000"/>
          </a:xfrm>
          <a:prstGeom prst="leftBrace">
            <a:avLst>
              <a:gd name="adj1" fmla="val 34683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75780" name="Text Box 4"/>
          <p:cNvSpPr txBox="1"/>
          <p:nvPr/>
        </p:nvSpPr>
        <p:spPr>
          <a:xfrm>
            <a:off x="2133600" y="1295400"/>
            <a:ext cx="914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正数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:</a:t>
            </a:r>
            <a:endParaRPr lang="zh-CN" altLang="zh-CN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75781" name="AutoShape 5"/>
          <p:cNvSpPr/>
          <p:nvPr/>
        </p:nvSpPr>
        <p:spPr>
          <a:xfrm>
            <a:off x="2971800" y="838200"/>
            <a:ext cx="228600" cy="13716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75782" name="Text Box 6"/>
          <p:cNvSpPr txBox="1"/>
          <p:nvPr/>
        </p:nvSpPr>
        <p:spPr>
          <a:xfrm>
            <a:off x="3348038" y="836613"/>
            <a:ext cx="22098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0000  0000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（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+0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）</a:t>
            </a:r>
            <a:endParaRPr lang="zh-CN" altLang="en-US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75783" name="AutoShape 7"/>
          <p:cNvSpPr/>
          <p:nvPr/>
        </p:nvSpPr>
        <p:spPr>
          <a:xfrm>
            <a:off x="3810000" y="1557338"/>
            <a:ext cx="457200" cy="423862"/>
          </a:xfrm>
          <a:prstGeom prst="curvedLeftArrow">
            <a:avLst>
              <a:gd name="adj1" fmla="val 20000"/>
              <a:gd name="adj2" fmla="val 40000"/>
              <a:gd name="adj3" fmla="val 35945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75784" name="Text Box 8"/>
          <p:cNvSpPr txBox="1"/>
          <p:nvPr/>
        </p:nvSpPr>
        <p:spPr>
          <a:xfrm>
            <a:off x="3429000" y="1905000"/>
            <a:ext cx="22098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0111  1111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（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+127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）</a:t>
            </a:r>
            <a:endParaRPr lang="zh-CN" altLang="en-US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75785" name="AutoShape 9"/>
          <p:cNvSpPr/>
          <p:nvPr/>
        </p:nvSpPr>
        <p:spPr>
          <a:xfrm>
            <a:off x="5257800" y="838200"/>
            <a:ext cx="304800" cy="1295400"/>
          </a:xfrm>
          <a:prstGeom prst="rightBrace">
            <a:avLst>
              <a:gd name="adj1" fmla="val 35377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75786" name="Text Box 10"/>
          <p:cNvSpPr txBox="1"/>
          <p:nvPr/>
        </p:nvSpPr>
        <p:spPr>
          <a:xfrm>
            <a:off x="5486400" y="1219200"/>
            <a:ext cx="1981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共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128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个</a:t>
            </a:r>
            <a:endParaRPr lang="zh-CN" altLang="en-US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75787" name="Text Box 11"/>
          <p:cNvSpPr txBox="1"/>
          <p:nvPr/>
        </p:nvSpPr>
        <p:spPr>
          <a:xfrm>
            <a:off x="2133600" y="3200400"/>
            <a:ext cx="914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负数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:</a:t>
            </a:r>
            <a:endParaRPr lang="zh-CN" altLang="zh-CN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75788" name="AutoShape 12"/>
          <p:cNvSpPr/>
          <p:nvPr/>
        </p:nvSpPr>
        <p:spPr>
          <a:xfrm>
            <a:off x="2971800" y="2819400"/>
            <a:ext cx="228600" cy="13716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75789" name="Text Box 13"/>
          <p:cNvSpPr txBox="1"/>
          <p:nvPr/>
        </p:nvSpPr>
        <p:spPr>
          <a:xfrm>
            <a:off x="3276600" y="2667000"/>
            <a:ext cx="19812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1111  1111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（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-1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）</a:t>
            </a:r>
            <a:endParaRPr lang="zh-CN" altLang="en-US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75790" name="AutoShape 14"/>
          <p:cNvSpPr/>
          <p:nvPr/>
        </p:nvSpPr>
        <p:spPr>
          <a:xfrm>
            <a:off x="3810000" y="3429000"/>
            <a:ext cx="457200" cy="609600"/>
          </a:xfrm>
          <a:prstGeom prst="curvedLeftArrow">
            <a:avLst>
              <a:gd name="adj1" fmla="val 26666"/>
              <a:gd name="adj2" fmla="val 53333"/>
              <a:gd name="adj3" fmla="val 33324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75791" name="Text Box 15"/>
          <p:cNvSpPr txBox="1"/>
          <p:nvPr/>
        </p:nvSpPr>
        <p:spPr>
          <a:xfrm>
            <a:off x="3276600" y="3962400"/>
            <a:ext cx="20574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1000  0001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（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-127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）</a:t>
            </a:r>
            <a:endParaRPr lang="zh-CN" altLang="en-US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75792" name="AutoShape 16"/>
          <p:cNvSpPr/>
          <p:nvPr/>
        </p:nvSpPr>
        <p:spPr>
          <a:xfrm>
            <a:off x="5181600" y="2895600"/>
            <a:ext cx="304800" cy="1295400"/>
          </a:xfrm>
          <a:prstGeom prst="rightBrace">
            <a:avLst>
              <a:gd name="adj1" fmla="val 35377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75793" name="Text Box 17"/>
          <p:cNvSpPr txBox="1"/>
          <p:nvPr/>
        </p:nvSpPr>
        <p:spPr>
          <a:xfrm>
            <a:off x="5410200" y="3276600"/>
            <a:ext cx="1981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共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127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个</a:t>
            </a:r>
            <a:endParaRPr lang="zh-CN" altLang="en-US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75794" name="AutoShape 18"/>
          <p:cNvSpPr/>
          <p:nvPr/>
        </p:nvSpPr>
        <p:spPr>
          <a:xfrm>
            <a:off x="6705600" y="1447800"/>
            <a:ext cx="228600" cy="2057400"/>
          </a:xfrm>
          <a:prstGeom prst="rightBrace">
            <a:avLst>
              <a:gd name="adj1" fmla="val 75000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75795" name="Text Box 19"/>
          <p:cNvSpPr txBox="1"/>
          <p:nvPr/>
        </p:nvSpPr>
        <p:spPr>
          <a:xfrm>
            <a:off x="7010400" y="2667000"/>
            <a:ext cx="1828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共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255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个</a:t>
            </a:r>
            <a:endParaRPr lang="zh-CN" altLang="en-US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75796" name="Text Box 20"/>
          <p:cNvSpPr txBox="1"/>
          <p:nvPr/>
        </p:nvSpPr>
        <p:spPr>
          <a:xfrm>
            <a:off x="685800" y="4800600"/>
            <a:ext cx="7315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∵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 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一个字节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8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位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(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即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n=8)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，共能表示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256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个数</a:t>
            </a:r>
            <a:endParaRPr lang="zh-CN" altLang="en-US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75797" name="Text Box 21"/>
          <p:cNvSpPr txBox="1"/>
          <p:nvPr/>
        </p:nvSpPr>
        <p:spPr>
          <a:xfrm>
            <a:off x="609600" y="5410200"/>
            <a:ext cx="4191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∴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多出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1000  0000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表示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-128</a:t>
            </a:r>
            <a:endParaRPr lang="zh-CN" altLang="zh-CN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75798" name="Text Box 22"/>
          <p:cNvSpPr txBox="1"/>
          <p:nvPr/>
        </p:nvSpPr>
        <p:spPr>
          <a:xfrm>
            <a:off x="5172710" y="5279390"/>
            <a:ext cx="1981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[-128]</a:t>
            </a:r>
            <a:r>
              <a:rPr lang="zh-CN" altLang="en-US" sz="2400" b="1" baseline="-25000" dirty="0">
                <a:solidFill>
                  <a:schemeClr val="tx1"/>
                </a:solidFill>
                <a:latin typeface="Tahoma" panose="020B0604030504040204" pitchFamily="34" charset="0"/>
              </a:rPr>
              <a:t>补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=</a:t>
            </a:r>
            <a:endParaRPr lang="zh-CN" altLang="zh-CN" sz="2400" b="1" baseline="-250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75799" name="Text Box 23"/>
          <p:cNvSpPr txBox="1"/>
          <p:nvPr/>
        </p:nvSpPr>
        <p:spPr>
          <a:xfrm>
            <a:off x="6629400" y="5257800"/>
            <a:ext cx="2133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  1000  0000</a:t>
            </a:r>
            <a:endParaRPr lang="zh-CN" altLang="zh-CN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75800" name="Line 24"/>
          <p:cNvSpPr/>
          <p:nvPr/>
        </p:nvSpPr>
        <p:spPr>
          <a:xfrm>
            <a:off x="7010400" y="5734050"/>
            <a:ext cx="1371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5801" name="Text Box 25"/>
          <p:cNvSpPr txBox="1"/>
          <p:nvPr/>
        </p:nvSpPr>
        <p:spPr>
          <a:xfrm>
            <a:off x="6792913" y="5715000"/>
            <a:ext cx="2027237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1111  1111</a:t>
            </a:r>
            <a:endParaRPr lang="zh-CN" altLang="zh-CN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75802" name="Text Box 26"/>
          <p:cNvSpPr txBox="1"/>
          <p:nvPr/>
        </p:nvSpPr>
        <p:spPr>
          <a:xfrm>
            <a:off x="6172200" y="6019800"/>
            <a:ext cx="2590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   +                  1</a:t>
            </a:r>
            <a:endParaRPr lang="zh-CN" altLang="zh-CN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75803" name="Line 27"/>
          <p:cNvSpPr/>
          <p:nvPr/>
        </p:nvSpPr>
        <p:spPr>
          <a:xfrm>
            <a:off x="6477000" y="6477000"/>
            <a:ext cx="2057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5804" name="Text Box 28"/>
          <p:cNvSpPr txBox="1"/>
          <p:nvPr/>
        </p:nvSpPr>
        <p:spPr>
          <a:xfrm>
            <a:off x="6683375" y="6400800"/>
            <a:ext cx="2209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 1000  0000</a:t>
            </a:r>
            <a:endParaRPr lang="zh-CN" altLang="zh-CN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5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57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57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75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500"/>
                                        <p:tgtEl>
                                          <p:spTgt spid="75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57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57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75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9" dur="500"/>
                                        <p:tgtEl>
                                          <p:spTgt spid="75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75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57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57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5" dur="500"/>
                                        <p:tgtEl>
                                          <p:spTgt spid="75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757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757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75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1" dur="500"/>
                                        <p:tgtEl>
                                          <p:spTgt spid="75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75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757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757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7" dur="500"/>
                                        <p:tgtEl>
                                          <p:spTgt spid="75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757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757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8" dur="500"/>
                                        <p:tgtEl>
                                          <p:spTgt spid="75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3" dur="500"/>
                                        <p:tgtEl>
                                          <p:spTgt spid="75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8" dur="500"/>
                                        <p:tgtEl>
                                          <p:spTgt spid="75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757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757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757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757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758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758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758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758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758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758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758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758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758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758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78" grpId="0"/>
      <p:bldP spid="75779" grpId="0" animBg="1"/>
      <p:bldP spid="75780" grpId="0"/>
      <p:bldP spid="75781" grpId="0" animBg="1"/>
      <p:bldP spid="75782" grpId="0"/>
      <p:bldP spid="75783" grpId="0" animBg="1"/>
      <p:bldP spid="75784" grpId="0"/>
      <p:bldP spid="75785" grpId="0" animBg="1"/>
      <p:bldP spid="75786" grpId="0"/>
      <p:bldP spid="75787" grpId="0"/>
      <p:bldP spid="75788" grpId="0" animBg="1"/>
      <p:bldP spid="75789" grpId="0"/>
      <p:bldP spid="75790" grpId="0" animBg="1"/>
      <p:bldP spid="75791" grpId="0"/>
      <p:bldP spid="75792" grpId="0" animBg="1"/>
      <p:bldP spid="75793" grpId="0"/>
      <p:bldP spid="75794" grpId="0" animBg="1"/>
      <p:bldP spid="75795" grpId="0"/>
      <p:bldP spid="75796" grpId="0"/>
      <p:bldP spid="75797" grpId="0"/>
      <p:bldP spid="75798" grpId="0"/>
      <p:bldP spid="75799" grpId="0"/>
      <p:bldP spid="75801" grpId="0"/>
      <p:bldP spid="75802" grpId="0"/>
      <p:bldP spid="75804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6802" name="Rectangle 2"/>
          <p:cNvSpPr/>
          <p:nvPr/>
        </p:nvSpPr>
        <p:spPr>
          <a:xfrm>
            <a:off x="109538" y="406400"/>
            <a:ext cx="8785225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zh-CN" sz="2400" b="1" dirty="0">
                <a:solidFill>
                  <a:srgbClr val="FF0000"/>
                </a:solidFill>
              </a:rPr>
              <a:t>[</a:t>
            </a:r>
            <a:r>
              <a:rPr lang="zh-CN" altLang="en-US" sz="2400" b="1" dirty="0">
                <a:solidFill>
                  <a:srgbClr val="FF0000"/>
                </a:solidFill>
              </a:rPr>
              <a:t>例</a:t>
            </a:r>
            <a:r>
              <a:rPr lang="zh-CN" altLang="zh-CN" sz="2400" b="1" dirty="0">
                <a:solidFill>
                  <a:srgbClr val="FF0000"/>
                </a:solidFill>
              </a:rPr>
              <a:t>4]</a:t>
            </a:r>
            <a:r>
              <a:rPr lang="zh-CN" altLang="en-US" sz="2400" b="1" dirty="0">
                <a:solidFill>
                  <a:srgbClr val="FF00FF"/>
                </a:solidFill>
              </a:rPr>
              <a:t>将十进制真值</a:t>
            </a:r>
            <a:r>
              <a:rPr lang="zh-CN" altLang="zh-CN" sz="2400" b="1" dirty="0">
                <a:solidFill>
                  <a:srgbClr val="FF00FF"/>
                </a:solidFill>
              </a:rPr>
              <a:t>(</a:t>
            </a:r>
            <a:r>
              <a:rPr lang="zh-CN" altLang="en-US" sz="2400" b="1" dirty="0">
                <a:solidFill>
                  <a:srgbClr val="FF00FF"/>
                </a:solidFill>
              </a:rPr>
              <a:t>－</a:t>
            </a:r>
            <a:r>
              <a:rPr lang="zh-CN" altLang="zh-CN" sz="2400" b="1" dirty="0">
                <a:solidFill>
                  <a:srgbClr val="FF00FF"/>
                </a:solidFill>
              </a:rPr>
              <a:t>127,</a:t>
            </a:r>
            <a:r>
              <a:rPr lang="zh-CN" altLang="en-US" sz="2400" b="1" dirty="0">
                <a:solidFill>
                  <a:srgbClr val="FF00FF"/>
                </a:solidFill>
              </a:rPr>
              <a:t>－</a:t>
            </a:r>
            <a:r>
              <a:rPr lang="zh-CN" altLang="zh-CN" sz="2400" b="1" dirty="0">
                <a:solidFill>
                  <a:srgbClr val="FF00FF"/>
                </a:solidFill>
              </a:rPr>
              <a:t>1,0,</a:t>
            </a:r>
            <a:r>
              <a:rPr lang="zh-CN" altLang="en-US" sz="2400" b="1" dirty="0">
                <a:solidFill>
                  <a:srgbClr val="FF00FF"/>
                </a:solidFill>
              </a:rPr>
              <a:t>＋</a:t>
            </a:r>
            <a:r>
              <a:rPr lang="zh-CN" altLang="zh-CN" sz="2400" b="1" dirty="0">
                <a:solidFill>
                  <a:srgbClr val="FF00FF"/>
                </a:solidFill>
              </a:rPr>
              <a:t>1,</a:t>
            </a:r>
            <a:r>
              <a:rPr lang="zh-CN" altLang="en-US" sz="2400" b="1" dirty="0">
                <a:solidFill>
                  <a:srgbClr val="FF00FF"/>
                </a:solidFill>
              </a:rPr>
              <a:t>＋</a:t>
            </a:r>
            <a:r>
              <a:rPr lang="zh-CN" altLang="zh-CN" sz="2400" b="1" dirty="0">
                <a:solidFill>
                  <a:srgbClr val="FF00FF"/>
                </a:solidFill>
              </a:rPr>
              <a:t>127)</a:t>
            </a:r>
            <a:r>
              <a:rPr lang="zh-CN" altLang="en-US" sz="2400" b="1" dirty="0">
                <a:solidFill>
                  <a:srgbClr val="FF00FF"/>
                </a:solidFill>
              </a:rPr>
              <a:t>列表表示成二进制数及原码、反码、补码、移码值。</a:t>
            </a:r>
            <a:endParaRPr lang="zh-CN" altLang="en-US" sz="2400" b="1" dirty="0">
              <a:solidFill>
                <a:schemeClr val="tx1"/>
              </a:solidFill>
            </a:endParaRPr>
          </a:p>
        </p:txBody>
      </p:sp>
      <p:sp>
        <p:nvSpPr>
          <p:cNvPr id="76803" name="Rectangle 3"/>
          <p:cNvSpPr/>
          <p:nvPr/>
        </p:nvSpPr>
        <p:spPr>
          <a:xfrm>
            <a:off x="107950" y="1270000"/>
            <a:ext cx="8382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zh-CN" sz="2400" b="1" dirty="0">
                <a:solidFill>
                  <a:srgbClr val="FF9966"/>
                </a:solidFill>
                <a:latin typeface="Tahoma" panose="020B0604030504040204" pitchFamily="34" charset="0"/>
              </a:rPr>
              <a:t>[</a:t>
            </a:r>
            <a:r>
              <a:rPr lang="zh-CN" altLang="en-US" sz="2400" b="1" dirty="0">
                <a:solidFill>
                  <a:srgbClr val="FF9966"/>
                </a:solidFill>
                <a:latin typeface="Tahoma" panose="020B0604030504040204" pitchFamily="34" charset="0"/>
              </a:rPr>
              <a:t>解</a:t>
            </a:r>
            <a:r>
              <a:rPr lang="zh-CN" altLang="zh-CN" sz="2400" b="1" dirty="0">
                <a:solidFill>
                  <a:srgbClr val="FF9966"/>
                </a:solidFill>
                <a:latin typeface="Tahoma" panose="020B0604030504040204" pitchFamily="34" charset="0"/>
              </a:rPr>
              <a:t>:]</a:t>
            </a: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marL="0" lvl="0" indent="0">
              <a:spcBef>
                <a:spcPct val="0"/>
              </a:spcBef>
              <a:buNone/>
            </a:pPr>
            <a:endParaRPr lang="zh-CN" altLang="zh-CN" sz="2400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graphicFrame>
        <p:nvGraphicFramePr>
          <p:cNvPr id="76804" name="Group 4"/>
          <p:cNvGraphicFramePr>
            <a:graphicFrameLocks noGrp="1"/>
          </p:cNvGraphicFramePr>
          <p:nvPr/>
        </p:nvGraphicFramePr>
        <p:xfrm>
          <a:off x="180975" y="1773238"/>
          <a:ext cx="8783638" cy="4692650"/>
        </p:xfrm>
        <a:graphic>
          <a:graphicData uri="http://schemas.openxmlformats.org/drawingml/2006/table">
            <a:tbl>
              <a:tblPr/>
              <a:tblGrid>
                <a:gridCol w="1635125"/>
                <a:gridCol w="1722438"/>
                <a:gridCol w="1347787"/>
                <a:gridCol w="1349375"/>
                <a:gridCol w="1360488"/>
                <a:gridCol w="1368425"/>
              </a:tblGrid>
              <a:tr h="587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真值X（十进制）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真值X（二进制）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[X]原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[X]反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[X]补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[X]移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+127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+0111 1111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0111 1111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0111 1111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0111 1111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1111 1111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+1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+0000 0001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0000 0001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0000 0001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0000 0001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1000 0001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0000 0000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0000 0000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0000 0000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0000 0000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1000 0000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1000 0000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1111 1111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-1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-0000 0001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1000 0001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1111 1110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1111 1111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0111 1111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-127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-0111 1111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1111 1111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1000 0000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1000 0001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0000 0001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68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68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76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2" grpId="0"/>
      <p:bldP spid="76803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7826" name="Text Box 2"/>
          <p:cNvSpPr txBox="1"/>
          <p:nvPr/>
        </p:nvSpPr>
        <p:spPr>
          <a:xfrm>
            <a:off x="323850" y="909638"/>
            <a:ext cx="8066088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chemeClr val="tx1"/>
                </a:solidFill>
                <a:latin typeface="Tahoma" panose="020B0604030504040204" pitchFamily="34" charset="0"/>
              </a:rPr>
              <a:t>原码、补码、反码和移码的区别，可分三个区域：</a:t>
            </a:r>
            <a:endParaRPr lang="zh-CN" altLang="en-US" sz="28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77827" name="Text Box 3"/>
          <p:cNvSpPr txBox="1"/>
          <p:nvPr/>
        </p:nvSpPr>
        <p:spPr>
          <a:xfrm>
            <a:off x="468313" y="1773238"/>
            <a:ext cx="7993062" cy="21637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①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零：</a:t>
            </a:r>
            <a:endParaRPr lang="zh-CN" altLang="en-US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     a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、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[X]</a:t>
            </a:r>
            <a:r>
              <a:rPr lang="zh-CN" altLang="en-US" sz="2400" b="1" baseline="-25000" dirty="0">
                <a:solidFill>
                  <a:schemeClr val="tx1"/>
                </a:solidFill>
                <a:latin typeface="Tahoma" panose="020B0604030504040204" pitchFamily="34" charset="0"/>
              </a:rPr>
              <a:t>原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、 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[X]</a:t>
            </a:r>
            <a:r>
              <a:rPr lang="zh-CN" altLang="en-US" sz="2400" b="1" baseline="-25000" dirty="0">
                <a:solidFill>
                  <a:schemeClr val="tx1"/>
                </a:solidFill>
                <a:latin typeface="Tahoma" panose="020B0604030504040204" pitchFamily="34" charset="0"/>
              </a:rPr>
              <a:t>反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有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+0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、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-0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之分</a:t>
            </a:r>
            <a:endParaRPr lang="zh-CN" altLang="en-US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     b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、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[X]</a:t>
            </a:r>
            <a:r>
              <a:rPr lang="zh-CN" altLang="en-US" sz="2400" b="1" baseline="-25000" dirty="0">
                <a:solidFill>
                  <a:schemeClr val="tx1"/>
                </a:solidFill>
                <a:latin typeface="Tahoma" panose="020B0604030504040204" pitchFamily="34" charset="0"/>
              </a:rPr>
              <a:t>补      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+0=-0=0</a:t>
            </a:r>
            <a:endParaRPr lang="zh-CN" altLang="zh-CN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     c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、 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[X]</a:t>
            </a:r>
            <a:r>
              <a:rPr lang="zh-CN" altLang="en-US" sz="2400" b="1" baseline="-25000" dirty="0">
                <a:solidFill>
                  <a:schemeClr val="tx1"/>
                </a:solidFill>
                <a:latin typeface="Tahoma" panose="020B0604030504040204" pitchFamily="34" charset="0"/>
              </a:rPr>
              <a:t>移      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[0]</a:t>
            </a:r>
            <a:r>
              <a:rPr lang="zh-CN" altLang="en-US" sz="2400" b="1" baseline="-25000" dirty="0">
                <a:solidFill>
                  <a:schemeClr val="tx1"/>
                </a:solidFill>
                <a:latin typeface="Tahoma" panose="020B0604030504040204" pitchFamily="34" charset="0"/>
              </a:rPr>
              <a:t>移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=1000  0000</a:t>
            </a:r>
            <a:endParaRPr lang="zh-CN" altLang="zh-CN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  <p:sp>
        <p:nvSpPr>
          <p:cNvPr id="77828" name="Text Box 4"/>
          <p:cNvSpPr txBox="1"/>
          <p:nvPr/>
        </p:nvSpPr>
        <p:spPr>
          <a:xfrm>
            <a:off x="533400" y="3789363"/>
            <a:ext cx="8305800" cy="26479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②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正数：</a:t>
            </a:r>
            <a:endParaRPr lang="zh-CN" altLang="en-US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     a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、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[X]</a:t>
            </a:r>
            <a:r>
              <a:rPr lang="zh-CN" altLang="en-US" sz="2400" b="1" baseline="-25000" dirty="0">
                <a:solidFill>
                  <a:schemeClr val="tx1"/>
                </a:solidFill>
                <a:latin typeface="Tahoma" panose="020B0604030504040204" pitchFamily="34" charset="0"/>
              </a:rPr>
              <a:t>原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= [X]</a:t>
            </a:r>
            <a:r>
              <a:rPr lang="zh-CN" altLang="en-US" sz="2400" b="1" baseline="-25000" dirty="0">
                <a:solidFill>
                  <a:schemeClr val="tx1"/>
                </a:solidFill>
                <a:latin typeface="Tahoma" panose="020B0604030504040204" pitchFamily="34" charset="0"/>
              </a:rPr>
              <a:t>反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= [X]</a:t>
            </a:r>
            <a:r>
              <a:rPr lang="zh-CN" altLang="en-US" sz="2400" b="1" baseline="-25000" dirty="0">
                <a:solidFill>
                  <a:schemeClr val="tx1"/>
                </a:solidFill>
                <a:latin typeface="Tahoma" panose="020B0604030504040204" pitchFamily="34" charset="0"/>
              </a:rPr>
              <a:t>补 </a:t>
            </a:r>
            <a:endParaRPr lang="zh-CN" altLang="en-US" sz="2400" b="1" baseline="-25000" dirty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b="1" baseline="-25000" dirty="0">
                <a:solidFill>
                  <a:schemeClr val="tx1"/>
                </a:solidFill>
                <a:latin typeface="Tahoma" panose="020B0604030504040204" pitchFamily="34" charset="0"/>
              </a:rPr>
              <a:t>        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b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、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[X]</a:t>
            </a:r>
            <a:r>
              <a:rPr lang="zh-CN" altLang="en-US" sz="2400" b="1" baseline="-25000" dirty="0">
                <a:solidFill>
                  <a:schemeClr val="tx1"/>
                </a:solidFill>
                <a:latin typeface="Tahoma" panose="020B0604030504040204" pitchFamily="34" charset="0"/>
              </a:rPr>
              <a:t>移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从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1~127 </a:t>
            </a:r>
            <a:endParaRPr lang="zh-CN" altLang="zh-CN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          </a:t>
            </a:r>
            <a:r>
              <a:rPr lang="zh-CN" altLang="zh-CN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Ⅰ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、数值：</a:t>
            </a: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000 0001~111 1111</a:t>
            </a:r>
            <a:r>
              <a:rPr lang="zh-CN" altLang="en-US" sz="2400" b="1" dirty="0">
                <a:solidFill>
                  <a:schemeClr val="tx1"/>
                </a:solidFill>
                <a:latin typeface="Tahoma" panose="020B0604030504040204" pitchFamily="34" charset="0"/>
              </a:rPr>
              <a:t>与原反补相同</a:t>
            </a:r>
            <a:endParaRPr lang="zh-CN" altLang="en-US" sz="2400" b="1" dirty="0">
              <a:solidFill>
                <a:schemeClr val="tx1"/>
              </a:solidFill>
              <a:latin typeface="Tahoma" panose="020B0604030504040204" pitchFamily="34" charset="0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zh-CN" sz="2400" b="1" dirty="0">
                <a:solidFill>
                  <a:schemeClr val="tx1"/>
                </a:solidFill>
                <a:latin typeface="Tahoma" panose="020B0604030504040204" pitchFamily="34" charset="0"/>
              </a:rPr>
              <a:t>          </a:t>
            </a:r>
            <a:r>
              <a:rPr lang="zh-CN" altLang="zh-CN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Ⅱ</a:t>
            </a: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、符号：（始终）</a:t>
            </a:r>
            <a:r>
              <a:rPr lang="zh-CN" altLang="zh-CN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=1</a:t>
            </a: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，与原反补相反</a:t>
            </a:r>
            <a:endParaRPr lang="zh-CN" altLang="en-US" sz="2400" b="1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7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77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77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6" grpId="0"/>
      <p:bldP spid="77827" grpId="0"/>
      <p:bldP spid="77828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8850" name="Rectangle 2"/>
          <p:cNvSpPr/>
          <p:nvPr/>
        </p:nvSpPr>
        <p:spPr>
          <a:xfrm>
            <a:off x="838200" y="1905000"/>
            <a:ext cx="8001000" cy="19380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zh-CN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③</a:t>
            </a: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负数：</a:t>
            </a:r>
            <a:endParaRPr lang="zh-CN" altLang="en-US" sz="2400" b="1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zh-CN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  a</a:t>
            </a: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、原、反、补各不相同</a:t>
            </a:r>
            <a:endParaRPr lang="zh-CN" altLang="en-US" sz="2400" b="1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zh-CN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  b</a:t>
            </a: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、</a:t>
            </a:r>
            <a:r>
              <a:rPr lang="zh-CN" altLang="zh-CN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[X]</a:t>
            </a:r>
            <a:r>
              <a:rPr lang="zh-CN" altLang="en-US" sz="2400" b="1" baseline="-25000" dirty="0">
                <a:solidFill>
                  <a:schemeClr val="tx1"/>
                </a:solidFill>
                <a:latin typeface="宋体" panose="02010600030101010101" pitchFamily="2" charset="-122"/>
              </a:rPr>
              <a:t>移</a:t>
            </a: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：数值位与</a:t>
            </a:r>
            <a:r>
              <a:rPr lang="zh-CN" altLang="zh-CN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[X]</a:t>
            </a:r>
            <a:r>
              <a:rPr lang="zh-CN" altLang="en-US" sz="2400" b="1" baseline="-25000" dirty="0">
                <a:solidFill>
                  <a:schemeClr val="tx1"/>
                </a:solidFill>
                <a:latin typeface="宋体" panose="02010600030101010101" pitchFamily="2" charset="-122"/>
              </a:rPr>
              <a:t>补</a:t>
            </a: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相同，符号位与</a:t>
            </a:r>
            <a:r>
              <a:rPr lang="zh-CN" altLang="zh-CN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[X]</a:t>
            </a:r>
            <a:r>
              <a:rPr lang="zh-CN" altLang="en-US" sz="2400" b="1" baseline="-25000" dirty="0">
                <a:solidFill>
                  <a:schemeClr val="tx1"/>
                </a:solidFill>
                <a:latin typeface="宋体" panose="02010600030101010101" pitchFamily="2" charset="-122"/>
              </a:rPr>
              <a:t>补</a:t>
            </a: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相反均</a:t>
            </a:r>
            <a:endParaRPr lang="zh-CN" altLang="en-US" sz="2400" b="1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     为</a:t>
            </a:r>
            <a:r>
              <a:rPr lang="zh-CN" altLang="zh-CN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0</a:t>
            </a:r>
            <a:endParaRPr lang="zh-CN" altLang="zh-CN" sz="2400" b="1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zh-CN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  c</a:t>
            </a: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、</a:t>
            </a:r>
            <a:r>
              <a:rPr lang="zh-CN" altLang="zh-CN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[X]</a:t>
            </a:r>
            <a:r>
              <a:rPr lang="zh-CN" altLang="en-US" sz="2400" b="1" baseline="-25000" dirty="0">
                <a:solidFill>
                  <a:schemeClr val="tx1"/>
                </a:solidFill>
                <a:latin typeface="宋体" panose="02010600030101010101" pitchFamily="2" charset="-122"/>
              </a:rPr>
              <a:t>反</a:t>
            </a: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：</a:t>
            </a:r>
            <a:r>
              <a:rPr lang="zh-CN" altLang="zh-CN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[X]</a:t>
            </a:r>
            <a:r>
              <a:rPr lang="zh-CN" altLang="en-US" sz="2400" b="1" baseline="-25000" dirty="0">
                <a:solidFill>
                  <a:schemeClr val="tx1"/>
                </a:solidFill>
                <a:latin typeface="宋体" panose="02010600030101010101" pitchFamily="2" charset="-122"/>
              </a:rPr>
              <a:t>原 </a:t>
            </a: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按位求反  ，</a:t>
            </a:r>
            <a:r>
              <a:rPr lang="zh-CN" altLang="zh-CN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[X]</a:t>
            </a:r>
            <a:r>
              <a:rPr lang="zh-CN" altLang="en-US" sz="2400" b="1" baseline="-25000" dirty="0">
                <a:solidFill>
                  <a:schemeClr val="tx1"/>
                </a:solidFill>
                <a:latin typeface="宋体" panose="02010600030101010101" pitchFamily="2" charset="-122"/>
              </a:rPr>
              <a:t>补</a:t>
            </a:r>
            <a:r>
              <a:rPr lang="zh-CN" altLang="zh-CN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=[X]</a:t>
            </a:r>
            <a:r>
              <a:rPr lang="zh-CN" altLang="en-US" sz="2400" b="1" baseline="-25000" dirty="0">
                <a:solidFill>
                  <a:schemeClr val="tx1"/>
                </a:solidFill>
                <a:latin typeface="宋体" panose="02010600030101010101" pitchFamily="2" charset="-122"/>
              </a:rPr>
              <a:t>反</a:t>
            </a:r>
            <a:r>
              <a:rPr lang="zh-CN" altLang="zh-CN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+1</a:t>
            </a:r>
            <a:endParaRPr lang="zh-CN" altLang="zh-CN" sz="2400" b="1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8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0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987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补充：定点数的表示范围</a:t>
            </a:r>
            <a:endParaRPr lang="zh-CN" altLang="en-US" dirty="0"/>
          </a:p>
        </p:txBody>
      </p:sp>
      <p:sp>
        <p:nvSpPr>
          <p:cNvPr id="79875" name="Rectangle 3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7343775" cy="4114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ClrTx/>
              <a:buSzTx/>
              <a:buFontTx/>
            </a:pPr>
            <a:r>
              <a:rPr lang="zh-CN" altLang="en-US" sz="2800" b="1" dirty="0">
                <a:solidFill>
                  <a:srgbClr val="0000FF"/>
                </a:solidFill>
              </a:rPr>
              <a:t>最大正数：数轴上最右边的点。</a:t>
            </a:r>
            <a:endParaRPr lang="zh-CN" altLang="en-US" sz="2800" b="1" dirty="0">
              <a:solidFill>
                <a:srgbClr val="0000FF"/>
              </a:solidFill>
            </a:endParaRPr>
          </a:p>
          <a:p>
            <a:pPr eaLnBrk="1" hangingPunct="1">
              <a:buClrTx/>
              <a:buSzTx/>
              <a:buFontTx/>
            </a:pPr>
            <a:r>
              <a:rPr lang="zh-CN" altLang="en-US" sz="2800" b="1" dirty="0">
                <a:solidFill>
                  <a:srgbClr val="0000FF"/>
                </a:solidFill>
              </a:rPr>
              <a:t>最小正数：数轴上正数区最接近于零的点。</a:t>
            </a:r>
            <a:endParaRPr lang="zh-CN" altLang="en-US" sz="2800" b="1" dirty="0">
              <a:solidFill>
                <a:srgbClr val="0000FF"/>
              </a:solidFill>
            </a:endParaRPr>
          </a:p>
          <a:p>
            <a:pPr eaLnBrk="1" hangingPunct="1">
              <a:buClrTx/>
              <a:buSzTx/>
              <a:buFontTx/>
            </a:pPr>
            <a:r>
              <a:rPr lang="zh-CN" altLang="en-US" sz="2800" b="1" dirty="0">
                <a:solidFill>
                  <a:srgbClr val="0000FF"/>
                </a:solidFill>
              </a:rPr>
              <a:t>绝对值最大的负数：数轴上最左边的点。</a:t>
            </a:r>
            <a:endParaRPr lang="zh-CN" altLang="en-US" sz="2800" b="1" dirty="0">
              <a:solidFill>
                <a:srgbClr val="0000FF"/>
              </a:solidFill>
            </a:endParaRPr>
          </a:p>
          <a:p>
            <a:pPr eaLnBrk="1" hangingPunct="1">
              <a:buClrTx/>
              <a:buSzTx/>
              <a:buFontTx/>
            </a:pPr>
            <a:endParaRPr lang="zh-CN" altLang="en-US" sz="28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089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dirty="0"/>
              <a:t>设机器字长为n+1位</a:t>
            </a:r>
            <a:endParaRPr lang="zh-CN" altLang="en-US" dirty="0"/>
          </a:p>
        </p:txBody>
      </p:sp>
      <p:graphicFrame>
        <p:nvGraphicFramePr>
          <p:cNvPr id="80899" name="Group 3"/>
          <p:cNvGraphicFramePr>
            <a:graphicFrameLocks noGrp="1"/>
          </p:cNvGraphicFramePr>
          <p:nvPr>
            <p:ph type="tbl" idx="4294967295"/>
          </p:nvPr>
        </p:nvGraphicFramePr>
        <p:xfrm>
          <a:off x="539750" y="1989138"/>
          <a:ext cx="8321675" cy="4130675"/>
        </p:xfrm>
        <a:graphic>
          <a:graphicData uri="http://schemas.openxmlformats.org/drawingml/2006/table">
            <a:tbl>
              <a:tblPr/>
              <a:tblGrid>
                <a:gridCol w="1382713"/>
                <a:gridCol w="1497012"/>
                <a:gridCol w="2114550"/>
                <a:gridCol w="1941513"/>
                <a:gridCol w="1385887"/>
              </a:tblGrid>
              <a:tr h="701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机器码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绝对值最大的负数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绝对值最小的正数（分辨率）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最大正数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/>
                    </a:solidFill>
                  </a:tcPr>
                </a:tc>
              </a:tr>
              <a:tr h="685800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定点小数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原码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-（1-2</a:t>
                      </a:r>
                      <a:r>
                        <a:rPr kumimoji="0" lang="zh-CN" altLang="en-US" sz="24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-n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）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zh-CN" altLang="en-US" sz="24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-n</a:t>
                      </a:r>
                      <a:endParaRPr kumimoji="0" lang="zh-CN" altLang="en-US" sz="2400" b="1" i="0" u="none" strike="noStrike" cap="none" normalizeH="0" baseline="3000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1-2</a:t>
                      </a:r>
                      <a:r>
                        <a:rPr kumimoji="0" lang="zh-CN" altLang="en-US" sz="24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-n</a:t>
                      </a:r>
                      <a:endParaRPr kumimoji="0" lang="zh-CN" altLang="en-US" sz="2400" b="1" i="0" u="none" strike="noStrike" cap="none" normalizeH="0" baseline="3000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68580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补码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-1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zh-CN" altLang="en-US" sz="24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-n</a:t>
                      </a:r>
                      <a:endParaRPr kumimoji="0" lang="zh-CN" altLang="en-US" sz="2400" b="1" i="0" u="none" strike="noStrike" cap="none" normalizeH="0" baseline="3000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1-2</a:t>
                      </a:r>
                      <a:r>
                        <a:rPr kumimoji="0" lang="zh-CN" altLang="en-US" sz="24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-n</a:t>
                      </a:r>
                      <a:endParaRPr kumimoji="0" lang="zh-CN" altLang="en-US" sz="2400" b="1" i="0" u="none" strike="noStrike" cap="none" normalizeH="0" baseline="3000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68580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685800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定点整数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原码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-（2</a:t>
                      </a:r>
                      <a:r>
                        <a:rPr kumimoji="0" lang="zh-CN" altLang="en-US" sz="24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-1）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zh-CN" altLang="en-US" sz="24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-1</a:t>
                      </a:r>
                      <a:endParaRPr kumimoji="0" lang="zh-CN" altLang="en-US" sz="24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685800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补码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-2</a:t>
                      </a:r>
                      <a:r>
                        <a:rPr kumimoji="0" lang="zh-CN" altLang="en-US" sz="24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endParaRPr kumimoji="0" lang="zh-CN" altLang="en-US" sz="2400" b="1" i="0" u="none" strike="noStrike" cap="none" normalizeH="0" baseline="3000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zh-CN" altLang="en-US" sz="24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-1</a:t>
                      </a:r>
                      <a:endParaRPr kumimoji="0" lang="zh-CN" altLang="en-US" sz="24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2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浮点数的表示范围与精度</a:t>
            </a:r>
            <a:endParaRPr lang="zh-CN" altLang="en-US" dirty="0"/>
          </a:p>
        </p:txBody>
      </p:sp>
      <p:sp>
        <p:nvSpPr>
          <p:cNvPr id="8192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981200"/>
            <a:ext cx="8135938" cy="4114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最小浮点数（绝对值最大的负数）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+mn-lt"/>
                <a:ea typeface="楷体" panose="02010609060101010101" pitchFamily="49" charset="-122"/>
                <a:cs typeface="+mn-cs"/>
              </a:rPr>
              <a:t>阶码为最大正数，尾数为绝对值最大的负数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800000"/>
              </a:solidFill>
              <a:effectLst/>
              <a:uLnTx/>
              <a:uFillTx/>
              <a:latin typeface="+mn-lt"/>
              <a:ea typeface="楷体" panose="02010609060101010101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最大浮点数（最大正数）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+mn-lt"/>
                <a:ea typeface="楷体" panose="02010609060101010101" pitchFamily="49" charset="-122"/>
                <a:cs typeface="+mn-cs"/>
                <a:sym typeface="Arial" panose="020B0604020202020204" pitchFamily="34" charset="0"/>
              </a:rPr>
              <a:t>阶码为最大正数，尾数为最大正数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800000"/>
              </a:solidFill>
              <a:effectLst/>
              <a:uLnTx/>
              <a:uFillTx/>
              <a:latin typeface="+mn-lt"/>
              <a:ea typeface="楷体" panose="02010609060101010101" pitchFamily="49" charset="-122"/>
              <a:cs typeface="+mn-cs"/>
              <a:sym typeface="Arial" panose="020B0604020202020204" pitchFamily="34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最小浮点正数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+mn-lt"/>
                <a:ea typeface="楷体" panose="02010609060101010101" pitchFamily="49" charset="-122"/>
                <a:cs typeface="+mn-cs"/>
                <a:sym typeface="Arial" panose="020B0604020202020204" pitchFamily="34" charset="0"/>
              </a:rPr>
              <a:t>阶码为最小数（绝对值最大的负数），尾数为最小正数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800000"/>
              </a:solidFill>
              <a:effectLst/>
              <a:uLnTx/>
              <a:uFillTx/>
              <a:latin typeface="+mn-lt"/>
              <a:ea typeface="楷体" panose="02010609060101010101" pitchFamily="49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294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2.1.5  逻辑数据</a:t>
            </a:r>
            <a:endParaRPr lang="zh-CN" altLang="en-US" dirty="0"/>
          </a:p>
        </p:txBody>
      </p:sp>
      <p:sp>
        <p:nvSpPr>
          <p:cNvPr id="82947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>
              <a:buClr>
                <a:schemeClr val="tx1"/>
              </a:buClr>
              <a:buNone/>
            </a:pPr>
            <a:r>
              <a:rPr lang="zh-CN" altLang="en-US" b="1" dirty="0"/>
              <a:t>逻辑型数据只有两个值：</a:t>
            </a:r>
            <a:r>
              <a:rPr lang="zh-CN" altLang="en-US" b="1" dirty="0">
                <a:solidFill>
                  <a:srgbClr val="3333FF"/>
                </a:solidFill>
              </a:rPr>
              <a:t>真 </a:t>
            </a:r>
            <a:r>
              <a:rPr lang="zh-CN" altLang="en-US" b="1" dirty="0"/>
              <a:t>  和   </a:t>
            </a:r>
            <a:r>
              <a:rPr lang="zh-CN" altLang="en-US" b="1" dirty="0">
                <a:solidFill>
                  <a:schemeClr val="accent1"/>
                </a:solidFill>
              </a:rPr>
              <a:t> </a:t>
            </a:r>
            <a:r>
              <a:rPr lang="zh-CN" altLang="en-US" b="1" dirty="0">
                <a:solidFill>
                  <a:srgbClr val="993366"/>
                </a:solidFill>
              </a:rPr>
              <a:t>假</a:t>
            </a:r>
            <a:r>
              <a:rPr lang="zh-CN" altLang="en-US" b="1" dirty="0"/>
              <a:t>，</a:t>
            </a:r>
            <a:endParaRPr lang="zh-CN" altLang="en-US" b="1" dirty="0"/>
          </a:p>
          <a:p>
            <a:pPr lvl="1" eaLnBrk="1" hangingPunct="1">
              <a:buClr>
                <a:schemeClr val="tx1"/>
              </a:buClr>
              <a:buNone/>
            </a:pPr>
            <a:r>
              <a:rPr lang="zh-CN" altLang="en-US" b="1" dirty="0"/>
              <a:t>正好可以用二进制码的两个符号分别表示，</a:t>
            </a:r>
            <a:endParaRPr lang="zh-CN" altLang="en-US" b="1" dirty="0"/>
          </a:p>
          <a:p>
            <a:pPr lvl="1" eaLnBrk="1" hangingPunct="1">
              <a:buClr>
                <a:schemeClr val="tx1"/>
              </a:buClr>
              <a:buNone/>
            </a:pPr>
            <a:r>
              <a:rPr lang="zh-CN" altLang="en-US" b="1" dirty="0"/>
              <a:t>例如  </a:t>
            </a:r>
            <a:r>
              <a:rPr lang="zh-CN" altLang="en-US" sz="3200" b="1" dirty="0">
                <a:solidFill>
                  <a:srgbClr val="3333FF"/>
                </a:solidFill>
              </a:rPr>
              <a:t> 1</a:t>
            </a:r>
            <a:r>
              <a:rPr lang="zh-CN" altLang="en-US" sz="3200" b="1" dirty="0"/>
              <a:t> </a:t>
            </a:r>
            <a:r>
              <a:rPr lang="zh-CN" altLang="en-US" b="1" dirty="0"/>
              <a:t> 表示 </a:t>
            </a:r>
            <a:r>
              <a:rPr lang="zh-CN" altLang="en-US" sz="3200" b="1" dirty="0">
                <a:solidFill>
                  <a:srgbClr val="3333FF"/>
                </a:solidFill>
              </a:rPr>
              <a:t>真</a:t>
            </a:r>
            <a:endParaRPr lang="zh-CN" altLang="en-US" sz="3200" b="1" dirty="0">
              <a:solidFill>
                <a:srgbClr val="3333FF"/>
              </a:solidFill>
            </a:endParaRPr>
          </a:p>
          <a:p>
            <a:pPr lvl="1" eaLnBrk="1" hangingPunct="1">
              <a:buClr>
                <a:schemeClr val="tx1"/>
              </a:buClr>
              <a:buNone/>
            </a:pPr>
            <a:r>
              <a:rPr lang="zh-CN" altLang="en-US" b="1" dirty="0"/>
              <a:t>   则   </a:t>
            </a:r>
            <a:r>
              <a:rPr lang="zh-CN" altLang="en-US" sz="3200" b="1" dirty="0">
                <a:solidFill>
                  <a:schemeClr val="accent1"/>
                </a:solidFill>
              </a:rPr>
              <a:t> </a:t>
            </a:r>
            <a:r>
              <a:rPr lang="zh-CN" altLang="en-US" sz="3200" b="1" dirty="0">
                <a:solidFill>
                  <a:srgbClr val="993366"/>
                </a:solidFill>
              </a:rPr>
              <a:t>0</a:t>
            </a:r>
            <a:r>
              <a:rPr lang="zh-CN" altLang="en-US" sz="3200" b="1" dirty="0">
                <a:solidFill>
                  <a:schemeClr val="accent1"/>
                </a:solidFill>
              </a:rPr>
              <a:t> </a:t>
            </a:r>
            <a:r>
              <a:rPr lang="zh-CN" altLang="en-US" b="1" dirty="0"/>
              <a:t> 表示 </a:t>
            </a:r>
            <a:r>
              <a:rPr lang="zh-CN" altLang="en-US" sz="3200" b="1" dirty="0">
                <a:solidFill>
                  <a:srgbClr val="993366"/>
                </a:solidFill>
              </a:rPr>
              <a:t>假</a:t>
            </a:r>
            <a:endParaRPr lang="zh-CN" altLang="en-US" sz="3200" b="1" dirty="0">
              <a:solidFill>
                <a:srgbClr val="993366"/>
              </a:solidFill>
            </a:endParaRPr>
          </a:p>
          <a:p>
            <a:pPr lvl="1" eaLnBrk="1" hangingPunct="1">
              <a:buClr>
                <a:schemeClr val="tx1"/>
              </a:buClr>
              <a:buNone/>
            </a:pPr>
            <a:r>
              <a:rPr lang="zh-CN" altLang="en-US" b="1" dirty="0"/>
              <a:t>不必使用另外的编码规则。</a:t>
            </a:r>
            <a:endParaRPr lang="zh-CN" altLang="en-US" b="1" dirty="0"/>
          </a:p>
          <a:p>
            <a:pPr eaLnBrk="1" hangingPunct="1">
              <a:buClr>
                <a:schemeClr val="tx1"/>
              </a:buClr>
              <a:buNone/>
            </a:pPr>
            <a:r>
              <a:rPr lang="zh-CN" altLang="en-US" b="1" dirty="0"/>
              <a:t>对逻辑型数据可以执行逻辑的 </a:t>
            </a:r>
            <a:r>
              <a:rPr lang="zh-CN" altLang="en-US" b="1" dirty="0">
                <a:solidFill>
                  <a:srgbClr val="FF0000"/>
                </a:solidFill>
              </a:rPr>
              <a:t>与、或、非</a:t>
            </a:r>
            <a:r>
              <a:rPr lang="zh-CN" altLang="en-US" b="1" dirty="0"/>
              <a:t>等基本逻辑运算。</a:t>
            </a:r>
            <a:endParaRPr lang="zh-CN" altLang="en-US" b="1" dirty="0"/>
          </a:p>
        </p:txBody>
      </p:sp>
    </p:spTree>
  </p:cSld>
  <p:clrMapOvr>
    <a:masterClrMapping/>
  </p:clrMapOvr>
  <p:transition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3970" name="Rectangle 2"/>
          <p:cNvSpPr/>
          <p:nvPr/>
        </p:nvSpPr>
        <p:spPr>
          <a:xfrm>
            <a:off x="1295400" y="2362200"/>
            <a:ext cx="6553200" cy="32004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666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66699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66699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66699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66699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83971" name="Rectangle 3"/>
          <p:cNvSpPr>
            <a:spLocks noGrp="1"/>
          </p:cNvSpPr>
          <p:nvPr>
            <p:ph type="title"/>
          </p:nvPr>
        </p:nvSpPr>
        <p:spPr>
          <a:xfrm>
            <a:off x="250825" y="981075"/>
            <a:ext cx="7099300" cy="685800"/>
          </a:xfrm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dirty="0"/>
              <a:t>逻辑运算规则如下：</a:t>
            </a:r>
            <a:endParaRPr lang="zh-CN" altLang="en-US" dirty="0"/>
          </a:p>
        </p:txBody>
      </p:sp>
      <p:sp>
        <p:nvSpPr>
          <p:cNvPr id="83972" name="Rectangle 4"/>
          <p:cNvSpPr>
            <a:spLocks noGrp="1"/>
          </p:cNvSpPr>
          <p:nvPr>
            <p:ph idx="1"/>
          </p:nvPr>
        </p:nvSpPr>
        <p:spPr>
          <a:xfrm>
            <a:off x="1295400" y="1981200"/>
            <a:ext cx="6629400" cy="3733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Clr>
                <a:schemeClr val="tx1"/>
              </a:buClr>
              <a:buNone/>
            </a:pPr>
            <a:endParaRPr lang="zh-CN" altLang="zh-CN" dirty="0"/>
          </a:p>
          <a:p>
            <a:pPr eaLnBrk="1" hangingPunct="1">
              <a:buClr>
                <a:schemeClr val="tx1"/>
              </a:buClr>
              <a:buNone/>
            </a:pPr>
            <a:r>
              <a:rPr lang="zh-CN" altLang="zh-CN" dirty="0"/>
              <a:t>  </a:t>
            </a:r>
            <a:r>
              <a:rPr lang="zh-CN" altLang="zh-CN" dirty="0">
                <a:solidFill>
                  <a:srgbClr val="3333FF"/>
                </a:solidFill>
              </a:rPr>
              <a:t>X</a:t>
            </a:r>
            <a:r>
              <a:rPr lang="zh-CN" altLang="zh-CN" dirty="0"/>
              <a:t>  </a:t>
            </a:r>
            <a:r>
              <a:rPr lang="zh-CN" altLang="zh-CN" dirty="0">
                <a:solidFill>
                  <a:schemeClr val="accent1"/>
                </a:solidFill>
              </a:rPr>
              <a:t>  </a:t>
            </a:r>
            <a:r>
              <a:rPr lang="zh-CN" altLang="zh-CN" dirty="0">
                <a:solidFill>
                  <a:srgbClr val="993366"/>
                </a:solidFill>
              </a:rPr>
              <a:t>Y</a:t>
            </a:r>
            <a:r>
              <a:rPr lang="zh-CN" altLang="zh-CN" dirty="0"/>
              <a:t>      X</a:t>
            </a:r>
            <a:r>
              <a:rPr lang="zh-CN" altLang="en-US" dirty="0">
                <a:solidFill>
                  <a:srgbClr val="FF0000"/>
                </a:solidFill>
              </a:rPr>
              <a:t>与</a:t>
            </a:r>
            <a:r>
              <a:rPr lang="zh-CN" altLang="zh-CN" dirty="0"/>
              <a:t>Y      X</a:t>
            </a:r>
            <a:r>
              <a:rPr lang="zh-CN" altLang="en-US" dirty="0">
                <a:solidFill>
                  <a:srgbClr val="FF0000"/>
                </a:solidFill>
              </a:rPr>
              <a:t>或</a:t>
            </a:r>
            <a:r>
              <a:rPr lang="zh-CN" altLang="zh-CN" dirty="0"/>
              <a:t>Y     X</a:t>
            </a:r>
            <a:r>
              <a:rPr lang="zh-CN" altLang="en-US" dirty="0">
                <a:solidFill>
                  <a:srgbClr val="FF0000"/>
                </a:solidFill>
              </a:rPr>
              <a:t>异或</a:t>
            </a:r>
            <a:r>
              <a:rPr lang="zh-CN" altLang="zh-CN" dirty="0"/>
              <a:t>Y</a:t>
            </a:r>
            <a:endParaRPr lang="zh-CN" altLang="zh-CN" dirty="0"/>
          </a:p>
          <a:p>
            <a:pPr eaLnBrk="1" hangingPunct="1">
              <a:buClr>
                <a:schemeClr val="tx1"/>
              </a:buClr>
              <a:buNone/>
            </a:pPr>
            <a:r>
              <a:rPr lang="zh-CN" altLang="zh-CN" dirty="0"/>
              <a:t>  </a:t>
            </a:r>
            <a:r>
              <a:rPr lang="zh-CN" altLang="zh-CN" dirty="0">
                <a:solidFill>
                  <a:srgbClr val="3333FF"/>
                </a:solidFill>
              </a:rPr>
              <a:t>0</a:t>
            </a:r>
            <a:r>
              <a:rPr lang="zh-CN" altLang="zh-CN" dirty="0"/>
              <a:t>    </a:t>
            </a:r>
            <a:r>
              <a:rPr lang="zh-CN" altLang="zh-CN" dirty="0">
                <a:solidFill>
                  <a:schemeClr val="accent1"/>
                </a:solidFill>
              </a:rPr>
              <a:t> </a:t>
            </a:r>
            <a:r>
              <a:rPr lang="zh-CN" altLang="zh-CN" dirty="0">
                <a:solidFill>
                  <a:srgbClr val="993366"/>
                </a:solidFill>
              </a:rPr>
              <a:t>0</a:t>
            </a:r>
            <a:r>
              <a:rPr lang="zh-CN" altLang="zh-CN" dirty="0"/>
              <a:t>        0             0             </a:t>
            </a:r>
            <a:r>
              <a:rPr lang="zh-CN" altLang="zh-CN" dirty="0">
                <a:solidFill>
                  <a:srgbClr val="3333FF"/>
                </a:solidFill>
              </a:rPr>
              <a:t>0</a:t>
            </a:r>
            <a:endParaRPr lang="zh-CN" altLang="zh-CN" dirty="0"/>
          </a:p>
          <a:p>
            <a:pPr eaLnBrk="1" hangingPunct="1">
              <a:buClr>
                <a:schemeClr val="tx1"/>
              </a:buClr>
              <a:buNone/>
            </a:pPr>
            <a:r>
              <a:rPr lang="zh-CN" altLang="zh-CN" dirty="0"/>
              <a:t>  </a:t>
            </a:r>
            <a:r>
              <a:rPr lang="zh-CN" altLang="zh-CN" dirty="0">
                <a:solidFill>
                  <a:srgbClr val="3333FF"/>
                </a:solidFill>
              </a:rPr>
              <a:t>0</a:t>
            </a:r>
            <a:r>
              <a:rPr lang="zh-CN" altLang="zh-CN" dirty="0"/>
              <a:t>     </a:t>
            </a:r>
            <a:r>
              <a:rPr lang="zh-CN" altLang="zh-CN" dirty="0">
                <a:solidFill>
                  <a:srgbClr val="993366"/>
                </a:solidFill>
              </a:rPr>
              <a:t>1</a:t>
            </a:r>
            <a:r>
              <a:rPr lang="zh-CN" altLang="zh-CN" dirty="0"/>
              <a:t>        0             1             </a:t>
            </a:r>
            <a:r>
              <a:rPr lang="zh-CN" altLang="zh-CN" dirty="0">
                <a:solidFill>
                  <a:srgbClr val="3333FF"/>
                </a:solidFill>
              </a:rPr>
              <a:t>1</a:t>
            </a:r>
            <a:endParaRPr lang="zh-CN" altLang="zh-CN" dirty="0">
              <a:solidFill>
                <a:srgbClr val="3333FF"/>
              </a:solidFill>
            </a:endParaRPr>
          </a:p>
          <a:p>
            <a:pPr eaLnBrk="1" hangingPunct="1">
              <a:buClr>
                <a:schemeClr val="tx1"/>
              </a:buClr>
              <a:buNone/>
            </a:pPr>
            <a:r>
              <a:rPr lang="zh-CN" altLang="zh-CN" dirty="0"/>
              <a:t>  </a:t>
            </a:r>
            <a:r>
              <a:rPr lang="zh-CN" altLang="zh-CN" dirty="0">
                <a:solidFill>
                  <a:srgbClr val="3333FF"/>
                </a:solidFill>
              </a:rPr>
              <a:t>1 </a:t>
            </a:r>
            <a:r>
              <a:rPr lang="zh-CN" altLang="zh-CN" dirty="0"/>
              <a:t>   </a:t>
            </a:r>
            <a:r>
              <a:rPr lang="zh-CN" altLang="zh-CN" dirty="0">
                <a:solidFill>
                  <a:schemeClr val="accent1"/>
                </a:solidFill>
              </a:rPr>
              <a:t> </a:t>
            </a:r>
            <a:r>
              <a:rPr lang="zh-CN" altLang="zh-CN" dirty="0">
                <a:solidFill>
                  <a:srgbClr val="993366"/>
                </a:solidFill>
              </a:rPr>
              <a:t>0</a:t>
            </a:r>
            <a:r>
              <a:rPr lang="zh-CN" altLang="zh-CN" dirty="0"/>
              <a:t>        0             1             </a:t>
            </a:r>
            <a:r>
              <a:rPr lang="zh-CN" altLang="zh-CN" dirty="0">
                <a:solidFill>
                  <a:srgbClr val="3333FF"/>
                </a:solidFill>
              </a:rPr>
              <a:t>1</a:t>
            </a:r>
            <a:endParaRPr lang="zh-CN" altLang="zh-CN" dirty="0"/>
          </a:p>
          <a:p>
            <a:pPr eaLnBrk="1" hangingPunct="1">
              <a:buClr>
                <a:schemeClr val="tx1"/>
              </a:buClr>
              <a:buNone/>
            </a:pPr>
            <a:r>
              <a:rPr lang="zh-CN" altLang="zh-CN" dirty="0"/>
              <a:t>  </a:t>
            </a:r>
            <a:r>
              <a:rPr lang="zh-CN" altLang="zh-CN" dirty="0">
                <a:solidFill>
                  <a:srgbClr val="3333FF"/>
                </a:solidFill>
              </a:rPr>
              <a:t>1</a:t>
            </a:r>
            <a:r>
              <a:rPr lang="zh-CN" altLang="zh-CN" dirty="0"/>
              <a:t>     </a:t>
            </a:r>
            <a:r>
              <a:rPr lang="zh-CN" altLang="zh-CN" dirty="0">
                <a:solidFill>
                  <a:srgbClr val="993366"/>
                </a:solidFill>
              </a:rPr>
              <a:t>1</a:t>
            </a:r>
            <a:r>
              <a:rPr lang="zh-CN" altLang="zh-CN" dirty="0">
                <a:solidFill>
                  <a:schemeClr val="accent1"/>
                </a:solidFill>
              </a:rPr>
              <a:t>  </a:t>
            </a:r>
            <a:r>
              <a:rPr lang="zh-CN" altLang="zh-CN" dirty="0"/>
              <a:t>      1             1             </a:t>
            </a:r>
            <a:r>
              <a:rPr lang="zh-CN" altLang="zh-CN" dirty="0">
                <a:solidFill>
                  <a:srgbClr val="3333FF"/>
                </a:solidFill>
              </a:rPr>
              <a:t>0</a:t>
            </a:r>
            <a:r>
              <a:rPr lang="zh-CN" altLang="zh-CN" dirty="0"/>
              <a:t>   </a:t>
            </a:r>
            <a:endParaRPr lang="zh-CN" altLang="zh-CN" dirty="0"/>
          </a:p>
        </p:txBody>
      </p:sp>
      <p:sp>
        <p:nvSpPr>
          <p:cNvPr id="83973" name="Line 5"/>
          <p:cNvSpPr/>
          <p:nvPr/>
        </p:nvSpPr>
        <p:spPr>
          <a:xfrm>
            <a:off x="2133600" y="2362200"/>
            <a:ext cx="0" cy="3200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3974" name="Line 6"/>
          <p:cNvSpPr/>
          <p:nvPr/>
        </p:nvSpPr>
        <p:spPr>
          <a:xfrm>
            <a:off x="2895600" y="2362200"/>
            <a:ext cx="0" cy="32004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3975" name="Line 7"/>
          <p:cNvSpPr/>
          <p:nvPr/>
        </p:nvSpPr>
        <p:spPr>
          <a:xfrm>
            <a:off x="4419600" y="2362200"/>
            <a:ext cx="0" cy="32004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3976" name="Line 8"/>
          <p:cNvSpPr/>
          <p:nvPr/>
        </p:nvSpPr>
        <p:spPr>
          <a:xfrm>
            <a:off x="6019800" y="2362200"/>
            <a:ext cx="0" cy="32004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3977" name="Line 9"/>
          <p:cNvSpPr/>
          <p:nvPr/>
        </p:nvSpPr>
        <p:spPr>
          <a:xfrm>
            <a:off x="1295400" y="3124200"/>
            <a:ext cx="65532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3978" name="Line 10"/>
          <p:cNvSpPr/>
          <p:nvPr/>
        </p:nvSpPr>
        <p:spPr>
          <a:xfrm>
            <a:off x="1295400" y="3733800"/>
            <a:ext cx="6553200" cy="0"/>
          </a:xfrm>
          <a:prstGeom prst="line">
            <a:avLst/>
          </a:prstGeom>
          <a:ln w="190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3979" name="Line 11"/>
          <p:cNvSpPr/>
          <p:nvPr/>
        </p:nvSpPr>
        <p:spPr>
          <a:xfrm>
            <a:off x="1295400" y="4343400"/>
            <a:ext cx="6553200" cy="0"/>
          </a:xfrm>
          <a:prstGeom prst="line">
            <a:avLst/>
          </a:prstGeom>
          <a:ln w="190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3980" name="Line 12"/>
          <p:cNvSpPr/>
          <p:nvPr/>
        </p:nvSpPr>
        <p:spPr>
          <a:xfrm>
            <a:off x="1295400" y="4953000"/>
            <a:ext cx="6553200" cy="0"/>
          </a:xfrm>
          <a:prstGeom prst="line">
            <a:avLst/>
          </a:prstGeom>
          <a:ln w="190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499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dirty="0"/>
              <a:t>习题：</a:t>
            </a:r>
            <a:endParaRPr lang="zh-CN" altLang="en-US" dirty="0"/>
          </a:p>
        </p:txBody>
      </p:sp>
      <p:sp>
        <p:nvSpPr>
          <p:cNvPr id="84995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某机字长</a:t>
            </a:r>
            <a:r>
              <a:rPr lang="zh-CN" altLang="zh-CN" dirty="0"/>
              <a:t>32</a:t>
            </a:r>
            <a:r>
              <a:rPr lang="zh-CN" altLang="en-US" dirty="0"/>
              <a:t>位，采用定长小数表示，符号位为</a:t>
            </a:r>
            <a:r>
              <a:rPr lang="zh-CN" altLang="zh-CN" dirty="0"/>
              <a:t>1</a:t>
            </a:r>
            <a:r>
              <a:rPr lang="zh-CN" altLang="en-US" dirty="0"/>
              <a:t>位，尾数为</a:t>
            </a:r>
            <a:r>
              <a:rPr lang="zh-CN" altLang="zh-CN" dirty="0"/>
              <a:t>31</a:t>
            </a:r>
            <a:r>
              <a:rPr lang="zh-CN" altLang="en-US" dirty="0"/>
              <a:t>位，则可表示的最大正整数为？最小负整数？</a:t>
            </a:r>
            <a:endParaRPr lang="zh-CN" altLang="en-US" dirty="0"/>
          </a:p>
          <a:p>
            <a:pPr eaLnBrk="1" hangingPunct="1"/>
            <a:endParaRPr lang="zh-CN" altLang="zh-CN" dirty="0"/>
          </a:p>
          <a:p>
            <a:pPr eaLnBrk="1" hangingPunct="1"/>
            <a:r>
              <a:rPr lang="zh-CN" altLang="en-US" dirty="0"/>
              <a:t>某机字长</a:t>
            </a:r>
            <a:r>
              <a:rPr lang="zh-CN" altLang="zh-CN" dirty="0"/>
              <a:t>32</a:t>
            </a:r>
            <a:r>
              <a:rPr lang="zh-CN" altLang="en-US" dirty="0"/>
              <a:t>位，采用定点整数表示，符号位为</a:t>
            </a:r>
            <a:r>
              <a:rPr lang="zh-CN" altLang="zh-CN" dirty="0"/>
              <a:t>1</a:t>
            </a:r>
            <a:r>
              <a:rPr lang="zh-CN" altLang="en-US" dirty="0"/>
              <a:t>位，尾数为</a:t>
            </a:r>
            <a:r>
              <a:rPr lang="zh-CN" altLang="zh-CN" dirty="0"/>
              <a:t>31</a:t>
            </a:r>
            <a:r>
              <a:rPr lang="zh-CN" altLang="en-US" dirty="0"/>
              <a:t>位，则可表示的最大正整数？最小负整数？</a:t>
            </a:r>
            <a:endParaRPr lang="zh-CN" altLang="en-US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601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dirty="0"/>
              <a:t>习题：</a:t>
            </a:r>
            <a:endParaRPr lang="zh-CN" altLang="en-US" dirty="0"/>
          </a:p>
        </p:txBody>
      </p:sp>
      <p:sp>
        <p:nvSpPr>
          <p:cNvPr id="86019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用</a:t>
            </a:r>
            <a:r>
              <a:rPr lang="zh-CN" altLang="zh-CN" dirty="0"/>
              <a:t>n+1</a:t>
            </a:r>
            <a:r>
              <a:rPr lang="zh-CN" altLang="en-US" dirty="0"/>
              <a:t>为字长（其中</a:t>
            </a:r>
            <a:r>
              <a:rPr lang="zh-CN" altLang="zh-CN" dirty="0"/>
              <a:t>1</a:t>
            </a:r>
            <a:r>
              <a:rPr lang="zh-CN" altLang="en-US" dirty="0"/>
              <a:t>位符号位）表示定点整数时，所能表示的数值范围是？</a:t>
            </a:r>
            <a:endParaRPr lang="zh-CN" altLang="en-US" dirty="0"/>
          </a:p>
          <a:p>
            <a:pPr eaLnBrk="1" hangingPunct="1"/>
            <a:endParaRPr lang="zh-CN" altLang="zh-CN" dirty="0"/>
          </a:p>
          <a:p>
            <a:pPr eaLnBrk="1" hangingPunct="1"/>
            <a:r>
              <a:rPr lang="zh-CN" altLang="en-US" dirty="0"/>
              <a:t>用</a:t>
            </a:r>
            <a:r>
              <a:rPr lang="zh-CN" altLang="zh-CN" dirty="0"/>
              <a:t>n+1</a:t>
            </a:r>
            <a:r>
              <a:rPr lang="zh-CN" altLang="en-US" dirty="0"/>
              <a:t>为字长（其中</a:t>
            </a:r>
            <a:r>
              <a:rPr lang="zh-CN" altLang="zh-CN" dirty="0"/>
              <a:t>1</a:t>
            </a:r>
            <a:r>
              <a:rPr lang="zh-CN" altLang="en-US" dirty="0"/>
              <a:t>位符号位）表示定点小数时，所能表示的数值范围是？</a:t>
            </a:r>
            <a:endParaRPr lang="zh-CN" altLang="en-US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704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dirty="0"/>
              <a:t>习题：</a:t>
            </a:r>
            <a:endParaRPr lang="zh-CN" altLang="en-US" dirty="0"/>
          </a:p>
        </p:txBody>
      </p:sp>
      <p:sp>
        <p:nvSpPr>
          <p:cNvPr id="87043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设机器字长</a:t>
            </a:r>
            <a:r>
              <a:rPr lang="zh-CN" altLang="zh-CN" dirty="0"/>
              <a:t>16</a:t>
            </a:r>
            <a:r>
              <a:rPr lang="zh-CN" altLang="en-US" dirty="0"/>
              <a:t>位，定点表示，尾数</a:t>
            </a:r>
            <a:r>
              <a:rPr lang="zh-CN" altLang="zh-CN" dirty="0"/>
              <a:t>15</a:t>
            </a:r>
            <a:r>
              <a:rPr lang="zh-CN" altLang="en-US" dirty="0"/>
              <a:t>位，数符</a:t>
            </a:r>
            <a:r>
              <a:rPr lang="zh-CN" altLang="zh-CN" dirty="0"/>
              <a:t>1</a:t>
            </a:r>
            <a:r>
              <a:rPr lang="zh-CN" altLang="en-US" dirty="0"/>
              <a:t>位，问：</a:t>
            </a:r>
            <a:endParaRPr lang="zh-CN" altLang="en-US" dirty="0"/>
          </a:p>
          <a:p>
            <a:pPr eaLnBrk="1" hangingPunct="1"/>
            <a:r>
              <a:rPr lang="zh-CN" altLang="en-US" dirty="0"/>
              <a:t>定点原码整数表示时，最大正数？最小负数？</a:t>
            </a:r>
            <a:endParaRPr lang="zh-CN" altLang="en-US" dirty="0"/>
          </a:p>
          <a:p>
            <a:pPr eaLnBrk="1" hangingPunct="1"/>
            <a:r>
              <a:rPr lang="zh-CN" altLang="en-US" dirty="0"/>
              <a:t>定点原码小数表示时，最大正数？最小负数？</a:t>
            </a:r>
            <a:endParaRPr lang="zh-CN" altLang="en-US" dirty="0"/>
          </a:p>
          <a:p>
            <a:pPr eaLnBrk="1" hangingPunct="1"/>
            <a:endParaRPr lang="zh-CN" altLang="zh-CN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806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dirty="0"/>
              <a:t>习题：</a:t>
            </a:r>
            <a:endParaRPr lang="zh-CN" altLang="en-US" dirty="0"/>
          </a:p>
        </p:txBody>
      </p:sp>
      <p:sp>
        <p:nvSpPr>
          <p:cNvPr id="88067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机器字长</a:t>
            </a:r>
            <a:r>
              <a:rPr lang="zh-CN" altLang="zh-CN" dirty="0"/>
              <a:t>32</a:t>
            </a:r>
            <a:r>
              <a:rPr lang="zh-CN" altLang="en-US" dirty="0"/>
              <a:t>位，定点表示，尾数</a:t>
            </a:r>
            <a:r>
              <a:rPr lang="zh-CN" altLang="zh-CN" dirty="0"/>
              <a:t>31</a:t>
            </a:r>
            <a:r>
              <a:rPr lang="zh-CN" altLang="en-US" dirty="0"/>
              <a:t>位，数符</a:t>
            </a:r>
            <a:r>
              <a:rPr lang="zh-CN" altLang="zh-CN" dirty="0"/>
              <a:t>1</a:t>
            </a:r>
            <a:r>
              <a:rPr lang="zh-CN" altLang="en-US" dirty="0"/>
              <a:t>位，问：</a:t>
            </a:r>
            <a:endParaRPr lang="zh-CN" altLang="en-US" dirty="0"/>
          </a:p>
          <a:p>
            <a:pPr eaLnBrk="1" hangingPunct="1"/>
            <a:r>
              <a:rPr lang="zh-CN" altLang="en-US" dirty="0"/>
              <a:t>定点原码整数表示时，最大正数？最小负数？</a:t>
            </a:r>
            <a:endParaRPr lang="zh-CN" altLang="en-US" dirty="0"/>
          </a:p>
          <a:p>
            <a:pPr eaLnBrk="1" hangingPunct="1"/>
            <a:r>
              <a:rPr lang="zh-CN" altLang="en-US" dirty="0"/>
              <a:t>定点原码小数表示时，最大正数？最小负数？</a:t>
            </a:r>
            <a:endParaRPr lang="zh-CN" altLang="en-US" dirty="0"/>
          </a:p>
          <a:p>
            <a:pPr eaLnBrk="1" hangingPunct="1"/>
            <a:endParaRPr lang="zh-CN" altLang="zh-CN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909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dirty="0"/>
              <a:t>习题：</a:t>
            </a:r>
            <a:endParaRPr lang="zh-CN" altLang="en-US" dirty="0"/>
          </a:p>
        </p:txBody>
      </p:sp>
      <p:sp>
        <p:nvSpPr>
          <p:cNvPr id="89091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/>
              <a:t>设机器字长</a:t>
            </a:r>
            <a:r>
              <a:rPr lang="zh-CN" altLang="zh-CN" dirty="0"/>
              <a:t>16</a:t>
            </a:r>
            <a:r>
              <a:rPr lang="zh-CN" altLang="en-US" dirty="0"/>
              <a:t>位，浮点表示，阶码</a:t>
            </a:r>
            <a:r>
              <a:rPr lang="zh-CN" altLang="zh-CN" dirty="0"/>
              <a:t>5</a:t>
            </a:r>
            <a:r>
              <a:rPr lang="zh-CN" altLang="en-US" dirty="0"/>
              <a:t>位，阶符</a:t>
            </a:r>
            <a:r>
              <a:rPr lang="zh-CN" altLang="zh-CN" dirty="0"/>
              <a:t>1</a:t>
            </a:r>
            <a:r>
              <a:rPr lang="zh-CN" altLang="en-US" dirty="0"/>
              <a:t>位，问：</a:t>
            </a:r>
            <a:endParaRPr lang="zh-CN" altLang="en-US" dirty="0"/>
          </a:p>
          <a:p>
            <a:pPr eaLnBrk="1" hangingPunct="1"/>
            <a:r>
              <a:rPr lang="zh-CN" altLang="en-US" dirty="0"/>
              <a:t>定点原码整数表示时，最大正数？最小负数？</a:t>
            </a:r>
            <a:endParaRPr lang="zh-CN" altLang="en-US" dirty="0"/>
          </a:p>
          <a:p>
            <a:pPr eaLnBrk="1" hangingPunct="1"/>
            <a:r>
              <a:rPr lang="zh-CN" altLang="en-US" dirty="0"/>
              <a:t>定点原码小数表示时，最大正数？最小负数？</a:t>
            </a:r>
            <a:endParaRPr lang="zh-CN" altLang="en-US" dirty="0"/>
          </a:p>
          <a:p>
            <a:pPr eaLnBrk="1" hangingPunct="1"/>
            <a:endParaRPr lang="zh-CN" altLang="zh-C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ibbons">
  <a:themeElements>
    <a:clrScheme name="Ribbons 3">
      <a:dk1>
        <a:srgbClr val="000000"/>
      </a:dk1>
      <a:lt1>
        <a:srgbClr val="B2B2B2"/>
      </a:lt1>
      <a:dk2>
        <a:srgbClr val="000000"/>
      </a:dk2>
      <a:lt2>
        <a:srgbClr val="777777"/>
      </a:lt2>
      <a:accent1>
        <a:srgbClr val="CBCBCB"/>
      </a:accent1>
      <a:accent2>
        <a:srgbClr val="969696"/>
      </a:accent2>
      <a:accent3>
        <a:srgbClr val="D5D5D5"/>
      </a:accent3>
      <a:accent4>
        <a:srgbClr val="000000"/>
      </a:accent4>
      <a:accent5>
        <a:srgbClr val="E2E2E2"/>
      </a:accent5>
      <a:accent6>
        <a:srgbClr val="878787"/>
      </a:accent6>
      <a:hlink>
        <a:srgbClr val="333333"/>
      </a:hlink>
      <a:folHlink>
        <a:srgbClr val="777777"/>
      </a:folHlink>
    </a:clrScheme>
    <a:fontScheme name="Ribbons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Ribbons 1">
        <a:dk1>
          <a:srgbClr val="220011"/>
        </a:dk1>
        <a:lt1>
          <a:srgbClr val="FFFFCC"/>
        </a:lt1>
        <a:dk2>
          <a:srgbClr val="660033"/>
        </a:dk2>
        <a:lt2>
          <a:srgbClr val="FFCC00"/>
        </a:lt2>
        <a:accent1>
          <a:srgbClr val="CC0099"/>
        </a:accent1>
        <a:accent2>
          <a:srgbClr val="56002B"/>
        </a:accent2>
        <a:accent3>
          <a:srgbClr val="B8AAAD"/>
        </a:accent3>
        <a:accent4>
          <a:srgbClr val="DADAAE"/>
        </a:accent4>
        <a:accent5>
          <a:srgbClr val="E2AACA"/>
        </a:accent5>
        <a:accent6>
          <a:srgbClr val="4D0026"/>
        </a:accent6>
        <a:hlink>
          <a:srgbClr val="9C004E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ibbons 2">
        <a:dk1>
          <a:srgbClr val="001600"/>
        </a:dk1>
        <a:lt1>
          <a:srgbClr val="669900"/>
        </a:lt1>
        <a:dk2>
          <a:srgbClr val="000000"/>
        </a:dk2>
        <a:lt2>
          <a:srgbClr val="006600"/>
        </a:lt2>
        <a:accent1>
          <a:srgbClr val="336600"/>
        </a:accent1>
        <a:accent2>
          <a:srgbClr val="89BA00"/>
        </a:accent2>
        <a:accent3>
          <a:srgbClr val="B8CAAA"/>
        </a:accent3>
        <a:accent4>
          <a:srgbClr val="001100"/>
        </a:accent4>
        <a:accent5>
          <a:srgbClr val="ADB8AA"/>
        </a:accent5>
        <a:accent6>
          <a:srgbClr val="7CA800"/>
        </a:accent6>
        <a:hlink>
          <a:srgbClr val="FFCC00"/>
        </a:hlink>
        <a:folHlink>
          <a:srgbClr val="FF7C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bbons 3">
        <a:dk1>
          <a:srgbClr val="000000"/>
        </a:dk1>
        <a:lt1>
          <a:srgbClr val="B2B2B2"/>
        </a:lt1>
        <a:dk2>
          <a:srgbClr val="000000"/>
        </a:dk2>
        <a:lt2>
          <a:srgbClr val="777777"/>
        </a:lt2>
        <a:accent1>
          <a:srgbClr val="CBCBCB"/>
        </a:accent1>
        <a:accent2>
          <a:srgbClr val="969696"/>
        </a:accent2>
        <a:accent3>
          <a:srgbClr val="D5D5D5"/>
        </a:accent3>
        <a:accent4>
          <a:srgbClr val="000000"/>
        </a:accent4>
        <a:accent5>
          <a:srgbClr val="E2E2E2"/>
        </a:accent5>
        <a:accent6>
          <a:srgbClr val="878787"/>
        </a:accent6>
        <a:hlink>
          <a:srgbClr val="333333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bbons 4">
        <a:dk1>
          <a:srgbClr val="000F1E"/>
        </a:dk1>
        <a:lt1>
          <a:srgbClr val="FFFFFF"/>
        </a:lt1>
        <a:dk2>
          <a:srgbClr val="003366"/>
        </a:dk2>
        <a:lt2>
          <a:srgbClr val="33CCCC"/>
        </a:lt2>
        <a:accent1>
          <a:srgbClr val="006699"/>
        </a:accent1>
        <a:accent2>
          <a:srgbClr val="003366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2D5C"/>
        </a:accent6>
        <a:hlink>
          <a:srgbClr val="0099CC"/>
        </a:hlink>
        <a:folHlink>
          <a:srgbClr val="0099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ibbons 5">
        <a:dk1>
          <a:srgbClr val="002F2E"/>
        </a:dk1>
        <a:lt1>
          <a:srgbClr val="FFFFFF"/>
        </a:lt1>
        <a:dk2>
          <a:srgbClr val="008080"/>
        </a:dk2>
        <a:lt2>
          <a:srgbClr val="66FFCC"/>
        </a:lt2>
        <a:accent1>
          <a:srgbClr val="0099CC"/>
        </a:accent1>
        <a:accent2>
          <a:srgbClr val="005250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4948"/>
        </a:accent6>
        <a:hlink>
          <a:srgbClr val="00CC99"/>
        </a:hlink>
        <a:folHlink>
          <a:srgbClr val="0099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ibbons 6">
        <a:dk1>
          <a:srgbClr val="000022"/>
        </a:dk1>
        <a:lt1>
          <a:srgbClr val="FFFFFF"/>
        </a:lt1>
        <a:dk2>
          <a:srgbClr val="000066"/>
        </a:dk2>
        <a:lt2>
          <a:srgbClr val="FFCC00"/>
        </a:lt2>
        <a:accent1>
          <a:srgbClr val="666699"/>
        </a:accent1>
        <a:accent2>
          <a:srgbClr val="000048"/>
        </a:accent2>
        <a:accent3>
          <a:srgbClr val="AAAAB8"/>
        </a:accent3>
        <a:accent4>
          <a:srgbClr val="DADADA"/>
        </a:accent4>
        <a:accent5>
          <a:srgbClr val="B8B8CA"/>
        </a:accent5>
        <a:accent6>
          <a:srgbClr val="000040"/>
        </a:accent6>
        <a:hlink>
          <a:srgbClr val="9999FF"/>
        </a:hlink>
        <a:folHlink>
          <a:srgbClr val="000099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Designs\Ribbons.pot</Template>
  <TotalTime>0</TotalTime>
  <Words>10603</Words>
  <Application>WPS 演示</Application>
  <PresentationFormat>全屏显示(4:3)</PresentationFormat>
  <Paragraphs>1558</Paragraphs>
  <Slides>82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82</vt:i4>
      </vt:variant>
    </vt:vector>
  </HeadingPairs>
  <TitlesOfParts>
    <vt:vector size="101" baseType="lpstr">
      <vt:lpstr>Arial</vt:lpstr>
      <vt:lpstr>宋体</vt:lpstr>
      <vt:lpstr>Wingdings</vt:lpstr>
      <vt:lpstr>Times New Roman</vt:lpstr>
      <vt:lpstr>幼圆</vt:lpstr>
      <vt:lpstr>楷体</vt:lpstr>
      <vt:lpstr>华文新魏</vt:lpstr>
      <vt:lpstr>Tahoma</vt:lpstr>
      <vt:lpstr>隶书</vt:lpstr>
      <vt:lpstr>Symbol</vt:lpstr>
      <vt:lpstr>华文行楷</vt:lpstr>
      <vt:lpstr>Calibri</vt:lpstr>
      <vt:lpstr>楷体_GB2312</vt:lpstr>
      <vt:lpstr>新宋体</vt:lpstr>
      <vt:lpstr>黑体</vt:lpstr>
      <vt:lpstr>华文楷体</vt:lpstr>
      <vt:lpstr>微软雅黑</vt:lpstr>
      <vt:lpstr>Arial Unicode MS</vt:lpstr>
      <vt:lpstr>Ribbons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西北民族大学数学与计算机科学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计算机组成原理</dc:title>
  <dc:creator>zhjh</dc:creator>
  <cp:lastModifiedBy>顽石</cp:lastModifiedBy>
  <cp:revision>236</cp:revision>
  <dcterms:created xsi:type="dcterms:W3CDTF">2003-07-21T04:46:07Z</dcterms:created>
  <dcterms:modified xsi:type="dcterms:W3CDTF">2026-03-15T01:57:28Z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2052-12.1.0.20754</vt:lpwstr>
  </property>
  <property fmtid="{D5CDD505-2E9C-101B-9397-08002B2CF9AE}" pid="3" name="ICV">
    <vt:lpwstr>D0F3220ACC384CC99E6622366CE72EF9_13</vt:lpwstr>
  </property>
</Properties>
</file>